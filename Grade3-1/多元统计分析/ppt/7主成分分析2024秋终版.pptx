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66" r:id="rId3"/>
    <p:sldId id="368" r:id="rId4"/>
    <p:sldId id="370" r:id="rId5"/>
    <p:sldId id="372" r:id="rId6"/>
    <p:sldId id="373" r:id="rId7"/>
    <p:sldId id="374" r:id="rId8"/>
    <p:sldId id="375" r:id="rId10"/>
    <p:sldId id="376" r:id="rId11"/>
    <p:sldId id="377" r:id="rId12"/>
    <p:sldId id="379" r:id="rId13"/>
    <p:sldId id="381" r:id="rId14"/>
    <p:sldId id="383" r:id="rId15"/>
    <p:sldId id="384" r:id="rId16"/>
    <p:sldId id="385" r:id="rId17"/>
    <p:sldId id="386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397" r:id="rId29"/>
    <p:sldId id="398" r:id="rId30"/>
    <p:sldId id="399" r:id="rId31"/>
    <p:sldId id="400" r:id="rId32"/>
    <p:sldId id="511" r:id="rId33"/>
    <p:sldId id="401" r:id="rId34"/>
    <p:sldId id="402" r:id="rId35"/>
    <p:sldId id="404" r:id="rId36"/>
    <p:sldId id="405" r:id="rId37"/>
    <p:sldId id="406" r:id="rId38"/>
    <p:sldId id="499" r:id="rId39"/>
    <p:sldId id="496" r:id="rId40"/>
    <p:sldId id="497" r:id="rId41"/>
    <p:sldId id="498" r:id="rId42"/>
    <p:sldId id="449" r:id="rId43"/>
    <p:sldId id="500" r:id="rId44"/>
    <p:sldId id="501" r:id="rId45"/>
    <p:sldId id="502" r:id="rId46"/>
    <p:sldId id="503" r:id="rId47"/>
    <p:sldId id="504" r:id="rId48"/>
    <p:sldId id="505" r:id="rId49"/>
    <p:sldId id="506" r:id="rId50"/>
    <p:sldId id="507" r:id="rId51"/>
    <p:sldId id="513" r:id="rId52"/>
    <p:sldId id="508" r:id="rId53"/>
    <p:sldId id="509" r:id="rId54"/>
    <p:sldId id="510" r:id="rId55"/>
    <p:sldId id="512" r:id="rId56"/>
  </p:sldIdLst>
  <p:sldSz cx="12192000" cy="6858000"/>
  <p:notesSz cx="7103745" cy="10234295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9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763" autoAdjust="0"/>
    <p:restoredTop sz="82948" autoAdjust="0"/>
  </p:normalViewPr>
  <p:slideViewPr>
    <p:cSldViewPr snapToGrid="0" showGuides="1">
      <p:cViewPr varScale="1">
        <p:scale>
          <a:sx n="61" d="100"/>
          <a:sy n="61" d="100"/>
        </p:scale>
        <p:origin x="88" y="56"/>
      </p:cViewPr>
      <p:guideLst>
        <p:guide orient="horz" pos="2128"/>
        <p:guide pos="39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29.wmf"/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2.vml.rels><?xml version="1.0" encoding="UTF-8" standalone="yes"?>
<Relationships xmlns="http://schemas.openxmlformats.org/package/2006/relationships"><Relationship Id="rId7" Type="http://schemas.openxmlformats.org/officeDocument/2006/relationships/image" Target="../media/image38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7.vml.rels><?xml version="1.0" encoding="UTF-8" standalone="yes"?>
<Relationships xmlns="http://schemas.openxmlformats.org/package/2006/relationships"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8.vml.rels><?xml version="1.0" encoding="UTF-8" standalone="yes"?>
<Relationships xmlns="http://schemas.openxmlformats.org/package/2006/relationships"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9.vml.rels><?xml version="1.0" encoding="UTF-8" standalone="yes"?>
<Relationships xmlns="http://schemas.openxmlformats.org/package/2006/relationships"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7" Type="http://schemas.openxmlformats.org/officeDocument/2006/relationships/image" Target="../media/image80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85.wmf"/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28.vml.rels><?xml version="1.0" encoding="UTF-8" standalone="yes"?>
<Relationships xmlns="http://schemas.openxmlformats.org/package/2006/relationships"><Relationship Id="rId4" Type="http://schemas.openxmlformats.org/officeDocument/2006/relationships/image" Target="../media/image98.wmf"/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png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png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png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12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5" name="备注占位符 4"/>
          <p:cNvSpPr>
            <a:spLocks noGrp="1"/>
          </p:cNvSpPr>
          <p:nvPr>
            <p:ph type="body" sz="quarter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横纵坐标都乘以了特征值开方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H="1">
            <a:off x="11286067" y="5948363"/>
            <a:ext cx="884767" cy="909638"/>
          </a:xfrm>
          <a:custGeom>
            <a:avLst/>
            <a:gdLst>
              <a:gd name="connsiteX0" fmla="*/ 346668 w 884255"/>
              <a:gd name="connsiteY0" fmla="*/ 0 h 909376"/>
              <a:gd name="connsiteX1" fmla="*/ 884255 w 884255"/>
              <a:gd name="connsiteY1" fmla="*/ 537587 h 909376"/>
              <a:gd name="connsiteX2" fmla="*/ 792444 w 884255"/>
              <a:gd name="connsiteY2" fmla="*/ 838157 h 909376"/>
              <a:gd name="connsiteX3" fmla="*/ 733683 w 884255"/>
              <a:gd name="connsiteY3" fmla="*/ 909376 h 909376"/>
              <a:gd name="connsiteX4" fmla="*/ 0 w 884255"/>
              <a:gd name="connsiteY4" fmla="*/ 909376 h 909376"/>
              <a:gd name="connsiteX5" fmla="*/ 0 w 884255"/>
              <a:gd name="connsiteY5" fmla="*/ 129846 h 909376"/>
              <a:gd name="connsiteX6" fmla="*/ 46098 w 884255"/>
              <a:gd name="connsiteY6" fmla="*/ 91812 h 909376"/>
              <a:gd name="connsiteX7" fmla="*/ 346668 w 884255"/>
              <a:gd name="connsiteY7" fmla="*/ 0 h 90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4255" h="909376">
                <a:moveTo>
                  <a:pt x="346668" y="0"/>
                </a:moveTo>
                <a:cubicBezTo>
                  <a:pt x="643569" y="0"/>
                  <a:pt x="884255" y="240686"/>
                  <a:pt x="884255" y="537587"/>
                </a:cubicBezTo>
                <a:cubicBezTo>
                  <a:pt x="884255" y="648925"/>
                  <a:pt x="850409" y="752358"/>
                  <a:pt x="792444" y="838157"/>
                </a:cubicBezTo>
                <a:lnTo>
                  <a:pt x="733683" y="909376"/>
                </a:lnTo>
                <a:lnTo>
                  <a:pt x="0" y="909376"/>
                </a:lnTo>
                <a:lnTo>
                  <a:pt x="0" y="129846"/>
                </a:lnTo>
                <a:lnTo>
                  <a:pt x="46098" y="91812"/>
                </a:lnTo>
                <a:cubicBezTo>
                  <a:pt x="131897" y="33847"/>
                  <a:pt x="235330" y="0"/>
                  <a:pt x="3466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65100" dist="38100" dir="2700000" algn="tl" rotWithShape="0">
              <a:srgbClr val="2B579A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 flipH="1">
            <a:off x="10200217" y="5551489"/>
            <a:ext cx="1305984" cy="1306513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 flipH="1">
            <a:off x="11286067" y="5084764"/>
            <a:ext cx="632884" cy="633413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 flipH="1">
            <a:off x="8940801" y="5948363"/>
            <a:ext cx="808567" cy="8080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 flipH="1">
            <a:off x="9171517" y="4876801"/>
            <a:ext cx="635000" cy="63341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 flipH="1">
            <a:off x="8887885" y="5502276"/>
            <a:ext cx="224367" cy="225425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4" name="椭圆 13"/>
          <p:cNvSpPr/>
          <p:nvPr/>
        </p:nvSpPr>
        <p:spPr>
          <a:xfrm flipH="1">
            <a:off x="10716685" y="5326064"/>
            <a:ext cx="226484" cy="22542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5" name="椭圆 14"/>
          <p:cNvSpPr/>
          <p:nvPr/>
        </p:nvSpPr>
        <p:spPr>
          <a:xfrm flipH="1">
            <a:off x="11684001" y="4262439"/>
            <a:ext cx="224367" cy="225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 flipH="1">
            <a:off x="9910234" y="4487864"/>
            <a:ext cx="224367" cy="225425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7" name="椭圆 16"/>
          <p:cNvSpPr/>
          <p:nvPr/>
        </p:nvSpPr>
        <p:spPr>
          <a:xfrm flipH="1">
            <a:off x="9899651" y="5392739"/>
            <a:ext cx="224367" cy="225425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3" name="椭圆 22"/>
          <p:cNvSpPr/>
          <p:nvPr/>
        </p:nvSpPr>
        <p:spPr>
          <a:xfrm flipH="1">
            <a:off x="1087968" y="1247776"/>
            <a:ext cx="664633" cy="633413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205318" y="255589"/>
            <a:ext cx="632884" cy="63341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215901" y="1328739"/>
            <a:ext cx="224367" cy="225425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2097618" y="663576"/>
            <a:ext cx="224367" cy="225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726018" y="1804988"/>
            <a:ext cx="224367" cy="225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1238251" y="314326"/>
            <a:ext cx="224367" cy="225425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726018" y="1041401"/>
            <a:ext cx="224367" cy="225425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1132417" y="663575"/>
            <a:ext cx="806451" cy="8080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2336061"/>
            <a:ext cx="9144000" cy="1200329"/>
          </a:xfrm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28465"/>
            <a:ext cx="9144000" cy="535531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A6D4A088-84C6-4E25-8974-50052BF70A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15F6551D-C697-47F0-8D0F-B52E4434774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A6D4A088-84C6-4E25-8974-50052BF70A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15F6551D-C697-47F0-8D0F-B52E4434774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064684" y="1898650"/>
            <a:ext cx="2472267" cy="2471738"/>
          </a:xfrm>
          <a:prstGeom prst="ellipse">
            <a:avLst/>
          </a:prstGeom>
          <a:solidFill>
            <a:schemeClr val="accent1">
              <a:lumMod val="60000"/>
              <a:lumOff val="40000"/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/>
          </a:p>
        </p:txBody>
      </p:sp>
      <p:sp>
        <p:nvSpPr>
          <p:cNvPr id="8" name="椭圆 7"/>
          <p:cNvSpPr/>
          <p:nvPr/>
        </p:nvSpPr>
        <p:spPr>
          <a:xfrm>
            <a:off x="1407584" y="2241551"/>
            <a:ext cx="1788584" cy="17875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4950" strike="noStrike" noProof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536951" y="3155950"/>
            <a:ext cx="6451600" cy="0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571751" y="5051426"/>
            <a:ext cx="220133" cy="220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/>
          </a:p>
        </p:txBody>
      </p:sp>
      <p:sp>
        <p:nvSpPr>
          <p:cNvPr id="11" name="椭圆 10"/>
          <p:cNvSpPr/>
          <p:nvPr/>
        </p:nvSpPr>
        <p:spPr>
          <a:xfrm>
            <a:off x="1576918" y="4557714"/>
            <a:ext cx="311151" cy="30956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76200" dist="38100" dir="2700000" algn="tl" rotWithShape="0">
              <a:srgbClr val="2B57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/>
          </a:p>
        </p:txBody>
      </p:sp>
      <p:sp>
        <p:nvSpPr>
          <p:cNvPr id="12" name="椭圆 11"/>
          <p:cNvSpPr/>
          <p:nvPr/>
        </p:nvSpPr>
        <p:spPr>
          <a:xfrm>
            <a:off x="1849967" y="6108701"/>
            <a:ext cx="220133" cy="22066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/>
          </a:p>
        </p:txBody>
      </p:sp>
      <p:sp>
        <p:nvSpPr>
          <p:cNvPr id="13" name="椭圆 12"/>
          <p:cNvSpPr/>
          <p:nvPr/>
        </p:nvSpPr>
        <p:spPr>
          <a:xfrm>
            <a:off x="2791885" y="5716588"/>
            <a:ext cx="148167" cy="14763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st="38100" dir="2700000" algn="tl" rotWithShape="0">
              <a:srgbClr val="2B57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/>
          </a:p>
        </p:txBody>
      </p:sp>
      <p:sp>
        <p:nvSpPr>
          <p:cNvPr id="14" name="椭圆 13"/>
          <p:cNvSpPr/>
          <p:nvPr/>
        </p:nvSpPr>
        <p:spPr>
          <a:xfrm>
            <a:off x="2360084" y="4068763"/>
            <a:ext cx="146051" cy="1476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611331" y="2149466"/>
            <a:ext cx="6223772" cy="97872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611331" y="3231383"/>
            <a:ext cx="6220880" cy="53553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A6D4A088-84C6-4E25-8974-50052BF70A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15F6551D-C697-47F0-8D0F-B52E4434774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A6D4A088-84C6-4E25-8974-50052BF70A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15F6551D-C697-47F0-8D0F-B52E4434774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15022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A6D4A088-84C6-4E25-8974-50052BF70A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15F6551D-C697-47F0-8D0F-B52E4434774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5"/>
          <p:cNvGrpSpPr/>
          <p:nvPr/>
        </p:nvGrpSpPr>
        <p:grpSpPr>
          <a:xfrm>
            <a:off x="1534584" y="1"/>
            <a:ext cx="9144000" cy="1154113"/>
            <a:chOff x="1533823" y="0"/>
            <a:chExt cx="9145467" cy="1154099"/>
          </a:xfrm>
        </p:grpSpPr>
        <p:sp>
          <p:nvSpPr>
            <p:cNvPr id="7" name="任意多边形: 形状 6"/>
            <p:cNvSpPr/>
            <p:nvPr/>
          </p:nvSpPr>
          <p:spPr>
            <a:xfrm flipV="1">
              <a:off x="3133630" y="0"/>
              <a:ext cx="1328050" cy="1049462"/>
            </a:xfrm>
            <a:custGeom>
              <a:avLst/>
              <a:gdLst>
                <a:gd name="connsiteX0" fmla="*/ 125100 w 1328050"/>
                <a:gd name="connsiteY0" fmla="*/ 1049462 h 1049462"/>
                <a:gd name="connsiteX1" fmla="*/ 1202951 w 1328050"/>
                <a:gd name="connsiteY1" fmla="*/ 1049462 h 1049462"/>
                <a:gd name="connsiteX2" fmla="*/ 1214645 w 1328050"/>
                <a:gd name="connsiteY2" fmla="*/ 1035288 h 1049462"/>
                <a:gd name="connsiteX3" fmla="*/ 1328050 w 1328050"/>
                <a:gd name="connsiteY3" fmla="*/ 664025 h 1049462"/>
                <a:gd name="connsiteX4" fmla="*/ 664025 w 1328050"/>
                <a:gd name="connsiteY4" fmla="*/ 0 h 1049462"/>
                <a:gd name="connsiteX5" fmla="*/ 0 w 1328050"/>
                <a:gd name="connsiteY5" fmla="*/ 664025 h 1049462"/>
                <a:gd name="connsiteX6" fmla="*/ 113405 w 1328050"/>
                <a:gd name="connsiteY6" fmla="*/ 1035288 h 104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8050" h="1049462">
                  <a:moveTo>
                    <a:pt x="125100" y="1049462"/>
                  </a:moveTo>
                  <a:lnTo>
                    <a:pt x="1202951" y="1049462"/>
                  </a:lnTo>
                  <a:lnTo>
                    <a:pt x="1214645" y="1035288"/>
                  </a:lnTo>
                  <a:cubicBezTo>
                    <a:pt x="1286243" y="929309"/>
                    <a:pt x="1328050" y="801549"/>
                    <a:pt x="1328050" y="664025"/>
                  </a:cubicBezTo>
                  <a:cubicBezTo>
                    <a:pt x="1328050" y="297294"/>
                    <a:pt x="1030756" y="0"/>
                    <a:pt x="664025" y="0"/>
                  </a:cubicBezTo>
                  <a:cubicBezTo>
                    <a:pt x="297294" y="0"/>
                    <a:pt x="0" y="297294"/>
                    <a:pt x="0" y="664025"/>
                  </a:cubicBezTo>
                  <a:cubicBezTo>
                    <a:pt x="0" y="801549"/>
                    <a:pt x="41807" y="929309"/>
                    <a:pt x="113405" y="10352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143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8" name="任意多边形: 形状 7"/>
            <p:cNvSpPr/>
            <p:nvPr/>
          </p:nvSpPr>
          <p:spPr>
            <a:xfrm flipV="1">
              <a:off x="4771823" y="0"/>
              <a:ext cx="777822" cy="459209"/>
            </a:xfrm>
            <a:custGeom>
              <a:avLst/>
              <a:gdLst>
                <a:gd name="connsiteX0" fmla="*/ 14193 w 777822"/>
                <a:gd name="connsiteY0" fmla="*/ 459209 h 459209"/>
                <a:gd name="connsiteX1" fmla="*/ 763630 w 777822"/>
                <a:gd name="connsiteY1" fmla="*/ 459209 h 459209"/>
                <a:gd name="connsiteX2" fmla="*/ 777822 w 777822"/>
                <a:gd name="connsiteY2" fmla="*/ 388911 h 459209"/>
                <a:gd name="connsiteX3" fmla="*/ 388911 w 777822"/>
                <a:gd name="connsiteY3" fmla="*/ 0 h 459209"/>
                <a:gd name="connsiteX4" fmla="*/ 0 w 777822"/>
                <a:gd name="connsiteY4" fmla="*/ 388911 h 45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822" h="459209">
                  <a:moveTo>
                    <a:pt x="14193" y="459209"/>
                  </a:moveTo>
                  <a:lnTo>
                    <a:pt x="763630" y="459209"/>
                  </a:lnTo>
                  <a:lnTo>
                    <a:pt x="777822" y="388911"/>
                  </a:lnTo>
                  <a:cubicBezTo>
                    <a:pt x="777822" y="174121"/>
                    <a:pt x="603701" y="0"/>
                    <a:pt x="388911" y="0"/>
                  </a:cubicBezTo>
                  <a:cubicBezTo>
                    <a:pt x="174121" y="0"/>
                    <a:pt x="0" y="174121"/>
                    <a:pt x="0" y="3889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9" name="椭圆 8"/>
            <p:cNvSpPr/>
            <p:nvPr/>
          </p:nvSpPr>
          <p:spPr>
            <a:xfrm flipV="1">
              <a:off x="5834776" y="271636"/>
              <a:ext cx="777826" cy="7778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10" name="任意多边形: 形状 9"/>
            <p:cNvSpPr/>
            <p:nvPr/>
          </p:nvSpPr>
          <p:spPr>
            <a:xfrm flipV="1">
              <a:off x="7112798" y="0"/>
              <a:ext cx="887872" cy="629286"/>
            </a:xfrm>
            <a:custGeom>
              <a:avLst/>
              <a:gdLst>
                <a:gd name="connsiteX0" fmla="*/ 41699 w 887872"/>
                <a:gd name="connsiteY0" fmla="*/ 629286 h 629286"/>
                <a:gd name="connsiteX1" fmla="*/ 846174 w 887872"/>
                <a:gd name="connsiteY1" fmla="*/ 629286 h 629286"/>
                <a:gd name="connsiteX2" fmla="*/ 852986 w 887872"/>
                <a:gd name="connsiteY2" fmla="*/ 616736 h 629286"/>
                <a:gd name="connsiteX3" fmla="*/ 887872 w 887872"/>
                <a:gd name="connsiteY3" fmla="*/ 443936 h 629286"/>
                <a:gd name="connsiteX4" fmla="*/ 443936 w 887872"/>
                <a:gd name="connsiteY4" fmla="*/ 0 h 629286"/>
                <a:gd name="connsiteX5" fmla="*/ 0 w 887872"/>
                <a:gd name="connsiteY5" fmla="*/ 443936 h 629286"/>
                <a:gd name="connsiteX6" fmla="*/ 34887 w 887872"/>
                <a:gd name="connsiteY6" fmla="*/ 616736 h 62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7872" h="629286">
                  <a:moveTo>
                    <a:pt x="41699" y="629286"/>
                  </a:moveTo>
                  <a:lnTo>
                    <a:pt x="846174" y="629286"/>
                  </a:lnTo>
                  <a:lnTo>
                    <a:pt x="852986" y="616736"/>
                  </a:lnTo>
                  <a:cubicBezTo>
                    <a:pt x="875450" y="563624"/>
                    <a:pt x="887872" y="505231"/>
                    <a:pt x="887872" y="443936"/>
                  </a:cubicBezTo>
                  <a:cubicBezTo>
                    <a:pt x="887872" y="198757"/>
                    <a:pt x="689115" y="0"/>
                    <a:pt x="443936" y="0"/>
                  </a:cubicBezTo>
                  <a:cubicBezTo>
                    <a:pt x="198757" y="0"/>
                    <a:pt x="0" y="198757"/>
                    <a:pt x="0" y="443936"/>
                  </a:cubicBezTo>
                  <a:cubicBezTo>
                    <a:pt x="0" y="505231"/>
                    <a:pt x="12423" y="563624"/>
                    <a:pt x="34887" y="616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11" name="任意多边形: 形状 10"/>
            <p:cNvSpPr/>
            <p:nvPr/>
          </p:nvSpPr>
          <p:spPr>
            <a:xfrm flipV="1">
              <a:off x="8333916" y="1"/>
              <a:ext cx="1450608" cy="1143677"/>
            </a:xfrm>
            <a:custGeom>
              <a:avLst/>
              <a:gdLst>
                <a:gd name="connsiteX0" fmla="*/ 134472 w 1450608"/>
                <a:gd name="connsiteY0" fmla="*/ 1143677 h 1143677"/>
                <a:gd name="connsiteX1" fmla="*/ 1316136 w 1450608"/>
                <a:gd name="connsiteY1" fmla="*/ 1143677 h 1143677"/>
                <a:gd name="connsiteX2" fmla="*/ 1326737 w 1450608"/>
                <a:gd name="connsiteY2" fmla="*/ 1130828 h 1143677"/>
                <a:gd name="connsiteX3" fmla="*/ 1450608 w 1450608"/>
                <a:gd name="connsiteY3" fmla="*/ 725304 h 1143677"/>
                <a:gd name="connsiteX4" fmla="*/ 725304 w 1450608"/>
                <a:gd name="connsiteY4" fmla="*/ 0 h 1143677"/>
                <a:gd name="connsiteX5" fmla="*/ 0 w 1450608"/>
                <a:gd name="connsiteY5" fmla="*/ 725304 h 1143677"/>
                <a:gd name="connsiteX6" fmla="*/ 123871 w 1450608"/>
                <a:gd name="connsiteY6" fmla="*/ 1130828 h 11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0608" h="1143677">
                  <a:moveTo>
                    <a:pt x="134472" y="1143677"/>
                  </a:moveTo>
                  <a:lnTo>
                    <a:pt x="1316136" y="1143677"/>
                  </a:lnTo>
                  <a:lnTo>
                    <a:pt x="1326737" y="1130828"/>
                  </a:lnTo>
                  <a:cubicBezTo>
                    <a:pt x="1404943" y="1015069"/>
                    <a:pt x="1450608" y="875519"/>
                    <a:pt x="1450608" y="725304"/>
                  </a:cubicBezTo>
                  <a:cubicBezTo>
                    <a:pt x="1450608" y="324730"/>
                    <a:pt x="1125878" y="0"/>
                    <a:pt x="725304" y="0"/>
                  </a:cubicBezTo>
                  <a:cubicBezTo>
                    <a:pt x="324730" y="0"/>
                    <a:pt x="0" y="324730"/>
                    <a:pt x="0" y="725304"/>
                  </a:cubicBezTo>
                  <a:cubicBezTo>
                    <a:pt x="0" y="875519"/>
                    <a:pt x="45665" y="1015069"/>
                    <a:pt x="123871" y="11308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12" name="椭圆 11"/>
            <p:cNvSpPr/>
            <p:nvPr/>
          </p:nvSpPr>
          <p:spPr>
            <a:xfrm flipV="1">
              <a:off x="2286980" y="511738"/>
              <a:ext cx="561520" cy="5615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13" name="任意多边形: 形状 12"/>
            <p:cNvSpPr/>
            <p:nvPr/>
          </p:nvSpPr>
          <p:spPr>
            <a:xfrm flipV="1">
              <a:off x="1533823" y="0"/>
              <a:ext cx="786976" cy="418373"/>
            </a:xfrm>
            <a:custGeom>
              <a:avLst/>
              <a:gdLst>
                <a:gd name="connsiteX0" fmla="*/ 2509 w 786976"/>
                <a:gd name="connsiteY0" fmla="*/ 418373 h 418373"/>
                <a:gd name="connsiteX1" fmla="*/ 784468 w 786976"/>
                <a:gd name="connsiteY1" fmla="*/ 418373 h 418373"/>
                <a:gd name="connsiteX2" fmla="*/ 786976 w 786976"/>
                <a:gd name="connsiteY2" fmla="*/ 393488 h 418373"/>
                <a:gd name="connsiteX3" fmla="*/ 393488 w 786976"/>
                <a:gd name="connsiteY3" fmla="*/ 0 h 418373"/>
                <a:gd name="connsiteX4" fmla="*/ 0 w 786976"/>
                <a:gd name="connsiteY4" fmla="*/ 393488 h 41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976" h="418373">
                  <a:moveTo>
                    <a:pt x="2509" y="418373"/>
                  </a:moveTo>
                  <a:lnTo>
                    <a:pt x="784468" y="418373"/>
                  </a:lnTo>
                  <a:lnTo>
                    <a:pt x="786976" y="393488"/>
                  </a:lnTo>
                  <a:cubicBezTo>
                    <a:pt x="786976" y="176171"/>
                    <a:pt x="610805" y="0"/>
                    <a:pt x="393488" y="0"/>
                  </a:cubicBezTo>
                  <a:cubicBezTo>
                    <a:pt x="176171" y="0"/>
                    <a:pt x="0" y="176171"/>
                    <a:pt x="0" y="3934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14" name="椭圆 13"/>
            <p:cNvSpPr/>
            <p:nvPr/>
          </p:nvSpPr>
          <p:spPr>
            <a:xfrm flipV="1">
              <a:off x="10117770" y="483400"/>
              <a:ext cx="561520" cy="5615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15" name="椭圆 14"/>
            <p:cNvSpPr/>
            <p:nvPr/>
          </p:nvSpPr>
          <p:spPr>
            <a:xfrm flipV="1">
              <a:off x="6819661" y="779752"/>
              <a:ext cx="374347" cy="37434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1350" strike="noStrike" noProof="1"/>
            </a:p>
          </p:txBody>
        </p:sp>
      </p:grpSp>
      <p:grpSp>
        <p:nvGrpSpPr>
          <p:cNvPr id="4108" name="组合 15"/>
          <p:cNvGrpSpPr/>
          <p:nvPr/>
        </p:nvGrpSpPr>
        <p:grpSpPr>
          <a:xfrm flipV="1">
            <a:off x="1534584" y="5695951"/>
            <a:ext cx="9144000" cy="1154113"/>
            <a:chOff x="1533823" y="0"/>
            <a:chExt cx="9145467" cy="1154099"/>
          </a:xfrm>
        </p:grpSpPr>
        <p:sp>
          <p:nvSpPr>
            <p:cNvPr id="17" name="任意多边形: 形状 16"/>
            <p:cNvSpPr/>
            <p:nvPr/>
          </p:nvSpPr>
          <p:spPr>
            <a:xfrm flipV="1">
              <a:off x="3133630" y="0"/>
              <a:ext cx="1328050" cy="1049462"/>
            </a:xfrm>
            <a:custGeom>
              <a:avLst/>
              <a:gdLst>
                <a:gd name="connsiteX0" fmla="*/ 125100 w 1328050"/>
                <a:gd name="connsiteY0" fmla="*/ 1049462 h 1049462"/>
                <a:gd name="connsiteX1" fmla="*/ 1202951 w 1328050"/>
                <a:gd name="connsiteY1" fmla="*/ 1049462 h 1049462"/>
                <a:gd name="connsiteX2" fmla="*/ 1214645 w 1328050"/>
                <a:gd name="connsiteY2" fmla="*/ 1035288 h 1049462"/>
                <a:gd name="connsiteX3" fmla="*/ 1328050 w 1328050"/>
                <a:gd name="connsiteY3" fmla="*/ 664025 h 1049462"/>
                <a:gd name="connsiteX4" fmla="*/ 664025 w 1328050"/>
                <a:gd name="connsiteY4" fmla="*/ 0 h 1049462"/>
                <a:gd name="connsiteX5" fmla="*/ 0 w 1328050"/>
                <a:gd name="connsiteY5" fmla="*/ 664025 h 1049462"/>
                <a:gd name="connsiteX6" fmla="*/ 113405 w 1328050"/>
                <a:gd name="connsiteY6" fmla="*/ 1035288 h 104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8050" h="1049462">
                  <a:moveTo>
                    <a:pt x="125100" y="1049462"/>
                  </a:moveTo>
                  <a:lnTo>
                    <a:pt x="1202951" y="1049462"/>
                  </a:lnTo>
                  <a:lnTo>
                    <a:pt x="1214645" y="1035288"/>
                  </a:lnTo>
                  <a:cubicBezTo>
                    <a:pt x="1286243" y="929309"/>
                    <a:pt x="1328050" y="801549"/>
                    <a:pt x="1328050" y="664025"/>
                  </a:cubicBezTo>
                  <a:cubicBezTo>
                    <a:pt x="1328050" y="297294"/>
                    <a:pt x="1030756" y="0"/>
                    <a:pt x="664025" y="0"/>
                  </a:cubicBezTo>
                  <a:cubicBezTo>
                    <a:pt x="297294" y="0"/>
                    <a:pt x="0" y="297294"/>
                    <a:pt x="0" y="664025"/>
                  </a:cubicBezTo>
                  <a:cubicBezTo>
                    <a:pt x="0" y="801549"/>
                    <a:pt x="41807" y="929309"/>
                    <a:pt x="113405" y="10352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143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18" name="任意多边形: 形状 17"/>
            <p:cNvSpPr/>
            <p:nvPr/>
          </p:nvSpPr>
          <p:spPr>
            <a:xfrm flipV="1">
              <a:off x="4771823" y="0"/>
              <a:ext cx="777822" cy="459209"/>
            </a:xfrm>
            <a:custGeom>
              <a:avLst/>
              <a:gdLst>
                <a:gd name="connsiteX0" fmla="*/ 14193 w 777822"/>
                <a:gd name="connsiteY0" fmla="*/ 459209 h 459209"/>
                <a:gd name="connsiteX1" fmla="*/ 763630 w 777822"/>
                <a:gd name="connsiteY1" fmla="*/ 459209 h 459209"/>
                <a:gd name="connsiteX2" fmla="*/ 777822 w 777822"/>
                <a:gd name="connsiteY2" fmla="*/ 388911 h 459209"/>
                <a:gd name="connsiteX3" fmla="*/ 388911 w 777822"/>
                <a:gd name="connsiteY3" fmla="*/ 0 h 459209"/>
                <a:gd name="connsiteX4" fmla="*/ 0 w 777822"/>
                <a:gd name="connsiteY4" fmla="*/ 388911 h 45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822" h="459209">
                  <a:moveTo>
                    <a:pt x="14193" y="459209"/>
                  </a:moveTo>
                  <a:lnTo>
                    <a:pt x="763630" y="459209"/>
                  </a:lnTo>
                  <a:lnTo>
                    <a:pt x="777822" y="388911"/>
                  </a:lnTo>
                  <a:cubicBezTo>
                    <a:pt x="777822" y="174121"/>
                    <a:pt x="603701" y="0"/>
                    <a:pt x="388911" y="0"/>
                  </a:cubicBezTo>
                  <a:cubicBezTo>
                    <a:pt x="174121" y="0"/>
                    <a:pt x="0" y="174121"/>
                    <a:pt x="0" y="3889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19" name="椭圆 18"/>
            <p:cNvSpPr/>
            <p:nvPr/>
          </p:nvSpPr>
          <p:spPr>
            <a:xfrm flipV="1">
              <a:off x="5834776" y="271636"/>
              <a:ext cx="777826" cy="7778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20" name="任意多边形: 形状 19"/>
            <p:cNvSpPr/>
            <p:nvPr/>
          </p:nvSpPr>
          <p:spPr>
            <a:xfrm flipV="1">
              <a:off x="7112798" y="0"/>
              <a:ext cx="887872" cy="629286"/>
            </a:xfrm>
            <a:custGeom>
              <a:avLst/>
              <a:gdLst>
                <a:gd name="connsiteX0" fmla="*/ 41699 w 887872"/>
                <a:gd name="connsiteY0" fmla="*/ 629286 h 629286"/>
                <a:gd name="connsiteX1" fmla="*/ 846174 w 887872"/>
                <a:gd name="connsiteY1" fmla="*/ 629286 h 629286"/>
                <a:gd name="connsiteX2" fmla="*/ 852986 w 887872"/>
                <a:gd name="connsiteY2" fmla="*/ 616736 h 629286"/>
                <a:gd name="connsiteX3" fmla="*/ 887872 w 887872"/>
                <a:gd name="connsiteY3" fmla="*/ 443936 h 629286"/>
                <a:gd name="connsiteX4" fmla="*/ 443936 w 887872"/>
                <a:gd name="connsiteY4" fmla="*/ 0 h 629286"/>
                <a:gd name="connsiteX5" fmla="*/ 0 w 887872"/>
                <a:gd name="connsiteY5" fmla="*/ 443936 h 629286"/>
                <a:gd name="connsiteX6" fmla="*/ 34887 w 887872"/>
                <a:gd name="connsiteY6" fmla="*/ 616736 h 62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7872" h="629286">
                  <a:moveTo>
                    <a:pt x="41699" y="629286"/>
                  </a:moveTo>
                  <a:lnTo>
                    <a:pt x="846174" y="629286"/>
                  </a:lnTo>
                  <a:lnTo>
                    <a:pt x="852986" y="616736"/>
                  </a:lnTo>
                  <a:cubicBezTo>
                    <a:pt x="875450" y="563624"/>
                    <a:pt x="887872" y="505231"/>
                    <a:pt x="887872" y="443936"/>
                  </a:cubicBezTo>
                  <a:cubicBezTo>
                    <a:pt x="887872" y="198757"/>
                    <a:pt x="689115" y="0"/>
                    <a:pt x="443936" y="0"/>
                  </a:cubicBezTo>
                  <a:cubicBezTo>
                    <a:pt x="198757" y="0"/>
                    <a:pt x="0" y="198757"/>
                    <a:pt x="0" y="443936"/>
                  </a:cubicBezTo>
                  <a:cubicBezTo>
                    <a:pt x="0" y="505231"/>
                    <a:pt x="12423" y="563624"/>
                    <a:pt x="34887" y="616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21" name="任意多边形: 形状 20"/>
            <p:cNvSpPr/>
            <p:nvPr/>
          </p:nvSpPr>
          <p:spPr>
            <a:xfrm flipV="1">
              <a:off x="8333916" y="1"/>
              <a:ext cx="1450608" cy="1143677"/>
            </a:xfrm>
            <a:custGeom>
              <a:avLst/>
              <a:gdLst>
                <a:gd name="connsiteX0" fmla="*/ 134472 w 1450608"/>
                <a:gd name="connsiteY0" fmla="*/ 1143677 h 1143677"/>
                <a:gd name="connsiteX1" fmla="*/ 1316136 w 1450608"/>
                <a:gd name="connsiteY1" fmla="*/ 1143677 h 1143677"/>
                <a:gd name="connsiteX2" fmla="*/ 1326737 w 1450608"/>
                <a:gd name="connsiteY2" fmla="*/ 1130828 h 1143677"/>
                <a:gd name="connsiteX3" fmla="*/ 1450608 w 1450608"/>
                <a:gd name="connsiteY3" fmla="*/ 725304 h 1143677"/>
                <a:gd name="connsiteX4" fmla="*/ 725304 w 1450608"/>
                <a:gd name="connsiteY4" fmla="*/ 0 h 1143677"/>
                <a:gd name="connsiteX5" fmla="*/ 0 w 1450608"/>
                <a:gd name="connsiteY5" fmla="*/ 725304 h 1143677"/>
                <a:gd name="connsiteX6" fmla="*/ 123871 w 1450608"/>
                <a:gd name="connsiteY6" fmla="*/ 1130828 h 11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0608" h="1143677">
                  <a:moveTo>
                    <a:pt x="134472" y="1143677"/>
                  </a:moveTo>
                  <a:lnTo>
                    <a:pt x="1316136" y="1143677"/>
                  </a:lnTo>
                  <a:lnTo>
                    <a:pt x="1326737" y="1130828"/>
                  </a:lnTo>
                  <a:cubicBezTo>
                    <a:pt x="1404943" y="1015069"/>
                    <a:pt x="1450608" y="875519"/>
                    <a:pt x="1450608" y="725304"/>
                  </a:cubicBezTo>
                  <a:cubicBezTo>
                    <a:pt x="1450608" y="324730"/>
                    <a:pt x="1125878" y="0"/>
                    <a:pt x="725304" y="0"/>
                  </a:cubicBezTo>
                  <a:cubicBezTo>
                    <a:pt x="324730" y="0"/>
                    <a:pt x="0" y="324730"/>
                    <a:pt x="0" y="725304"/>
                  </a:cubicBezTo>
                  <a:cubicBezTo>
                    <a:pt x="0" y="875519"/>
                    <a:pt x="45665" y="1015069"/>
                    <a:pt x="123871" y="11308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22" name="椭圆 21"/>
            <p:cNvSpPr/>
            <p:nvPr/>
          </p:nvSpPr>
          <p:spPr>
            <a:xfrm flipV="1">
              <a:off x="2286980" y="511738"/>
              <a:ext cx="561520" cy="5615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23" name="任意多边形: 形状 22"/>
            <p:cNvSpPr/>
            <p:nvPr/>
          </p:nvSpPr>
          <p:spPr>
            <a:xfrm flipV="1">
              <a:off x="1533823" y="0"/>
              <a:ext cx="786976" cy="418373"/>
            </a:xfrm>
            <a:custGeom>
              <a:avLst/>
              <a:gdLst>
                <a:gd name="connsiteX0" fmla="*/ 2509 w 786976"/>
                <a:gd name="connsiteY0" fmla="*/ 418373 h 418373"/>
                <a:gd name="connsiteX1" fmla="*/ 784468 w 786976"/>
                <a:gd name="connsiteY1" fmla="*/ 418373 h 418373"/>
                <a:gd name="connsiteX2" fmla="*/ 786976 w 786976"/>
                <a:gd name="connsiteY2" fmla="*/ 393488 h 418373"/>
                <a:gd name="connsiteX3" fmla="*/ 393488 w 786976"/>
                <a:gd name="connsiteY3" fmla="*/ 0 h 418373"/>
                <a:gd name="connsiteX4" fmla="*/ 0 w 786976"/>
                <a:gd name="connsiteY4" fmla="*/ 393488 h 41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976" h="418373">
                  <a:moveTo>
                    <a:pt x="2509" y="418373"/>
                  </a:moveTo>
                  <a:lnTo>
                    <a:pt x="784468" y="418373"/>
                  </a:lnTo>
                  <a:lnTo>
                    <a:pt x="786976" y="393488"/>
                  </a:lnTo>
                  <a:cubicBezTo>
                    <a:pt x="786976" y="176171"/>
                    <a:pt x="610805" y="0"/>
                    <a:pt x="393488" y="0"/>
                  </a:cubicBezTo>
                  <a:cubicBezTo>
                    <a:pt x="176171" y="0"/>
                    <a:pt x="0" y="176171"/>
                    <a:pt x="0" y="3934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24" name="椭圆 23"/>
            <p:cNvSpPr/>
            <p:nvPr/>
          </p:nvSpPr>
          <p:spPr>
            <a:xfrm flipV="1">
              <a:off x="10117770" y="483400"/>
              <a:ext cx="561520" cy="5615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25" name="椭圆 24"/>
            <p:cNvSpPr/>
            <p:nvPr/>
          </p:nvSpPr>
          <p:spPr>
            <a:xfrm flipV="1">
              <a:off x="6819661" y="779752"/>
              <a:ext cx="374347" cy="37434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1350" strike="noStrike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65889" y="2302403"/>
            <a:ext cx="10515600" cy="1569660"/>
          </a:xfrm>
        </p:spPr>
        <p:txBody>
          <a:bodyPr>
            <a:normAutofit/>
          </a:bodyPr>
          <a:lstStyle>
            <a:lvl1pPr algn="ctr">
              <a:defRPr sz="80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A6D4A088-84C6-4E25-8974-50052BF70A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15F6551D-C697-47F0-8D0F-B52E4434774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A6D4A088-84C6-4E25-8974-50052BF70A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15F6551D-C697-47F0-8D0F-B52E4434774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A6D4A088-84C6-4E25-8974-50052BF70A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15F6551D-C697-47F0-8D0F-B52E4434774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396603" y="365125"/>
            <a:ext cx="957197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9445668" cy="5811838"/>
          </a:xfrm>
        </p:spPr>
        <p:txBody>
          <a:bodyPr vert="eaVert"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A6D4A088-84C6-4E25-8974-50052BF70A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15F6551D-C697-47F0-8D0F-B52E4434774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A6D4A088-84C6-4E25-8974-50052BF70A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15F6551D-C697-47F0-8D0F-B52E4434774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6"/>
          <p:cNvGrpSpPr/>
          <p:nvPr/>
        </p:nvGrpSpPr>
        <p:grpSpPr>
          <a:xfrm rot="10800000">
            <a:off x="46567" y="5707063"/>
            <a:ext cx="1430867" cy="1085850"/>
            <a:chOff x="46587" y="5707287"/>
            <a:chExt cx="1430938" cy="1085390"/>
          </a:xfrm>
        </p:grpSpPr>
        <p:sp>
          <p:nvSpPr>
            <p:cNvPr id="8" name="椭圆 7"/>
            <p:cNvSpPr/>
            <p:nvPr/>
          </p:nvSpPr>
          <p:spPr>
            <a:xfrm>
              <a:off x="649487" y="6446845"/>
              <a:ext cx="345832" cy="3458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9" name="椭圆 8"/>
            <p:cNvSpPr/>
            <p:nvPr/>
          </p:nvSpPr>
          <p:spPr>
            <a:xfrm>
              <a:off x="966734" y="5707287"/>
              <a:ext cx="510791" cy="510791"/>
            </a:xfrm>
            <a:prstGeom prst="ellipse">
              <a:avLst/>
            </a:prstGeom>
            <a:solidFill>
              <a:schemeClr val="accent1">
                <a:lumMod val="75000"/>
                <a:alpha val="65000"/>
              </a:schemeClr>
            </a:solidFill>
            <a:ln>
              <a:noFill/>
            </a:ln>
            <a:effectLst>
              <a:outerShdw blurRad="76200" dist="38100" dir="2700000" algn="tl" rotWithShape="0">
                <a:srgbClr val="2B579A">
                  <a:alpha val="5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1350" strike="noStrike" noProof="1"/>
            </a:p>
          </p:txBody>
        </p:sp>
        <p:sp>
          <p:nvSpPr>
            <p:cNvPr id="10" name="椭圆 9"/>
            <p:cNvSpPr/>
            <p:nvPr/>
          </p:nvSpPr>
          <p:spPr>
            <a:xfrm>
              <a:off x="46587" y="6234989"/>
              <a:ext cx="221063" cy="22106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75000"/>
              </a:schemeClr>
            </a:solidFill>
            <a:ln>
              <a:noFill/>
            </a:ln>
            <a:effectLst>
              <a:outerShdw blurRad="76200" dist="38100" dir="2700000" algn="tl" rotWithShape="0">
                <a:srgbClr val="2B579A">
                  <a:alpha val="61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1350" strike="noStrike" noProof="1"/>
            </a:p>
          </p:txBody>
        </p:sp>
      </p:grpSp>
      <p:sp>
        <p:nvSpPr>
          <p:cNvPr id="1030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1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 indent="-2286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auto"/>
            <a:fld id="{A6D4A088-84C6-4E25-8974-50052BF70A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auto"/>
            <a:fld id="{15F6551D-C697-47F0-8D0F-B52E4434774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1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35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7.wmf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.png"/><Relationship Id="rId1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6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1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8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18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2.wmf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22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w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6.wmf"/><Relationship Id="rId11" Type="http://schemas.openxmlformats.org/officeDocument/2006/relationships/vmlDrawing" Target="../drawings/vmlDrawing10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26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wmf"/><Relationship Id="rId1" Type="http://schemas.openxmlformats.org/officeDocument/2006/relationships/oleObject" Target="../embeddings/oleObject30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35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2.wmf"/><Relationship Id="rId16" Type="http://schemas.openxmlformats.org/officeDocument/2006/relationships/vmlDrawing" Target="../drawings/vmlDrawing12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8.wmf"/><Relationship Id="rId13" Type="http://schemas.openxmlformats.org/officeDocument/2006/relationships/oleObject" Target="../embeddings/oleObject37.bin"/><Relationship Id="rId12" Type="http://schemas.openxmlformats.org/officeDocument/2006/relationships/image" Target="../media/image37.wmf"/><Relationship Id="rId11" Type="http://schemas.openxmlformats.org/officeDocument/2006/relationships/oleObject" Target="../embeddings/oleObject36.bin"/><Relationship Id="rId10" Type="http://schemas.openxmlformats.org/officeDocument/2006/relationships/image" Target="../media/image36.wmf"/><Relationship Id="rId1" Type="http://schemas.openxmlformats.org/officeDocument/2006/relationships/oleObject" Target="../embeddings/oleObject31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42.w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39.wmf"/><Relationship Id="rId15" Type="http://schemas.openxmlformats.org/officeDocument/2006/relationships/vmlDrawing" Target="../drawings/vmlDrawing13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45.emf"/><Relationship Id="rId12" Type="http://schemas.openxmlformats.org/officeDocument/2006/relationships/image" Target="../media/image44.wmf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43.wmf"/><Relationship Id="rId1" Type="http://schemas.openxmlformats.org/officeDocument/2006/relationships/oleObject" Target="../embeddings/oleObject38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4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9.wmf"/><Relationship Id="rId1" Type="http://schemas.openxmlformats.org/officeDocument/2006/relationships/oleObject" Target="../embeddings/oleObject47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3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52.wmf"/><Relationship Id="rId1" Type="http://schemas.openxmlformats.org/officeDocument/2006/relationships/oleObject" Target="../embeddings/oleObject50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54.wmf"/><Relationship Id="rId12" Type="http://schemas.openxmlformats.org/officeDocument/2006/relationships/vmlDrawing" Target="../drawings/vmlDrawing17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52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1.bin"/><Relationship Id="rId8" Type="http://schemas.openxmlformats.org/officeDocument/2006/relationships/image" Target="../media/image62.wmf"/><Relationship Id="rId7" Type="http://schemas.openxmlformats.org/officeDocument/2006/relationships/oleObject" Target="../embeddings/oleObject60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60.wmf"/><Relationship Id="rId3" Type="http://schemas.openxmlformats.org/officeDocument/2006/relationships/oleObject" Target="../embeddings/oleObject58.bin"/><Relationship Id="rId2" Type="http://schemas.openxmlformats.org/officeDocument/2006/relationships/image" Target="../media/image59.wmf"/><Relationship Id="rId12" Type="http://schemas.openxmlformats.org/officeDocument/2006/relationships/vmlDrawing" Target="../drawings/vmlDrawing18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3.wmf"/><Relationship Id="rId1" Type="http://schemas.openxmlformats.org/officeDocument/2006/relationships/oleObject" Target="../embeddings/oleObject57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67.w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64.wmf"/><Relationship Id="rId12" Type="http://schemas.openxmlformats.org/officeDocument/2006/relationships/vmlDrawing" Target="../drawings/vmlDrawing19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8.wmf"/><Relationship Id="rId1" Type="http://schemas.openxmlformats.org/officeDocument/2006/relationships/oleObject" Target="../embeddings/oleObject62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0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3.wmf"/><Relationship Id="rId6" Type="http://schemas.openxmlformats.org/officeDocument/2006/relationships/oleObject" Target="../embeddings/oleObject69.bin"/><Relationship Id="rId5" Type="http://schemas.openxmlformats.org/officeDocument/2006/relationships/image" Target="../media/image72.png"/><Relationship Id="rId4" Type="http://schemas.openxmlformats.org/officeDocument/2006/relationships/image" Target="../media/image71.wmf"/><Relationship Id="rId3" Type="http://schemas.openxmlformats.org/officeDocument/2006/relationships/oleObject" Target="../embeddings/oleObject68.bin"/><Relationship Id="rId2" Type="http://schemas.openxmlformats.org/officeDocument/2006/relationships/image" Target="../media/image70.wmf"/><Relationship Id="rId1" Type="http://schemas.openxmlformats.org/officeDocument/2006/relationships/oleObject" Target="../embeddings/oleObject67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4.bin"/><Relationship Id="rId8" Type="http://schemas.openxmlformats.org/officeDocument/2006/relationships/image" Target="../media/image77.w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76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75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74.wmf"/><Relationship Id="rId18" Type="http://schemas.openxmlformats.org/officeDocument/2006/relationships/vmlDrawing" Target="../drawings/vmlDrawing21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81.wmf"/><Relationship Id="rId15" Type="http://schemas.openxmlformats.org/officeDocument/2006/relationships/oleObject" Target="../embeddings/oleObject77.bin"/><Relationship Id="rId14" Type="http://schemas.openxmlformats.org/officeDocument/2006/relationships/image" Target="../media/image80.wmf"/><Relationship Id="rId13" Type="http://schemas.openxmlformats.org/officeDocument/2006/relationships/oleObject" Target="../embeddings/oleObject76.bin"/><Relationship Id="rId12" Type="http://schemas.openxmlformats.org/officeDocument/2006/relationships/image" Target="../media/image79.wmf"/><Relationship Id="rId11" Type="http://schemas.openxmlformats.org/officeDocument/2006/relationships/oleObject" Target="../embeddings/oleObject75.bin"/><Relationship Id="rId10" Type="http://schemas.openxmlformats.org/officeDocument/2006/relationships/image" Target="../media/image78.wmf"/><Relationship Id="rId1" Type="http://schemas.openxmlformats.org/officeDocument/2006/relationships/oleObject" Target="../embeddings/oleObject70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5.wmf"/><Relationship Id="rId7" Type="http://schemas.openxmlformats.org/officeDocument/2006/relationships/oleObject" Target="../embeddings/oleObject81.bin"/><Relationship Id="rId6" Type="http://schemas.openxmlformats.org/officeDocument/2006/relationships/image" Target="../media/image84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83.w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82.wmf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78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7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86.wmf"/><Relationship Id="rId1" Type="http://schemas.openxmlformats.org/officeDocument/2006/relationships/oleObject" Target="../embeddings/oleObject82.bin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9.w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88.wmf"/><Relationship Id="rId1" Type="http://schemas.openxmlformats.org/officeDocument/2006/relationships/oleObject" Target="../embeddings/oleObject84.bin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0.wmf"/><Relationship Id="rId1" Type="http://schemas.openxmlformats.org/officeDocument/2006/relationships/oleObject" Target="../embeddings/oleObject86.bin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2.wmf"/><Relationship Id="rId3" Type="http://schemas.openxmlformats.org/officeDocument/2006/relationships/oleObject" Target="../embeddings/oleObject88.bin"/><Relationship Id="rId2" Type="http://schemas.openxmlformats.org/officeDocument/2006/relationships/image" Target="../media/image91.wmf"/><Relationship Id="rId1" Type="http://schemas.openxmlformats.org/officeDocument/2006/relationships/oleObject" Target="../embeddings/oleObject87.bin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4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93.wmf"/><Relationship Id="rId1" Type="http://schemas.openxmlformats.org/officeDocument/2006/relationships/oleObject" Target="../embeddings/oleObject89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8.wmf"/><Relationship Id="rId7" Type="http://schemas.openxmlformats.org/officeDocument/2006/relationships/oleObject" Target="../embeddings/oleObject94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6.wmf"/><Relationship Id="rId3" Type="http://schemas.openxmlformats.org/officeDocument/2006/relationships/oleObject" Target="../embeddings/oleObject92.bin"/><Relationship Id="rId2" Type="http://schemas.openxmlformats.org/officeDocument/2006/relationships/image" Target="../media/image95.wmf"/><Relationship Id="rId10" Type="http://schemas.openxmlformats.org/officeDocument/2006/relationships/vmlDrawing" Target="../drawings/vmlDrawing28.vml"/><Relationship Id="rId1" Type="http://schemas.openxmlformats.org/officeDocument/2006/relationships/oleObject" Target="../embeddings/oleObject91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1" Type="http://schemas.openxmlformats.org/officeDocument/2006/relationships/oleObject" Target="../embeddings/oleObject95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1" Type="http://schemas.openxmlformats.org/officeDocument/2006/relationships/oleObject" Target="../embeddings/oleObject96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1" Type="http://schemas.openxmlformats.org/officeDocument/2006/relationships/oleObject" Target="../embeddings/oleObject97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1" Type="http://schemas.openxmlformats.org/officeDocument/2006/relationships/oleObject" Target="../embeddings/oleObject98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/>
          </p:cNvSpPr>
          <p:nvPr>
            <p:ph type="ctrTitle"/>
          </p:nvPr>
        </p:nvSpPr>
        <p:spPr>
          <a:xfrm>
            <a:off x="2322513" y="850121"/>
            <a:ext cx="7772400" cy="1143000"/>
          </a:xfrm>
        </p:spPr>
        <p:txBody>
          <a:bodyPr vert="horz" wrap="square" lIns="91440" tIns="45720" rIns="91440" bIns="45720" anchor="b">
            <a:normAutofit/>
          </a:bodyPr>
          <a:lstStyle/>
          <a:p>
            <a:r>
              <a:rPr lang="zh-CN" altLang="en-US" kern="12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  <a:cs typeface="+mj-cs"/>
              </a:rPr>
              <a:t>第七章 主成分分析</a:t>
            </a:r>
            <a:endParaRPr lang="zh-CN" altLang="en-US" kern="1200" dirty="0">
              <a:solidFill>
                <a:schemeClr val="tx1"/>
              </a:solidFill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8193" name="Rectangle 1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solidFill>
                <a:schemeClr val="bg2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2" name="Rectangle 2052"/>
          <p:cNvSpPr txBox="1"/>
          <p:nvPr/>
        </p:nvSpPr>
        <p:spPr>
          <a:xfrm>
            <a:off x="1463194" y="2483629"/>
            <a:ext cx="5292725" cy="3524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charset="-122"/>
              </a:rPr>
              <a:t>基本思想</a:t>
            </a:r>
            <a:endParaRPr lang="zh-CN" altLang="en-US" sz="2800" dirty="0">
              <a:solidFill>
                <a:schemeClr val="tx2"/>
              </a:solidFill>
              <a:latin typeface="黑体" panose="02010609060101010101" charset="-122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charset="-122"/>
              </a:rPr>
              <a:t>数学与几何解释</a:t>
            </a:r>
            <a:endParaRPr lang="zh-CN" altLang="en-US" sz="2800" dirty="0">
              <a:solidFill>
                <a:schemeClr val="tx2"/>
              </a:solidFill>
              <a:latin typeface="黑体" panose="02010609060101010101" charset="-122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charset="-122"/>
              </a:rPr>
              <a:t>主成分的推导及性质</a:t>
            </a:r>
            <a:endParaRPr lang="zh-CN" altLang="en-US" sz="2800" dirty="0">
              <a:solidFill>
                <a:schemeClr val="tx2"/>
              </a:solidFill>
              <a:latin typeface="黑体" panose="02010609060101010101" charset="-122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charset="-122"/>
              </a:rPr>
              <a:t>主成分分析的步骤</a:t>
            </a:r>
            <a:endParaRPr lang="zh-CN" altLang="en-US" sz="2800" dirty="0">
              <a:solidFill>
                <a:schemeClr val="tx2"/>
              </a:solidFill>
              <a:latin typeface="黑体" panose="02010609060101010101" charset="-122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charset="-122"/>
              </a:rPr>
              <a:t>主成分分析的应用</a:t>
            </a:r>
            <a:endParaRPr lang="zh-CN" altLang="en-US" sz="2800" dirty="0">
              <a:solidFill>
                <a:schemeClr val="tx2"/>
              </a:solidFill>
              <a:latin typeface="黑体" panose="02010609060101010101" charset="-122"/>
            </a:endParaRPr>
          </a:p>
          <a:p>
            <a:pPr fontAlgn="auto">
              <a:spcAft>
                <a:spcPts val="0"/>
              </a:spcAft>
            </a:pPr>
            <a:endParaRPr lang="zh-CN" altLang="en-US" sz="2800" dirty="0">
              <a:solidFill>
                <a:schemeClr val="tx2"/>
              </a:solidFill>
              <a:latin typeface="黑体" panose="02010609060101010101" charset="-122"/>
            </a:endParaRPr>
          </a:p>
          <a:p>
            <a:pPr fontAlgn="auto">
              <a:spcAft>
                <a:spcPts val="0"/>
              </a:spcAft>
            </a:pPr>
            <a:endParaRPr lang="en-US" altLang="zh-CN" sz="2800" dirty="0">
              <a:latin typeface="黑体" panose="02010609060101010101" charset="-122"/>
            </a:endParaRPr>
          </a:p>
        </p:txBody>
      </p:sp>
      <p:sp>
        <p:nvSpPr>
          <p:cNvPr id="3" name="Rectangle 2052"/>
          <p:cNvSpPr txBox="1"/>
          <p:nvPr/>
        </p:nvSpPr>
        <p:spPr>
          <a:xfrm>
            <a:off x="7633608" y="2483629"/>
            <a:ext cx="3974165" cy="105215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作业：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7-1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7-6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7-10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7-11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7-12</a:t>
            </a:r>
            <a:endParaRPr lang="zh-CN" altLang="en-US" sz="2800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28676" name="Rectangle 5"/>
          <p:cNvSpPr>
            <a:spLocks noChangeArrowheads="1"/>
          </p:cNvSpPr>
          <p:nvPr/>
        </p:nvSpPr>
        <p:spPr bwMode="auto">
          <a:xfrm>
            <a:off x="3048000" y="570181"/>
            <a:ext cx="45720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r>
              <a:rPr kumimoji="1" lang="zh-CN" altLang="en-US" sz="3600" b="1" dirty="0">
                <a:latin typeface="+mj-ea"/>
                <a:ea typeface="+mj-ea"/>
              </a:rPr>
              <a:t>第一节</a:t>
            </a:r>
            <a:r>
              <a:rPr kumimoji="1" lang="zh-CN" altLang="en-US" sz="3600" b="1" dirty="0">
                <a:latin typeface="+mj-ea"/>
                <a:ea typeface="+mj-ea"/>
                <a:cs typeface="Times New Roman" panose="02020503050405090304" pitchFamily="18" charset="0"/>
              </a:rPr>
              <a:t>  </a:t>
            </a:r>
            <a:r>
              <a:rPr kumimoji="1" lang="zh-CN" altLang="en-US" sz="3600" b="1" dirty="0">
                <a:latin typeface="+mj-ea"/>
                <a:ea typeface="+mj-ea"/>
              </a:rPr>
              <a:t>基本思想</a:t>
            </a:r>
            <a:endParaRPr kumimoji="1" lang="zh-CN" altLang="en-US" sz="3600" b="1" dirty="0">
              <a:latin typeface="+mj-ea"/>
              <a:ea typeface="+mj-ea"/>
            </a:endParaRPr>
          </a:p>
        </p:txBody>
      </p:sp>
      <p:sp>
        <p:nvSpPr>
          <p:cNvPr id="4" name="Rectangle 3"/>
          <p:cNvSpPr>
            <a:spLocks noGrp="1"/>
          </p:cNvSpPr>
          <p:nvPr>
            <p:ph idx="1"/>
          </p:nvPr>
        </p:nvSpPr>
        <p:spPr>
          <a:xfrm>
            <a:off x="422694" y="1319844"/>
            <a:ext cx="10931106" cy="4136126"/>
          </a:xfrm>
        </p:spPr>
        <p:txBody>
          <a:bodyPr vert="horz" wrap="square" lIns="91440" tIns="45720" rIns="91440" bIns="45720" anchor="t"/>
          <a:lstStyle/>
          <a:p>
            <a:pPr algn="just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latin typeface="黑体" panose="02010609060101010101" charset="-122"/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主成分分析是把各变量之间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互相关联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复杂关系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进行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简化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分析的方法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</a:endParaRPr>
          </a:p>
          <a:p>
            <a:pPr algn="just">
              <a:lnSpc>
                <a:spcPct val="11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   在社会经济的研究中，为了全面系统的分析和研究问题，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必须考虑许多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经济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指标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，这些指标能从不同的侧面反映我们所研究的对象的特征，但在某种程度上存在信息的重叠，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具有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一定的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相关性</a:t>
            </a:r>
            <a:endParaRPr lang="en-US" altLang="zh-CN" sz="2800" dirty="0">
              <a:solidFill>
                <a:srgbClr val="FF0000"/>
              </a:solidFill>
              <a:latin typeface="黑体" panose="02010609060101010101" charset="-122"/>
            </a:endParaRPr>
          </a:p>
          <a:p>
            <a:pPr algn="just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   主成分分析试图在力保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数据信息丢失最少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的原则下，对多变量的数据进行最佳综合简化，对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高维变量空间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进行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降维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处理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</a:endParaRPr>
          </a:p>
          <a:p>
            <a:pPr algn="just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charset="-122"/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很显然，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识辨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系统在一个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低维空间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要比在一个高维空间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容易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得多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</a:endParaRPr>
          </a:p>
          <a:p>
            <a:pPr algn="just">
              <a:lnSpc>
                <a:spcPct val="110000"/>
              </a:lnSpc>
              <a:buNone/>
            </a:pPr>
            <a:endParaRPr lang="zh-CN" altLang="en-US" sz="2800" dirty="0">
              <a:solidFill>
                <a:srgbClr val="FF0000"/>
              </a:solidFill>
              <a:latin typeface="黑体" panose="02010609060101010101" charset="-122"/>
            </a:endParaRPr>
          </a:p>
          <a:p>
            <a:pPr algn="just">
              <a:lnSpc>
                <a:spcPct val="11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</a:rPr>
              <a:t>      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  <p:transition spd="med">
    <p:strips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07821" y="6400800"/>
            <a:ext cx="2548758" cy="276228"/>
          </a:xfrm>
          <a:noFill/>
          <a:ln>
            <a:noFill/>
          </a:ln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9975" y="384175"/>
            <a:ext cx="10341668" cy="60237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charset="-122"/>
              </a:rPr>
              <a:t>  降维，即研究指标体系的少数几个线性组合，构成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综合指标（主成分）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charset="-122"/>
              </a:rPr>
              <a:t>。</a:t>
            </a:r>
            <a:r>
              <a:rPr lang="zh-CN" altLang="en-US" sz="2800" dirty="0">
                <a:solidFill>
                  <a:srgbClr val="FF0066"/>
                </a:solidFill>
                <a:latin typeface="黑体" panose="02010609060101010101" charset="-122"/>
              </a:rPr>
              <a:t>要讨论的问题是：</a:t>
            </a:r>
            <a:endParaRPr lang="en-US" altLang="zh-CN" sz="2800" dirty="0">
              <a:solidFill>
                <a:srgbClr val="FF0066"/>
              </a:solidFill>
              <a:latin typeface="黑体" panose="02010609060101010101" charset="-122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</a:rPr>
              <a:t>基于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相关系数矩阵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</a:rPr>
              <a:t>还是基于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协方差矩阵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</a:rPr>
              <a:t>做主成分分析</a:t>
            </a:r>
            <a:endParaRPr lang="en-US" altLang="zh-CN" sz="2800" dirty="0">
              <a:solidFill>
                <a:schemeClr val="tx2"/>
              </a:solidFill>
              <a:latin typeface="Times New Roman" panose="0202050305040509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</a:rPr>
              <a:t>当分析中所选择的经济变量具有不同的量纲，变量水平差异很大，应该选择基于相关系数矩阵的主成分分析。</a:t>
            </a:r>
            <a:endParaRPr lang="en-US" altLang="zh-CN" sz="2800" dirty="0">
              <a:solidFill>
                <a:schemeClr val="tx2"/>
              </a:solidFill>
              <a:latin typeface="Times New Roman" panose="02020503050405090304" pitchFamily="18" charset="0"/>
            </a:endParaRPr>
          </a:p>
          <a:p>
            <a:pPr marL="457200" indent="-457200" algn="just"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</a:rPr>
              <a:t>选择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几个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</a:rPr>
              <a:t>主成分</a:t>
            </a:r>
            <a:endParaRPr lang="en-US" altLang="zh-CN" sz="2800" dirty="0">
              <a:solidFill>
                <a:schemeClr val="tx2"/>
              </a:solidFill>
              <a:latin typeface="Times New Roman" panose="02020503050405090304" pitchFamily="18" charset="0"/>
            </a:endParaRPr>
          </a:p>
          <a:p>
            <a:pPr marL="914400" lvl="1" indent="-457200" algn="just"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</a:rPr>
              <a:t>一般情况下主成分的个数应该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小于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</a:rPr>
              <a:t>原始变量的个数</a:t>
            </a:r>
            <a:endParaRPr lang="en-US" altLang="zh-CN" sz="2800" dirty="0">
              <a:solidFill>
                <a:schemeClr val="tx2"/>
              </a:solidFill>
              <a:latin typeface="Times New Roman" panose="02020503050405090304" pitchFamily="18" charset="0"/>
            </a:endParaRPr>
          </a:p>
          <a:p>
            <a:pPr marL="914400" lvl="1" indent="-457200" algn="just"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</a:rPr>
              <a:t>应该权衡主成分个数和保留的信息</a:t>
            </a:r>
            <a:endParaRPr lang="zh-CN" altLang="en-US" sz="2800" dirty="0">
              <a:solidFill>
                <a:schemeClr val="tx2"/>
              </a:solidFill>
              <a:latin typeface="Times New Roman" panose="02020503050405090304" pitchFamily="18" charset="0"/>
            </a:endParaRPr>
          </a:p>
          <a:p>
            <a:pPr algn="just"/>
            <a:endParaRPr lang="zh-CN" altLang="en-US" sz="2800" dirty="0">
              <a:solidFill>
                <a:schemeClr val="tx2"/>
              </a:solidFill>
              <a:latin typeface="Times New Roman" panose="02020503050405090304" pitchFamily="18" charset="0"/>
            </a:endParaRPr>
          </a:p>
          <a:p>
            <a:pPr marL="457200" indent="-457200" algn="just"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</a:rPr>
              <a:t>如何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解释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</a:rPr>
              <a:t>主成分所包含的经济意义</a:t>
            </a:r>
            <a:endParaRPr lang="zh-CN" altLang="en-US" sz="2800" dirty="0">
              <a:solidFill>
                <a:schemeClr val="tx2"/>
              </a:solidFill>
              <a:latin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solidFill>
                <a:schemeClr val="tx2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  <p:transition spd="med">
    <p:strips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idx="1"/>
          </p:nvPr>
        </p:nvSpPr>
        <p:spPr>
          <a:xfrm>
            <a:off x="1774825" y="2205039"/>
            <a:ext cx="8686800" cy="4308475"/>
          </a:xfrm>
        </p:spPr>
        <p:txBody>
          <a:bodyPr vert="horz" wrap="square" lIns="91440" tIns="45720" rIns="91440" bIns="45720" anchor="t"/>
          <a:lstStyle/>
          <a:p>
            <a:pPr algn="just">
              <a:lnSpc>
                <a:spcPct val="145000"/>
              </a:lnSpc>
              <a:buNone/>
            </a:pPr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</a:rPr>
              <a:t>      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一项十分著名的工作是美国的统计学家斯通</a:t>
            </a:r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</a:rPr>
              <a:t>(stone)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在</a:t>
            </a:r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</a:rPr>
              <a:t>1947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年关于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国民经济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的研究。他曾利用美国</a:t>
            </a:r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</a:rPr>
              <a:t>1929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一</a:t>
            </a:r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</a:rPr>
              <a:t>1938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年各年的数据，得到了</a:t>
            </a: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17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个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反映国民收入与支出的变量要素，例如雇主补贴、消费资料和生产资料、纯公共支出、净增库存、股息、利息外贸平衡等等。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  <p:sp>
        <p:nvSpPr>
          <p:cNvPr id="143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14339" name="Text Box 4"/>
          <p:cNvSpPr txBox="1"/>
          <p:nvPr/>
        </p:nvSpPr>
        <p:spPr>
          <a:xfrm>
            <a:off x="2819400" y="1143000"/>
            <a:ext cx="4038600" cy="641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latin typeface="Tahoma" panose="020B0604030504040204" pitchFamily="34" charset="0"/>
              </a:rPr>
              <a:t>一个例子</a:t>
            </a:r>
            <a:endParaRPr lang="zh-CN" altLang="en-US" sz="36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strips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/>
          </p:cNvSpPr>
          <p:nvPr>
            <p:ph idx="1"/>
          </p:nvPr>
        </p:nvSpPr>
        <p:spPr>
          <a:xfrm>
            <a:off x="1774825" y="765176"/>
            <a:ext cx="8540750" cy="5616575"/>
          </a:xfrm>
        </p:spPr>
        <p:txBody>
          <a:bodyPr vert="horz" wrap="square" lIns="91440" tIns="45720" rIns="91440" bIns="45720" anchor="t"/>
          <a:lstStyle/>
          <a:p>
            <a:pPr algn="just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在进行主成分分析后，竟以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97.4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％的精度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，用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三个新变量就取代了原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17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个变量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。根据经济学知识，斯通给这三个新变量分别命名为总收入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baseline="-250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、总收入变化率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baseline="-250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和经济发展或衰退的趋势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baseline="-250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。更有意思的是，这三个变量其实都是可以直接测量的。斯通将他得到的主成分与实际测量的总收入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、总收入变化率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以及时间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因素做相关分析，得到下表：</a:t>
            </a:r>
            <a:endParaRPr lang="zh-CN" altLang="en-US" sz="2800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3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2" name="Rectangle 1134"/>
          <p:cNvSpPr/>
          <p:nvPr/>
        </p:nvSpPr>
        <p:spPr>
          <a:xfrm>
            <a:off x="8142329" y="762321"/>
            <a:ext cx="1014466" cy="79288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>
              <a:buChar char="Δ"/>
            </a:pPr>
            <a:r>
              <a:rPr lang="en-US" altLang="zh-CN" sz="3600" b="1" i="1" dirty="0">
                <a:solidFill>
                  <a:schemeClr val="tx2"/>
                </a:solidFill>
                <a:latin typeface="Times New Roman" panose="02020503050405090304" pitchFamily="18" charset="0"/>
                <a:ea typeface="新宋体" panose="02010609030101010101" pitchFamily="49" charset="-122"/>
                <a:cs typeface="Times New Roman" panose="02020503050405090304" pitchFamily="18" charset="0"/>
              </a:rPr>
              <a:t>i</a:t>
            </a:r>
            <a:endParaRPr lang="en-US" altLang="zh-CN" sz="3600" b="1" i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eaLnBrk="0" hangingPunct="0"/>
            <a:endParaRPr lang="en-US" altLang="zh-CN" sz="3600" b="1" dirty="0">
              <a:solidFill>
                <a:schemeClr val="tx2"/>
              </a:solidFill>
              <a:latin typeface="Times New Roman" panose="02020503050405090304" pitchFamily="18" charset="0"/>
            </a:endParaRPr>
          </a:p>
        </p:txBody>
      </p:sp>
      <p:grpSp>
        <p:nvGrpSpPr>
          <p:cNvPr id="16386" name="Group 1026"/>
          <p:cNvGrpSpPr/>
          <p:nvPr/>
        </p:nvGrpSpPr>
        <p:grpSpPr>
          <a:xfrm>
            <a:off x="2057400" y="762000"/>
            <a:ext cx="8305800" cy="5562600"/>
            <a:chOff x="-3" y="-3"/>
            <a:chExt cx="3627" cy="2694"/>
          </a:xfrm>
        </p:grpSpPr>
        <p:grpSp>
          <p:nvGrpSpPr>
            <p:cNvPr id="16387" name="Group 1027"/>
            <p:cNvGrpSpPr/>
            <p:nvPr/>
          </p:nvGrpSpPr>
          <p:grpSpPr>
            <a:xfrm>
              <a:off x="0" y="0"/>
              <a:ext cx="3621" cy="2688"/>
              <a:chOff x="0" y="0"/>
              <a:chExt cx="3621" cy="2688"/>
            </a:xfrm>
          </p:grpSpPr>
          <p:grpSp>
            <p:nvGrpSpPr>
              <p:cNvPr id="16388" name="Group 1028"/>
              <p:cNvGrpSpPr/>
              <p:nvPr/>
            </p:nvGrpSpPr>
            <p:grpSpPr>
              <a:xfrm>
                <a:off x="0" y="0"/>
                <a:ext cx="465" cy="384"/>
                <a:chOff x="0" y="0"/>
                <a:chExt cx="465" cy="384"/>
              </a:xfrm>
            </p:grpSpPr>
            <p:sp>
              <p:nvSpPr>
                <p:cNvPr id="16389" name="Rectangle 1029"/>
                <p:cNvSpPr/>
                <p:nvPr/>
              </p:nvSpPr>
              <p:spPr>
                <a:xfrm>
                  <a:off x="11" y="0"/>
                  <a:ext cx="443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390" name="Rectangle 1030"/>
                <p:cNvSpPr/>
                <p:nvPr/>
              </p:nvSpPr>
              <p:spPr>
                <a:xfrm>
                  <a:off x="0" y="0"/>
                  <a:ext cx="465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391" name="Group 1031"/>
              <p:cNvGrpSpPr/>
              <p:nvPr/>
            </p:nvGrpSpPr>
            <p:grpSpPr>
              <a:xfrm>
                <a:off x="465" y="0"/>
                <a:ext cx="598" cy="384"/>
                <a:chOff x="465" y="0"/>
                <a:chExt cx="598" cy="384"/>
              </a:xfrm>
            </p:grpSpPr>
            <p:sp>
              <p:nvSpPr>
                <p:cNvPr id="16392" name="Rectangle 1032"/>
                <p:cNvSpPr/>
                <p:nvPr/>
              </p:nvSpPr>
              <p:spPr>
                <a:xfrm>
                  <a:off x="476" y="0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F</a:t>
                  </a:r>
                  <a:r>
                    <a:rPr lang="en-US" altLang="zh-CN" sz="3600" b="1" baseline="-25000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1</a:t>
                  </a:r>
                  <a:endParaRPr lang="en-US" altLang="zh-CN" sz="3600" b="1" baseline="-25000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393" name="Rectangle 1033"/>
                <p:cNvSpPr/>
                <p:nvPr/>
              </p:nvSpPr>
              <p:spPr>
                <a:xfrm>
                  <a:off x="465" y="0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394" name="Group 1034"/>
              <p:cNvGrpSpPr/>
              <p:nvPr/>
            </p:nvGrpSpPr>
            <p:grpSpPr>
              <a:xfrm>
                <a:off x="1063" y="0"/>
                <a:ext cx="526" cy="384"/>
                <a:chOff x="1063" y="0"/>
                <a:chExt cx="526" cy="384"/>
              </a:xfrm>
            </p:grpSpPr>
            <p:sp>
              <p:nvSpPr>
                <p:cNvPr id="16395" name="Rectangle 1035"/>
                <p:cNvSpPr/>
                <p:nvPr/>
              </p:nvSpPr>
              <p:spPr>
                <a:xfrm>
                  <a:off x="1074" y="0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F</a:t>
                  </a:r>
                  <a:r>
                    <a:rPr lang="en-US" altLang="zh-CN" sz="3600" b="1" baseline="-25000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2</a:t>
                  </a:r>
                  <a:endParaRPr lang="en-US" altLang="zh-CN" sz="3600" b="1" baseline="-25000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396" name="Rectangle 1036"/>
                <p:cNvSpPr/>
                <p:nvPr/>
              </p:nvSpPr>
              <p:spPr>
                <a:xfrm>
                  <a:off x="1063" y="0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397" name="Group 1037"/>
              <p:cNvGrpSpPr/>
              <p:nvPr/>
            </p:nvGrpSpPr>
            <p:grpSpPr>
              <a:xfrm>
                <a:off x="1589" y="0"/>
                <a:ext cx="526" cy="384"/>
                <a:chOff x="1589" y="0"/>
                <a:chExt cx="526" cy="384"/>
              </a:xfrm>
            </p:grpSpPr>
            <p:sp>
              <p:nvSpPr>
                <p:cNvPr id="16398" name="Rectangle 1038"/>
                <p:cNvSpPr/>
                <p:nvPr/>
              </p:nvSpPr>
              <p:spPr>
                <a:xfrm>
                  <a:off x="1600" y="0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F</a:t>
                  </a:r>
                  <a:r>
                    <a:rPr lang="en-US" altLang="zh-CN" sz="3600" b="1" baseline="-25000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3</a:t>
                  </a:r>
                  <a:endParaRPr lang="en-US" altLang="zh-CN" sz="3600" b="1" baseline="-25000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399" name="Rectangle 1039"/>
                <p:cNvSpPr/>
                <p:nvPr/>
              </p:nvSpPr>
              <p:spPr>
                <a:xfrm>
                  <a:off x="1589" y="0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00" name="Group 1040"/>
              <p:cNvGrpSpPr/>
              <p:nvPr/>
            </p:nvGrpSpPr>
            <p:grpSpPr>
              <a:xfrm>
                <a:off x="2115" y="0"/>
                <a:ext cx="598" cy="384"/>
                <a:chOff x="2115" y="0"/>
                <a:chExt cx="598" cy="384"/>
              </a:xfrm>
            </p:grpSpPr>
            <p:sp>
              <p:nvSpPr>
                <p:cNvPr id="16401" name="Rectangle 1041"/>
                <p:cNvSpPr/>
                <p:nvPr/>
              </p:nvSpPr>
              <p:spPr>
                <a:xfrm>
                  <a:off x="2126" y="0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i</a:t>
                  </a:r>
                  <a:endParaRPr lang="en-US" altLang="zh-CN" sz="3600" b="1" i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02" name="Rectangle 1042"/>
                <p:cNvSpPr/>
                <p:nvPr/>
              </p:nvSpPr>
              <p:spPr>
                <a:xfrm>
                  <a:off x="2115" y="0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03" name="Group 1043"/>
              <p:cNvGrpSpPr/>
              <p:nvPr/>
            </p:nvGrpSpPr>
            <p:grpSpPr>
              <a:xfrm>
                <a:off x="2713" y="0"/>
                <a:ext cx="526" cy="384"/>
                <a:chOff x="2713" y="0"/>
                <a:chExt cx="526" cy="384"/>
              </a:xfrm>
            </p:grpSpPr>
            <p:sp>
              <p:nvSpPr>
                <p:cNvPr id="16404" name="Rectangle 1044"/>
                <p:cNvSpPr/>
                <p:nvPr/>
              </p:nvSpPr>
              <p:spPr>
                <a:xfrm>
                  <a:off x="2724" y="0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05" name="Rectangle 1045"/>
                <p:cNvSpPr/>
                <p:nvPr/>
              </p:nvSpPr>
              <p:spPr>
                <a:xfrm>
                  <a:off x="2713" y="0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06" name="Group 1046"/>
              <p:cNvGrpSpPr/>
              <p:nvPr/>
            </p:nvGrpSpPr>
            <p:grpSpPr>
              <a:xfrm>
                <a:off x="3239" y="0"/>
                <a:ext cx="382" cy="384"/>
                <a:chOff x="3239" y="0"/>
                <a:chExt cx="382" cy="384"/>
              </a:xfrm>
            </p:grpSpPr>
            <p:sp>
              <p:nvSpPr>
                <p:cNvPr id="16407" name="Rectangle 1047"/>
                <p:cNvSpPr/>
                <p:nvPr/>
              </p:nvSpPr>
              <p:spPr>
                <a:xfrm>
                  <a:off x="3250" y="0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t</a:t>
                  </a:r>
                  <a:endParaRPr lang="en-US" altLang="zh-CN" sz="3600" b="1" i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08" name="Rectangle 1048"/>
                <p:cNvSpPr/>
                <p:nvPr/>
              </p:nvSpPr>
              <p:spPr>
                <a:xfrm>
                  <a:off x="3239" y="0"/>
                  <a:ext cx="38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09" name="Group 1049"/>
              <p:cNvGrpSpPr/>
              <p:nvPr/>
            </p:nvGrpSpPr>
            <p:grpSpPr>
              <a:xfrm>
                <a:off x="0" y="384"/>
                <a:ext cx="465" cy="384"/>
                <a:chOff x="0" y="384"/>
                <a:chExt cx="465" cy="384"/>
              </a:xfrm>
            </p:grpSpPr>
            <p:sp>
              <p:nvSpPr>
                <p:cNvPr id="16410" name="Rectangle 1050"/>
                <p:cNvSpPr/>
                <p:nvPr/>
              </p:nvSpPr>
              <p:spPr>
                <a:xfrm>
                  <a:off x="11" y="384"/>
                  <a:ext cx="443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F</a:t>
                  </a:r>
                  <a:r>
                    <a:rPr lang="en-US" altLang="zh-CN" sz="3600" b="1" baseline="-25000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1</a:t>
                  </a:r>
                  <a:endParaRPr lang="en-US" altLang="zh-CN" sz="3600" b="1" baseline="-25000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11" name="Rectangle 1051"/>
                <p:cNvSpPr/>
                <p:nvPr/>
              </p:nvSpPr>
              <p:spPr>
                <a:xfrm>
                  <a:off x="0" y="384"/>
                  <a:ext cx="465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12" name="Group 1052"/>
              <p:cNvGrpSpPr/>
              <p:nvPr/>
            </p:nvGrpSpPr>
            <p:grpSpPr>
              <a:xfrm>
                <a:off x="465" y="384"/>
                <a:ext cx="598" cy="384"/>
                <a:chOff x="465" y="384"/>
                <a:chExt cx="598" cy="384"/>
              </a:xfrm>
            </p:grpSpPr>
            <p:sp>
              <p:nvSpPr>
                <p:cNvPr id="16413" name="Rectangle 1053"/>
                <p:cNvSpPr/>
                <p:nvPr/>
              </p:nvSpPr>
              <p:spPr>
                <a:xfrm>
                  <a:off x="476" y="384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1</a:t>
                  </a:r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14" name="Rectangle 1054"/>
                <p:cNvSpPr/>
                <p:nvPr/>
              </p:nvSpPr>
              <p:spPr>
                <a:xfrm>
                  <a:off x="465" y="384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15" name="Group 1055"/>
              <p:cNvGrpSpPr/>
              <p:nvPr/>
            </p:nvGrpSpPr>
            <p:grpSpPr>
              <a:xfrm>
                <a:off x="1063" y="384"/>
                <a:ext cx="526" cy="384"/>
                <a:chOff x="1063" y="384"/>
                <a:chExt cx="526" cy="384"/>
              </a:xfrm>
            </p:grpSpPr>
            <p:sp>
              <p:nvSpPr>
                <p:cNvPr id="16416" name="Rectangle 1056"/>
                <p:cNvSpPr/>
                <p:nvPr/>
              </p:nvSpPr>
              <p:spPr>
                <a:xfrm>
                  <a:off x="1074" y="384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17" name="Rectangle 1057"/>
                <p:cNvSpPr/>
                <p:nvPr/>
              </p:nvSpPr>
              <p:spPr>
                <a:xfrm>
                  <a:off x="1063" y="384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18" name="Group 1058"/>
              <p:cNvGrpSpPr/>
              <p:nvPr/>
            </p:nvGrpSpPr>
            <p:grpSpPr>
              <a:xfrm>
                <a:off x="1589" y="384"/>
                <a:ext cx="526" cy="384"/>
                <a:chOff x="1589" y="384"/>
                <a:chExt cx="526" cy="384"/>
              </a:xfrm>
            </p:grpSpPr>
            <p:sp>
              <p:nvSpPr>
                <p:cNvPr id="16419" name="Rectangle 1059"/>
                <p:cNvSpPr/>
                <p:nvPr/>
              </p:nvSpPr>
              <p:spPr>
                <a:xfrm>
                  <a:off x="1600" y="384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20" name="Rectangle 1060"/>
                <p:cNvSpPr/>
                <p:nvPr/>
              </p:nvSpPr>
              <p:spPr>
                <a:xfrm>
                  <a:off x="1589" y="384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21" name="Group 1061"/>
              <p:cNvGrpSpPr/>
              <p:nvPr/>
            </p:nvGrpSpPr>
            <p:grpSpPr>
              <a:xfrm>
                <a:off x="2115" y="384"/>
                <a:ext cx="598" cy="384"/>
                <a:chOff x="2115" y="384"/>
                <a:chExt cx="598" cy="384"/>
              </a:xfrm>
            </p:grpSpPr>
            <p:sp>
              <p:nvSpPr>
                <p:cNvPr id="16422" name="Rectangle 1062"/>
                <p:cNvSpPr/>
                <p:nvPr/>
              </p:nvSpPr>
              <p:spPr>
                <a:xfrm>
                  <a:off x="2126" y="384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23" name="Rectangle 1063"/>
                <p:cNvSpPr/>
                <p:nvPr/>
              </p:nvSpPr>
              <p:spPr>
                <a:xfrm>
                  <a:off x="2115" y="384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24" name="Group 1064"/>
              <p:cNvGrpSpPr/>
              <p:nvPr/>
            </p:nvGrpSpPr>
            <p:grpSpPr>
              <a:xfrm>
                <a:off x="2713" y="384"/>
                <a:ext cx="526" cy="384"/>
                <a:chOff x="2713" y="384"/>
                <a:chExt cx="526" cy="384"/>
              </a:xfrm>
            </p:grpSpPr>
            <p:sp>
              <p:nvSpPr>
                <p:cNvPr id="16425" name="Rectangle 1065"/>
                <p:cNvSpPr/>
                <p:nvPr/>
              </p:nvSpPr>
              <p:spPr>
                <a:xfrm>
                  <a:off x="2724" y="384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26" name="Rectangle 1066"/>
                <p:cNvSpPr/>
                <p:nvPr/>
              </p:nvSpPr>
              <p:spPr>
                <a:xfrm>
                  <a:off x="2713" y="384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27" name="Group 1067"/>
              <p:cNvGrpSpPr/>
              <p:nvPr/>
            </p:nvGrpSpPr>
            <p:grpSpPr>
              <a:xfrm>
                <a:off x="3239" y="384"/>
                <a:ext cx="382" cy="384"/>
                <a:chOff x="3239" y="384"/>
                <a:chExt cx="382" cy="384"/>
              </a:xfrm>
            </p:grpSpPr>
            <p:sp>
              <p:nvSpPr>
                <p:cNvPr id="16428" name="Rectangle 1068"/>
                <p:cNvSpPr/>
                <p:nvPr/>
              </p:nvSpPr>
              <p:spPr>
                <a:xfrm>
                  <a:off x="3250" y="384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29" name="Rectangle 1069"/>
                <p:cNvSpPr/>
                <p:nvPr/>
              </p:nvSpPr>
              <p:spPr>
                <a:xfrm>
                  <a:off x="3239" y="384"/>
                  <a:ext cx="38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30" name="Group 1070"/>
              <p:cNvGrpSpPr/>
              <p:nvPr/>
            </p:nvGrpSpPr>
            <p:grpSpPr>
              <a:xfrm>
                <a:off x="0" y="768"/>
                <a:ext cx="465" cy="384"/>
                <a:chOff x="0" y="768"/>
                <a:chExt cx="465" cy="384"/>
              </a:xfrm>
            </p:grpSpPr>
            <p:sp>
              <p:nvSpPr>
                <p:cNvPr id="16431" name="Rectangle 1071"/>
                <p:cNvSpPr/>
                <p:nvPr/>
              </p:nvSpPr>
              <p:spPr>
                <a:xfrm>
                  <a:off x="11" y="768"/>
                  <a:ext cx="443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F</a:t>
                  </a:r>
                  <a:r>
                    <a:rPr lang="en-US" altLang="zh-CN" sz="3600" b="1" baseline="-25000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2</a:t>
                  </a:r>
                  <a:endParaRPr lang="en-US" altLang="zh-CN" sz="3600" b="1" baseline="-25000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32" name="Rectangle 1072"/>
                <p:cNvSpPr/>
                <p:nvPr/>
              </p:nvSpPr>
              <p:spPr>
                <a:xfrm>
                  <a:off x="0" y="768"/>
                  <a:ext cx="465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33" name="Group 1073"/>
              <p:cNvGrpSpPr/>
              <p:nvPr/>
            </p:nvGrpSpPr>
            <p:grpSpPr>
              <a:xfrm>
                <a:off x="465" y="768"/>
                <a:ext cx="598" cy="384"/>
                <a:chOff x="465" y="768"/>
                <a:chExt cx="598" cy="384"/>
              </a:xfrm>
            </p:grpSpPr>
            <p:sp>
              <p:nvSpPr>
                <p:cNvPr id="16434" name="Rectangle 1074"/>
                <p:cNvSpPr/>
                <p:nvPr/>
              </p:nvSpPr>
              <p:spPr>
                <a:xfrm>
                  <a:off x="476" y="768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0</a:t>
                  </a:r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35" name="Rectangle 1075"/>
                <p:cNvSpPr/>
                <p:nvPr/>
              </p:nvSpPr>
              <p:spPr>
                <a:xfrm>
                  <a:off x="465" y="768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36" name="Group 1076"/>
              <p:cNvGrpSpPr/>
              <p:nvPr/>
            </p:nvGrpSpPr>
            <p:grpSpPr>
              <a:xfrm>
                <a:off x="1063" y="768"/>
                <a:ext cx="526" cy="384"/>
                <a:chOff x="1063" y="768"/>
                <a:chExt cx="526" cy="384"/>
              </a:xfrm>
            </p:grpSpPr>
            <p:sp>
              <p:nvSpPr>
                <p:cNvPr id="16437" name="Rectangle 1077"/>
                <p:cNvSpPr/>
                <p:nvPr/>
              </p:nvSpPr>
              <p:spPr>
                <a:xfrm>
                  <a:off x="1074" y="768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1</a:t>
                  </a:r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38" name="Rectangle 1078"/>
                <p:cNvSpPr/>
                <p:nvPr/>
              </p:nvSpPr>
              <p:spPr>
                <a:xfrm>
                  <a:off x="1063" y="768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39" name="Group 1079"/>
              <p:cNvGrpSpPr/>
              <p:nvPr/>
            </p:nvGrpSpPr>
            <p:grpSpPr>
              <a:xfrm>
                <a:off x="1589" y="768"/>
                <a:ext cx="526" cy="384"/>
                <a:chOff x="1589" y="768"/>
                <a:chExt cx="526" cy="384"/>
              </a:xfrm>
            </p:grpSpPr>
            <p:sp>
              <p:nvSpPr>
                <p:cNvPr id="16440" name="Rectangle 1080"/>
                <p:cNvSpPr/>
                <p:nvPr/>
              </p:nvSpPr>
              <p:spPr>
                <a:xfrm>
                  <a:off x="1600" y="768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41" name="Rectangle 1081"/>
                <p:cNvSpPr/>
                <p:nvPr/>
              </p:nvSpPr>
              <p:spPr>
                <a:xfrm>
                  <a:off x="1589" y="768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42" name="Group 1082"/>
              <p:cNvGrpSpPr/>
              <p:nvPr/>
            </p:nvGrpSpPr>
            <p:grpSpPr>
              <a:xfrm>
                <a:off x="2115" y="768"/>
                <a:ext cx="598" cy="384"/>
                <a:chOff x="2115" y="768"/>
                <a:chExt cx="598" cy="384"/>
              </a:xfrm>
            </p:grpSpPr>
            <p:sp>
              <p:nvSpPr>
                <p:cNvPr id="16443" name="Rectangle 1083"/>
                <p:cNvSpPr/>
                <p:nvPr/>
              </p:nvSpPr>
              <p:spPr>
                <a:xfrm>
                  <a:off x="2126" y="768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44" name="Rectangle 1084"/>
                <p:cNvSpPr/>
                <p:nvPr/>
              </p:nvSpPr>
              <p:spPr>
                <a:xfrm>
                  <a:off x="2115" y="768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45" name="Group 1085"/>
              <p:cNvGrpSpPr/>
              <p:nvPr/>
            </p:nvGrpSpPr>
            <p:grpSpPr>
              <a:xfrm>
                <a:off x="2713" y="768"/>
                <a:ext cx="526" cy="384"/>
                <a:chOff x="2713" y="768"/>
                <a:chExt cx="526" cy="384"/>
              </a:xfrm>
            </p:grpSpPr>
            <p:sp>
              <p:nvSpPr>
                <p:cNvPr id="16446" name="Rectangle 1086"/>
                <p:cNvSpPr/>
                <p:nvPr/>
              </p:nvSpPr>
              <p:spPr>
                <a:xfrm>
                  <a:off x="2724" y="768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47" name="Rectangle 1087"/>
                <p:cNvSpPr/>
                <p:nvPr/>
              </p:nvSpPr>
              <p:spPr>
                <a:xfrm>
                  <a:off x="2713" y="768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48" name="Group 1088"/>
              <p:cNvGrpSpPr/>
              <p:nvPr/>
            </p:nvGrpSpPr>
            <p:grpSpPr>
              <a:xfrm>
                <a:off x="3239" y="768"/>
                <a:ext cx="382" cy="384"/>
                <a:chOff x="3239" y="768"/>
                <a:chExt cx="382" cy="384"/>
              </a:xfrm>
            </p:grpSpPr>
            <p:sp>
              <p:nvSpPr>
                <p:cNvPr id="16449" name="Rectangle 1089"/>
                <p:cNvSpPr/>
                <p:nvPr/>
              </p:nvSpPr>
              <p:spPr>
                <a:xfrm>
                  <a:off x="3250" y="768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50" name="Rectangle 1090"/>
                <p:cNvSpPr/>
                <p:nvPr/>
              </p:nvSpPr>
              <p:spPr>
                <a:xfrm>
                  <a:off x="3239" y="768"/>
                  <a:ext cx="38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51" name="Group 1091"/>
              <p:cNvGrpSpPr/>
              <p:nvPr/>
            </p:nvGrpSpPr>
            <p:grpSpPr>
              <a:xfrm>
                <a:off x="0" y="1152"/>
                <a:ext cx="465" cy="384"/>
                <a:chOff x="0" y="1152"/>
                <a:chExt cx="465" cy="384"/>
              </a:xfrm>
            </p:grpSpPr>
            <p:sp>
              <p:nvSpPr>
                <p:cNvPr id="16452" name="Rectangle 1092"/>
                <p:cNvSpPr/>
                <p:nvPr/>
              </p:nvSpPr>
              <p:spPr>
                <a:xfrm>
                  <a:off x="11" y="1152"/>
                  <a:ext cx="443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F</a:t>
                  </a:r>
                  <a:r>
                    <a:rPr lang="en-US" altLang="zh-CN" sz="3600" b="1" baseline="-25000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3</a:t>
                  </a:r>
                  <a:endParaRPr lang="en-US" altLang="zh-CN" sz="3600" b="1" baseline="-25000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53" name="Rectangle 1093"/>
                <p:cNvSpPr/>
                <p:nvPr/>
              </p:nvSpPr>
              <p:spPr>
                <a:xfrm>
                  <a:off x="0" y="1152"/>
                  <a:ext cx="465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54" name="Group 1094"/>
              <p:cNvGrpSpPr/>
              <p:nvPr/>
            </p:nvGrpSpPr>
            <p:grpSpPr>
              <a:xfrm>
                <a:off x="465" y="1152"/>
                <a:ext cx="598" cy="384"/>
                <a:chOff x="465" y="1152"/>
                <a:chExt cx="598" cy="384"/>
              </a:xfrm>
            </p:grpSpPr>
            <p:sp>
              <p:nvSpPr>
                <p:cNvPr id="16455" name="Rectangle 1095"/>
                <p:cNvSpPr/>
                <p:nvPr/>
              </p:nvSpPr>
              <p:spPr>
                <a:xfrm>
                  <a:off x="476" y="1152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0</a:t>
                  </a:r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56" name="Rectangle 1096"/>
                <p:cNvSpPr/>
                <p:nvPr/>
              </p:nvSpPr>
              <p:spPr>
                <a:xfrm>
                  <a:off x="465" y="1152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57" name="Group 1097"/>
              <p:cNvGrpSpPr/>
              <p:nvPr/>
            </p:nvGrpSpPr>
            <p:grpSpPr>
              <a:xfrm>
                <a:off x="1063" y="1152"/>
                <a:ext cx="526" cy="384"/>
                <a:chOff x="1063" y="1152"/>
                <a:chExt cx="526" cy="384"/>
              </a:xfrm>
            </p:grpSpPr>
            <p:sp>
              <p:nvSpPr>
                <p:cNvPr id="16458" name="Rectangle 1098"/>
                <p:cNvSpPr/>
                <p:nvPr/>
              </p:nvSpPr>
              <p:spPr>
                <a:xfrm>
                  <a:off x="1074" y="1152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0</a:t>
                  </a:r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59" name="Rectangle 1099"/>
                <p:cNvSpPr/>
                <p:nvPr/>
              </p:nvSpPr>
              <p:spPr>
                <a:xfrm>
                  <a:off x="1063" y="1152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60" name="Group 1100"/>
              <p:cNvGrpSpPr/>
              <p:nvPr/>
            </p:nvGrpSpPr>
            <p:grpSpPr>
              <a:xfrm>
                <a:off x="1589" y="1152"/>
                <a:ext cx="526" cy="384"/>
                <a:chOff x="1589" y="1152"/>
                <a:chExt cx="526" cy="384"/>
              </a:xfrm>
            </p:grpSpPr>
            <p:sp>
              <p:nvSpPr>
                <p:cNvPr id="16461" name="Rectangle 1101"/>
                <p:cNvSpPr/>
                <p:nvPr/>
              </p:nvSpPr>
              <p:spPr>
                <a:xfrm>
                  <a:off x="1600" y="1152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1</a:t>
                  </a:r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62" name="Rectangle 1102"/>
                <p:cNvSpPr/>
                <p:nvPr/>
              </p:nvSpPr>
              <p:spPr>
                <a:xfrm>
                  <a:off x="1589" y="1152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63" name="Group 1103"/>
              <p:cNvGrpSpPr/>
              <p:nvPr/>
            </p:nvGrpSpPr>
            <p:grpSpPr>
              <a:xfrm>
                <a:off x="2115" y="1152"/>
                <a:ext cx="598" cy="384"/>
                <a:chOff x="2115" y="1152"/>
                <a:chExt cx="598" cy="384"/>
              </a:xfrm>
            </p:grpSpPr>
            <p:sp>
              <p:nvSpPr>
                <p:cNvPr id="16464" name="Rectangle 1104"/>
                <p:cNvSpPr/>
                <p:nvPr/>
              </p:nvSpPr>
              <p:spPr>
                <a:xfrm>
                  <a:off x="2126" y="1152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65" name="Rectangle 1105"/>
                <p:cNvSpPr/>
                <p:nvPr/>
              </p:nvSpPr>
              <p:spPr>
                <a:xfrm>
                  <a:off x="2115" y="1152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66" name="Group 1106"/>
              <p:cNvGrpSpPr/>
              <p:nvPr/>
            </p:nvGrpSpPr>
            <p:grpSpPr>
              <a:xfrm>
                <a:off x="2713" y="1152"/>
                <a:ext cx="526" cy="384"/>
                <a:chOff x="2713" y="1152"/>
                <a:chExt cx="526" cy="384"/>
              </a:xfrm>
            </p:grpSpPr>
            <p:sp>
              <p:nvSpPr>
                <p:cNvPr id="16467" name="Rectangle 1107"/>
                <p:cNvSpPr/>
                <p:nvPr/>
              </p:nvSpPr>
              <p:spPr>
                <a:xfrm>
                  <a:off x="2724" y="1152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68" name="Rectangle 1108"/>
                <p:cNvSpPr/>
                <p:nvPr/>
              </p:nvSpPr>
              <p:spPr>
                <a:xfrm>
                  <a:off x="2713" y="1152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69" name="Group 1109"/>
              <p:cNvGrpSpPr/>
              <p:nvPr/>
            </p:nvGrpSpPr>
            <p:grpSpPr>
              <a:xfrm>
                <a:off x="3239" y="1152"/>
                <a:ext cx="382" cy="384"/>
                <a:chOff x="3239" y="1152"/>
                <a:chExt cx="382" cy="384"/>
              </a:xfrm>
            </p:grpSpPr>
            <p:sp>
              <p:nvSpPr>
                <p:cNvPr id="16470" name="Rectangle 1110"/>
                <p:cNvSpPr/>
                <p:nvPr/>
              </p:nvSpPr>
              <p:spPr>
                <a:xfrm>
                  <a:off x="3250" y="1152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71" name="Rectangle 1111"/>
                <p:cNvSpPr/>
                <p:nvPr/>
              </p:nvSpPr>
              <p:spPr>
                <a:xfrm>
                  <a:off x="3239" y="1152"/>
                  <a:ext cx="38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72" name="Group 1112"/>
              <p:cNvGrpSpPr/>
              <p:nvPr/>
            </p:nvGrpSpPr>
            <p:grpSpPr>
              <a:xfrm>
                <a:off x="0" y="1536"/>
                <a:ext cx="465" cy="384"/>
                <a:chOff x="0" y="1536"/>
                <a:chExt cx="465" cy="384"/>
              </a:xfrm>
            </p:grpSpPr>
            <p:sp>
              <p:nvSpPr>
                <p:cNvPr id="16473" name="Rectangle 1113"/>
                <p:cNvSpPr/>
                <p:nvPr/>
              </p:nvSpPr>
              <p:spPr>
                <a:xfrm>
                  <a:off x="11" y="1536"/>
                  <a:ext cx="443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i</a:t>
                  </a:r>
                  <a:endParaRPr lang="en-US" altLang="zh-CN" sz="3600" b="1" i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74" name="Rectangle 1114"/>
                <p:cNvSpPr/>
                <p:nvPr/>
              </p:nvSpPr>
              <p:spPr>
                <a:xfrm>
                  <a:off x="0" y="1536"/>
                  <a:ext cx="465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75" name="Group 1115"/>
              <p:cNvGrpSpPr/>
              <p:nvPr/>
            </p:nvGrpSpPr>
            <p:grpSpPr>
              <a:xfrm>
                <a:off x="465" y="1536"/>
                <a:ext cx="598" cy="384"/>
                <a:chOff x="465" y="1536"/>
                <a:chExt cx="598" cy="384"/>
              </a:xfrm>
            </p:grpSpPr>
            <p:sp>
              <p:nvSpPr>
                <p:cNvPr id="16476" name="Rectangle 1116"/>
                <p:cNvSpPr/>
                <p:nvPr/>
              </p:nvSpPr>
              <p:spPr>
                <a:xfrm>
                  <a:off x="476" y="1536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2400" b="1" dirty="0">
                      <a:solidFill>
                        <a:srgbClr val="FF0000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0.995</a:t>
                  </a:r>
                  <a:endParaRPr lang="en-US" altLang="zh-CN" sz="2400" b="1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2400" b="1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77" name="Rectangle 1117"/>
                <p:cNvSpPr/>
                <p:nvPr/>
              </p:nvSpPr>
              <p:spPr>
                <a:xfrm>
                  <a:off x="465" y="1536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78" name="Group 1118"/>
              <p:cNvGrpSpPr/>
              <p:nvPr/>
            </p:nvGrpSpPr>
            <p:grpSpPr>
              <a:xfrm>
                <a:off x="1063" y="1536"/>
                <a:ext cx="526" cy="384"/>
                <a:chOff x="1063" y="1536"/>
                <a:chExt cx="526" cy="384"/>
              </a:xfrm>
            </p:grpSpPr>
            <p:sp>
              <p:nvSpPr>
                <p:cNvPr id="16479" name="Rectangle 1119"/>
                <p:cNvSpPr/>
                <p:nvPr/>
              </p:nvSpPr>
              <p:spPr>
                <a:xfrm>
                  <a:off x="1074" y="1536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24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-0.041</a:t>
                  </a:r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80" name="Rectangle 1120"/>
                <p:cNvSpPr/>
                <p:nvPr/>
              </p:nvSpPr>
              <p:spPr>
                <a:xfrm>
                  <a:off x="1063" y="1536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81" name="Group 1121"/>
              <p:cNvGrpSpPr/>
              <p:nvPr/>
            </p:nvGrpSpPr>
            <p:grpSpPr>
              <a:xfrm>
                <a:off x="1589" y="1536"/>
                <a:ext cx="526" cy="384"/>
                <a:chOff x="1589" y="1536"/>
                <a:chExt cx="526" cy="384"/>
              </a:xfrm>
            </p:grpSpPr>
            <p:sp>
              <p:nvSpPr>
                <p:cNvPr id="16482" name="Rectangle 1122"/>
                <p:cNvSpPr/>
                <p:nvPr/>
              </p:nvSpPr>
              <p:spPr>
                <a:xfrm>
                  <a:off x="1600" y="1536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24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0.057</a:t>
                  </a:r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ea typeface="新宋体" panose="02010609030101010101" pitchFamily="49" charset="-122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83" name="Rectangle 1123"/>
                <p:cNvSpPr/>
                <p:nvPr/>
              </p:nvSpPr>
              <p:spPr>
                <a:xfrm>
                  <a:off x="1589" y="1536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84" name="Group 1124"/>
              <p:cNvGrpSpPr/>
              <p:nvPr/>
            </p:nvGrpSpPr>
            <p:grpSpPr>
              <a:xfrm>
                <a:off x="2115" y="1536"/>
                <a:ext cx="598" cy="384"/>
                <a:chOff x="2115" y="1536"/>
                <a:chExt cx="598" cy="384"/>
              </a:xfrm>
            </p:grpSpPr>
            <p:sp>
              <p:nvSpPr>
                <p:cNvPr id="16485" name="Rectangle 1125"/>
                <p:cNvSpPr/>
                <p:nvPr/>
              </p:nvSpPr>
              <p:spPr>
                <a:xfrm>
                  <a:off x="2126" y="1536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l</a:t>
                  </a:r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86" name="Rectangle 1126"/>
                <p:cNvSpPr/>
                <p:nvPr/>
              </p:nvSpPr>
              <p:spPr>
                <a:xfrm>
                  <a:off x="2115" y="1536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87" name="Group 1127"/>
              <p:cNvGrpSpPr/>
              <p:nvPr/>
            </p:nvGrpSpPr>
            <p:grpSpPr>
              <a:xfrm>
                <a:off x="2713" y="1536"/>
                <a:ext cx="526" cy="384"/>
                <a:chOff x="2713" y="1536"/>
                <a:chExt cx="526" cy="384"/>
              </a:xfrm>
            </p:grpSpPr>
            <p:sp>
              <p:nvSpPr>
                <p:cNvPr id="16488" name="Rectangle 1128"/>
                <p:cNvSpPr/>
                <p:nvPr/>
              </p:nvSpPr>
              <p:spPr>
                <a:xfrm>
                  <a:off x="2724" y="1536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89" name="Rectangle 1129"/>
                <p:cNvSpPr/>
                <p:nvPr/>
              </p:nvSpPr>
              <p:spPr>
                <a:xfrm>
                  <a:off x="2713" y="1536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90" name="Group 1130"/>
              <p:cNvGrpSpPr/>
              <p:nvPr/>
            </p:nvGrpSpPr>
            <p:grpSpPr>
              <a:xfrm>
                <a:off x="3239" y="1536"/>
                <a:ext cx="382" cy="384"/>
                <a:chOff x="3239" y="1536"/>
                <a:chExt cx="382" cy="384"/>
              </a:xfrm>
            </p:grpSpPr>
            <p:sp>
              <p:nvSpPr>
                <p:cNvPr id="16491" name="Rectangle 1131"/>
                <p:cNvSpPr/>
                <p:nvPr/>
              </p:nvSpPr>
              <p:spPr>
                <a:xfrm>
                  <a:off x="3250" y="1536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92" name="Rectangle 1132"/>
                <p:cNvSpPr/>
                <p:nvPr/>
              </p:nvSpPr>
              <p:spPr>
                <a:xfrm>
                  <a:off x="3239" y="1536"/>
                  <a:ext cx="38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93" name="Group 1133"/>
              <p:cNvGrpSpPr/>
              <p:nvPr/>
            </p:nvGrpSpPr>
            <p:grpSpPr>
              <a:xfrm>
                <a:off x="0" y="1920"/>
                <a:ext cx="465" cy="384"/>
                <a:chOff x="0" y="1920"/>
                <a:chExt cx="465" cy="384"/>
              </a:xfrm>
            </p:grpSpPr>
            <p:sp>
              <p:nvSpPr>
                <p:cNvPr id="16494" name="Rectangle 1134"/>
                <p:cNvSpPr/>
                <p:nvPr/>
              </p:nvSpPr>
              <p:spPr>
                <a:xfrm>
                  <a:off x="11" y="1920"/>
                  <a:ext cx="443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>
                    <a:buChar char="Δ"/>
                  </a:pPr>
                  <a:r>
                    <a:rPr lang="en-US" altLang="zh-CN" sz="3600" b="1" i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i</a:t>
                  </a:r>
                  <a:endParaRPr lang="en-US" altLang="zh-CN" sz="3600" b="1" i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95" name="Rectangle 1135"/>
                <p:cNvSpPr/>
                <p:nvPr/>
              </p:nvSpPr>
              <p:spPr>
                <a:xfrm>
                  <a:off x="0" y="1920"/>
                  <a:ext cx="465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96" name="Group 1136"/>
              <p:cNvGrpSpPr/>
              <p:nvPr/>
            </p:nvGrpSpPr>
            <p:grpSpPr>
              <a:xfrm>
                <a:off x="465" y="1920"/>
                <a:ext cx="598" cy="384"/>
                <a:chOff x="465" y="1920"/>
                <a:chExt cx="598" cy="384"/>
              </a:xfrm>
            </p:grpSpPr>
            <p:sp>
              <p:nvSpPr>
                <p:cNvPr id="16497" name="Rectangle 1137"/>
                <p:cNvSpPr/>
                <p:nvPr/>
              </p:nvSpPr>
              <p:spPr>
                <a:xfrm>
                  <a:off x="476" y="1920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24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-0.056</a:t>
                  </a:r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498" name="Rectangle 1138"/>
                <p:cNvSpPr/>
                <p:nvPr/>
              </p:nvSpPr>
              <p:spPr>
                <a:xfrm>
                  <a:off x="465" y="1920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499" name="Group 1139"/>
              <p:cNvGrpSpPr/>
              <p:nvPr/>
            </p:nvGrpSpPr>
            <p:grpSpPr>
              <a:xfrm>
                <a:off x="1063" y="1920"/>
                <a:ext cx="526" cy="384"/>
                <a:chOff x="1063" y="1920"/>
                <a:chExt cx="526" cy="384"/>
              </a:xfrm>
            </p:grpSpPr>
            <p:sp>
              <p:nvSpPr>
                <p:cNvPr id="16500" name="Rectangle 1140"/>
                <p:cNvSpPr/>
                <p:nvPr/>
              </p:nvSpPr>
              <p:spPr>
                <a:xfrm>
                  <a:off x="1074" y="1920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2400" b="1" dirty="0">
                      <a:solidFill>
                        <a:srgbClr val="FF0000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0.948</a:t>
                  </a:r>
                  <a:endParaRPr lang="en-US" altLang="zh-CN" sz="2400" b="1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2400" b="1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501" name="Rectangle 1141"/>
                <p:cNvSpPr/>
                <p:nvPr/>
              </p:nvSpPr>
              <p:spPr>
                <a:xfrm>
                  <a:off x="1063" y="1920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502" name="Group 1142"/>
              <p:cNvGrpSpPr/>
              <p:nvPr/>
            </p:nvGrpSpPr>
            <p:grpSpPr>
              <a:xfrm>
                <a:off x="1589" y="1920"/>
                <a:ext cx="526" cy="384"/>
                <a:chOff x="1589" y="1920"/>
                <a:chExt cx="526" cy="384"/>
              </a:xfrm>
            </p:grpSpPr>
            <p:sp>
              <p:nvSpPr>
                <p:cNvPr id="16503" name="Rectangle 1143"/>
                <p:cNvSpPr/>
                <p:nvPr/>
              </p:nvSpPr>
              <p:spPr>
                <a:xfrm>
                  <a:off x="1600" y="1920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24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-0.124</a:t>
                  </a:r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504" name="Rectangle 1144"/>
                <p:cNvSpPr/>
                <p:nvPr/>
              </p:nvSpPr>
              <p:spPr>
                <a:xfrm>
                  <a:off x="1589" y="1920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505" name="Group 1145"/>
              <p:cNvGrpSpPr/>
              <p:nvPr/>
            </p:nvGrpSpPr>
            <p:grpSpPr>
              <a:xfrm>
                <a:off x="2115" y="1920"/>
                <a:ext cx="598" cy="384"/>
                <a:chOff x="2115" y="1920"/>
                <a:chExt cx="598" cy="384"/>
              </a:xfrm>
            </p:grpSpPr>
            <p:sp>
              <p:nvSpPr>
                <p:cNvPr id="16506" name="Rectangle 1146"/>
                <p:cNvSpPr/>
                <p:nvPr/>
              </p:nvSpPr>
              <p:spPr>
                <a:xfrm>
                  <a:off x="2126" y="1920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24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-0.102</a:t>
                  </a:r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507" name="Rectangle 1147"/>
                <p:cNvSpPr/>
                <p:nvPr/>
              </p:nvSpPr>
              <p:spPr>
                <a:xfrm>
                  <a:off x="2115" y="1920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508" name="Group 1148"/>
              <p:cNvGrpSpPr/>
              <p:nvPr/>
            </p:nvGrpSpPr>
            <p:grpSpPr>
              <a:xfrm>
                <a:off x="2713" y="1920"/>
                <a:ext cx="526" cy="384"/>
                <a:chOff x="2713" y="1920"/>
                <a:chExt cx="526" cy="384"/>
              </a:xfrm>
            </p:grpSpPr>
            <p:sp>
              <p:nvSpPr>
                <p:cNvPr id="16509" name="Rectangle 1149"/>
                <p:cNvSpPr/>
                <p:nvPr/>
              </p:nvSpPr>
              <p:spPr>
                <a:xfrm>
                  <a:off x="2724" y="1920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l</a:t>
                  </a:r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510" name="Rectangle 1150"/>
                <p:cNvSpPr/>
                <p:nvPr/>
              </p:nvSpPr>
              <p:spPr>
                <a:xfrm>
                  <a:off x="2713" y="1920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511" name="Group 1151"/>
              <p:cNvGrpSpPr/>
              <p:nvPr/>
            </p:nvGrpSpPr>
            <p:grpSpPr>
              <a:xfrm>
                <a:off x="3239" y="1920"/>
                <a:ext cx="382" cy="384"/>
                <a:chOff x="3239" y="1920"/>
                <a:chExt cx="382" cy="384"/>
              </a:xfrm>
            </p:grpSpPr>
            <p:sp>
              <p:nvSpPr>
                <p:cNvPr id="16512" name="Rectangle 1152"/>
                <p:cNvSpPr/>
                <p:nvPr/>
              </p:nvSpPr>
              <p:spPr>
                <a:xfrm>
                  <a:off x="3250" y="1920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 </a:t>
                  </a:r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513" name="Rectangle 1153"/>
                <p:cNvSpPr/>
                <p:nvPr/>
              </p:nvSpPr>
              <p:spPr>
                <a:xfrm>
                  <a:off x="3239" y="1920"/>
                  <a:ext cx="38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514" name="Group 1154"/>
              <p:cNvGrpSpPr/>
              <p:nvPr/>
            </p:nvGrpSpPr>
            <p:grpSpPr>
              <a:xfrm>
                <a:off x="0" y="2304"/>
                <a:ext cx="465" cy="384"/>
                <a:chOff x="0" y="2304"/>
                <a:chExt cx="465" cy="384"/>
              </a:xfrm>
            </p:grpSpPr>
            <p:sp>
              <p:nvSpPr>
                <p:cNvPr id="16515" name="Rectangle 1155"/>
                <p:cNvSpPr/>
                <p:nvPr/>
              </p:nvSpPr>
              <p:spPr>
                <a:xfrm>
                  <a:off x="11" y="2304"/>
                  <a:ext cx="443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t</a:t>
                  </a:r>
                  <a:endParaRPr lang="en-US" altLang="zh-CN" sz="3600" b="1" i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516" name="Rectangle 1156"/>
                <p:cNvSpPr/>
                <p:nvPr/>
              </p:nvSpPr>
              <p:spPr>
                <a:xfrm>
                  <a:off x="0" y="2304"/>
                  <a:ext cx="465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517" name="Group 1157"/>
              <p:cNvGrpSpPr/>
              <p:nvPr/>
            </p:nvGrpSpPr>
            <p:grpSpPr>
              <a:xfrm>
                <a:off x="465" y="2304"/>
                <a:ext cx="598" cy="384"/>
                <a:chOff x="465" y="2304"/>
                <a:chExt cx="598" cy="384"/>
              </a:xfrm>
            </p:grpSpPr>
            <p:sp>
              <p:nvSpPr>
                <p:cNvPr id="16518" name="Rectangle 1158"/>
                <p:cNvSpPr/>
                <p:nvPr/>
              </p:nvSpPr>
              <p:spPr>
                <a:xfrm>
                  <a:off x="476" y="2304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24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-0.369</a:t>
                  </a:r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519" name="Rectangle 1159"/>
                <p:cNvSpPr/>
                <p:nvPr/>
              </p:nvSpPr>
              <p:spPr>
                <a:xfrm>
                  <a:off x="465" y="2304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520" name="Group 1160"/>
              <p:cNvGrpSpPr/>
              <p:nvPr/>
            </p:nvGrpSpPr>
            <p:grpSpPr>
              <a:xfrm>
                <a:off x="1063" y="2304"/>
                <a:ext cx="526" cy="384"/>
                <a:chOff x="1063" y="2304"/>
                <a:chExt cx="526" cy="384"/>
              </a:xfrm>
            </p:grpSpPr>
            <p:sp>
              <p:nvSpPr>
                <p:cNvPr id="16521" name="Rectangle 1161"/>
                <p:cNvSpPr/>
                <p:nvPr/>
              </p:nvSpPr>
              <p:spPr>
                <a:xfrm>
                  <a:off x="1074" y="2304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24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-0.282</a:t>
                  </a:r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522" name="Rectangle 1162"/>
                <p:cNvSpPr/>
                <p:nvPr/>
              </p:nvSpPr>
              <p:spPr>
                <a:xfrm>
                  <a:off x="1063" y="2304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523" name="Group 1163"/>
              <p:cNvGrpSpPr/>
              <p:nvPr/>
            </p:nvGrpSpPr>
            <p:grpSpPr>
              <a:xfrm>
                <a:off x="1589" y="2304"/>
                <a:ext cx="526" cy="384"/>
                <a:chOff x="1589" y="2304"/>
                <a:chExt cx="526" cy="384"/>
              </a:xfrm>
            </p:grpSpPr>
            <p:sp>
              <p:nvSpPr>
                <p:cNvPr id="16524" name="Rectangle 1164"/>
                <p:cNvSpPr/>
                <p:nvPr/>
              </p:nvSpPr>
              <p:spPr>
                <a:xfrm>
                  <a:off x="1600" y="2304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2400" b="1" dirty="0">
                      <a:solidFill>
                        <a:srgbClr val="FF0000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-0.836</a:t>
                  </a:r>
                  <a:endParaRPr lang="en-US" altLang="zh-CN" sz="2400" b="1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2400" b="1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525" name="Rectangle 1165"/>
                <p:cNvSpPr/>
                <p:nvPr/>
              </p:nvSpPr>
              <p:spPr>
                <a:xfrm>
                  <a:off x="1589" y="2304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zh-CN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526" name="Group 1166"/>
              <p:cNvGrpSpPr/>
              <p:nvPr/>
            </p:nvGrpSpPr>
            <p:grpSpPr>
              <a:xfrm>
                <a:off x="2115" y="2304"/>
                <a:ext cx="598" cy="384"/>
                <a:chOff x="2115" y="2304"/>
                <a:chExt cx="598" cy="384"/>
              </a:xfrm>
            </p:grpSpPr>
            <p:sp>
              <p:nvSpPr>
                <p:cNvPr id="16527" name="Rectangle 1167"/>
                <p:cNvSpPr/>
                <p:nvPr/>
              </p:nvSpPr>
              <p:spPr>
                <a:xfrm>
                  <a:off x="2126" y="2304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24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-0.414</a:t>
                  </a:r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528" name="Rectangle 1168"/>
                <p:cNvSpPr/>
                <p:nvPr/>
              </p:nvSpPr>
              <p:spPr>
                <a:xfrm>
                  <a:off x="2115" y="2304"/>
                  <a:ext cx="59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529" name="Group 1169"/>
              <p:cNvGrpSpPr/>
              <p:nvPr/>
            </p:nvGrpSpPr>
            <p:grpSpPr>
              <a:xfrm>
                <a:off x="2713" y="2304"/>
                <a:ext cx="526" cy="384"/>
                <a:chOff x="2713" y="2304"/>
                <a:chExt cx="526" cy="384"/>
              </a:xfrm>
            </p:grpSpPr>
            <p:sp>
              <p:nvSpPr>
                <p:cNvPr id="16530" name="Rectangle 1170"/>
                <p:cNvSpPr/>
                <p:nvPr/>
              </p:nvSpPr>
              <p:spPr>
                <a:xfrm>
                  <a:off x="2724" y="2304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24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-0.112</a:t>
                  </a:r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24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531" name="Rectangle 1171"/>
                <p:cNvSpPr/>
                <p:nvPr/>
              </p:nvSpPr>
              <p:spPr>
                <a:xfrm>
                  <a:off x="2713" y="2304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6532" name="Group 1172"/>
              <p:cNvGrpSpPr/>
              <p:nvPr/>
            </p:nvGrpSpPr>
            <p:grpSpPr>
              <a:xfrm>
                <a:off x="3239" y="2304"/>
                <a:ext cx="382" cy="384"/>
                <a:chOff x="3239" y="2304"/>
                <a:chExt cx="382" cy="384"/>
              </a:xfrm>
            </p:grpSpPr>
            <p:sp>
              <p:nvSpPr>
                <p:cNvPr id="16533" name="Rectangle 1173"/>
                <p:cNvSpPr/>
                <p:nvPr/>
              </p:nvSpPr>
              <p:spPr>
                <a:xfrm>
                  <a:off x="3250" y="2304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en-US" altLang="zh-CN" sz="3600" b="1" dirty="0">
                      <a:solidFill>
                        <a:schemeClr val="tx2"/>
                      </a:solidFill>
                      <a:latin typeface="Times New Roman" panose="02020503050405090304" pitchFamily="18" charset="0"/>
                      <a:ea typeface="新宋体" panose="02010609030101010101" pitchFamily="49" charset="-122"/>
                      <a:cs typeface="Times New Roman" panose="02020503050405090304" pitchFamily="18" charset="0"/>
                    </a:rPr>
                    <a:t>1</a:t>
                  </a:r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  <a:p>
                  <a:pPr algn="ctr" eaLnBrk="0" hangingPunct="0"/>
                  <a:endParaRPr lang="en-US" altLang="zh-CN" sz="3600" b="1" dirty="0">
                    <a:solidFill>
                      <a:schemeClr val="tx2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16534" name="Rectangle 1174"/>
                <p:cNvSpPr/>
                <p:nvPr/>
              </p:nvSpPr>
              <p:spPr>
                <a:xfrm>
                  <a:off x="3239" y="2304"/>
                  <a:ext cx="38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t"/>
                <a:lstStyle/>
                <a:p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</p:grpSp>
        <p:sp>
          <p:nvSpPr>
            <p:cNvPr id="16535" name="Rectangle 1175"/>
            <p:cNvSpPr/>
            <p:nvPr/>
          </p:nvSpPr>
          <p:spPr>
            <a:xfrm>
              <a:off x="-3" y="-3"/>
              <a:ext cx="3627" cy="2694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/>
            <a:lstStyle/>
            <a:p>
              <a:endPara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  <p:transition spd="med">
    <p:strips dir="l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17410" name="Rectangle 2"/>
          <p:cNvSpPr/>
          <p:nvPr/>
        </p:nvSpPr>
        <p:spPr>
          <a:xfrm>
            <a:off x="5048250" y="294798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17411" name="Rectangle 4"/>
          <p:cNvSpPr/>
          <p:nvPr/>
        </p:nvSpPr>
        <p:spPr>
          <a:xfrm>
            <a:off x="5424488" y="3300413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17412" name="Rectangle 5"/>
          <p:cNvSpPr/>
          <p:nvPr/>
        </p:nvSpPr>
        <p:spPr>
          <a:xfrm>
            <a:off x="4595813" y="330993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17413" name="Rectangle 6"/>
          <p:cNvSpPr/>
          <p:nvPr/>
        </p:nvSpPr>
        <p:spPr>
          <a:xfrm>
            <a:off x="4995863" y="330993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2835275" y="639763"/>
            <a:ext cx="64008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r>
              <a:rPr kumimoji="1" lang="zh-CN" altLang="en-US" sz="3600" dirty="0">
                <a:solidFill>
                  <a:srgbClr val="FF0000"/>
                </a:solidFill>
                <a:latin typeface="+mj-ea"/>
                <a:ea typeface="+mj-ea"/>
              </a:rPr>
              <a:t>第二节</a:t>
            </a:r>
            <a:r>
              <a:rPr kumimoji="1" lang="zh-CN" altLang="en-US" sz="3600" dirty="0">
                <a:solidFill>
                  <a:srgbClr val="FF0000"/>
                </a:solidFill>
                <a:latin typeface="+mj-ea"/>
                <a:ea typeface="+mj-ea"/>
                <a:cs typeface="Times New Roman" panose="02020503050405090304" pitchFamily="18" charset="0"/>
              </a:rPr>
              <a:t>  </a:t>
            </a:r>
            <a:r>
              <a:rPr kumimoji="1" lang="zh-CN" altLang="en-US" sz="3600" dirty="0">
                <a:solidFill>
                  <a:srgbClr val="FF0000"/>
                </a:solidFill>
                <a:latin typeface="+mj-ea"/>
                <a:ea typeface="+mj-ea"/>
              </a:rPr>
              <a:t>数学与几何解释</a:t>
            </a:r>
            <a:endParaRPr kumimoji="1" lang="zh-CN" altLang="en-US" sz="3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7415" name="Rectangle 11"/>
          <p:cNvSpPr/>
          <p:nvPr/>
        </p:nvSpPr>
        <p:spPr>
          <a:xfrm>
            <a:off x="811033" y="1717675"/>
            <a:ext cx="9606143" cy="32421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      </a:t>
            </a:r>
            <a:r>
              <a:rPr lang="zh-CN" altLang="en-US" sz="2800" dirty="0">
                <a:latin typeface="Times New Roman" panose="02020503050405090304" pitchFamily="18" charset="0"/>
              </a:rPr>
              <a:t>假设所讨论的问题中，有</a:t>
            </a:r>
            <a:r>
              <a:rPr lang="en-US" altLang="zh-CN" sz="2800" i="1" dirty="0">
                <a:latin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</a:rPr>
              <a:t>个指标，记为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baseline="-30000" dirty="0"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baseline="-30000" dirty="0">
                <a:latin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r>
              <a:rPr lang="en-US" altLang="zh-CN" sz="2800" dirty="0">
                <a:latin typeface="Times New Roman" panose="02020503050405090304" pitchFamily="18" charset="0"/>
              </a:rPr>
              <a:t>…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r>
              <a:rPr lang="en-US" altLang="zh-CN" sz="2800" i="1" dirty="0" err="1">
                <a:latin typeface="Times New Roman" panose="02020503050405090304" pitchFamily="18" charset="0"/>
              </a:rPr>
              <a:t>X</a:t>
            </a:r>
            <a:r>
              <a:rPr lang="en-US" altLang="zh-CN" sz="2800" i="1" baseline="-30000" dirty="0" err="1">
                <a:latin typeface="Times New Roman" panose="02020503050405090304" pitchFamily="18" charset="0"/>
              </a:rPr>
              <a:t>p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      </a:t>
            </a:r>
            <a:r>
              <a:rPr lang="zh-CN" altLang="en-US" sz="2800" dirty="0">
                <a:latin typeface="Times New Roman" panose="02020503050405090304" pitchFamily="18" charset="0"/>
              </a:rPr>
              <a:t>主成分分析就是要把这</a:t>
            </a:r>
            <a:r>
              <a:rPr lang="en-US" altLang="zh-CN" sz="2800" i="1" dirty="0">
                <a:latin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</a:rPr>
              <a:t>个指标的问题，转变为讨论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k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个指标的线性组合的问题</a:t>
            </a:r>
            <a:endParaRPr lang="en-US" altLang="zh-CN" sz="2800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      </a:t>
            </a:r>
            <a:r>
              <a:rPr lang="zh-CN" altLang="en-US" sz="2800" dirty="0">
                <a:latin typeface="Times New Roman" panose="02020503050405090304" pitchFamily="18" charset="0"/>
              </a:rPr>
              <a:t>这些新的指标</a:t>
            </a:r>
            <a:r>
              <a:rPr lang="en-US" altLang="zh-CN" sz="2800" i="1" dirty="0">
                <a:latin typeface="Times New Roman" panose="02020503050405090304" pitchFamily="18" charset="0"/>
              </a:rPr>
              <a:t>F</a:t>
            </a:r>
            <a:r>
              <a:rPr lang="en-US" altLang="zh-CN" sz="2800" baseline="-30000" dirty="0"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r>
              <a:rPr lang="en-US" altLang="zh-CN" sz="2800" i="1" dirty="0">
                <a:latin typeface="Times New Roman" panose="02020503050405090304" pitchFamily="18" charset="0"/>
              </a:rPr>
              <a:t>F</a:t>
            </a:r>
            <a:r>
              <a:rPr lang="en-US" altLang="zh-CN" sz="2800" baseline="-30000" dirty="0">
                <a:latin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r>
              <a:rPr lang="en-US" altLang="zh-CN" sz="2800" dirty="0">
                <a:latin typeface="Times New Roman" panose="02020503050405090304" pitchFamily="18" charset="0"/>
              </a:rPr>
              <a:t>…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r>
              <a:rPr lang="en-US" altLang="zh-CN" sz="2800" i="1" dirty="0">
                <a:latin typeface="Times New Roman" panose="02020503050405090304" pitchFamily="18" charset="0"/>
              </a:rPr>
              <a:t>F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</a:rPr>
              <a:t>≤</a:t>
            </a:r>
            <a:r>
              <a:rPr lang="en-US" altLang="zh-CN" sz="2800" i="1" dirty="0">
                <a:latin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</a:rPr>
              <a:t>），按照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保留主要信息量</a:t>
            </a:r>
            <a:r>
              <a:rPr lang="zh-CN" altLang="en-US" sz="2800" dirty="0">
                <a:latin typeface="Times New Roman" panose="02020503050405090304" pitchFamily="18" charset="0"/>
              </a:rPr>
              <a:t>的原则充分反映原指标的信息，并且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相互独立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strips dir="l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1750" name="Rectangle 6"/>
          <p:cNvSpPr/>
          <p:nvPr/>
        </p:nvSpPr>
        <p:spPr>
          <a:xfrm>
            <a:off x="1846264" y="401638"/>
            <a:ext cx="8497887" cy="23558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这种由讨论多个指标降为少数几个综合指标的过程在数学上就叫做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降维。</a:t>
            </a:r>
            <a:endParaRPr lang="zh-CN" altLang="en-US" sz="32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5000"/>
              </a:lnSpc>
            </a:pP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主成分分析通常的做法是，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作正交变换，寻求原指标的线性组合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3200" i="1" baseline="-25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32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8435" name="对象 1"/>
          <p:cNvGraphicFramePr/>
          <p:nvPr/>
        </p:nvGraphicFramePr>
        <p:xfrm>
          <a:off x="3254376" y="2951163"/>
          <a:ext cx="5578475" cy="311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681980" imgH="2670810" progId="Equation.KSEE3">
                  <p:embed/>
                </p:oleObj>
              </mc:Choice>
              <mc:Fallback>
                <p:oleObj name="" r:id="rId1" imgW="5681980" imgH="2670810" progId="Equation.KSEE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54376" y="2951163"/>
                        <a:ext cx="5578475" cy="3116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idx="1"/>
          </p:nvPr>
        </p:nvSpPr>
        <p:spPr>
          <a:xfrm>
            <a:off x="2417764" y="590550"/>
            <a:ext cx="6161087" cy="685800"/>
          </a:xfrm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上述等式满足如下的条件：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945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7175" name="Rectangle 7"/>
          <p:cNvSpPr/>
          <p:nvPr/>
        </p:nvSpPr>
        <p:spPr>
          <a:xfrm>
            <a:off x="2209801" y="2897189"/>
            <a:ext cx="7097713" cy="592137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）主成分之间相互独立，即无重叠的信息。即</a:t>
            </a:r>
            <a:endParaRPr lang="zh-CN" altLang="en-US" sz="28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7176" name="Rectangle 8"/>
          <p:cNvSpPr/>
          <p:nvPr/>
        </p:nvSpPr>
        <p:spPr>
          <a:xfrm>
            <a:off x="2095500" y="4546600"/>
            <a:ext cx="69342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）主成分的方差依次递减，重要性依次递减，即</a:t>
            </a:r>
            <a:endParaRPr lang="zh-CN" altLang="en-US" sz="28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7177" name="Rectangle 9"/>
          <p:cNvSpPr/>
          <p:nvPr/>
        </p:nvSpPr>
        <p:spPr>
          <a:xfrm>
            <a:off x="2249488" y="1401763"/>
            <a:ext cx="7016750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）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503050405090304" pitchFamily="18" charset="0"/>
              </a:rPr>
              <a:t>U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503050405090304" pitchFamily="18" charset="0"/>
              </a:rPr>
              <a:t>U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=I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，即</a:t>
            </a:r>
            <a:endParaRPr lang="zh-CN" altLang="en-US" sz="28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19462" name="对象 1"/>
          <p:cNvGraphicFramePr/>
          <p:nvPr/>
        </p:nvGraphicFramePr>
        <p:xfrm>
          <a:off x="3036889" y="1924051"/>
          <a:ext cx="5037137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820160" imgH="632460" progId="Equation.DSMT4">
                  <p:embed/>
                </p:oleObj>
              </mc:Choice>
              <mc:Fallback>
                <p:oleObj name="" r:id="rId1" imgW="3820160" imgH="63246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36889" y="1924051"/>
                        <a:ext cx="5037137" cy="906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对象 3"/>
          <p:cNvGraphicFramePr/>
          <p:nvPr/>
        </p:nvGraphicFramePr>
        <p:xfrm>
          <a:off x="2576513" y="3700464"/>
          <a:ext cx="7040562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6722110" imgH="670560" progId="Equation.KSEE3">
                  <p:embed/>
                </p:oleObj>
              </mc:Choice>
              <mc:Fallback>
                <p:oleObj name="" r:id="rId3" imgW="6722110" imgH="670560" progId="Equation.KSEE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76513" y="3700464"/>
                        <a:ext cx="7040562" cy="769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对象 5"/>
          <p:cNvGraphicFramePr/>
          <p:nvPr/>
        </p:nvGraphicFramePr>
        <p:xfrm>
          <a:off x="2736851" y="5340350"/>
          <a:ext cx="70786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2070100" imgH="241300" progId="Equation.KSEE3">
                  <p:embed/>
                </p:oleObj>
              </mc:Choice>
              <mc:Fallback>
                <p:oleObj name="" r:id="rId5" imgW="2070100" imgH="241300" progId="Equation.KSEE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36851" y="5340350"/>
                        <a:ext cx="7078663" cy="83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strips dir="l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21506" name="Rectangle 3074"/>
          <p:cNvSpPr/>
          <p:nvPr/>
        </p:nvSpPr>
        <p:spPr>
          <a:xfrm>
            <a:off x="514605" y="935105"/>
            <a:ext cx="5694108" cy="409855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设有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个样品，每个样品有两个观测变量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个样本点所散布的情况如椭圆状。由图可以看出这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个样本点无论是沿着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轴方向或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轴方向都具有较大的离散性，其离散的程度可以分别用观测变量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的方差和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的方差定量地表示。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208713" y="1323696"/>
            <a:ext cx="5212082" cy="3017520"/>
            <a:chOff x="3508247" y="1173480"/>
            <a:chExt cx="8686802" cy="5029200"/>
          </a:xfrm>
        </p:grpSpPr>
        <p:sp>
          <p:nvSpPr>
            <p:cNvPr id="2" name="文本框 14337"/>
            <p:cNvSpPr txBox="1"/>
            <p:nvPr/>
          </p:nvSpPr>
          <p:spPr>
            <a:xfrm>
              <a:off x="3660649" y="1173481"/>
              <a:ext cx="8397875" cy="5835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宋体" pitchFamily="2" charset="-122"/>
                </a:rPr>
                <a:t>    </a:t>
              </a:r>
              <a:endParaRPr lang="en-US" altLang="zh-CN" sz="3200" b="1" dirty="0"/>
            </a:p>
          </p:txBody>
        </p:sp>
        <p:sp>
          <p:nvSpPr>
            <p:cNvPr id="3" name="文本框 14338"/>
            <p:cNvSpPr txBox="1"/>
            <p:nvPr/>
          </p:nvSpPr>
          <p:spPr>
            <a:xfrm>
              <a:off x="3660648" y="1290955"/>
              <a:ext cx="845820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宋体" pitchFamily="2" charset="-122"/>
                </a:rPr>
                <a:t>   </a:t>
              </a:r>
              <a:endParaRPr lang="en-US" altLang="zh-CN" dirty="0">
                <a:latin typeface="Arial" panose="020B0604020202090204" pitchFamily="34" charset="0"/>
              </a:endParaRPr>
            </a:p>
          </p:txBody>
        </p:sp>
        <p:sp>
          <p:nvSpPr>
            <p:cNvPr id="4" name="文本框 14339"/>
            <p:cNvSpPr txBox="1"/>
            <p:nvPr/>
          </p:nvSpPr>
          <p:spPr>
            <a:xfrm>
              <a:off x="3720974" y="1173480"/>
              <a:ext cx="8474075" cy="5219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Arial" panose="020B0604020202090204" pitchFamily="34" charset="0"/>
                </a:rPr>
                <a:t>   </a:t>
              </a:r>
              <a:endParaRPr lang="en-US" altLang="zh-CN" sz="2800" b="1" dirty="0"/>
            </a:p>
          </p:txBody>
        </p:sp>
        <p:sp>
          <p:nvSpPr>
            <p:cNvPr id="5" name="文本框 14340"/>
            <p:cNvSpPr txBox="1"/>
            <p:nvPr/>
          </p:nvSpPr>
          <p:spPr>
            <a:xfrm>
              <a:off x="5473573" y="2870518"/>
              <a:ext cx="184731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endParaRPr lang="zh-CN" altLang="zh-CN" dirty="0">
                <a:latin typeface="Arial" panose="020B0604020202090204" pitchFamily="34" charset="0"/>
              </a:endParaRPr>
            </a:p>
          </p:txBody>
        </p:sp>
        <p:graphicFrame>
          <p:nvGraphicFramePr>
            <p:cNvPr id="6" name="对象 14341"/>
            <p:cNvGraphicFramePr>
              <a:graphicFrameLocks noChangeAspect="1"/>
            </p:cNvGraphicFramePr>
            <p:nvPr/>
          </p:nvGraphicFramePr>
          <p:xfrm>
            <a:off x="3508247" y="1173480"/>
            <a:ext cx="8534399" cy="5029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" imgW="9728200" imgH="5067300" progId="">
                    <p:embed/>
                  </p:oleObj>
                </mc:Choice>
                <mc:Fallback>
                  <p:oleObj name="" r:id="rId1" imgW="9728200" imgH="5067300" progId="">
                    <p:embed/>
                    <p:pic>
                      <p:nvPicPr>
                        <p:cNvPr id="0" name="对象 1434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508247" y="1173480"/>
                          <a:ext cx="8534399" cy="5029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椭圆 14342"/>
            <p:cNvSpPr/>
            <p:nvPr/>
          </p:nvSpPr>
          <p:spPr>
            <a:xfrm rot="20280000">
              <a:off x="3522537" y="2543494"/>
              <a:ext cx="8516937" cy="1366837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</p:grpSp>
      <p:sp>
        <p:nvSpPr>
          <p:cNvPr id="12" name="文本框 14347"/>
          <p:cNvSpPr txBox="1"/>
          <p:nvPr/>
        </p:nvSpPr>
        <p:spPr>
          <a:xfrm>
            <a:off x="914953" y="148397"/>
            <a:ext cx="4251960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宋体" pitchFamily="2" charset="-122"/>
                <a:ea typeface="华文新魏" panose="02010800040101010101" pitchFamily="2" charset="-122"/>
              </a:rPr>
              <a:t>主成分的几何意义</a:t>
            </a:r>
            <a:endParaRPr lang="zh-CN" altLang="en-US" sz="4000" dirty="0">
              <a:solidFill>
                <a:srgbClr val="FF0000"/>
              </a:solidFill>
              <a:ea typeface="华文新魏" panose="020108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1554" y="5154345"/>
            <a:ext cx="106688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显然，如果只考虑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中的任何一个，那么包含在原始数据中的经济信息将会有较大的损失。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/>
          </p:cNvSpPr>
          <p:nvPr>
            <p:ph idx="1"/>
          </p:nvPr>
        </p:nvSpPr>
        <p:spPr>
          <a:xfrm>
            <a:off x="420434" y="964882"/>
            <a:ext cx="8540750" cy="1079627"/>
          </a:xfrm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     </a:t>
            </a:r>
            <a:r>
              <a:rPr lang="zh-CN" altLang="en-US" sz="2800" kern="1200" dirty="0">
                <a:latin typeface="+mn-lt"/>
                <a:ea typeface="+mn-ea"/>
                <a:cs typeface="+mn-cs"/>
              </a:rPr>
              <a:t>根据旋转变换的公式：</a:t>
            </a:r>
            <a:endParaRPr lang="zh-CN" altLang="en-US" sz="28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235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23555" name="Object 4"/>
          <p:cNvGraphicFramePr/>
          <p:nvPr/>
        </p:nvGraphicFramePr>
        <p:xfrm>
          <a:off x="1944795" y="1672690"/>
          <a:ext cx="38100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536065" imgH="482600" progId="Equation.3">
                  <p:embed/>
                </p:oleObj>
              </mc:Choice>
              <mc:Fallback>
                <p:oleObj name="" r:id="rId1" imgW="1536065" imgH="4826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44795" y="1672690"/>
                        <a:ext cx="3810000" cy="1196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5"/>
          <p:cNvGraphicFramePr/>
          <p:nvPr/>
        </p:nvGraphicFramePr>
        <p:xfrm>
          <a:off x="1944795" y="2970606"/>
          <a:ext cx="3933665" cy="107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0901600" imgH="11582400" progId="Equation.DSMT4">
                  <p:embed/>
                </p:oleObj>
              </mc:Choice>
              <mc:Fallback>
                <p:oleObj name="Equation" r:id="rId3" imgW="50901600" imgH="115824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44795" y="2970606"/>
                        <a:ext cx="3933665" cy="1079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6"/>
          <p:cNvGraphicFramePr/>
          <p:nvPr/>
        </p:nvGraphicFramePr>
        <p:xfrm>
          <a:off x="1379484" y="4298135"/>
          <a:ext cx="6140668" cy="45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66751200" imgH="4876800" progId="Equation.DSMT4">
                  <p:embed/>
                </p:oleObj>
              </mc:Choice>
              <mc:Fallback>
                <p:oleObj name="Equation" r:id="rId5" imgW="66751200" imgH="48768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9484" y="4298135"/>
                        <a:ext cx="6140668" cy="45085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7"/>
          <p:cNvGraphicFramePr/>
          <p:nvPr/>
        </p:nvGraphicFramePr>
        <p:xfrm>
          <a:off x="2695903" y="5045657"/>
          <a:ext cx="2369810" cy="555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26517600" imgH="5486400" progId="Equation.DSMT4">
                  <p:embed/>
                </p:oleObj>
              </mc:Choice>
              <mc:Fallback>
                <p:oleObj name="Equation" r:id="rId7" imgW="26517600" imgH="54864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95903" y="5045657"/>
                        <a:ext cx="2369810" cy="5554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6208713" y="1232256"/>
            <a:ext cx="5349241" cy="3108960"/>
            <a:chOff x="3508247" y="1021080"/>
            <a:chExt cx="8915401" cy="5181600"/>
          </a:xfrm>
        </p:grpSpPr>
        <p:sp>
          <p:nvSpPr>
            <p:cNvPr id="6" name="文本框 14337"/>
            <p:cNvSpPr txBox="1"/>
            <p:nvPr/>
          </p:nvSpPr>
          <p:spPr>
            <a:xfrm>
              <a:off x="3660649" y="1173481"/>
              <a:ext cx="8397875" cy="5835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宋体" pitchFamily="2" charset="-122"/>
                </a:rPr>
                <a:t>    </a:t>
              </a:r>
              <a:endParaRPr lang="en-US" altLang="zh-CN" sz="3200" b="1" dirty="0"/>
            </a:p>
          </p:txBody>
        </p:sp>
        <p:sp>
          <p:nvSpPr>
            <p:cNvPr id="7" name="文本框 14338"/>
            <p:cNvSpPr txBox="1"/>
            <p:nvPr/>
          </p:nvSpPr>
          <p:spPr>
            <a:xfrm>
              <a:off x="3660648" y="1290955"/>
              <a:ext cx="845820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宋体" pitchFamily="2" charset="-122"/>
                </a:rPr>
                <a:t>   </a:t>
              </a:r>
              <a:endParaRPr lang="en-US" altLang="zh-CN" dirty="0">
                <a:latin typeface="Arial" panose="020B0604020202090204" pitchFamily="34" charset="0"/>
              </a:endParaRPr>
            </a:p>
          </p:txBody>
        </p:sp>
        <p:sp>
          <p:nvSpPr>
            <p:cNvPr id="8" name="文本框 14339"/>
            <p:cNvSpPr txBox="1"/>
            <p:nvPr/>
          </p:nvSpPr>
          <p:spPr>
            <a:xfrm>
              <a:off x="3720974" y="1173480"/>
              <a:ext cx="8474075" cy="5219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Arial" panose="020B0604020202090204" pitchFamily="34" charset="0"/>
                </a:rPr>
                <a:t>   </a:t>
              </a:r>
              <a:endParaRPr lang="en-US" altLang="zh-CN" sz="2800" b="1" dirty="0"/>
            </a:p>
          </p:txBody>
        </p:sp>
        <p:sp>
          <p:nvSpPr>
            <p:cNvPr id="9" name="文本框 14340"/>
            <p:cNvSpPr txBox="1"/>
            <p:nvPr/>
          </p:nvSpPr>
          <p:spPr>
            <a:xfrm>
              <a:off x="5473573" y="2870518"/>
              <a:ext cx="184731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endParaRPr lang="zh-CN" altLang="zh-CN" dirty="0">
                <a:latin typeface="Arial" panose="020B0604020202090204" pitchFamily="34" charset="0"/>
              </a:endParaRPr>
            </a:p>
          </p:txBody>
        </p:sp>
        <p:graphicFrame>
          <p:nvGraphicFramePr>
            <p:cNvPr id="10" name="对象 14341"/>
            <p:cNvGraphicFramePr>
              <a:graphicFrameLocks noChangeAspect="1"/>
            </p:cNvGraphicFramePr>
            <p:nvPr/>
          </p:nvGraphicFramePr>
          <p:xfrm>
            <a:off x="3508247" y="1173480"/>
            <a:ext cx="8534399" cy="5029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9" imgW="9728200" imgH="5067300" progId="">
                    <p:embed/>
                  </p:oleObj>
                </mc:Choice>
                <mc:Fallback>
                  <p:oleObj name="" r:id="rId9" imgW="9728200" imgH="5067300" progId="">
                    <p:embed/>
                    <p:pic>
                      <p:nvPicPr>
                        <p:cNvPr id="0" name="对象 1434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08247" y="1173480"/>
                          <a:ext cx="8534399" cy="5029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椭圆 14342"/>
            <p:cNvSpPr/>
            <p:nvPr/>
          </p:nvSpPr>
          <p:spPr>
            <a:xfrm rot="20280000">
              <a:off x="3522537" y="2543494"/>
              <a:ext cx="8516937" cy="1366837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3" name="直接连接符 14343"/>
            <p:cNvSpPr/>
            <p:nvPr/>
          </p:nvSpPr>
          <p:spPr>
            <a:xfrm flipH="1" flipV="1">
              <a:off x="7127748" y="1478280"/>
              <a:ext cx="1447800" cy="335280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直接连接符 14344"/>
            <p:cNvSpPr/>
            <p:nvPr/>
          </p:nvSpPr>
          <p:spPr>
            <a:xfrm flipV="1">
              <a:off x="3736848" y="1478280"/>
              <a:ext cx="8382000" cy="335280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文本框 14345"/>
            <p:cNvSpPr txBox="1"/>
            <p:nvPr/>
          </p:nvSpPr>
          <p:spPr>
            <a:xfrm>
              <a:off x="11661648" y="1021080"/>
              <a:ext cx="762000" cy="6155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accent2"/>
                  </a:solidFill>
                  <a:latin typeface="Arial" panose="020B0604020202090204" pitchFamily="34" charset="0"/>
                </a:rPr>
                <a:t>F</a:t>
              </a:r>
              <a:r>
                <a:rPr lang="en-US" altLang="zh-CN" b="1" baseline="-22000" dirty="0">
                  <a:solidFill>
                    <a:schemeClr val="accent2"/>
                  </a:solidFill>
                  <a:latin typeface="Arial" panose="020B0604020202090204" pitchFamily="34" charset="0"/>
                </a:rPr>
                <a:t>1</a:t>
              </a:r>
              <a:endParaRPr lang="en-US" altLang="zh-CN" b="1" dirty="0">
                <a:solidFill>
                  <a:schemeClr val="accent2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6" name="文本框 14346"/>
            <p:cNvSpPr txBox="1"/>
            <p:nvPr/>
          </p:nvSpPr>
          <p:spPr>
            <a:xfrm>
              <a:off x="6616573" y="1138555"/>
              <a:ext cx="684483" cy="6155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accent2"/>
                  </a:solidFill>
                  <a:latin typeface="Arial" panose="020B0604020202090204" pitchFamily="34" charset="0"/>
                </a:rPr>
                <a:t>F</a:t>
              </a:r>
              <a:r>
                <a:rPr lang="en-US" altLang="zh-CN" b="1" baseline="-22000" dirty="0">
                  <a:solidFill>
                    <a:schemeClr val="accent2"/>
                  </a:solidFill>
                  <a:latin typeface="Arial" panose="020B0604020202090204" pitchFamily="34" charset="0"/>
                </a:rPr>
                <a:t>2</a:t>
              </a:r>
              <a:endParaRPr lang="en-US" altLang="zh-CN" dirty="0"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2" name="Rectangle 1027"/>
          <p:cNvSpPr txBox="1"/>
          <p:nvPr/>
        </p:nvSpPr>
        <p:spPr>
          <a:xfrm>
            <a:off x="438912" y="310895"/>
            <a:ext cx="10972736" cy="604545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旋转变换的目的</a:t>
            </a:r>
            <a:endParaRPr lang="en-US" altLang="zh-CN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使得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个样品点在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轴方向上的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的方差最大</a:t>
            </a:r>
            <a:endParaRPr lang="en-US" altLang="zh-CN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变量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代表了原始数据的绝大部分信息，即使不考虑变量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也无损大局</a:t>
            </a:r>
            <a:endParaRPr lang="en-US" altLang="zh-CN" sz="24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经过上述旋转变换原始数据的大部分信息集中到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轴上，对数据中包含的信息起到了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浓缩作用</a:t>
            </a:r>
            <a:endParaRPr lang="en-US" altLang="zh-CN" sz="24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具有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不相关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的性质</a:t>
            </a:r>
            <a:endParaRPr lang="en-US" altLang="zh-CN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在研究复杂的问题时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避免了信息重叠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所带来的虚假性</a:t>
            </a:r>
            <a:endParaRPr lang="en-US" altLang="zh-CN" sz="24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简化了系统结构，抓住了主要矛盾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2690813" y="238126"/>
            <a:ext cx="5853112" cy="830263"/>
          </a:xfrm>
        </p:spPr>
        <p:txBody>
          <a:bodyPr vert="horz" wrap="square" lIns="91440" tIns="45720" rIns="91440" bIns="45720" anchor="b"/>
          <a:lstStyle/>
          <a:p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</a:rPr>
              <a:t>第三节  主成分的推导及性质</a:t>
            </a:r>
            <a:r>
              <a:rPr lang="zh-CN" altLang="en-US" sz="3200" dirty="0">
                <a:solidFill>
                  <a:srgbClr val="FF0000"/>
                </a:solidFill>
                <a:latin typeface="宋体" pitchFamily="2" charset="-122"/>
              </a:rPr>
              <a:t> </a:t>
            </a:r>
            <a:endParaRPr lang="zh-CN" altLang="en-US" sz="3200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1628966" y="1178117"/>
            <a:ext cx="4972050" cy="752475"/>
          </a:xfrm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宋体" pitchFamily="2" charset="-122"/>
              </a:rPr>
              <a:t>一、两个线性代数的结论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zh-CN" alt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26628" name="Rectangle 4"/>
          <p:cNvSpPr/>
          <p:nvPr/>
        </p:nvSpPr>
        <p:spPr>
          <a:xfrm>
            <a:off x="2138554" y="1930591"/>
            <a:ext cx="6951663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400050" algn="just"/>
            <a:r>
              <a:rPr lang="en-US" altLang="zh-CN" sz="2800" dirty="0"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</a:rPr>
              <a:t>、若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zh-CN" altLang="en-US" sz="2800" dirty="0">
                <a:latin typeface="Times New Roman" panose="02020503050405090304" pitchFamily="18" charset="0"/>
              </a:rPr>
              <a:t>是</a:t>
            </a:r>
            <a:r>
              <a:rPr lang="en-US" altLang="zh-CN" sz="2800" i="1" dirty="0">
                <a:latin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</a:rPr>
              <a:t>阶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实对称阵</a:t>
            </a:r>
            <a:r>
              <a:rPr lang="zh-CN" altLang="en-US" sz="2800" dirty="0">
                <a:latin typeface="Times New Roman" panose="02020503050405090304" pitchFamily="18" charset="0"/>
              </a:rPr>
              <a:t>，则一定可以找到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正交阵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U</a:t>
            </a:r>
            <a:r>
              <a:rPr lang="zh-CN" altLang="en-US" sz="2800" dirty="0">
                <a:latin typeface="Times New Roman" panose="02020503050405090304" pitchFamily="18" charset="0"/>
              </a:rPr>
              <a:t>，使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26629" name="Rectangle 11"/>
          <p:cNvSpPr/>
          <p:nvPr/>
        </p:nvSpPr>
        <p:spPr>
          <a:xfrm>
            <a:off x="2749741" y="5943792"/>
            <a:ext cx="58086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dirty="0">
                <a:latin typeface="黑体" panose="02010609060101010101" charset="-122"/>
              </a:rPr>
              <a:t>其中            是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dirty="0">
                <a:latin typeface="黑体" panose="02010609060101010101" charset="-12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特征根</a:t>
            </a:r>
            <a:r>
              <a:rPr lang="zh-CN" altLang="en-US" sz="2800" dirty="0">
                <a:latin typeface="黑体" panose="02010609060101010101" charset="-122"/>
              </a:rPr>
              <a:t>。</a:t>
            </a:r>
            <a:endParaRPr lang="zh-CN" altLang="en-US" sz="2800" dirty="0">
              <a:latin typeface="黑体" panose="02010609060101010101" charset="-122"/>
            </a:endParaRPr>
          </a:p>
        </p:txBody>
      </p:sp>
      <p:graphicFrame>
        <p:nvGraphicFramePr>
          <p:cNvPr id="26630" name="对象 1"/>
          <p:cNvGraphicFramePr/>
          <p:nvPr/>
        </p:nvGraphicFramePr>
        <p:xfrm>
          <a:off x="3377861" y="3089466"/>
          <a:ext cx="3996267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42976800" imgH="22555200" progId="Equation.DSMT4">
                  <p:embed/>
                </p:oleObj>
              </mc:Choice>
              <mc:Fallback>
                <p:oleObj name="Equation" r:id="rId1" imgW="42976800" imgH="225552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77861" y="3089466"/>
                        <a:ext cx="3996267" cy="220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对象 3"/>
          <p:cNvGraphicFramePr/>
          <p:nvPr/>
        </p:nvGraphicFramePr>
        <p:xfrm>
          <a:off x="3511741" y="5943792"/>
          <a:ext cx="21590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2055495" imgH="521335" progId="Equation.KSEE3">
                  <p:embed/>
                </p:oleObj>
              </mc:Choice>
              <mc:Fallback>
                <p:oleObj name="" r:id="rId3" imgW="2055495" imgH="521335" progId="Equation.KSEE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11741" y="5943792"/>
                        <a:ext cx="2159000" cy="522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strips dir="l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idx="1"/>
          </p:nvPr>
        </p:nvSpPr>
        <p:spPr>
          <a:xfrm>
            <a:off x="2209800" y="606425"/>
            <a:ext cx="7583488" cy="1200150"/>
          </a:xfrm>
        </p:spPr>
        <p:txBody>
          <a:bodyPr vert="horz" wrap="square" lIns="91440" tIns="45720" rIns="91440" bIns="45720" anchor="t"/>
          <a:lstStyle/>
          <a:p>
            <a:pPr algn="just"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 2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、若实对称矩阵的特征根所对应的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单位特征向量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为          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76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27651" name="Rectangle 3"/>
          <p:cNvSpPr/>
          <p:nvPr/>
        </p:nvSpPr>
        <p:spPr>
          <a:xfrm>
            <a:off x="4862513" y="2957513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27652" name="Rectangle 5"/>
          <p:cNvSpPr/>
          <p:nvPr/>
        </p:nvSpPr>
        <p:spPr>
          <a:xfrm>
            <a:off x="2162175" y="4684714"/>
            <a:ext cx="8229600" cy="130317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503050405090304" pitchFamily="18" charset="0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</a:rPr>
              <a:t>则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实对称阵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属于不同特征根所对应的特征向量是正交的</a:t>
            </a:r>
            <a:r>
              <a:rPr lang="zh-CN" altLang="en-US" sz="2800" dirty="0">
                <a:latin typeface="Times New Roman" panose="02020503050405090304" pitchFamily="18" charset="0"/>
              </a:rPr>
              <a:t>，即有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27653" name="Rectangle 6"/>
          <p:cNvSpPr/>
          <p:nvPr/>
        </p:nvSpPr>
        <p:spPr>
          <a:xfrm>
            <a:off x="5795963" y="330993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27654" name="Rectangle 8"/>
          <p:cNvSpPr/>
          <p:nvPr/>
        </p:nvSpPr>
        <p:spPr>
          <a:xfrm>
            <a:off x="2801939" y="2743200"/>
            <a:ext cx="543739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dirty="0">
                <a:latin typeface="黑体" panose="02010609060101010101" charset="-122"/>
              </a:rPr>
              <a:t>令</a:t>
            </a:r>
            <a:endParaRPr lang="zh-CN" altLang="en-US" sz="2800" dirty="0">
              <a:latin typeface="黑体" panose="02010609060101010101" charset="-122"/>
            </a:endParaRPr>
          </a:p>
        </p:txBody>
      </p:sp>
      <p:sp>
        <p:nvSpPr>
          <p:cNvPr id="27655" name="Rectangle 9"/>
          <p:cNvSpPr/>
          <p:nvPr/>
        </p:nvSpPr>
        <p:spPr>
          <a:xfrm>
            <a:off x="6015038" y="334803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27656" name="Rectangle 11"/>
          <p:cNvSpPr/>
          <p:nvPr/>
        </p:nvSpPr>
        <p:spPr>
          <a:xfrm>
            <a:off x="5619750" y="3338513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graphicFrame>
        <p:nvGraphicFramePr>
          <p:cNvPr id="27657" name="对象 1"/>
          <p:cNvGraphicFramePr/>
          <p:nvPr/>
        </p:nvGraphicFramePr>
        <p:xfrm>
          <a:off x="3215831" y="1143231"/>
          <a:ext cx="1847850" cy="610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13411200" imgH="5791200" progId="Equation.DSMT4">
                  <p:embed/>
                </p:oleObj>
              </mc:Choice>
              <mc:Fallback>
                <p:oleObj name="Equation" r:id="rId1" imgW="13411200" imgH="5791200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15831" y="1143231"/>
                        <a:ext cx="1847850" cy="61007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对象 3"/>
          <p:cNvGraphicFramePr/>
          <p:nvPr/>
        </p:nvGraphicFramePr>
        <p:xfrm>
          <a:off x="3345678" y="1896929"/>
          <a:ext cx="5984589" cy="2419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6997600" imgH="22555200" progId="Equation.DSMT4">
                  <p:embed/>
                </p:oleObj>
              </mc:Choice>
              <mc:Fallback>
                <p:oleObj name="Equation" r:id="rId3" imgW="56997600" imgH="225552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5678" y="1896929"/>
                        <a:ext cx="5984589" cy="241980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对象 5"/>
          <p:cNvGraphicFramePr/>
          <p:nvPr/>
        </p:nvGraphicFramePr>
        <p:xfrm>
          <a:off x="5160963" y="5547707"/>
          <a:ext cx="21082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1336000" imgH="4267200" progId="Equation.DSMT4">
                  <p:embed/>
                </p:oleObj>
              </mc:Choice>
              <mc:Fallback>
                <p:oleObj name="Equation" r:id="rId5" imgW="21336000" imgH="42672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60963" y="5547707"/>
                        <a:ext cx="2108200" cy="3746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strips dir="l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28674" name="Rectangle 2"/>
          <p:cNvSpPr/>
          <p:nvPr/>
        </p:nvSpPr>
        <p:spPr>
          <a:xfrm>
            <a:off x="1552576" y="234950"/>
            <a:ext cx="5540375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-457200" algn="just" defTabSz="0">
              <a:tabLst>
                <a:tab pos="593725" algn="l"/>
              </a:tabLst>
            </a:pPr>
            <a:r>
              <a:rPr lang="en-US" altLang="zh-CN" sz="2800" b="1" dirty="0">
                <a:solidFill>
                  <a:srgbClr val="FF0000"/>
                </a:solidFill>
                <a:latin typeface="黑体" panose="02010609060101010101" charset="-122"/>
              </a:rPr>
              <a:t>     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</a:rPr>
              <a:t>二、主成分的推导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charset="-122"/>
              </a:rPr>
              <a:t>  </a:t>
            </a:r>
            <a:endParaRPr lang="zh-CN" altLang="en-US" sz="2800" b="1" dirty="0">
              <a:solidFill>
                <a:srgbClr val="FF0000"/>
              </a:solidFill>
              <a:latin typeface="黑体" panose="02010609060101010101" charset="-122"/>
            </a:endParaRPr>
          </a:p>
        </p:txBody>
      </p:sp>
      <p:sp>
        <p:nvSpPr>
          <p:cNvPr id="28675" name="Rectangle 3"/>
          <p:cNvSpPr/>
          <p:nvPr/>
        </p:nvSpPr>
        <p:spPr>
          <a:xfrm>
            <a:off x="2351089" y="1052514"/>
            <a:ext cx="2736647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400" b="1" dirty="0">
                <a:latin typeface="宋体" pitchFamily="2" charset="-122"/>
              </a:rPr>
              <a:t>（一）</a:t>
            </a:r>
            <a:r>
              <a:rPr lang="zh-CN" altLang="en-US" sz="2400" b="1" dirty="0">
                <a:latin typeface="Times New Roman" panose="02020503050405090304" pitchFamily="18" charset="0"/>
              </a:rPr>
              <a:t> </a:t>
            </a:r>
            <a:r>
              <a:rPr lang="zh-CN" altLang="en-US" sz="2400" b="1" dirty="0">
                <a:latin typeface="宋体" pitchFamily="2" charset="-122"/>
              </a:rPr>
              <a:t>第一主成分</a:t>
            </a:r>
            <a:endParaRPr lang="zh-CN" altLang="en-US" sz="2400" b="1" dirty="0">
              <a:latin typeface="宋体" pitchFamily="2" charset="-122"/>
            </a:endParaRPr>
          </a:p>
        </p:txBody>
      </p:sp>
      <p:sp>
        <p:nvSpPr>
          <p:cNvPr id="28676" name="Rectangle 5"/>
          <p:cNvSpPr/>
          <p:nvPr/>
        </p:nvSpPr>
        <p:spPr>
          <a:xfrm>
            <a:off x="1800225" y="2153678"/>
            <a:ext cx="4143375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的协方差阵为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8677" name="Rectangle 6"/>
          <p:cNvSpPr/>
          <p:nvPr/>
        </p:nvSpPr>
        <p:spPr>
          <a:xfrm>
            <a:off x="1947333" y="3708400"/>
            <a:ext cx="7958667" cy="1083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由于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en-US" altLang="zh-CN" sz="2800" i="1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非负定的对称阵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，则利用线性代数的知识可得，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必存在正交阵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，使得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28678" name="对象 1"/>
          <p:cNvGraphicFramePr/>
          <p:nvPr/>
        </p:nvGraphicFramePr>
        <p:xfrm>
          <a:off x="4714875" y="1339850"/>
          <a:ext cx="46863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4309745" imgH="1986280" progId="Equation.3">
                  <p:embed/>
                </p:oleObj>
              </mc:Choice>
              <mc:Fallback>
                <p:oleObj name="Equation" r:id="rId1" imgW="4309745" imgH="198628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14875" y="1339850"/>
                        <a:ext cx="4686300" cy="218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对象 3"/>
          <p:cNvGraphicFramePr/>
          <p:nvPr/>
        </p:nvGraphicFramePr>
        <p:xfrm>
          <a:off x="3581401" y="4724400"/>
          <a:ext cx="4446139" cy="1631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35356800" imgH="17678400" progId="Equation.DSMT4">
                  <p:embed/>
                </p:oleObj>
              </mc:Choice>
              <mc:Fallback>
                <p:oleObj name="Equation" r:id="rId3" imgW="35356800" imgH="176784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81401" y="4724400"/>
                        <a:ext cx="4446139" cy="163195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29698" name="Rectangle 4"/>
          <p:cNvSpPr/>
          <p:nvPr/>
        </p:nvSpPr>
        <p:spPr>
          <a:xfrm>
            <a:off x="2133600" y="457201"/>
            <a:ext cx="8034338" cy="159402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其中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， 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…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， </a:t>
            </a:r>
            <a:r>
              <a:rPr lang="en-US" altLang="zh-CN" sz="2800" i="1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en-US" altLang="zh-CN" sz="2800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的特征根，不妨假设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 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… </a:t>
            </a:r>
            <a:r>
              <a:rPr lang="en-US" altLang="zh-CN" sz="2800" i="1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。而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恰好是由特征根相对应的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特征向量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所组成的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正交阵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9699" name="Rectangle 6"/>
          <p:cNvSpPr/>
          <p:nvPr/>
        </p:nvSpPr>
        <p:spPr>
          <a:xfrm>
            <a:off x="4862513" y="2957513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graphicFrame>
        <p:nvGraphicFramePr>
          <p:cNvPr id="29700" name="Object 1026"/>
          <p:cNvGraphicFramePr/>
          <p:nvPr/>
        </p:nvGraphicFramePr>
        <p:xfrm>
          <a:off x="1524001" y="3384551"/>
          <a:ext cx="857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88900" imgH="164465" progId="Equation.3">
                  <p:embed/>
                </p:oleObj>
              </mc:Choice>
              <mc:Fallback>
                <p:oleObj name="" r:id="rId1" imgW="88900" imgH="164465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1" y="3384551"/>
                        <a:ext cx="85725" cy="161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Rectangle 12"/>
          <p:cNvSpPr/>
          <p:nvPr/>
        </p:nvSpPr>
        <p:spPr>
          <a:xfrm>
            <a:off x="2024064" y="5326063"/>
            <a:ext cx="8143875" cy="1524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下面我们来看，是否由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的第一列元素所构成为原始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变量的线性组合是否有最大的方差。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29702" name="对象 1"/>
          <p:cNvGraphicFramePr/>
          <p:nvPr/>
        </p:nvGraphicFramePr>
        <p:xfrm>
          <a:off x="3027364" y="2185650"/>
          <a:ext cx="6206066" cy="2191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6997600" imgH="22555200" progId="Equation.DSMT4">
                  <p:embed/>
                </p:oleObj>
              </mc:Choice>
              <mc:Fallback>
                <p:oleObj name="Equation" r:id="rId3" imgW="56997600" imgH="225552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27364" y="2185650"/>
                        <a:ext cx="6206066" cy="21912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对象 3"/>
          <p:cNvGraphicFramePr/>
          <p:nvPr/>
        </p:nvGraphicFramePr>
        <p:xfrm>
          <a:off x="7399867" y="4678893"/>
          <a:ext cx="1833563" cy="518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8592800" imgH="4876800" progId="Equation.DSMT4">
                  <p:embed/>
                </p:oleObj>
              </mc:Choice>
              <mc:Fallback>
                <p:oleObj name="Equation" r:id="rId5" imgW="18592800" imgH="4876800" progId="Equation.DSMT4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99867" y="4678893"/>
                        <a:ext cx="1833563" cy="51858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对象 5"/>
          <p:cNvGraphicFramePr/>
          <p:nvPr/>
        </p:nvGraphicFramePr>
        <p:xfrm>
          <a:off x="3505200" y="4434933"/>
          <a:ext cx="3445933" cy="813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30175200" imgH="8229600" progId="Equation.DSMT4">
                  <p:embed/>
                </p:oleObj>
              </mc:Choice>
              <mc:Fallback>
                <p:oleObj name="Equation" r:id="rId7" imgW="30175200" imgH="82296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5200" y="4434933"/>
                        <a:ext cx="3445933" cy="8133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116738" name="Rectangle 1026"/>
          <p:cNvSpPr/>
          <p:nvPr/>
        </p:nvSpPr>
        <p:spPr>
          <a:xfrm>
            <a:off x="1992313" y="620714"/>
            <a:ext cx="5257800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设有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维正交向量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30723" name="对象 1"/>
          <p:cNvGraphicFramePr/>
          <p:nvPr/>
        </p:nvGraphicFramePr>
        <p:xfrm>
          <a:off x="4432300" y="347663"/>
          <a:ext cx="3327399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31089600" imgH="8229600" progId="Equation.DSMT4">
                  <p:embed/>
                </p:oleObj>
              </mc:Choice>
              <mc:Fallback>
                <p:oleObj name="Equation" r:id="rId1" imgW="31089600" imgH="82296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32300" y="347663"/>
                        <a:ext cx="3327399" cy="887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对象 3"/>
          <p:cNvGraphicFramePr/>
          <p:nvPr/>
        </p:nvGraphicFramePr>
        <p:xfrm>
          <a:off x="4432300" y="1233488"/>
          <a:ext cx="41751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99669600" imgH="11277600" progId="Equation.DSMT4">
                  <p:embed/>
                </p:oleObj>
              </mc:Choice>
              <mc:Fallback>
                <p:oleObj name="Equation" r:id="rId3" imgW="99669600" imgH="112776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32300" y="1233488"/>
                        <a:ext cx="4175125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对象 5"/>
          <p:cNvGraphicFramePr/>
          <p:nvPr/>
        </p:nvGraphicFramePr>
        <p:xfrm>
          <a:off x="2649538" y="4346575"/>
          <a:ext cx="6805612" cy="210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49047200" imgH="51206400" progId="Equation.DSMT4">
                  <p:embed/>
                </p:oleObj>
              </mc:Choice>
              <mc:Fallback>
                <p:oleObj name="Equation" r:id="rId5" imgW="149047200" imgH="512064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49538" y="4346575"/>
                        <a:ext cx="6805612" cy="210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对象 7"/>
          <p:cNvGraphicFramePr/>
          <p:nvPr/>
        </p:nvGraphicFramePr>
        <p:xfrm>
          <a:off x="2712720" y="1899601"/>
          <a:ext cx="5821680" cy="2173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64008000" imgH="22555200" progId="Equation.DSMT4">
                  <p:embed/>
                </p:oleObj>
              </mc:Choice>
              <mc:Fallback>
                <p:oleObj name="Equation" r:id="rId7" imgW="64008000" imgH="225552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2720" y="1899601"/>
                        <a:ext cx="5821680" cy="217392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1746" name="Rectangle 6"/>
          <p:cNvSpPr/>
          <p:nvPr/>
        </p:nvSpPr>
        <p:spPr>
          <a:xfrm>
            <a:off x="5348288" y="330993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31747" name="Rectangle 14"/>
          <p:cNvSpPr/>
          <p:nvPr/>
        </p:nvSpPr>
        <p:spPr>
          <a:xfrm>
            <a:off x="5695950" y="321468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31748" name="Rectangle 16"/>
          <p:cNvSpPr/>
          <p:nvPr/>
        </p:nvSpPr>
        <p:spPr>
          <a:xfrm>
            <a:off x="5738813" y="3319463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31749" name="Rectangle 18"/>
          <p:cNvSpPr/>
          <p:nvPr/>
        </p:nvSpPr>
        <p:spPr>
          <a:xfrm>
            <a:off x="5862638" y="3319463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31750" name="Rectangle 20"/>
          <p:cNvSpPr/>
          <p:nvPr/>
        </p:nvSpPr>
        <p:spPr>
          <a:xfrm>
            <a:off x="5957888" y="3319463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graphicFrame>
        <p:nvGraphicFramePr>
          <p:cNvPr id="31751" name="对象 1"/>
          <p:cNvGraphicFramePr/>
          <p:nvPr/>
        </p:nvGraphicFramePr>
        <p:xfrm>
          <a:off x="2547938" y="898525"/>
          <a:ext cx="2663825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48158400" imgH="22250400" progId="Equation.DSMT4">
                  <p:embed/>
                </p:oleObj>
              </mc:Choice>
              <mc:Fallback>
                <p:oleObj name="Equation" r:id="rId1" imgW="48158400" imgH="222504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47938" y="898525"/>
                        <a:ext cx="2663825" cy="1360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对象 3"/>
          <p:cNvGraphicFramePr/>
          <p:nvPr/>
        </p:nvGraphicFramePr>
        <p:xfrm>
          <a:off x="5376863" y="998538"/>
          <a:ext cx="2763837" cy="126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46024800" imgH="22250400" progId="Equation.DSMT4">
                  <p:embed/>
                </p:oleObj>
              </mc:Choice>
              <mc:Fallback>
                <p:oleObj name="Equation" r:id="rId3" imgW="46024800" imgH="222504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76863" y="998538"/>
                        <a:ext cx="2763837" cy="1262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对象 5"/>
          <p:cNvGraphicFramePr/>
          <p:nvPr/>
        </p:nvGraphicFramePr>
        <p:xfrm>
          <a:off x="2693988" y="2505075"/>
          <a:ext cx="2635250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1031200" imgH="10363200" progId="Equation.DSMT4">
                  <p:embed/>
                </p:oleObj>
              </mc:Choice>
              <mc:Fallback>
                <p:oleObj name="Equation" r:id="rId5" imgW="21031200" imgH="1036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93988" y="2505075"/>
                        <a:ext cx="2635250" cy="1344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4" name="对象 7"/>
          <p:cNvGraphicFramePr/>
          <p:nvPr/>
        </p:nvGraphicFramePr>
        <p:xfrm>
          <a:off x="5321300" y="2505075"/>
          <a:ext cx="2798763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22250400" imgH="10363200" progId="Equation.DSMT4">
                  <p:embed/>
                </p:oleObj>
              </mc:Choice>
              <mc:Fallback>
                <p:oleObj name="Equation" r:id="rId7" imgW="22250400" imgH="103632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21300" y="2505075"/>
                        <a:ext cx="2798763" cy="1344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1755" name="对象 9"/>
              <p:cNvSpPr txBox="1"/>
              <p:nvPr/>
            </p:nvSpPr>
            <p:spPr>
              <a:xfrm>
                <a:off x="2705894" y="4094163"/>
                <a:ext cx="5246688" cy="84931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4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𝑈𝑎</m:t>
                          </m:r>
                        </m:e>
                        <m:sub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4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4000" dirty="0"/>
              </a:p>
            </p:txBody>
          </p:sp>
        </mc:Choice>
        <mc:Fallback>
          <p:sp>
            <p:nvSpPr>
              <p:cNvPr id="31755" name="对象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894" y="4094163"/>
                <a:ext cx="5246688" cy="849313"/>
              </a:xfrm>
              <a:prstGeom prst="rect">
                <a:avLst/>
              </a:prstGeom>
              <a:blipFill rotWithShape="1">
                <a:blip r:embed="rId9"/>
                <a:stretch>
                  <a:fillRect l="-3" t="-37" r="9" b="-74691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Grp="1"/>
          </p:cNvSpPr>
          <p:nvPr>
            <p:ph idx="1"/>
          </p:nvPr>
        </p:nvSpPr>
        <p:spPr>
          <a:xfrm>
            <a:off x="1828800" y="1227667"/>
            <a:ext cx="8534400" cy="2877609"/>
          </a:xfrm>
        </p:spPr>
        <p:txBody>
          <a:bodyPr vert="horz" wrap="square" lIns="91440" tIns="45720" rIns="91440" bIns="45720" anchor="t"/>
          <a:lstStyle/>
          <a:p>
            <a:pPr fontAlgn="base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当且仅当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=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时，即                                      时，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有最大的方差</a:t>
            </a:r>
            <a:r>
              <a:rPr lang="zh-CN" altLang="en-US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。因为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Var(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’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</a:t>
            </a:r>
            <a:r>
              <a:rPr lang="en-US" altLang="zh-CN" sz="2800" i="1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。</a:t>
            </a:r>
            <a:endParaRPr lang="zh-CN" altLang="en-US" sz="2800" baseline="-250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sz="2800" baseline="-250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如果第一主成分的信息不够，则需要寻找第二主成分。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</p:txBody>
      </p:sp>
      <p:sp>
        <p:nvSpPr>
          <p:cNvPr id="327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32771" name="对象 1"/>
          <p:cNvGraphicFramePr/>
          <p:nvPr/>
        </p:nvGraphicFramePr>
        <p:xfrm>
          <a:off x="5392738" y="1284289"/>
          <a:ext cx="327660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422400" imgH="241300" progId="Equation.KSEE3">
                  <p:embed/>
                </p:oleObj>
              </mc:Choice>
              <mc:Fallback>
                <p:oleObj name="" r:id="rId1" imgW="1422400" imgH="241300" progId="Equation.KSEE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92738" y="1284289"/>
                        <a:ext cx="3276600" cy="719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996238" y="6356351"/>
            <a:ext cx="2057400" cy="365125"/>
          </a:xfrm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3794" name="Rectangle 1026"/>
          <p:cNvSpPr/>
          <p:nvPr/>
        </p:nvSpPr>
        <p:spPr>
          <a:xfrm>
            <a:off x="2422526" y="430214"/>
            <a:ext cx="3222625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 b="1" dirty="0">
                <a:latin typeface="黑体" panose="02010609060101010101" charset="-122"/>
              </a:rPr>
              <a:t>（二） 第二主成分</a:t>
            </a:r>
            <a:endParaRPr lang="zh-CN" altLang="en-US" sz="2800" b="1" dirty="0">
              <a:latin typeface="黑体" panose="02010609060101010101" charset="-122"/>
            </a:endParaRPr>
          </a:p>
        </p:txBody>
      </p:sp>
      <p:sp>
        <p:nvSpPr>
          <p:cNvPr id="33795" name="Rectangle 1031"/>
          <p:cNvSpPr/>
          <p:nvPr/>
        </p:nvSpPr>
        <p:spPr>
          <a:xfrm>
            <a:off x="2422525" y="1336675"/>
            <a:ext cx="7716838" cy="954107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dirty="0">
                <a:latin typeface="黑体" panose="02010609060101010101" charset="-122"/>
              </a:rPr>
              <a:t>在约束条件                下，寻找第二主成分 </a:t>
            </a:r>
            <a:endParaRPr lang="zh-CN" altLang="en-US" sz="2800" dirty="0">
              <a:latin typeface="黑体" panose="02010609060101010101" charset="-122"/>
            </a:endParaRPr>
          </a:p>
        </p:txBody>
      </p:sp>
      <p:sp>
        <p:nvSpPr>
          <p:cNvPr id="33796" name="Rectangle 1033"/>
          <p:cNvSpPr/>
          <p:nvPr/>
        </p:nvSpPr>
        <p:spPr>
          <a:xfrm>
            <a:off x="2065338" y="2819400"/>
            <a:ext cx="9144000" cy="138430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algn="just"/>
            <a:r>
              <a:rPr lang="zh-CN" altLang="en-US" sz="2800" dirty="0">
                <a:latin typeface="黑体" panose="02010609060101010101" charset="-122"/>
              </a:rPr>
              <a:t>因为</a:t>
            </a:r>
            <a:endParaRPr lang="zh-CN" altLang="en-US" sz="2800" dirty="0">
              <a:latin typeface="黑体" panose="02010609060101010101" charset="-122"/>
            </a:endParaRPr>
          </a:p>
          <a:p>
            <a:pPr eaLnBrk="0" hangingPunct="0"/>
            <a:endParaRPr lang="zh-CN" altLang="en-US" sz="2800" dirty="0">
              <a:latin typeface="黑体" panose="02010609060101010101" charset="-122"/>
            </a:endParaRPr>
          </a:p>
          <a:p>
            <a:pPr eaLnBrk="0" hangingPunct="0"/>
            <a:r>
              <a:rPr lang="zh-CN" altLang="en-US" sz="2800" dirty="0">
                <a:latin typeface="黑体" panose="02010609060101010101" charset="-122"/>
              </a:rPr>
              <a:t>所以</a:t>
            </a:r>
            <a:endParaRPr lang="zh-CN" altLang="en-US" sz="2800" dirty="0">
              <a:latin typeface="黑体" panose="02010609060101010101" charset="-122"/>
            </a:endParaRPr>
          </a:p>
        </p:txBody>
      </p:sp>
      <p:sp>
        <p:nvSpPr>
          <p:cNvPr id="33797" name="Rectangle 1035"/>
          <p:cNvSpPr/>
          <p:nvPr/>
        </p:nvSpPr>
        <p:spPr>
          <a:xfrm>
            <a:off x="3624263" y="3271838"/>
            <a:ext cx="9144000" cy="369332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33798" name="Rectangle 1039"/>
          <p:cNvSpPr/>
          <p:nvPr/>
        </p:nvSpPr>
        <p:spPr>
          <a:xfrm>
            <a:off x="5654040" y="3695700"/>
            <a:ext cx="4837748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则，对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维向量    ，有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33799" name="对象 1"/>
          <p:cNvGraphicFramePr/>
          <p:nvPr/>
        </p:nvGraphicFramePr>
        <p:xfrm>
          <a:off x="4386257" y="1308100"/>
          <a:ext cx="2640012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927100" imgH="215900" progId="Equation.KSEE3">
                  <p:embed/>
                </p:oleObj>
              </mc:Choice>
              <mc:Fallback>
                <p:oleObj name="" r:id="rId1" imgW="927100" imgH="215900" progId="Equation.KSEE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86257" y="1308100"/>
                        <a:ext cx="2640012" cy="5794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对象 3"/>
          <p:cNvGraphicFramePr/>
          <p:nvPr/>
        </p:nvGraphicFramePr>
        <p:xfrm>
          <a:off x="4214813" y="2033589"/>
          <a:ext cx="32258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459865" imgH="241300" progId="Equation.KSEE3">
                  <p:embed/>
                </p:oleObj>
              </mc:Choice>
              <mc:Fallback>
                <p:oleObj name="" r:id="rId3" imgW="1459865" imgH="241300" progId="Equation.KSEE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14813" y="2033589"/>
                        <a:ext cx="3225800" cy="63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对象 1"/>
          <p:cNvGraphicFramePr/>
          <p:nvPr/>
        </p:nvGraphicFramePr>
        <p:xfrm>
          <a:off x="2819401" y="2819400"/>
          <a:ext cx="77438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7079615" imgH="515620" progId="Equation.KSEE3">
                  <p:embed/>
                </p:oleObj>
              </mc:Choice>
              <mc:Fallback>
                <p:oleObj name="" r:id="rId5" imgW="7079615" imgH="515620" progId="Equation.KSEE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9401" y="2819400"/>
                        <a:ext cx="7743825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对象 3"/>
          <p:cNvGraphicFramePr/>
          <p:nvPr/>
        </p:nvGraphicFramePr>
        <p:xfrm>
          <a:off x="3095465" y="3668714"/>
          <a:ext cx="2200594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1334135" imgH="452755" progId="Equation.KSEE3">
                  <p:embed/>
                </p:oleObj>
              </mc:Choice>
              <mc:Fallback>
                <p:oleObj name="" r:id="rId7" imgW="1334135" imgH="452755" progId="Equation.KSEE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95465" y="3668714"/>
                        <a:ext cx="2200594" cy="6286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对象 5"/>
          <p:cNvGraphicFramePr/>
          <p:nvPr/>
        </p:nvGraphicFramePr>
        <p:xfrm>
          <a:off x="2540000" y="4413250"/>
          <a:ext cx="722630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65227200" imgH="10363200" progId="Equation.DSMT4">
                  <p:embed/>
                </p:oleObj>
              </mc:Choice>
              <mc:Fallback>
                <p:oleObj name="Equation" r:id="rId9" imgW="65227200" imgH="103632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40000" y="4413250"/>
                        <a:ext cx="7226300" cy="1198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对象 7"/>
          <p:cNvGraphicFramePr/>
          <p:nvPr/>
        </p:nvGraphicFramePr>
        <p:xfrm>
          <a:off x="4953000" y="5626100"/>
          <a:ext cx="2287588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21945600" imgH="10363200" progId="Equation.DSMT4">
                  <p:embed/>
                </p:oleObj>
              </mc:Choice>
              <mc:Fallback>
                <p:oleObj name="Equation" r:id="rId11" imgW="21945600" imgH="103632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53000" y="5626100"/>
                        <a:ext cx="2287588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对象 1"/>
          <p:cNvGraphicFramePr/>
          <p:nvPr/>
        </p:nvGraphicFramePr>
        <p:xfrm>
          <a:off x="7996239" y="3556001"/>
          <a:ext cx="473075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3" imgW="165100" imgH="215900" progId="Equation.KSEE3">
                  <p:embed/>
                </p:oleObj>
              </mc:Choice>
              <mc:Fallback>
                <p:oleObj name="" r:id="rId13" imgW="165100" imgH="215900" progId="Equation.KSEE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996239" y="3556001"/>
                        <a:ext cx="473075" cy="709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4818" name="Rectangle 1033"/>
          <p:cNvSpPr/>
          <p:nvPr/>
        </p:nvSpPr>
        <p:spPr>
          <a:xfrm>
            <a:off x="5867400" y="3271838"/>
            <a:ext cx="9144000" cy="369332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34819" name="Rectangle 1035"/>
          <p:cNvSpPr/>
          <p:nvPr/>
        </p:nvSpPr>
        <p:spPr>
          <a:xfrm>
            <a:off x="5081588" y="3309938"/>
            <a:ext cx="9144000" cy="369332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34820" name="Rectangle 1036"/>
          <p:cNvSpPr/>
          <p:nvPr/>
        </p:nvSpPr>
        <p:spPr>
          <a:xfrm>
            <a:off x="1752600" y="2209800"/>
            <a:ext cx="9144000" cy="522288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800" dirty="0">
                <a:latin typeface="黑体" panose="02010609060101010101" charset="-122"/>
              </a:rPr>
              <a:t>     </a:t>
            </a:r>
            <a:r>
              <a:rPr lang="zh-CN" altLang="en-US" sz="2800" dirty="0">
                <a:latin typeface="黑体" panose="02010609060101010101" charset="-122"/>
              </a:rPr>
              <a:t>所以如果取线性变换： </a:t>
            </a:r>
            <a:endParaRPr lang="zh-CN" altLang="en-US" sz="2800" dirty="0">
              <a:latin typeface="黑体" panose="02010609060101010101" charset="-122"/>
            </a:endParaRPr>
          </a:p>
        </p:txBody>
      </p:sp>
      <p:sp>
        <p:nvSpPr>
          <p:cNvPr id="34821" name="Rectangle 1038"/>
          <p:cNvSpPr/>
          <p:nvPr/>
        </p:nvSpPr>
        <p:spPr>
          <a:xfrm>
            <a:off x="1524000" y="2819400"/>
            <a:ext cx="9144000" cy="9461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algn="just"/>
            <a:r>
              <a:rPr lang="en-US" altLang="zh-CN" sz="2800" dirty="0">
                <a:latin typeface="黑体" panose="02010609060101010101" charset="-122"/>
              </a:rPr>
              <a:t>  </a:t>
            </a:r>
            <a:r>
              <a:rPr lang="zh-CN" altLang="en-US" sz="2800" dirty="0">
                <a:latin typeface="黑体" panose="02010609060101010101" charset="-122"/>
              </a:rPr>
              <a:t>则  的方差次大。</a:t>
            </a:r>
            <a:endParaRPr lang="zh-CN" altLang="en-US" sz="2800" dirty="0">
              <a:latin typeface="黑体" panose="02010609060101010101" charset="-122"/>
            </a:endParaRPr>
          </a:p>
          <a:p>
            <a:pPr eaLnBrk="0" hangingPunct="0"/>
            <a:endParaRPr lang="en-US" altLang="zh-CN" sz="2800" dirty="0">
              <a:latin typeface="黑体" panose="02010609060101010101" charset="-122"/>
            </a:endParaRPr>
          </a:p>
        </p:txBody>
      </p:sp>
      <p:graphicFrame>
        <p:nvGraphicFramePr>
          <p:cNvPr id="34822" name="Object 1029"/>
          <p:cNvGraphicFramePr/>
          <p:nvPr/>
        </p:nvGraphicFramePr>
        <p:xfrm>
          <a:off x="2309812" y="2948939"/>
          <a:ext cx="341948" cy="36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4267200" imgH="5486400" progId="Equation.DSMT4">
                  <p:embed/>
                </p:oleObj>
              </mc:Choice>
              <mc:Fallback>
                <p:oleObj name="Equation" r:id="rId1" imgW="4267200" imgH="54864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09812" y="2948939"/>
                        <a:ext cx="341948" cy="36933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Rectangle 1040"/>
          <p:cNvSpPr/>
          <p:nvPr/>
        </p:nvSpPr>
        <p:spPr>
          <a:xfrm>
            <a:off x="1634648" y="5106194"/>
            <a:ext cx="1692275" cy="5222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dirty="0">
                <a:latin typeface="黑体" panose="02010609060101010101" charset="-122"/>
              </a:rPr>
              <a:t>   </a:t>
            </a:r>
            <a:r>
              <a:rPr lang="zh-CN" altLang="en-US" sz="2800" dirty="0">
                <a:latin typeface="黑体" panose="02010609060101010101" charset="-122"/>
              </a:rPr>
              <a:t>类推          </a:t>
            </a:r>
            <a:endParaRPr lang="zh-CN" altLang="en-US" sz="2800" dirty="0">
              <a:latin typeface="黑体" panose="02010609060101010101" charset="-122"/>
            </a:endParaRPr>
          </a:p>
        </p:txBody>
      </p:sp>
      <p:graphicFrame>
        <p:nvGraphicFramePr>
          <p:cNvPr id="34824" name="对象 1"/>
          <p:cNvGraphicFramePr/>
          <p:nvPr/>
        </p:nvGraphicFramePr>
        <p:xfrm>
          <a:off x="3646489" y="3605213"/>
          <a:ext cx="4899025" cy="300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4005580" imgH="2346960" progId="Equation.DSMT4">
                  <p:embed/>
                </p:oleObj>
              </mc:Choice>
              <mc:Fallback>
                <p:oleObj name="Equation" r:id="rId3" imgW="4005580" imgH="234696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6489" y="3605213"/>
                        <a:ext cx="4899025" cy="300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对象 1"/>
          <p:cNvGraphicFramePr/>
          <p:nvPr/>
        </p:nvGraphicFramePr>
        <p:xfrm>
          <a:off x="2795588" y="220663"/>
          <a:ext cx="29940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3469600" imgH="10363200" progId="Equation.DSMT4">
                  <p:embed/>
                </p:oleObj>
              </mc:Choice>
              <mc:Fallback>
                <p:oleObj name="Equation" r:id="rId5" imgW="23469600" imgH="103632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95588" y="220663"/>
                        <a:ext cx="2994025" cy="1127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对象 3"/>
          <p:cNvGraphicFramePr/>
          <p:nvPr/>
        </p:nvGraphicFramePr>
        <p:xfrm>
          <a:off x="2740025" y="1584325"/>
          <a:ext cx="200183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19202400" imgH="5486400" progId="Equation.DSMT4">
                  <p:embed/>
                </p:oleObj>
              </mc:Choice>
              <mc:Fallback>
                <p:oleObj name="Equation" r:id="rId7" imgW="19202400" imgH="54864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40025" y="1584325"/>
                        <a:ext cx="2001838" cy="58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对象 5"/>
          <p:cNvGraphicFramePr/>
          <p:nvPr/>
        </p:nvGraphicFramePr>
        <p:xfrm>
          <a:off x="4741863" y="1571625"/>
          <a:ext cx="2316479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20421600" imgH="5486400" progId="Equation.DSMT4">
                  <p:embed/>
                </p:oleObj>
              </mc:Choice>
              <mc:Fallback>
                <p:oleObj name="Equation" r:id="rId9" imgW="20421600" imgH="54864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41863" y="1571625"/>
                        <a:ext cx="2316479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8" name="对象 7"/>
          <p:cNvGraphicFramePr/>
          <p:nvPr/>
        </p:nvGraphicFramePr>
        <p:xfrm>
          <a:off x="6032500" y="2243138"/>
          <a:ext cx="45529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1955800" imgH="241300" progId="Equation.KSEE3">
                  <p:embed/>
                </p:oleObj>
              </mc:Choice>
              <mc:Fallback>
                <p:oleObj name="" r:id="rId11" imgW="1955800" imgH="241300" progId="Equation.KSEE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32500" y="2243138"/>
                        <a:ext cx="4552950" cy="576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3"/>
          <a:srcRect r="86158" b="9970"/>
          <a:stretch>
            <a:fillRect/>
          </a:stretch>
        </p:blipFill>
        <p:spPr>
          <a:xfrm>
            <a:off x="2257488" y="2819400"/>
            <a:ext cx="446594" cy="57626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5843" name="Rectangle 6"/>
          <p:cNvSpPr/>
          <p:nvPr/>
        </p:nvSpPr>
        <p:spPr>
          <a:xfrm>
            <a:off x="2276475" y="622300"/>
            <a:ext cx="2941638" cy="5222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zh-CN" altLang="en-US" sz="2800" dirty="0">
                <a:latin typeface="黑体" panose="02010609060101010101" charset="-122"/>
              </a:rPr>
              <a:t>写为矩阵形式：</a:t>
            </a:r>
            <a:endParaRPr lang="en-US" altLang="zh-CN" sz="2800" dirty="0">
              <a:latin typeface="黑体" panose="02010609060101010101" charset="-122"/>
            </a:endParaRPr>
          </a:p>
        </p:txBody>
      </p:sp>
      <p:sp>
        <p:nvSpPr>
          <p:cNvPr id="35845" name="Rectangle 10"/>
          <p:cNvSpPr/>
          <p:nvPr/>
        </p:nvSpPr>
        <p:spPr>
          <a:xfrm>
            <a:off x="5414963" y="3309938"/>
            <a:ext cx="9144000" cy="369332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graphicFrame>
        <p:nvGraphicFramePr>
          <p:cNvPr id="35846" name="对象 1"/>
          <p:cNvGraphicFramePr/>
          <p:nvPr/>
        </p:nvGraphicFramePr>
        <p:xfrm>
          <a:off x="2933700" y="1798955"/>
          <a:ext cx="5676900" cy="2834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56692800" imgH="22555200" progId="Equation.DSMT4">
                  <p:embed/>
                </p:oleObj>
              </mc:Choice>
              <mc:Fallback>
                <p:oleObj name="Equation" r:id="rId1" imgW="56692800" imgH="225552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33700" y="1798955"/>
                        <a:ext cx="5676900" cy="28346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对象 3"/>
          <p:cNvGraphicFramePr/>
          <p:nvPr/>
        </p:nvGraphicFramePr>
        <p:xfrm>
          <a:off x="5460683" y="704770"/>
          <a:ext cx="1431608" cy="416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3411200" imgH="4267200" progId="Equation.DSMT4">
                  <p:embed/>
                </p:oleObj>
              </mc:Choice>
              <mc:Fallback>
                <p:oleObj name="Equation" r:id="rId3" imgW="13411200" imgH="42672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60683" y="704770"/>
                        <a:ext cx="1431608" cy="41648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对象 5"/>
          <p:cNvGraphicFramePr/>
          <p:nvPr/>
        </p:nvGraphicFramePr>
        <p:xfrm>
          <a:off x="4206240" y="5311298"/>
          <a:ext cx="3710940" cy="833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31699200" imgH="5791200" progId="Equation.DSMT4">
                  <p:embed/>
                </p:oleObj>
              </mc:Choice>
              <mc:Fallback>
                <p:oleObj name="Equation" r:id="rId5" imgW="31699200" imgH="57912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06240" y="5311298"/>
                        <a:ext cx="3710940" cy="83327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3794" name="Rectangle 2"/>
          <p:cNvSpPr/>
          <p:nvPr/>
        </p:nvSpPr>
        <p:spPr>
          <a:xfrm>
            <a:off x="2574925" y="420688"/>
            <a:ext cx="6858000" cy="584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3200" b="1" dirty="0">
                <a:latin typeface="黑体" panose="02010609060101010101" charset="-122"/>
              </a:rPr>
              <a:t>主成分的性质</a:t>
            </a:r>
            <a:endParaRPr lang="zh-CN" altLang="en-US" sz="3200" b="1" dirty="0">
              <a:latin typeface="黑体" panose="02010609060101010101" charset="-122"/>
            </a:endParaRPr>
          </a:p>
        </p:txBody>
      </p:sp>
      <p:sp>
        <p:nvSpPr>
          <p:cNvPr id="33796" name="Rectangle 4"/>
          <p:cNvSpPr/>
          <p:nvPr/>
        </p:nvSpPr>
        <p:spPr>
          <a:xfrm>
            <a:off x="2257426" y="1408114"/>
            <a:ext cx="1897063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latin typeface="黑体" panose="02010609060101010101" charset="-122"/>
              </a:rPr>
              <a:t>一、均值</a:t>
            </a:r>
            <a:endParaRPr lang="zh-CN" altLang="en-US" sz="2800" b="1" dirty="0">
              <a:latin typeface="黑体" panose="02010609060101010101" charset="-122"/>
            </a:endParaRPr>
          </a:p>
        </p:txBody>
      </p:sp>
      <p:sp>
        <p:nvSpPr>
          <p:cNvPr id="33799" name="Rectangle 7"/>
          <p:cNvSpPr/>
          <p:nvPr/>
        </p:nvSpPr>
        <p:spPr>
          <a:xfrm>
            <a:off x="2135189" y="2492375"/>
            <a:ext cx="7127875" cy="5222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just"/>
            <a:r>
              <a:rPr lang="zh-CN" altLang="en-US" sz="2800" b="1" dirty="0">
                <a:latin typeface="黑体" panose="02010609060101010101" charset="-122"/>
              </a:rPr>
              <a:t>二、方差为所有特征根之和</a:t>
            </a:r>
            <a:endParaRPr lang="zh-CN" altLang="en-US" sz="2800" b="1" dirty="0">
              <a:latin typeface="黑体" panose="02010609060101010101" charset="-122"/>
            </a:endParaRPr>
          </a:p>
        </p:txBody>
      </p:sp>
      <p:sp>
        <p:nvSpPr>
          <p:cNvPr id="33800" name="Rectangle 8"/>
          <p:cNvSpPr/>
          <p:nvPr/>
        </p:nvSpPr>
        <p:spPr>
          <a:xfrm>
            <a:off x="1774825" y="3933825"/>
            <a:ext cx="8601627" cy="183101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说明主成分分析把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个随机变量的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总方差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分解成为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个不相关的随机变量的方差之和。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协方差矩阵</a:t>
            </a:r>
            <a:r>
              <a:rPr lang="zh-CN" altLang="en-US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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对角线上的元素之和等于特征根之和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6870" name="Rectangle 14"/>
          <p:cNvSpPr/>
          <p:nvPr/>
        </p:nvSpPr>
        <p:spPr>
          <a:xfrm>
            <a:off x="5791200" y="3205163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graphicFrame>
        <p:nvGraphicFramePr>
          <p:cNvPr id="36871" name="对象 1"/>
          <p:cNvGraphicFramePr/>
          <p:nvPr/>
        </p:nvGraphicFramePr>
        <p:xfrm>
          <a:off x="4795838" y="1311275"/>
          <a:ext cx="314007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21336000" imgH="4876800" progId="Equation.DSMT4">
                  <p:embed/>
                </p:oleObj>
              </mc:Choice>
              <mc:Fallback>
                <p:oleObj name="Equation" r:id="rId1" imgW="21336000" imgH="48768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95838" y="1311275"/>
                        <a:ext cx="3140075" cy="715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对象 3"/>
          <p:cNvGraphicFramePr/>
          <p:nvPr/>
        </p:nvGraphicFramePr>
        <p:xfrm>
          <a:off x="1992313" y="3141663"/>
          <a:ext cx="1795462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812800" imgH="444500" progId="Equation.KSEE3">
                  <p:embed/>
                </p:oleObj>
              </mc:Choice>
              <mc:Fallback>
                <p:oleObj name="" r:id="rId3" imgW="812800" imgH="444500" progId="Equation.KSEE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2313" y="3141663"/>
                        <a:ext cx="1795462" cy="944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对象 1"/>
          <p:cNvGraphicFramePr/>
          <p:nvPr/>
        </p:nvGraphicFramePr>
        <p:xfrm>
          <a:off x="3787776" y="3249613"/>
          <a:ext cx="5173663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2197100" imgH="254000" progId="Equation.KSEE3">
                  <p:embed/>
                </p:oleObj>
              </mc:Choice>
              <mc:Fallback>
                <p:oleObj name="" r:id="rId5" imgW="2197100" imgH="254000" progId="Equation.KSEE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87776" y="3249613"/>
                        <a:ext cx="5173663" cy="728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7890" name="Rectangle 2"/>
          <p:cNvSpPr/>
          <p:nvPr/>
        </p:nvSpPr>
        <p:spPr>
          <a:xfrm>
            <a:off x="1524000" y="533400"/>
            <a:ext cx="9144000" cy="9525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just"/>
            <a:r>
              <a:rPr lang="en-US" altLang="zh-CN" sz="2800" b="1" dirty="0">
                <a:latin typeface="Times New Roman" panose="02020503050405090304" pitchFamily="18" charset="0"/>
              </a:rPr>
              <a:t>     </a:t>
            </a:r>
            <a:r>
              <a:rPr lang="zh-CN" altLang="en-US" sz="2800" b="1" dirty="0">
                <a:latin typeface="Times New Roman" panose="02020503050405090304" pitchFamily="18" charset="0"/>
              </a:rPr>
              <a:t>三、精度分析</a:t>
            </a:r>
            <a:endParaRPr lang="zh-CN" altLang="en-US" sz="2800" dirty="0">
              <a:latin typeface="Times New Roman" panose="02020503050405090304" pitchFamily="18" charset="0"/>
            </a:endParaRPr>
          </a:p>
          <a:p>
            <a:pPr eaLnBrk="0" hangingPunct="0"/>
            <a:endParaRPr lang="en-US" altLang="zh-CN" sz="2800" dirty="0">
              <a:latin typeface="Times New Roman" panose="02020503050405090304" pitchFamily="18" charset="0"/>
            </a:endParaRPr>
          </a:p>
        </p:txBody>
      </p:sp>
      <p:sp>
        <p:nvSpPr>
          <p:cNvPr id="117763" name="Rectangle 3"/>
          <p:cNvSpPr/>
          <p:nvPr/>
        </p:nvSpPr>
        <p:spPr>
          <a:xfrm>
            <a:off x="1524000" y="1341438"/>
            <a:ext cx="8763000" cy="18986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    1</a:t>
            </a:r>
            <a:r>
              <a:rPr lang="zh-CN" altLang="en-US" sz="2800" dirty="0">
                <a:latin typeface="Times New Roman" panose="02020503050405090304" pitchFamily="18" charset="0"/>
              </a:rPr>
              <a:t>）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贡献率</a:t>
            </a:r>
            <a:r>
              <a:rPr lang="zh-CN" altLang="en-US" sz="2800" dirty="0">
                <a:latin typeface="Times New Roman" panose="02020503050405090304" pitchFamily="18" charset="0"/>
              </a:rPr>
              <a:t>：第</a:t>
            </a:r>
            <a:r>
              <a:rPr lang="en-US" altLang="zh-CN" sz="2800" i="1" dirty="0">
                <a:latin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</a:rPr>
              <a:t>个主成分的方差在全部方差中所占比重                ，称为贡献率 ，反映了原来</a:t>
            </a:r>
            <a:r>
              <a:rPr lang="en-US" altLang="zh-CN" sz="2800" i="1" dirty="0">
                <a:latin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</a:rPr>
              <a:t>个指标多大的信息，有多大的综合能力 。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117765" name="Rectangle 5"/>
          <p:cNvSpPr/>
          <p:nvPr/>
        </p:nvSpPr>
        <p:spPr>
          <a:xfrm>
            <a:off x="1847850" y="3573463"/>
            <a:ext cx="8458200" cy="299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45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503050405090304" pitchFamily="18" charset="0"/>
              </a:rPr>
              <a:t>  2</a:t>
            </a:r>
            <a:r>
              <a:rPr lang="zh-CN" altLang="en-US" sz="2800" dirty="0">
                <a:latin typeface="Times New Roman" panose="02020503050405090304" pitchFamily="18" charset="0"/>
              </a:rPr>
              <a:t>）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累积贡献率</a:t>
            </a:r>
            <a:r>
              <a:rPr lang="zh-CN" altLang="en-US" sz="2800" dirty="0">
                <a:latin typeface="Times New Roman" panose="02020503050405090304" pitchFamily="18" charset="0"/>
              </a:rPr>
              <a:t>：前</a:t>
            </a:r>
            <a:r>
              <a:rPr lang="en-US" altLang="zh-CN" sz="2800" i="1" dirty="0">
                <a:latin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</a:rPr>
              <a:t>个主成分共有多大的综合能力，用这</a:t>
            </a:r>
            <a:r>
              <a:rPr lang="en-US" altLang="zh-CN" sz="2800" i="1" dirty="0">
                <a:latin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</a:rPr>
              <a:t>个主成分的方差和在全部方差中所占比重</a:t>
            </a:r>
            <a:endParaRPr lang="zh-CN" altLang="en-US" sz="2800" dirty="0">
              <a:latin typeface="Times New Roman" panose="02020503050405090304" pitchFamily="18" charset="0"/>
            </a:endParaRPr>
          </a:p>
          <a:p>
            <a:pPr>
              <a:lnSpc>
                <a:spcPct val="145000"/>
              </a:lnSpc>
              <a:spcBef>
                <a:spcPct val="50000"/>
              </a:spcBef>
            </a:pPr>
            <a:endParaRPr lang="zh-CN" altLang="en-US" sz="2800" dirty="0">
              <a:latin typeface="Times New Roman" panose="02020503050405090304" pitchFamily="18" charset="0"/>
            </a:endParaRPr>
          </a:p>
          <a:p>
            <a:pPr>
              <a:lnSpc>
                <a:spcPct val="14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503050405090304" pitchFamily="18" charset="0"/>
              </a:rPr>
              <a:t>来描述，称为累积贡献率。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37893" name="对象 1"/>
          <p:cNvGraphicFramePr/>
          <p:nvPr/>
        </p:nvGraphicFramePr>
        <p:xfrm>
          <a:off x="2024063" y="1865314"/>
          <a:ext cx="12446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84200" imgH="444500" progId="Equation.KSEE3">
                  <p:embed/>
                </p:oleObj>
              </mc:Choice>
              <mc:Fallback>
                <p:oleObj name="" r:id="rId1" imgW="584200" imgH="444500" progId="Equation.KSEE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24063" y="1865314"/>
                        <a:ext cx="1244600" cy="839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对象 3"/>
          <p:cNvGraphicFramePr/>
          <p:nvPr/>
        </p:nvGraphicFramePr>
        <p:xfrm>
          <a:off x="4143376" y="4916488"/>
          <a:ext cx="182562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800100" imgH="444500" progId="Equation.KSEE3">
                  <p:embed/>
                </p:oleObj>
              </mc:Choice>
              <mc:Fallback>
                <p:oleObj name="" r:id="rId3" imgW="800100" imgH="444500" progId="Equation.KSEE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43376" y="4916488"/>
                        <a:ext cx="1825625" cy="90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4818" name="Rectangle 1026"/>
          <p:cNvSpPr/>
          <p:nvPr/>
        </p:nvSpPr>
        <p:spPr>
          <a:xfrm>
            <a:off x="1043940" y="1341438"/>
            <a:ext cx="9144000" cy="37646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>
              <a:lnSpc>
                <a:spcPct val="145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我们进行主成分分析的目的之一是希望用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尽可能少的主成分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i="1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≤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代替原来的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个指标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45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到底应该选择多少个主成分，在实际工作中，主成分个数的多少取决于能够反映原来变量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70%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以上的信息量为依据，即当累积贡献率≥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70%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时的主成分的个数就足够了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45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最常见的情况是主成分为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到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个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8915" name="Rectangle 1028"/>
          <p:cNvSpPr/>
          <p:nvPr/>
        </p:nvSpPr>
        <p:spPr>
          <a:xfrm>
            <a:off x="5681663" y="3205163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xfrm>
            <a:off x="1974850" y="323850"/>
            <a:ext cx="8242300" cy="757238"/>
          </a:xfrm>
        </p:spPr>
        <p:txBody>
          <a:bodyPr vert="horz" wrap="square" lIns="91440" tIns="45720" rIns="91440" bIns="45720" anchor="b"/>
          <a:lstStyle/>
          <a:p>
            <a:r>
              <a:rPr lang="zh-CN" altLang="en-US" sz="3200" dirty="0">
                <a:solidFill>
                  <a:schemeClr val="tx1"/>
                </a:solidFill>
              </a:rPr>
              <a:t>四、原始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</a:rPr>
              <a:t>变量与主成分之间的相关系数</a:t>
            </a:r>
            <a:endParaRPr lang="zh-CN" altLang="en-US" sz="3200" b="1" dirty="0">
              <a:solidFill>
                <a:schemeClr val="tx1"/>
              </a:solidFill>
              <a:latin typeface="宋体" pitchFamily="2" charset="-122"/>
              <a:ea typeface="Times New Roman" panose="02020503050405090304" pitchFamily="18" charset="0"/>
            </a:endParaRPr>
          </a:p>
        </p:txBody>
      </p:sp>
      <p:sp>
        <p:nvSpPr>
          <p:cNvPr id="399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9939" name="Rectangle 9"/>
          <p:cNvSpPr/>
          <p:nvPr/>
        </p:nvSpPr>
        <p:spPr>
          <a:xfrm>
            <a:off x="5038725" y="2962275"/>
            <a:ext cx="9144000" cy="369332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graphicFrame>
        <p:nvGraphicFramePr>
          <p:cNvPr id="285700" name="Object 4"/>
          <p:cNvGraphicFramePr/>
          <p:nvPr/>
        </p:nvGraphicFramePr>
        <p:xfrm>
          <a:off x="2174876" y="1512889"/>
          <a:ext cx="47720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987800" imgH="469900" progId="Equation.3">
                  <p:embed/>
                </p:oleObj>
              </mc:Choice>
              <mc:Fallback>
                <p:oleObj name="" r:id="rId1" imgW="3987800" imgH="4699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74876" y="1512889"/>
                        <a:ext cx="4772025" cy="739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对象 1"/>
          <p:cNvGraphicFramePr/>
          <p:nvPr/>
        </p:nvGraphicFramePr>
        <p:xfrm>
          <a:off x="7199314" y="1636714"/>
          <a:ext cx="324167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219200" imgH="203200" progId="Equation.KSEE3">
                  <p:embed/>
                </p:oleObj>
              </mc:Choice>
              <mc:Fallback>
                <p:oleObj name="" r:id="rId3" imgW="1219200" imgH="203200" progId="Equation.KSEE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99314" y="1636714"/>
                        <a:ext cx="3241675" cy="490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对象 3"/>
          <p:cNvGraphicFramePr/>
          <p:nvPr/>
        </p:nvGraphicFramePr>
        <p:xfrm>
          <a:off x="3422650" y="2498725"/>
          <a:ext cx="1371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3411200" imgH="4267200" progId="Equation.DSMT4">
                  <p:embed/>
                </p:oleObj>
              </mc:Choice>
              <mc:Fallback>
                <p:oleObj name="Equation" r:id="rId5" imgW="13411200" imgH="42672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22650" y="2498725"/>
                        <a:ext cx="1371600" cy="4635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对象 5"/>
          <p:cNvGraphicFramePr/>
          <p:nvPr/>
        </p:nvGraphicFramePr>
        <p:xfrm>
          <a:off x="5834063" y="2498725"/>
          <a:ext cx="138271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12801600" imgH="4267200" progId="Equation.DSMT4">
                  <p:embed/>
                </p:oleObj>
              </mc:Choice>
              <mc:Fallback>
                <p:oleObj name="Equation" r:id="rId7" imgW="12801600" imgH="42672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34063" y="2498725"/>
                        <a:ext cx="1382712" cy="4984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对象 7"/>
          <p:cNvGraphicFramePr/>
          <p:nvPr/>
        </p:nvGraphicFramePr>
        <p:xfrm>
          <a:off x="2994026" y="3413126"/>
          <a:ext cx="5318125" cy="294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2159000" imgH="939800" progId="Equation.DSMT4">
                  <p:embed/>
                </p:oleObj>
              </mc:Choice>
              <mc:Fallback>
                <p:oleObj name="" r:id="rId9" imgW="2159000" imgH="9398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94026" y="3413126"/>
                        <a:ext cx="5318125" cy="294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260102" name="Rectangle 6"/>
          <p:cNvSpPr/>
          <p:nvPr/>
        </p:nvSpPr>
        <p:spPr>
          <a:xfrm>
            <a:off x="632460" y="4021138"/>
            <a:ext cx="10721340" cy="1066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50000"/>
              </a:lnSpc>
              <a:buClr>
                <a:schemeClr val="hlink"/>
              </a:buClr>
              <a:buSzPct val="120000"/>
            </a:pPr>
            <a:r>
              <a:rPr lang="en-US" altLang="zh-CN" sz="3200" dirty="0">
                <a:latin typeface="Tahoma" panose="020B0604030504040204" pitchFamily="34" charset="0"/>
              </a:rPr>
              <a:t>      </a:t>
            </a:r>
            <a:r>
              <a:rPr lang="zh-CN" altLang="en-US" sz="3200" dirty="0">
                <a:latin typeface="Tahoma" panose="020B0604030504040204" pitchFamily="34" charset="0"/>
              </a:rPr>
              <a:t>可见，  和    的相关的密切程度取决于对应线性组合</a:t>
            </a:r>
            <a:r>
              <a:rPr lang="zh-CN" altLang="en-US" sz="3200" dirty="0">
                <a:solidFill>
                  <a:srgbClr val="FF0000"/>
                </a:solidFill>
                <a:latin typeface="Tahoma" panose="020B0604030504040204" pitchFamily="34" charset="0"/>
              </a:rPr>
              <a:t>系数</a:t>
            </a:r>
            <a:r>
              <a:rPr lang="zh-CN" altLang="en-US" sz="3200" dirty="0">
                <a:latin typeface="Tahoma" panose="020B0604030504040204" pitchFamily="34" charset="0"/>
              </a:rPr>
              <a:t>的大小</a:t>
            </a:r>
            <a:endParaRPr lang="zh-CN" altLang="en-US" sz="3200" dirty="0">
              <a:latin typeface="Tahoma" panose="020B0604030504040204" pitchFamily="34" charset="0"/>
            </a:endParaRPr>
          </a:p>
        </p:txBody>
      </p:sp>
      <p:graphicFrame>
        <p:nvGraphicFramePr>
          <p:cNvPr id="40963" name="对象 1"/>
          <p:cNvGraphicFramePr/>
          <p:nvPr/>
        </p:nvGraphicFramePr>
        <p:xfrm>
          <a:off x="2035175" y="1471295"/>
          <a:ext cx="81216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645400" imgH="469900" progId="Equation.DSMT4">
                  <p:embed/>
                </p:oleObj>
              </mc:Choice>
              <mc:Fallback>
                <p:oleObj name="" r:id="rId1" imgW="7645400" imgH="4699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35175" y="1471295"/>
                        <a:ext cx="81216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对象 3"/>
          <p:cNvGraphicFramePr/>
          <p:nvPr/>
        </p:nvGraphicFramePr>
        <p:xfrm>
          <a:off x="3856039" y="2439671"/>
          <a:ext cx="4281487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752600" imgH="533400" progId="Equation.KSEE3">
                  <p:embed/>
                </p:oleObj>
              </mc:Choice>
              <mc:Fallback>
                <p:oleObj name="" r:id="rId3" imgW="1752600" imgH="533400" progId="Equation.KSEE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6039" y="2439671"/>
                        <a:ext cx="4281487" cy="159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对象 1"/>
          <p:cNvGraphicFramePr/>
          <p:nvPr/>
        </p:nvGraphicFramePr>
        <p:xfrm>
          <a:off x="2478089" y="4098609"/>
          <a:ext cx="57308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152400" imgH="228600" progId="Equation.KSEE3">
                  <p:embed/>
                </p:oleObj>
              </mc:Choice>
              <mc:Fallback>
                <p:oleObj name="" r:id="rId5" imgW="152400" imgH="228600" progId="Equation.KSEE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78089" y="4098609"/>
                        <a:ext cx="573087" cy="74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对象 3"/>
          <p:cNvGraphicFramePr/>
          <p:nvPr/>
        </p:nvGraphicFramePr>
        <p:xfrm>
          <a:off x="3370264" y="4208147"/>
          <a:ext cx="48577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177165" imgH="241300" progId="Equation.KSEE3">
                  <p:embed/>
                </p:oleObj>
              </mc:Choice>
              <mc:Fallback>
                <p:oleObj name="" r:id="rId7" imgW="177165" imgH="241300" progId="Equation.KSEE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70264" y="4208147"/>
                        <a:ext cx="485775" cy="636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对象 5"/>
          <p:cNvGraphicFramePr/>
          <p:nvPr/>
        </p:nvGraphicFramePr>
        <p:xfrm>
          <a:off x="5405438" y="702945"/>
          <a:ext cx="138271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2801600" imgH="4267200" progId="Equation.DSMT4">
                  <p:embed/>
                </p:oleObj>
              </mc:Choice>
              <mc:Fallback>
                <p:oleObj name="Equation" r:id="rId9" imgW="12801600" imgH="42672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05438" y="702945"/>
                        <a:ext cx="1382712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/>
          </p:nvPr>
        </p:nvSpPr>
        <p:spPr>
          <a:xfrm>
            <a:off x="2058989" y="280989"/>
            <a:ext cx="8243887" cy="877887"/>
          </a:xfrm>
        </p:spPr>
        <p:txBody>
          <a:bodyPr vert="horz" wrap="square" lIns="91440" tIns="45720" rIns="91440" bIns="45720" anchor="b"/>
          <a:lstStyle/>
          <a:p>
            <a:r>
              <a:rPr lang="zh-CN" altLang="en-US" sz="3200" dirty="0">
                <a:solidFill>
                  <a:schemeClr val="tx1"/>
                </a:solidFill>
              </a:rPr>
              <a:t>五、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</a:rPr>
              <a:t>原始变量被主成分的提取率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754380" y="1250950"/>
            <a:ext cx="9548495" cy="5105400"/>
          </a:xfrm>
        </p:spPr>
        <p:txBody>
          <a:bodyPr vert="horz" wrap="square" lIns="91440" tIns="45720" rIns="91440" bIns="45720" anchor="t"/>
          <a:lstStyle/>
          <a:p>
            <a:pPr algn="just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前面我们讨论了主成分的贡献率和累计贡献率，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度量了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</a:rPr>
              <a:t>F</a:t>
            </a:r>
            <a:r>
              <a:rPr lang="en-US" altLang="zh-CN" sz="2800" b="1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</a:rPr>
              <a:t>F</a:t>
            </a:r>
            <a:r>
              <a:rPr lang="en-US" altLang="zh-CN" sz="2800" b="1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…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b="1" i="1" dirty="0" err="1">
                <a:solidFill>
                  <a:schemeClr val="tx1"/>
                </a:solidFill>
                <a:latin typeface="Times New Roman" panose="02020503050405090304" pitchFamily="18" charset="0"/>
              </a:rPr>
              <a:t>F</a:t>
            </a:r>
            <a:r>
              <a:rPr lang="en-US" altLang="zh-CN" sz="2800" b="1" i="1" baseline="-30000" dirty="0" err="1">
                <a:solidFill>
                  <a:schemeClr val="tx1"/>
                </a:solidFill>
                <a:latin typeface="Times New Roman" panose="02020503050405090304" pitchFamily="18" charset="0"/>
              </a:rPr>
              <a:t>k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分别从原始变量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b="1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b="1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…, </a:t>
            </a:r>
            <a:r>
              <a:rPr lang="en-US" altLang="zh-CN" sz="2800" b="1" i="1" dirty="0" err="1">
                <a:solidFill>
                  <a:schemeClr val="tx1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b="1" i="1" baseline="-30000" dirty="0" err="1">
                <a:solidFill>
                  <a:schemeClr val="tx1"/>
                </a:solidFill>
                <a:latin typeface="Times New Roman" panose="02020503050405090304" pitchFamily="18" charset="0"/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中提取了多少信息</a:t>
            </a:r>
            <a:endParaRPr lang="en-US" altLang="zh-CN" sz="2800" b="1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       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那么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b="1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b="1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 …, </a:t>
            </a:r>
            <a:r>
              <a:rPr lang="en-US" altLang="zh-CN" sz="2800" b="1" i="1" dirty="0" err="1">
                <a:solidFill>
                  <a:schemeClr val="tx1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b="1" i="1" baseline="-30000" dirty="0" err="1">
                <a:solidFill>
                  <a:schemeClr val="tx1"/>
                </a:solidFill>
                <a:latin typeface="Times New Roman" panose="02020503050405090304" pitchFamily="18" charset="0"/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各有多少信息分别被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</a:rPr>
              <a:t>F</a:t>
            </a:r>
            <a:r>
              <a:rPr lang="en-US" altLang="zh-CN" sz="2800" b="1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</a:rPr>
              <a:t>F</a:t>
            </a:r>
            <a:r>
              <a:rPr lang="en-US" altLang="zh-CN" sz="2800" b="1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…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b="1" i="1" dirty="0" err="1">
                <a:solidFill>
                  <a:schemeClr val="tx1"/>
                </a:solidFill>
                <a:latin typeface="Times New Roman" panose="02020503050405090304" pitchFamily="18" charset="0"/>
              </a:rPr>
              <a:t>F</a:t>
            </a:r>
            <a:r>
              <a:rPr lang="en-US" altLang="zh-CN" sz="2800" b="1" i="1" baseline="-30000" dirty="0" err="1">
                <a:solidFill>
                  <a:schemeClr val="tx1"/>
                </a:solidFill>
                <a:latin typeface="Times New Roman" panose="02020503050405090304" pitchFamily="18" charset="0"/>
              </a:rPr>
              <a:t>k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提取了？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应该用什么指标来度量？</a:t>
            </a:r>
            <a:endParaRPr lang="en-US" altLang="zh-CN" sz="28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    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我们考虑到当讨论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</a:rPr>
              <a:t>F</a:t>
            </a:r>
            <a:r>
              <a:rPr lang="en-US" altLang="zh-CN" sz="2800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分别与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 …, 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i="1" baseline="-30000" dirty="0" err="1">
                <a:solidFill>
                  <a:schemeClr val="tx1"/>
                </a:solidFill>
                <a:latin typeface="Times New Roman" panose="02020503050405090304" pitchFamily="18" charset="0"/>
              </a:rPr>
              <a:t>p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的关系时，可以讨论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</a:rPr>
              <a:t>F</a:t>
            </a:r>
            <a:r>
              <a:rPr lang="en-US" altLang="zh-CN" sz="2800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分别与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baseline="-30000" dirty="0">
                <a:solidFill>
                  <a:schemeClr val="tx1"/>
                </a:solidFill>
                <a:latin typeface="Times New Roman" panose="02020503050405090304" pitchFamily="18" charset="0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 …, 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i="1" baseline="-30000" dirty="0" err="1">
                <a:solidFill>
                  <a:schemeClr val="tx1"/>
                </a:solidFill>
                <a:latin typeface="Times New Roman" panose="02020503050405090304" pitchFamily="18" charset="0"/>
              </a:rPr>
              <a:t>p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的相关系数，但是由于相关系数有正有负，所以只有考虑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相关系数的平方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4198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8" name="Rectangle 10"/>
          <p:cNvSpPr>
            <a:spLocks noGrp="1"/>
          </p:cNvSpPr>
          <p:nvPr>
            <p:ph idx="1"/>
          </p:nvPr>
        </p:nvSpPr>
        <p:spPr>
          <a:xfrm>
            <a:off x="1524000" y="3644901"/>
            <a:ext cx="8840788" cy="1368425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   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如果我们仅仅提出了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</a:rPr>
              <a:t>k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个主成分，则第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</a:rPr>
              <a:t>原始变量信息的被提取率为：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430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8381" name="Rectangle 13"/>
          <p:cNvSpPr/>
          <p:nvPr/>
        </p:nvSpPr>
        <p:spPr>
          <a:xfrm>
            <a:off x="3719514" y="2276475"/>
            <a:ext cx="5431295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</a:rPr>
              <a:t>是</a:t>
            </a:r>
            <a:r>
              <a:rPr lang="en-US" altLang="zh-CN" sz="2800" i="1" dirty="0">
                <a:latin typeface="Times New Roman" panose="02020503050405090304" pitchFamily="18" charset="0"/>
              </a:rPr>
              <a:t>F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j </a:t>
            </a:r>
            <a:r>
              <a:rPr lang="zh-CN" altLang="en-US" sz="2800" dirty="0">
                <a:latin typeface="Times New Roman" panose="02020503050405090304" pitchFamily="18" charset="0"/>
              </a:rPr>
              <a:t>能说明的第</a:t>
            </a:r>
            <a:r>
              <a:rPr lang="en-US" altLang="zh-CN" sz="2800" i="1" dirty="0">
                <a:latin typeface="Times New Roman" panose="02020503050405090304" pitchFamily="18" charset="0"/>
              </a:rPr>
              <a:t>i</a:t>
            </a:r>
            <a:r>
              <a:rPr lang="en-US" altLang="zh-CN" sz="2800" dirty="0">
                <a:latin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</a:rPr>
              <a:t>原始变量的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方差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58382" name="Rectangle 14"/>
          <p:cNvSpPr/>
          <p:nvPr/>
        </p:nvSpPr>
        <p:spPr>
          <a:xfrm>
            <a:off x="4079875" y="2924175"/>
            <a:ext cx="5790368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</a:rPr>
              <a:t>是</a:t>
            </a:r>
            <a:r>
              <a:rPr lang="en-US" altLang="zh-CN" sz="2800" i="1" dirty="0">
                <a:latin typeface="Times New Roman" panose="02020503050405090304" pitchFamily="18" charset="0"/>
              </a:rPr>
              <a:t>F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j</a:t>
            </a:r>
            <a:r>
              <a:rPr lang="en-US" altLang="zh-CN" sz="2800" dirty="0">
                <a:latin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</a:rPr>
              <a:t>提取的第</a:t>
            </a:r>
            <a:r>
              <a:rPr lang="en-US" altLang="zh-CN" sz="2800" i="1" dirty="0">
                <a:latin typeface="Times New Roman" panose="02020503050405090304" pitchFamily="18" charset="0"/>
              </a:rPr>
              <a:t>i</a:t>
            </a:r>
            <a:r>
              <a:rPr lang="en-US" altLang="zh-CN" sz="2800" dirty="0">
                <a:latin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</a:rPr>
              <a:t>原始变量信息的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比重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43014" name="对象 1"/>
          <p:cNvGraphicFramePr/>
          <p:nvPr/>
        </p:nvGraphicFramePr>
        <p:xfrm>
          <a:off x="3046413" y="566739"/>
          <a:ext cx="56705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689600" imgH="469900" progId="Equation.DSMT4">
                  <p:embed/>
                </p:oleObj>
              </mc:Choice>
              <mc:Fallback>
                <p:oleObj name="" r:id="rId1" imgW="5689600" imgH="4699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6413" y="566739"/>
                        <a:ext cx="5670550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对象 3"/>
          <p:cNvGraphicFramePr/>
          <p:nvPr/>
        </p:nvGraphicFramePr>
        <p:xfrm>
          <a:off x="3132138" y="1377950"/>
          <a:ext cx="562451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35331200" imgH="12192000" progId="Equation.DSMT4">
                  <p:embed/>
                </p:oleObj>
              </mc:Choice>
              <mc:Fallback>
                <p:oleObj name="Equation" r:id="rId3" imgW="135331200" imgH="121920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2138" y="1377950"/>
                        <a:ext cx="5624512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对象 1"/>
          <p:cNvGraphicFramePr/>
          <p:nvPr/>
        </p:nvGraphicFramePr>
        <p:xfrm>
          <a:off x="4196821" y="4824414"/>
          <a:ext cx="3369733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37795200" imgH="10668000" progId="Equation.DSMT4">
                  <p:embed/>
                </p:oleObj>
              </mc:Choice>
              <mc:Fallback>
                <p:oleObj name="Equation" r:id="rId5" imgW="37795200" imgH="106680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6821" y="4824414"/>
                        <a:ext cx="3369733" cy="9096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对象 3"/>
          <p:cNvGraphicFramePr/>
          <p:nvPr/>
        </p:nvGraphicFramePr>
        <p:xfrm>
          <a:off x="2501901" y="2081213"/>
          <a:ext cx="1217613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797560" imgH="557530" progId="Equation.KSEE3">
                  <p:embed/>
                </p:oleObj>
              </mc:Choice>
              <mc:Fallback>
                <p:oleObj name="" r:id="rId7" imgW="797560" imgH="557530" progId="Equation.KSEE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01901" y="2081213"/>
                        <a:ext cx="1217613" cy="7175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8" name="对象 5"/>
          <p:cNvGraphicFramePr/>
          <p:nvPr/>
        </p:nvGraphicFramePr>
        <p:xfrm>
          <a:off x="2322513" y="2924176"/>
          <a:ext cx="1757362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1689100" imgH="673100" progId="Equation.KSEE3">
                  <p:embed/>
                </p:oleObj>
              </mc:Choice>
              <mc:Fallback>
                <p:oleObj name="" r:id="rId9" imgW="1689100" imgH="673100" progId="Equation.KSEE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22513" y="2924176"/>
                        <a:ext cx="1757362" cy="7604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520" y="-48986"/>
            <a:ext cx="8726959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082643" y="159981"/>
            <a:ext cx="3347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5"/>
                </a:solidFill>
              </a:rPr>
              <a:t>1</a:t>
            </a:r>
            <a:endParaRPr lang="zh-CN" altLang="en-US" b="1" dirty="0">
              <a:solidFill>
                <a:schemeClr val="accent5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82643" y="595988"/>
            <a:ext cx="4163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5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30000" dirty="0">
                <a:solidFill>
                  <a:schemeClr val="accent5"/>
                </a:solidFill>
                <a:sym typeface="Symbol" panose="05050102010706020507" pitchFamily="18" charset="2"/>
              </a:rPr>
              <a:t>*</a:t>
            </a:r>
            <a:r>
              <a:rPr lang="en-US" altLang="zh-CN" b="1" i="1" baseline="-25000" dirty="0" err="1">
                <a:solidFill>
                  <a:schemeClr val="accent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i</a:t>
            </a:r>
            <a:endParaRPr lang="zh-CN" altLang="en-US" b="1" i="1" baseline="-25000" dirty="0">
              <a:solidFill>
                <a:schemeClr val="accent5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11615" y="6439682"/>
            <a:ext cx="276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944620" y="6395811"/>
            <a:ext cx="276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6323" name="Rectangle 3"/>
          <p:cNvSpPr/>
          <p:nvPr/>
        </p:nvSpPr>
        <p:spPr>
          <a:xfrm>
            <a:off x="356235" y="228600"/>
            <a:ext cx="11479530" cy="107632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zh-CN" altLang="en-US" sz="3600" b="1" dirty="0">
                <a:latin typeface="宋体" pitchFamily="2" charset="-122"/>
              </a:rPr>
              <a:t>例</a:t>
            </a:r>
            <a:r>
              <a:rPr lang="en-US" altLang="zh-CN" sz="3600" b="1" dirty="0">
                <a:latin typeface="宋体" pitchFamily="2" charset="-122"/>
              </a:rPr>
              <a:t>7.3.1</a:t>
            </a:r>
            <a:r>
              <a:rPr lang="zh-CN" altLang="en-US" sz="2800" dirty="0">
                <a:latin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宋体" pitchFamily="2" charset="-122"/>
              </a:rPr>
              <a:t>设          </a:t>
            </a:r>
            <a:r>
              <a:rPr lang="en-US" altLang="zh-CN" sz="2800" dirty="0">
                <a:latin typeface="宋体" pitchFamily="2" charset="-122"/>
              </a:rPr>
              <a:t>         </a:t>
            </a:r>
            <a:r>
              <a:rPr lang="zh-CN" altLang="en-US" sz="2800" dirty="0">
                <a:latin typeface="宋体" pitchFamily="2" charset="-122"/>
              </a:rPr>
              <a:t>的协方差矩阵为</a:t>
            </a:r>
            <a:r>
              <a:rPr lang="en-US" altLang="zh-CN" sz="2800" dirty="0">
                <a:latin typeface="宋体" pitchFamily="2" charset="-122"/>
              </a:rPr>
              <a:t>,</a:t>
            </a:r>
            <a:r>
              <a:rPr lang="zh-CN" altLang="en-US" sz="2800" dirty="0">
                <a:latin typeface="宋体" pitchFamily="2" charset="-122"/>
              </a:rPr>
              <a:t>试求主成分分析，并求出每个主成分的贡献率及每个原始变量的信息提取率  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44035" name="Rectangle 5"/>
          <p:cNvSpPr/>
          <p:nvPr/>
        </p:nvSpPr>
        <p:spPr>
          <a:xfrm>
            <a:off x="5505450" y="3071813"/>
            <a:ext cx="9144000" cy="369332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56329" name="Rectangle 9"/>
          <p:cNvSpPr/>
          <p:nvPr/>
        </p:nvSpPr>
        <p:spPr>
          <a:xfrm>
            <a:off x="1982789" y="2855341"/>
            <a:ext cx="2420937" cy="5222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zh-CN" altLang="en-US" sz="2800" dirty="0">
                <a:latin typeface="宋体" pitchFamily="2" charset="-122"/>
              </a:rPr>
              <a:t>解得特征根为      </a:t>
            </a:r>
            <a:endParaRPr lang="en-US" altLang="zh-CN" sz="2800" dirty="0">
              <a:latin typeface="Times New Roman" panose="02020503050405090304" pitchFamily="18" charset="0"/>
            </a:endParaRPr>
          </a:p>
        </p:txBody>
      </p:sp>
      <p:sp>
        <p:nvSpPr>
          <p:cNvPr id="56334" name="Rectangle 14"/>
          <p:cNvSpPr/>
          <p:nvPr/>
        </p:nvSpPr>
        <p:spPr>
          <a:xfrm>
            <a:off x="1112520" y="5199571"/>
            <a:ext cx="9860280" cy="138499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en-US" altLang="zh-CN" sz="2800" dirty="0">
                <a:latin typeface="宋体" pitchFamily="2" charset="-122"/>
              </a:rPr>
              <a:t>    </a:t>
            </a:r>
            <a:r>
              <a:rPr lang="zh-CN" altLang="en-US" sz="2800" dirty="0">
                <a:latin typeface="宋体" pitchFamily="2" charset="-122"/>
              </a:rPr>
              <a:t>第一个主成分的贡献率为</a:t>
            </a:r>
            <a:r>
              <a:rPr lang="en-US" altLang="zh-CN" sz="2800" dirty="0">
                <a:latin typeface="Times New Roman" panose="02020503050405090304" pitchFamily="18" charset="0"/>
              </a:rPr>
              <a:t>5.82/</a:t>
            </a:r>
            <a:r>
              <a:rPr lang="en-US" altLang="zh-CN" sz="2800" dirty="0">
                <a:latin typeface="宋体" pitchFamily="2" charset="-122"/>
              </a:rPr>
              <a:t>(</a:t>
            </a:r>
            <a:r>
              <a:rPr lang="en-US" altLang="zh-CN" sz="2800" dirty="0">
                <a:latin typeface="Times New Roman" panose="02020503050405090304" pitchFamily="18" charset="0"/>
              </a:rPr>
              <a:t>5.82+2.00+0.18</a:t>
            </a:r>
            <a:r>
              <a:rPr lang="en-US" altLang="zh-CN" sz="2800" dirty="0">
                <a:latin typeface="宋体" pitchFamily="2" charset="-122"/>
              </a:rPr>
              <a:t>)</a:t>
            </a:r>
            <a:r>
              <a:rPr lang="en-US" altLang="zh-CN" sz="2800" dirty="0">
                <a:latin typeface="Times New Roman" panose="02020503050405090304" pitchFamily="18" charset="0"/>
              </a:rPr>
              <a:t>=72.8%</a:t>
            </a:r>
            <a:r>
              <a:rPr lang="zh-CN" altLang="en-US" sz="2800" dirty="0">
                <a:latin typeface="Times New Roman" panose="02020503050405090304" pitchFamily="18" charset="0"/>
              </a:rPr>
              <a:t>，尽管</a:t>
            </a:r>
            <a:r>
              <a:rPr lang="zh-CN" altLang="en-US" sz="2800" dirty="0">
                <a:latin typeface="宋体" pitchFamily="2" charset="-122"/>
              </a:rPr>
              <a:t>第一个主成分的贡献率并不小，但在本题中第一主成分不含第三个原始变量的信息，所以应该取两个主成分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44038" name="对象 1"/>
          <p:cNvGraphicFramePr/>
          <p:nvPr/>
        </p:nvGraphicFramePr>
        <p:xfrm>
          <a:off x="2298928" y="228601"/>
          <a:ext cx="17684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720850" imgH="670560" progId="Equation.KSEE3">
                  <p:embed/>
                </p:oleObj>
              </mc:Choice>
              <mc:Fallback>
                <p:oleObj name="" r:id="rId1" imgW="1720850" imgH="670560" progId="Equation.KSEE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98928" y="228601"/>
                        <a:ext cx="1768475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对象 3"/>
          <p:cNvGraphicFramePr/>
          <p:nvPr/>
        </p:nvGraphicFramePr>
        <p:xfrm>
          <a:off x="4067175" y="1229741"/>
          <a:ext cx="300355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2451100" imgH="1513205" progId="Equation.KSEE3">
                  <p:embed/>
                </p:oleObj>
              </mc:Choice>
              <mc:Fallback>
                <p:oleObj name="" r:id="rId3" imgW="2451100" imgH="1513205" progId="Equation.KSEE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67175" y="1229741"/>
                        <a:ext cx="3003550" cy="162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4040" name="对象 5"/>
              <p:cNvSpPr txBox="1"/>
              <p:nvPr/>
            </p:nvSpPr>
            <p:spPr>
              <a:xfrm>
                <a:off x="4363570" y="2855912"/>
                <a:ext cx="5918199" cy="70273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44040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570" y="2855912"/>
                <a:ext cx="5918199" cy="702735"/>
              </a:xfrm>
              <a:prstGeom prst="rect">
                <a:avLst/>
              </a:prstGeom>
              <a:blipFill rotWithShape="1">
                <a:blip r:embed="rId5"/>
                <a:stretch>
                  <a:fillRect l="-8" t="-45" r="8" b="15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041" name="对象 7"/>
          <p:cNvGraphicFramePr/>
          <p:nvPr/>
        </p:nvGraphicFramePr>
        <p:xfrm>
          <a:off x="3136900" y="3515741"/>
          <a:ext cx="5918200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6" imgW="2552700" imgH="711200" progId="Equation.KSEE3">
                  <p:embed/>
                </p:oleObj>
              </mc:Choice>
              <mc:Fallback>
                <p:oleObj name="" r:id="rId6" imgW="2552700" imgH="711200" progId="Equation.KSEE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36900" y="3515741"/>
                        <a:ext cx="5918200" cy="1530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9" grpId="0"/>
      <p:bldP spid="56334" grpId="0"/>
      <p:bldP spid="440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21515" name="表格 21514"/>
          <p:cNvGraphicFramePr/>
          <p:nvPr/>
        </p:nvGraphicFramePr>
        <p:xfrm>
          <a:off x="1524000" y="396240"/>
          <a:ext cx="8839200" cy="3142599"/>
        </p:xfrm>
        <a:graphic>
          <a:graphicData uri="http://schemas.openxmlformats.org/drawingml/2006/table">
            <a:tbl>
              <a:tblPr/>
              <a:tblGrid>
                <a:gridCol w="685800"/>
                <a:gridCol w="2667000"/>
                <a:gridCol w="1295400"/>
                <a:gridCol w="1981200"/>
                <a:gridCol w="990600"/>
                <a:gridCol w="1219200"/>
              </a:tblGrid>
              <a:tr h="89177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i="1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lang="en-US" altLang="zh-CN" i="1" baseline="-250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i</a:t>
                      </a:r>
                      <a:r>
                        <a:rPr lang="zh-CN" altLang="en-US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与</a:t>
                      </a:r>
                      <a:r>
                        <a:rPr lang="en-US" altLang="zh-CN" i="1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F</a:t>
                      </a:r>
                      <a:r>
                        <a:rPr lang="en-US" altLang="zh-CN" baseline="-250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1</a:t>
                      </a:r>
                      <a:r>
                        <a:rPr lang="zh-CN" altLang="en-US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的</a:t>
                      </a:r>
                      <a:endParaRPr lang="zh-CN" altLang="en-US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相关系数</a:t>
                      </a:r>
                      <a:endParaRPr lang="zh-CN" altLang="en-US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平方</a:t>
                      </a:r>
                      <a:endParaRPr lang="zh-CN" altLang="en-US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i="1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lang="en-US" altLang="zh-CN" i="1" baseline="-250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i</a:t>
                      </a:r>
                      <a:r>
                        <a:rPr lang="zh-CN" altLang="en-US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与</a:t>
                      </a:r>
                      <a:r>
                        <a:rPr lang="en-US" altLang="zh-CN" i="1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F</a:t>
                      </a:r>
                      <a:r>
                        <a:rPr lang="en-US" altLang="zh-CN" baseline="-250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2</a:t>
                      </a:r>
                      <a:r>
                        <a:rPr lang="zh-CN" altLang="en-US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的相关系数</a:t>
                      </a:r>
                      <a:endParaRPr lang="zh-CN" altLang="en-US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平方</a:t>
                      </a:r>
                      <a:endParaRPr lang="zh-CN" altLang="en-US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信息提取率</a:t>
                      </a:r>
                      <a:endParaRPr lang="zh-CN" altLang="en-US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660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i</a:t>
                      </a:r>
                      <a:endParaRPr lang="en-US" altLang="zh-CN" sz="2800" i="1" baseline="-250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63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hlink"/>
                          </a:solidFill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0.925</a:t>
                      </a:r>
                      <a:endParaRPr lang="en-US" altLang="zh-CN" sz="2800" dirty="0">
                        <a:solidFill>
                          <a:schemeClr val="hlink"/>
                        </a:solidFill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hlink"/>
                          </a:solidFill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0.855</a:t>
                      </a:r>
                      <a:endParaRPr lang="en-US" altLang="zh-CN" sz="2800" dirty="0">
                        <a:solidFill>
                          <a:schemeClr val="hlink"/>
                        </a:solidFill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hlink"/>
                          </a:solidFill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chemeClr val="hlink"/>
                        </a:solidFill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hlink"/>
                          </a:solidFill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chemeClr val="hlink"/>
                        </a:solidFill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hlink"/>
                          </a:solidFill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0.855</a:t>
                      </a:r>
                      <a:endParaRPr lang="en-US" altLang="zh-CN" sz="2800" dirty="0">
                        <a:solidFill>
                          <a:schemeClr val="hlink"/>
                        </a:solidFill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505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rgbClr val="FF0066"/>
                          </a:solidFill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-0.998</a:t>
                      </a:r>
                      <a:endParaRPr lang="en-US" altLang="zh-CN" sz="2800" dirty="0">
                        <a:solidFill>
                          <a:srgbClr val="FF0066"/>
                        </a:solidFill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rgbClr val="FF0066"/>
                          </a:solidFill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0.996</a:t>
                      </a:r>
                      <a:endParaRPr lang="en-US" altLang="zh-CN" sz="2800" dirty="0">
                        <a:solidFill>
                          <a:srgbClr val="FF0066"/>
                        </a:solidFill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rgbClr val="FF0066"/>
                          </a:solidFill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66"/>
                        </a:solidFill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rgbClr val="FF0066"/>
                          </a:solidFill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66"/>
                        </a:solidFill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rgbClr val="FF0066"/>
                          </a:solidFill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0.996</a:t>
                      </a:r>
                      <a:endParaRPr lang="en-US" altLang="zh-CN" sz="2800" dirty="0">
                        <a:solidFill>
                          <a:srgbClr val="FF0066"/>
                        </a:solidFill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63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503050405090304" pitchFamily="18" charset="0"/>
                          <a:ea typeface="黑体" panose="02010609060101010101" charset="-122"/>
                          <a:cs typeface="Times New Roman" panose="0202050305040509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503050405090304" pitchFamily="18" charset="0"/>
                        <a:ea typeface="黑体" panose="02010609060101010101" charset="-122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102" name="Rectangle 244"/>
          <p:cNvSpPr/>
          <p:nvPr/>
        </p:nvSpPr>
        <p:spPr>
          <a:xfrm>
            <a:off x="5181600" y="323373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45103" name="Rectangle 251"/>
          <p:cNvSpPr/>
          <p:nvPr/>
        </p:nvSpPr>
        <p:spPr>
          <a:xfrm>
            <a:off x="4805363" y="329088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45104" name="Rectangle 253"/>
          <p:cNvSpPr/>
          <p:nvPr/>
        </p:nvSpPr>
        <p:spPr>
          <a:xfrm>
            <a:off x="4805363" y="329088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45105" name="Rectangle 255"/>
          <p:cNvSpPr/>
          <p:nvPr/>
        </p:nvSpPr>
        <p:spPr>
          <a:xfrm>
            <a:off x="4738688" y="3290888"/>
            <a:ext cx="9144000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黑体" panose="02010609060101010101" charset="-122"/>
            </a:endParaRPr>
          </a:p>
        </p:txBody>
      </p:sp>
      <p:graphicFrame>
        <p:nvGraphicFramePr>
          <p:cNvPr id="45106" name="对象 1"/>
          <p:cNvGraphicFramePr/>
          <p:nvPr/>
        </p:nvGraphicFramePr>
        <p:xfrm>
          <a:off x="2554288" y="1211263"/>
          <a:ext cx="21844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790700" imgH="477520" progId="Equation.KSEE3">
                  <p:embed/>
                </p:oleObj>
              </mc:Choice>
              <mc:Fallback>
                <p:oleObj name="" r:id="rId1" imgW="1790700" imgH="477520" progId="Equation.KSEE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4288" y="1211263"/>
                        <a:ext cx="2184400" cy="65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7" name="对象 3"/>
          <p:cNvGraphicFramePr/>
          <p:nvPr/>
        </p:nvGraphicFramePr>
        <p:xfrm>
          <a:off x="5024438" y="1130301"/>
          <a:ext cx="1077912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770890" imgH="732790" progId="Equation.KSEE3">
                  <p:embed/>
                </p:oleObj>
              </mc:Choice>
              <mc:Fallback>
                <p:oleObj name="" r:id="rId3" imgW="770890" imgH="732790" progId="Equation.KSEE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24438" y="1130301"/>
                        <a:ext cx="1077912" cy="771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8" name="对象 5"/>
          <p:cNvGraphicFramePr/>
          <p:nvPr/>
        </p:nvGraphicFramePr>
        <p:xfrm>
          <a:off x="6223000" y="1295401"/>
          <a:ext cx="17589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901700" imgH="228600" progId="Equation.KSEE3">
                  <p:embed/>
                </p:oleObj>
              </mc:Choice>
              <mc:Fallback>
                <p:oleObj name="" r:id="rId5" imgW="901700" imgH="228600" progId="Equation.KSEE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23000" y="1295401"/>
                        <a:ext cx="1758950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9" name="对象 7"/>
          <p:cNvGraphicFramePr/>
          <p:nvPr/>
        </p:nvGraphicFramePr>
        <p:xfrm>
          <a:off x="8337551" y="1211263"/>
          <a:ext cx="695325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228600" imgH="241300" progId="Equation.KSEE3">
                  <p:embed/>
                </p:oleObj>
              </mc:Choice>
              <mc:Fallback>
                <p:oleObj name="" r:id="rId7" imgW="228600" imgH="241300" progId="Equation.KSEE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37551" y="1211263"/>
                        <a:ext cx="695325" cy="703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10" name="对象 9"/>
          <p:cNvGraphicFramePr/>
          <p:nvPr/>
        </p:nvGraphicFramePr>
        <p:xfrm>
          <a:off x="9334500" y="1295401"/>
          <a:ext cx="7048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203200" imgH="228600" progId="Equation.KSEE3">
                  <p:embed/>
                </p:oleObj>
              </mc:Choice>
              <mc:Fallback>
                <p:oleObj name="" r:id="rId9" imgW="203200" imgH="228600" progId="Equation.KSEE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334500" y="1295401"/>
                        <a:ext cx="704850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11" name="对象 1"/>
          <p:cNvGraphicFramePr/>
          <p:nvPr/>
        </p:nvGraphicFramePr>
        <p:xfrm>
          <a:off x="1413669" y="3733150"/>
          <a:ext cx="7535862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2857500" imgH="279400" progId="Equation.DSMT4">
                  <p:embed/>
                </p:oleObj>
              </mc:Choice>
              <mc:Fallback>
                <p:oleObj name="Equation" r:id="rId11" imgW="2857500" imgH="2794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13669" y="3733150"/>
                        <a:ext cx="7535862" cy="704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12" name="对象 3"/>
          <p:cNvGraphicFramePr/>
          <p:nvPr/>
        </p:nvGraphicFramePr>
        <p:xfrm>
          <a:off x="1413669" y="4510930"/>
          <a:ext cx="853281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76200000" imgH="7010400" progId="Equation.DSMT4">
                  <p:embed/>
                </p:oleObj>
              </mc:Choice>
              <mc:Fallback>
                <p:oleObj name="Equation" r:id="rId13" imgW="76200000" imgH="70104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13669" y="4510930"/>
                        <a:ext cx="8532812" cy="785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13" name="对象 5"/>
          <p:cNvGraphicFramePr/>
          <p:nvPr/>
        </p:nvGraphicFramePr>
        <p:xfrm>
          <a:off x="9194224" y="3660220"/>
          <a:ext cx="19494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5" imgW="10972800" imgH="5486400" progId="Equation.DSMT4">
                  <p:embed/>
                </p:oleObj>
              </mc:Choice>
              <mc:Fallback>
                <p:oleObj name="Equation" r:id="rId15" imgW="10972800" imgH="54864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194224" y="3660220"/>
                        <a:ext cx="1949450" cy="742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Grp="1"/>
          </p:cNvSpPr>
          <p:nvPr>
            <p:ph idx="1"/>
          </p:nvPr>
        </p:nvSpPr>
        <p:spPr>
          <a:xfrm>
            <a:off x="902938" y="5491595"/>
            <a:ext cx="10847832" cy="1202063"/>
          </a:xfrm>
        </p:spPr>
        <p:txBody>
          <a:bodyPr vert="horz" wrap="square" lIns="91440" tIns="45720" rIns="91440" bIns="45720" anchor="t"/>
          <a:lstStyle/>
          <a:p>
            <a:pPr algn="just"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如果一个主成分仅仅对某一个原始变量有作用，则称为</a:t>
            </a:r>
            <a:r>
              <a:rPr lang="zh-CN" altLang="en-US" sz="2800" dirty="0">
                <a:solidFill>
                  <a:srgbClr val="FF0000"/>
                </a:solidFill>
              </a:rPr>
              <a:t>特殊成分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如果一个主成分对所有的原始变量都起作用称为</a:t>
            </a:r>
            <a:r>
              <a:rPr lang="zh-CN" altLang="en-US" sz="2800" dirty="0">
                <a:solidFill>
                  <a:srgbClr val="FF0000"/>
                </a:solidFill>
              </a:rPr>
              <a:t>公共成分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9951" name="Rectangle 15"/>
          <p:cNvSpPr/>
          <p:nvPr/>
        </p:nvSpPr>
        <p:spPr>
          <a:xfrm>
            <a:off x="1524000" y="333375"/>
            <a:ext cx="9144000" cy="10156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+mj-ea"/>
                <a:cs typeface="+mj-cs"/>
              </a:rPr>
              <a:t>第四节 主成分分析的基本步骤</a:t>
            </a:r>
            <a:endParaRPr lang="zh-CN" altLang="en-US" sz="3200" b="1" dirty="0">
              <a:solidFill>
                <a:srgbClr val="FF0000"/>
              </a:solidFill>
              <a:latin typeface="宋体" pitchFamily="2" charset="-122"/>
              <a:ea typeface="+mj-ea"/>
              <a:cs typeface="+mj-cs"/>
            </a:endParaRPr>
          </a:p>
          <a:p>
            <a:pPr eaLnBrk="0" hangingPunct="0"/>
            <a:endParaRPr lang="en-US" altLang="zh-CN" sz="2800" dirty="0">
              <a:latin typeface="黑体" panose="02010609060101010101" charset="-122"/>
            </a:endParaRPr>
          </a:p>
        </p:txBody>
      </p:sp>
      <p:sp>
        <p:nvSpPr>
          <p:cNvPr id="39953" name="Rectangle 17"/>
          <p:cNvSpPr/>
          <p:nvPr/>
        </p:nvSpPr>
        <p:spPr>
          <a:xfrm>
            <a:off x="1524000" y="1054609"/>
            <a:ext cx="9144000" cy="23971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indent="-63500" algn="just">
              <a:lnSpc>
                <a:spcPct val="135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3500" algn="just">
              <a:lnSpc>
                <a:spcPct val="135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在实际问题中，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的协方差通常是未知的，样品有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3500" algn="just" eaLnBrk="0" hangingPunct="0">
              <a:lnSpc>
                <a:spcPct val="135000"/>
              </a:lnSpc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3500" algn="just" eaLnBrk="0" hangingPunct="0">
              <a:lnSpc>
                <a:spcPct val="135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9957" name="Rectangle 21"/>
          <p:cNvSpPr/>
          <p:nvPr/>
        </p:nvSpPr>
        <p:spPr>
          <a:xfrm>
            <a:off x="1524000" y="4732339"/>
            <a:ext cx="8267700" cy="12654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>
              <a:lnSpc>
                <a:spcPct val="145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  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第一步：由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X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的协方差阵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Σ</a:t>
            </a:r>
            <a:r>
              <a:rPr lang="en-US" altLang="zh-CN" sz="2800" baseline="-30000" dirty="0">
                <a:solidFill>
                  <a:srgbClr val="FF0000"/>
                </a:solidFill>
                <a:latin typeface="Times New Roman" panose="02020503050405090304" pitchFamily="18" charset="0"/>
              </a:rPr>
              <a:t>x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，求出其特征根，</a:t>
            </a:r>
            <a:r>
              <a:rPr lang="zh-CN" altLang="en-US" sz="2800" dirty="0">
                <a:latin typeface="Times New Roman" panose="02020503050405090304" pitchFamily="18" charset="0"/>
              </a:rPr>
              <a:t>即解方程                  ，可得特征根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39958" name="Rectangle 22"/>
          <p:cNvSpPr/>
          <p:nvPr/>
        </p:nvSpPr>
        <p:spPr>
          <a:xfrm>
            <a:off x="1524000" y="939546"/>
            <a:ext cx="3384550" cy="60074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Verdana" panose="020B0804030504040204" pitchFamily="34" charset="0"/>
              </a:rPr>
              <a:t>一、基于协方差矩阵</a:t>
            </a:r>
            <a:endParaRPr lang="zh-CN" altLang="en-US" sz="2800" dirty="0">
              <a:solidFill>
                <a:srgbClr val="FF0000"/>
              </a:solidFill>
              <a:latin typeface="Verdana" panose="020B0804030504040204" pitchFamily="34" charset="0"/>
            </a:endParaRPr>
          </a:p>
        </p:txBody>
      </p:sp>
      <p:graphicFrame>
        <p:nvGraphicFramePr>
          <p:cNvPr id="290819" name="Object 1027"/>
          <p:cNvGraphicFramePr/>
          <p:nvPr/>
        </p:nvGraphicFramePr>
        <p:xfrm>
          <a:off x="2284413" y="5514975"/>
          <a:ext cx="1587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586865" imgH="482600" progId="Equation.DSMT4">
                  <p:embed/>
                </p:oleObj>
              </mc:Choice>
              <mc:Fallback>
                <p:oleObj name="" r:id="rId1" imgW="1586865" imgH="4826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4413" y="5514975"/>
                        <a:ext cx="15875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对象 1"/>
          <p:cNvGraphicFramePr/>
          <p:nvPr/>
        </p:nvGraphicFramePr>
        <p:xfrm>
          <a:off x="3308350" y="2390775"/>
          <a:ext cx="58801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7912000" imgH="8229600" progId="Equation.DSMT4">
                  <p:embed/>
                </p:oleObj>
              </mc:Choice>
              <mc:Fallback>
                <p:oleObj name="Equation" r:id="rId3" imgW="57912000" imgH="82296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08350" y="2390775"/>
                        <a:ext cx="5880100" cy="90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3" name="对象 3"/>
          <p:cNvGraphicFramePr/>
          <p:nvPr/>
        </p:nvGraphicFramePr>
        <p:xfrm>
          <a:off x="3559175" y="3248025"/>
          <a:ext cx="5073650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52120800" imgH="11582400" progId="Equation.DSMT4">
                  <p:embed/>
                </p:oleObj>
              </mc:Choice>
              <mc:Fallback>
                <p:oleObj name="Equation" r:id="rId5" imgW="52120800" imgH="115824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59175" y="3248025"/>
                        <a:ext cx="5073650" cy="1338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4" name="对象 5"/>
          <p:cNvGraphicFramePr/>
          <p:nvPr/>
        </p:nvGraphicFramePr>
        <p:xfrm>
          <a:off x="6007100" y="5440364"/>
          <a:ext cx="29464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1270000" imgH="241300" progId="Equation.KSEE3">
                  <p:embed/>
                </p:oleObj>
              </mc:Choice>
              <mc:Fallback>
                <p:oleObj name="" r:id="rId7" imgW="1270000" imgH="241300" progId="Equation.KSEE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07100" y="5440364"/>
                        <a:ext cx="2946400" cy="631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48130" name="Rectangle 4"/>
          <p:cNvSpPr/>
          <p:nvPr/>
        </p:nvSpPr>
        <p:spPr>
          <a:xfrm>
            <a:off x="1905001" y="450850"/>
            <a:ext cx="7999413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第二步：</a:t>
            </a:r>
            <a:r>
              <a:rPr lang="zh-CN" altLang="en-US" sz="2800" dirty="0">
                <a:latin typeface="Times New Roman" panose="02020503050405090304" pitchFamily="18" charset="0"/>
              </a:rPr>
              <a:t>求出特征根分别所对应的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单位特征向量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u</a:t>
            </a:r>
            <a:r>
              <a:rPr lang="en-US" altLang="zh-CN" sz="2800" baseline="-30000" dirty="0">
                <a:solidFill>
                  <a:srgbClr val="FF0000"/>
                </a:solidFill>
                <a:latin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r>
              <a:rPr lang="en-US" altLang="zh-CN" sz="2800" i="1" dirty="0">
                <a:latin typeface="Times New Roman" panose="02020503050405090304" pitchFamily="18" charset="0"/>
              </a:rPr>
              <a:t>u</a:t>
            </a:r>
            <a:r>
              <a:rPr lang="en-US" altLang="zh-CN" sz="2800" baseline="-30000" dirty="0">
                <a:latin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r>
              <a:rPr lang="en-US" altLang="zh-CN" sz="2800" dirty="0">
                <a:latin typeface="Times New Roman" panose="02020503050405090304" pitchFamily="18" charset="0"/>
              </a:rPr>
              <a:t>…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r>
              <a:rPr lang="en-US" altLang="zh-CN" sz="2800" i="1" dirty="0">
                <a:latin typeface="Times New Roman" panose="02020503050405090304" pitchFamily="18" charset="0"/>
              </a:rPr>
              <a:t>u</a:t>
            </a:r>
            <a:r>
              <a:rPr lang="en-US" altLang="zh-CN" sz="2800" i="1" baseline="-30000" dirty="0">
                <a:latin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</a:rPr>
              <a:t>，</a:t>
            </a:r>
            <a:endParaRPr lang="en-US" altLang="zh-CN" sz="2800" dirty="0">
              <a:latin typeface="Times New Roman" panose="02020503050405090304" pitchFamily="18" charset="0"/>
            </a:endParaRPr>
          </a:p>
        </p:txBody>
      </p:sp>
      <p:sp>
        <p:nvSpPr>
          <p:cNvPr id="48131" name="Rectangle 6"/>
          <p:cNvSpPr/>
          <p:nvPr/>
        </p:nvSpPr>
        <p:spPr>
          <a:xfrm>
            <a:off x="1905000" y="1752600"/>
            <a:ext cx="8305800" cy="5222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just"/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第三步：计算累积贡献率，给出恰当的主成分个数。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48132" name="Rectangle 8"/>
          <p:cNvSpPr/>
          <p:nvPr/>
        </p:nvSpPr>
        <p:spPr>
          <a:xfrm>
            <a:off x="1800225" y="3403601"/>
            <a:ext cx="8515350" cy="115672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第四步：计算所选出的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k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个主成分的得分。</a:t>
            </a:r>
            <a:endParaRPr lang="en-US" altLang="zh-CN" sz="2800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algn="just">
              <a:lnSpc>
                <a:spcPct val="130000"/>
              </a:lnSpc>
            </a:pPr>
            <a:endParaRPr lang="en-US" altLang="zh-CN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48133" name="对象 6"/>
          <p:cNvGraphicFramePr/>
          <p:nvPr/>
        </p:nvGraphicFramePr>
        <p:xfrm>
          <a:off x="4448969" y="761206"/>
          <a:ext cx="300196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33832800" imgH="8229600" progId="Equation.DSMT4">
                  <p:embed/>
                </p:oleObj>
              </mc:Choice>
              <mc:Fallback>
                <p:oleObj name="Equation" r:id="rId1" imgW="33832800" imgH="82296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48969" y="761206"/>
                        <a:ext cx="3001962" cy="854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对象 8"/>
          <p:cNvGraphicFramePr/>
          <p:nvPr/>
        </p:nvGraphicFramePr>
        <p:xfrm>
          <a:off x="2990850" y="2560638"/>
          <a:ext cx="5918200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46939200" imgH="5486400" progId="Equation.DSMT4">
                  <p:embed/>
                </p:oleObj>
              </mc:Choice>
              <mc:Fallback>
                <p:oleObj name="Equation" r:id="rId3" imgW="46939200" imgH="54864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90850" y="2560638"/>
                        <a:ext cx="5918200" cy="674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/>
          </p:cNvSpPr>
          <p:nvPr>
            <p:ph idx="1"/>
          </p:nvPr>
        </p:nvSpPr>
        <p:spPr>
          <a:xfrm>
            <a:off x="579665" y="384175"/>
            <a:ext cx="9635900" cy="2933700"/>
          </a:xfrm>
        </p:spPr>
        <p:txBody>
          <a:bodyPr vert="horz" wrap="square" lIns="91440" tIns="45720" rIns="91440" bIns="45720" anchor="t">
            <a:normAutofit fontScale="92500" lnSpcReduction="20000"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3300" dirty="0">
                <a:solidFill>
                  <a:schemeClr val="tx1"/>
                </a:solidFill>
              </a:rPr>
              <a:t>       </a:t>
            </a:r>
            <a:r>
              <a:rPr lang="zh-CN" altLang="en-US" sz="3300" dirty="0">
                <a:solidFill>
                  <a:srgbClr val="FF0000"/>
                </a:solidFill>
              </a:rPr>
              <a:t>二、基于相关系数矩阵</a:t>
            </a:r>
            <a:endParaRPr lang="zh-CN" altLang="en-US" sz="3300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  <a:buNone/>
            </a:pPr>
            <a:r>
              <a:rPr lang="zh-CN" altLang="en-US" sz="3300" dirty="0">
                <a:solidFill>
                  <a:schemeClr val="tx1"/>
                </a:solidFill>
              </a:rPr>
              <a:t>       如果变量有不同的量纲，则必须基于相关系数矩阵进行主成分分析。不同的是计算得分时应采用标准化后的数据</a:t>
            </a:r>
            <a:endParaRPr lang="zh-CN" altLang="en-US" sz="3300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buNone/>
            </a:pPr>
            <a:r>
              <a:rPr lang="zh-CN" altLang="en-US" sz="3300" dirty="0">
                <a:solidFill>
                  <a:schemeClr val="tx1"/>
                </a:solidFill>
              </a:rPr>
              <a:t>      后续的分析与前面一样</a:t>
            </a:r>
            <a:r>
              <a:rPr lang="zh-CN" altLang="en-US" sz="2800" dirty="0">
                <a:solidFill>
                  <a:schemeClr val="tx1"/>
                </a:solidFill>
              </a:rPr>
              <a:t> 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91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1866901" y="5146404"/>
          <a:ext cx="5324475" cy="167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870200" imgH="901700" progId="Equation.DSMT4">
                  <p:embed/>
                </p:oleObj>
              </mc:Choice>
              <mc:Fallback>
                <p:oleObj name="" r:id="rId1" imgW="2870200" imgH="9017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66901" y="5146404"/>
                        <a:ext cx="5324475" cy="16789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/>
          <p:cNvSpPr/>
          <p:nvPr/>
        </p:nvSpPr>
        <p:spPr>
          <a:xfrm>
            <a:off x="7502525" y="5719545"/>
            <a:ext cx="2686504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j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=1,2,…,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=1,2,…,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Rectangle 7"/>
          <p:cNvSpPr/>
          <p:nvPr/>
        </p:nvSpPr>
        <p:spPr>
          <a:xfrm>
            <a:off x="1940458" y="3934237"/>
            <a:ext cx="286782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latin typeface="+mn-ea"/>
              </a:rPr>
              <a:t>样本相关系数阵：</a:t>
            </a:r>
            <a:endParaRPr lang="zh-CN" altLang="en-US" sz="2400" dirty="0">
              <a:latin typeface="+mn-ea"/>
            </a:endParaRPr>
          </a:p>
        </p:txBody>
      </p:sp>
      <p:sp>
        <p:nvSpPr>
          <p:cNvPr id="6" name="Rectangle 9"/>
          <p:cNvSpPr/>
          <p:nvPr/>
        </p:nvSpPr>
        <p:spPr>
          <a:xfrm>
            <a:off x="2381251" y="5708264"/>
            <a:ext cx="202106" cy="32830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4439331" y="3162447"/>
          <a:ext cx="3153455" cy="2005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35661600" imgH="22555200" progId="Equation.DSMT4">
                  <p:embed/>
                </p:oleObj>
              </mc:Choice>
              <mc:Fallback>
                <p:oleObj name="Equation" r:id="rId3" imgW="35661600" imgH="225552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39331" y="3162447"/>
                        <a:ext cx="3153455" cy="200524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1690777" y="5167690"/>
            <a:ext cx="8119972" cy="16576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文本框 68610"/>
          <p:cNvSpPr txBox="1"/>
          <p:nvPr/>
        </p:nvSpPr>
        <p:spPr>
          <a:xfrm>
            <a:off x="1905001" y="1447801"/>
            <a:ext cx="83978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    </a:t>
            </a:r>
            <a:endParaRPr lang="en-US" altLang="zh-CN" sz="3200" b="1" dirty="0"/>
          </a:p>
        </p:txBody>
      </p:sp>
      <p:sp>
        <p:nvSpPr>
          <p:cNvPr id="67588" name="文本框 68611"/>
          <p:cNvSpPr txBox="1"/>
          <p:nvPr/>
        </p:nvSpPr>
        <p:spPr>
          <a:xfrm>
            <a:off x="1905000" y="1565275"/>
            <a:ext cx="8458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   </a:t>
            </a:r>
            <a:endParaRPr lang="en-US" altLang="zh-CN" dirty="0">
              <a:latin typeface="Arial" panose="020B0604020202090204" pitchFamily="34" charset="0"/>
            </a:endParaRPr>
          </a:p>
        </p:txBody>
      </p:sp>
      <p:sp>
        <p:nvSpPr>
          <p:cNvPr id="67589" name="文本框 68612"/>
          <p:cNvSpPr txBox="1"/>
          <p:nvPr/>
        </p:nvSpPr>
        <p:spPr>
          <a:xfrm>
            <a:off x="1752600" y="1447801"/>
            <a:ext cx="8610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latin typeface="宋体" pitchFamily="2" charset="-122"/>
              </a:rPr>
              <a:t>   </a:t>
            </a:r>
            <a:endParaRPr lang="en-US" altLang="zh-CN" sz="2800" dirty="0">
              <a:latin typeface="宋体" pitchFamily="2" charset="-122"/>
            </a:endParaRPr>
          </a:p>
        </p:txBody>
      </p:sp>
      <p:sp>
        <p:nvSpPr>
          <p:cNvPr id="67590" name="文本框 68613"/>
          <p:cNvSpPr txBox="1"/>
          <p:nvPr/>
        </p:nvSpPr>
        <p:spPr>
          <a:xfrm>
            <a:off x="1752601" y="1447801"/>
            <a:ext cx="8702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latin typeface="宋体" pitchFamily="2" charset="-122"/>
              </a:rPr>
              <a:t>     </a:t>
            </a:r>
            <a:endParaRPr lang="en-US" altLang="zh-CN" sz="2800" b="1" dirty="0">
              <a:latin typeface="宋体" pitchFamily="2" charset="-122"/>
            </a:endParaRPr>
          </a:p>
        </p:txBody>
      </p:sp>
      <p:sp>
        <p:nvSpPr>
          <p:cNvPr id="67591" name="文本框 68614"/>
          <p:cNvSpPr txBox="1"/>
          <p:nvPr/>
        </p:nvSpPr>
        <p:spPr>
          <a:xfrm>
            <a:off x="1828800" y="1468438"/>
            <a:ext cx="8534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zh-CN" dirty="0">
              <a:latin typeface="宋体" pitchFamily="2" charset="-122"/>
            </a:endParaRPr>
          </a:p>
        </p:txBody>
      </p:sp>
      <p:sp>
        <p:nvSpPr>
          <p:cNvPr id="68616" name="文本框 68615"/>
          <p:cNvSpPr txBox="1"/>
          <p:nvPr/>
        </p:nvSpPr>
        <p:spPr>
          <a:xfrm>
            <a:off x="735724" y="949481"/>
            <a:ext cx="10468304" cy="647818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设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次观测数据阵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已标准化,这时样本协差阵就是样本相关阵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的特征值为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λ</a:t>
            </a:r>
            <a:r>
              <a:rPr lang="zh-CN" altLang="en-US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≥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λ</a:t>
            </a:r>
            <a:r>
              <a:rPr lang="zh-CN" altLang="en-US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≥ …≥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λ</a:t>
            </a:r>
            <a:r>
              <a:rPr lang="zh-CN" altLang="en-US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相应的标准化特征向量为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…,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 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样本主成分为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Z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'X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=1,…,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为满足累计贡献率＞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(一般取1≥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≥0.7 )的最小正整数,取前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个主成分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,由样本观测数据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=1,2,…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)可求得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个主成分的得分值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zh-CN" altLang="en-US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ij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8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8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记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2800" baseline="-2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baseline="-2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800" baseline="-2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= 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2800" i="1" baseline="-2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800" baseline="-2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2800" i="1" baseline="-2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800" baseline="-2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,…, 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2800" i="1" baseline="-22000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tp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)′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'X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'X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,…,</a:t>
            </a:r>
            <a:r>
              <a:rPr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i="1" baseline="-20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'X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′   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=1,…,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称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为第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个样品的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主成分得分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向量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68617" name="对象 68616"/>
          <p:cNvGraphicFramePr>
            <a:graphicFrameLocks noChangeAspect="1"/>
          </p:cNvGraphicFramePr>
          <p:nvPr/>
        </p:nvGraphicFramePr>
        <p:xfrm>
          <a:off x="2187575" y="4760913"/>
          <a:ext cx="78930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53644800" imgH="5791200" progId="Equation.DSMT4">
                  <p:embed/>
                </p:oleObj>
              </mc:Choice>
              <mc:Fallback>
                <p:oleObj name="Equation" r:id="rId1" imgW="53644800" imgH="579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87575" y="4760913"/>
                        <a:ext cx="789305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38917"/>
          <p:cNvSpPr txBox="1"/>
          <p:nvPr/>
        </p:nvSpPr>
        <p:spPr>
          <a:xfrm>
            <a:off x="1905000" y="471099"/>
            <a:ext cx="5338951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三、样本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的主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成分得分</a:t>
            </a:r>
            <a:endParaRPr lang="zh-CN" altLang="en-US" sz="28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文本框 69634"/>
          <p:cNvSpPr txBox="1"/>
          <p:nvPr/>
        </p:nvSpPr>
        <p:spPr>
          <a:xfrm>
            <a:off x="1905001" y="1447801"/>
            <a:ext cx="83978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    </a:t>
            </a:r>
            <a:endParaRPr lang="en-US" altLang="zh-CN" sz="3200" b="1" dirty="0"/>
          </a:p>
        </p:txBody>
      </p:sp>
      <p:sp>
        <p:nvSpPr>
          <p:cNvPr id="68612" name="文本框 69635"/>
          <p:cNvSpPr txBox="1"/>
          <p:nvPr/>
        </p:nvSpPr>
        <p:spPr>
          <a:xfrm>
            <a:off x="1905000" y="1565275"/>
            <a:ext cx="8458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   </a:t>
            </a:r>
            <a:endParaRPr lang="en-US" altLang="zh-CN" dirty="0">
              <a:latin typeface="Arial" panose="020B0604020202090204" pitchFamily="34" charset="0"/>
            </a:endParaRPr>
          </a:p>
        </p:txBody>
      </p:sp>
      <p:sp>
        <p:nvSpPr>
          <p:cNvPr id="68613" name="文本框 69636"/>
          <p:cNvSpPr txBox="1"/>
          <p:nvPr/>
        </p:nvSpPr>
        <p:spPr>
          <a:xfrm>
            <a:off x="1752600" y="1447801"/>
            <a:ext cx="8610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latin typeface="宋体" pitchFamily="2" charset="-122"/>
              </a:rPr>
              <a:t>   </a:t>
            </a:r>
            <a:endParaRPr lang="en-US" altLang="zh-CN" sz="2800" dirty="0">
              <a:latin typeface="宋体" pitchFamily="2" charset="-122"/>
            </a:endParaRPr>
          </a:p>
        </p:txBody>
      </p:sp>
      <p:sp>
        <p:nvSpPr>
          <p:cNvPr id="68614" name="文本框 69637"/>
          <p:cNvSpPr txBox="1"/>
          <p:nvPr/>
        </p:nvSpPr>
        <p:spPr>
          <a:xfrm>
            <a:off x="1752601" y="1447801"/>
            <a:ext cx="8702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latin typeface="宋体" pitchFamily="2" charset="-122"/>
              </a:rPr>
              <a:t>     </a:t>
            </a:r>
            <a:endParaRPr lang="en-US" altLang="zh-CN" sz="2800" b="1" dirty="0">
              <a:latin typeface="宋体" pitchFamily="2" charset="-122"/>
            </a:endParaRPr>
          </a:p>
        </p:txBody>
      </p:sp>
      <p:sp>
        <p:nvSpPr>
          <p:cNvPr id="68615" name="文本框 69638"/>
          <p:cNvSpPr txBox="1"/>
          <p:nvPr/>
        </p:nvSpPr>
        <p:spPr>
          <a:xfrm>
            <a:off x="1828800" y="1468438"/>
            <a:ext cx="8534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zh-CN" dirty="0">
              <a:latin typeface="宋体" pitchFamily="2" charset="-122"/>
            </a:endParaRPr>
          </a:p>
        </p:txBody>
      </p:sp>
      <p:graphicFrame>
        <p:nvGraphicFramePr>
          <p:cNvPr id="68616" name="对象 69639"/>
          <p:cNvGraphicFramePr>
            <a:graphicFrameLocks noChangeAspect="1"/>
          </p:cNvGraphicFramePr>
          <p:nvPr/>
        </p:nvGraphicFramePr>
        <p:xfrm>
          <a:off x="2422525" y="484188"/>
          <a:ext cx="6343650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58216800" imgH="28651200" progId="Equation.DSMT4">
                  <p:embed/>
                </p:oleObj>
              </mc:Choice>
              <mc:Fallback>
                <p:oleObj name="Equation" r:id="rId1" imgW="58216800" imgH="286512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>
                        <a:lum bright="-22000" contrast="34000"/>
                      </a:blip>
                      <a:stretch>
                        <a:fillRect/>
                      </a:stretch>
                    </p:blipFill>
                    <p:spPr>
                      <a:xfrm>
                        <a:off x="2422525" y="484188"/>
                        <a:ext cx="6343650" cy="309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对象 69640"/>
          <p:cNvGraphicFramePr>
            <a:graphicFrameLocks noChangeAspect="1"/>
          </p:cNvGraphicFramePr>
          <p:nvPr/>
        </p:nvGraphicFramePr>
        <p:xfrm>
          <a:off x="1789113" y="3579813"/>
          <a:ext cx="8890000" cy="311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73152000" imgH="28651200" progId="Equation.DSMT4">
                  <p:embed/>
                </p:oleObj>
              </mc:Choice>
              <mc:Fallback>
                <p:oleObj name="Equation" r:id="rId3" imgW="73152000" imgH="286512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89113" y="3579813"/>
                        <a:ext cx="8890000" cy="311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文本框 70658"/>
          <p:cNvSpPr txBox="1"/>
          <p:nvPr/>
        </p:nvSpPr>
        <p:spPr>
          <a:xfrm>
            <a:off x="1905001" y="1447801"/>
            <a:ext cx="83978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    </a:t>
            </a:r>
            <a:endParaRPr lang="en-US" altLang="zh-CN" sz="3200" b="1" dirty="0"/>
          </a:p>
        </p:txBody>
      </p:sp>
      <p:sp>
        <p:nvSpPr>
          <p:cNvPr id="69636" name="文本框 70659"/>
          <p:cNvSpPr txBox="1"/>
          <p:nvPr/>
        </p:nvSpPr>
        <p:spPr>
          <a:xfrm>
            <a:off x="1905000" y="1565275"/>
            <a:ext cx="8458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   </a:t>
            </a:r>
            <a:endParaRPr lang="en-US" altLang="zh-CN" dirty="0">
              <a:latin typeface="Arial" panose="020B0604020202090204" pitchFamily="34" charset="0"/>
            </a:endParaRPr>
          </a:p>
        </p:txBody>
      </p:sp>
      <p:sp>
        <p:nvSpPr>
          <p:cNvPr id="69637" name="文本框 70660"/>
          <p:cNvSpPr txBox="1"/>
          <p:nvPr/>
        </p:nvSpPr>
        <p:spPr>
          <a:xfrm>
            <a:off x="1752600" y="1447801"/>
            <a:ext cx="8610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latin typeface="宋体" pitchFamily="2" charset="-122"/>
              </a:rPr>
              <a:t>   </a:t>
            </a:r>
            <a:endParaRPr lang="en-US" altLang="zh-CN" sz="2800" dirty="0">
              <a:latin typeface="宋体" pitchFamily="2" charset="-122"/>
            </a:endParaRPr>
          </a:p>
        </p:txBody>
      </p:sp>
      <p:sp>
        <p:nvSpPr>
          <p:cNvPr id="69638" name="文本框 70661"/>
          <p:cNvSpPr txBox="1"/>
          <p:nvPr/>
        </p:nvSpPr>
        <p:spPr>
          <a:xfrm>
            <a:off x="1752601" y="1447801"/>
            <a:ext cx="8702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latin typeface="宋体" pitchFamily="2" charset="-122"/>
              </a:rPr>
              <a:t>     </a:t>
            </a:r>
            <a:endParaRPr lang="en-US" altLang="zh-CN" sz="2800" b="1" dirty="0">
              <a:latin typeface="宋体" pitchFamily="2" charset="-122"/>
            </a:endParaRPr>
          </a:p>
        </p:txBody>
      </p:sp>
      <p:sp>
        <p:nvSpPr>
          <p:cNvPr id="69639" name="文本框 70662"/>
          <p:cNvSpPr txBox="1"/>
          <p:nvPr/>
        </p:nvSpPr>
        <p:spPr>
          <a:xfrm>
            <a:off x="1828800" y="1468438"/>
            <a:ext cx="8534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zh-CN" dirty="0">
              <a:latin typeface="宋体" pitchFamily="2" charset="-122"/>
            </a:endParaRPr>
          </a:p>
        </p:txBody>
      </p:sp>
      <p:sp>
        <p:nvSpPr>
          <p:cNvPr id="69640" name="文本框 70663"/>
          <p:cNvSpPr txBox="1"/>
          <p:nvPr/>
        </p:nvSpPr>
        <p:spPr>
          <a:xfrm>
            <a:off x="1935480" y="1102361"/>
            <a:ext cx="8534400" cy="130317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利用样本主成分的性质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由前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个主成分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2800" i="1" baseline="-20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的最佳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残差平方和最小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表示式为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69641" name="对象 70664"/>
          <p:cNvGraphicFramePr>
            <a:graphicFrameLocks noChangeAspect="1"/>
          </p:cNvGraphicFramePr>
          <p:nvPr/>
        </p:nvGraphicFramePr>
        <p:xfrm>
          <a:off x="2157413" y="2725738"/>
          <a:ext cx="807243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61874400" imgH="5486400" progId="Equation.DSMT4">
                  <p:embed/>
                </p:oleObj>
              </mc:Choice>
              <mc:Fallback>
                <p:oleObj name="Equation" r:id="rId1" imgW="61874400" imgH="54864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57413" y="2725738"/>
                        <a:ext cx="8072437" cy="733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6" name="文本框 70665"/>
          <p:cNvSpPr txBox="1"/>
          <p:nvPr/>
        </p:nvSpPr>
        <p:spPr>
          <a:xfrm>
            <a:off x="2133600" y="3851911"/>
            <a:ext cx="65811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把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32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32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32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</a:t>
            </a:r>
            <a:r>
              <a:rPr lang="en-US" altLang="zh-CN" sz="32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3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=1,2,…,</a:t>
            </a:r>
            <a:r>
              <a:rPr lang="en-US" altLang="zh-CN" sz="3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代入上式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可得</a:t>
            </a:r>
            <a:endParaRPr lang="zh-CN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70667" name="对象 70666"/>
          <p:cNvGraphicFramePr>
            <a:graphicFrameLocks noChangeAspect="1"/>
          </p:cNvGraphicFramePr>
          <p:nvPr/>
        </p:nvGraphicFramePr>
        <p:xfrm>
          <a:off x="1997075" y="4559300"/>
          <a:ext cx="7786688" cy="186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48463200" imgH="11582400" progId="Equation.DSMT4">
                  <p:embed/>
                </p:oleObj>
              </mc:Choice>
              <mc:Fallback>
                <p:oleObj name="Equation" r:id="rId3" imgW="48463200" imgH="115824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7075" y="4559300"/>
                        <a:ext cx="7786688" cy="186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文本框 71682"/>
          <p:cNvSpPr txBox="1"/>
          <p:nvPr/>
        </p:nvSpPr>
        <p:spPr>
          <a:xfrm>
            <a:off x="1905001" y="1447801"/>
            <a:ext cx="83978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    </a:t>
            </a:r>
            <a:endParaRPr lang="en-US" altLang="zh-CN" sz="3200" b="1" dirty="0"/>
          </a:p>
        </p:txBody>
      </p:sp>
      <p:sp>
        <p:nvSpPr>
          <p:cNvPr id="70660" name="文本框 71683"/>
          <p:cNvSpPr txBox="1"/>
          <p:nvPr/>
        </p:nvSpPr>
        <p:spPr>
          <a:xfrm>
            <a:off x="1905000" y="1565275"/>
            <a:ext cx="8458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   </a:t>
            </a:r>
            <a:endParaRPr lang="en-US" altLang="zh-CN" dirty="0">
              <a:latin typeface="Arial" panose="020B0604020202090204" pitchFamily="34" charset="0"/>
            </a:endParaRPr>
          </a:p>
        </p:txBody>
      </p:sp>
      <p:sp>
        <p:nvSpPr>
          <p:cNvPr id="70661" name="文本框 71684"/>
          <p:cNvSpPr txBox="1"/>
          <p:nvPr/>
        </p:nvSpPr>
        <p:spPr>
          <a:xfrm>
            <a:off x="1752600" y="1447801"/>
            <a:ext cx="8610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latin typeface="宋体" pitchFamily="2" charset="-122"/>
              </a:rPr>
              <a:t>   </a:t>
            </a:r>
            <a:endParaRPr lang="en-US" altLang="zh-CN" sz="2800" dirty="0">
              <a:latin typeface="宋体" pitchFamily="2" charset="-122"/>
            </a:endParaRPr>
          </a:p>
        </p:txBody>
      </p:sp>
      <p:sp>
        <p:nvSpPr>
          <p:cNvPr id="70662" name="文本框 71685"/>
          <p:cNvSpPr txBox="1"/>
          <p:nvPr/>
        </p:nvSpPr>
        <p:spPr>
          <a:xfrm>
            <a:off x="1752601" y="1447801"/>
            <a:ext cx="8702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latin typeface="宋体" pitchFamily="2" charset="-122"/>
              </a:rPr>
              <a:t>     </a:t>
            </a:r>
            <a:endParaRPr lang="en-US" altLang="zh-CN" sz="2800" b="1" dirty="0">
              <a:latin typeface="宋体" pitchFamily="2" charset="-122"/>
            </a:endParaRPr>
          </a:p>
        </p:txBody>
      </p:sp>
      <p:sp>
        <p:nvSpPr>
          <p:cNvPr id="70663" name="文本框 71686"/>
          <p:cNvSpPr txBox="1"/>
          <p:nvPr/>
        </p:nvSpPr>
        <p:spPr>
          <a:xfrm>
            <a:off x="1828800" y="1468438"/>
            <a:ext cx="8534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zh-CN" dirty="0">
              <a:latin typeface="宋体" pitchFamily="2" charset="-122"/>
            </a:endParaRPr>
          </a:p>
        </p:txBody>
      </p:sp>
      <p:sp>
        <p:nvSpPr>
          <p:cNvPr id="70664" name="文本框 71687"/>
          <p:cNvSpPr txBox="1"/>
          <p:nvPr/>
        </p:nvSpPr>
        <p:spPr>
          <a:xfrm>
            <a:off x="1828801" y="1043305"/>
            <a:ext cx="84740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由此可得出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由主成分得分值估计变量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i="1" baseline="-2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的得分向量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记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71689" name="对象 71688"/>
          <p:cNvGraphicFramePr>
            <a:graphicFrameLocks noChangeAspect="1"/>
          </p:cNvGraphicFramePr>
          <p:nvPr/>
        </p:nvGraphicFramePr>
        <p:xfrm>
          <a:off x="2514600" y="2003425"/>
          <a:ext cx="752316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48463200" imgH="6096000" progId="Equation.DSMT4">
                  <p:embed/>
                </p:oleObj>
              </mc:Choice>
              <mc:Fallback>
                <p:oleObj name="Equation" r:id="rId1" imgW="48463200" imgH="60960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14600" y="2003425"/>
                        <a:ext cx="7523163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0" name="对象 71689"/>
          <p:cNvGraphicFramePr>
            <a:graphicFrameLocks noChangeAspect="1"/>
          </p:cNvGraphicFramePr>
          <p:nvPr/>
        </p:nvGraphicFramePr>
        <p:xfrm>
          <a:off x="3230563" y="3302000"/>
          <a:ext cx="6092825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47853600" imgH="6096000" progId="Equation.DSMT4">
                  <p:embed/>
                </p:oleObj>
              </mc:Choice>
              <mc:Fallback>
                <p:oleObj name="Equation" r:id="rId3" imgW="47853600" imgH="60960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0563" y="3302000"/>
                        <a:ext cx="6092825" cy="769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1" name="文本框 71690"/>
          <p:cNvSpPr txBox="1"/>
          <p:nvPr/>
        </p:nvSpPr>
        <p:spPr>
          <a:xfrm>
            <a:off x="1752601" y="3473450"/>
            <a:ext cx="12477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黑体" panose="02010609060101010101" charset="-122"/>
              </a:rPr>
              <a:t>其中</a:t>
            </a:r>
            <a:endParaRPr lang="zh-CN" altLang="en-US" sz="2800" dirty="0">
              <a:latin typeface="黑体" panose="02010609060101010101" charset="-122"/>
            </a:endParaRPr>
          </a:p>
        </p:txBody>
      </p:sp>
      <p:graphicFrame>
        <p:nvGraphicFramePr>
          <p:cNvPr id="70668" name="对象 71691"/>
          <p:cNvGraphicFramePr>
            <a:graphicFrameLocks noChangeAspect="1"/>
          </p:cNvGraphicFramePr>
          <p:nvPr/>
        </p:nvGraphicFramePr>
        <p:xfrm>
          <a:off x="6038851" y="3321051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114935" imgH="217805" progId="Equation.3">
                  <p:embed/>
                </p:oleObj>
              </mc:Choice>
              <mc:Fallback>
                <p:oleObj name="" r:id="rId5" imgW="114935" imgH="21780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38851" y="3321051"/>
                        <a:ext cx="112713" cy="214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3" name="对象 71692"/>
          <p:cNvGraphicFramePr>
            <a:graphicFrameLocks noChangeAspect="1"/>
          </p:cNvGraphicFramePr>
          <p:nvPr/>
        </p:nvGraphicFramePr>
        <p:xfrm>
          <a:off x="2286000" y="4191001"/>
          <a:ext cx="6235700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1943735" imgH="685800" progId="Equation.3">
                  <p:embed/>
                </p:oleObj>
              </mc:Choice>
              <mc:Fallback>
                <p:oleObj name="" r:id="rId7" imgW="1943735" imgH="6858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86000" y="4191001"/>
                        <a:ext cx="6235700" cy="220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文本框 67586"/>
          <p:cNvSpPr txBox="1"/>
          <p:nvPr/>
        </p:nvSpPr>
        <p:spPr>
          <a:xfrm>
            <a:off x="1905001" y="1447801"/>
            <a:ext cx="83978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    </a:t>
            </a:r>
            <a:endParaRPr lang="en-US" altLang="zh-CN" sz="3200" b="1" dirty="0"/>
          </a:p>
        </p:txBody>
      </p:sp>
      <p:sp>
        <p:nvSpPr>
          <p:cNvPr id="66564" name="文本框 67587"/>
          <p:cNvSpPr txBox="1"/>
          <p:nvPr/>
        </p:nvSpPr>
        <p:spPr>
          <a:xfrm>
            <a:off x="1905001" y="1447800"/>
            <a:ext cx="8474075" cy="461664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主成分分析方法把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维数据简化为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 err="1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</a:t>
            </a:r>
            <a:r>
              <a:rPr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维数据后，进一步地可用于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主成分回归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变量的分类</a:t>
            </a:r>
            <a:endParaRPr lang="en-US" altLang="zh-CN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样品的分类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对样品进行排序或对系统进行评估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。。。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0179" name="Rectangle 4"/>
          <p:cNvSpPr/>
          <p:nvPr/>
        </p:nvSpPr>
        <p:spPr>
          <a:xfrm>
            <a:off x="2851151" y="278130"/>
            <a:ext cx="5897245" cy="116967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r>
              <a:rPr lang="zh-CN" altLang="en-US" sz="3600" dirty="0">
                <a:solidFill>
                  <a:srgbClr val="FF0000"/>
                </a:solidFill>
                <a:latin typeface="宋体" pitchFamily="2" charset="-122"/>
              </a:rPr>
              <a:t>第五节</a:t>
            </a:r>
            <a:r>
              <a:rPr lang="zh-CN" altLang="en-US" sz="3600" dirty="0">
                <a:solidFill>
                  <a:srgbClr val="FF0000"/>
                </a:solidFill>
              </a:rPr>
              <a:t>   主成分分析的应用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文本框 79874"/>
          <p:cNvSpPr txBox="1">
            <a:spLocks noChangeArrowheads="1"/>
          </p:cNvSpPr>
          <p:nvPr/>
        </p:nvSpPr>
        <p:spPr bwMode="auto">
          <a:xfrm>
            <a:off x="1905001" y="1447800"/>
            <a:ext cx="8397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 </a:t>
            </a:r>
            <a:endParaRPr lang="en-US" altLang="zh-CN" sz="3200" b="1"/>
          </a:p>
        </p:txBody>
      </p:sp>
      <p:sp>
        <p:nvSpPr>
          <p:cNvPr id="75780" name="文本框 79875"/>
          <p:cNvSpPr txBox="1">
            <a:spLocks noChangeArrowheads="1"/>
          </p:cNvSpPr>
          <p:nvPr/>
        </p:nvSpPr>
        <p:spPr bwMode="auto">
          <a:xfrm>
            <a:off x="1905000" y="1565275"/>
            <a:ext cx="8458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</a:t>
            </a:r>
            <a:endParaRPr lang="en-US" altLang="zh-CN"/>
          </a:p>
        </p:txBody>
      </p:sp>
      <p:sp>
        <p:nvSpPr>
          <p:cNvPr id="75781" name="文本框 79876"/>
          <p:cNvSpPr txBox="1">
            <a:spLocks noChangeArrowheads="1"/>
          </p:cNvSpPr>
          <p:nvPr/>
        </p:nvSpPr>
        <p:spPr bwMode="auto">
          <a:xfrm>
            <a:off x="1752600" y="1447800"/>
            <a:ext cx="861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 </a:t>
            </a:r>
            <a:endParaRPr lang="en-US" altLang="zh-CN" sz="2800">
              <a:latin typeface="宋体" pitchFamily="2" charset="-122"/>
            </a:endParaRPr>
          </a:p>
        </p:txBody>
      </p:sp>
      <p:sp>
        <p:nvSpPr>
          <p:cNvPr id="75782" name="文本框 79877"/>
          <p:cNvSpPr txBox="1">
            <a:spLocks noChangeArrowheads="1"/>
          </p:cNvSpPr>
          <p:nvPr/>
        </p:nvSpPr>
        <p:spPr bwMode="auto">
          <a:xfrm>
            <a:off x="1752601" y="1447800"/>
            <a:ext cx="87026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   </a:t>
            </a:r>
            <a:endParaRPr lang="en-US" altLang="zh-CN" sz="2800" b="1">
              <a:latin typeface="宋体" pitchFamily="2" charset="-122"/>
            </a:endParaRPr>
          </a:p>
        </p:txBody>
      </p:sp>
      <p:sp>
        <p:nvSpPr>
          <p:cNvPr id="75783" name="文本框 79878"/>
          <p:cNvSpPr txBox="1">
            <a:spLocks noChangeArrowheads="1"/>
          </p:cNvSpPr>
          <p:nvPr/>
        </p:nvSpPr>
        <p:spPr bwMode="auto">
          <a:xfrm>
            <a:off x="1828800" y="1468438"/>
            <a:ext cx="8534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>
              <a:latin typeface="宋体" pitchFamily="2" charset="-122"/>
            </a:endParaRPr>
          </a:p>
        </p:txBody>
      </p:sp>
      <p:sp>
        <p:nvSpPr>
          <p:cNvPr id="75784" name="文本框 79879"/>
          <p:cNvSpPr txBox="1">
            <a:spLocks noChangeArrowheads="1"/>
          </p:cNvSpPr>
          <p:nvPr/>
        </p:nvSpPr>
        <p:spPr bwMode="auto">
          <a:xfrm>
            <a:off x="1104900" y="967740"/>
            <a:ext cx="9419326" cy="515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例</a:t>
            </a:r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7.5.1</a:t>
            </a:r>
            <a:r>
              <a:rPr lang="en-US" altLang="zh-CN" sz="36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服装定型分类问题</a:t>
            </a:r>
            <a:endParaRPr lang="zh-CN" altLang="en-US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为解决服装定型分类问题，对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128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个成年男子的身材进行测量，每人各测得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16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项指标：身高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、坐高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(X2)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、胸围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(X3)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、头高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(X4)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、裤长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(X5)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、下档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(X6)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、手长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(X7)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、领围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(X8)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、前胸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(X9)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、后背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(X10)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、肩厚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(X11)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、肩宽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(X12)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、袖长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(X13)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、肋围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(X14)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、腰围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(X15)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和腿肚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(X16).16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项指标的相关阵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见表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7.5(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因相关阵为对称阵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只给出相关阵的上三角部分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试从相关阵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出发进行主成分分析，并对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16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个变量分类</a:t>
            </a:r>
            <a:endParaRPr lang="en-US" altLang="zh-C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5785" name="文本框 79880"/>
          <p:cNvSpPr txBox="1">
            <a:spLocks noChangeArrowheads="1"/>
          </p:cNvSpPr>
          <p:nvPr/>
        </p:nvSpPr>
        <p:spPr bwMode="auto">
          <a:xfrm>
            <a:off x="3092451" y="264569"/>
            <a:ext cx="548579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  <a:latin typeface="宋体" pitchFamily="2" charset="-122"/>
                <a:ea typeface="华文新魏" panose="02010800040101010101" pitchFamily="2" charset="-122"/>
              </a:rPr>
              <a:t>指标（</a:t>
            </a:r>
            <a:r>
              <a:rPr lang="zh-CN" altLang="en-US" sz="4000" b="1" dirty="0">
                <a:solidFill>
                  <a:srgbClr val="FF0000"/>
                </a:solidFill>
                <a:ea typeface="华文新魏" panose="02010800040101010101" pitchFamily="2" charset="-122"/>
              </a:rPr>
              <a:t>变量）分类-例子</a:t>
            </a:r>
            <a:endParaRPr lang="zh-CN" altLang="en-US" sz="4000" dirty="0">
              <a:solidFill>
                <a:srgbClr val="FF0000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文本框 80898"/>
          <p:cNvSpPr txBox="1">
            <a:spLocks noChangeArrowheads="1"/>
          </p:cNvSpPr>
          <p:nvPr/>
        </p:nvSpPr>
        <p:spPr bwMode="auto">
          <a:xfrm>
            <a:off x="1905001" y="1447800"/>
            <a:ext cx="8397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 </a:t>
            </a:r>
            <a:endParaRPr lang="en-US" altLang="zh-CN" sz="3200" b="1"/>
          </a:p>
        </p:txBody>
      </p:sp>
      <p:sp>
        <p:nvSpPr>
          <p:cNvPr id="76804" name="文本框 80899"/>
          <p:cNvSpPr txBox="1">
            <a:spLocks noChangeArrowheads="1"/>
          </p:cNvSpPr>
          <p:nvPr/>
        </p:nvSpPr>
        <p:spPr bwMode="auto">
          <a:xfrm>
            <a:off x="1752600" y="1447800"/>
            <a:ext cx="861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 </a:t>
            </a:r>
            <a:endParaRPr lang="en-US" altLang="zh-CN" sz="2800">
              <a:latin typeface="宋体" pitchFamily="2" charset="-122"/>
            </a:endParaRPr>
          </a:p>
        </p:txBody>
      </p:sp>
      <p:sp>
        <p:nvSpPr>
          <p:cNvPr id="76805" name="文本框 80900"/>
          <p:cNvSpPr txBox="1">
            <a:spLocks noChangeArrowheads="1"/>
          </p:cNvSpPr>
          <p:nvPr/>
        </p:nvSpPr>
        <p:spPr bwMode="auto">
          <a:xfrm>
            <a:off x="1752601" y="1447800"/>
            <a:ext cx="87026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   </a:t>
            </a:r>
            <a:endParaRPr lang="en-US" altLang="zh-CN" sz="2800" b="1">
              <a:latin typeface="宋体" pitchFamily="2" charset="-122"/>
            </a:endParaRPr>
          </a:p>
        </p:txBody>
      </p:sp>
      <p:sp>
        <p:nvSpPr>
          <p:cNvPr id="76806" name="文本框 80901"/>
          <p:cNvSpPr txBox="1">
            <a:spLocks noChangeArrowheads="1"/>
          </p:cNvSpPr>
          <p:nvPr/>
        </p:nvSpPr>
        <p:spPr bwMode="auto">
          <a:xfrm>
            <a:off x="1790700" y="1274762"/>
            <a:ext cx="8534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>
              <a:latin typeface="宋体" pitchFamily="2" charset="-122"/>
            </a:endParaRPr>
          </a:p>
        </p:txBody>
      </p:sp>
      <p:sp>
        <p:nvSpPr>
          <p:cNvPr id="76807" name="文本框 80902"/>
          <p:cNvSpPr txBox="1">
            <a:spLocks noChangeArrowheads="1"/>
          </p:cNvSpPr>
          <p:nvPr/>
        </p:nvSpPr>
        <p:spPr bwMode="auto">
          <a:xfrm>
            <a:off x="1919288" y="1620840"/>
            <a:ext cx="84740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</a:t>
            </a:r>
            <a:endParaRPr lang="en-US" altLang="zh-CN" sz="2000"/>
          </a:p>
        </p:txBody>
      </p:sp>
      <p:graphicFrame>
        <p:nvGraphicFramePr>
          <p:cNvPr id="76808" name="对象 80903"/>
          <p:cNvGraphicFramePr>
            <a:graphicFrameLocks noChangeAspect="1"/>
          </p:cNvGraphicFramePr>
          <p:nvPr/>
        </p:nvGraphicFramePr>
        <p:xfrm>
          <a:off x="1812925" y="1298711"/>
          <a:ext cx="8458200" cy="5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937500" imgH="5308600" progId="">
                  <p:embed/>
                </p:oleObj>
              </mc:Choice>
              <mc:Fallback>
                <p:oleObj name="" r:id="rId1" imgW="7937500" imgH="5308600" progId="">
                  <p:embed/>
                  <p:pic>
                    <p:nvPicPr>
                      <p:cNvPr id="0" name="对象 809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1298711"/>
                        <a:ext cx="8458200" cy="508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9" name="文本框 80904"/>
          <p:cNvSpPr txBox="1">
            <a:spLocks noChangeArrowheads="1"/>
          </p:cNvSpPr>
          <p:nvPr/>
        </p:nvSpPr>
        <p:spPr bwMode="auto">
          <a:xfrm>
            <a:off x="3092451" y="66675"/>
            <a:ext cx="548579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0000"/>
                </a:solidFill>
                <a:latin typeface="宋体" pitchFamily="2" charset="-122"/>
                <a:ea typeface="华文新魏" panose="02010800040101010101" pitchFamily="2" charset="-122"/>
              </a:rPr>
              <a:t>指标（</a:t>
            </a:r>
            <a:r>
              <a:rPr lang="zh-CN" altLang="en-US" sz="4000" b="1">
                <a:solidFill>
                  <a:srgbClr val="FF0000"/>
                </a:solidFill>
                <a:ea typeface="华文新魏" panose="02010800040101010101" pitchFamily="2" charset="-122"/>
              </a:rPr>
              <a:t>变量）分类-例子</a:t>
            </a:r>
            <a:endParaRPr lang="zh-CN" altLang="en-US" sz="4000">
              <a:solidFill>
                <a:srgbClr val="FF0000"/>
              </a:solidFill>
              <a:ea typeface="华文新魏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5422" y="1878345"/>
            <a:ext cx="14353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身高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、坐高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(X2)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、胸围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(X3)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、头高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(X4)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、裤长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(X5)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、下档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(X6)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、手长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(X7)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、领围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(X8)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、前胸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(X9)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、后背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(X10)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、肩厚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(X11)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、肩宽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(X12)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、袖长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(X13)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、肋围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(X14)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、腰围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(X15)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、腿肚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(X16).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文本框 86018"/>
          <p:cNvSpPr txBox="1">
            <a:spLocks noChangeArrowheads="1"/>
          </p:cNvSpPr>
          <p:nvPr/>
        </p:nvSpPr>
        <p:spPr bwMode="auto">
          <a:xfrm>
            <a:off x="1905001" y="1447800"/>
            <a:ext cx="8397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 </a:t>
            </a:r>
            <a:endParaRPr lang="en-US" altLang="zh-CN" sz="3200" b="1"/>
          </a:p>
        </p:txBody>
      </p:sp>
      <p:sp>
        <p:nvSpPr>
          <p:cNvPr id="81924" name="文本框 86019"/>
          <p:cNvSpPr txBox="1">
            <a:spLocks noChangeArrowheads="1"/>
          </p:cNvSpPr>
          <p:nvPr/>
        </p:nvSpPr>
        <p:spPr bwMode="auto">
          <a:xfrm>
            <a:off x="1905000" y="1565275"/>
            <a:ext cx="8458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</a:t>
            </a:r>
            <a:endParaRPr lang="en-US" altLang="zh-CN"/>
          </a:p>
        </p:txBody>
      </p:sp>
      <p:sp>
        <p:nvSpPr>
          <p:cNvPr id="81925" name="文本框 86020"/>
          <p:cNvSpPr txBox="1">
            <a:spLocks noChangeArrowheads="1"/>
          </p:cNvSpPr>
          <p:nvPr/>
        </p:nvSpPr>
        <p:spPr bwMode="auto">
          <a:xfrm>
            <a:off x="1752600" y="1447800"/>
            <a:ext cx="861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 </a:t>
            </a:r>
            <a:endParaRPr lang="en-US" altLang="zh-CN" sz="2800">
              <a:latin typeface="宋体" pitchFamily="2" charset="-122"/>
            </a:endParaRPr>
          </a:p>
        </p:txBody>
      </p:sp>
      <p:sp>
        <p:nvSpPr>
          <p:cNvPr id="81928" name="文本框 86023"/>
          <p:cNvSpPr txBox="1">
            <a:spLocks noChangeArrowheads="1"/>
          </p:cNvSpPr>
          <p:nvPr/>
        </p:nvSpPr>
        <p:spPr bwMode="auto">
          <a:xfrm>
            <a:off x="1752601" y="3886200"/>
            <a:ext cx="85502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</a:t>
            </a:r>
            <a:endParaRPr lang="en-US" altLang="zh-CN"/>
          </a:p>
        </p:txBody>
      </p:sp>
      <p:sp>
        <p:nvSpPr>
          <p:cNvPr id="81929" name="文本框 86024"/>
          <p:cNvSpPr txBox="1">
            <a:spLocks noChangeArrowheads="1"/>
          </p:cNvSpPr>
          <p:nvPr/>
        </p:nvSpPr>
        <p:spPr bwMode="auto">
          <a:xfrm>
            <a:off x="2955925" y="238283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81930" name="对象 86025"/>
          <p:cNvGraphicFramePr>
            <a:graphicFrameLocks noChangeAspect="1"/>
          </p:cNvGraphicFramePr>
          <p:nvPr/>
        </p:nvGraphicFramePr>
        <p:xfrm>
          <a:off x="1752600" y="1447800"/>
          <a:ext cx="861060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340600" imgH="4940300" progId="">
                  <p:embed/>
                </p:oleObj>
              </mc:Choice>
              <mc:Fallback>
                <p:oleObj name="" r:id="rId1" imgW="7340600" imgH="4940300" progId="">
                  <p:embed/>
                  <p:pic>
                    <p:nvPicPr>
                      <p:cNvPr id="0" name="对象 86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447800"/>
                        <a:ext cx="8610600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1" name="文本框 86026"/>
          <p:cNvSpPr txBox="1">
            <a:spLocks noChangeArrowheads="1"/>
          </p:cNvSpPr>
          <p:nvPr/>
        </p:nvSpPr>
        <p:spPr bwMode="auto">
          <a:xfrm>
            <a:off x="1905001" y="188913"/>
            <a:ext cx="753764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  <a:latin typeface="宋体" pitchFamily="2" charset="-122"/>
                <a:ea typeface="华文新魏" panose="02010800040101010101" pitchFamily="2" charset="-122"/>
              </a:rPr>
              <a:t>指标（</a:t>
            </a:r>
            <a:r>
              <a:rPr lang="zh-CN" altLang="en-US" sz="4000" b="1" dirty="0">
                <a:solidFill>
                  <a:srgbClr val="FF0000"/>
                </a:solidFill>
                <a:ea typeface="华文新魏" panose="02010800040101010101" pitchFamily="2" charset="-122"/>
              </a:rPr>
              <a:t>变量）分类-例子输出结果</a:t>
            </a:r>
            <a:endParaRPr lang="zh-CN" altLang="en-US" sz="4000" dirty="0">
              <a:solidFill>
                <a:srgbClr val="FF0000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文本框 87042"/>
          <p:cNvSpPr txBox="1">
            <a:spLocks noChangeArrowheads="1"/>
          </p:cNvSpPr>
          <p:nvPr/>
        </p:nvSpPr>
        <p:spPr bwMode="auto">
          <a:xfrm>
            <a:off x="1905001" y="1447800"/>
            <a:ext cx="8397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 </a:t>
            </a:r>
            <a:endParaRPr lang="en-US" altLang="zh-CN" sz="3200" b="1"/>
          </a:p>
        </p:txBody>
      </p:sp>
      <p:sp>
        <p:nvSpPr>
          <p:cNvPr id="82948" name="文本框 87043"/>
          <p:cNvSpPr txBox="1">
            <a:spLocks noChangeArrowheads="1"/>
          </p:cNvSpPr>
          <p:nvPr/>
        </p:nvSpPr>
        <p:spPr bwMode="auto">
          <a:xfrm>
            <a:off x="1905000" y="1565275"/>
            <a:ext cx="8458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</a:t>
            </a:r>
            <a:endParaRPr lang="en-US" altLang="zh-CN"/>
          </a:p>
        </p:txBody>
      </p:sp>
      <p:sp>
        <p:nvSpPr>
          <p:cNvPr id="82949" name="文本框 87044"/>
          <p:cNvSpPr txBox="1">
            <a:spLocks noChangeArrowheads="1"/>
          </p:cNvSpPr>
          <p:nvPr/>
        </p:nvSpPr>
        <p:spPr bwMode="auto">
          <a:xfrm>
            <a:off x="1752600" y="1447800"/>
            <a:ext cx="861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 </a:t>
            </a:r>
            <a:endParaRPr lang="en-US" altLang="zh-CN" sz="2800">
              <a:latin typeface="宋体" pitchFamily="2" charset="-122"/>
            </a:endParaRPr>
          </a:p>
        </p:txBody>
      </p:sp>
      <p:sp>
        <p:nvSpPr>
          <p:cNvPr id="82950" name="文本框 87045"/>
          <p:cNvSpPr txBox="1">
            <a:spLocks noChangeArrowheads="1"/>
          </p:cNvSpPr>
          <p:nvPr/>
        </p:nvSpPr>
        <p:spPr bwMode="auto">
          <a:xfrm>
            <a:off x="1828800" y="1419225"/>
            <a:ext cx="838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宋体" pitchFamily="2" charset="-122"/>
              </a:rPr>
              <a:t></a:t>
            </a:r>
            <a:endParaRPr lang="zh-CN" altLang="en-US">
              <a:latin typeface="宋体" pitchFamily="2" charset="-122"/>
            </a:endParaRPr>
          </a:p>
        </p:txBody>
      </p:sp>
      <p:sp>
        <p:nvSpPr>
          <p:cNvPr id="82951" name="文本框 87046"/>
          <p:cNvSpPr txBox="1">
            <a:spLocks noChangeArrowheads="1"/>
          </p:cNvSpPr>
          <p:nvPr/>
        </p:nvSpPr>
        <p:spPr bwMode="auto">
          <a:xfrm>
            <a:off x="1752601" y="1447800"/>
            <a:ext cx="87026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   </a:t>
            </a:r>
            <a:endParaRPr lang="en-US" altLang="zh-CN" sz="2800" b="1">
              <a:latin typeface="宋体" pitchFamily="2" charset="-122"/>
            </a:endParaRPr>
          </a:p>
        </p:txBody>
      </p:sp>
      <p:sp>
        <p:nvSpPr>
          <p:cNvPr id="82952" name="文本框 87047"/>
          <p:cNvSpPr txBox="1">
            <a:spLocks noChangeArrowheads="1"/>
          </p:cNvSpPr>
          <p:nvPr/>
        </p:nvSpPr>
        <p:spPr bwMode="auto">
          <a:xfrm>
            <a:off x="1752601" y="3886200"/>
            <a:ext cx="85502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</a:t>
            </a:r>
            <a:endParaRPr lang="en-US" altLang="zh-CN"/>
          </a:p>
        </p:txBody>
      </p:sp>
      <p:sp>
        <p:nvSpPr>
          <p:cNvPr id="82953" name="文本框 87048"/>
          <p:cNvSpPr txBox="1">
            <a:spLocks noChangeArrowheads="1"/>
          </p:cNvSpPr>
          <p:nvPr/>
        </p:nvSpPr>
        <p:spPr bwMode="auto">
          <a:xfrm>
            <a:off x="2955925" y="238283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pic>
        <p:nvPicPr>
          <p:cNvPr id="82954" name="图片 87049" descr="yydy63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447800"/>
            <a:ext cx="822960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55" name="文本框 87050"/>
          <p:cNvSpPr txBox="1">
            <a:spLocks noChangeArrowheads="1"/>
          </p:cNvSpPr>
          <p:nvPr/>
        </p:nvSpPr>
        <p:spPr bwMode="auto">
          <a:xfrm>
            <a:off x="1752601" y="53975"/>
            <a:ext cx="753764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0000"/>
                </a:solidFill>
                <a:latin typeface="宋体" pitchFamily="2" charset="-122"/>
                <a:ea typeface="华文新魏" panose="02010800040101010101" pitchFamily="2" charset="-122"/>
              </a:rPr>
              <a:t>指标（</a:t>
            </a:r>
            <a:r>
              <a:rPr lang="zh-CN" altLang="en-US" sz="4000" b="1">
                <a:solidFill>
                  <a:srgbClr val="FF0000"/>
                </a:solidFill>
                <a:ea typeface="华文新魏" panose="02010800040101010101" pitchFamily="2" charset="-122"/>
              </a:rPr>
              <a:t>变量）分类-例子输出结果</a:t>
            </a:r>
            <a:endParaRPr lang="zh-CN" altLang="en-US" sz="4000">
              <a:solidFill>
                <a:srgbClr val="FF0000"/>
              </a:solidFill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39399" y="1624042"/>
            <a:ext cx="14353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身高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、坐高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(X2)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、胸围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(X3)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、头高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(X4)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、裤长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(X5)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、下档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(X6)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、手长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(X7)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、领围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(X8)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、前胸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(X9)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、后背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(X10)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、肩厚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(X11)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、肩宽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(X12)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、袖长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(X13)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、肋围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(X14)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、腰围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(X15)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、腿肚</a:t>
            </a:r>
            <a:r>
              <a:rPr lang="en-US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(X16).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200" y="1501780"/>
            <a:ext cx="2971800" cy="4352925"/>
          </a:xfrm>
          <a:prstGeom prst="rect">
            <a:avLst/>
          </a:prstGeom>
        </p:spPr>
      </p:pic>
      <p:sp>
        <p:nvSpPr>
          <p:cNvPr id="88071" name="文本框 88070"/>
          <p:cNvSpPr txBox="1">
            <a:spLocks noChangeArrowheads="1"/>
          </p:cNvSpPr>
          <p:nvPr/>
        </p:nvSpPr>
        <p:spPr bwMode="auto">
          <a:xfrm>
            <a:off x="1520443" y="755650"/>
            <a:ext cx="8610600" cy="5829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1.  前三个主成分说明的方差比例已在70%以上;</a:t>
            </a:r>
            <a:endParaRPr lang="zh-CN" altLang="en-US" sz="28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2.  由最大特征值对应的特征向量(即列标题为 </a:t>
            </a:r>
            <a:endParaRPr lang="zh-CN" altLang="en-US" sz="28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     PRIN1</a:t>
            </a:r>
            <a:r>
              <a:rPr lang="en-US" altLang="zh-CN" sz="2800" b="1" dirty="0" err="1"/>
              <a:t>的列</a:t>
            </a:r>
            <a:r>
              <a:rPr lang="en-US" altLang="zh-CN" sz="2800" b="1" dirty="0"/>
              <a:t>)</a:t>
            </a:r>
            <a:r>
              <a:rPr lang="en-US" altLang="zh-CN" sz="2800" b="1" dirty="0" err="1"/>
              <a:t>可得出第一主成分</a:t>
            </a:r>
            <a:r>
              <a:rPr lang="en-US" altLang="zh-CN" sz="2800" b="1" dirty="0"/>
              <a:t>:</a:t>
            </a:r>
            <a:endParaRPr lang="en-US" altLang="zh-CN" sz="28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PRINT1=0.3446</a:t>
            </a:r>
            <a:r>
              <a:rPr lang="zh-CN" altLang="en-US" sz="2800" b="1" i="1" dirty="0"/>
              <a:t>X</a:t>
            </a:r>
            <a:r>
              <a:rPr lang="zh-CN" altLang="en-US" sz="2800" b="1" baseline="-20000" dirty="0"/>
              <a:t>1</a:t>
            </a:r>
            <a:r>
              <a:rPr lang="zh-CN" altLang="en-US" sz="2800" b="1" dirty="0"/>
              <a:t>+0.2662</a:t>
            </a:r>
            <a:r>
              <a:rPr lang="zh-CN" altLang="en-US" sz="2800" b="1" i="1" dirty="0"/>
              <a:t>X</a:t>
            </a:r>
            <a:r>
              <a:rPr lang="zh-CN" altLang="en-US" sz="2800" b="1" baseline="-20000" dirty="0"/>
              <a:t>2</a:t>
            </a:r>
            <a:r>
              <a:rPr lang="zh-CN" altLang="en-US" sz="2800" b="1" dirty="0"/>
              <a:t>+…+0.1634</a:t>
            </a:r>
            <a:r>
              <a:rPr lang="zh-CN" altLang="en-US" sz="2800" b="1" i="1" dirty="0"/>
              <a:t>X</a:t>
            </a:r>
            <a:r>
              <a:rPr lang="zh-CN" altLang="en-US" sz="2800" b="1" baseline="-22000" dirty="0"/>
              <a:t>16</a:t>
            </a:r>
            <a:endParaRPr lang="zh-CN" altLang="en-US" sz="2800" b="1" baseline="-220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各指标的系数都为正,数值均在0.1至0.3之间.</a:t>
            </a:r>
            <a:endParaRPr lang="en-US" altLang="zh-CN" sz="28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这个主成分与魁梧或大小有关，称为</a:t>
            </a:r>
            <a:r>
              <a:rPr lang="zh-CN" altLang="en-US" sz="2800" b="1" dirty="0">
                <a:solidFill>
                  <a:srgbClr val="FF0000"/>
                </a:solidFill>
              </a:rPr>
              <a:t>魁梧因子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(或大小因子)</a:t>
            </a:r>
            <a:r>
              <a:rPr lang="zh-CN" altLang="en-US" sz="2800" b="1" dirty="0"/>
              <a:t>;</a:t>
            </a:r>
            <a:endParaRPr lang="zh-CN" altLang="en-US" sz="28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3.  由次大特征值对应的特征向量</a:t>
            </a:r>
            <a:r>
              <a:rPr lang="en-US" altLang="zh-CN" sz="2800" b="1" dirty="0" err="1"/>
              <a:t>得出第二主成分</a:t>
            </a:r>
            <a:endParaRPr lang="en-US" altLang="zh-CN" sz="28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PRINT2=-0.1968</a:t>
            </a:r>
            <a:r>
              <a:rPr lang="zh-CN" altLang="en-US" sz="2800" b="1" i="1" dirty="0"/>
              <a:t>X</a:t>
            </a:r>
            <a:r>
              <a:rPr lang="zh-CN" altLang="en-US" sz="2800" b="1" baseline="-20000" dirty="0"/>
              <a:t>1 </a:t>
            </a:r>
            <a:r>
              <a:rPr lang="zh-CN" altLang="en-US" sz="2800" b="1" dirty="0"/>
              <a:t>- 0.1473</a:t>
            </a:r>
            <a:r>
              <a:rPr lang="zh-CN" altLang="en-US" sz="2800" b="1" i="1" dirty="0"/>
              <a:t>X</a:t>
            </a:r>
            <a:r>
              <a:rPr lang="zh-CN" altLang="en-US" sz="2800" b="1" baseline="-20000" dirty="0"/>
              <a:t>2</a:t>
            </a:r>
            <a:r>
              <a:rPr lang="zh-CN" altLang="en-US" sz="2800" b="1" dirty="0"/>
              <a:t>+</a:t>
            </a:r>
            <a:r>
              <a:rPr lang="zh-CN" altLang="en-US" sz="2400" b="1" dirty="0"/>
              <a:t>0.3137</a:t>
            </a:r>
            <a:r>
              <a:rPr lang="zh-CN" altLang="en-US" sz="2400" b="1" i="1" dirty="0"/>
              <a:t>X</a:t>
            </a:r>
            <a:r>
              <a:rPr lang="zh-CN" altLang="en-US" sz="2400" b="1" baseline="-20000" dirty="0"/>
              <a:t>3</a:t>
            </a:r>
            <a:r>
              <a:rPr lang="zh-CN" altLang="en-US" sz="2400" b="1" dirty="0"/>
              <a:t>+…+0.3599</a:t>
            </a:r>
            <a:r>
              <a:rPr lang="zh-CN" altLang="en-US" sz="2400" b="1" i="1" dirty="0"/>
              <a:t>X</a:t>
            </a:r>
            <a:r>
              <a:rPr lang="zh-CN" altLang="en-US" sz="2400" b="1" baseline="-22000" dirty="0"/>
              <a:t>16</a:t>
            </a:r>
            <a:endParaRPr lang="zh-CN" altLang="en-US" sz="1400" dirty="0"/>
          </a:p>
        </p:txBody>
      </p:sp>
      <p:sp>
        <p:nvSpPr>
          <p:cNvPr id="83972" name="文本框 88067"/>
          <p:cNvSpPr txBox="1">
            <a:spLocks noChangeArrowheads="1"/>
          </p:cNvSpPr>
          <p:nvPr/>
        </p:nvSpPr>
        <p:spPr bwMode="auto">
          <a:xfrm>
            <a:off x="1905000" y="1565275"/>
            <a:ext cx="8458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</a:t>
            </a:r>
            <a:endParaRPr lang="en-US" altLang="zh-CN"/>
          </a:p>
        </p:txBody>
      </p:sp>
      <p:sp>
        <p:nvSpPr>
          <p:cNvPr id="83974" name="文本框 88069"/>
          <p:cNvSpPr txBox="1">
            <a:spLocks noChangeArrowheads="1"/>
          </p:cNvSpPr>
          <p:nvPr/>
        </p:nvSpPr>
        <p:spPr bwMode="auto">
          <a:xfrm>
            <a:off x="1752601" y="3886200"/>
            <a:ext cx="85502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</a:t>
            </a:r>
            <a:endParaRPr lang="en-US" altLang="zh-CN"/>
          </a:p>
        </p:txBody>
      </p:sp>
      <p:sp>
        <p:nvSpPr>
          <p:cNvPr id="83976" name="文本框 88071"/>
          <p:cNvSpPr txBox="1">
            <a:spLocks noChangeArrowheads="1"/>
          </p:cNvSpPr>
          <p:nvPr/>
        </p:nvSpPr>
        <p:spPr bwMode="auto">
          <a:xfrm>
            <a:off x="1752601" y="53975"/>
            <a:ext cx="753764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0000"/>
                </a:solidFill>
                <a:latin typeface="宋体" pitchFamily="2" charset="-122"/>
                <a:ea typeface="华文新魏" panose="02010800040101010101" pitchFamily="2" charset="-122"/>
              </a:rPr>
              <a:t>指标（</a:t>
            </a:r>
            <a:r>
              <a:rPr lang="zh-CN" altLang="en-US" sz="4000" b="1">
                <a:solidFill>
                  <a:srgbClr val="FF0000"/>
                </a:solidFill>
                <a:ea typeface="华文新魏" panose="02010800040101010101" pitchFamily="2" charset="-122"/>
              </a:rPr>
              <a:t>变量）分类-例子结果分析</a:t>
            </a:r>
            <a:endParaRPr lang="zh-CN" altLang="en-US" sz="4000">
              <a:solidFill>
                <a:srgbClr val="FF0000"/>
              </a:solidFill>
              <a:ea typeface="华文新魏" panose="020108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220200" y="1501780"/>
            <a:ext cx="2971800" cy="42716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文本框 89090"/>
          <p:cNvSpPr txBox="1">
            <a:spLocks noChangeArrowheads="1"/>
          </p:cNvSpPr>
          <p:nvPr/>
        </p:nvSpPr>
        <p:spPr bwMode="auto">
          <a:xfrm>
            <a:off x="1905001" y="1447800"/>
            <a:ext cx="8397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 </a:t>
            </a:r>
            <a:endParaRPr lang="en-US" altLang="zh-CN" sz="3200" b="1"/>
          </a:p>
        </p:txBody>
      </p:sp>
      <p:sp>
        <p:nvSpPr>
          <p:cNvPr id="84996" name="文本框 89091"/>
          <p:cNvSpPr txBox="1">
            <a:spLocks noChangeArrowheads="1"/>
          </p:cNvSpPr>
          <p:nvPr/>
        </p:nvSpPr>
        <p:spPr bwMode="auto">
          <a:xfrm>
            <a:off x="1905000" y="1600200"/>
            <a:ext cx="8458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</a:t>
            </a:r>
            <a:endParaRPr lang="en-US" altLang="zh-CN"/>
          </a:p>
        </p:txBody>
      </p:sp>
      <p:sp>
        <p:nvSpPr>
          <p:cNvPr id="84997" name="文本框 89092"/>
          <p:cNvSpPr txBox="1">
            <a:spLocks noChangeArrowheads="1"/>
          </p:cNvSpPr>
          <p:nvPr/>
        </p:nvSpPr>
        <p:spPr bwMode="auto">
          <a:xfrm>
            <a:off x="1752600" y="1447800"/>
            <a:ext cx="861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 </a:t>
            </a:r>
            <a:endParaRPr lang="en-US" altLang="zh-CN" sz="2800">
              <a:latin typeface="宋体" pitchFamily="2" charset="-122"/>
            </a:endParaRPr>
          </a:p>
        </p:txBody>
      </p:sp>
      <p:sp>
        <p:nvSpPr>
          <p:cNvPr id="84999" name="文本框 89094"/>
          <p:cNvSpPr txBox="1">
            <a:spLocks noChangeArrowheads="1"/>
          </p:cNvSpPr>
          <p:nvPr/>
        </p:nvSpPr>
        <p:spPr bwMode="auto">
          <a:xfrm>
            <a:off x="1752601" y="3886200"/>
            <a:ext cx="85502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</a:t>
            </a:r>
            <a:endParaRPr lang="en-US" altLang="zh-CN"/>
          </a:p>
        </p:txBody>
      </p:sp>
      <p:sp>
        <p:nvSpPr>
          <p:cNvPr id="89096" name="文本框 89095"/>
          <p:cNvSpPr txBox="1">
            <a:spLocks noChangeArrowheads="1"/>
          </p:cNvSpPr>
          <p:nvPr/>
        </p:nvSpPr>
        <p:spPr bwMode="auto">
          <a:xfrm>
            <a:off x="1463037" y="1005318"/>
            <a:ext cx="7084194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各指标的系数有正有负,负系数对应的变量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(X1,X2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等)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都是反映人体高低的变量 ; 正系数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对应的变 量(X3,X16等)都是反映人体胖瘦的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变量.这个主成分一般称为高低或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胖瘦因子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 由第三大特征值对应的特征向量</a:t>
            </a:r>
            <a:r>
              <a:rPr lang="en-US" altLang="zh-CN" sz="28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可得出第三主成分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PRINT3.</a:t>
            </a:r>
            <a:r>
              <a:rPr lang="en-US" altLang="zh-CN" sz="28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查看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指标的系数,发现绝对数值最大和次大对应的变量为前胸(X9)和后背(X10).故这个主成分一般称为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特体因子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5001" name="文本框 89096"/>
          <p:cNvSpPr txBox="1">
            <a:spLocks noChangeArrowheads="1"/>
          </p:cNvSpPr>
          <p:nvPr/>
        </p:nvSpPr>
        <p:spPr bwMode="auto">
          <a:xfrm>
            <a:off x="1752601" y="53975"/>
            <a:ext cx="753764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0000"/>
                </a:solidFill>
                <a:latin typeface="宋体" pitchFamily="2" charset="-122"/>
                <a:ea typeface="华文新魏" panose="02010800040101010101" pitchFamily="2" charset="-122"/>
              </a:rPr>
              <a:t>指标（</a:t>
            </a:r>
            <a:r>
              <a:rPr lang="zh-CN" altLang="en-US" sz="4000" b="1">
                <a:solidFill>
                  <a:srgbClr val="FF0000"/>
                </a:solidFill>
                <a:ea typeface="华文新魏" panose="02010800040101010101" pitchFamily="2" charset="-122"/>
              </a:rPr>
              <a:t>变量）分类-例子结果分析</a:t>
            </a:r>
            <a:endParaRPr lang="zh-CN" altLang="en-US" sz="4000">
              <a:solidFill>
                <a:srgbClr val="FF0000"/>
              </a:solidFill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2947" y="1676413"/>
            <a:ext cx="3049143" cy="417626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982947" y="1676413"/>
            <a:ext cx="3058630" cy="412923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文本框 102401"/>
          <p:cNvSpPr txBox="1">
            <a:spLocks noChangeArrowheads="1"/>
          </p:cNvSpPr>
          <p:nvPr/>
        </p:nvSpPr>
        <p:spPr bwMode="auto">
          <a:xfrm>
            <a:off x="1749561" y="1290321"/>
            <a:ext cx="8534400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例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7.5.2</a:t>
            </a:r>
            <a:r>
              <a:rPr lang="en-US" altLang="zh-CN" sz="3600" b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</a:t>
            </a:r>
            <a:r>
              <a:rPr lang="zh-CN" altLang="en-US" sz="3600" b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经济分析数据的主成分回归</a:t>
            </a:r>
            <a:endParaRPr lang="zh-CN" altLang="en-US" sz="3600" b="1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考察进口总额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与三个自变量：国内总产值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X1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，存储量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X2,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总消费量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X3(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单位均为十亿法郎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有关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现收集了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1949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年至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1959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年共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11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年的数据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见表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7.6).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对表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7.6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的数据试用主成分回归分析方法求进口总额与总产值、存储量和总消费量的定量关系式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2163" name="文本框 102402"/>
          <p:cNvSpPr txBox="1">
            <a:spLocks noChangeArrowheads="1"/>
          </p:cNvSpPr>
          <p:nvPr/>
        </p:nvSpPr>
        <p:spPr bwMode="auto">
          <a:xfrm>
            <a:off x="2600326" y="79375"/>
            <a:ext cx="527740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主成分回归</a:t>
            </a:r>
            <a:r>
              <a:rPr lang="en-US" altLang="zh-CN" sz="40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---</a:t>
            </a:r>
            <a:r>
              <a:rPr lang="zh-CN" altLang="en-US" sz="40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应用例子</a:t>
            </a:r>
            <a:endParaRPr lang="zh-CN" altLang="en-US" sz="4000" b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文本框 103426"/>
          <p:cNvSpPr txBox="1">
            <a:spLocks noChangeArrowheads="1"/>
          </p:cNvSpPr>
          <p:nvPr/>
        </p:nvSpPr>
        <p:spPr bwMode="auto">
          <a:xfrm>
            <a:off x="1905001" y="1447800"/>
            <a:ext cx="8397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 </a:t>
            </a:r>
            <a:endParaRPr lang="en-US" altLang="zh-CN" sz="3200" b="1"/>
          </a:p>
        </p:txBody>
      </p:sp>
      <p:sp>
        <p:nvSpPr>
          <p:cNvPr id="93188" name="文本框 103427"/>
          <p:cNvSpPr txBox="1">
            <a:spLocks noChangeArrowheads="1"/>
          </p:cNvSpPr>
          <p:nvPr/>
        </p:nvSpPr>
        <p:spPr bwMode="auto">
          <a:xfrm>
            <a:off x="1905000" y="1565275"/>
            <a:ext cx="8458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</a:t>
            </a:r>
            <a:endParaRPr lang="en-US" altLang="zh-CN"/>
          </a:p>
        </p:txBody>
      </p:sp>
      <p:sp>
        <p:nvSpPr>
          <p:cNvPr id="93189" name="文本框 103428"/>
          <p:cNvSpPr txBox="1">
            <a:spLocks noChangeArrowheads="1"/>
          </p:cNvSpPr>
          <p:nvPr/>
        </p:nvSpPr>
        <p:spPr bwMode="auto">
          <a:xfrm>
            <a:off x="1752600" y="1447800"/>
            <a:ext cx="861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 </a:t>
            </a:r>
            <a:endParaRPr lang="en-US" altLang="zh-CN" sz="2800">
              <a:latin typeface="宋体" pitchFamily="2" charset="-122"/>
            </a:endParaRPr>
          </a:p>
        </p:txBody>
      </p:sp>
      <p:sp>
        <p:nvSpPr>
          <p:cNvPr id="93190" name="文本框 103429"/>
          <p:cNvSpPr txBox="1">
            <a:spLocks noChangeArrowheads="1"/>
          </p:cNvSpPr>
          <p:nvPr/>
        </p:nvSpPr>
        <p:spPr bwMode="auto">
          <a:xfrm>
            <a:off x="1752601" y="1447800"/>
            <a:ext cx="87026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   </a:t>
            </a:r>
            <a:endParaRPr lang="en-US" altLang="zh-CN" sz="2800" b="1">
              <a:latin typeface="宋体" pitchFamily="2" charset="-122"/>
            </a:endParaRPr>
          </a:p>
        </p:txBody>
      </p:sp>
      <p:graphicFrame>
        <p:nvGraphicFramePr>
          <p:cNvPr id="93191" name="对象 103430"/>
          <p:cNvGraphicFramePr>
            <a:graphicFrameLocks noChangeAspect="1"/>
          </p:cNvGraphicFramePr>
          <p:nvPr/>
        </p:nvGraphicFramePr>
        <p:xfrm>
          <a:off x="2057400" y="1981200"/>
          <a:ext cx="7772400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067300" imgH="2781300" progId="">
                  <p:embed/>
                </p:oleObj>
              </mc:Choice>
              <mc:Fallback>
                <p:oleObj name="" r:id="rId1" imgW="5067300" imgH="2781300" progId="">
                  <p:embed/>
                  <p:pic>
                    <p:nvPicPr>
                      <p:cNvPr id="0" name="对象 1034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81200"/>
                        <a:ext cx="7772400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2" name="矩形 103431"/>
          <p:cNvSpPr>
            <a:spLocks noChangeArrowheads="1"/>
          </p:cNvSpPr>
          <p:nvPr/>
        </p:nvSpPr>
        <p:spPr bwMode="auto">
          <a:xfrm>
            <a:off x="4267200" y="1447800"/>
            <a:ext cx="36150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宋体" pitchFamily="2" charset="-122"/>
              </a:rPr>
              <a:t>表</a:t>
            </a:r>
            <a:r>
              <a:rPr lang="en-US" altLang="zh-CN" sz="2800" b="1">
                <a:solidFill>
                  <a:srgbClr val="FF0000"/>
                </a:solidFill>
                <a:latin typeface="宋体" pitchFamily="2" charset="-122"/>
              </a:rPr>
              <a:t>7.6</a:t>
            </a:r>
            <a:r>
              <a:rPr lang="en-US" altLang="zh-CN" sz="2800" b="1">
                <a:latin typeface="宋体" pitchFamily="2" charset="-122"/>
              </a:rPr>
              <a:t>  </a:t>
            </a:r>
            <a:r>
              <a:rPr lang="zh-CN" altLang="en-US" sz="2800" b="1">
                <a:latin typeface="宋体" pitchFamily="2" charset="-122"/>
              </a:rPr>
              <a:t>经济分析数据</a:t>
            </a:r>
            <a:endParaRPr lang="zh-CN" altLang="en-US" sz="3600" b="1">
              <a:latin typeface="宋体" pitchFamily="2" charset="-122"/>
            </a:endParaRPr>
          </a:p>
        </p:txBody>
      </p:sp>
      <p:sp>
        <p:nvSpPr>
          <p:cNvPr id="93193" name="文本框 103432"/>
          <p:cNvSpPr txBox="1">
            <a:spLocks noChangeArrowheads="1"/>
          </p:cNvSpPr>
          <p:nvPr/>
        </p:nvSpPr>
        <p:spPr bwMode="auto">
          <a:xfrm>
            <a:off x="2600326" y="79375"/>
            <a:ext cx="527740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主成分回归</a:t>
            </a:r>
            <a:r>
              <a:rPr lang="en-US" altLang="zh-CN" sz="40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---</a:t>
            </a:r>
            <a:r>
              <a:rPr lang="zh-CN" altLang="en-US" sz="40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应用例子</a:t>
            </a:r>
            <a:endParaRPr lang="zh-CN" altLang="en-US" sz="4000" b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3425" y="687208"/>
            <a:ext cx="9432235" cy="415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import numpy as np</a:t>
            </a:r>
            <a:endParaRPr lang="zh-CN" altLang="en-US" sz="2400" dirty="0"/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filename1 </a:t>
            </a:r>
            <a:r>
              <a:rPr lang="zh-CN" altLang="en-US" sz="2400"/>
              <a:t>= r'</a:t>
            </a:r>
            <a:r>
              <a:rPr lang="en-US" altLang="zh-CN" sz="2400" dirty="0"/>
              <a:t>D</a:t>
            </a:r>
            <a:r>
              <a:rPr lang="zh-CN" altLang="en-US" sz="2400" dirty="0"/>
              <a:t>:\</a:t>
            </a:r>
            <a:r>
              <a:rPr lang="en-US" altLang="zh-CN" sz="2400" dirty="0"/>
              <a:t>statistics\</a:t>
            </a:r>
            <a:r>
              <a:rPr lang="zh-CN" altLang="en-US" sz="2400" dirty="0"/>
              <a:t>7-3-3.csv'</a:t>
            </a:r>
            <a:endParaRPr lang="zh-CN" altLang="en-US" sz="2400" dirty="0"/>
          </a:p>
          <a:p>
            <a:r>
              <a:rPr lang="zh-CN" altLang="en-US" sz="2400" dirty="0"/>
              <a:t>X1 = np.array(pd.read_csv(filename1))</a:t>
            </a:r>
            <a:endParaRPr lang="zh-CN" altLang="en-US" sz="2400" dirty="0"/>
          </a:p>
          <a:p>
            <a:r>
              <a:rPr lang="zh-CN" altLang="en-US" sz="2400" dirty="0"/>
              <a:t>z_scaler = preprocessing.StandardScaler()</a:t>
            </a:r>
            <a:endParaRPr lang="zh-CN" altLang="en-US" sz="2400" dirty="0"/>
          </a:p>
          <a:p>
            <a:r>
              <a:rPr lang="zh-CN" altLang="en-US" sz="2400" dirty="0"/>
              <a:t>X = z_scaler.fit_transform(X1)</a:t>
            </a:r>
            <a:endParaRPr lang="zh-CN" altLang="en-US" sz="2400" dirty="0"/>
          </a:p>
          <a:p>
            <a:r>
              <a:rPr lang="zh-CN" altLang="en-US" sz="2400" dirty="0"/>
              <a:t>pca=PCA(n_components=3)</a:t>
            </a:r>
            <a:endParaRPr lang="zh-CN" altLang="en-US" sz="2400" dirty="0"/>
          </a:p>
          <a:p>
            <a:r>
              <a:rPr lang="zh-CN" altLang="en-US" sz="2400" dirty="0"/>
              <a:t>pca.fit(X)</a:t>
            </a:r>
            <a:endParaRPr lang="zh-CN" altLang="en-US" sz="2400" dirty="0"/>
          </a:p>
          <a:p>
            <a:r>
              <a:rPr lang="zh-CN" altLang="en-US" sz="2400" dirty="0"/>
              <a:t>print(pca.transform(X))</a:t>
            </a:r>
            <a:endParaRPr lang="zh-CN" altLang="en-US" sz="2400" dirty="0"/>
          </a:p>
          <a:p>
            <a:r>
              <a:rPr lang="zh-CN" altLang="en-US" sz="2400" dirty="0"/>
              <a:t>print(pca.explained_variance_)</a:t>
            </a:r>
            <a:endParaRPr lang="zh-CN" altLang="en-US" sz="2400" dirty="0"/>
          </a:p>
          <a:p>
            <a:r>
              <a:rPr lang="zh-CN" altLang="en-US" sz="2400" dirty="0"/>
              <a:t>print(pca.explained_variance_ratio_)</a:t>
            </a:r>
            <a:endParaRPr lang="zh-CN" altLang="en-US" sz="2400" dirty="0"/>
          </a:p>
          <a:p>
            <a:r>
              <a:rPr lang="zh-CN" altLang="en-US" sz="2400" dirty="0"/>
              <a:t>pca.components_[0]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文本框 105474"/>
          <p:cNvSpPr txBox="1">
            <a:spLocks noChangeArrowheads="1"/>
          </p:cNvSpPr>
          <p:nvPr/>
        </p:nvSpPr>
        <p:spPr bwMode="auto">
          <a:xfrm>
            <a:off x="1905001" y="1447800"/>
            <a:ext cx="8397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 </a:t>
            </a:r>
            <a:endParaRPr lang="en-US" altLang="zh-CN" sz="3200" b="1"/>
          </a:p>
        </p:txBody>
      </p:sp>
      <p:sp>
        <p:nvSpPr>
          <p:cNvPr id="95236" name="文本框 105475"/>
          <p:cNvSpPr txBox="1">
            <a:spLocks noChangeArrowheads="1"/>
          </p:cNvSpPr>
          <p:nvPr/>
        </p:nvSpPr>
        <p:spPr bwMode="auto">
          <a:xfrm>
            <a:off x="1905000" y="1565275"/>
            <a:ext cx="8458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</a:t>
            </a:r>
            <a:endParaRPr lang="en-US" altLang="zh-CN"/>
          </a:p>
        </p:txBody>
      </p:sp>
      <p:sp>
        <p:nvSpPr>
          <p:cNvPr id="95237" name="文本框 105476"/>
          <p:cNvSpPr txBox="1">
            <a:spLocks noChangeArrowheads="1"/>
          </p:cNvSpPr>
          <p:nvPr/>
        </p:nvSpPr>
        <p:spPr bwMode="auto">
          <a:xfrm>
            <a:off x="1752600" y="1447800"/>
            <a:ext cx="861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 </a:t>
            </a:r>
            <a:endParaRPr lang="en-US" altLang="zh-CN" sz="2800">
              <a:latin typeface="宋体" pitchFamily="2" charset="-122"/>
            </a:endParaRPr>
          </a:p>
        </p:txBody>
      </p:sp>
      <p:sp>
        <p:nvSpPr>
          <p:cNvPr id="95238" name="文本框 105477"/>
          <p:cNvSpPr txBox="1">
            <a:spLocks noChangeArrowheads="1"/>
          </p:cNvSpPr>
          <p:nvPr/>
        </p:nvSpPr>
        <p:spPr bwMode="auto">
          <a:xfrm>
            <a:off x="1828800" y="1419225"/>
            <a:ext cx="838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宋体" pitchFamily="2" charset="-122"/>
              </a:rPr>
              <a:t></a:t>
            </a:r>
            <a:endParaRPr lang="zh-CN" altLang="en-US">
              <a:latin typeface="宋体" pitchFamily="2" charset="-122"/>
            </a:endParaRPr>
          </a:p>
        </p:txBody>
      </p:sp>
      <p:sp>
        <p:nvSpPr>
          <p:cNvPr id="95239" name="文本框 105478"/>
          <p:cNvSpPr txBox="1">
            <a:spLocks noChangeArrowheads="1"/>
          </p:cNvSpPr>
          <p:nvPr/>
        </p:nvSpPr>
        <p:spPr bwMode="auto">
          <a:xfrm>
            <a:off x="1752601" y="1447800"/>
            <a:ext cx="87026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   </a:t>
            </a:r>
            <a:endParaRPr lang="en-US" altLang="zh-CN" sz="2800" b="1">
              <a:latin typeface="宋体" pitchFamily="2" charset="-122"/>
            </a:endParaRPr>
          </a:p>
        </p:txBody>
      </p:sp>
      <p:sp>
        <p:nvSpPr>
          <p:cNvPr id="95242" name="文本框 105481"/>
          <p:cNvSpPr txBox="1">
            <a:spLocks noChangeArrowheads="1"/>
          </p:cNvSpPr>
          <p:nvPr/>
        </p:nvSpPr>
        <p:spPr bwMode="auto">
          <a:xfrm>
            <a:off x="1752600" y="4451350"/>
            <a:ext cx="861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</a:t>
            </a:r>
            <a:endParaRPr lang="en-US" altLang="zh-CN" sz="3200" b="1">
              <a:latin typeface="宋体" pitchFamily="2" charset="-122"/>
            </a:endParaRPr>
          </a:p>
        </p:txBody>
      </p:sp>
      <p:sp>
        <p:nvSpPr>
          <p:cNvPr id="95243" name="文本框 105482"/>
          <p:cNvSpPr txBox="1">
            <a:spLocks noChangeArrowheads="1"/>
          </p:cNvSpPr>
          <p:nvPr/>
        </p:nvSpPr>
        <p:spPr bwMode="auto">
          <a:xfrm>
            <a:off x="4403725" y="322103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95244" name="对象 105483"/>
          <p:cNvGraphicFramePr>
            <a:graphicFrameLocks noChangeAspect="1"/>
          </p:cNvGraphicFramePr>
          <p:nvPr/>
        </p:nvGraphicFramePr>
        <p:xfrm>
          <a:off x="1828800" y="1447801"/>
          <a:ext cx="8305800" cy="485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137400" imgH="4318000" progId="">
                  <p:embed/>
                </p:oleObj>
              </mc:Choice>
              <mc:Fallback>
                <p:oleObj name="" r:id="rId1" imgW="7137400" imgH="4318000" progId="">
                  <p:embed/>
                  <p:pic>
                    <p:nvPicPr>
                      <p:cNvPr id="0" name="对象 1054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447801"/>
                        <a:ext cx="8305800" cy="485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5" name="矩形 105484"/>
          <p:cNvSpPr>
            <a:spLocks noChangeArrowheads="1"/>
          </p:cNvSpPr>
          <p:nvPr/>
        </p:nvSpPr>
        <p:spPr bwMode="auto">
          <a:xfrm>
            <a:off x="4572000" y="2667000"/>
            <a:ext cx="914400" cy="228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46" name="文本框 105485"/>
          <p:cNvSpPr txBox="1">
            <a:spLocks noChangeArrowheads="1"/>
          </p:cNvSpPr>
          <p:nvPr/>
        </p:nvSpPr>
        <p:spPr bwMode="auto">
          <a:xfrm>
            <a:off x="2600326" y="79375"/>
            <a:ext cx="732925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主成分回归---应用例子输出结果</a:t>
            </a:r>
            <a:endParaRPr lang="zh-CN" altLang="en-US" sz="4000" b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文本框 106498"/>
          <p:cNvSpPr txBox="1">
            <a:spLocks noChangeArrowheads="1"/>
          </p:cNvSpPr>
          <p:nvPr/>
        </p:nvSpPr>
        <p:spPr bwMode="auto">
          <a:xfrm>
            <a:off x="1905001" y="1447800"/>
            <a:ext cx="8397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 </a:t>
            </a:r>
            <a:endParaRPr lang="en-US" altLang="zh-CN" sz="3200" b="1"/>
          </a:p>
        </p:txBody>
      </p:sp>
      <p:sp>
        <p:nvSpPr>
          <p:cNvPr id="106500" name="文本框 106499"/>
          <p:cNvSpPr txBox="1">
            <a:spLocks noChangeArrowheads="1"/>
          </p:cNvSpPr>
          <p:nvPr/>
        </p:nvSpPr>
        <p:spPr bwMode="auto">
          <a:xfrm>
            <a:off x="1916113" y="805000"/>
            <a:ext cx="8626475" cy="3886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由输出结果可知相关阵的三个特征为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λ</a:t>
            </a:r>
            <a:r>
              <a:rPr lang="en-US" altLang="zh-CN" sz="2800" b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=1.999,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λ</a:t>
            </a:r>
            <a:r>
              <a:rPr lang="en-US" altLang="zh-CN" sz="2800" b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=0.998,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λ</a:t>
            </a:r>
            <a:r>
              <a:rPr lang="en-US" altLang="zh-CN" sz="2800" b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=0.003.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前二个主成分的累计贡献率在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99%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以上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取两个主成分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的标准化变量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2800" b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=0.7063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+0.0435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+0.7065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Z</a:t>
            </a:r>
            <a:r>
              <a:rPr lang="en-US" altLang="zh-CN" sz="2800" b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=-0.0357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+0.9990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-0.0258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endParaRPr lang="en-US" altLang="zh-C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6501" name="文本框 106500"/>
          <p:cNvSpPr txBox="1">
            <a:spLocks noChangeArrowheads="1"/>
          </p:cNvSpPr>
          <p:nvPr/>
        </p:nvSpPr>
        <p:spPr bwMode="auto">
          <a:xfrm>
            <a:off x="1924049" y="4882424"/>
            <a:ext cx="8610600" cy="151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主成分分析的结果还给出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的一个多重共线性关系：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2800" b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=0.7070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+0.0070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-0.7072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≈ C    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6262" name="文本框 106501"/>
          <p:cNvSpPr txBox="1">
            <a:spLocks noChangeArrowheads="1"/>
          </p:cNvSpPr>
          <p:nvPr/>
        </p:nvSpPr>
        <p:spPr bwMode="auto">
          <a:xfrm>
            <a:off x="2600326" y="79375"/>
            <a:ext cx="732925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主成分回归---应用例子结果分析</a:t>
            </a:r>
            <a:endParaRPr lang="zh-CN" altLang="en-US" sz="4000" b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文本框 107522"/>
          <p:cNvSpPr txBox="1">
            <a:spLocks noChangeArrowheads="1"/>
          </p:cNvSpPr>
          <p:nvPr/>
        </p:nvSpPr>
        <p:spPr bwMode="auto">
          <a:xfrm>
            <a:off x="1905001" y="1447800"/>
            <a:ext cx="8397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 </a:t>
            </a:r>
            <a:endParaRPr lang="en-US" altLang="zh-CN" sz="3200" b="1"/>
          </a:p>
        </p:txBody>
      </p:sp>
      <p:sp>
        <p:nvSpPr>
          <p:cNvPr id="97284" name="文本框 107523"/>
          <p:cNvSpPr txBox="1">
            <a:spLocks noChangeArrowheads="1"/>
          </p:cNvSpPr>
          <p:nvPr/>
        </p:nvSpPr>
        <p:spPr bwMode="auto">
          <a:xfrm>
            <a:off x="1905000" y="1565275"/>
            <a:ext cx="8458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宋体" pitchFamily="2" charset="-122"/>
              </a:rPr>
              <a:t>   </a:t>
            </a:r>
            <a:endParaRPr lang="en-US" altLang="zh-CN"/>
          </a:p>
        </p:txBody>
      </p:sp>
      <p:sp>
        <p:nvSpPr>
          <p:cNvPr id="97285" name="文本框 107524"/>
          <p:cNvSpPr txBox="1">
            <a:spLocks noChangeArrowheads="1"/>
          </p:cNvSpPr>
          <p:nvPr/>
        </p:nvSpPr>
        <p:spPr bwMode="auto">
          <a:xfrm>
            <a:off x="1752600" y="1447800"/>
            <a:ext cx="861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宋体" pitchFamily="2" charset="-122"/>
              </a:rPr>
              <a:t>   </a:t>
            </a:r>
            <a:endParaRPr lang="en-US" altLang="zh-CN" sz="2800">
              <a:latin typeface="宋体" pitchFamily="2" charset="-122"/>
            </a:endParaRPr>
          </a:p>
        </p:txBody>
      </p:sp>
      <p:sp>
        <p:nvSpPr>
          <p:cNvPr id="107526" name="文本框 107525"/>
          <p:cNvSpPr txBox="1">
            <a:spLocks noChangeArrowheads="1"/>
          </p:cNvSpPr>
          <p:nvPr/>
        </p:nvSpPr>
        <p:spPr bwMode="auto">
          <a:xfrm>
            <a:off x="1885950" y="1232807"/>
            <a:ext cx="8629650" cy="4609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主成分得分数据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完成主成分回归，先将数据标准化，回归过程得到的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标准化回归方程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800" b="1" baseline="2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的标准化变量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800" b="1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0.68998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2800" b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+0.1913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en-US" altLang="zh-CN" sz="2800" b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（主成分表达式不好解释）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= 0.4804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+0.2211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+0.4825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en-US" altLang="zh-CN" sz="2800" b="1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原始变量可表示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Y=-9.130+0.0727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+0.6091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+0.1062 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en-US" altLang="zh-CN" sz="2800" b="1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7287" name="文本框 107526"/>
          <p:cNvSpPr txBox="1">
            <a:spLocks noChangeArrowheads="1"/>
          </p:cNvSpPr>
          <p:nvPr/>
        </p:nvSpPr>
        <p:spPr bwMode="auto">
          <a:xfrm>
            <a:off x="2600326" y="79375"/>
            <a:ext cx="527740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主成分回归</a:t>
            </a:r>
            <a:r>
              <a:rPr lang="en-US" altLang="zh-CN" sz="40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---</a:t>
            </a:r>
            <a:r>
              <a:rPr lang="zh-CN" altLang="en-US" sz="40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应用例子</a:t>
            </a:r>
            <a:endParaRPr lang="zh-CN" altLang="en-US" sz="4000" b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dirty="0">
                <a:solidFill>
                  <a:schemeClr val="tx2"/>
                </a:solidFill>
                <a:latin typeface="黑体" panose="02010609060101010101" charset="-122"/>
              </a:rPr>
              <a:t>主成分分析简化了系统的结构，抓住了主要矛盾</a:t>
            </a:r>
            <a:endParaRPr lang="en-US" altLang="zh-CN" dirty="0">
              <a:solidFill>
                <a:schemeClr val="tx2"/>
              </a:solidFill>
              <a:latin typeface="黑体" panose="02010609060101010101" charset="-122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charset="-122"/>
              </a:rPr>
              <a:t>使用主成分，会使各个变量的方差尽可能大，且彼此相互独立</a:t>
            </a:r>
            <a:endParaRPr lang="zh-CN" altLang="en-US" sz="2400" dirty="0">
              <a:solidFill>
                <a:schemeClr val="tx2"/>
              </a:solidFill>
              <a:latin typeface="黑体" panose="02010609060101010101" charset="-122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charset="-122"/>
              </a:rPr>
              <a:t>可以基于协方差阵、样本协方差阵，最好使用相关系数矩阵</a:t>
            </a:r>
            <a:endParaRPr lang="en-US" altLang="zh-CN" sz="2400" dirty="0">
              <a:solidFill>
                <a:schemeClr val="tx2"/>
              </a:solidFill>
              <a:latin typeface="黑体" panose="02010609060101010101" charset="-122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charset="-122"/>
              </a:rPr>
              <a:t>主成分的个数要具体问题具体分析，一般要达到</a:t>
            </a:r>
            <a:r>
              <a:rPr lang="en-US" altLang="zh-CN" sz="2400" dirty="0">
                <a:solidFill>
                  <a:schemeClr val="tx2"/>
                </a:solidFill>
                <a:latin typeface="黑体" panose="02010609060101010101" charset="-122"/>
              </a:rPr>
              <a:t>70%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charset="-122"/>
              </a:rPr>
              <a:t>以上的累计贡献率。</a:t>
            </a:r>
            <a:endParaRPr lang="zh-CN" altLang="en-US" sz="2400" dirty="0">
              <a:solidFill>
                <a:schemeClr val="tx2"/>
              </a:solidFill>
              <a:latin typeface="黑体" panose="02010609060101010101" charset="-122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0000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0000"/>
</p:tagLst>
</file>

<file path=ppt/tags/tag3.xml><?xml version="1.0" encoding="utf-8"?>
<p:tagLst xmlns:p="http://schemas.openxmlformats.org/presentationml/2006/main">
  <p:tag name="KSO_WM_TEMPLATE_CATEGORY" val="custom"/>
  <p:tag name="KSO_WM_TEMPLATE_INDEX" val="20182222"/>
  <p:tag name="KSO_WM_TAG_VERSION" val="1.0"/>
  <p:tag name="KSO_WM_TEMPLATE_THUMBS_INDEX" val="1、9、12、16、22、25、30、31、"/>
  <p:tag name="KSO_WM_BEAUTIFY_FLAG" val="#wm#"/>
</p:tagLst>
</file>

<file path=ppt/theme/theme1.xml><?xml version="1.0" encoding="utf-8"?>
<a:theme xmlns:a="http://schemas.openxmlformats.org/drawingml/2006/main" name="自定义设计方案">
  <a:themeElements>
    <a:clrScheme name="自定义 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5B9BD5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6297</Words>
  <Application>WPS 文字</Application>
  <PresentationFormat>宽屏</PresentationFormat>
  <Paragraphs>711</Paragraphs>
  <Slides>53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92</vt:i4>
      </vt:variant>
      <vt:variant>
        <vt:lpstr>幻灯片标题</vt:lpstr>
      </vt:variant>
      <vt:variant>
        <vt:i4>53</vt:i4>
      </vt:variant>
    </vt:vector>
  </HeadingPairs>
  <TitlesOfParts>
    <vt:vector size="173" baseType="lpstr">
      <vt:lpstr>Arial</vt:lpstr>
      <vt:lpstr>宋体</vt:lpstr>
      <vt:lpstr>Wingdings</vt:lpstr>
      <vt:lpstr>黑体</vt:lpstr>
      <vt:lpstr>汉仪中黑KW</vt:lpstr>
      <vt:lpstr>微软雅黑</vt:lpstr>
      <vt:lpstr>Segoe UI</vt:lpstr>
      <vt:lpstr>华文新魏</vt:lpstr>
      <vt:lpstr>宋体-简</vt:lpstr>
      <vt:lpstr>Tahoma</vt:lpstr>
      <vt:lpstr>Times New Roman</vt:lpstr>
      <vt:lpstr>汉仪书宋二KW</vt:lpstr>
      <vt:lpstr>Symbol</vt:lpstr>
      <vt:lpstr>Kingsoft Sign</vt:lpstr>
      <vt:lpstr>新宋体</vt:lpstr>
      <vt:lpstr>方正书宋_GBK</vt:lpstr>
      <vt:lpstr>汉仪旗黑</vt:lpstr>
      <vt:lpstr>宋体</vt:lpstr>
      <vt:lpstr>Arial Unicode MS</vt:lpstr>
      <vt:lpstr>Calibri</vt:lpstr>
      <vt:lpstr>Helvetica Neue</vt:lpstr>
      <vt:lpstr>Cambria Math</vt:lpstr>
      <vt:lpstr>Kingsoft Math</vt:lpstr>
      <vt:lpstr>楷体_GB2312</vt:lpstr>
      <vt:lpstr>Verdana</vt:lpstr>
      <vt:lpstr>苹方-简</vt:lpstr>
      <vt:lpstr>汉仪楷体简</vt:lpstr>
      <vt:lpstr>自定义设计方案</vt:lpstr>
      <vt:lpstr>Equation.KSEE3</vt:lpstr>
      <vt:lpstr>Equation.DSMT4</vt:lpstr>
      <vt:lpstr>Equation.KSEE3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Equation.DSMT4</vt:lpstr>
      <vt:lpstr>Equation.DSMT4</vt:lpstr>
      <vt:lpstr>Equation.KSEE3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Equation.KSEE3</vt:lpstr>
      <vt:lpstr>Equation.KSEE3</vt:lpstr>
      <vt:lpstr>Equation.3</vt:lpstr>
      <vt:lpstr>Equation.KSEE3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Equation.3</vt:lpstr>
      <vt:lpstr>Equation.KSEE3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Equation.KSEE3</vt:lpstr>
      <vt:lpstr>Equation.KSEE3</vt:lpstr>
      <vt:lpstr>Equation.KSEE3</vt:lpstr>
      <vt:lpstr>Equation.DSMT4</vt:lpstr>
      <vt:lpstr>Equation.KSEE3</vt:lpstr>
      <vt:lpstr>Equation.KSEE3</vt:lpstr>
      <vt:lpstr>Equation.KSEE3</vt:lpstr>
      <vt:lpstr>Equation.KSEE3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第七章 主成分分析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第三节  主成分的推导及性质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四、原始变量与主成分之间的相关系数</vt:lpstr>
      <vt:lpstr>PowerPoint 演示文稿</vt:lpstr>
      <vt:lpstr>五、原始变量被主成分的提取率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6HGBYM2</dc:creator>
  <cp:lastModifiedBy>233</cp:lastModifiedBy>
  <cp:revision>165</cp:revision>
  <dcterms:created xsi:type="dcterms:W3CDTF">2024-11-19T12:27:42Z</dcterms:created>
  <dcterms:modified xsi:type="dcterms:W3CDTF">2024-11-19T12:27:42Z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1E1D1A05C51DBF2F3E843C67EEDCBF8E_42</vt:lpwstr>
  </property>
</Properties>
</file>