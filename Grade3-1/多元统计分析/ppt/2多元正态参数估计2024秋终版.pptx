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07" r:id="rId3"/>
    <p:sldId id="449" r:id="rId5"/>
    <p:sldId id="309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20" r:id="rId14"/>
    <p:sldId id="318" r:id="rId15"/>
    <p:sldId id="319" r:id="rId16"/>
    <p:sldId id="322" r:id="rId17"/>
    <p:sldId id="389" r:id="rId18"/>
    <p:sldId id="283" r:id="rId19"/>
    <p:sldId id="448" r:id="rId20"/>
    <p:sldId id="285" r:id="rId21"/>
    <p:sldId id="324" r:id="rId22"/>
    <p:sldId id="325" r:id="rId23"/>
    <p:sldId id="326" r:id="rId24"/>
    <p:sldId id="391" r:id="rId25"/>
    <p:sldId id="392" r:id="rId26"/>
    <p:sldId id="393" r:id="rId27"/>
    <p:sldId id="394" r:id="rId28"/>
    <p:sldId id="395" r:id="rId29"/>
    <p:sldId id="327" r:id="rId30"/>
    <p:sldId id="396" r:id="rId31"/>
    <p:sldId id="328" r:id="rId32"/>
    <p:sldId id="329" r:id="rId33"/>
    <p:sldId id="332" r:id="rId34"/>
    <p:sldId id="397" r:id="rId35"/>
    <p:sldId id="429" r:id="rId36"/>
    <p:sldId id="445" r:id="rId37"/>
    <p:sldId id="334" r:id="rId38"/>
    <p:sldId id="335" r:id="rId39"/>
    <p:sldId id="336" r:id="rId40"/>
    <p:sldId id="337" r:id="rId41"/>
    <p:sldId id="430" r:id="rId42"/>
    <p:sldId id="339" r:id="rId43"/>
    <p:sldId id="431" r:id="rId44"/>
    <p:sldId id="340" r:id="rId45"/>
    <p:sldId id="341" r:id="rId46"/>
    <p:sldId id="342" r:id="rId47"/>
    <p:sldId id="343" r:id="rId48"/>
    <p:sldId id="432" r:id="rId49"/>
    <p:sldId id="346" r:id="rId50"/>
  </p:sldIdLst>
  <p:sldSz cx="12192000" cy="6858000"/>
  <p:notesSz cx="7103745" cy="10234295"/>
  <p:custDataLst>
    <p:tags r:id="rId5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6193" autoAdjust="0"/>
    <p:restoredTop sz="82521" autoAdjust="0"/>
  </p:normalViewPr>
  <p:slideViewPr>
    <p:cSldViewPr snapToGrid="0">
      <p:cViewPr varScale="1">
        <p:scale>
          <a:sx n="67" d="100"/>
          <a:sy n="67" d="100"/>
        </p:scale>
        <p:origin x="48" y="20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4" Type="http://schemas.openxmlformats.org/officeDocument/2006/relationships/tags" Target="tags/tag4.xml"/><Relationship Id="rId53" Type="http://schemas.openxmlformats.org/officeDocument/2006/relationships/tableStyles" Target="tableStyles.xml"/><Relationship Id="rId52" Type="http://schemas.openxmlformats.org/officeDocument/2006/relationships/viewProps" Target="viewProps.xml"/><Relationship Id="rId51" Type="http://schemas.openxmlformats.org/officeDocument/2006/relationships/presProps" Target="presProps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3.wmf"/></Relationships>
</file>

<file path=ppt/drawings/_rels/vmlDrawing4.vml.rels><?xml version="1.0" encoding="UTF-8" standalone="yes"?>
<Relationships xmlns="http://schemas.openxmlformats.org/package/2006/relationships"><Relationship Id="rId4" Type="http://schemas.openxmlformats.org/officeDocument/2006/relationships/image" Target="../media/image10.wmf"/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3.wmf"/><Relationship Id="rId1" Type="http://schemas.openxmlformats.org/officeDocument/2006/relationships/image" Target="../media/image12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12.vml.rels><?xml version="1.0" encoding="UTF-8" standalone="yes"?>
<Relationships xmlns="http://schemas.openxmlformats.org/package/2006/relationships"><Relationship Id="rId5" Type="http://schemas.openxmlformats.org/officeDocument/2006/relationships/image" Target="../media/image34.wmf"/><Relationship Id="rId4" Type="http://schemas.openxmlformats.org/officeDocument/2006/relationships/image" Target="../media/image33.wmf"/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40.wmf"/><Relationship Id="rId1" Type="http://schemas.openxmlformats.org/officeDocument/2006/relationships/image" Target="../media/image39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image" Target="../media/image44.wmf"/><Relationship Id="rId1" Type="http://schemas.openxmlformats.org/officeDocument/2006/relationships/image" Target="../media/image42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wmf"/></Relationships>
</file>

<file path=ppt/drawings/_rels/vmlDrawing19.vml.rels><?xml version="1.0" encoding="UTF-8" standalone="yes"?>
<Relationships xmlns="http://schemas.openxmlformats.org/package/2006/relationships"><Relationship Id="rId4" Type="http://schemas.openxmlformats.org/officeDocument/2006/relationships/image" Target="../media/image52.wmf"/><Relationship Id="rId3" Type="http://schemas.openxmlformats.org/officeDocument/2006/relationships/image" Target="../media/image51.wmf"/><Relationship Id="rId2" Type="http://schemas.openxmlformats.org/officeDocument/2006/relationships/image" Target="../media/image50.wmf"/><Relationship Id="rId1" Type="http://schemas.openxmlformats.org/officeDocument/2006/relationships/image" Target="../media/image49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6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9.w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63.wmf"/><Relationship Id="rId1" Type="http://schemas.openxmlformats.org/officeDocument/2006/relationships/image" Target="../media/image62.wmf"/></Relationships>
</file>

<file path=ppt/drawings/_rels/vmlDrawing24.vml.rels><?xml version="1.0" encoding="UTF-8" standalone="yes"?>
<Relationships xmlns="http://schemas.openxmlformats.org/package/2006/relationships"><Relationship Id="rId6" Type="http://schemas.openxmlformats.org/officeDocument/2006/relationships/image" Target="../media/image68.wmf"/><Relationship Id="rId5" Type="http://schemas.openxmlformats.org/officeDocument/2006/relationships/image" Target="../media/image67.wmf"/><Relationship Id="rId4" Type="http://schemas.openxmlformats.org/officeDocument/2006/relationships/image" Target="../media/image66.wmf"/><Relationship Id="rId3" Type="http://schemas.openxmlformats.org/officeDocument/2006/relationships/image" Target="../media/image65.wmf"/><Relationship Id="rId2" Type="http://schemas.openxmlformats.org/officeDocument/2006/relationships/image" Target="../media/image64.wmf"/><Relationship Id="rId1" Type="http://schemas.openxmlformats.org/officeDocument/2006/relationships/image" Target="../media/image62.wmf"/></Relationships>
</file>

<file path=ppt/drawings/_rels/vmlDrawing25.vml.rels><?xml version="1.0" encoding="UTF-8" standalone="yes"?>
<Relationships xmlns="http://schemas.openxmlformats.org/package/2006/relationships"><Relationship Id="rId5" Type="http://schemas.openxmlformats.org/officeDocument/2006/relationships/image" Target="../media/image73.wmf"/><Relationship Id="rId4" Type="http://schemas.openxmlformats.org/officeDocument/2006/relationships/image" Target="../media/image62.wmf"/><Relationship Id="rId3" Type="http://schemas.openxmlformats.org/officeDocument/2006/relationships/image" Target="../media/image72.wmf"/><Relationship Id="rId2" Type="http://schemas.openxmlformats.org/officeDocument/2006/relationships/image" Target="../media/image70.wmf"/><Relationship Id="rId1" Type="http://schemas.openxmlformats.org/officeDocument/2006/relationships/image" Target="../media/image69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75.wmf"/><Relationship Id="rId2" Type="http://schemas.openxmlformats.org/officeDocument/2006/relationships/image" Target="../media/image74.wmf"/><Relationship Id="rId1" Type="http://schemas.openxmlformats.org/officeDocument/2006/relationships/image" Target="../media/image62.w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76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79.wmf"/><Relationship Id="rId2" Type="http://schemas.openxmlformats.org/officeDocument/2006/relationships/image" Target="../media/image78.wmf"/><Relationship Id="rId1" Type="http://schemas.openxmlformats.org/officeDocument/2006/relationships/image" Target="../media/image77.wmf"/></Relationships>
</file>

<file path=ppt/drawings/_rels/vmlDrawing29.vml.rels><?xml version="1.0" encoding="UTF-8" standalone="yes"?>
<Relationships xmlns="http://schemas.openxmlformats.org/package/2006/relationships"><Relationship Id="rId2" Type="http://schemas.openxmlformats.org/officeDocument/2006/relationships/image" Target="../media/image81.wmf"/><Relationship Id="rId1" Type="http://schemas.openxmlformats.org/officeDocument/2006/relationships/image" Target="../media/image80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84.wmf"/><Relationship Id="rId2" Type="http://schemas.openxmlformats.org/officeDocument/2006/relationships/image" Target="../media/image83.wmf"/><Relationship Id="rId1" Type="http://schemas.openxmlformats.org/officeDocument/2006/relationships/image" Target="../media/image82.w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5.wmf"/></Relationships>
</file>

<file path=ppt/drawings/_rels/vmlDrawing32.vml.rels><?xml version="1.0" encoding="UTF-8" standalone="yes"?>
<Relationships xmlns="http://schemas.openxmlformats.org/package/2006/relationships"><Relationship Id="rId6" Type="http://schemas.openxmlformats.org/officeDocument/2006/relationships/image" Target="../media/image91.wmf"/><Relationship Id="rId5" Type="http://schemas.openxmlformats.org/officeDocument/2006/relationships/image" Target="../media/image90.wmf"/><Relationship Id="rId4" Type="http://schemas.openxmlformats.org/officeDocument/2006/relationships/image" Target="../media/image89.wmf"/><Relationship Id="rId3" Type="http://schemas.openxmlformats.org/officeDocument/2006/relationships/image" Target="../media/image88.wmf"/><Relationship Id="rId2" Type="http://schemas.openxmlformats.org/officeDocument/2006/relationships/image" Target="../media/image87.wmf"/><Relationship Id="rId1" Type="http://schemas.openxmlformats.org/officeDocument/2006/relationships/image" Target="../media/image86.wmf"/></Relationships>
</file>

<file path=ppt/drawings/_rels/vmlDrawing33.vml.rels><?xml version="1.0" encoding="UTF-8" standalone="yes"?>
<Relationships xmlns="http://schemas.openxmlformats.org/package/2006/relationships"><Relationship Id="rId6" Type="http://schemas.openxmlformats.org/officeDocument/2006/relationships/image" Target="../media/image97.wmf"/><Relationship Id="rId5" Type="http://schemas.openxmlformats.org/officeDocument/2006/relationships/image" Target="../media/image96.wmf"/><Relationship Id="rId4" Type="http://schemas.openxmlformats.org/officeDocument/2006/relationships/image" Target="../media/image95.wmf"/><Relationship Id="rId3" Type="http://schemas.openxmlformats.org/officeDocument/2006/relationships/image" Target="../media/image94.wmf"/><Relationship Id="rId2" Type="http://schemas.openxmlformats.org/officeDocument/2006/relationships/image" Target="../media/image93.wmf"/><Relationship Id="rId1" Type="http://schemas.openxmlformats.org/officeDocument/2006/relationships/image" Target="../media/image92.wmf"/></Relationships>
</file>

<file path=ppt/drawings/_rels/vmlDrawing34.vml.rels><?xml version="1.0" encoding="UTF-8" standalone="yes"?>
<Relationships xmlns="http://schemas.openxmlformats.org/package/2006/relationships"><Relationship Id="rId7" Type="http://schemas.openxmlformats.org/officeDocument/2006/relationships/image" Target="../media/image104.wmf"/><Relationship Id="rId6" Type="http://schemas.openxmlformats.org/officeDocument/2006/relationships/image" Target="../media/image103.wmf"/><Relationship Id="rId5" Type="http://schemas.openxmlformats.org/officeDocument/2006/relationships/image" Target="../media/image102.wmf"/><Relationship Id="rId4" Type="http://schemas.openxmlformats.org/officeDocument/2006/relationships/image" Target="../media/image101.wmf"/><Relationship Id="rId3" Type="http://schemas.openxmlformats.org/officeDocument/2006/relationships/image" Target="../media/image100.wmf"/><Relationship Id="rId2" Type="http://schemas.openxmlformats.org/officeDocument/2006/relationships/image" Target="../media/image99.wmf"/><Relationship Id="rId1" Type="http://schemas.openxmlformats.org/officeDocument/2006/relationships/image" Target="../media/image98.wmf"/></Relationships>
</file>

<file path=ppt/drawings/_rels/vmlDrawing35.vml.rels><?xml version="1.0" encoding="UTF-8" standalone="yes"?>
<Relationships xmlns="http://schemas.openxmlformats.org/package/2006/relationships"><Relationship Id="rId4" Type="http://schemas.openxmlformats.org/officeDocument/2006/relationships/image" Target="../media/image108.wmf"/><Relationship Id="rId3" Type="http://schemas.openxmlformats.org/officeDocument/2006/relationships/image" Target="../media/image107.wmf"/><Relationship Id="rId2" Type="http://schemas.openxmlformats.org/officeDocument/2006/relationships/image" Target="../media/image106.wmf"/><Relationship Id="rId1" Type="http://schemas.openxmlformats.org/officeDocument/2006/relationships/image" Target="../media/image105.wmf"/></Relationships>
</file>

<file path=ppt/drawings/_rels/vmlDrawing3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wmf"/><Relationship Id="rId7" Type="http://schemas.openxmlformats.org/officeDocument/2006/relationships/image" Target="../media/image116.wmf"/><Relationship Id="rId6" Type="http://schemas.openxmlformats.org/officeDocument/2006/relationships/image" Target="../media/image115.wmf"/><Relationship Id="rId5" Type="http://schemas.openxmlformats.org/officeDocument/2006/relationships/image" Target="../media/image113.wmf"/><Relationship Id="rId4" Type="http://schemas.openxmlformats.org/officeDocument/2006/relationships/image" Target="../media/image112.wmf"/><Relationship Id="rId3" Type="http://schemas.openxmlformats.org/officeDocument/2006/relationships/image" Target="../media/image111.wmf"/><Relationship Id="rId2" Type="http://schemas.openxmlformats.org/officeDocument/2006/relationships/image" Target="../media/image110.wmf"/><Relationship Id="rId1" Type="http://schemas.openxmlformats.org/officeDocument/2006/relationships/image" Target="../media/image109.wmf"/></Relationships>
</file>

<file path=ppt/drawings/_rels/vmlDrawing37.vml.rels><?xml version="1.0" encoding="UTF-8" standalone="yes"?>
<Relationships xmlns="http://schemas.openxmlformats.org/package/2006/relationships"><Relationship Id="rId4" Type="http://schemas.openxmlformats.org/officeDocument/2006/relationships/image" Target="../media/image122.wmf"/><Relationship Id="rId3" Type="http://schemas.openxmlformats.org/officeDocument/2006/relationships/image" Target="../media/image121.wmf"/><Relationship Id="rId2" Type="http://schemas.openxmlformats.org/officeDocument/2006/relationships/image" Target="../media/image120.wmf"/><Relationship Id="rId1" Type="http://schemas.openxmlformats.org/officeDocument/2006/relationships/image" Target="../media/image119.wmf"/></Relationships>
</file>

<file path=ppt/drawings/_rels/vmlDrawing38.vml.rels><?xml version="1.0" encoding="UTF-8" standalone="yes"?>
<Relationships xmlns="http://schemas.openxmlformats.org/package/2006/relationships"><Relationship Id="rId9" Type="http://schemas.openxmlformats.org/officeDocument/2006/relationships/image" Target="../media/image131.wmf"/><Relationship Id="rId8" Type="http://schemas.openxmlformats.org/officeDocument/2006/relationships/image" Target="../media/image130.wmf"/><Relationship Id="rId7" Type="http://schemas.openxmlformats.org/officeDocument/2006/relationships/image" Target="../media/image129.wmf"/><Relationship Id="rId6" Type="http://schemas.openxmlformats.org/officeDocument/2006/relationships/image" Target="../media/image128.wmf"/><Relationship Id="rId5" Type="http://schemas.openxmlformats.org/officeDocument/2006/relationships/image" Target="../media/image127.wmf"/><Relationship Id="rId4" Type="http://schemas.openxmlformats.org/officeDocument/2006/relationships/image" Target="../media/image126.wmf"/><Relationship Id="rId3" Type="http://schemas.openxmlformats.org/officeDocument/2006/relationships/image" Target="../media/image125.wmf"/><Relationship Id="rId2" Type="http://schemas.openxmlformats.org/officeDocument/2006/relationships/image" Target="../media/image124.wmf"/><Relationship Id="rId1" Type="http://schemas.openxmlformats.org/officeDocument/2006/relationships/image" Target="../media/image123.wmf"/></Relationships>
</file>

<file path=ppt/drawings/_rels/vmlDrawing39.vml.rels><?xml version="1.0" encoding="UTF-8" standalone="yes"?>
<Relationships xmlns="http://schemas.openxmlformats.org/package/2006/relationships"><Relationship Id="rId9" Type="http://schemas.openxmlformats.org/officeDocument/2006/relationships/image" Target="../media/image140.wmf"/><Relationship Id="rId8" Type="http://schemas.openxmlformats.org/officeDocument/2006/relationships/image" Target="../media/image139.wmf"/><Relationship Id="rId7" Type="http://schemas.openxmlformats.org/officeDocument/2006/relationships/image" Target="../media/image138.wmf"/><Relationship Id="rId6" Type="http://schemas.openxmlformats.org/officeDocument/2006/relationships/image" Target="../media/image137.wmf"/><Relationship Id="rId5" Type="http://schemas.openxmlformats.org/officeDocument/2006/relationships/image" Target="../media/image136.wmf"/><Relationship Id="rId4" Type="http://schemas.openxmlformats.org/officeDocument/2006/relationships/image" Target="../media/image135.wmf"/><Relationship Id="rId3" Type="http://schemas.openxmlformats.org/officeDocument/2006/relationships/image" Target="../media/image134.wmf"/><Relationship Id="rId2" Type="http://schemas.openxmlformats.org/officeDocument/2006/relationships/image" Target="../media/image133.wmf"/><Relationship Id="rId11" Type="http://schemas.openxmlformats.org/officeDocument/2006/relationships/image" Target="../media/image142.wmf"/><Relationship Id="rId10" Type="http://schemas.openxmlformats.org/officeDocument/2006/relationships/image" Target="../media/image141.wmf"/><Relationship Id="rId1" Type="http://schemas.openxmlformats.org/officeDocument/2006/relationships/image" Target="../media/image132.wmf"/></Relationships>
</file>

<file path=ppt/drawings/_rels/vmlDrawing4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6661" tIns="48331" rIns="96661" bIns="48331" anchor="b"/>
          <a:lstStyle/>
          <a:p>
            <a:pPr lvl="0" indent="0" algn="r" defTabSz="967105"/>
            <a:fld id="{9A0DB2DC-4C9A-4742-B13C-FB6460FD3503}" type="slidenum">
              <a:rPr lang="zh-CN" altLang="en-US" sz="1300" dirty="0">
                <a:latin typeface="Times New Roman" panose="02020503050405090304" pitchFamily="18" charset="0"/>
                <a:ea typeface="宋体" pitchFamily="2" charset="-122"/>
              </a:rPr>
            </a:fld>
            <a:endParaRPr lang="zh-CN" altLang="en-US" sz="13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6146" name="Rectangle 3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82600" y="1279525"/>
            <a:ext cx="6138863" cy="3454400"/>
          </a:xfrm>
        </p:spPr>
      </p:sp>
      <p:sp>
        <p:nvSpPr>
          <p:cNvPr id="6147" name="Rectangle 2"/>
          <p:cNvSpPr>
            <a:spLocks noGrp="1"/>
          </p:cNvSpPr>
          <p:nvPr>
            <p:ph type="body"/>
          </p:nvPr>
        </p:nvSpPr>
        <p:spPr>
          <a:xfrm>
            <a:off x="974725" y="4560888"/>
            <a:ext cx="5365750" cy="4319587"/>
          </a:xfrm>
        </p:spPr>
        <p:txBody>
          <a:bodyPr wrap="square" lIns="96661" tIns="48331" rIns="96661" bIns="48331" anchor="t"/>
          <a:lstStyle/>
          <a:p>
            <a:pPr lvl="0" eaLnBrk="1" hangingPunct="1"/>
            <a:endParaRPr lang="zh-CN" altLang="en-US" dirty="0"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/>
          <p:cNvSpPr/>
          <p:nvPr/>
        </p:nvSpPr>
        <p:spPr>
          <a:xfrm flipH="1">
            <a:off x="11286047" y="5948624"/>
            <a:ext cx="884255" cy="909376"/>
          </a:xfrm>
          <a:custGeom>
            <a:avLst/>
            <a:gdLst>
              <a:gd name="connsiteX0" fmla="*/ 346668 w 884255"/>
              <a:gd name="connsiteY0" fmla="*/ 0 h 909376"/>
              <a:gd name="connsiteX1" fmla="*/ 884255 w 884255"/>
              <a:gd name="connsiteY1" fmla="*/ 537587 h 909376"/>
              <a:gd name="connsiteX2" fmla="*/ 792444 w 884255"/>
              <a:gd name="connsiteY2" fmla="*/ 838157 h 909376"/>
              <a:gd name="connsiteX3" fmla="*/ 733683 w 884255"/>
              <a:gd name="connsiteY3" fmla="*/ 909376 h 909376"/>
              <a:gd name="connsiteX4" fmla="*/ 0 w 884255"/>
              <a:gd name="connsiteY4" fmla="*/ 909376 h 909376"/>
              <a:gd name="connsiteX5" fmla="*/ 0 w 884255"/>
              <a:gd name="connsiteY5" fmla="*/ 129846 h 909376"/>
              <a:gd name="connsiteX6" fmla="*/ 46098 w 884255"/>
              <a:gd name="connsiteY6" fmla="*/ 91812 h 909376"/>
              <a:gd name="connsiteX7" fmla="*/ 346668 w 884255"/>
              <a:gd name="connsiteY7" fmla="*/ 0 h 909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84255" h="909376">
                <a:moveTo>
                  <a:pt x="346668" y="0"/>
                </a:moveTo>
                <a:cubicBezTo>
                  <a:pt x="643569" y="0"/>
                  <a:pt x="884255" y="240686"/>
                  <a:pt x="884255" y="537587"/>
                </a:cubicBezTo>
                <a:cubicBezTo>
                  <a:pt x="884255" y="648925"/>
                  <a:pt x="850409" y="752358"/>
                  <a:pt x="792444" y="838157"/>
                </a:cubicBezTo>
                <a:lnTo>
                  <a:pt x="733683" y="909376"/>
                </a:lnTo>
                <a:lnTo>
                  <a:pt x="0" y="909376"/>
                </a:lnTo>
                <a:lnTo>
                  <a:pt x="0" y="129846"/>
                </a:lnTo>
                <a:lnTo>
                  <a:pt x="46098" y="91812"/>
                </a:lnTo>
                <a:cubicBezTo>
                  <a:pt x="131897" y="33847"/>
                  <a:pt x="235330" y="0"/>
                  <a:pt x="34666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165100" dist="38100" dir="2700000" algn="tl" rotWithShape="0">
              <a:srgbClr val="2B579A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9" name="椭圆 8"/>
          <p:cNvSpPr/>
          <p:nvPr/>
        </p:nvSpPr>
        <p:spPr>
          <a:xfrm flipH="1">
            <a:off x="10200090" y="5551714"/>
            <a:ext cx="1306287" cy="1306286"/>
          </a:xfrm>
          <a:prstGeom prst="ellipse">
            <a:avLst/>
          </a:prstGeom>
          <a:solidFill>
            <a:schemeClr val="accent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10" name="椭圆 9"/>
          <p:cNvSpPr/>
          <p:nvPr/>
        </p:nvSpPr>
        <p:spPr>
          <a:xfrm flipH="1">
            <a:off x="11286047" y="5084467"/>
            <a:ext cx="633047" cy="633047"/>
          </a:xfrm>
          <a:prstGeom prst="ellipse">
            <a:avLst/>
          </a:prstGeom>
          <a:solidFill>
            <a:schemeClr val="accent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11" name="椭圆 10"/>
          <p:cNvSpPr/>
          <p:nvPr/>
        </p:nvSpPr>
        <p:spPr>
          <a:xfrm flipH="1">
            <a:off x="8941166" y="5948624"/>
            <a:ext cx="808156" cy="80815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12" name="椭圆 11"/>
          <p:cNvSpPr/>
          <p:nvPr/>
        </p:nvSpPr>
        <p:spPr>
          <a:xfrm flipH="1">
            <a:off x="9172527" y="4877188"/>
            <a:ext cx="633047" cy="63304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13" name="椭圆 12"/>
          <p:cNvSpPr/>
          <p:nvPr/>
        </p:nvSpPr>
        <p:spPr>
          <a:xfrm flipH="1">
            <a:off x="8887483" y="5502246"/>
            <a:ext cx="225351" cy="225351"/>
          </a:xfrm>
          <a:prstGeom prst="ellipse">
            <a:avLst/>
          </a:prstGeom>
          <a:solidFill>
            <a:schemeClr val="accent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14" name="椭圆 13"/>
          <p:cNvSpPr/>
          <p:nvPr/>
        </p:nvSpPr>
        <p:spPr>
          <a:xfrm flipH="1">
            <a:off x="10716845" y="5326364"/>
            <a:ext cx="225351" cy="225351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15" name="椭圆 14"/>
          <p:cNvSpPr/>
          <p:nvPr/>
        </p:nvSpPr>
        <p:spPr>
          <a:xfrm flipH="1">
            <a:off x="11682959" y="4262913"/>
            <a:ext cx="225351" cy="22535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16" name="椭圆 15"/>
          <p:cNvSpPr/>
          <p:nvPr/>
        </p:nvSpPr>
        <p:spPr>
          <a:xfrm flipH="1">
            <a:off x="9909794" y="4488264"/>
            <a:ext cx="225351" cy="225351"/>
          </a:xfrm>
          <a:prstGeom prst="ellipse">
            <a:avLst/>
          </a:prstGeom>
          <a:solidFill>
            <a:schemeClr val="accent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17" name="椭圆 16"/>
          <p:cNvSpPr/>
          <p:nvPr/>
        </p:nvSpPr>
        <p:spPr>
          <a:xfrm flipH="1">
            <a:off x="9899377" y="5392247"/>
            <a:ext cx="225351" cy="225351"/>
          </a:xfrm>
          <a:prstGeom prst="ellipse">
            <a:avLst/>
          </a:prstGeom>
          <a:solidFill>
            <a:schemeClr val="accent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2336061"/>
            <a:ext cx="9144000" cy="1200329"/>
          </a:xfrm>
        </p:spPr>
        <p:txBody>
          <a:bodyPr anchor="b">
            <a:normAutofit/>
          </a:bodyPr>
          <a:lstStyle>
            <a:lvl1pPr algn="ctr">
              <a:defRPr sz="6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28465"/>
            <a:ext cx="9144000" cy="535531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4A088-84C6-4E25-8974-50052BF70A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551D-C697-47F0-8D0F-B52E4434774B}" type="slidenum">
              <a:rPr lang="zh-CN" altLang="en-US" smtClean="0"/>
            </a:fld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 flipH="1">
            <a:off x="1087573" y="1247412"/>
            <a:ext cx="665027" cy="633047"/>
          </a:xfrm>
          <a:prstGeom prst="ellipse">
            <a:avLst/>
          </a:prstGeom>
          <a:solidFill>
            <a:schemeClr val="accent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24" name="椭圆 23"/>
          <p:cNvSpPr/>
          <p:nvPr/>
        </p:nvSpPr>
        <p:spPr>
          <a:xfrm flipH="1">
            <a:off x="205154" y="256009"/>
            <a:ext cx="633047" cy="63304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25" name="椭圆 24"/>
          <p:cNvSpPr/>
          <p:nvPr/>
        </p:nvSpPr>
        <p:spPr>
          <a:xfrm flipH="1">
            <a:off x="215431" y="1328679"/>
            <a:ext cx="225351" cy="225351"/>
          </a:xfrm>
          <a:prstGeom prst="ellipse">
            <a:avLst/>
          </a:prstGeom>
          <a:solidFill>
            <a:schemeClr val="accent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26" name="椭圆 25"/>
          <p:cNvSpPr/>
          <p:nvPr/>
        </p:nvSpPr>
        <p:spPr>
          <a:xfrm flipH="1">
            <a:off x="2097125" y="663705"/>
            <a:ext cx="225351" cy="22535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27" name="椭圆 26"/>
          <p:cNvSpPr/>
          <p:nvPr/>
        </p:nvSpPr>
        <p:spPr>
          <a:xfrm flipH="1">
            <a:off x="725877" y="1804831"/>
            <a:ext cx="225351" cy="22535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28" name="椭圆 27"/>
          <p:cNvSpPr/>
          <p:nvPr/>
        </p:nvSpPr>
        <p:spPr>
          <a:xfrm flipH="1">
            <a:off x="1237742" y="314697"/>
            <a:ext cx="225351" cy="225351"/>
          </a:xfrm>
          <a:prstGeom prst="ellipse">
            <a:avLst/>
          </a:prstGeom>
          <a:solidFill>
            <a:schemeClr val="accent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29" name="椭圆 28"/>
          <p:cNvSpPr/>
          <p:nvPr/>
        </p:nvSpPr>
        <p:spPr>
          <a:xfrm flipH="1">
            <a:off x="725877" y="1041698"/>
            <a:ext cx="225351" cy="225351"/>
          </a:xfrm>
          <a:prstGeom prst="ellipse">
            <a:avLst/>
          </a:prstGeom>
          <a:solidFill>
            <a:schemeClr val="accent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30" name="椭圆 29"/>
          <p:cNvSpPr/>
          <p:nvPr/>
        </p:nvSpPr>
        <p:spPr>
          <a:xfrm flipH="1">
            <a:off x="1131651" y="663704"/>
            <a:ext cx="808156" cy="80815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4A088-84C6-4E25-8974-50052BF70A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551D-C697-47F0-8D0F-B52E443477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/>
          <p:cNvSpPr/>
          <p:nvPr/>
        </p:nvSpPr>
        <p:spPr>
          <a:xfrm>
            <a:off x="1065127" y="1899138"/>
            <a:ext cx="2471896" cy="2471896"/>
          </a:xfrm>
          <a:prstGeom prst="ellipse">
            <a:avLst/>
          </a:prstGeom>
          <a:solidFill>
            <a:schemeClr val="accent1">
              <a:lumMod val="60000"/>
              <a:lumOff val="40000"/>
              <a:alpha val="79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椭圆 7"/>
          <p:cNvSpPr/>
          <p:nvPr/>
        </p:nvSpPr>
        <p:spPr>
          <a:xfrm>
            <a:off x="1406771" y="2240783"/>
            <a:ext cx="1788607" cy="178860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9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3537023" y="3155182"/>
            <a:ext cx="6450480" cy="0"/>
          </a:xfrm>
          <a:prstGeom prst="line">
            <a:avLst/>
          </a:prstGeom>
          <a:ln w="15875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/>
          <p:cNvSpPr/>
          <p:nvPr/>
        </p:nvSpPr>
        <p:spPr>
          <a:xfrm>
            <a:off x="2570805" y="5051810"/>
            <a:ext cx="221064" cy="22106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1" name="椭圆 10"/>
          <p:cNvSpPr/>
          <p:nvPr/>
        </p:nvSpPr>
        <p:spPr>
          <a:xfrm>
            <a:off x="1577694" y="4557767"/>
            <a:ext cx="309823" cy="309823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76200" dist="38100" dir="2700000" algn="tl" rotWithShape="0">
              <a:srgbClr val="2B579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椭圆 11"/>
          <p:cNvSpPr/>
          <p:nvPr/>
        </p:nvSpPr>
        <p:spPr>
          <a:xfrm>
            <a:off x="1848999" y="6108561"/>
            <a:ext cx="221064" cy="22106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椭圆 12"/>
          <p:cNvSpPr/>
          <p:nvPr/>
        </p:nvSpPr>
        <p:spPr>
          <a:xfrm>
            <a:off x="2791869" y="5716676"/>
            <a:ext cx="147376" cy="14737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76200" dist="38100" dir="2700000" algn="tl" rotWithShape="0">
              <a:srgbClr val="2B579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椭圆 13"/>
          <p:cNvSpPr/>
          <p:nvPr/>
        </p:nvSpPr>
        <p:spPr>
          <a:xfrm>
            <a:off x="2359791" y="4068746"/>
            <a:ext cx="147376" cy="14737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611331" y="2149466"/>
            <a:ext cx="6223772" cy="978729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611331" y="3231383"/>
            <a:ext cx="6220880" cy="535531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4A088-84C6-4E25-8974-50052BF70A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551D-C697-47F0-8D0F-B52E443477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4A088-84C6-4E25-8974-50052BF70A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551D-C697-47F0-8D0F-B52E443477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15022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4A088-84C6-4E25-8974-50052BF70A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551D-C697-47F0-8D0F-B52E443477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1533823" y="1"/>
            <a:ext cx="9145467" cy="1154099"/>
            <a:chOff x="1533823" y="0"/>
            <a:chExt cx="9145467" cy="1154099"/>
          </a:xfrm>
        </p:grpSpPr>
        <p:sp>
          <p:nvSpPr>
            <p:cNvPr id="7" name="任意多边形: 形状 6"/>
            <p:cNvSpPr/>
            <p:nvPr/>
          </p:nvSpPr>
          <p:spPr>
            <a:xfrm flipV="1">
              <a:off x="3133630" y="0"/>
              <a:ext cx="1328050" cy="1049462"/>
            </a:xfrm>
            <a:custGeom>
              <a:avLst/>
              <a:gdLst>
                <a:gd name="connsiteX0" fmla="*/ 125100 w 1328050"/>
                <a:gd name="connsiteY0" fmla="*/ 1049462 h 1049462"/>
                <a:gd name="connsiteX1" fmla="*/ 1202951 w 1328050"/>
                <a:gd name="connsiteY1" fmla="*/ 1049462 h 1049462"/>
                <a:gd name="connsiteX2" fmla="*/ 1214645 w 1328050"/>
                <a:gd name="connsiteY2" fmla="*/ 1035288 h 1049462"/>
                <a:gd name="connsiteX3" fmla="*/ 1328050 w 1328050"/>
                <a:gd name="connsiteY3" fmla="*/ 664025 h 1049462"/>
                <a:gd name="connsiteX4" fmla="*/ 664025 w 1328050"/>
                <a:gd name="connsiteY4" fmla="*/ 0 h 1049462"/>
                <a:gd name="connsiteX5" fmla="*/ 0 w 1328050"/>
                <a:gd name="connsiteY5" fmla="*/ 664025 h 1049462"/>
                <a:gd name="connsiteX6" fmla="*/ 113405 w 1328050"/>
                <a:gd name="connsiteY6" fmla="*/ 1035288 h 1049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28050" h="1049462">
                  <a:moveTo>
                    <a:pt x="125100" y="1049462"/>
                  </a:moveTo>
                  <a:lnTo>
                    <a:pt x="1202951" y="1049462"/>
                  </a:lnTo>
                  <a:lnTo>
                    <a:pt x="1214645" y="1035288"/>
                  </a:lnTo>
                  <a:cubicBezTo>
                    <a:pt x="1286243" y="929309"/>
                    <a:pt x="1328050" y="801549"/>
                    <a:pt x="1328050" y="664025"/>
                  </a:cubicBezTo>
                  <a:cubicBezTo>
                    <a:pt x="1328050" y="297294"/>
                    <a:pt x="1030756" y="0"/>
                    <a:pt x="664025" y="0"/>
                  </a:cubicBezTo>
                  <a:cubicBezTo>
                    <a:pt x="297294" y="0"/>
                    <a:pt x="0" y="297294"/>
                    <a:pt x="0" y="664025"/>
                  </a:cubicBezTo>
                  <a:cubicBezTo>
                    <a:pt x="0" y="801549"/>
                    <a:pt x="41807" y="929309"/>
                    <a:pt x="113405" y="103528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blurRad="1143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8" name="任意多边形: 形状 7"/>
            <p:cNvSpPr/>
            <p:nvPr/>
          </p:nvSpPr>
          <p:spPr>
            <a:xfrm flipV="1">
              <a:off x="4771823" y="0"/>
              <a:ext cx="777822" cy="459209"/>
            </a:xfrm>
            <a:custGeom>
              <a:avLst/>
              <a:gdLst>
                <a:gd name="connsiteX0" fmla="*/ 14193 w 777822"/>
                <a:gd name="connsiteY0" fmla="*/ 459209 h 459209"/>
                <a:gd name="connsiteX1" fmla="*/ 763630 w 777822"/>
                <a:gd name="connsiteY1" fmla="*/ 459209 h 459209"/>
                <a:gd name="connsiteX2" fmla="*/ 777822 w 777822"/>
                <a:gd name="connsiteY2" fmla="*/ 388911 h 459209"/>
                <a:gd name="connsiteX3" fmla="*/ 388911 w 777822"/>
                <a:gd name="connsiteY3" fmla="*/ 0 h 459209"/>
                <a:gd name="connsiteX4" fmla="*/ 0 w 777822"/>
                <a:gd name="connsiteY4" fmla="*/ 388911 h 459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7822" h="459209">
                  <a:moveTo>
                    <a:pt x="14193" y="459209"/>
                  </a:moveTo>
                  <a:lnTo>
                    <a:pt x="763630" y="459209"/>
                  </a:lnTo>
                  <a:lnTo>
                    <a:pt x="777822" y="388911"/>
                  </a:lnTo>
                  <a:cubicBezTo>
                    <a:pt x="777822" y="174121"/>
                    <a:pt x="603701" y="0"/>
                    <a:pt x="388911" y="0"/>
                  </a:cubicBezTo>
                  <a:cubicBezTo>
                    <a:pt x="174121" y="0"/>
                    <a:pt x="0" y="174121"/>
                    <a:pt x="0" y="3889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286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9" name="椭圆 8"/>
            <p:cNvSpPr/>
            <p:nvPr/>
          </p:nvSpPr>
          <p:spPr>
            <a:xfrm flipV="1">
              <a:off x="5834776" y="271636"/>
              <a:ext cx="777826" cy="7778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0" name="任意多边形: 形状 9"/>
            <p:cNvSpPr/>
            <p:nvPr/>
          </p:nvSpPr>
          <p:spPr>
            <a:xfrm flipV="1">
              <a:off x="7112798" y="0"/>
              <a:ext cx="887872" cy="629286"/>
            </a:xfrm>
            <a:custGeom>
              <a:avLst/>
              <a:gdLst>
                <a:gd name="connsiteX0" fmla="*/ 41699 w 887872"/>
                <a:gd name="connsiteY0" fmla="*/ 629286 h 629286"/>
                <a:gd name="connsiteX1" fmla="*/ 846174 w 887872"/>
                <a:gd name="connsiteY1" fmla="*/ 629286 h 629286"/>
                <a:gd name="connsiteX2" fmla="*/ 852986 w 887872"/>
                <a:gd name="connsiteY2" fmla="*/ 616736 h 629286"/>
                <a:gd name="connsiteX3" fmla="*/ 887872 w 887872"/>
                <a:gd name="connsiteY3" fmla="*/ 443936 h 629286"/>
                <a:gd name="connsiteX4" fmla="*/ 443936 w 887872"/>
                <a:gd name="connsiteY4" fmla="*/ 0 h 629286"/>
                <a:gd name="connsiteX5" fmla="*/ 0 w 887872"/>
                <a:gd name="connsiteY5" fmla="*/ 443936 h 629286"/>
                <a:gd name="connsiteX6" fmla="*/ 34887 w 887872"/>
                <a:gd name="connsiteY6" fmla="*/ 616736 h 629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7872" h="629286">
                  <a:moveTo>
                    <a:pt x="41699" y="629286"/>
                  </a:moveTo>
                  <a:lnTo>
                    <a:pt x="846174" y="629286"/>
                  </a:lnTo>
                  <a:lnTo>
                    <a:pt x="852986" y="616736"/>
                  </a:lnTo>
                  <a:cubicBezTo>
                    <a:pt x="875450" y="563624"/>
                    <a:pt x="887872" y="505231"/>
                    <a:pt x="887872" y="443936"/>
                  </a:cubicBezTo>
                  <a:cubicBezTo>
                    <a:pt x="887872" y="198757"/>
                    <a:pt x="689115" y="0"/>
                    <a:pt x="443936" y="0"/>
                  </a:cubicBezTo>
                  <a:cubicBezTo>
                    <a:pt x="198757" y="0"/>
                    <a:pt x="0" y="198757"/>
                    <a:pt x="0" y="443936"/>
                  </a:cubicBezTo>
                  <a:cubicBezTo>
                    <a:pt x="0" y="505231"/>
                    <a:pt x="12423" y="563624"/>
                    <a:pt x="34887" y="61673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11" name="任意多边形: 形状 10"/>
            <p:cNvSpPr/>
            <p:nvPr/>
          </p:nvSpPr>
          <p:spPr>
            <a:xfrm flipV="1">
              <a:off x="8333916" y="1"/>
              <a:ext cx="1450608" cy="1143677"/>
            </a:xfrm>
            <a:custGeom>
              <a:avLst/>
              <a:gdLst>
                <a:gd name="connsiteX0" fmla="*/ 134472 w 1450608"/>
                <a:gd name="connsiteY0" fmla="*/ 1143677 h 1143677"/>
                <a:gd name="connsiteX1" fmla="*/ 1316136 w 1450608"/>
                <a:gd name="connsiteY1" fmla="*/ 1143677 h 1143677"/>
                <a:gd name="connsiteX2" fmla="*/ 1326737 w 1450608"/>
                <a:gd name="connsiteY2" fmla="*/ 1130828 h 1143677"/>
                <a:gd name="connsiteX3" fmla="*/ 1450608 w 1450608"/>
                <a:gd name="connsiteY3" fmla="*/ 725304 h 1143677"/>
                <a:gd name="connsiteX4" fmla="*/ 725304 w 1450608"/>
                <a:gd name="connsiteY4" fmla="*/ 0 h 1143677"/>
                <a:gd name="connsiteX5" fmla="*/ 0 w 1450608"/>
                <a:gd name="connsiteY5" fmla="*/ 725304 h 1143677"/>
                <a:gd name="connsiteX6" fmla="*/ 123871 w 1450608"/>
                <a:gd name="connsiteY6" fmla="*/ 1130828 h 1143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0608" h="1143677">
                  <a:moveTo>
                    <a:pt x="134472" y="1143677"/>
                  </a:moveTo>
                  <a:lnTo>
                    <a:pt x="1316136" y="1143677"/>
                  </a:lnTo>
                  <a:lnTo>
                    <a:pt x="1326737" y="1130828"/>
                  </a:lnTo>
                  <a:cubicBezTo>
                    <a:pt x="1404943" y="1015069"/>
                    <a:pt x="1450608" y="875519"/>
                    <a:pt x="1450608" y="725304"/>
                  </a:cubicBezTo>
                  <a:cubicBezTo>
                    <a:pt x="1450608" y="324730"/>
                    <a:pt x="1125878" y="0"/>
                    <a:pt x="725304" y="0"/>
                  </a:cubicBezTo>
                  <a:cubicBezTo>
                    <a:pt x="324730" y="0"/>
                    <a:pt x="0" y="324730"/>
                    <a:pt x="0" y="725304"/>
                  </a:cubicBezTo>
                  <a:cubicBezTo>
                    <a:pt x="0" y="875519"/>
                    <a:pt x="45665" y="1015069"/>
                    <a:pt x="123871" y="1130828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72000"/>
              </a:schemeClr>
            </a:solidFill>
            <a:ln>
              <a:noFill/>
            </a:ln>
            <a:effectLst>
              <a:outerShdw blurRad="1905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12" name="椭圆 11"/>
            <p:cNvSpPr/>
            <p:nvPr/>
          </p:nvSpPr>
          <p:spPr>
            <a:xfrm flipV="1">
              <a:off x="2286980" y="511738"/>
              <a:ext cx="561520" cy="5615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3" name="任意多边形: 形状 12"/>
            <p:cNvSpPr/>
            <p:nvPr/>
          </p:nvSpPr>
          <p:spPr>
            <a:xfrm flipV="1">
              <a:off x="1533823" y="0"/>
              <a:ext cx="786976" cy="418373"/>
            </a:xfrm>
            <a:custGeom>
              <a:avLst/>
              <a:gdLst>
                <a:gd name="connsiteX0" fmla="*/ 2509 w 786976"/>
                <a:gd name="connsiteY0" fmla="*/ 418373 h 418373"/>
                <a:gd name="connsiteX1" fmla="*/ 784468 w 786976"/>
                <a:gd name="connsiteY1" fmla="*/ 418373 h 418373"/>
                <a:gd name="connsiteX2" fmla="*/ 786976 w 786976"/>
                <a:gd name="connsiteY2" fmla="*/ 393488 h 418373"/>
                <a:gd name="connsiteX3" fmla="*/ 393488 w 786976"/>
                <a:gd name="connsiteY3" fmla="*/ 0 h 418373"/>
                <a:gd name="connsiteX4" fmla="*/ 0 w 786976"/>
                <a:gd name="connsiteY4" fmla="*/ 393488 h 418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976" h="418373">
                  <a:moveTo>
                    <a:pt x="2509" y="418373"/>
                  </a:moveTo>
                  <a:lnTo>
                    <a:pt x="784468" y="418373"/>
                  </a:lnTo>
                  <a:lnTo>
                    <a:pt x="786976" y="393488"/>
                  </a:lnTo>
                  <a:cubicBezTo>
                    <a:pt x="786976" y="176171"/>
                    <a:pt x="610805" y="0"/>
                    <a:pt x="393488" y="0"/>
                  </a:cubicBezTo>
                  <a:cubicBezTo>
                    <a:pt x="176171" y="0"/>
                    <a:pt x="0" y="176171"/>
                    <a:pt x="0" y="3934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14" name="椭圆 13"/>
            <p:cNvSpPr/>
            <p:nvPr/>
          </p:nvSpPr>
          <p:spPr>
            <a:xfrm flipV="1">
              <a:off x="10117770" y="483400"/>
              <a:ext cx="561520" cy="56152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5" name="椭圆 14"/>
            <p:cNvSpPr/>
            <p:nvPr/>
          </p:nvSpPr>
          <p:spPr>
            <a:xfrm flipV="1">
              <a:off x="6819661" y="779752"/>
              <a:ext cx="374347" cy="374347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grpSp>
        <p:nvGrpSpPr>
          <p:cNvPr id="16" name="组合 15"/>
          <p:cNvGrpSpPr/>
          <p:nvPr/>
        </p:nvGrpSpPr>
        <p:grpSpPr>
          <a:xfrm flipV="1">
            <a:off x="1533823" y="5695274"/>
            <a:ext cx="9145467" cy="1154099"/>
            <a:chOff x="1533823" y="0"/>
            <a:chExt cx="9145467" cy="1154099"/>
          </a:xfrm>
        </p:grpSpPr>
        <p:sp>
          <p:nvSpPr>
            <p:cNvPr id="17" name="任意多边形: 形状 16"/>
            <p:cNvSpPr/>
            <p:nvPr/>
          </p:nvSpPr>
          <p:spPr>
            <a:xfrm flipV="1">
              <a:off x="3133630" y="0"/>
              <a:ext cx="1328050" cy="1049462"/>
            </a:xfrm>
            <a:custGeom>
              <a:avLst/>
              <a:gdLst>
                <a:gd name="connsiteX0" fmla="*/ 125100 w 1328050"/>
                <a:gd name="connsiteY0" fmla="*/ 1049462 h 1049462"/>
                <a:gd name="connsiteX1" fmla="*/ 1202951 w 1328050"/>
                <a:gd name="connsiteY1" fmla="*/ 1049462 h 1049462"/>
                <a:gd name="connsiteX2" fmla="*/ 1214645 w 1328050"/>
                <a:gd name="connsiteY2" fmla="*/ 1035288 h 1049462"/>
                <a:gd name="connsiteX3" fmla="*/ 1328050 w 1328050"/>
                <a:gd name="connsiteY3" fmla="*/ 664025 h 1049462"/>
                <a:gd name="connsiteX4" fmla="*/ 664025 w 1328050"/>
                <a:gd name="connsiteY4" fmla="*/ 0 h 1049462"/>
                <a:gd name="connsiteX5" fmla="*/ 0 w 1328050"/>
                <a:gd name="connsiteY5" fmla="*/ 664025 h 1049462"/>
                <a:gd name="connsiteX6" fmla="*/ 113405 w 1328050"/>
                <a:gd name="connsiteY6" fmla="*/ 1035288 h 1049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28050" h="1049462">
                  <a:moveTo>
                    <a:pt x="125100" y="1049462"/>
                  </a:moveTo>
                  <a:lnTo>
                    <a:pt x="1202951" y="1049462"/>
                  </a:lnTo>
                  <a:lnTo>
                    <a:pt x="1214645" y="1035288"/>
                  </a:lnTo>
                  <a:cubicBezTo>
                    <a:pt x="1286243" y="929309"/>
                    <a:pt x="1328050" y="801549"/>
                    <a:pt x="1328050" y="664025"/>
                  </a:cubicBezTo>
                  <a:cubicBezTo>
                    <a:pt x="1328050" y="297294"/>
                    <a:pt x="1030756" y="0"/>
                    <a:pt x="664025" y="0"/>
                  </a:cubicBezTo>
                  <a:cubicBezTo>
                    <a:pt x="297294" y="0"/>
                    <a:pt x="0" y="297294"/>
                    <a:pt x="0" y="664025"/>
                  </a:cubicBezTo>
                  <a:cubicBezTo>
                    <a:pt x="0" y="801549"/>
                    <a:pt x="41807" y="929309"/>
                    <a:pt x="113405" y="103528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blurRad="1143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18" name="任意多边形: 形状 17"/>
            <p:cNvSpPr/>
            <p:nvPr/>
          </p:nvSpPr>
          <p:spPr>
            <a:xfrm flipV="1">
              <a:off x="4771823" y="0"/>
              <a:ext cx="777822" cy="459209"/>
            </a:xfrm>
            <a:custGeom>
              <a:avLst/>
              <a:gdLst>
                <a:gd name="connsiteX0" fmla="*/ 14193 w 777822"/>
                <a:gd name="connsiteY0" fmla="*/ 459209 h 459209"/>
                <a:gd name="connsiteX1" fmla="*/ 763630 w 777822"/>
                <a:gd name="connsiteY1" fmla="*/ 459209 h 459209"/>
                <a:gd name="connsiteX2" fmla="*/ 777822 w 777822"/>
                <a:gd name="connsiteY2" fmla="*/ 388911 h 459209"/>
                <a:gd name="connsiteX3" fmla="*/ 388911 w 777822"/>
                <a:gd name="connsiteY3" fmla="*/ 0 h 459209"/>
                <a:gd name="connsiteX4" fmla="*/ 0 w 777822"/>
                <a:gd name="connsiteY4" fmla="*/ 388911 h 459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7822" h="459209">
                  <a:moveTo>
                    <a:pt x="14193" y="459209"/>
                  </a:moveTo>
                  <a:lnTo>
                    <a:pt x="763630" y="459209"/>
                  </a:lnTo>
                  <a:lnTo>
                    <a:pt x="777822" y="388911"/>
                  </a:lnTo>
                  <a:cubicBezTo>
                    <a:pt x="777822" y="174121"/>
                    <a:pt x="603701" y="0"/>
                    <a:pt x="388911" y="0"/>
                  </a:cubicBezTo>
                  <a:cubicBezTo>
                    <a:pt x="174121" y="0"/>
                    <a:pt x="0" y="174121"/>
                    <a:pt x="0" y="3889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286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19" name="椭圆 18"/>
            <p:cNvSpPr/>
            <p:nvPr/>
          </p:nvSpPr>
          <p:spPr>
            <a:xfrm flipV="1">
              <a:off x="5834776" y="271636"/>
              <a:ext cx="777826" cy="7778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" name="任意多边形: 形状 19"/>
            <p:cNvSpPr/>
            <p:nvPr/>
          </p:nvSpPr>
          <p:spPr>
            <a:xfrm flipV="1">
              <a:off x="7112798" y="0"/>
              <a:ext cx="887872" cy="629286"/>
            </a:xfrm>
            <a:custGeom>
              <a:avLst/>
              <a:gdLst>
                <a:gd name="connsiteX0" fmla="*/ 41699 w 887872"/>
                <a:gd name="connsiteY0" fmla="*/ 629286 h 629286"/>
                <a:gd name="connsiteX1" fmla="*/ 846174 w 887872"/>
                <a:gd name="connsiteY1" fmla="*/ 629286 h 629286"/>
                <a:gd name="connsiteX2" fmla="*/ 852986 w 887872"/>
                <a:gd name="connsiteY2" fmla="*/ 616736 h 629286"/>
                <a:gd name="connsiteX3" fmla="*/ 887872 w 887872"/>
                <a:gd name="connsiteY3" fmla="*/ 443936 h 629286"/>
                <a:gd name="connsiteX4" fmla="*/ 443936 w 887872"/>
                <a:gd name="connsiteY4" fmla="*/ 0 h 629286"/>
                <a:gd name="connsiteX5" fmla="*/ 0 w 887872"/>
                <a:gd name="connsiteY5" fmla="*/ 443936 h 629286"/>
                <a:gd name="connsiteX6" fmla="*/ 34887 w 887872"/>
                <a:gd name="connsiteY6" fmla="*/ 616736 h 629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7872" h="629286">
                  <a:moveTo>
                    <a:pt x="41699" y="629286"/>
                  </a:moveTo>
                  <a:lnTo>
                    <a:pt x="846174" y="629286"/>
                  </a:lnTo>
                  <a:lnTo>
                    <a:pt x="852986" y="616736"/>
                  </a:lnTo>
                  <a:cubicBezTo>
                    <a:pt x="875450" y="563624"/>
                    <a:pt x="887872" y="505231"/>
                    <a:pt x="887872" y="443936"/>
                  </a:cubicBezTo>
                  <a:cubicBezTo>
                    <a:pt x="887872" y="198757"/>
                    <a:pt x="689115" y="0"/>
                    <a:pt x="443936" y="0"/>
                  </a:cubicBezTo>
                  <a:cubicBezTo>
                    <a:pt x="198757" y="0"/>
                    <a:pt x="0" y="198757"/>
                    <a:pt x="0" y="443936"/>
                  </a:cubicBezTo>
                  <a:cubicBezTo>
                    <a:pt x="0" y="505231"/>
                    <a:pt x="12423" y="563624"/>
                    <a:pt x="34887" y="61673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21" name="任意多边形: 形状 20"/>
            <p:cNvSpPr/>
            <p:nvPr/>
          </p:nvSpPr>
          <p:spPr>
            <a:xfrm flipV="1">
              <a:off x="8333916" y="1"/>
              <a:ext cx="1450608" cy="1143677"/>
            </a:xfrm>
            <a:custGeom>
              <a:avLst/>
              <a:gdLst>
                <a:gd name="connsiteX0" fmla="*/ 134472 w 1450608"/>
                <a:gd name="connsiteY0" fmla="*/ 1143677 h 1143677"/>
                <a:gd name="connsiteX1" fmla="*/ 1316136 w 1450608"/>
                <a:gd name="connsiteY1" fmla="*/ 1143677 h 1143677"/>
                <a:gd name="connsiteX2" fmla="*/ 1326737 w 1450608"/>
                <a:gd name="connsiteY2" fmla="*/ 1130828 h 1143677"/>
                <a:gd name="connsiteX3" fmla="*/ 1450608 w 1450608"/>
                <a:gd name="connsiteY3" fmla="*/ 725304 h 1143677"/>
                <a:gd name="connsiteX4" fmla="*/ 725304 w 1450608"/>
                <a:gd name="connsiteY4" fmla="*/ 0 h 1143677"/>
                <a:gd name="connsiteX5" fmla="*/ 0 w 1450608"/>
                <a:gd name="connsiteY5" fmla="*/ 725304 h 1143677"/>
                <a:gd name="connsiteX6" fmla="*/ 123871 w 1450608"/>
                <a:gd name="connsiteY6" fmla="*/ 1130828 h 1143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0608" h="1143677">
                  <a:moveTo>
                    <a:pt x="134472" y="1143677"/>
                  </a:moveTo>
                  <a:lnTo>
                    <a:pt x="1316136" y="1143677"/>
                  </a:lnTo>
                  <a:lnTo>
                    <a:pt x="1326737" y="1130828"/>
                  </a:lnTo>
                  <a:cubicBezTo>
                    <a:pt x="1404943" y="1015069"/>
                    <a:pt x="1450608" y="875519"/>
                    <a:pt x="1450608" y="725304"/>
                  </a:cubicBezTo>
                  <a:cubicBezTo>
                    <a:pt x="1450608" y="324730"/>
                    <a:pt x="1125878" y="0"/>
                    <a:pt x="725304" y="0"/>
                  </a:cubicBezTo>
                  <a:cubicBezTo>
                    <a:pt x="324730" y="0"/>
                    <a:pt x="0" y="324730"/>
                    <a:pt x="0" y="725304"/>
                  </a:cubicBezTo>
                  <a:cubicBezTo>
                    <a:pt x="0" y="875519"/>
                    <a:pt x="45665" y="1015069"/>
                    <a:pt x="123871" y="1130828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72000"/>
              </a:schemeClr>
            </a:solidFill>
            <a:ln>
              <a:noFill/>
            </a:ln>
            <a:effectLst>
              <a:outerShdw blurRad="1905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22" name="椭圆 21"/>
            <p:cNvSpPr/>
            <p:nvPr/>
          </p:nvSpPr>
          <p:spPr>
            <a:xfrm flipV="1">
              <a:off x="2286980" y="511738"/>
              <a:ext cx="561520" cy="5615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3" name="任意多边形: 形状 22"/>
            <p:cNvSpPr/>
            <p:nvPr/>
          </p:nvSpPr>
          <p:spPr>
            <a:xfrm flipV="1">
              <a:off x="1533823" y="0"/>
              <a:ext cx="786976" cy="418373"/>
            </a:xfrm>
            <a:custGeom>
              <a:avLst/>
              <a:gdLst>
                <a:gd name="connsiteX0" fmla="*/ 2509 w 786976"/>
                <a:gd name="connsiteY0" fmla="*/ 418373 h 418373"/>
                <a:gd name="connsiteX1" fmla="*/ 784468 w 786976"/>
                <a:gd name="connsiteY1" fmla="*/ 418373 h 418373"/>
                <a:gd name="connsiteX2" fmla="*/ 786976 w 786976"/>
                <a:gd name="connsiteY2" fmla="*/ 393488 h 418373"/>
                <a:gd name="connsiteX3" fmla="*/ 393488 w 786976"/>
                <a:gd name="connsiteY3" fmla="*/ 0 h 418373"/>
                <a:gd name="connsiteX4" fmla="*/ 0 w 786976"/>
                <a:gd name="connsiteY4" fmla="*/ 393488 h 418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976" h="418373">
                  <a:moveTo>
                    <a:pt x="2509" y="418373"/>
                  </a:moveTo>
                  <a:lnTo>
                    <a:pt x="784468" y="418373"/>
                  </a:lnTo>
                  <a:lnTo>
                    <a:pt x="786976" y="393488"/>
                  </a:lnTo>
                  <a:cubicBezTo>
                    <a:pt x="786976" y="176171"/>
                    <a:pt x="610805" y="0"/>
                    <a:pt x="393488" y="0"/>
                  </a:cubicBezTo>
                  <a:cubicBezTo>
                    <a:pt x="176171" y="0"/>
                    <a:pt x="0" y="176171"/>
                    <a:pt x="0" y="3934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24" name="椭圆 23"/>
            <p:cNvSpPr/>
            <p:nvPr/>
          </p:nvSpPr>
          <p:spPr>
            <a:xfrm flipV="1">
              <a:off x="10117770" y="483400"/>
              <a:ext cx="561520" cy="56152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5" name="椭圆 24"/>
            <p:cNvSpPr/>
            <p:nvPr/>
          </p:nvSpPr>
          <p:spPr>
            <a:xfrm flipV="1">
              <a:off x="6819661" y="779752"/>
              <a:ext cx="374347" cy="374347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965889" y="2302403"/>
            <a:ext cx="10515600" cy="1569660"/>
          </a:xfrm>
        </p:spPr>
        <p:txBody>
          <a:bodyPr>
            <a:normAutofit/>
          </a:bodyPr>
          <a:lstStyle>
            <a:lvl1pPr algn="ctr">
              <a:defRPr sz="8000"/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4A088-84C6-4E25-8974-50052BF70A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551D-C697-47F0-8D0F-B52E443477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4A088-84C6-4E25-8974-50052BF70A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551D-C697-47F0-8D0F-B52E443477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7" y="457200"/>
            <a:ext cx="4165200" cy="1600200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457200"/>
            <a:ext cx="6170400" cy="540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7" y="2057400"/>
            <a:ext cx="41652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396603" y="365125"/>
            <a:ext cx="957197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9445668" cy="5811838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4A088-84C6-4E25-8974-50052BF70A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551D-C697-47F0-8D0F-B52E443477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4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34585" y="617538"/>
            <a:ext cx="10390716" cy="11430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860117" y="2017713"/>
            <a:ext cx="5080000" cy="19812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860117" y="4151313"/>
            <a:ext cx="5080000" cy="19812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fld id="{77F18F3A-1BDA-47FF-B365-01D42A5E3B1E}" type="datetime1">
              <a:rPr lang="zh-CN" altLang="en-US" sz="1400" smtClean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rPr>
            </a:fld>
            <a:endParaRPr lang="en-US" altLang="zh-CN" sz="1400">
              <a:solidFill>
                <a:schemeClr val="tx1"/>
              </a:solidFill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rPr>
              <a:t>STA 677.001</a:t>
            </a:r>
            <a:endParaRPr lang="en-US" altLang="zh-CN" sz="1400">
              <a:solidFill>
                <a:schemeClr val="tx1"/>
              </a:solidFill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lang="zh-CN" altLang="en-US" strike="noStrike" noProof="1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tags" Target="../tags/tag3.xml"/><Relationship Id="rId14" Type="http://schemas.openxmlformats.org/officeDocument/2006/relationships/tags" Target="../tags/tag2.xml"/><Relationship Id="rId13" Type="http://schemas.openxmlformats.org/officeDocument/2006/relationships/tags" Target="../tags/tag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 rot="10800000">
            <a:off x="46587" y="5707287"/>
            <a:ext cx="1430939" cy="1085390"/>
            <a:chOff x="46587" y="5707287"/>
            <a:chExt cx="1430938" cy="1085390"/>
          </a:xfrm>
        </p:grpSpPr>
        <p:sp>
          <p:nvSpPr>
            <p:cNvPr id="8" name="椭圆 7"/>
            <p:cNvSpPr/>
            <p:nvPr/>
          </p:nvSpPr>
          <p:spPr>
            <a:xfrm>
              <a:off x="649487" y="6446845"/>
              <a:ext cx="345832" cy="34583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9" name="椭圆 8"/>
            <p:cNvSpPr/>
            <p:nvPr/>
          </p:nvSpPr>
          <p:spPr>
            <a:xfrm>
              <a:off x="966734" y="5707287"/>
              <a:ext cx="510791" cy="510791"/>
            </a:xfrm>
            <a:prstGeom prst="ellipse">
              <a:avLst/>
            </a:prstGeom>
            <a:solidFill>
              <a:schemeClr val="accent1">
                <a:lumMod val="75000"/>
                <a:alpha val="65000"/>
              </a:schemeClr>
            </a:solidFill>
            <a:ln>
              <a:noFill/>
            </a:ln>
            <a:effectLst>
              <a:outerShdw blurRad="76200" dist="38100" dir="2700000" algn="tl" rotWithShape="0">
                <a:srgbClr val="2B579A">
                  <a:alpha val="5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0" name="椭圆 9"/>
            <p:cNvSpPr/>
            <p:nvPr/>
          </p:nvSpPr>
          <p:spPr>
            <a:xfrm>
              <a:off x="46587" y="6234989"/>
              <a:ext cx="221063" cy="221063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75000"/>
              </a:schemeClr>
            </a:solidFill>
            <a:ln>
              <a:noFill/>
            </a:ln>
            <a:effectLst>
              <a:outerShdw blurRad="76200" dist="38100" dir="2700000" algn="tl" rotWithShape="0">
                <a:srgbClr val="2B579A">
                  <a:alpha val="61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lnSpc>
                <a:spcPct val="120000"/>
              </a:lnSpc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A6D4A088-84C6-4E25-8974-50052BF70A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120000"/>
              </a:lnSpc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lnSpc>
                <a:spcPct val="120000"/>
              </a:lnSpc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15F6551D-C697-47F0-8D0F-B52E4434774B}" type="slidenum">
              <a:rPr lang="zh-CN" altLang="en-US" smtClean="0"/>
            </a:fld>
            <a:endParaRPr lang="zh-CN" altLang="en-US"/>
          </a:p>
        </p:txBody>
      </p:sp>
      <p:sp>
        <p:nvSpPr>
          <p:cNvPr id="11" name="KSO_TEMPLATE" hidden="1"/>
          <p:cNvSpPr/>
          <p:nvPr>
            <p:custDataLst>
              <p:tags r:id="rId1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44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9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e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e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3.wmf"/><Relationship Id="rId1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5.wmf"/><Relationship Id="rId3" Type="http://schemas.openxmlformats.org/officeDocument/2006/relationships/oleObject" Target="../embeddings/oleObject5.bin"/><Relationship Id="rId2" Type="http://schemas.openxmlformats.org/officeDocument/2006/relationships/image" Target="../media/image3.wmf"/><Relationship Id="rId1" Type="http://schemas.openxmlformats.org/officeDocument/2006/relationships/oleObject" Target="../embeddings/oleObject4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0.wmf"/><Relationship Id="rId7" Type="http://schemas.openxmlformats.org/officeDocument/2006/relationships/oleObject" Target="../embeddings/oleObject10.bin"/><Relationship Id="rId6" Type="http://schemas.openxmlformats.org/officeDocument/2006/relationships/image" Target="../media/image9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8.wmf"/><Relationship Id="rId3" Type="http://schemas.openxmlformats.org/officeDocument/2006/relationships/oleObject" Target="../embeddings/oleObject8.bin"/><Relationship Id="rId2" Type="http://schemas.openxmlformats.org/officeDocument/2006/relationships/image" Target="../media/image7.wmf"/><Relationship Id="rId10" Type="http://schemas.openxmlformats.org/officeDocument/2006/relationships/vmlDrawing" Target="../drawings/vmlDrawing4.vml"/><Relationship Id="rId1" Type="http://schemas.openxmlformats.org/officeDocument/2006/relationships/oleObject" Target="../embeddings/oleObject7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wmf"/><Relationship Id="rId1" Type="http://schemas.openxmlformats.org/officeDocument/2006/relationships/oleObject" Target="../embeddings/oleObject11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6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3.wmf"/><Relationship Id="rId3" Type="http://schemas.openxmlformats.org/officeDocument/2006/relationships/oleObject" Target="../embeddings/oleObject13.bin"/><Relationship Id="rId2" Type="http://schemas.openxmlformats.org/officeDocument/2006/relationships/image" Target="../media/image12.wmf"/><Relationship Id="rId1" Type="http://schemas.openxmlformats.org/officeDocument/2006/relationships/oleObject" Target="../embeddings/oleObject12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7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15.wmf"/><Relationship Id="rId3" Type="http://schemas.openxmlformats.org/officeDocument/2006/relationships/oleObject" Target="../embeddings/oleObject16.bin"/><Relationship Id="rId2" Type="http://schemas.openxmlformats.org/officeDocument/2006/relationships/image" Target="../media/image14.wmf"/><Relationship Id="rId1" Type="http://schemas.openxmlformats.org/officeDocument/2006/relationships/oleObject" Target="../embeddings/oleObject15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0.bin"/><Relationship Id="rId8" Type="http://schemas.openxmlformats.org/officeDocument/2006/relationships/image" Target="../media/image22.png"/><Relationship Id="rId7" Type="http://schemas.openxmlformats.org/officeDocument/2006/relationships/image" Target="../media/image21.wmf"/><Relationship Id="rId6" Type="http://schemas.openxmlformats.org/officeDocument/2006/relationships/oleObject" Target="../embeddings/oleObject19.bin"/><Relationship Id="rId5" Type="http://schemas.openxmlformats.org/officeDocument/2006/relationships/image" Target="../media/image20.wmf"/><Relationship Id="rId4" Type="http://schemas.openxmlformats.org/officeDocument/2006/relationships/oleObject" Target="../embeddings/oleObject18.bin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2" Type="http://schemas.openxmlformats.org/officeDocument/2006/relationships/vmlDrawing" Target="../drawings/vmlDrawing8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23.wmf"/><Relationship Id="rId1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9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5.png"/><Relationship Id="rId2" Type="http://schemas.openxmlformats.org/officeDocument/2006/relationships/image" Target="../media/image24.wmf"/><Relationship Id="rId1" Type="http://schemas.openxmlformats.org/officeDocument/2006/relationships/oleObject" Target="../embeddings/oleObject21.bin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0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6.wmf"/><Relationship Id="rId1" Type="http://schemas.openxmlformats.org/officeDocument/2006/relationships/oleObject" Target="../embeddings/oleObject22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vmlDrawing" Target="../drawings/vmlDrawing11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28.wmf"/><Relationship Id="rId3" Type="http://schemas.openxmlformats.org/officeDocument/2006/relationships/oleObject" Target="../embeddings/oleObject24.bin"/><Relationship Id="rId2" Type="http://schemas.openxmlformats.org/officeDocument/2006/relationships/image" Target="../media/image27.wmf"/><Relationship Id="rId1" Type="http://schemas.openxmlformats.org/officeDocument/2006/relationships/oleObject" Target="../embeddings/oleObject23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0.bin"/><Relationship Id="rId8" Type="http://schemas.openxmlformats.org/officeDocument/2006/relationships/image" Target="../media/image33.wmf"/><Relationship Id="rId7" Type="http://schemas.openxmlformats.org/officeDocument/2006/relationships/oleObject" Target="../embeddings/oleObject29.bin"/><Relationship Id="rId6" Type="http://schemas.openxmlformats.org/officeDocument/2006/relationships/image" Target="../media/image32.w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31.wmf"/><Relationship Id="rId3" Type="http://schemas.openxmlformats.org/officeDocument/2006/relationships/oleObject" Target="../embeddings/oleObject27.bin"/><Relationship Id="rId2" Type="http://schemas.openxmlformats.org/officeDocument/2006/relationships/image" Target="../media/image30.wmf"/><Relationship Id="rId12" Type="http://schemas.openxmlformats.org/officeDocument/2006/relationships/vmlDrawing" Target="../drawings/vmlDrawing12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34.wmf"/><Relationship Id="rId1" Type="http://schemas.openxmlformats.org/officeDocument/2006/relationships/oleObject" Target="../embeddings/oleObject26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3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7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36.wmf"/><Relationship Id="rId3" Type="http://schemas.openxmlformats.org/officeDocument/2006/relationships/oleObject" Target="../embeddings/oleObject32.bin"/><Relationship Id="rId2" Type="http://schemas.openxmlformats.org/officeDocument/2006/relationships/image" Target="../media/image35.wmf"/><Relationship Id="rId1" Type="http://schemas.openxmlformats.org/officeDocument/2006/relationships/oleObject" Target="../embeddings/oleObject31.bin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8.wmf"/><Relationship Id="rId1" Type="http://schemas.openxmlformats.org/officeDocument/2006/relationships/oleObject" Target="../embeddings/oleObject34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5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41.e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40.wmf"/><Relationship Id="rId3" Type="http://schemas.openxmlformats.org/officeDocument/2006/relationships/oleObject" Target="../embeddings/oleObject36.bin"/><Relationship Id="rId2" Type="http://schemas.openxmlformats.org/officeDocument/2006/relationships/image" Target="../media/image39.wmf"/><Relationship Id="rId1" Type="http://schemas.openxmlformats.org/officeDocument/2006/relationships/oleObject" Target="../embeddings/oleObject35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6.v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45.wmf"/><Relationship Id="rId6" Type="http://schemas.openxmlformats.org/officeDocument/2006/relationships/oleObject" Target="../embeddings/oleObject40.bin"/><Relationship Id="rId5" Type="http://schemas.openxmlformats.org/officeDocument/2006/relationships/image" Target="../media/image44.wmf"/><Relationship Id="rId4" Type="http://schemas.openxmlformats.org/officeDocument/2006/relationships/oleObject" Target="../embeddings/oleObject39.bin"/><Relationship Id="rId3" Type="http://schemas.openxmlformats.org/officeDocument/2006/relationships/image" Target="../media/image43.png"/><Relationship Id="rId2" Type="http://schemas.openxmlformats.org/officeDocument/2006/relationships/image" Target="../media/image42.wmf"/><Relationship Id="rId1" Type="http://schemas.openxmlformats.org/officeDocument/2006/relationships/oleObject" Target="../embeddings/oleObject38.bin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7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7.png"/><Relationship Id="rId2" Type="http://schemas.openxmlformats.org/officeDocument/2006/relationships/image" Target="../media/image46.wmf"/><Relationship Id="rId1" Type="http://schemas.openxmlformats.org/officeDocument/2006/relationships/oleObject" Target="../embeddings/oleObject41.bin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8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8.wmf"/><Relationship Id="rId1" Type="http://schemas.openxmlformats.org/officeDocument/2006/relationships/oleObject" Target="../embeddings/oleObject42.bin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52.wmf"/><Relationship Id="rId7" Type="http://schemas.openxmlformats.org/officeDocument/2006/relationships/oleObject" Target="../embeddings/oleObject46.bin"/><Relationship Id="rId6" Type="http://schemas.openxmlformats.org/officeDocument/2006/relationships/image" Target="../media/image51.wmf"/><Relationship Id="rId5" Type="http://schemas.openxmlformats.org/officeDocument/2006/relationships/oleObject" Target="../embeddings/oleObject45.bin"/><Relationship Id="rId4" Type="http://schemas.openxmlformats.org/officeDocument/2006/relationships/image" Target="../media/image50.wmf"/><Relationship Id="rId3" Type="http://schemas.openxmlformats.org/officeDocument/2006/relationships/oleObject" Target="../embeddings/oleObject44.bin"/><Relationship Id="rId2" Type="http://schemas.openxmlformats.org/officeDocument/2006/relationships/image" Target="../media/image49.wmf"/><Relationship Id="rId10" Type="http://schemas.openxmlformats.org/officeDocument/2006/relationships/vmlDrawing" Target="../drawings/vmlDrawing19.vml"/><Relationship Id="rId1" Type="http://schemas.openxmlformats.org/officeDocument/2006/relationships/oleObject" Target="../embeddings/oleObject43.bin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0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5.wmf"/><Relationship Id="rId3" Type="http://schemas.openxmlformats.org/officeDocument/2006/relationships/oleObject" Target="../embeddings/oleObject47.bin"/><Relationship Id="rId2" Type="http://schemas.openxmlformats.org/officeDocument/2006/relationships/image" Target="../media/image54.png"/><Relationship Id="rId1" Type="http://schemas.openxmlformats.org/officeDocument/2006/relationships/image" Target="../media/image53.png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1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8.png"/><Relationship Id="rId3" Type="http://schemas.openxmlformats.org/officeDocument/2006/relationships/image" Target="../media/image57.png"/><Relationship Id="rId2" Type="http://schemas.openxmlformats.org/officeDocument/2006/relationships/image" Target="../media/image56.wmf"/><Relationship Id="rId1" Type="http://schemas.openxmlformats.org/officeDocument/2006/relationships/oleObject" Target="../embeddings/oleObject48.bin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2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61.png"/><Relationship Id="rId3" Type="http://schemas.openxmlformats.org/officeDocument/2006/relationships/image" Target="../media/image60.png"/><Relationship Id="rId2" Type="http://schemas.openxmlformats.org/officeDocument/2006/relationships/image" Target="../media/image59.wmf"/><Relationship Id="rId1" Type="http://schemas.openxmlformats.org/officeDocument/2006/relationships/oleObject" Target="../embeddings/oleObject49.bin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3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63.wmf"/><Relationship Id="rId3" Type="http://schemas.openxmlformats.org/officeDocument/2006/relationships/oleObject" Target="../embeddings/oleObject51.bin"/><Relationship Id="rId2" Type="http://schemas.openxmlformats.org/officeDocument/2006/relationships/image" Target="../media/image62.wmf"/><Relationship Id="rId1" Type="http://schemas.openxmlformats.org/officeDocument/2006/relationships/oleObject" Target="../embeddings/oleObject50.bin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6.bin"/><Relationship Id="rId8" Type="http://schemas.openxmlformats.org/officeDocument/2006/relationships/image" Target="../media/image66.wmf"/><Relationship Id="rId7" Type="http://schemas.openxmlformats.org/officeDocument/2006/relationships/oleObject" Target="../embeddings/oleObject55.bin"/><Relationship Id="rId6" Type="http://schemas.openxmlformats.org/officeDocument/2006/relationships/image" Target="../media/image65.wmf"/><Relationship Id="rId5" Type="http://schemas.openxmlformats.org/officeDocument/2006/relationships/oleObject" Target="../embeddings/oleObject54.bin"/><Relationship Id="rId4" Type="http://schemas.openxmlformats.org/officeDocument/2006/relationships/image" Target="../media/image64.wmf"/><Relationship Id="rId3" Type="http://schemas.openxmlformats.org/officeDocument/2006/relationships/oleObject" Target="../embeddings/oleObject53.bin"/><Relationship Id="rId2" Type="http://schemas.openxmlformats.org/officeDocument/2006/relationships/image" Target="../media/image62.wmf"/><Relationship Id="rId14" Type="http://schemas.openxmlformats.org/officeDocument/2006/relationships/vmlDrawing" Target="../drawings/vmlDrawing24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68.wmf"/><Relationship Id="rId11" Type="http://schemas.openxmlformats.org/officeDocument/2006/relationships/oleObject" Target="../embeddings/oleObject57.bin"/><Relationship Id="rId10" Type="http://schemas.openxmlformats.org/officeDocument/2006/relationships/image" Target="../media/image67.wmf"/><Relationship Id="rId1" Type="http://schemas.openxmlformats.org/officeDocument/2006/relationships/oleObject" Target="../embeddings/oleObject52.bin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image" Target="../media/image62.wmf"/><Relationship Id="rId8" Type="http://schemas.openxmlformats.org/officeDocument/2006/relationships/oleObject" Target="../embeddings/oleObject61.bin"/><Relationship Id="rId7" Type="http://schemas.openxmlformats.org/officeDocument/2006/relationships/image" Target="../media/image72.wmf"/><Relationship Id="rId6" Type="http://schemas.openxmlformats.org/officeDocument/2006/relationships/oleObject" Target="../embeddings/oleObject60.bin"/><Relationship Id="rId5" Type="http://schemas.openxmlformats.org/officeDocument/2006/relationships/image" Target="../media/image71.png"/><Relationship Id="rId4" Type="http://schemas.openxmlformats.org/officeDocument/2006/relationships/image" Target="../media/image70.wmf"/><Relationship Id="rId3" Type="http://schemas.openxmlformats.org/officeDocument/2006/relationships/oleObject" Target="../embeddings/oleObject59.bin"/><Relationship Id="rId2" Type="http://schemas.openxmlformats.org/officeDocument/2006/relationships/image" Target="../media/image69.wmf"/><Relationship Id="rId13" Type="http://schemas.openxmlformats.org/officeDocument/2006/relationships/vmlDrawing" Target="../drawings/vmlDrawing25.v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73.wmf"/><Relationship Id="rId10" Type="http://schemas.openxmlformats.org/officeDocument/2006/relationships/oleObject" Target="../embeddings/oleObject62.bin"/><Relationship Id="rId1" Type="http://schemas.openxmlformats.org/officeDocument/2006/relationships/oleObject" Target="../embeddings/oleObject58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6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75.wmf"/><Relationship Id="rId5" Type="http://schemas.openxmlformats.org/officeDocument/2006/relationships/oleObject" Target="../embeddings/oleObject65.bin"/><Relationship Id="rId4" Type="http://schemas.openxmlformats.org/officeDocument/2006/relationships/image" Target="../media/image74.wmf"/><Relationship Id="rId3" Type="http://schemas.openxmlformats.org/officeDocument/2006/relationships/oleObject" Target="../embeddings/oleObject64.bin"/><Relationship Id="rId2" Type="http://schemas.openxmlformats.org/officeDocument/2006/relationships/image" Target="../media/image62.wmf"/><Relationship Id="rId1" Type="http://schemas.openxmlformats.org/officeDocument/2006/relationships/oleObject" Target="../embeddings/oleObject63.bin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7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6.wmf"/><Relationship Id="rId1" Type="http://schemas.openxmlformats.org/officeDocument/2006/relationships/oleObject" Target="../embeddings/oleObject66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8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79.wmf"/><Relationship Id="rId5" Type="http://schemas.openxmlformats.org/officeDocument/2006/relationships/oleObject" Target="../embeddings/oleObject69.bin"/><Relationship Id="rId4" Type="http://schemas.openxmlformats.org/officeDocument/2006/relationships/image" Target="../media/image78.wmf"/><Relationship Id="rId3" Type="http://schemas.openxmlformats.org/officeDocument/2006/relationships/oleObject" Target="../embeddings/oleObject68.bin"/><Relationship Id="rId2" Type="http://schemas.openxmlformats.org/officeDocument/2006/relationships/image" Target="../media/image77.wmf"/><Relationship Id="rId1" Type="http://schemas.openxmlformats.org/officeDocument/2006/relationships/oleObject" Target="../embeddings/oleObject67.bin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9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1.wmf"/><Relationship Id="rId3" Type="http://schemas.openxmlformats.org/officeDocument/2006/relationships/oleObject" Target="../embeddings/oleObject71.bin"/><Relationship Id="rId2" Type="http://schemas.openxmlformats.org/officeDocument/2006/relationships/image" Target="../media/image80.wmf"/><Relationship Id="rId1" Type="http://schemas.openxmlformats.org/officeDocument/2006/relationships/oleObject" Target="../embeddings/oleObject70.bin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30.v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84.wmf"/><Relationship Id="rId6" Type="http://schemas.openxmlformats.org/officeDocument/2006/relationships/oleObject" Target="../embeddings/oleObject75.bin"/><Relationship Id="rId5" Type="http://schemas.openxmlformats.org/officeDocument/2006/relationships/oleObject" Target="../embeddings/oleObject74.bin"/><Relationship Id="rId4" Type="http://schemas.openxmlformats.org/officeDocument/2006/relationships/image" Target="../media/image83.wmf"/><Relationship Id="rId3" Type="http://schemas.openxmlformats.org/officeDocument/2006/relationships/oleObject" Target="../embeddings/oleObject73.bin"/><Relationship Id="rId2" Type="http://schemas.openxmlformats.org/officeDocument/2006/relationships/image" Target="../media/image82.wmf"/><Relationship Id="rId1" Type="http://schemas.openxmlformats.org/officeDocument/2006/relationships/oleObject" Target="../embeddings/oleObject72.bin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1.vml"/><Relationship Id="rId4" Type="http://schemas.openxmlformats.org/officeDocument/2006/relationships/slideLayout" Target="../slideLayouts/slideLayout7.xml"/><Relationship Id="rId3" Type="http://schemas.openxmlformats.org/officeDocument/2006/relationships/oleObject" Target="../embeddings/oleObject77.bin"/><Relationship Id="rId2" Type="http://schemas.openxmlformats.org/officeDocument/2006/relationships/image" Target="../media/image85.wmf"/><Relationship Id="rId1" Type="http://schemas.openxmlformats.org/officeDocument/2006/relationships/oleObject" Target="../embeddings/oleObject76.bin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image" Target="../media/image89.wmf"/><Relationship Id="rId8" Type="http://schemas.openxmlformats.org/officeDocument/2006/relationships/oleObject" Target="../embeddings/oleObject82.bin"/><Relationship Id="rId7" Type="http://schemas.openxmlformats.org/officeDocument/2006/relationships/oleObject" Target="../embeddings/oleObject81.bin"/><Relationship Id="rId6" Type="http://schemas.openxmlformats.org/officeDocument/2006/relationships/image" Target="../media/image88.wmf"/><Relationship Id="rId5" Type="http://schemas.openxmlformats.org/officeDocument/2006/relationships/oleObject" Target="../embeddings/oleObject80.bin"/><Relationship Id="rId4" Type="http://schemas.openxmlformats.org/officeDocument/2006/relationships/image" Target="../media/image87.wmf"/><Relationship Id="rId3" Type="http://schemas.openxmlformats.org/officeDocument/2006/relationships/oleObject" Target="../embeddings/oleObject79.bin"/><Relationship Id="rId2" Type="http://schemas.openxmlformats.org/officeDocument/2006/relationships/image" Target="../media/image86.wmf"/><Relationship Id="rId15" Type="http://schemas.openxmlformats.org/officeDocument/2006/relationships/vmlDrawing" Target="../drawings/vmlDrawing32.vml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91.wmf"/><Relationship Id="rId12" Type="http://schemas.openxmlformats.org/officeDocument/2006/relationships/oleObject" Target="../embeddings/oleObject84.bin"/><Relationship Id="rId11" Type="http://schemas.openxmlformats.org/officeDocument/2006/relationships/image" Target="../media/image90.wmf"/><Relationship Id="rId10" Type="http://schemas.openxmlformats.org/officeDocument/2006/relationships/oleObject" Target="../embeddings/oleObject83.bin"/><Relationship Id="rId1" Type="http://schemas.openxmlformats.org/officeDocument/2006/relationships/oleObject" Target="../embeddings/oleObject78.bin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9.bin"/><Relationship Id="rId8" Type="http://schemas.openxmlformats.org/officeDocument/2006/relationships/image" Target="../media/image95.wmf"/><Relationship Id="rId7" Type="http://schemas.openxmlformats.org/officeDocument/2006/relationships/oleObject" Target="../embeddings/oleObject88.bin"/><Relationship Id="rId6" Type="http://schemas.openxmlformats.org/officeDocument/2006/relationships/image" Target="../media/image94.wmf"/><Relationship Id="rId5" Type="http://schemas.openxmlformats.org/officeDocument/2006/relationships/oleObject" Target="../embeddings/oleObject87.bin"/><Relationship Id="rId4" Type="http://schemas.openxmlformats.org/officeDocument/2006/relationships/image" Target="../media/image93.wmf"/><Relationship Id="rId3" Type="http://schemas.openxmlformats.org/officeDocument/2006/relationships/oleObject" Target="../embeddings/oleObject86.bin"/><Relationship Id="rId2" Type="http://schemas.openxmlformats.org/officeDocument/2006/relationships/image" Target="../media/image92.wmf"/><Relationship Id="rId14" Type="http://schemas.openxmlformats.org/officeDocument/2006/relationships/vmlDrawing" Target="../drawings/vmlDrawing33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97.wmf"/><Relationship Id="rId11" Type="http://schemas.openxmlformats.org/officeDocument/2006/relationships/oleObject" Target="../embeddings/oleObject90.bin"/><Relationship Id="rId10" Type="http://schemas.openxmlformats.org/officeDocument/2006/relationships/image" Target="../media/image96.wmf"/><Relationship Id="rId1" Type="http://schemas.openxmlformats.org/officeDocument/2006/relationships/oleObject" Target="../embeddings/oleObject85.bin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5.bin"/><Relationship Id="rId8" Type="http://schemas.openxmlformats.org/officeDocument/2006/relationships/image" Target="../media/image101.wmf"/><Relationship Id="rId7" Type="http://schemas.openxmlformats.org/officeDocument/2006/relationships/oleObject" Target="../embeddings/oleObject94.bin"/><Relationship Id="rId6" Type="http://schemas.openxmlformats.org/officeDocument/2006/relationships/image" Target="../media/image100.wmf"/><Relationship Id="rId5" Type="http://schemas.openxmlformats.org/officeDocument/2006/relationships/oleObject" Target="../embeddings/oleObject93.bin"/><Relationship Id="rId4" Type="http://schemas.openxmlformats.org/officeDocument/2006/relationships/image" Target="../media/image99.wmf"/><Relationship Id="rId3" Type="http://schemas.openxmlformats.org/officeDocument/2006/relationships/oleObject" Target="../embeddings/oleObject92.bin"/><Relationship Id="rId2" Type="http://schemas.openxmlformats.org/officeDocument/2006/relationships/image" Target="../media/image98.wmf"/><Relationship Id="rId16" Type="http://schemas.openxmlformats.org/officeDocument/2006/relationships/vmlDrawing" Target="../drawings/vmlDrawing34.v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104.wmf"/><Relationship Id="rId13" Type="http://schemas.openxmlformats.org/officeDocument/2006/relationships/oleObject" Target="../embeddings/oleObject97.bin"/><Relationship Id="rId12" Type="http://schemas.openxmlformats.org/officeDocument/2006/relationships/image" Target="../media/image103.wmf"/><Relationship Id="rId11" Type="http://schemas.openxmlformats.org/officeDocument/2006/relationships/oleObject" Target="../embeddings/oleObject96.bin"/><Relationship Id="rId10" Type="http://schemas.openxmlformats.org/officeDocument/2006/relationships/image" Target="../media/image102.wmf"/><Relationship Id="rId1" Type="http://schemas.openxmlformats.org/officeDocument/2006/relationships/oleObject" Target="../embeddings/oleObject91.bin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08.wmf"/><Relationship Id="rId7" Type="http://schemas.openxmlformats.org/officeDocument/2006/relationships/oleObject" Target="../embeddings/oleObject101.bin"/><Relationship Id="rId6" Type="http://schemas.openxmlformats.org/officeDocument/2006/relationships/image" Target="../media/image107.wmf"/><Relationship Id="rId5" Type="http://schemas.openxmlformats.org/officeDocument/2006/relationships/oleObject" Target="../embeddings/oleObject100.bin"/><Relationship Id="rId4" Type="http://schemas.openxmlformats.org/officeDocument/2006/relationships/image" Target="../media/image106.wmf"/><Relationship Id="rId3" Type="http://schemas.openxmlformats.org/officeDocument/2006/relationships/oleObject" Target="../embeddings/oleObject99.bin"/><Relationship Id="rId2" Type="http://schemas.openxmlformats.org/officeDocument/2006/relationships/image" Target="../media/image105.wmf"/><Relationship Id="rId10" Type="http://schemas.openxmlformats.org/officeDocument/2006/relationships/vmlDrawing" Target="../drawings/vmlDrawing35.vml"/><Relationship Id="rId1" Type="http://schemas.openxmlformats.org/officeDocument/2006/relationships/oleObject" Target="../embeddings/oleObject98.bin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6.bin"/><Relationship Id="rId8" Type="http://schemas.openxmlformats.org/officeDocument/2006/relationships/image" Target="../media/image112.wmf"/><Relationship Id="rId7" Type="http://schemas.openxmlformats.org/officeDocument/2006/relationships/oleObject" Target="../embeddings/oleObject105.bin"/><Relationship Id="rId6" Type="http://schemas.openxmlformats.org/officeDocument/2006/relationships/image" Target="../media/image111.wmf"/><Relationship Id="rId5" Type="http://schemas.openxmlformats.org/officeDocument/2006/relationships/oleObject" Target="../embeddings/oleObject104.bin"/><Relationship Id="rId4" Type="http://schemas.openxmlformats.org/officeDocument/2006/relationships/image" Target="../media/image110.wmf"/><Relationship Id="rId3" Type="http://schemas.openxmlformats.org/officeDocument/2006/relationships/oleObject" Target="../embeddings/oleObject103.bin"/><Relationship Id="rId20" Type="http://schemas.openxmlformats.org/officeDocument/2006/relationships/vmlDrawing" Target="../drawings/vmlDrawing36.vml"/><Relationship Id="rId2" Type="http://schemas.openxmlformats.org/officeDocument/2006/relationships/image" Target="../media/image109.wmf"/><Relationship Id="rId19" Type="http://schemas.openxmlformats.org/officeDocument/2006/relationships/slideLayout" Target="../slideLayouts/slideLayout11.xml"/><Relationship Id="rId18" Type="http://schemas.openxmlformats.org/officeDocument/2006/relationships/image" Target="../media/image118.png"/><Relationship Id="rId17" Type="http://schemas.openxmlformats.org/officeDocument/2006/relationships/image" Target="../media/image117.wmf"/><Relationship Id="rId16" Type="http://schemas.openxmlformats.org/officeDocument/2006/relationships/oleObject" Target="../embeddings/oleObject109.bin"/><Relationship Id="rId15" Type="http://schemas.openxmlformats.org/officeDocument/2006/relationships/image" Target="../media/image116.wmf"/><Relationship Id="rId14" Type="http://schemas.openxmlformats.org/officeDocument/2006/relationships/oleObject" Target="../embeddings/oleObject108.bin"/><Relationship Id="rId13" Type="http://schemas.openxmlformats.org/officeDocument/2006/relationships/image" Target="../media/image115.wmf"/><Relationship Id="rId12" Type="http://schemas.openxmlformats.org/officeDocument/2006/relationships/oleObject" Target="../embeddings/oleObject107.bin"/><Relationship Id="rId11" Type="http://schemas.openxmlformats.org/officeDocument/2006/relationships/image" Target="../media/image114.png"/><Relationship Id="rId10" Type="http://schemas.openxmlformats.org/officeDocument/2006/relationships/image" Target="../media/image113.wmf"/><Relationship Id="rId1" Type="http://schemas.openxmlformats.org/officeDocument/2006/relationships/oleObject" Target="../embeddings/oleObject102.bin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22.wmf"/><Relationship Id="rId7" Type="http://schemas.openxmlformats.org/officeDocument/2006/relationships/oleObject" Target="../embeddings/oleObject113.bin"/><Relationship Id="rId6" Type="http://schemas.openxmlformats.org/officeDocument/2006/relationships/image" Target="../media/image121.wmf"/><Relationship Id="rId5" Type="http://schemas.openxmlformats.org/officeDocument/2006/relationships/oleObject" Target="../embeddings/oleObject112.bin"/><Relationship Id="rId4" Type="http://schemas.openxmlformats.org/officeDocument/2006/relationships/image" Target="../media/image120.wmf"/><Relationship Id="rId3" Type="http://schemas.openxmlformats.org/officeDocument/2006/relationships/oleObject" Target="../embeddings/oleObject111.bin"/><Relationship Id="rId2" Type="http://schemas.openxmlformats.org/officeDocument/2006/relationships/image" Target="../media/image119.wmf"/><Relationship Id="rId10" Type="http://schemas.openxmlformats.org/officeDocument/2006/relationships/vmlDrawing" Target="../drawings/vmlDrawing37.vml"/><Relationship Id="rId1" Type="http://schemas.openxmlformats.org/officeDocument/2006/relationships/oleObject" Target="../embeddings/oleObject110.bin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8.bin"/><Relationship Id="rId8" Type="http://schemas.openxmlformats.org/officeDocument/2006/relationships/image" Target="../media/image126.wmf"/><Relationship Id="rId7" Type="http://schemas.openxmlformats.org/officeDocument/2006/relationships/oleObject" Target="../embeddings/oleObject117.bin"/><Relationship Id="rId6" Type="http://schemas.openxmlformats.org/officeDocument/2006/relationships/image" Target="../media/image125.wmf"/><Relationship Id="rId5" Type="http://schemas.openxmlformats.org/officeDocument/2006/relationships/oleObject" Target="../embeddings/oleObject116.bin"/><Relationship Id="rId4" Type="http://schemas.openxmlformats.org/officeDocument/2006/relationships/image" Target="../media/image124.wmf"/><Relationship Id="rId3" Type="http://schemas.openxmlformats.org/officeDocument/2006/relationships/oleObject" Target="../embeddings/oleObject115.bin"/><Relationship Id="rId20" Type="http://schemas.openxmlformats.org/officeDocument/2006/relationships/vmlDrawing" Target="../drawings/vmlDrawing38.vml"/><Relationship Id="rId2" Type="http://schemas.openxmlformats.org/officeDocument/2006/relationships/image" Target="../media/image123.wmf"/><Relationship Id="rId19" Type="http://schemas.openxmlformats.org/officeDocument/2006/relationships/slideLayout" Target="../slideLayouts/slideLayout2.xml"/><Relationship Id="rId18" Type="http://schemas.openxmlformats.org/officeDocument/2006/relationships/image" Target="../media/image131.wmf"/><Relationship Id="rId17" Type="http://schemas.openxmlformats.org/officeDocument/2006/relationships/oleObject" Target="../embeddings/oleObject122.bin"/><Relationship Id="rId16" Type="http://schemas.openxmlformats.org/officeDocument/2006/relationships/image" Target="../media/image130.wmf"/><Relationship Id="rId15" Type="http://schemas.openxmlformats.org/officeDocument/2006/relationships/oleObject" Target="../embeddings/oleObject121.bin"/><Relationship Id="rId14" Type="http://schemas.openxmlformats.org/officeDocument/2006/relationships/image" Target="../media/image129.wmf"/><Relationship Id="rId13" Type="http://schemas.openxmlformats.org/officeDocument/2006/relationships/oleObject" Target="../embeddings/oleObject120.bin"/><Relationship Id="rId12" Type="http://schemas.openxmlformats.org/officeDocument/2006/relationships/image" Target="../media/image128.wmf"/><Relationship Id="rId11" Type="http://schemas.openxmlformats.org/officeDocument/2006/relationships/oleObject" Target="../embeddings/oleObject119.bin"/><Relationship Id="rId10" Type="http://schemas.openxmlformats.org/officeDocument/2006/relationships/image" Target="../media/image127.wmf"/><Relationship Id="rId1" Type="http://schemas.openxmlformats.org/officeDocument/2006/relationships/oleObject" Target="../embeddings/oleObject114.bin"/></Relationships>
</file>

<file path=ppt/slides/_rels/slide4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7.bin"/><Relationship Id="rId8" Type="http://schemas.openxmlformats.org/officeDocument/2006/relationships/image" Target="../media/image135.wmf"/><Relationship Id="rId7" Type="http://schemas.openxmlformats.org/officeDocument/2006/relationships/oleObject" Target="../embeddings/oleObject126.bin"/><Relationship Id="rId6" Type="http://schemas.openxmlformats.org/officeDocument/2006/relationships/image" Target="../media/image134.wmf"/><Relationship Id="rId5" Type="http://schemas.openxmlformats.org/officeDocument/2006/relationships/oleObject" Target="../embeddings/oleObject125.bin"/><Relationship Id="rId4" Type="http://schemas.openxmlformats.org/officeDocument/2006/relationships/image" Target="../media/image133.wmf"/><Relationship Id="rId3" Type="http://schemas.openxmlformats.org/officeDocument/2006/relationships/oleObject" Target="../embeddings/oleObject124.bin"/><Relationship Id="rId25" Type="http://schemas.openxmlformats.org/officeDocument/2006/relationships/notesSlide" Target="../notesSlides/notesSlide3.xml"/><Relationship Id="rId24" Type="http://schemas.openxmlformats.org/officeDocument/2006/relationships/vmlDrawing" Target="../drawings/vmlDrawing39.vml"/><Relationship Id="rId23" Type="http://schemas.openxmlformats.org/officeDocument/2006/relationships/slideLayout" Target="../slideLayouts/slideLayout2.xml"/><Relationship Id="rId22" Type="http://schemas.openxmlformats.org/officeDocument/2006/relationships/image" Target="../media/image142.wmf"/><Relationship Id="rId21" Type="http://schemas.openxmlformats.org/officeDocument/2006/relationships/oleObject" Target="../embeddings/oleObject133.bin"/><Relationship Id="rId20" Type="http://schemas.openxmlformats.org/officeDocument/2006/relationships/image" Target="../media/image141.wmf"/><Relationship Id="rId2" Type="http://schemas.openxmlformats.org/officeDocument/2006/relationships/image" Target="../media/image132.wmf"/><Relationship Id="rId19" Type="http://schemas.openxmlformats.org/officeDocument/2006/relationships/oleObject" Target="../embeddings/oleObject132.bin"/><Relationship Id="rId18" Type="http://schemas.openxmlformats.org/officeDocument/2006/relationships/image" Target="../media/image140.wmf"/><Relationship Id="rId17" Type="http://schemas.openxmlformats.org/officeDocument/2006/relationships/oleObject" Target="../embeddings/oleObject131.bin"/><Relationship Id="rId16" Type="http://schemas.openxmlformats.org/officeDocument/2006/relationships/image" Target="../media/image139.wmf"/><Relationship Id="rId15" Type="http://schemas.openxmlformats.org/officeDocument/2006/relationships/oleObject" Target="../embeddings/oleObject130.bin"/><Relationship Id="rId14" Type="http://schemas.openxmlformats.org/officeDocument/2006/relationships/image" Target="../media/image138.wmf"/><Relationship Id="rId13" Type="http://schemas.openxmlformats.org/officeDocument/2006/relationships/oleObject" Target="../embeddings/oleObject129.bin"/><Relationship Id="rId12" Type="http://schemas.openxmlformats.org/officeDocument/2006/relationships/image" Target="../media/image137.wmf"/><Relationship Id="rId11" Type="http://schemas.openxmlformats.org/officeDocument/2006/relationships/oleObject" Target="../embeddings/oleObject128.bin"/><Relationship Id="rId10" Type="http://schemas.openxmlformats.org/officeDocument/2006/relationships/image" Target="../media/image136.wmf"/><Relationship Id="rId1" Type="http://schemas.openxmlformats.org/officeDocument/2006/relationships/oleObject" Target="../embeddings/oleObject123.bin"/></Relationships>
</file>

<file path=ppt/slides/_rels/slide46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40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4.png"/><Relationship Id="rId2" Type="http://schemas.openxmlformats.org/officeDocument/2006/relationships/image" Target="../media/image143.wmf"/><Relationship Id="rId1" Type="http://schemas.openxmlformats.org/officeDocument/2006/relationships/oleObject" Target="../embeddings/oleObject134.bin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/>
          </p:cNvSpPr>
          <p:nvPr>
            <p:ph type="ctrTitle"/>
          </p:nvPr>
        </p:nvSpPr>
        <p:spPr>
          <a:xfrm>
            <a:off x="2072081" y="571501"/>
            <a:ext cx="10119920" cy="1240521"/>
          </a:xfrm>
        </p:spPr>
        <p:txBody>
          <a:bodyPr vert="horz" wrap="square" lIns="68580" tIns="34290" rIns="68580" bIns="34290" rtlCol="0" anchor="b">
            <a:normAutofit fontScale="90000"/>
          </a:bodyPr>
          <a:lstStyle/>
          <a:p>
            <a:pPr eaLnBrk="1" hangingPunct="1"/>
            <a:r>
              <a:rPr kumimoji="1" lang="zh-CN" altLang="en-US" b="1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第二章 多元正态分布及参数估计</a:t>
            </a:r>
            <a:r>
              <a:rPr kumimoji="1" lang="zh-CN" altLang="en-US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 </a:t>
            </a:r>
            <a:endParaRPr kumimoji="1" lang="zh-CN" altLang="en-US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Rectangle 3"/>
          <p:cNvSpPr>
            <a:spLocks noGrp="1"/>
          </p:cNvSpPr>
          <p:nvPr>
            <p:ph type="subTitle" idx="1"/>
          </p:nvPr>
        </p:nvSpPr>
        <p:spPr>
          <a:xfrm>
            <a:off x="2072081" y="2273166"/>
            <a:ext cx="9211112" cy="3622040"/>
          </a:xfrm>
        </p:spPr>
        <p:txBody>
          <a:bodyPr vert="horz" wrap="square" lIns="68580" tIns="34290" rIns="68580" bIns="34290" rtlCol="0" anchor="t">
            <a:noAutofit/>
          </a:bodyPr>
          <a:lstStyle/>
          <a:p>
            <a:pPr algn="l" eaLnBrk="1" hangingPunct="1"/>
            <a:r>
              <a:rPr lang="zh-CN" altLang="en-US" dirty="0"/>
              <a:t>授课内容                                           作业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6</a:t>
            </a:r>
            <a:r>
              <a:rPr lang="zh-CN" altLang="en-US" dirty="0"/>
              <a:t>，</a:t>
            </a:r>
            <a:r>
              <a:rPr lang="en-US" altLang="zh-CN" dirty="0"/>
              <a:t>11</a:t>
            </a:r>
            <a:r>
              <a:rPr lang="zh-CN" altLang="en-US" dirty="0"/>
              <a:t>，</a:t>
            </a:r>
            <a:r>
              <a:rPr lang="en-US" altLang="zh-CN" dirty="0"/>
              <a:t>18(1)(2),19</a:t>
            </a:r>
            <a:endParaRPr lang="en-US" altLang="zh-CN" dirty="0"/>
          </a:p>
          <a:p>
            <a:pPr marL="457200" indent="-457200" algn="l">
              <a:buFont typeface="Arial" panose="020B0604020202090204" pitchFamily="34" charset="0"/>
              <a:buChar char="•"/>
            </a:pPr>
            <a:r>
              <a:rPr lang="zh-CN" altLang="en-US" dirty="0"/>
              <a:t>基础知识：多元随机向量及数字特征</a:t>
            </a:r>
            <a:endParaRPr lang="zh-CN" altLang="en-US" dirty="0"/>
          </a:p>
          <a:p>
            <a:pPr marL="457200" indent="-457200" algn="l">
              <a:buFont typeface="Arial" panose="020B0604020202090204" pitchFamily="34" charset="0"/>
              <a:buChar char="•"/>
            </a:pPr>
            <a:r>
              <a:rPr lang="zh-CN" altLang="en-US" dirty="0"/>
              <a:t>多元正态分布</a:t>
            </a:r>
            <a:endParaRPr lang="zh-CN" altLang="en-US" dirty="0"/>
          </a:p>
          <a:p>
            <a:pPr marL="457200" indent="-457200" algn="l">
              <a:buFont typeface="Arial" panose="020B0604020202090204" pitchFamily="34" charset="0"/>
              <a:buChar char="•"/>
            </a:pPr>
            <a:r>
              <a:rPr lang="zh-CN" altLang="en-US" dirty="0"/>
              <a:t>均值向量和协方差阵的估计</a:t>
            </a:r>
            <a:endParaRPr lang="zh-CN" altLang="en-US" dirty="0"/>
          </a:p>
          <a:p>
            <a:pPr marL="457200" indent="-457200" algn="l">
              <a:buFont typeface="Arial" panose="020B0604020202090204" pitchFamily="34" charset="0"/>
              <a:buChar char="•"/>
            </a:pPr>
            <a:r>
              <a:rPr lang="zh-CN" altLang="en-US" dirty="0"/>
              <a:t>几种常用的抽样分布</a:t>
            </a:r>
            <a:endParaRPr lang="zh-CN" altLang="en-US" dirty="0"/>
          </a:p>
          <a:p>
            <a:pPr algn="l" eaLnBrk="1" hangingPunct="1"/>
            <a:endParaRPr lang="zh-CN" altLang="en-US" sz="3200" dirty="0"/>
          </a:p>
        </p:txBody>
      </p:sp>
      <p:sp>
        <p:nvSpPr>
          <p:cNvPr id="5121" name="Rectangle 16"/>
          <p:cNvSpPr>
            <a:spLocks noGrp="1"/>
          </p:cNvSpPr>
          <p:nvPr>
            <p:ph type="sldNum" sz="quarter" idx="12"/>
          </p:nvPr>
        </p:nvSpPr>
        <p:spPr/>
        <p:txBody>
          <a:bodyPr wrap="square" lIns="68580" tIns="34290" rIns="68580" bIns="34290" anchor="b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algn="r"/>
            <a:fld id="{9A0DB2DC-4C9A-4742-B13C-FB6460FD3503}" type="slidenum">
              <a:rPr lang="zh-CN" altLang="en-US" sz="1050" dirty="0">
                <a:solidFill>
                  <a:schemeClr val="bg2"/>
                </a:solidFill>
              </a:rPr>
            </a:fld>
            <a:endParaRPr lang="zh-CN" altLang="en-US" sz="105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755650" y="1094458"/>
            <a:ext cx="20161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800">
                <a:solidFill>
                  <a:schemeClr val="tx2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500">
                <a:solidFill>
                  <a:schemeClr val="tx2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 sz="2200">
                <a:solidFill>
                  <a:schemeClr val="tx2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dirty="0">
                <a:solidFill>
                  <a:srgbClr val="FF0000"/>
                </a:solidFill>
                <a:latin typeface="Arial" panose="020B0604020202090204" pitchFamily="34" charset="0"/>
                <a:ea typeface="楷体_GB2312" pitchFamily="49" charset="-122"/>
              </a:rPr>
              <a:t>课前练习：</a:t>
            </a:r>
            <a:endParaRPr lang="zh-CN" altLang="en-US" dirty="0">
              <a:solidFill>
                <a:srgbClr val="FF0000"/>
              </a:solidFill>
              <a:latin typeface="Arial" panose="020B0604020202090204" pitchFamily="34" charset="0"/>
              <a:ea typeface="楷体_GB2312" pitchFamily="49" charset="-122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2627313" y="1091982"/>
            <a:ext cx="52562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800">
                <a:solidFill>
                  <a:schemeClr val="tx2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500">
                <a:solidFill>
                  <a:schemeClr val="tx2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 sz="2200">
                <a:solidFill>
                  <a:schemeClr val="tx2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dirty="0">
                <a:solidFill>
                  <a:schemeClr val="tx1"/>
                </a:solidFill>
                <a:latin typeface="Arial" panose="020B0604020202090204" pitchFamily="34" charset="0"/>
                <a:ea typeface="楷体_GB2312" pitchFamily="49" charset="-122"/>
              </a:rPr>
              <a:t>设（</a:t>
            </a:r>
            <a:r>
              <a:rPr lang="en-US" altLang="zh-CN" dirty="0">
                <a:solidFill>
                  <a:schemeClr val="tx1"/>
                </a:solidFill>
                <a:latin typeface="Arial" panose="020B0604020202090204" pitchFamily="34" charset="0"/>
                <a:ea typeface="楷体_GB2312" pitchFamily="49" charset="-122"/>
              </a:rPr>
              <a:t>X</a:t>
            </a:r>
            <a:r>
              <a:rPr lang="zh-CN" altLang="en-US" dirty="0">
                <a:solidFill>
                  <a:schemeClr val="tx1"/>
                </a:solidFill>
                <a:latin typeface="Arial" panose="020B0604020202090204" pitchFamily="34" charset="0"/>
                <a:ea typeface="楷体_GB2312" pitchFamily="49" charset="-122"/>
              </a:rPr>
              <a:t>，</a:t>
            </a:r>
            <a:r>
              <a:rPr lang="en-US" altLang="zh-CN" dirty="0">
                <a:solidFill>
                  <a:schemeClr val="tx1"/>
                </a:solidFill>
                <a:latin typeface="Arial" panose="020B0604020202090204" pitchFamily="34" charset="0"/>
                <a:ea typeface="楷体_GB2312" pitchFamily="49" charset="-122"/>
              </a:rPr>
              <a:t>Y</a:t>
            </a:r>
            <a:r>
              <a:rPr lang="zh-CN" altLang="en-US" dirty="0">
                <a:solidFill>
                  <a:schemeClr val="tx1"/>
                </a:solidFill>
                <a:latin typeface="Arial" panose="020B0604020202090204" pitchFamily="34" charset="0"/>
                <a:ea typeface="楷体_GB2312" pitchFamily="49" charset="-122"/>
              </a:rPr>
              <a:t>）的分布密度为</a:t>
            </a:r>
            <a:endParaRPr lang="zh-CN" altLang="en-US" dirty="0">
              <a:solidFill>
                <a:schemeClr val="tx1"/>
              </a:solidFill>
              <a:latin typeface="Arial" panose="020B0604020202090204" pitchFamily="34" charset="0"/>
              <a:ea typeface="楷体_GB2312" pitchFamily="49" charset="-122"/>
            </a:endParaRPr>
          </a:p>
        </p:txBody>
      </p:sp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1619249" y="1815183"/>
          <a:ext cx="6039899" cy="136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公式" r:id="rId1" imgW="2551430" imgH="508000" progId="Equation.3">
                  <p:embed/>
                </p:oleObj>
              </mc:Choice>
              <mc:Fallback>
                <p:oleObj name="公式" r:id="rId1" imgW="2551430" imgH="508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49" y="1815183"/>
                        <a:ext cx="6039899" cy="1368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971550" y="3242331"/>
            <a:ext cx="67691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800">
                <a:solidFill>
                  <a:schemeClr val="tx2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500">
                <a:solidFill>
                  <a:schemeClr val="tx2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 sz="2200">
                <a:solidFill>
                  <a:schemeClr val="tx2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dirty="0">
                <a:solidFill>
                  <a:schemeClr val="tx1"/>
                </a:solidFill>
                <a:latin typeface="Arial" panose="020B0604020202090204" pitchFamily="34" charset="0"/>
                <a:ea typeface="楷体_GB2312" pitchFamily="49" charset="-122"/>
              </a:rPr>
              <a:t>求（</a:t>
            </a:r>
            <a:r>
              <a:rPr lang="en-US" altLang="zh-CN" dirty="0">
                <a:solidFill>
                  <a:schemeClr val="tx1"/>
                </a:solidFill>
                <a:latin typeface="Arial" panose="020B0604020202090204" pitchFamily="34" charset="0"/>
                <a:ea typeface="楷体_GB2312" pitchFamily="49" charset="-122"/>
              </a:rPr>
              <a:t>X</a:t>
            </a:r>
            <a:r>
              <a:rPr lang="zh-CN" altLang="en-US" dirty="0">
                <a:solidFill>
                  <a:schemeClr val="tx1"/>
                </a:solidFill>
                <a:latin typeface="Arial" panose="020B0604020202090204" pitchFamily="34" charset="0"/>
                <a:ea typeface="楷体_GB2312" pitchFamily="49" charset="-122"/>
              </a:rPr>
              <a:t>，</a:t>
            </a:r>
            <a:r>
              <a:rPr lang="en-US" altLang="zh-CN" dirty="0">
                <a:solidFill>
                  <a:schemeClr val="tx1"/>
                </a:solidFill>
                <a:latin typeface="Arial" panose="020B0604020202090204" pitchFamily="34" charset="0"/>
                <a:ea typeface="楷体_GB2312" pitchFamily="49" charset="-122"/>
              </a:rPr>
              <a:t>Y</a:t>
            </a:r>
            <a:r>
              <a:rPr lang="zh-CN" altLang="en-US" dirty="0">
                <a:solidFill>
                  <a:schemeClr val="tx1"/>
                </a:solidFill>
                <a:latin typeface="Arial" panose="020B0604020202090204" pitchFamily="34" charset="0"/>
                <a:ea typeface="楷体_GB2312" pitchFamily="49" charset="-122"/>
              </a:rPr>
              <a:t>）的边缘概率密度</a:t>
            </a:r>
            <a:endParaRPr lang="zh-CN" altLang="en-US" dirty="0">
              <a:solidFill>
                <a:schemeClr val="tx1"/>
              </a:solidFill>
              <a:latin typeface="Arial" panose="020B060402020209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68580" tIns="34290" rIns="68580" bIns="34290" rtlCol="0" anchor="b">
            <a:normAutofit/>
          </a:bodyPr>
          <a:lstStyle/>
          <a:p>
            <a:pPr eaLnBrk="1" hangingPunct="1"/>
            <a:r>
              <a:rPr lang="zh-CN" altLang="en-US" dirty="0"/>
              <a:t>第一节 基础知识</a:t>
            </a:r>
            <a:endParaRPr lang="zh-CN" altLang="en-US" dirty="0"/>
          </a:p>
        </p:txBody>
      </p:sp>
      <p:sp>
        <p:nvSpPr>
          <p:cNvPr id="819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68580" tIns="34290" rIns="68580" bIns="34290" rtlCol="0" anchor="t">
            <a:normAutofit/>
          </a:bodyPr>
          <a:lstStyle/>
          <a:p>
            <a:pPr eaLnBrk="1" hangingPunct="1"/>
            <a:r>
              <a:rPr lang="zh-CN" altLang="en-US" dirty="0"/>
              <a:t>随机向量</a:t>
            </a:r>
            <a:endParaRPr lang="zh-CN" altLang="en-US" dirty="0"/>
          </a:p>
          <a:p>
            <a:pPr eaLnBrk="1" hangingPunct="1"/>
            <a:r>
              <a:rPr lang="zh-CN" altLang="en-US" dirty="0"/>
              <a:t>分布密度函数</a:t>
            </a:r>
            <a:endParaRPr lang="zh-CN" altLang="en-US" dirty="0"/>
          </a:p>
          <a:p>
            <a:pPr eaLnBrk="1" hangingPunct="1"/>
            <a:r>
              <a:rPr lang="zh-CN" altLang="en-US" dirty="0"/>
              <a:t>多元变量的独立性</a:t>
            </a:r>
            <a:endParaRPr lang="zh-CN" altLang="en-US" dirty="0"/>
          </a:p>
          <a:p>
            <a:pPr eaLnBrk="1" hangingPunct="1"/>
            <a:r>
              <a:rPr lang="zh-CN" altLang="en-US" dirty="0"/>
              <a:t>随机向量的数字特征</a:t>
            </a:r>
            <a:endParaRPr lang="zh-CN" altLang="en-US" dirty="0"/>
          </a:p>
          <a:p>
            <a:pPr eaLnBrk="1" hangingPunct="1"/>
            <a:endParaRPr lang="zh-CN" altLang="en-US" dirty="0"/>
          </a:p>
          <a:p>
            <a:pPr eaLnBrk="1" hangingPunct="1"/>
            <a:endParaRPr lang="zh-CN" altLang="en-US" dirty="0"/>
          </a:p>
        </p:txBody>
      </p:sp>
      <p:sp>
        <p:nvSpPr>
          <p:cNvPr id="819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68580" tIns="34290" rIns="68580" bIns="34290" rtlCol="0" anchor="b">
            <a:norm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algn="r"/>
            <a:fld id="{9A0DB2DC-4C9A-4742-B13C-FB6460FD3503}" type="slidenum">
              <a:rPr lang="zh-CN" altLang="en-US" sz="1050" dirty="0"/>
            </a:fld>
            <a:endParaRPr lang="zh-CN" alt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/>
          </p:cNvSpPr>
          <p:nvPr>
            <p:ph type="title"/>
          </p:nvPr>
        </p:nvSpPr>
        <p:spPr>
          <a:xfrm>
            <a:off x="2152650" y="351155"/>
            <a:ext cx="7886700" cy="944880"/>
          </a:xfrm>
        </p:spPr>
        <p:txBody>
          <a:bodyPr vert="horz" wrap="square" lIns="68580" tIns="34290" rIns="68580" bIns="34290" rtlCol="0" anchor="b">
            <a:normAutofit/>
          </a:bodyPr>
          <a:lstStyle/>
          <a:p>
            <a:pPr eaLnBrk="1" hangingPunct="1"/>
            <a:r>
              <a:rPr lang="zh-CN" altLang="en-US" dirty="0"/>
              <a:t>一、随机向量</a:t>
            </a:r>
            <a:endParaRPr lang="en-US" altLang="zh-CN" dirty="0"/>
          </a:p>
        </p:txBody>
      </p:sp>
      <p:sp>
        <p:nvSpPr>
          <p:cNvPr id="1024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68580" tIns="34290" rIns="68580" bIns="34290" rtlCol="0" anchor="t">
            <a:normAutofit/>
          </a:bodyPr>
          <a:lstStyle/>
          <a:p>
            <a:pPr eaLnBrk="1" hangingPunct="1"/>
            <a:r>
              <a:rPr lang="zh-CN" altLang="en-US" dirty="0"/>
              <a:t>随机向量: 由多个随机变量组成的向量。</a:t>
            </a:r>
            <a:endParaRPr lang="zh-CN" altLang="en-US" dirty="0"/>
          </a:p>
          <a:p>
            <a:pPr eaLnBrk="1" hangingPunct="1"/>
            <a:r>
              <a:rPr lang="en-US" altLang="zh-CN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zh-CN" altLang="en-US" dirty="0"/>
              <a:t>个样品，</a:t>
            </a:r>
            <a:r>
              <a:rPr lang="en-US" altLang="zh-CN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zh-CN" altLang="en-US" dirty="0"/>
              <a:t>个指标</a:t>
            </a:r>
            <a:endParaRPr lang="zh-CN" altLang="en-US" dirty="0"/>
          </a:p>
          <a:p>
            <a:pPr eaLnBrk="1" hangingPunct="1"/>
            <a:endParaRPr lang="zh-CN" altLang="en-US" dirty="0"/>
          </a:p>
          <a:p>
            <a:pPr eaLnBrk="1" hangingPunct="1"/>
            <a:r>
              <a:rPr lang="zh-CN" altLang="en-US" dirty="0"/>
              <a:t>数据表：</a:t>
            </a:r>
            <a:r>
              <a:rPr lang="zh-CN" altLang="en-US" dirty="0">
                <a:solidFill>
                  <a:srgbClr val="FF0000"/>
                </a:solidFill>
              </a:rPr>
              <a:t>变量为列，样品为行</a:t>
            </a:r>
            <a:r>
              <a:rPr lang="zh-CN" altLang="en-US" dirty="0"/>
              <a:t>。</a:t>
            </a:r>
            <a:endParaRPr lang="zh-CN" altLang="en-US" dirty="0"/>
          </a:p>
          <a:p>
            <a:pPr eaLnBrk="1" hangingPunct="1"/>
            <a:endParaRPr lang="zh-CN" altLang="en-US" dirty="0"/>
          </a:p>
        </p:txBody>
      </p:sp>
      <p:sp>
        <p:nvSpPr>
          <p:cNvPr id="1024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68580" tIns="34290" rIns="68580" bIns="34290" rtlCol="0" anchor="b">
            <a:norm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algn="r"/>
            <a:fld id="{9A0DB2DC-4C9A-4742-B13C-FB6460FD3503}" type="slidenum">
              <a:rPr lang="zh-CN" altLang="en-US" sz="1050" dirty="0"/>
            </a:fld>
            <a:endParaRPr lang="zh-CN" altLang="en-US" sz="1050" dirty="0"/>
          </a:p>
        </p:txBody>
      </p:sp>
      <p:graphicFrame>
        <p:nvGraphicFramePr>
          <p:cNvPr id="10244" name="Object 4"/>
          <p:cNvGraphicFramePr/>
          <p:nvPr/>
        </p:nvGraphicFramePr>
        <p:xfrm>
          <a:off x="4365625" y="2925445"/>
          <a:ext cx="2183130" cy="535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1" imgW="1282065" imgH="241300" progId="Equation.3">
                  <p:embed/>
                </p:oleObj>
              </mc:Choice>
              <mc:Fallback>
                <p:oleObj name="" r:id="rId1" imgW="1282065" imgH="241300" progId="Equation.3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365625" y="2925445"/>
                        <a:ext cx="2183130" cy="5359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5" name="Object 5"/>
          <p:cNvGraphicFramePr/>
          <p:nvPr/>
        </p:nvGraphicFramePr>
        <p:xfrm>
          <a:off x="2342211" y="4049712"/>
          <a:ext cx="6853237" cy="248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Worksheet" r:id="rId3" imgW="4075430" imgH="1377315" progId="Excel.Sheet.8">
                  <p:embed/>
                </p:oleObj>
              </mc:Choice>
              <mc:Fallback>
                <p:oleObj name="Worksheet" r:id="rId3" imgW="4075430" imgH="1377315" progId="Excel.Sheet.8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42211" y="4049712"/>
                        <a:ext cx="6853237" cy="2489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026"/>
          <p:cNvSpPr>
            <a:spLocks noGrp="1"/>
          </p:cNvSpPr>
          <p:nvPr>
            <p:ph type="title"/>
          </p:nvPr>
        </p:nvSpPr>
        <p:spPr>
          <a:xfrm>
            <a:off x="2152650" y="240030"/>
            <a:ext cx="7886700" cy="1019810"/>
          </a:xfrm>
        </p:spPr>
        <p:txBody>
          <a:bodyPr vert="horz" wrap="square" lIns="68580" tIns="34290" rIns="68580" bIns="34290" rtlCol="0" anchor="b">
            <a:normAutofit/>
          </a:bodyPr>
          <a:lstStyle/>
          <a:p>
            <a:pPr eaLnBrk="1" hangingPunct="1"/>
            <a:r>
              <a:rPr lang="zh-CN" altLang="en-US" dirty="0"/>
              <a:t>二、多元分布函数与密度函数</a:t>
            </a:r>
            <a:endParaRPr lang="en-US" altLang="zh-CN" dirty="0"/>
          </a:p>
        </p:txBody>
      </p:sp>
      <p:sp>
        <p:nvSpPr>
          <p:cNvPr id="11267" name="Rectangle 1027"/>
          <p:cNvSpPr>
            <a:spLocks noGrp="1"/>
          </p:cNvSpPr>
          <p:nvPr>
            <p:ph idx="1"/>
          </p:nvPr>
        </p:nvSpPr>
        <p:spPr/>
        <p:txBody>
          <a:bodyPr vert="horz" wrap="square" lIns="68580" tIns="34290" rIns="68580" bIns="34290" rtlCol="0" anchor="t">
            <a:noAutofit/>
          </a:bodyPr>
          <a:lstStyle/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</a:rPr>
              <a:t>设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p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维</a:t>
            </a:r>
            <a:r>
              <a:rPr lang="zh-CN" altLang="en-US" dirty="0">
                <a:solidFill>
                  <a:schemeClr val="tx1"/>
                </a:solidFill>
              </a:rPr>
              <a:t>随机向量</a:t>
            </a:r>
            <a:endParaRPr lang="zh-CN" alt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</a:rPr>
              <a:t>其</a:t>
            </a:r>
            <a:r>
              <a:rPr lang="zh-CN" altLang="en-US" dirty="0">
                <a:solidFill>
                  <a:srgbClr val="FF0000"/>
                </a:solidFill>
              </a:rPr>
              <a:t>多元分布函数</a:t>
            </a:r>
            <a:r>
              <a:rPr lang="zh-CN" altLang="en-US" dirty="0">
                <a:solidFill>
                  <a:schemeClr val="tx1"/>
                </a:solidFill>
              </a:rPr>
              <a:t>为</a:t>
            </a:r>
            <a:endParaRPr lang="zh-CN" alt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zh-CN" altLang="en-US" dirty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zh-CN" altLang="en-US" dirty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solidFill>
                  <a:schemeClr val="tx1"/>
                </a:solidFill>
              </a:rPr>
              <a:t>记为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~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</a:t>
            </a:r>
            <a:r>
              <a:rPr lang="en-US" altLang="zh-CN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en-US" altLang="zh-CN" dirty="0">
                <a:solidFill>
                  <a:schemeClr val="tx1"/>
                </a:solidFill>
              </a:rPr>
              <a:t>,</a:t>
            </a:r>
            <a:r>
              <a:rPr lang="zh-CN" altLang="en-US" dirty="0">
                <a:solidFill>
                  <a:schemeClr val="tx1"/>
                </a:solidFill>
              </a:rPr>
              <a:t>式中</a:t>
            </a:r>
            <a:endParaRPr lang="zh-CN" altLang="en-US" dirty="0">
              <a:solidFill>
                <a:schemeClr val="tx1"/>
              </a:solidFill>
            </a:endParaRPr>
          </a:p>
          <a:p>
            <a:pPr marL="0" indent="0" algn="just">
              <a:lnSpc>
                <a:spcPct val="150000"/>
              </a:lnSpc>
              <a:spcBef>
                <a:spcPct val="0"/>
              </a:spcBef>
              <a:buNone/>
            </a:pPr>
            <a:endParaRPr lang="zh-CN" altLang="en-US" dirty="0">
              <a:solidFill>
                <a:schemeClr val="tx1"/>
              </a:solidFill>
              <a:latin typeface="宋体" pitchFamily="2" charset="-122"/>
            </a:endParaRPr>
          </a:p>
        </p:txBody>
      </p:sp>
      <p:sp>
        <p:nvSpPr>
          <p:cNvPr id="1126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68580" tIns="34290" rIns="68580" bIns="34290" rtlCol="0" anchor="b">
            <a:norm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algn="r"/>
            <a:fld id="{9A0DB2DC-4C9A-4742-B13C-FB6460FD3503}" type="slidenum">
              <a:rPr lang="zh-CN" altLang="en-US" sz="1050" dirty="0"/>
            </a:fld>
            <a:endParaRPr lang="zh-CN" altLang="en-US" sz="1050" dirty="0"/>
          </a:p>
        </p:txBody>
      </p:sp>
      <p:graphicFrame>
        <p:nvGraphicFramePr>
          <p:cNvPr id="11268" name="Object 2054"/>
          <p:cNvGraphicFramePr/>
          <p:nvPr/>
        </p:nvGraphicFramePr>
        <p:xfrm>
          <a:off x="4378325" y="1909445"/>
          <a:ext cx="2169160" cy="549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1" imgW="1282065" imgH="241300" progId="Equation.3">
                  <p:embed/>
                </p:oleObj>
              </mc:Choice>
              <mc:Fallback>
                <p:oleObj name="" r:id="rId1" imgW="1282065" imgH="241300" progId="Equation.3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378325" y="1909445"/>
                        <a:ext cx="2169160" cy="5499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9" name="Object 2055"/>
          <p:cNvGraphicFramePr/>
          <p:nvPr/>
        </p:nvGraphicFramePr>
        <p:xfrm>
          <a:off x="2070736" y="3072766"/>
          <a:ext cx="8392795" cy="713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3416300" imgH="241300" progId="Equation.3">
                  <p:embed/>
                </p:oleObj>
              </mc:Choice>
              <mc:Fallback>
                <p:oleObj name="" r:id="rId3" imgW="3416300" imgH="241300" progId="Equation.3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70736" y="3072766"/>
                        <a:ext cx="8392795" cy="7131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0" name="Object 2056"/>
          <p:cNvGraphicFramePr/>
          <p:nvPr/>
        </p:nvGraphicFramePr>
        <p:xfrm>
          <a:off x="4488180" y="4229100"/>
          <a:ext cx="3493770" cy="7404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5" imgW="1358900" imgH="254000" progId="Equation.3">
                  <p:embed/>
                </p:oleObj>
              </mc:Choice>
              <mc:Fallback>
                <p:oleObj name="" r:id="rId5" imgW="1358900" imgH="254000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88180" y="4229100"/>
                        <a:ext cx="3493770" cy="7404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Grp="1"/>
          </p:cNvSpPr>
          <p:nvPr>
            <p:ph idx="1"/>
          </p:nvPr>
        </p:nvSpPr>
        <p:spPr>
          <a:xfrm>
            <a:off x="2152651" y="570231"/>
            <a:ext cx="7497445" cy="5617845"/>
          </a:xfrm>
        </p:spPr>
        <p:txBody>
          <a:bodyPr vert="horz" wrap="square" lIns="68580" tIns="34290" rIns="68580" bIns="3429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solidFill>
                  <a:schemeClr val="tx1"/>
                </a:solidFill>
              </a:rPr>
              <a:t>设</a:t>
            </a:r>
            <a:endParaRPr lang="zh-CN" altLang="en-US" dirty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solidFill>
                  <a:schemeClr val="tx1"/>
                </a:solidFill>
              </a:rPr>
              <a:t>若存在一个非负函数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</a:t>
            </a:r>
            <a:r>
              <a:rPr lang="en-US" altLang="zh-CN" dirty="0">
                <a:solidFill>
                  <a:schemeClr val="tx1"/>
                </a:solidFill>
              </a:rPr>
              <a:t>(.),</a:t>
            </a:r>
            <a:r>
              <a:rPr lang="zh-CN" altLang="en-US" dirty="0">
                <a:solidFill>
                  <a:schemeClr val="tx1"/>
                </a:solidFill>
              </a:rPr>
              <a:t>使得</a:t>
            </a:r>
            <a:endParaRPr lang="zh-CN" altLang="en-US" dirty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zh-CN" altLang="en-US" dirty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solidFill>
                  <a:schemeClr val="tx1"/>
                </a:solidFill>
              </a:rPr>
              <a:t>对一切</a:t>
            </a:r>
            <a:endParaRPr lang="zh-CN" altLang="en-US" dirty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solidFill>
                  <a:schemeClr val="tx1"/>
                </a:solidFill>
              </a:rPr>
              <a:t>成立，则称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en-US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有</a:t>
            </a:r>
            <a:r>
              <a:rPr lang="zh-CN" altLang="en-US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分布密度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</a:t>
            </a:r>
            <a:r>
              <a:rPr lang="en-US" altLang="zh-CN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(.),</a:t>
            </a:r>
            <a:r>
              <a:rPr lang="zh-CN" altLang="en-US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并称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en-US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为</a:t>
            </a:r>
            <a:r>
              <a:rPr lang="zh-CN" altLang="en-US" dirty="0">
                <a:solidFill>
                  <a:schemeClr val="tx1"/>
                </a:solidFill>
              </a:rPr>
              <a:t>连续型随机向量。</a:t>
            </a:r>
            <a:endParaRPr lang="zh-CN" altLang="en-US" dirty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solidFill>
                  <a:schemeClr val="tx1"/>
                </a:solidFill>
              </a:rPr>
              <a:t>性质：</a:t>
            </a:r>
            <a:endParaRPr lang="zh-CN" altLang="en-US" dirty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solidFill>
                  <a:schemeClr val="tx1"/>
                </a:solidFill>
              </a:rPr>
              <a:t>1.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</a:t>
            </a:r>
            <a:r>
              <a:rPr lang="en-US" altLang="zh-CN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en-US" altLang="zh-CN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</a:t>
            </a:r>
            <a:r>
              <a:rPr lang="en-US" altLang="zh-CN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0</a:t>
            </a:r>
            <a:r>
              <a:rPr lang="en-US" altLang="zh-CN" dirty="0">
                <a:solidFill>
                  <a:schemeClr val="tx1"/>
                </a:solidFill>
              </a:rPr>
              <a:t>,</a:t>
            </a:r>
            <a:r>
              <a:rPr lang="zh-CN" altLang="en-US" dirty="0">
                <a:solidFill>
                  <a:schemeClr val="tx1"/>
                </a:solidFill>
              </a:rPr>
              <a:t>对于任意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en-US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属于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zh-CN" altLang="en-US" dirty="0">
                <a:solidFill>
                  <a:schemeClr val="tx1"/>
                </a:solidFill>
              </a:rPr>
              <a:t>维实数空间。</a:t>
            </a:r>
            <a:endParaRPr lang="zh-CN" altLang="en-US" dirty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solidFill>
                  <a:schemeClr val="tx1"/>
                </a:solidFill>
              </a:rPr>
              <a:t>2.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228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981950" y="5822951"/>
            <a:ext cx="2057400" cy="365125"/>
          </a:xfrm>
        </p:spPr>
        <p:txBody>
          <a:bodyPr vert="horz" wrap="square" lIns="68580" tIns="34290" rIns="68580" bIns="34290" rtlCol="0" anchor="b">
            <a:norm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algn="r"/>
            <a:fld id="{9A0DB2DC-4C9A-4742-B13C-FB6460FD3503}" type="slidenum">
              <a:rPr lang="zh-CN" altLang="en-US" sz="1050" dirty="0"/>
            </a:fld>
            <a:endParaRPr lang="zh-CN" altLang="en-US" sz="1050" dirty="0"/>
          </a:p>
        </p:txBody>
      </p:sp>
      <p:graphicFrame>
        <p:nvGraphicFramePr>
          <p:cNvPr id="12292" name="Object 10"/>
          <p:cNvGraphicFramePr/>
          <p:nvPr/>
        </p:nvGraphicFramePr>
        <p:xfrm>
          <a:off x="2675255" y="699136"/>
          <a:ext cx="340995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1" imgW="1675765" imgH="241300" progId="Equation.3">
                  <p:embed/>
                </p:oleObj>
              </mc:Choice>
              <mc:Fallback>
                <p:oleObj name="" r:id="rId1" imgW="1675765" imgH="241300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75255" y="699136"/>
                        <a:ext cx="3409950" cy="555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3" name="Object 11"/>
          <p:cNvGraphicFramePr/>
          <p:nvPr/>
        </p:nvGraphicFramePr>
        <p:xfrm>
          <a:off x="2840991" y="1941195"/>
          <a:ext cx="6120765" cy="75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2894330" imgH="330200" progId="Equation.DSMT4">
                  <p:embed/>
                </p:oleObj>
              </mc:Choice>
              <mc:Fallback>
                <p:oleObj name="" r:id="rId3" imgW="2894330" imgH="330200" progId="Equation.DSMT4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40991" y="1941195"/>
                        <a:ext cx="6120765" cy="7543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4" name="Object 12"/>
          <p:cNvGraphicFramePr/>
          <p:nvPr/>
        </p:nvGraphicFramePr>
        <p:xfrm>
          <a:off x="3221356" y="2695575"/>
          <a:ext cx="2863215" cy="532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5" imgW="1357630" imgH="254000" progId="Equation.3">
                  <p:embed/>
                </p:oleObj>
              </mc:Choice>
              <mc:Fallback>
                <p:oleObj name="" r:id="rId5" imgW="1357630" imgH="254000" progId="Equation.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21356" y="2695575"/>
                        <a:ext cx="2863215" cy="5321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5" name="Object 13"/>
          <p:cNvGraphicFramePr/>
          <p:nvPr/>
        </p:nvGraphicFramePr>
        <p:xfrm>
          <a:off x="2760346" y="5214620"/>
          <a:ext cx="2121535" cy="8343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7" imgW="875665" imgH="330200" progId="Equation.3">
                  <p:embed/>
                </p:oleObj>
              </mc:Choice>
              <mc:Fallback>
                <p:oleObj name="" r:id="rId7" imgW="875665" imgH="330200" progId="Equation.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760346" y="5214620"/>
                        <a:ext cx="2121535" cy="8343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/>
          </p:cNvSpPr>
          <p:nvPr>
            <p:ph type="title"/>
          </p:nvPr>
        </p:nvSpPr>
        <p:spPr>
          <a:xfrm>
            <a:off x="2152650" y="171450"/>
            <a:ext cx="7886700" cy="1019810"/>
          </a:xfrm>
        </p:spPr>
        <p:txBody>
          <a:bodyPr vert="horz" wrap="square" lIns="68580" tIns="34290" rIns="68580" bIns="34290" rtlCol="0" anchor="b">
            <a:normAutofit/>
          </a:bodyPr>
          <a:lstStyle/>
          <a:p>
            <a:pPr eaLnBrk="1" hangingPunct="1"/>
            <a:r>
              <a:rPr lang="zh-CN" altLang="en-US" dirty="0"/>
              <a:t>三、多元向量的</a:t>
            </a:r>
            <a:r>
              <a:rPr lang="zh-CN" altLang="en-US" dirty="0">
                <a:solidFill>
                  <a:srgbClr val="FF0000"/>
                </a:solidFill>
              </a:rPr>
              <a:t>独立性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3315" name="Rectangle 3"/>
          <p:cNvSpPr>
            <a:spLocks noGrp="1"/>
          </p:cNvSpPr>
          <p:nvPr>
            <p:ph idx="1"/>
          </p:nvPr>
        </p:nvSpPr>
        <p:spPr>
          <a:xfrm>
            <a:off x="1436230" y="1329735"/>
            <a:ext cx="8909416" cy="5122545"/>
          </a:xfrm>
        </p:spPr>
        <p:txBody>
          <a:bodyPr vert="horz" wrap="square" lIns="68580" tIns="34290" rIns="68580" bIns="34290" rtlCol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solidFill>
                  <a:schemeClr val="tx1"/>
                </a:solidFill>
              </a:rPr>
              <a:t>两个随机向量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en-US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和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Y</a:t>
            </a:r>
            <a:r>
              <a:rPr lang="zh-CN" altLang="en-US" dirty="0">
                <a:solidFill>
                  <a:schemeClr val="tx1"/>
                </a:solidFill>
              </a:rPr>
              <a:t>是相互</a:t>
            </a:r>
            <a:r>
              <a:rPr lang="zh-CN" altLang="en-US" dirty="0">
                <a:solidFill>
                  <a:srgbClr val="FF0000"/>
                </a:solidFill>
              </a:rPr>
              <a:t>独立</a:t>
            </a:r>
            <a:r>
              <a:rPr lang="zh-CN" altLang="en-US" dirty="0">
                <a:solidFill>
                  <a:schemeClr val="tx1"/>
                </a:solidFill>
              </a:rPr>
              <a:t>的，</a:t>
            </a:r>
            <a:endParaRPr lang="zh-CN" altLang="en-US" dirty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若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P(</a:t>
            </a:r>
            <a:r>
              <a:rPr lang="en-US" altLang="zh-CN" i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</a:t>
            </a:r>
            <a:r>
              <a:rPr lang="en-US" altLang="zh-CN" i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en-US" altLang="zh-CN" i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Y</a:t>
            </a:r>
            <a:r>
              <a:rPr lang="en-US" altLang="zh-CN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</a:t>
            </a:r>
            <a:r>
              <a:rPr lang="en-US" altLang="zh-CN" i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y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)=P(</a:t>
            </a:r>
            <a:r>
              <a:rPr lang="en-US" altLang="zh-CN" i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</a:t>
            </a:r>
            <a:r>
              <a:rPr lang="en-US" altLang="zh-CN" i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)P(</a:t>
            </a:r>
            <a:r>
              <a:rPr lang="en-US" altLang="zh-CN" i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Y</a:t>
            </a:r>
            <a:r>
              <a:rPr lang="en-US" altLang="zh-CN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</a:t>
            </a:r>
            <a:r>
              <a:rPr lang="en-US" altLang="zh-CN" i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y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zh-CN" altLang="en-US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对一切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y</a:t>
            </a:r>
            <a:r>
              <a:rPr lang="zh-CN" altLang="en-US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成立</a:t>
            </a:r>
            <a:r>
              <a:rPr lang="zh-CN" altLang="en-US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  <a:endParaRPr lang="zh-CN" altLang="en-US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若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</a:t>
            </a:r>
            <a:r>
              <a:rPr lang="en-US" altLang="zh-CN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y</a:t>
            </a:r>
            <a:r>
              <a:rPr lang="en-US" altLang="zh-CN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zh-CN" altLang="en-US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为(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Y</a:t>
            </a:r>
            <a:r>
              <a:rPr lang="en-US" altLang="zh-CN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)'</a:t>
            </a:r>
            <a:r>
              <a:rPr lang="zh-CN" altLang="en-US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的联合分布函数，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en-US" altLang="zh-CN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zh-CN" altLang="en-US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和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</a:t>
            </a:r>
            <a:r>
              <a:rPr lang="en-US" altLang="zh-CN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y</a:t>
            </a:r>
            <a:r>
              <a:rPr lang="en-US" altLang="zh-CN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zh-CN" altLang="en-US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分别为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en-US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和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Y</a:t>
            </a:r>
            <a:r>
              <a:rPr lang="zh-CN" altLang="en-US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的分布函数，则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en-US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和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Y</a:t>
            </a:r>
            <a:r>
              <a:rPr lang="zh-CN" altLang="en-US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独立当且仅当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y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)=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zh-CN" altLang="en-US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y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endParaRPr lang="en-US" altLang="zh-CN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若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</a:t>
            </a:r>
            <a:r>
              <a:rPr lang="en-US" altLang="zh-CN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y</a:t>
            </a:r>
            <a:r>
              <a:rPr lang="en-US" altLang="zh-CN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zh-CN" altLang="en-US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为(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Y</a:t>
            </a:r>
            <a:r>
              <a:rPr lang="en-US" altLang="zh-CN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)'</a:t>
            </a:r>
            <a:r>
              <a:rPr lang="zh-CN" altLang="en-US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的密度函数，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en-US" altLang="zh-CN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zh-CN" altLang="en-US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和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</a:t>
            </a:r>
            <a:r>
              <a:rPr lang="en-US" altLang="zh-CN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y</a:t>
            </a:r>
            <a:r>
              <a:rPr lang="en-US" altLang="zh-CN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zh-CN" altLang="en-US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分别为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en-US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和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Y</a:t>
            </a:r>
            <a:r>
              <a:rPr lang="zh-CN" altLang="en-US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的分布密度，则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en-US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和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Y</a:t>
            </a:r>
            <a:r>
              <a:rPr lang="zh-CN" altLang="en-US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独立当且仅当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y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)=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zh-CN" altLang="en-US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y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endParaRPr lang="en-US" altLang="zh-CN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solidFill>
                  <a:schemeClr val="tx1"/>
                </a:solidFill>
              </a:rPr>
              <a:t>类似地，若随机向量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en-US" dirty="0">
                <a:solidFill>
                  <a:schemeClr val="tx1"/>
                </a:solidFill>
              </a:rPr>
              <a:t>的</a:t>
            </a:r>
            <a:r>
              <a:rPr lang="zh-CN" altLang="en-US" dirty="0">
                <a:solidFill>
                  <a:srgbClr val="FF0000"/>
                </a:solidFill>
              </a:rPr>
              <a:t>联合分布</a:t>
            </a:r>
            <a:r>
              <a:rPr lang="zh-CN" altLang="en-US" dirty="0">
                <a:solidFill>
                  <a:schemeClr val="tx1"/>
                </a:solidFill>
              </a:rPr>
              <a:t>等于其分量</a:t>
            </a:r>
            <a:r>
              <a:rPr lang="zh-CN" altLang="en-US" dirty="0">
                <a:solidFill>
                  <a:srgbClr val="FF0000"/>
                </a:solidFill>
              </a:rPr>
              <a:t>各自边缘分布的乘积</a:t>
            </a:r>
            <a:r>
              <a:rPr lang="zh-CN" altLang="en-US" dirty="0">
                <a:solidFill>
                  <a:schemeClr val="tx1"/>
                </a:solidFill>
              </a:rPr>
              <a:t>，则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en-US" dirty="0">
                <a:solidFill>
                  <a:schemeClr val="tx1"/>
                </a:solidFill>
              </a:rPr>
              <a:t>的各个分量（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zh-CN" altLang="en-US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个随机变量）是</a:t>
            </a:r>
            <a:r>
              <a:rPr lang="zh-CN" altLang="en-US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相互独立</a:t>
            </a:r>
            <a:r>
              <a:rPr lang="zh-CN" altLang="en-US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的</a:t>
            </a:r>
            <a:r>
              <a:rPr lang="zh-CN" altLang="en-US" dirty="0">
                <a:solidFill>
                  <a:schemeClr val="tx1"/>
                </a:solidFill>
              </a:rPr>
              <a:t>。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331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68580" tIns="34290" rIns="68580" bIns="34290" rtlCol="0" anchor="b">
            <a:norm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algn="r"/>
            <a:fld id="{9A0DB2DC-4C9A-4742-B13C-FB6460FD3503}" type="slidenum">
              <a:rPr lang="zh-CN" altLang="en-US" sz="1050" dirty="0"/>
            </a:fld>
            <a:endParaRPr lang="zh-CN" alt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/>
          </p:cNvSpPr>
          <p:nvPr>
            <p:ph type="title"/>
          </p:nvPr>
        </p:nvSpPr>
        <p:spPr>
          <a:xfrm>
            <a:off x="2152651" y="461645"/>
            <a:ext cx="6843395" cy="881380"/>
          </a:xfrm>
        </p:spPr>
        <p:txBody>
          <a:bodyPr vert="horz" wrap="square" lIns="68580" tIns="34290" rIns="68580" bIns="34290" rtlCol="0" anchor="b">
            <a:normAutofit/>
          </a:bodyPr>
          <a:lstStyle/>
          <a:p>
            <a:pPr eaLnBrk="1" hangingPunct="1"/>
            <a:r>
              <a:rPr lang="zh-CN" altLang="en-US" dirty="0"/>
              <a:t>四、随机向量的数字特征</a:t>
            </a:r>
            <a:endParaRPr lang="en-US" altLang="zh-CN" dirty="0"/>
          </a:p>
        </p:txBody>
      </p:sp>
      <p:sp>
        <p:nvSpPr>
          <p:cNvPr id="14339" name="Rectangle 3"/>
          <p:cNvSpPr>
            <a:spLocks noGrp="1"/>
          </p:cNvSpPr>
          <p:nvPr>
            <p:ph idx="1"/>
          </p:nvPr>
        </p:nvSpPr>
        <p:spPr>
          <a:xfrm>
            <a:off x="2152650" y="1811020"/>
            <a:ext cx="7886700" cy="4799505"/>
          </a:xfrm>
        </p:spPr>
        <p:txBody>
          <a:bodyPr vert="horz" wrap="square" lIns="68580" tIns="34290" rIns="68580" bIns="34290" rtlCol="0" anchor="t">
            <a:normAutofit lnSpcReduction="10000"/>
          </a:bodyPr>
          <a:lstStyle/>
          <a:p>
            <a:pPr marL="0" indent="0"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（一）随机向量的</a:t>
            </a:r>
            <a:r>
              <a:rPr lang="zh-CN" altLang="en-US" sz="2800" dirty="0">
                <a:solidFill>
                  <a:srgbClr val="FF0000"/>
                </a:solidFill>
              </a:rPr>
              <a:t>均值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marL="457200" lvl="1" indent="0">
              <a:buNone/>
            </a:pPr>
            <a:endParaRPr lang="zh-CN" altLang="en-US" dirty="0">
              <a:solidFill>
                <a:schemeClr val="tx1"/>
              </a:solidFill>
            </a:endParaRPr>
          </a:p>
          <a:p>
            <a:pPr marL="457200" lvl="1" indent="0">
              <a:buNone/>
            </a:pPr>
            <a:endParaRPr lang="zh-CN" altLang="en-US" dirty="0">
              <a:solidFill>
                <a:schemeClr val="tx1"/>
              </a:solidFill>
            </a:endParaRPr>
          </a:p>
          <a:p>
            <a:pPr marL="457200" lvl="1" indent="0">
              <a:buNone/>
            </a:pPr>
            <a:endParaRPr lang="zh-CN" altLang="en-US" dirty="0">
              <a:solidFill>
                <a:schemeClr val="tx1"/>
              </a:solidFill>
            </a:endParaRPr>
          </a:p>
          <a:p>
            <a:pPr marL="457200" lvl="1" indent="0">
              <a:buNone/>
            </a:pPr>
            <a:endParaRPr lang="zh-CN" altLang="en-US" dirty="0">
              <a:solidFill>
                <a:schemeClr val="tx1"/>
              </a:solidFill>
            </a:endParaRPr>
          </a:p>
          <a:p>
            <a:pPr marL="457200" lvl="1" indent="0">
              <a:buNone/>
            </a:pPr>
            <a:endParaRPr lang="zh-CN" altLang="en-US" dirty="0">
              <a:solidFill>
                <a:schemeClr val="tx1"/>
              </a:solidFill>
            </a:endParaRPr>
          </a:p>
          <a:p>
            <a:pPr marL="457200" lvl="1" indent="0">
              <a:buNone/>
            </a:pPr>
            <a:endParaRPr lang="zh-CN" altLang="en-US" dirty="0">
              <a:solidFill>
                <a:schemeClr val="tx1"/>
              </a:solidFill>
            </a:endParaRPr>
          </a:p>
          <a:p>
            <a:pPr marL="457200" lvl="1" indent="0">
              <a:buNone/>
            </a:pPr>
            <a:endParaRPr lang="en-US" altLang="zh-CN" sz="2400" dirty="0">
              <a:solidFill>
                <a:schemeClr val="tx1"/>
              </a:solidFill>
            </a:endParaRPr>
          </a:p>
          <a:p>
            <a:pPr marL="457200" lvl="1" indent="0"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E(AX)=AE(X)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marL="457200" lvl="1" indent="0"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E(AXB)=AE(X)B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marL="0" lvl="1" indent="0">
              <a:buNone/>
            </a:pP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      E(AX+BY)=AE(X)+BE(Y)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marL="457200" lvl="1" indent="0">
              <a:buNone/>
            </a:pPr>
            <a:endParaRPr lang="en-US" altLang="zh-CN" sz="2400" dirty="0">
              <a:solidFill>
                <a:schemeClr val="tx1"/>
              </a:solidFill>
            </a:endParaRPr>
          </a:p>
        </p:txBody>
      </p:sp>
      <p:sp>
        <p:nvSpPr>
          <p:cNvPr id="1433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68580" tIns="34290" rIns="68580" bIns="34290" rtlCol="0" anchor="b">
            <a:norm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algn="r"/>
            <a:fld id="{9A0DB2DC-4C9A-4742-B13C-FB6460FD3503}" type="slidenum">
              <a:rPr lang="zh-CN" altLang="en-US" sz="1050" dirty="0"/>
            </a:fld>
            <a:endParaRPr lang="zh-CN" altLang="en-US" sz="1050" dirty="0"/>
          </a:p>
        </p:txBody>
      </p:sp>
      <p:graphicFrame>
        <p:nvGraphicFramePr>
          <p:cNvPr id="14340" name="Object 5"/>
          <p:cNvGraphicFramePr/>
          <p:nvPr/>
        </p:nvGraphicFramePr>
        <p:xfrm>
          <a:off x="3888740" y="2805430"/>
          <a:ext cx="3954780" cy="2151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1" imgW="1828800" imgH="939800" progId="Equation.3">
                  <p:embed/>
                </p:oleObj>
              </mc:Choice>
              <mc:Fallback>
                <p:oleObj name="" r:id="rId1" imgW="1828800" imgH="939800" progId="Equation.3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888740" y="2805430"/>
                        <a:ext cx="3954780" cy="21513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3"/>
          <p:cNvSpPr/>
          <p:nvPr/>
        </p:nvSpPr>
        <p:spPr>
          <a:xfrm>
            <a:off x="2286497" y="2351406"/>
            <a:ext cx="6870065" cy="100469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宋体" pitchFamily="2" charset="-122"/>
              </a:rPr>
              <a:t>1、定义：</a:t>
            </a:r>
            <a:r>
              <a:rPr lang="zh-CN" altLang="en-US" sz="2400" dirty="0">
                <a:latin typeface="宋体" pitchFamily="2" charset="-122"/>
              </a:rPr>
              <a:t>若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E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400" i="1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)=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</a:t>
            </a:r>
            <a:r>
              <a:rPr lang="en-US" altLang="zh-CN" sz="2400" i="1" baseline="-25000" dirty="0" err="1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i</a:t>
            </a:r>
            <a:r>
              <a:rPr lang="zh-CN" altLang="en-US" sz="2400" dirty="0">
                <a:latin typeface="宋体" pitchFamily="2" charset="-122"/>
                <a:sym typeface="Symbol" panose="05050102010706020507" pitchFamily="18" charset="2"/>
              </a:rPr>
              <a:t>存在，则</a:t>
            </a:r>
            <a:r>
              <a:rPr lang="zh-CN" altLang="en-US" sz="2400" dirty="0">
                <a:latin typeface="宋体" pitchFamily="2" charset="-122"/>
              </a:rPr>
              <a:t>其均值为</a:t>
            </a:r>
            <a:endParaRPr lang="zh-CN" altLang="en-US" sz="2400" dirty="0">
              <a:latin typeface="Times New Roman" panose="02020503050405090304" pitchFamily="18" charset="0"/>
            </a:endParaRPr>
          </a:p>
          <a:p>
            <a:pPr eaLnBrk="0" hangingPunct="0">
              <a:lnSpc>
                <a:spcPct val="130000"/>
              </a:lnSpc>
            </a:pPr>
            <a:endParaRPr lang="zh-CN" altLang="en-US" sz="2400" dirty="0">
              <a:latin typeface="Times New Roman" panose="0202050305040509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385800" y="4687484"/>
            <a:ext cx="1926590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just"/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宋体" pitchFamily="2" charset="-122"/>
              </a:rPr>
              <a:t>2、性质</a:t>
            </a:r>
            <a:endParaRPr lang="zh-CN" altLang="en-US" sz="2400" dirty="0">
              <a:solidFill>
                <a:schemeClr val="accent1">
                  <a:lumMod val="75000"/>
                </a:schemeClr>
              </a:solidFill>
              <a:latin typeface="宋体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/>
          </p:cNvSpPr>
          <p:nvPr>
            <p:ph type="title"/>
          </p:nvPr>
        </p:nvSpPr>
        <p:spPr>
          <a:xfrm>
            <a:off x="1946567" y="864235"/>
            <a:ext cx="5214938" cy="514350"/>
          </a:xfrm>
        </p:spPr>
        <p:txBody>
          <a:bodyPr vert="horz" wrap="square" lIns="68580" tIns="34290" rIns="68580" bIns="34290" rtlCol="0" anchor="b">
            <a:noAutofit/>
          </a:bodyPr>
          <a:lstStyle/>
          <a:p>
            <a:pPr eaLnBrk="1" hangingPunct="1"/>
            <a:r>
              <a:rPr lang="zh-CN" altLang="en-US" sz="2800" dirty="0">
                <a:latin typeface="宋体" pitchFamily="2" charset="-122"/>
              </a:rPr>
              <a:t> </a:t>
            </a:r>
            <a:r>
              <a:rPr lang="zh-CN" altLang="en-US" sz="2800" dirty="0">
                <a:solidFill>
                  <a:srgbClr val="FF0000"/>
                </a:solidFill>
                <a:latin typeface="宋体" pitchFamily="2" charset="-122"/>
              </a:rPr>
              <a:t>（二）协方差矩阵</a:t>
            </a:r>
            <a:r>
              <a:rPr lang="zh-CN" altLang="en-US" sz="2800" dirty="0"/>
              <a:t> </a:t>
            </a:r>
            <a:endParaRPr lang="zh-CN" altLang="en-US" sz="2800" dirty="0"/>
          </a:p>
        </p:txBody>
      </p:sp>
      <p:sp>
        <p:nvSpPr>
          <p:cNvPr id="1536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68580" tIns="34290" rIns="68580" bIns="34290" rtlCol="0" anchor="b">
            <a:norm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algn="r"/>
            <a:fld id="{9A0DB2DC-4C9A-4742-B13C-FB6460FD3503}" type="slidenum">
              <a:rPr lang="zh-CN" altLang="en-US" sz="1050" dirty="0"/>
            </a:fld>
            <a:endParaRPr lang="zh-CN" altLang="en-US" sz="1050" dirty="0"/>
          </a:p>
        </p:txBody>
      </p:sp>
      <p:sp>
        <p:nvSpPr>
          <p:cNvPr id="15363" name="Rectangle 3"/>
          <p:cNvSpPr/>
          <p:nvPr/>
        </p:nvSpPr>
        <p:spPr>
          <a:xfrm>
            <a:off x="1086485" y="1642745"/>
            <a:ext cx="10759440" cy="152971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宋体" pitchFamily="2" charset="-122"/>
              </a:rPr>
              <a:t>1、定义：</a:t>
            </a:r>
            <a:r>
              <a:rPr lang="zh-CN" altLang="en-US" sz="2400" dirty="0">
                <a:latin typeface="宋体" pitchFamily="2" charset="-122"/>
              </a:rPr>
              <a:t>设              </a:t>
            </a:r>
            <a:r>
              <a:rPr lang="en-US" altLang="zh-CN" sz="2400" dirty="0">
                <a:latin typeface="宋体" pitchFamily="2" charset="-122"/>
              </a:rPr>
              <a:t>		   </a:t>
            </a:r>
            <a:r>
              <a:rPr lang="zh-CN" altLang="en-US" sz="2400" dirty="0">
                <a:latin typeface="宋体" pitchFamily="2" charset="-122"/>
              </a:rPr>
              <a:t>和            </a:t>
            </a:r>
            <a:r>
              <a:rPr lang="en-US" altLang="zh-CN" sz="2400" dirty="0">
                <a:latin typeface="宋体" pitchFamily="2" charset="-122"/>
              </a:rPr>
              <a:t>	       </a:t>
            </a:r>
            <a:r>
              <a:rPr lang="zh-CN" altLang="en-US" sz="2400" dirty="0">
                <a:solidFill>
                  <a:srgbClr val="FF0000"/>
                </a:solidFill>
                <a:latin typeface="宋体" pitchFamily="2" charset="-122"/>
              </a:rPr>
              <a:t>分别为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zh-CN" altLang="en-US" sz="2400" dirty="0">
                <a:solidFill>
                  <a:srgbClr val="FF0000"/>
                </a:solidFill>
                <a:latin typeface="宋体" pitchFamily="2" charset="-122"/>
              </a:rPr>
              <a:t>维和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q</a:t>
            </a:r>
            <a:r>
              <a:rPr lang="zh-CN" altLang="en-US" sz="2400" dirty="0">
                <a:solidFill>
                  <a:srgbClr val="FF0000"/>
                </a:solidFill>
                <a:latin typeface="宋体" pitchFamily="2" charset="-122"/>
              </a:rPr>
              <a:t>维随机向量，则其协方差矩阵为</a:t>
            </a:r>
            <a:endParaRPr lang="zh-CN" altLang="en-US" sz="2400" dirty="0">
              <a:solidFill>
                <a:srgbClr val="FF0000"/>
              </a:solidFill>
              <a:latin typeface="Times New Roman" panose="02020503050405090304" pitchFamily="18" charset="0"/>
            </a:endParaRPr>
          </a:p>
          <a:p>
            <a:pPr eaLnBrk="0" hangingPunct="0">
              <a:lnSpc>
                <a:spcPct val="130000"/>
              </a:lnSpc>
            </a:pPr>
            <a:endParaRPr lang="zh-CN" altLang="en-US" sz="2400" dirty="0">
              <a:latin typeface="Times New Roman" panose="02020503050405090304" pitchFamily="18" charset="0"/>
            </a:endParaRPr>
          </a:p>
        </p:txBody>
      </p:sp>
      <p:graphicFrame>
        <p:nvGraphicFramePr>
          <p:cNvPr id="15369" name="Object 23"/>
          <p:cNvGraphicFramePr/>
          <p:nvPr/>
        </p:nvGraphicFramePr>
        <p:xfrm>
          <a:off x="2435225" y="2927350"/>
          <a:ext cx="7061200" cy="2520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1" imgW="93878400" imgH="28651200" progId="Equation.DSMT4">
                  <p:embed/>
                </p:oleObj>
              </mc:Choice>
              <mc:Fallback>
                <p:oleObj name="Equation" r:id="rId1" imgW="93878400" imgH="28651200" progId="Equation.DSMT4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435225" y="2927350"/>
                        <a:ext cx="7061200" cy="2520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054"/>
          <p:cNvGraphicFramePr/>
          <p:nvPr/>
        </p:nvGraphicFramePr>
        <p:xfrm>
          <a:off x="2890975" y="1712376"/>
          <a:ext cx="2169160" cy="549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1282065" imgH="241300" progId="Equation.3">
                  <p:embed/>
                </p:oleObj>
              </mc:Choice>
              <mc:Fallback>
                <p:oleObj name="" r:id="rId3" imgW="1282065" imgH="241300" progId="Equation.3">
                  <p:embed/>
                  <p:pic>
                    <p:nvPicPr>
                      <p:cNvPr id="0" name="Object 205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90975" y="1712376"/>
                        <a:ext cx="2169160" cy="5499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054"/>
          <p:cNvGraphicFramePr/>
          <p:nvPr/>
        </p:nvGraphicFramePr>
        <p:xfrm>
          <a:off x="5475923" y="1706563"/>
          <a:ext cx="1781175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5" imgW="25298400" imgH="5791200" progId="Equation.DSMT4">
                  <p:embed/>
                </p:oleObj>
              </mc:Choice>
              <mc:Fallback>
                <p:oleObj name="Equation" r:id="rId5" imgW="25298400" imgH="5791200" progId="Equation.DSMT4">
                  <p:embed/>
                  <p:pic>
                    <p:nvPicPr>
                      <p:cNvPr id="0" name="Object 205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475923" y="1706563"/>
                        <a:ext cx="1781175" cy="5508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1487905" y="2879218"/>
            <a:ext cx="1219196" cy="461665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en-US" altLang="zh-CN" sz="2400" i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Cov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Y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endParaRPr lang="zh-CN" alt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68580" tIns="34290" rIns="68580" bIns="34290" rtlCol="0" anchor="b">
            <a:norm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algn="r"/>
            <a:fld id="{9A0DB2DC-4C9A-4742-B13C-FB6460FD3503}" type="slidenum">
              <a:rPr lang="zh-CN" altLang="en-US" sz="1050" dirty="0"/>
            </a:fld>
            <a:endParaRPr lang="zh-CN" altLang="en-US" sz="1050" dirty="0"/>
          </a:p>
        </p:txBody>
      </p:sp>
      <p:sp>
        <p:nvSpPr>
          <p:cNvPr id="16386" name="Rectangle 2"/>
          <p:cNvSpPr/>
          <p:nvPr/>
        </p:nvSpPr>
        <p:spPr>
          <a:xfrm>
            <a:off x="4995863" y="3075386"/>
            <a:ext cx="6858000" cy="29908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endParaRPr lang="zh-CN" altLang="en-US" sz="1350" dirty="0">
              <a:latin typeface="Tahoma" panose="020B0604030504040204" pitchFamily="34" charset="0"/>
            </a:endParaRPr>
          </a:p>
        </p:txBody>
      </p:sp>
      <p:graphicFrame>
        <p:nvGraphicFramePr>
          <p:cNvPr id="16387" name="Object 1026"/>
          <p:cNvGraphicFramePr/>
          <p:nvPr/>
        </p:nvGraphicFramePr>
        <p:xfrm>
          <a:off x="2782956" y="657225"/>
          <a:ext cx="7625301" cy="2262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1" imgW="89001600" imgH="22555200" progId="Equation.DSMT4">
                  <p:embed/>
                </p:oleObj>
              </mc:Choice>
              <mc:Fallback>
                <p:oleObj name="Equation" r:id="rId1" imgW="89001600" imgH="22555200" progId="Equation.DSMT4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82956" y="657225"/>
                        <a:ext cx="7625301" cy="22625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8" name="Rectangle 4"/>
          <p:cNvSpPr/>
          <p:nvPr/>
        </p:nvSpPr>
        <p:spPr>
          <a:xfrm>
            <a:off x="5656660" y="3339704"/>
            <a:ext cx="6858000" cy="29908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endParaRPr lang="zh-CN" altLang="en-US" sz="1350" dirty="0">
              <a:latin typeface="Tahoma" panose="020B0604030504040204" pitchFamily="34" charset="0"/>
            </a:endParaRPr>
          </a:p>
        </p:txBody>
      </p:sp>
      <p:graphicFrame>
        <p:nvGraphicFramePr>
          <p:cNvPr id="16389" name="Object 1027"/>
          <p:cNvGraphicFramePr/>
          <p:nvPr/>
        </p:nvGraphicFramePr>
        <p:xfrm>
          <a:off x="2327275" y="3074988"/>
          <a:ext cx="622300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55778400" imgH="5791200" progId="Equation.DSMT4">
                  <p:embed/>
                </p:oleObj>
              </mc:Choice>
              <mc:Fallback>
                <p:oleObj name="Equation" r:id="rId3" imgW="55778400" imgH="5791200" progId="Equation.DSMT4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27275" y="3074988"/>
                        <a:ext cx="6223000" cy="593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1" name="Object 1028"/>
          <p:cNvGraphicFramePr/>
          <p:nvPr/>
        </p:nvGraphicFramePr>
        <p:xfrm>
          <a:off x="2548517" y="3933031"/>
          <a:ext cx="6555725" cy="19429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5" imgW="92659200" imgH="22555200" progId="Equation.DSMT4">
                  <p:embed/>
                </p:oleObj>
              </mc:Choice>
              <mc:Fallback>
                <p:oleObj name="Equation" r:id="rId5" imgW="92659200" imgH="22555200" progId="Equation.DSMT4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48517" y="3933031"/>
                        <a:ext cx="6555725" cy="194298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68580" tIns="34290" rIns="68580" bIns="34290" rtlCol="0" anchor="b">
            <a:norm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algn="r"/>
            <a:fld id="{9A0DB2DC-4C9A-4742-B13C-FB6460FD3503}" type="slidenum">
              <a:rPr lang="zh-CN" altLang="en-US" sz="1050" dirty="0"/>
            </a:fld>
            <a:endParaRPr lang="zh-CN" altLang="en-US" sz="1050" dirty="0"/>
          </a:p>
        </p:txBody>
      </p:sp>
      <p:sp>
        <p:nvSpPr>
          <p:cNvPr id="19458" name="Rectangle 2"/>
          <p:cNvSpPr/>
          <p:nvPr/>
        </p:nvSpPr>
        <p:spPr>
          <a:xfrm>
            <a:off x="2037715" y="1038861"/>
            <a:ext cx="7635240" cy="51616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</a:t>
            </a:r>
            <a:r>
              <a:rPr lang="en-US" altLang="zh-CN" sz="2400" dirty="0" err="1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 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随机向量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的协方差矩阵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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是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对称非负定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矩阵。</a:t>
            </a:r>
            <a:endParaRPr lang="zh-CN" altLang="en-US" sz="2400" dirty="0">
              <a:solidFill>
                <a:schemeClr val="accent1">
                  <a:lumMod val="75000"/>
                </a:schemeClr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460" name="Object 0"/>
              <p:cNvSpPr txBox="1"/>
              <p:nvPr/>
            </p:nvSpPr>
            <p:spPr>
              <a:xfrm>
                <a:off x="3463226" y="1983830"/>
                <a:ext cx="4997950" cy="461665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𝐄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zh-CN" altLang="en-US" sz="2800" i="1" dirty="0"/>
              </a:p>
            </p:txBody>
          </p:sp>
        </mc:Choice>
        <mc:Fallback>
          <p:sp>
            <p:nvSpPr>
              <p:cNvPr id="19460" name="Object 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3226" y="1983830"/>
                <a:ext cx="4997950" cy="461665"/>
              </a:xfrm>
              <a:prstGeom prst="rect">
                <a:avLst/>
              </a:prstGeom>
              <a:blipFill rotWithShape="1">
                <a:blip r:embed="rId1"/>
                <a:stretch>
                  <a:fillRect l="-11" t="-19" r="9" b="-18132"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462" name="Object 1"/>
              <p:cNvSpPr txBox="1"/>
              <p:nvPr/>
            </p:nvSpPr>
            <p:spPr>
              <a:xfrm>
                <a:off x="4301691" y="2466139"/>
                <a:ext cx="4453072" cy="465346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𝐄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9462" name="Object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1691" y="2466139"/>
                <a:ext cx="4453072" cy="465346"/>
              </a:xfrm>
              <a:prstGeom prst="rect">
                <a:avLst/>
              </a:prstGeom>
              <a:blipFill rotWithShape="1">
                <a:blip r:embed="rId2"/>
                <a:stretch>
                  <a:fillRect l="-5" t="-93" b="-17124"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464" name="Object 2"/>
              <p:cNvSpPr txBox="1"/>
              <p:nvPr/>
            </p:nvSpPr>
            <p:spPr>
              <a:xfrm>
                <a:off x="4301691" y="2995675"/>
                <a:ext cx="3331745" cy="422163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𝐄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9464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1691" y="2995675"/>
                <a:ext cx="3331745" cy="422163"/>
              </a:xfrm>
              <a:prstGeom prst="rect">
                <a:avLst/>
              </a:prstGeom>
              <a:blipFill rotWithShape="1">
                <a:blip r:embed="rId3"/>
                <a:stretch>
                  <a:fillRect l="-6" t="-90" r="3" b="-29117"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465" name="Rectangle 9"/>
          <p:cNvSpPr/>
          <p:nvPr/>
        </p:nvSpPr>
        <p:spPr>
          <a:xfrm>
            <a:off x="2759103" y="3538331"/>
            <a:ext cx="6663027" cy="465346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ii. 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设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是常数矩阵，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为常数向量，则</a:t>
            </a:r>
            <a:endParaRPr lang="zh-CN" altLang="en-US" sz="2400" dirty="0">
              <a:solidFill>
                <a:schemeClr val="accent1">
                  <a:lumMod val="75000"/>
                </a:schemeClr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aphicFrame>
        <p:nvGraphicFramePr>
          <p:cNvPr id="19467" name="Object 3"/>
          <p:cNvGraphicFramePr/>
          <p:nvPr/>
        </p:nvGraphicFramePr>
        <p:xfrm>
          <a:off x="3469958" y="4003676"/>
          <a:ext cx="5679440" cy="550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4" imgW="2145665" imgH="203200" progId="Equation.3">
                  <p:embed/>
                </p:oleObj>
              </mc:Choice>
              <mc:Fallback>
                <p:oleObj name="" r:id="rId4" imgW="2145665" imgH="2032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469958" y="4003676"/>
                        <a:ext cx="5679440" cy="55054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9" name="Object 4"/>
          <p:cNvGraphicFramePr/>
          <p:nvPr/>
        </p:nvGraphicFramePr>
        <p:xfrm>
          <a:off x="3262630" y="4650105"/>
          <a:ext cx="6159500" cy="471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6" imgW="2857500" imgH="203200" progId="Equation.3">
                  <p:embed/>
                </p:oleObj>
              </mc:Choice>
              <mc:Fallback>
                <p:oleObj name="" r:id="rId6" imgW="2857500" imgH="2032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262630" y="4650105"/>
                        <a:ext cx="6159500" cy="47117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9472" name="Object 6"/>
              <p:cNvSpPr txBox="1"/>
              <p:nvPr/>
            </p:nvSpPr>
            <p:spPr>
              <a:xfrm>
                <a:off x="3262312" y="5253038"/>
                <a:ext cx="3531519" cy="476250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𝐴𝐸</m:t>
                      </m:r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[(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CN" altLang="en-US" sz="2400" i="1" dirty="0"/>
              </a:p>
            </p:txBody>
          </p:sp>
        </mc:Choice>
        <mc:Fallback>
          <p:sp>
            <p:nvSpPr>
              <p:cNvPr id="19472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2312" y="5253038"/>
                <a:ext cx="3531519" cy="476250"/>
              </a:xfrm>
              <a:prstGeom prst="rect">
                <a:avLst/>
              </a:prstGeom>
              <a:blipFill rotWithShape="1">
                <a:blip r:embed="rId8"/>
                <a:stretch>
                  <a:fillRect l="-9" t="-67" r="17" b="67"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9474" name="Object 7"/>
          <p:cNvGraphicFramePr/>
          <p:nvPr/>
        </p:nvGraphicFramePr>
        <p:xfrm>
          <a:off x="6710998" y="5238753"/>
          <a:ext cx="2438400" cy="5454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9" imgW="862965" imgH="203200" progId="Equation.3">
                  <p:embed/>
                </p:oleObj>
              </mc:Choice>
              <mc:Fallback>
                <p:oleObj name="" r:id="rId9" imgW="862965" imgH="203200" progId="Equation.3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710998" y="5238753"/>
                        <a:ext cx="2438400" cy="5454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0" name="Rectangle 2"/>
          <p:cNvSpPr/>
          <p:nvPr/>
        </p:nvSpPr>
        <p:spPr>
          <a:xfrm>
            <a:off x="2259965" y="257811"/>
            <a:ext cx="1926590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just"/>
            <a:r>
              <a:rPr lang="zh-CN" altLang="en-US" sz="3200" dirty="0">
                <a:solidFill>
                  <a:schemeClr val="accent1">
                    <a:lumMod val="75000"/>
                  </a:schemeClr>
                </a:solidFill>
                <a:latin typeface="宋体" pitchFamily="2" charset="-122"/>
              </a:rPr>
              <a:t>2、性质</a:t>
            </a:r>
            <a:endParaRPr lang="zh-CN" altLang="en-US" sz="3200" dirty="0">
              <a:solidFill>
                <a:schemeClr val="accent1">
                  <a:lumMod val="75000"/>
                </a:schemeClr>
              </a:solidFill>
              <a:latin typeface="宋体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775005" y="1604485"/>
            <a:ext cx="63743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证：设</a:t>
            </a:r>
            <a:r>
              <a:rPr lang="en-US" altLang="zh-CN" sz="2400" i="1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为任意与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有相同维数的常数向量，则</a:t>
            </a:r>
            <a:endParaRPr lang="zh-CN" alt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9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9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0" grpId="0"/>
      <p:bldP spid="19462" grpId="0"/>
      <p:bldP spid="19464" grpId="0"/>
      <p:bldP spid="1947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68580" tIns="34290" rIns="68580" bIns="34290" rtlCol="0" anchor="b">
            <a:norm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algn="r"/>
            <a:fld id="{9A0DB2DC-4C9A-4742-B13C-FB6460FD3503}" type="slidenum">
              <a:rPr lang="zh-CN" altLang="en-US" sz="1050" dirty="0"/>
            </a:fld>
            <a:endParaRPr lang="zh-CN" altLang="en-US" sz="1050" dirty="0"/>
          </a:p>
        </p:txBody>
      </p:sp>
      <p:sp>
        <p:nvSpPr>
          <p:cNvPr id="17411" name="Rectangle 3"/>
          <p:cNvSpPr/>
          <p:nvPr/>
        </p:nvSpPr>
        <p:spPr>
          <a:xfrm>
            <a:off x="2130950" y="2560320"/>
            <a:ext cx="7420721" cy="103463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iv. 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若</a:t>
            </a:r>
            <a:r>
              <a:rPr lang="en-US" altLang="zh-CN" sz="2400" i="1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=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altLang="zh-CN" sz="2400" i="1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400" baseline="-25000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en-US" altLang="zh-CN" sz="2400" i="1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400" baseline="-25000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,…，</a:t>
            </a:r>
            <a:r>
              <a:rPr lang="en-US" altLang="zh-CN" sz="2400" i="1" dirty="0" err="1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400" i="1" baseline="-25000" dirty="0" err="1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'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和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Y=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altLang="zh-CN" sz="2400" i="1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Y</a:t>
            </a:r>
            <a:r>
              <a:rPr lang="en-US" altLang="zh-CN" sz="2400" baseline="-25000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en-US" altLang="zh-CN" sz="2400" i="1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Y</a:t>
            </a:r>
            <a:r>
              <a:rPr lang="en-US" altLang="zh-CN" sz="2400" baseline="-25000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,…，</a:t>
            </a:r>
            <a:r>
              <a:rPr lang="en-US" altLang="zh-CN" sz="2400" i="1" dirty="0" err="1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Y</a:t>
            </a:r>
            <a:r>
              <a:rPr lang="en-US" altLang="zh-CN" sz="2400" i="1" baseline="-25000" dirty="0" err="1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q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'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相互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独立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  <a:endParaRPr lang="zh-CN" altLang="en-US" sz="2400" dirty="0">
              <a:solidFill>
                <a:schemeClr val="accent1">
                  <a:lumMod val="75000"/>
                </a:schemeClr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则 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Cov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Y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)=0</a:t>
            </a:r>
            <a:r>
              <a:rPr lang="en-US" altLang="zh-CN" sz="2400" i="1" baseline="-250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en-US" altLang="zh-CN" sz="2400" baseline="-250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i="1" baseline="-250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q</a:t>
            </a:r>
            <a:endParaRPr lang="en-US" altLang="zh-CN" sz="2400" i="1" baseline="-25000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0482" name="Rectangle 2"/>
          <p:cNvSpPr/>
          <p:nvPr/>
        </p:nvSpPr>
        <p:spPr>
          <a:xfrm>
            <a:off x="2130951" y="421419"/>
            <a:ext cx="7413736" cy="1028506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iii. 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若</a:t>
            </a:r>
            <a:r>
              <a:rPr lang="en-US" altLang="zh-CN" sz="2400" i="1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=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altLang="zh-CN" sz="2400" i="1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400" baseline="-25000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en-US" altLang="zh-CN" sz="2400" i="1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400" baseline="-25000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,…，</a:t>
            </a:r>
            <a:r>
              <a:rPr lang="en-US" altLang="zh-CN" sz="2400" i="1" dirty="0" err="1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400" i="1" baseline="-25000" dirty="0" err="1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'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和</a:t>
            </a:r>
            <a:r>
              <a:rPr lang="en-US" altLang="zh-CN" sz="2400" i="1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Y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=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altLang="zh-CN" sz="2400" i="1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Y</a:t>
            </a:r>
            <a:r>
              <a:rPr lang="en-US" altLang="zh-CN" sz="2400" baseline="-25000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en-US" altLang="zh-CN" sz="2400" i="1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Y</a:t>
            </a:r>
            <a:r>
              <a:rPr lang="en-US" altLang="zh-CN" sz="2400" baseline="-25000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,…，</a:t>
            </a:r>
            <a:r>
              <a:rPr lang="en-US" altLang="zh-CN" sz="2400" i="1" dirty="0" err="1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Y</a:t>
            </a:r>
            <a:r>
              <a:rPr lang="en-US" altLang="zh-CN" sz="2400" i="1" baseline="-25000" dirty="0" err="1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q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'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分别是</a:t>
            </a:r>
            <a:r>
              <a:rPr lang="en-US" altLang="zh-CN" sz="2400" i="1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和</a:t>
            </a:r>
            <a:r>
              <a:rPr lang="en-US" altLang="zh-CN" sz="2400" i="1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q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维随机向量，</a:t>
            </a:r>
            <a:r>
              <a:rPr lang="en-US" altLang="zh-CN" sz="2400" i="1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和</a:t>
            </a:r>
            <a:r>
              <a:rPr lang="en-US" altLang="zh-CN" sz="2400" i="1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为常数矩阵，则 </a:t>
            </a:r>
            <a:endParaRPr lang="zh-CN" altLang="en-US" sz="2400" dirty="0">
              <a:solidFill>
                <a:schemeClr val="accent1">
                  <a:lumMod val="75000"/>
                </a:schemeClr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aphicFrame>
        <p:nvGraphicFramePr>
          <p:cNvPr id="6" name="对象 5"/>
          <p:cNvGraphicFramePr/>
          <p:nvPr/>
        </p:nvGraphicFramePr>
        <p:xfrm>
          <a:off x="2361566" y="1774191"/>
          <a:ext cx="6617335" cy="591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1" imgW="5953125" imgH="581660" progId="Equation.KSEE3">
                  <p:embed/>
                </p:oleObj>
              </mc:Choice>
              <mc:Fallback>
                <p:oleObj name="" r:id="rId1" imgW="5953125" imgH="581660" progId="Equation.KSEE3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61566" y="1774191"/>
                        <a:ext cx="6617335" cy="59118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5" name="Object 1026"/>
              <p:cNvSpPr txBox="1"/>
              <p:nvPr/>
            </p:nvSpPr>
            <p:spPr>
              <a:xfrm>
                <a:off x="2551428" y="3844559"/>
                <a:ext cx="7200575" cy="2262188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plcHide m:val="on"/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unc>
                                <m:func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en-US" sz="24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cov</m:t>
                                  </m:r>
                                </m:fName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</m:e>
                              </m:func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func>
                                <m:func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en-US" sz="24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cov</m:t>
                                  </m:r>
                                </m:fName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</m:e>
                              </m:func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func>
                                <m:func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en-US" sz="24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cov</m:t>
                                  </m:r>
                                </m:fName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</m:e>
                              </m:func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func>
                                <m:func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en-US" sz="24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cov</m:t>
                                  </m:r>
                                </m:fName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</m:e>
                              </m:func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zh-CN" altLang="en-US" sz="24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func>
                                <m:func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en-US" sz="24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cov</m:t>
                                  </m:r>
                                </m:fName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</m:e>
                              </m:func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func>
                                <m:func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en-US" sz="24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cov</m:t>
                                  </m:r>
                                </m:fName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</m:e>
                              </m:func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/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func>
                                <m:func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en-US" sz="24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cov</m:t>
                                  </m:r>
                                </m:fName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</m:e>
                              </m:func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func>
                                <m:func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en-US" sz="24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cov</m:t>
                                  </m:r>
                                </m:fName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</m:e>
                              </m:func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func>
                                <m:func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en-US" sz="24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cov</m:t>
                                  </m:r>
                                </m:fName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</m:e>
                              </m:func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</m:m>
                      </m:e>
                    </m:d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altLang="zh-CN" sz="2400" i="1" baseline="-250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p</a:t>
                </a:r>
                <a:r>
                  <a:rPr lang="en-US" altLang="zh-CN" sz="2400" baseline="-25000" dirty="0">
                    <a:latin typeface="Times New Roman" panose="02020503050405090304" pitchFamily="18" charset="0"/>
                    <a:cs typeface="Times New Roman" panose="02020503050405090304" pitchFamily="18" charset="0"/>
                    <a:sym typeface="Symbol" panose="05050102010706020507" pitchFamily="18" charset="2"/>
                  </a:rPr>
                  <a:t></a:t>
                </a:r>
                <a:r>
                  <a:rPr lang="en-US" altLang="zh-CN" sz="2400" i="1" baseline="-25000" dirty="0">
                    <a:latin typeface="Times New Roman" panose="02020503050405090304" pitchFamily="18" charset="0"/>
                    <a:cs typeface="Times New Roman" panose="02020503050405090304" pitchFamily="18" charset="0"/>
                    <a:sym typeface="Symbol" panose="05050102010706020507" pitchFamily="18" charset="2"/>
                  </a:rPr>
                  <a:t>q</a:t>
                </a:r>
                <a:endParaRPr lang="zh-CN" altLang="en-US" sz="2400" b="1" dirty="0"/>
              </a:p>
            </p:txBody>
          </p:sp>
        </mc:Choice>
        <mc:Fallback>
          <p:sp>
            <p:nvSpPr>
              <p:cNvPr id="5" name="Object 10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1428" y="3844559"/>
                <a:ext cx="7200575" cy="2262188"/>
              </a:xfrm>
              <a:prstGeom prst="rect">
                <a:avLst/>
              </a:prstGeom>
              <a:blipFill rotWithShape="1">
                <a:blip r:embed="rId3"/>
                <a:stretch>
                  <a:fillRect l="-9" t="-12" r="4" b="26"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68580" tIns="34290" rIns="68580" bIns="34290" rtlCol="0" anchor="b">
            <a:norm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algn="r"/>
            <a:fld id="{9A0DB2DC-4C9A-4742-B13C-FB6460FD3503}" type="slidenum">
              <a:rPr lang="zh-CN" altLang="en-US" sz="1050" dirty="0"/>
            </a:fld>
            <a:endParaRPr lang="zh-CN" altLang="en-US" sz="1050" dirty="0"/>
          </a:p>
        </p:txBody>
      </p:sp>
      <p:sp>
        <p:nvSpPr>
          <p:cNvPr id="18434" name="Rectangle 2"/>
          <p:cNvSpPr/>
          <p:nvPr/>
        </p:nvSpPr>
        <p:spPr>
          <a:xfrm>
            <a:off x="2387600" y="1158240"/>
            <a:ext cx="7293610" cy="9845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indent="-333375" algn="just" defTabSz="0">
              <a:lnSpc>
                <a:spcPct val="130000"/>
              </a:lnSpc>
              <a:tabLst>
                <a:tab pos="609600" algn="l"/>
              </a:tabLst>
            </a:pP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latin typeface="宋体" pitchFamily="2" charset="-122"/>
              </a:rPr>
              <a:t>v. 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宋体" pitchFamily="2" charset="-122"/>
              </a:rPr>
              <a:t>若</a:t>
            </a:r>
            <a:r>
              <a:rPr lang="en-US" altLang="zh-CN" sz="2400" i="1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=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altLang="zh-CN" sz="2400" i="1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400" baseline="-25000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en-US" altLang="zh-CN" sz="2400" i="1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400" baseline="-25000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,…，</a:t>
            </a:r>
            <a:r>
              <a:rPr lang="en-US" altLang="zh-CN" sz="2400" i="1" dirty="0" err="1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400" i="1" baseline="-25000" dirty="0" err="1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'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宋体" pitchFamily="2" charset="-122"/>
              </a:rPr>
              <a:t>的分量</a:t>
            </a:r>
            <a:r>
              <a:rPr lang="zh-CN" altLang="en-US" sz="2400" dirty="0">
                <a:solidFill>
                  <a:srgbClr val="FF0000"/>
                </a:solidFill>
                <a:latin typeface="宋体" pitchFamily="2" charset="-122"/>
              </a:rPr>
              <a:t>相互独立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宋体" pitchFamily="2" charset="-122"/>
              </a:rPr>
              <a:t>, 则协方差矩阵，	除主对角线上的元素外均为零，即</a:t>
            </a:r>
            <a:endParaRPr lang="zh-CN" altLang="en-US" sz="2400" dirty="0">
              <a:solidFill>
                <a:schemeClr val="accent1">
                  <a:lumMod val="75000"/>
                </a:schemeClr>
              </a:solidFill>
              <a:latin typeface="宋体" pitchFamily="2" charset="-122"/>
            </a:endParaRPr>
          </a:p>
        </p:txBody>
      </p:sp>
      <p:graphicFrame>
        <p:nvGraphicFramePr>
          <p:cNvPr id="18435" name="Object 1024"/>
          <p:cNvGraphicFramePr/>
          <p:nvPr/>
        </p:nvGraphicFramePr>
        <p:xfrm>
          <a:off x="3001963" y="2689225"/>
          <a:ext cx="6669087" cy="218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1" imgW="73456800" imgH="22555200" progId="Equation.DSMT4">
                  <p:embed/>
                </p:oleObj>
              </mc:Choice>
              <mc:Fallback>
                <p:oleObj name="Equation" r:id="rId1" imgW="73456800" imgH="22555200" progId="Equation.DSMT4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01963" y="2689225"/>
                        <a:ext cx="6669087" cy="2189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68580" tIns="34290" rIns="68580" bIns="34290" rtlCol="0" anchor="b">
            <a:norm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algn="r"/>
            <a:fld id="{9A0DB2DC-4C9A-4742-B13C-FB6460FD3503}" type="slidenum">
              <a:rPr lang="zh-CN" altLang="en-US" sz="1050" dirty="0"/>
            </a:fld>
            <a:endParaRPr lang="zh-CN" altLang="en-US" sz="1050" dirty="0"/>
          </a:p>
        </p:txBody>
      </p:sp>
      <p:sp>
        <p:nvSpPr>
          <p:cNvPr id="21506" name="Rectangle 2"/>
          <p:cNvSpPr/>
          <p:nvPr/>
        </p:nvSpPr>
        <p:spPr>
          <a:xfrm>
            <a:off x="2007871" y="410211"/>
            <a:ext cx="7841615" cy="17125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>
                <a:solidFill>
                  <a:srgbClr val="FF0000"/>
                </a:solidFill>
                <a:latin typeface="宋体" pitchFamily="2" charset="-122"/>
              </a:rPr>
              <a:t>    </a:t>
            </a:r>
            <a:r>
              <a:rPr lang="zh-CN" altLang="en-US" sz="2800" dirty="0">
                <a:solidFill>
                  <a:srgbClr val="FF0000"/>
                </a:solidFill>
                <a:latin typeface="宋体" pitchFamily="2" charset="-122"/>
              </a:rPr>
              <a:t>（三）相关系数矩阵</a:t>
            </a:r>
            <a:endParaRPr lang="zh-CN" altLang="en-US" sz="2800" dirty="0">
              <a:solidFill>
                <a:srgbClr val="FF0000"/>
              </a:solidFill>
              <a:latin typeface="宋体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dirty="0">
                <a:latin typeface="宋体" pitchFamily="2" charset="-122"/>
              </a:rPr>
              <a:t>    若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=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800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800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,…，</a:t>
            </a:r>
            <a:r>
              <a:rPr lang="en-US" altLang="zh-CN" sz="2800" i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800" i="1" baseline="-250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)'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和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Y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=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Y</a:t>
            </a:r>
            <a:r>
              <a:rPr lang="en-US" altLang="zh-CN" sz="2800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Y</a:t>
            </a:r>
            <a:r>
              <a:rPr lang="en-US" altLang="zh-CN" sz="2800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,…，</a:t>
            </a:r>
            <a:r>
              <a:rPr lang="en-US" altLang="zh-CN" sz="2800" i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Y</a:t>
            </a:r>
            <a:r>
              <a:rPr lang="en-US" altLang="zh-CN" sz="2800" i="1" baseline="-250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q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)'</a:t>
            </a:r>
            <a:r>
              <a:rPr lang="zh-CN" altLang="en-US" sz="2800" dirty="0">
                <a:latin typeface="宋体" pitchFamily="2" charset="-122"/>
              </a:rPr>
              <a:t>分别是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和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q</a:t>
            </a:r>
            <a:r>
              <a:rPr lang="zh-CN" altLang="en-US" sz="2800" dirty="0">
                <a:latin typeface="宋体" pitchFamily="2" charset="-122"/>
              </a:rPr>
              <a:t>维随机向量，则其相关系数矩阵为</a:t>
            </a:r>
            <a:endParaRPr lang="zh-CN" altLang="en-US" sz="2800" dirty="0">
              <a:latin typeface="宋体" pitchFamily="2" charset="-122"/>
            </a:endParaRPr>
          </a:p>
        </p:txBody>
      </p:sp>
      <p:graphicFrame>
        <p:nvGraphicFramePr>
          <p:cNvPr id="21508" name="Object 1024"/>
          <p:cNvGraphicFramePr/>
          <p:nvPr/>
        </p:nvGraphicFramePr>
        <p:xfrm>
          <a:off x="2303173" y="2481507"/>
          <a:ext cx="6526789" cy="24311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1" imgW="73761600" imgH="22555200" progId="Equation.DSMT4">
                  <p:embed/>
                </p:oleObj>
              </mc:Choice>
              <mc:Fallback>
                <p:oleObj name="Equation" r:id="rId1" imgW="73761600" imgH="22555200" progId="Equation.DSMT4">
                  <p:embed/>
                  <p:pic>
                    <p:nvPicPr>
                      <p:cNvPr id="0" name="图片 316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03173" y="2481507"/>
                        <a:ext cx="6526789" cy="2431134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0" name="Object 1025"/>
          <p:cNvGraphicFramePr/>
          <p:nvPr/>
        </p:nvGraphicFramePr>
        <p:xfrm>
          <a:off x="2234406" y="5188293"/>
          <a:ext cx="7205662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66751200" imgH="5181600" progId="Equation.DSMT4">
                  <p:embed/>
                </p:oleObj>
              </mc:Choice>
              <mc:Fallback>
                <p:oleObj name="Equation" r:id="rId3" imgW="66751200" imgH="5181600" progId="Equation.DSMT4">
                  <p:embed/>
                  <p:pic>
                    <p:nvPicPr>
                      <p:cNvPr id="0" name="图片 316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34406" y="5188293"/>
                        <a:ext cx="7205662" cy="55562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025"/>
          <p:cNvGraphicFramePr/>
          <p:nvPr/>
        </p:nvGraphicFramePr>
        <p:xfrm>
          <a:off x="2628900" y="5922963"/>
          <a:ext cx="6416675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5" imgW="59436000" imgH="5181600" progId="Equation.DSMT4">
                  <p:embed/>
                </p:oleObj>
              </mc:Choice>
              <mc:Fallback>
                <p:oleObj name="Equation" r:id="rId5" imgW="59436000" imgH="5181600" progId="Equation.DSMT4">
                  <p:embed/>
                  <p:pic>
                    <p:nvPicPr>
                      <p:cNvPr id="0" name="Object 102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28900" y="5922963"/>
                        <a:ext cx="6416675" cy="55562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禁止符 4"/>
          <p:cNvSpPr/>
          <p:nvPr/>
        </p:nvSpPr>
        <p:spPr>
          <a:xfrm>
            <a:off x="4922981" y="5830603"/>
            <a:ext cx="822037" cy="798513"/>
          </a:xfrm>
          <a:prstGeom prst="noSmoking">
            <a:avLst/>
          </a:prstGeom>
          <a:solidFill>
            <a:srgbClr val="FF000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Text Box 4"/>
          <p:cNvSpPr txBox="1"/>
          <p:nvPr/>
        </p:nvSpPr>
        <p:spPr>
          <a:xfrm>
            <a:off x="2397760" y="466725"/>
            <a:ext cx="5372100" cy="52197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</a:rPr>
              <a:t>相关系数阵与协方差阵的关系</a:t>
            </a: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Tahoma" panose="020B0604030504040204" pitchFamily="34" charset="0"/>
            </a:endParaRPr>
          </a:p>
        </p:txBody>
      </p:sp>
      <p:sp>
        <p:nvSpPr>
          <p:cNvPr id="2" name="Text Box 4"/>
          <p:cNvSpPr txBox="1"/>
          <p:nvPr/>
        </p:nvSpPr>
        <p:spPr>
          <a:xfrm>
            <a:off x="2270761" y="1347471"/>
            <a:ext cx="743013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ahoma" panose="020B0604030504040204" pitchFamily="34" charset="0"/>
              </a:rPr>
              <a:t>若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en-US" sz="2400" dirty="0">
                <a:latin typeface="Tahoma" panose="020B0604030504040204" pitchFamily="34" charset="0"/>
              </a:rPr>
              <a:t>的协方差阵存在，且每个分量的方差大于零，则</a:t>
            </a:r>
            <a:endParaRPr lang="zh-CN" altLang="en-US" sz="2400" dirty="0">
              <a:latin typeface="Tahoma" panose="020B0604030504040204" pitchFamily="34" charset="0"/>
            </a:endParaRPr>
          </a:p>
        </p:txBody>
      </p:sp>
      <p:sp>
        <p:nvSpPr>
          <p:cNvPr id="3" name="Text Box 4"/>
          <p:cNvSpPr txBox="1"/>
          <p:nvPr/>
        </p:nvSpPr>
        <p:spPr>
          <a:xfrm>
            <a:off x="2270761" y="2075816"/>
            <a:ext cx="743013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ahoma" panose="020B0604030504040204" pitchFamily="34" charset="0"/>
              </a:rPr>
              <a:t>相关系数阵                    为：</a:t>
            </a:r>
            <a:endParaRPr lang="zh-CN" altLang="en-US" sz="2400" dirty="0">
              <a:latin typeface="Tahoma" panose="020B0604030504040204" pitchFamily="34" charset="0"/>
            </a:endParaRPr>
          </a:p>
        </p:txBody>
      </p:sp>
      <p:graphicFrame>
        <p:nvGraphicFramePr>
          <p:cNvPr id="5" name="对象 4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902075" y="2076450"/>
          <a:ext cx="1819275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1" imgW="17373600" imgH="5791200" progId="Equation.DSMT4">
                  <p:embed/>
                </p:oleObj>
              </mc:Choice>
              <mc:Fallback>
                <p:oleObj name="Equation" r:id="rId1" imgW="17373600" imgH="5791200" progId="Equation.DSMT4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02075" y="2076450"/>
                        <a:ext cx="1819275" cy="606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213475" y="1816100"/>
          <a:ext cx="3662363" cy="1125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3" imgW="38709600" imgH="11887200" progId="Equation.DSMT4">
                  <p:embed/>
                </p:oleObj>
              </mc:Choice>
              <mc:Fallback>
                <p:oleObj name="Equation" r:id="rId3" imgW="38709600" imgH="11887200" progId="Equation.DSMT4">
                  <p:embed/>
                  <p:pic>
                    <p:nvPicPr>
                      <p:cNvPr id="0" name="图片 102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13475" y="1816100"/>
                        <a:ext cx="3662363" cy="11255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4"/>
          <p:cNvSpPr txBox="1"/>
          <p:nvPr/>
        </p:nvSpPr>
        <p:spPr>
          <a:xfrm>
            <a:off x="2270760" y="3199131"/>
            <a:ext cx="250571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ahoma" panose="020B0604030504040204" pitchFamily="34" charset="0"/>
              </a:rPr>
              <a:t>设标准差矩阵</a:t>
            </a:r>
            <a:endParaRPr lang="zh-CN" altLang="en-US" sz="2400" dirty="0">
              <a:latin typeface="Tahoma" panose="020B0604030504040204" pitchFamily="34" charset="0"/>
            </a:endParaRPr>
          </a:p>
        </p:txBody>
      </p:sp>
      <p:graphicFrame>
        <p:nvGraphicFramePr>
          <p:cNvPr id="8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776471" y="3199131"/>
          <a:ext cx="3970655" cy="16046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5" imgW="1320165" imgH="533400" progId="Equation.KSEE3">
                  <p:embed/>
                </p:oleObj>
              </mc:Choice>
              <mc:Fallback>
                <p:oleObj name="" r:id="rId5" imgW="1320165" imgH="533400" progId="Equation.KSEE3">
                  <p:embed/>
                  <p:pic>
                    <p:nvPicPr>
                      <p:cNvPr id="0" name="图片 102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76471" y="3199131"/>
                        <a:ext cx="3970655" cy="16046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4"/>
          <p:cNvSpPr txBox="1"/>
          <p:nvPr/>
        </p:nvSpPr>
        <p:spPr>
          <a:xfrm>
            <a:off x="2270761" y="4803776"/>
            <a:ext cx="208851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ahoma" panose="020B0604030504040204" pitchFamily="34" charset="0"/>
              </a:rPr>
              <a:t>则有关系为</a:t>
            </a:r>
            <a:endParaRPr lang="zh-CN" altLang="en-US" sz="2400" dirty="0">
              <a:latin typeface="Tahoma" panose="020B0604030504040204" pitchFamily="34" charset="0"/>
            </a:endParaRPr>
          </a:p>
        </p:txBody>
      </p:sp>
      <p:graphicFrame>
        <p:nvGraphicFramePr>
          <p:cNvPr id="12" name="对象 1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797175" y="5349875"/>
          <a:ext cx="24257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Equation" r:id="rId7" imgW="17678400" imgH="7315200" progId="Equation.DSMT4">
                  <p:embed/>
                </p:oleObj>
              </mc:Choice>
              <mc:Fallback>
                <p:oleObj name="Equation" r:id="rId7" imgW="17678400" imgH="7315200" progId="Equation.DSMT4">
                  <p:embed/>
                  <p:pic>
                    <p:nvPicPr>
                      <p:cNvPr id="0" name="图片 102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797175" y="5349875"/>
                        <a:ext cx="2425700" cy="10033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119178" y="5264150"/>
          <a:ext cx="3846830" cy="1087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Equation" r:id="rId9" imgW="28041600" imgH="7924800" progId="Equation.DSMT4">
                  <p:embed/>
                </p:oleObj>
              </mc:Choice>
              <mc:Fallback>
                <p:oleObj name="Equation" r:id="rId9" imgW="28041600" imgH="7924800" progId="Equation.DSMT4">
                  <p:embed/>
                  <p:pic>
                    <p:nvPicPr>
                      <p:cNvPr id="0" name="图片 102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119178" y="5264150"/>
                        <a:ext cx="3846830" cy="108712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/>
          <p:cNvSpPr>
            <a:spLocks noGrp="1"/>
          </p:cNvSpPr>
          <p:nvPr>
            <p:ph type="title"/>
          </p:nvPr>
        </p:nvSpPr>
        <p:spPr>
          <a:xfrm>
            <a:off x="2169794" y="211456"/>
            <a:ext cx="8349999" cy="1048385"/>
          </a:xfrm>
        </p:spPr>
        <p:txBody>
          <a:bodyPr vert="horz" wrap="square" lIns="68580" tIns="34290" rIns="68580" bIns="34290" anchor="b"/>
          <a:lstStyle/>
          <a:p>
            <a:pPr marL="1117600" indent="-1117600"/>
            <a:r>
              <a:rPr lang="zh-CN" altLang="en-US" sz="4400" dirty="0">
                <a:solidFill>
                  <a:srgbClr val="FF0000"/>
                </a:solidFill>
                <a:latin typeface="宋体" pitchFamily="2" charset="-122"/>
              </a:rPr>
              <a:t>（</a:t>
            </a:r>
            <a:r>
              <a:rPr lang="zh-CN" altLang="en-US" dirty="0">
                <a:solidFill>
                  <a:srgbClr val="FF0000"/>
                </a:solidFill>
                <a:latin typeface="宋体" pitchFamily="2" charset="-122"/>
              </a:rPr>
              <a:t>四</a:t>
            </a:r>
            <a:r>
              <a:rPr lang="zh-CN" altLang="en-US" sz="4400" dirty="0">
                <a:solidFill>
                  <a:srgbClr val="FF0000"/>
                </a:solidFill>
                <a:latin typeface="宋体" pitchFamily="2" charset="-122"/>
              </a:rPr>
              <a:t>）样本均值与样本协方差阵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7170" name="Rectangle 3"/>
          <p:cNvSpPr>
            <a:spLocks noGrp="1"/>
          </p:cNvSpPr>
          <p:nvPr>
            <p:ph type="body"/>
          </p:nvPr>
        </p:nvSpPr>
        <p:spPr>
          <a:xfrm>
            <a:off x="2169160" y="1412240"/>
            <a:ext cx="7886700" cy="4351338"/>
          </a:xfrm>
        </p:spPr>
        <p:txBody>
          <a:bodyPr vert="horz" wrap="square" lIns="68580" tIns="34290" rIns="68580" bIns="34290" anchor="t"/>
          <a:lstStyle/>
          <a:p>
            <a:pPr marL="0" indent="0">
              <a:buNone/>
            </a:pPr>
            <a:r>
              <a:rPr lang="en-US" altLang="zh-CN" sz="2800" dirty="0">
                <a:solidFill>
                  <a:srgbClr val="FF0000"/>
                </a:solidFill>
              </a:rPr>
              <a:t>1 </a:t>
            </a:r>
            <a:r>
              <a:rPr lang="zh-CN" altLang="en-US" sz="2800" dirty="0">
                <a:solidFill>
                  <a:srgbClr val="FF0000"/>
                </a:solidFill>
              </a:rPr>
              <a:t>样本均值</a:t>
            </a:r>
            <a:endParaRPr lang="zh-CN" altLang="en-US" sz="2800" dirty="0"/>
          </a:p>
          <a:p>
            <a:pPr marL="0" indent="0">
              <a:buNone/>
            </a:pPr>
            <a:endParaRPr lang="zh-CN" altLang="en-US" sz="2800" dirty="0"/>
          </a:p>
          <a:p>
            <a:pPr marL="0" indent="0">
              <a:buNone/>
            </a:pPr>
            <a:r>
              <a:rPr lang="en-US" altLang="zh-CN" sz="2800" dirty="0">
                <a:solidFill>
                  <a:srgbClr val="FF0000"/>
                </a:solidFill>
              </a:rPr>
              <a:t>2 </a:t>
            </a:r>
            <a:r>
              <a:rPr lang="zh-CN" altLang="en-US" sz="2800" dirty="0">
                <a:solidFill>
                  <a:srgbClr val="FF0000"/>
                </a:solidFill>
              </a:rPr>
              <a:t>样本协方差阵</a:t>
            </a:r>
            <a:endParaRPr lang="zh-CN" altLang="en-US" sz="2800" dirty="0"/>
          </a:p>
          <a:p>
            <a:pPr marL="0" indent="0">
              <a:buNone/>
            </a:pPr>
            <a:r>
              <a:rPr lang="zh-CN" altLang="en-US" dirty="0"/>
              <a:t>第</a:t>
            </a:r>
            <a:r>
              <a:rPr lang="en-US" altLang="zh-CN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j</a:t>
            </a:r>
            <a:r>
              <a:rPr lang="zh-CN" altLang="en-US" dirty="0"/>
              <a:t>个变量的样本方差的计算公式为 </a:t>
            </a: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zh-CN" altLang="en-US" dirty="0"/>
              <a:t>个变量中任意两个变量之间的协方差为</a:t>
            </a:r>
            <a:endParaRPr lang="zh-CN" altLang="en-US" dirty="0"/>
          </a:p>
        </p:txBody>
      </p:sp>
      <p:sp>
        <p:nvSpPr>
          <p:cNvPr id="7171" name="Rectangle 5"/>
          <p:cNvSpPr/>
          <p:nvPr/>
        </p:nvSpPr>
        <p:spPr>
          <a:xfrm>
            <a:off x="2667001" y="707210"/>
            <a:ext cx="184731" cy="300082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endParaRPr lang="zh-CN" altLang="en-US" sz="1350" dirty="0">
              <a:latin typeface="Tahoma" panose="020B0604030504040204" pitchFamily="34" charset="0"/>
              <a:ea typeface="宋体" pitchFamily="2" charset="-122"/>
            </a:endParaRPr>
          </a:p>
        </p:txBody>
      </p:sp>
      <p:graphicFrame>
        <p:nvGraphicFramePr>
          <p:cNvPr id="7172" name="Object 5"/>
          <p:cNvGraphicFramePr>
            <a:graphicFrameLocks noChangeAspect="1"/>
          </p:cNvGraphicFramePr>
          <p:nvPr/>
        </p:nvGraphicFramePr>
        <p:xfrm>
          <a:off x="5026026" y="1412240"/>
          <a:ext cx="2173605" cy="12077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1" imgW="774700" imgH="431800" progId="Equation.DSMT4">
                  <p:embed/>
                </p:oleObj>
              </mc:Choice>
              <mc:Fallback>
                <p:oleObj name="" r:id="rId1" imgW="774700" imgH="431800" progId="Equation.DSMT4">
                  <p:embed/>
                  <p:pic>
                    <p:nvPicPr>
                      <p:cNvPr id="0" name="Object 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026026" y="1412240"/>
                        <a:ext cx="2173605" cy="120777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3" name="Rectangle 7"/>
          <p:cNvSpPr/>
          <p:nvPr/>
        </p:nvSpPr>
        <p:spPr>
          <a:xfrm>
            <a:off x="2667001" y="707210"/>
            <a:ext cx="184731" cy="300082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endParaRPr lang="zh-CN" altLang="en-US" sz="1350" dirty="0">
              <a:latin typeface="Tahoma" panose="020B0604030504040204" pitchFamily="34" charset="0"/>
              <a:ea typeface="宋体" pitchFamily="2" charset="-122"/>
            </a:endParaRPr>
          </a:p>
        </p:txBody>
      </p:sp>
      <p:graphicFrame>
        <p:nvGraphicFramePr>
          <p:cNvPr id="7174" name="Object 7"/>
          <p:cNvGraphicFramePr>
            <a:graphicFrameLocks noChangeAspect="1"/>
          </p:cNvGraphicFramePr>
          <p:nvPr/>
        </p:nvGraphicFramePr>
        <p:xfrm>
          <a:off x="3357563" y="3970338"/>
          <a:ext cx="4838700" cy="94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53035200" imgH="10363200" progId="Equation.DSMT4">
                  <p:embed/>
                </p:oleObj>
              </mc:Choice>
              <mc:Fallback>
                <p:oleObj name="Equation" r:id="rId3" imgW="53035200" imgH="10363200" progId="Equation.DSMT4">
                  <p:embed/>
                  <p:pic>
                    <p:nvPicPr>
                      <p:cNvPr id="0" name="Object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57563" y="3970338"/>
                        <a:ext cx="4838700" cy="9413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5" name="Rectangle 9"/>
          <p:cNvSpPr/>
          <p:nvPr/>
        </p:nvSpPr>
        <p:spPr>
          <a:xfrm>
            <a:off x="2667001" y="707210"/>
            <a:ext cx="184731" cy="300082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endParaRPr lang="zh-CN" altLang="en-US" sz="1350" dirty="0">
              <a:latin typeface="Tahoma" panose="020B0604030504040204" pitchFamily="34" charset="0"/>
              <a:ea typeface="宋体" pitchFamily="2" charset="-122"/>
            </a:endParaRPr>
          </a:p>
        </p:txBody>
      </p:sp>
      <p:graphicFrame>
        <p:nvGraphicFramePr>
          <p:cNvPr id="7176" name="Object 9"/>
          <p:cNvGraphicFramePr>
            <a:graphicFrameLocks noChangeAspect="1"/>
          </p:cNvGraphicFramePr>
          <p:nvPr/>
        </p:nvGraphicFramePr>
        <p:xfrm>
          <a:off x="2786063" y="5445125"/>
          <a:ext cx="7586662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5" imgW="85039200" imgH="10363200" progId="Equation.DSMT4">
                  <p:embed/>
                </p:oleObj>
              </mc:Choice>
              <mc:Fallback>
                <p:oleObj name="Equation" r:id="rId5" imgW="85039200" imgH="10363200" progId="Equation.DSMT4">
                  <p:embed/>
                  <p:pic>
                    <p:nvPicPr>
                      <p:cNvPr id="0" name="Object 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86063" y="5445125"/>
                        <a:ext cx="7586662" cy="917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68580" tIns="34290" rIns="68580" bIns="34290" rtlCol="0" anchor="t">
            <a:normAutofit/>
          </a:bodyPr>
          <a:lstStyle/>
          <a:p>
            <a:pPr eaLnBrk="1" hangingPunct="1"/>
            <a:r>
              <a:rPr lang="en-US" altLang="zh-CN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zh-CN" altLang="en-US" dirty="0"/>
              <a:t>个变量的样本协方差阵为</a:t>
            </a:r>
            <a:r>
              <a:rPr lang="zh-CN" altLang="en-US" sz="2800" dirty="0"/>
              <a:t> </a:t>
            </a:r>
            <a:endParaRPr lang="zh-CN" altLang="en-US" sz="2800" dirty="0"/>
          </a:p>
        </p:txBody>
      </p:sp>
      <p:sp>
        <p:nvSpPr>
          <p:cNvPr id="8195" name="Rectangle 5"/>
          <p:cNvSpPr/>
          <p:nvPr/>
        </p:nvSpPr>
        <p:spPr>
          <a:xfrm>
            <a:off x="2667001" y="2925344"/>
            <a:ext cx="184731" cy="300082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endParaRPr lang="zh-CN" altLang="en-US" sz="1350" dirty="0">
              <a:latin typeface="Tahoma" panose="020B0604030504040204" pitchFamily="34" charset="0"/>
              <a:ea typeface="宋体" pitchFamily="2" charset="-122"/>
            </a:endParaRPr>
          </a:p>
        </p:txBody>
      </p:sp>
      <p:graphicFrame>
        <p:nvGraphicFramePr>
          <p:cNvPr id="8196" name="Object 5"/>
          <p:cNvGraphicFramePr>
            <a:graphicFrameLocks noChangeAspect="1"/>
          </p:cNvGraphicFramePr>
          <p:nvPr/>
        </p:nvGraphicFramePr>
        <p:xfrm>
          <a:off x="4265613" y="2673350"/>
          <a:ext cx="2903537" cy="178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1" imgW="36880800" imgH="22555200" progId="Equation.DSMT4">
                  <p:embed/>
                </p:oleObj>
              </mc:Choice>
              <mc:Fallback>
                <p:oleObj name="Equation" r:id="rId1" imgW="36880800" imgH="22555200" progId="Equation.DSMT4">
                  <p:embed/>
                  <p:pic>
                    <p:nvPicPr>
                      <p:cNvPr id="0" name="Object 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265613" y="2673350"/>
                        <a:ext cx="2903537" cy="17827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68580" tIns="34290" rIns="68580" bIns="34290" rtlCol="0" anchor="b">
            <a:normAutofit/>
          </a:bodyPr>
          <a:lstStyle/>
          <a:p>
            <a:pPr eaLnBrk="1" hangingPunct="1"/>
            <a:r>
              <a:rPr lang="en-US" altLang="zh-CN" sz="3200" dirty="0">
                <a:solidFill>
                  <a:srgbClr val="FF0000"/>
                </a:solidFill>
              </a:rPr>
              <a:t>3 </a:t>
            </a:r>
            <a:r>
              <a:rPr lang="zh-CN" altLang="en-US" sz="3200" dirty="0">
                <a:solidFill>
                  <a:srgbClr val="FF0000"/>
                </a:solidFill>
              </a:rPr>
              <a:t>样本相关系数阵</a:t>
            </a:r>
            <a:r>
              <a:rPr lang="zh-CN" altLang="en-US" sz="5400" dirty="0">
                <a:solidFill>
                  <a:srgbClr val="FF0000"/>
                </a:solidFill>
              </a:rPr>
              <a:t> </a:t>
            </a:r>
            <a:endParaRPr lang="zh-CN" altLang="en-US" sz="5400" dirty="0">
              <a:solidFill>
                <a:srgbClr val="FF0000"/>
              </a:solidFill>
            </a:endParaRPr>
          </a:p>
        </p:txBody>
      </p:sp>
      <p:sp>
        <p:nvSpPr>
          <p:cNvPr id="921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68580" tIns="34290" rIns="68580" bIns="34290" rtlCol="0" anchor="t">
            <a:normAutofit/>
          </a:bodyPr>
          <a:lstStyle/>
          <a:p>
            <a:pPr eaLnBrk="1" hangingPunct="1"/>
            <a:r>
              <a:rPr lang="zh-CN" altLang="en-US" dirty="0"/>
              <a:t>定义两个变量间的样本相关系数为</a:t>
            </a:r>
            <a:endParaRPr lang="zh-CN" altLang="en-US" dirty="0"/>
          </a:p>
          <a:p>
            <a:pPr eaLnBrk="1" hangingPunct="1"/>
            <a:endParaRPr lang="zh-CN" altLang="en-US" dirty="0"/>
          </a:p>
        </p:txBody>
      </p:sp>
      <p:sp>
        <p:nvSpPr>
          <p:cNvPr id="9219" name="Rectangle 5"/>
          <p:cNvSpPr/>
          <p:nvPr/>
        </p:nvSpPr>
        <p:spPr>
          <a:xfrm>
            <a:off x="2667001" y="707210"/>
            <a:ext cx="184731" cy="300082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endParaRPr lang="zh-CN" altLang="en-US" sz="1350" dirty="0">
              <a:latin typeface="Tahoma" panose="020B0604030504040204" pitchFamily="34" charset="0"/>
              <a:ea typeface="宋体" pitchFamily="2" charset="-122"/>
            </a:endParaRPr>
          </a:p>
        </p:txBody>
      </p:sp>
      <p:graphicFrame>
        <p:nvGraphicFramePr>
          <p:cNvPr id="9220" name="Object 5"/>
          <p:cNvGraphicFramePr>
            <a:graphicFrameLocks noChangeAspect="1"/>
          </p:cNvGraphicFramePr>
          <p:nvPr/>
        </p:nvGraphicFramePr>
        <p:xfrm>
          <a:off x="2152651" y="2367915"/>
          <a:ext cx="5324475" cy="1678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1" imgW="2870200" imgH="901700" progId="Equation.DSMT4">
                  <p:embed/>
                </p:oleObj>
              </mc:Choice>
              <mc:Fallback>
                <p:oleObj name="" r:id="rId1" imgW="2870200" imgH="901700" progId="Equation.DSMT4">
                  <p:embed/>
                  <p:pic>
                    <p:nvPicPr>
                      <p:cNvPr id="0" name="Object 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52651" y="2367915"/>
                        <a:ext cx="5324475" cy="16789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1" name="Rectangle 6"/>
          <p:cNvSpPr/>
          <p:nvPr/>
        </p:nvSpPr>
        <p:spPr>
          <a:xfrm>
            <a:off x="7788276" y="2926080"/>
            <a:ext cx="245554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j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=1,2,…,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p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,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k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=1,2,…,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p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9222" name="Rectangle 7"/>
          <p:cNvSpPr/>
          <p:nvPr/>
        </p:nvSpPr>
        <p:spPr>
          <a:xfrm>
            <a:off x="2152730" y="4703288"/>
            <a:ext cx="262128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r>
              <a:rPr lang="zh-CN" altLang="en-US" sz="2400" dirty="0">
                <a:latin typeface="+mn-ea"/>
              </a:rPr>
              <a:t>样本相关系数阵：</a:t>
            </a:r>
            <a:endParaRPr lang="zh-CN" altLang="en-US" sz="2400" dirty="0">
              <a:latin typeface="+mn-ea"/>
            </a:endParaRPr>
          </a:p>
        </p:txBody>
      </p:sp>
      <p:sp>
        <p:nvSpPr>
          <p:cNvPr id="9223" name="Rectangle 9"/>
          <p:cNvSpPr/>
          <p:nvPr/>
        </p:nvSpPr>
        <p:spPr>
          <a:xfrm>
            <a:off x="2667001" y="2925344"/>
            <a:ext cx="184731" cy="300082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endParaRPr lang="zh-CN" altLang="en-US" sz="1350" dirty="0">
              <a:latin typeface="Tahoma" panose="020B0604030504040204" pitchFamily="34" charset="0"/>
              <a:ea typeface="宋体" pitchFamily="2" charset="-122"/>
            </a:endParaRPr>
          </a:p>
        </p:txBody>
      </p:sp>
      <p:graphicFrame>
        <p:nvGraphicFramePr>
          <p:cNvPr id="9224" name="Object 9"/>
          <p:cNvGraphicFramePr>
            <a:graphicFrameLocks noChangeAspect="1"/>
          </p:cNvGraphicFramePr>
          <p:nvPr/>
        </p:nvGraphicFramePr>
        <p:xfrm>
          <a:off x="5599113" y="4316413"/>
          <a:ext cx="3335337" cy="212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35661600" imgH="22555200" progId="Equation.DSMT4">
                  <p:embed/>
                </p:oleObj>
              </mc:Choice>
              <mc:Fallback>
                <p:oleObj name="Equation" r:id="rId3" imgW="35661600" imgH="22555200" progId="Equation.DSMT4">
                  <p:embed/>
                  <p:pic>
                    <p:nvPicPr>
                      <p:cNvPr id="0" name="Object 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599113" y="4316413"/>
                        <a:ext cx="3335337" cy="212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7985067" y="506952"/>
          <a:ext cx="2903537" cy="178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5" imgW="2903220" imgH="1783080" progId="Equation.DSMT4">
                  <p:embed/>
                </p:oleObj>
              </mc:Choice>
              <mc:Fallback>
                <p:oleObj name="Equation" r:id="rId5" imgW="2903220" imgH="1783080" progId="Equation.DSMT4">
                  <p:embed/>
                  <p:pic>
                    <p:nvPicPr>
                      <p:cNvPr id="0" name="图片 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985067" y="506952"/>
                        <a:ext cx="2903537" cy="1782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68580" tIns="34290" rIns="68580" bIns="34290" rtlCol="0" anchor="b">
            <a:norm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algn="r"/>
            <a:fld id="{9A0DB2DC-4C9A-4742-B13C-FB6460FD3503}" type="slidenum">
              <a:rPr lang="zh-CN" altLang="en-US" sz="1050" dirty="0"/>
            </a:fld>
            <a:endParaRPr lang="zh-CN" altLang="en-US" sz="1050" dirty="0"/>
          </a:p>
        </p:txBody>
      </p:sp>
      <p:sp>
        <p:nvSpPr>
          <p:cNvPr id="23555" name="Text Box 3"/>
          <p:cNvSpPr txBox="1"/>
          <p:nvPr/>
        </p:nvSpPr>
        <p:spPr>
          <a:xfrm>
            <a:off x="942549" y="1635273"/>
            <a:ext cx="9827051" cy="444711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</a:rPr>
              <a:t>多元正态分布在多元统计分析中占有重要的地位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Tahoma" panose="020B060403050404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rgbClr val="FF0000"/>
                </a:solidFill>
                <a:latin typeface="Tahoma" panose="020B0604030504040204" pitchFamily="34" charset="0"/>
              </a:rPr>
              <a:t>有些现象服从多元正态分布</a:t>
            </a:r>
            <a:r>
              <a:rPr lang="zh-CN" altLang="en-US" sz="2400" dirty="0">
                <a:latin typeface="Tahoma" panose="020B0604030504040204" pitchFamily="34" charset="0"/>
              </a:rPr>
              <a:t>，因而正态分布在一些情况中可充当一个真实的总体模型</a:t>
            </a:r>
            <a:endParaRPr lang="en-US" altLang="zh-CN" sz="2400" dirty="0">
              <a:latin typeface="Tahoma" panose="020B060403050404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dirty="0">
                <a:latin typeface="Tahoma" panose="020B0604030504040204" pitchFamily="34" charset="0"/>
              </a:rPr>
              <a:t>按照中心极限效应，许多多元统计分布的</a:t>
            </a:r>
            <a:r>
              <a:rPr lang="zh-CN" altLang="en-US" sz="2400" dirty="0">
                <a:solidFill>
                  <a:srgbClr val="FF0000"/>
                </a:solidFill>
                <a:latin typeface="Tahoma" panose="020B0604030504040204" pitchFamily="34" charset="0"/>
              </a:rPr>
              <a:t>抽样分布是近似正态分布</a:t>
            </a:r>
            <a:r>
              <a:rPr lang="zh-CN" altLang="en-US" sz="2400" dirty="0">
                <a:latin typeface="Tahoma" panose="020B0604030504040204" pitchFamily="34" charset="0"/>
              </a:rPr>
              <a:t>的。可以说，多元正态分布是多元统计分布的基础</a:t>
            </a:r>
            <a:endParaRPr lang="zh-CN" altLang="en-US" sz="2400" dirty="0">
              <a:latin typeface="Tahoma" panose="020B060403050404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dirty="0">
                <a:latin typeface="Tahoma" panose="020B0604030504040204" pitchFamily="34" charset="0"/>
              </a:rPr>
              <a:t>多元统计分析中的许多重要分布、理论和方法都是</a:t>
            </a:r>
            <a:r>
              <a:rPr lang="zh-CN" altLang="en-US" sz="2400" dirty="0">
                <a:solidFill>
                  <a:srgbClr val="FF0000"/>
                </a:solidFill>
                <a:latin typeface="Tahoma" panose="020B0604030504040204" pitchFamily="34" charset="0"/>
              </a:rPr>
              <a:t>直接或间接建立在多元正态分布的基础上</a:t>
            </a:r>
            <a:endParaRPr lang="en-US" altLang="zh-CN" sz="2400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</a:rPr>
              <a:t>多元正态分布具有良好的性质</a:t>
            </a:r>
            <a:endParaRPr lang="zh-CN" altLang="en-US" sz="2400" dirty="0">
              <a:latin typeface="Tahoma" panose="020B0604030504040204" pitchFamily="34" charset="0"/>
            </a:endParaRPr>
          </a:p>
        </p:txBody>
      </p:sp>
      <p:sp>
        <p:nvSpPr>
          <p:cNvPr id="4" name="Rectangle 2"/>
          <p:cNvSpPr>
            <a:spLocks noGrp="1"/>
          </p:cNvSpPr>
          <p:nvPr>
            <p:ph type="title"/>
          </p:nvPr>
        </p:nvSpPr>
        <p:spPr>
          <a:xfrm>
            <a:off x="877454" y="314039"/>
            <a:ext cx="10476345" cy="1321234"/>
          </a:xfrm>
        </p:spPr>
        <p:txBody>
          <a:bodyPr vert="horz" wrap="square" lIns="68580" tIns="34290" rIns="68580" bIns="34290" rtlCol="0" anchor="b">
            <a:noAutofit/>
          </a:bodyPr>
          <a:lstStyle/>
          <a:p>
            <a:pPr eaLnBrk="1" hangingPunct="1"/>
            <a:br>
              <a:rPr lang="en-US" altLang="zh-CN" sz="3600" b="1" dirty="0"/>
            </a:br>
            <a:r>
              <a:rPr lang="en-US" altLang="zh-CN" sz="3600" b="1" dirty="0"/>
              <a:t>第</a:t>
            </a:r>
            <a:r>
              <a:rPr lang="zh-CN" altLang="en-US" sz="3600" b="1" dirty="0"/>
              <a:t>二节  多元正态分布</a:t>
            </a:r>
            <a:endParaRPr lang="zh-CN" altLang="en-US" sz="3600" b="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68580" tIns="34290" rIns="68580" bIns="34290" rtlCol="0" anchor="b">
            <a:norm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algn="r"/>
            <a:fld id="{9A0DB2DC-4C9A-4742-B13C-FB6460FD3503}" type="slidenum">
              <a:rPr lang="zh-CN" altLang="en-US" sz="1050" dirty="0"/>
            </a:fld>
            <a:endParaRPr lang="zh-CN" altLang="en-US" sz="1050" dirty="0"/>
          </a:p>
        </p:txBody>
      </p:sp>
      <p:sp>
        <p:nvSpPr>
          <p:cNvPr id="24579" name="Text Box 3"/>
          <p:cNvSpPr txBox="1"/>
          <p:nvPr/>
        </p:nvSpPr>
        <p:spPr>
          <a:xfrm>
            <a:off x="2732406" y="2200276"/>
            <a:ext cx="742632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ahoma" panose="020B0604030504040204" pitchFamily="34" charset="0"/>
              </a:rPr>
              <a:t>设随机向量                      服从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zh-CN" altLang="en-US" sz="2400" dirty="0">
                <a:latin typeface="Tahoma" panose="020B0604030504040204" pitchFamily="34" charset="0"/>
              </a:rPr>
              <a:t>维正态分布，则有：</a:t>
            </a:r>
            <a:endParaRPr lang="zh-CN" altLang="en-US" sz="2400" dirty="0">
              <a:latin typeface="Tahoma" panose="020B0604030504040204" pitchFamily="34" charset="0"/>
            </a:endParaRPr>
          </a:p>
        </p:txBody>
      </p:sp>
      <p:graphicFrame>
        <p:nvGraphicFramePr>
          <p:cNvPr id="214016" name="Object 2048"/>
          <p:cNvGraphicFramePr/>
          <p:nvPr/>
        </p:nvGraphicFramePr>
        <p:xfrm>
          <a:off x="2703514" y="2995613"/>
          <a:ext cx="7208837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1" imgW="74676000" imgH="10363200" progId="Equation.DSMT4">
                  <p:embed/>
                </p:oleObj>
              </mc:Choice>
              <mc:Fallback>
                <p:oleObj name="Equation" r:id="rId1" imgW="74676000" imgH="10363200" progId="Equation.DSMT4">
                  <p:embed/>
                  <p:pic>
                    <p:nvPicPr>
                      <p:cNvPr id="0" name="图片 317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03514" y="2995613"/>
                        <a:ext cx="7208837" cy="1079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2732405" y="1562101"/>
            <a:ext cx="53644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ahoma" panose="020B0604030504040204" pitchFamily="34" charset="0"/>
                <a:sym typeface="+mn-ea"/>
              </a:rPr>
              <a:t>多元正态分布是一元正态分布的推广。</a:t>
            </a:r>
            <a:endParaRPr lang="zh-CN" altLang="en-US" sz="2400" dirty="0">
              <a:latin typeface="Tahoma" panose="020B0604030504040204" pitchFamily="34" charset="0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对象 2"/>
              <p:cNvSpPr txBox="1"/>
              <p:nvPr/>
            </p:nvSpPr>
            <p:spPr>
              <a:xfrm>
                <a:off x="4165068" y="2212975"/>
                <a:ext cx="2369780" cy="49212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,...,</m:t>
                      </m:r>
                      <m:sSub>
                        <m:sSub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>
          <p:sp>
            <p:nvSpPr>
              <p:cNvPr id="3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5068" y="2212975"/>
                <a:ext cx="2369780" cy="492125"/>
              </a:xfrm>
              <a:prstGeom prst="rect">
                <a:avLst/>
              </a:prstGeom>
              <a:blipFill rotWithShape="1">
                <a:blip r:embed="rId3"/>
                <a:stretch>
                  <a:fillRect l="-4" r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/>
          <p:cNvSpPr txBox="1"/>
          <p:nvPr/>
        </p:nvSpPr>
        <p:spPr>
          <a:xfrm>
            <a:off x="2859405" y="4262756"/>
            <a:ext cx="6143028" cy="4616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ahoma" panose="020B0604030504040204" pitchFamily="34" charset="0"/>
                <a:sym typeface="+mn-ea"/>
              </a:rPr>
              <a:t>其中      为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X</a:t>
            </a:r>
            <a:r>
              <a:rPr lang="zh-CN" altLang="en-US" sz="2400" dirty="0">
                <a:latin typeface="Tahoma" panose="020B0604030504040204" pitchFamily="34" charset="0"/>
                <a:sym typeface="+mn-ea"/>
              </a:rPr>
              <a:t>的均值向量，      为协方差阵。</a:t>
            </a:r>
            <a:endParaRPr lang="zh-CN" altLang="en-US" sz="2400" dirty="0">
              <a:latin typeface="Tahoma" panose="020B0604030504040204" pitchFamily="34" charset="0"/>
              <a:sym typeface="+mn-ea"/>
            </a:endParaRPr>
          </a:p>
        </p:txBody>
      </p:sp>
      <p:graphicFrame>
        <p:nvGraphicFramePr>
          <p:cNvPr id="6" name="对象 5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594199" y="4262756"/>
          <a:ext cx="487045" cy="527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4" imgW="152400" imgH="165100" progId="Equation.KSEE3">
                  <p:embed/>
                </p:oleObj>
              </mc:Choice>
              <mc:Fallback>
                <p:oleObj name="" r:id="rId4" imgW="152400" imgH="165100" progId="Equation.KSEE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594199" y="4262756"/>
                        <a:ext cx="487045" cy="5276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424295" y="4262756"/>
          <a:ext cx="440690" cy="4806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6" imgW="139700" imgH="152400" progId="Equation.KSEE3">
                  <p:embed/>
                </p:oleObj>
              </mc:Choice>
              <mc:Fallback>
                <p:oleObj name="" r:id="rId6" imgW="139700" imgH="152400" progId="Equation.KSEE3">
                  <p:embed/>
                  <p:pic>
                    <p:nvPicPr>
                      <p:cNvPr id="0" name="图片 2049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424295" y="4262756"/>
                        <a:ext cx="440690" cy="4806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2"/>
          <p:cNvSpPr txBox="1"/>
          <p:nvPr/>
        </p:nvSpPr>
        <p:spPr>
          <a:xfrm>
            <a:off x="2236540" y="351155"/>
            <a:ext cx="7886700" cy="944880"/>
          </a:xfrm>
          <a:prstGeom prst="rect">
            <a:avLst/>
          </a:prstGeom>
        </p:spPr>
        <p:txBody>
          <a:bodyPr vert="horz" wrap="square" lIns="68580" tIns="34290" rIns="68580" bIns="34290" rtlCol="0" anchor="b">
            <a:normAutofit/>
          </a:bodyPr>
          <a:lstStyle>
            <a:lvl1pPr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4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一、</a:t>
            </a:r>
            <a:r>
              <a:rPr lang="zh-CN" altLang="en-US" sz="4400" dirty="0">
                <a:solidFill>
                  <a:schemeClr val="tx2"/>
                </a:solidFill>
                <a:latin typeface="Tahoma" panose="020B0604030504040204" pitchFamily="34" charset="0"/>
              </a:rPr>
              <a:t>多元正态分布的定义</a:t>
            </a:r>
            <a:endParaRPr lang="zh-CN" altLang="en-US" sz="4400" dirty="0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40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40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68580" tIns="34290" rIns="68580" bIns="34290" rtlCol="0" anchor="b">
            <a:norm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algn="r"/>
            <a:fld id="{9A0DB2DC-4C9A-4742-B13C-FB6460FD3503}" type="slidenum">
              <a:rPr lang="zh-CN" altLang="en-US" sz="1050" dirty="0"/>
            </a:fld>
            <a:endParaRPr lang="zh-CN" altLang="en-US" sz="1050" dirty="0"/>
          </a:p>
        </p:txBody>
      </p:sp>
      <p:graphicFrame>
        <p:nvGraphicFramePr>
          <p:cNvPr id="215040" name="Object 2048"/>
          <p:cNvGraphicFramePr/>
          <p:nvPr/>
        </p:nvGraphicFramePr>
        <p:xfrm>
          <a:off x="1878965" y="3145790"/>
          <a:ext cx="8434070" cy="2016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1" imgW="4267200" imgH="889000" progId="Equation.3">
                  <p:embed/>
                </p:oleObj>
              </mc:Choice>
              <mc:Fallback>
                <p:oleObj name="" r:id="rId1" imgW="4267200" imgH="889000" progId="Equation.3">
                  <p:embed/>
                  <p:pic>
                    <p:nvPicPr>
                      <p:cNvPr id="0" name="图片 317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78965" y="3145790"/>
                        <a:ext cx="8434070" cy="201676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5605" name="Picture 5" descr="ex1_joint_normal_distribu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0949" y="926148"/>
            <a:ext cx="3549650" cy="258953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Rectangle 2"/>
          <p:cNvSpPr txBox="1"/>
          <p:nvPr/>
        </p:nvSpPr>
        <p:spPr>
          <a:xfrm>
            <a:off x="1632532" y="351155"/>
            <a:ext cx="7886700" cy="944880"/>
          </a:xfrm>
          <a:prstGeom prst="rect">
            <a:avLst/>
          </a:prstGeom>
        </p:spPr>
        <p:txBody>
          <a:bodyPr vert="horz" wrap="square" lIns="68580" tIns="34290" rIns="68580" bIns="34290" rtlCol="0" anchor="b">
            <a:normAutofit/>
          </a:bodyPr>
          <a:lstStyle>
            <a:lvl1pPr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4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二、</a:t>
            </a:r>
            <a:r>
              <a:rPr lang="zh-CN" altLang="en-US" sz="4400" dirty="0">
                <a:solidFill>
                  <a:schemeClr val="tx2"/>
                </a:solidFill>
                <a:latin typeface="Tahoma" panose="020B0604030504040204" pitchFamily="34" charset="0"/>
              </a:rPr>
              <a:t>二元正态分布</a:t>
            </a:r>
            <a:endParaRPr lang="zh-CN" altLang="en-US" sz="4400" dirty="0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Text Box 3"/>
          <p:cNvSpPr txBox="1"/>
          <p:nvPr/>
        </p:nvSpPr>
        <p:spPr>
          <a:xfrm>
            <a:off x="1828801" y="1274446"/>
            <a:ext cx="8550275" cy="230695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400" dirty="0">
                <a:latin typeface="+mn-ea"/>
                <a:cs typeface="+mn-ea"/>
              </a:rPr>
              <a:t>   为了对多维正态密度函数有更直观地了解，下面给出几组参数下二维正态密度函数的几何图形。</a:t>
            </a:r>
            <a:endParaRPr lang="zh-CN" altLang="en-US" sz="2400" dirty="0">
              <a:latin typeface="+mn-ea"/>
              <a:cs typeface="+mn-ea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400" dirty="0">
                <a:latin typeface="+mn-ea"/>
                <a:cs typeface="+mn-ea"/>
              </a:rPr>
              <a:t>我们把具有等密度的点的轨迹称为等高线(面)。</a:t>
            </a:r>
            <a:endParaRPr lang="zh-CN" altLang="en-US" sz="2400" dirty="0">
              <a:latin typeface="+mn-ea"/>
              <a:cs typeface="+mn-ea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400" dirty="0">
                <a:latin typeface="+mn-ea"/>
                <a:cs typeface="+mn-ea"/>
              </a:rPr>
              <a:t>显然当 </a:t>
            </a:r>
            <a:r>
              <a:rPr lang="zh-CN" altLang="en-US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zh-CN" altLang="en-US" sz="2400" dirty="0">
                <a:latin typeface="+mn-ea"/>
                <a:cs typeface="+mn-ea"/>
              </a:rPr>
              <a:t>=2 时</a:t>
            </a:r>
            <a:endParaRPr lang="zh-CN" altLang="en-US" sz="2400" dirty="0">
              <a:latin typeface="+mn-ea"/>
              <a:cs typeface="+mn-ea"/>
            </a:endParaRPr>
          </a:p>
        </p:txBody>
      </p:sp>
      <p:sp>
        <p:nvSpPr>
          <p:cNvPr id="36868" name="Text Box 4"/>
          <p:cNvSpPr txBox="1"/>
          <p:nvPr/>
        </p:nvSpPr>
        <p:spPr>
          <a:xfrm>
            <a:off x="1875156" y="5732146"/>
            <a:ext cx="839787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400" dirty="0">
                <a:latin typeface="+mn-ea"/>
                <a:cs typeface="+mn-ea"/>
              </a:rPr>
              <a:t>它是一族中心在(</a:t>
            </a:r>
            <a:r>
              <a:rPr lang="zh-CN" altLang="en-US" sz="2400" i="1" dirty="0">
                <a:latin typeface="+mn-ea"/>
                <a:cs typeface="+mn-ea"/>
              </a:rPr>
              <a:t>μ</a:t>
            </a:r>
            <a:r>
              <a:rPr lang="zh-CN" altLang="en-US" sz="2400" baseline="-20000" dirty="0">
                <a:latin typeface="+mn-ea"/>
                <a:cs typeface="+mn-ea"/>
              </a:rPr>
              <a:t>1</a:t>
            </a:r>
            <a:r>
              <a:rPr lang="zh-CN" altLang="en-US" sz="2400" dirty="0">
                <a:latin typeface="+mn-ea"/>
                <a:cs typeface="+mn-ea"/>
              </a:rPr>
              <a:t>,</a:t>
            </a:r>
            <a:r>
              <a:rPr lang="zh-CN" altLang="en-US" sz="2400" i="1" dirty="0">
                <a:latin typeface="+mn-ea"/>
                <a:cs typeface="+mn-ea"/>
              </a:rPr>
              <a:t>μ</a:t>
            </a:r>
            <a:r>
              <a:rPr lang="zh-CN" altLang="en-US" sz="2400" baseline="-20000" dirty="0">
                <a:latin typeface="+mn-ea"/>
                <a:cs typeface="+mn-ea"/>
              </a:rPr>
              <a:t>2</a:t>
            </a:r>
            <a:r>
              <a:rPr lang="zh-CN" altLang="en-US" sz="2400" dirty="0">
                <a:latin typeface="+mn-ea"/>
                <a:cs typeface="+mn-ea"/>
              </a:rPr>
              <a:t> )′的椭圆.</a:t>
            </a:r>
            <a:endParaRPr lang="zh-CN" altLang="en-US" sz="2400" dirty="0">
              <a:latin typeface="+mn-ea"/>
              <a:cs typeface="+mn-ea"/>
            </a:endParaRPr>
          </a:p>
        </p:txBody>
      </p:sp>
      <p:graphicFrame>
        <p:nvGraphicFramePr>
          <p:cNvPr id="36869" name="Object 5"/>
          <p:cNvGraphicFramePr>
            <a:graphicFrameLocks noChangeAspect="1"/>
          </p:cNvGraphicFramePr>
          <p:nvPr/>
        </p:nvGraphicFramePr>
        <p:xfrm>
          <a:off x="1992313" y="3699828"/>
          <a:ext cx="8280400" cy="174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1" imgW="3251200" imgH="685800" progId="Equation.3">
                  <p:embed/>
                </p:oleObj>
              </mc:Choice>
              <mc:Fallback>
                <p:oleObj name="" r:id="rId1" imgW="3251200" imgH="685800" progId="Equation.3">
                  <p:embed/>
                  <p:pic>
                    <p:nvPicPr>
                      <p:cNvPr id="0" name="图片 316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92313" y="3699828"/>
                        <a:ext cx="8280400" cy="1746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2"/>
          <p:cNvSpPr txBox="1"/>
          <p:nvPr/>
        </p:nvSpPr>
        <p:spPr>
          <a:xfrm>
            <a:off x="1875155" y="351155"/>
            <a:ext cx="9223479" cy="944880"/>
          </a:xfrm>
          <a:prstGeom prst="rect">
            <a:avLst/>
          </a:prstGeom>
        </p:spPr>
        <p:txBody>
          <a:bodyPr vert="horz" wrap="square" lIns="68580" tIns="34290" rIns="68580" bIns="34290" rtlCol="0" anchor="b">
            <a:normAutofit fontScale="77500" lnSpcReduction="20000"/>
          </a:bodyPr>
          <a:lstStyle>
            <a:lvl1pPr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4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三、</a:t>
            </a:r>
            <a:r>
              <a:rPr lang="zh-CN" altLang="en-US" sz="4400" dirty="0">
                <a:solidFill>
                  <a:schemeClr val="tx2"/>
                </a:solidFill>
                <a:latin typeface="Tahoma" panose="020B0604030504040204" pitchFamily="34" charset="0"/>
              </a:rPr>
              <a:t>二元正态密度函数的图形及等高线的图形</a:t>
            </a:r>
            <a:endParaRPr lang="zh-CN" altLang="en-US" sz="4400" dirty="0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 spd="med">
    <p:rand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2"/>
          <p:cNvSpPr txBox="1"/>
          <p:nvPr/>
        </p:nvSpPr>
        <p:spPr>
          <a:xfrm>
            <a:off x="2219326" y="786766"/>
            <a:ext cx="607885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宋体" pitchFamily="2" charset="-122"/>
              </a:rPr>
              <a:t>一般的</a:t>
            </a:r>
            <a:r>
              <a:rPr lang="zh-CN" altLang="en-US" sz="2400" i="1" dirty="0">
                <a:latin typeface="Arial" panose="020B0604020202090204" pitchFamily="34" charset="0"/>
              </a:rPr>
              <a:t>p</a:t>
            </a:r>
            <a:r>
              <a:rPr lang="zh-CN" altLang="en-US" sz="2400" dirty="0">
                <a:latin typeface="宋体" pitchFamily="2" charset="-122"/>
              </a:rPr>
              <a:t>维正态密度等高面为</a:t>
            </a:r>
            <a:endParaRPr lang="zh-CN" altLang="en-US" sz="2400" dirty="0">
              <a:latin typeface="宋体" pitchFamily="2" charset="-122"/>
            </a:endParaRPr>
          </a:p>
        </p:txBody>
      </p:sp>
      <p:sp>
        <p:nvSpPr>
          <p:cNvPr id="37891" name="Text Box 3"/>
          <p:cNvSpPr txBox="1"/>
          <p:nvPr/>
        </p:nvSpPr>
        <p:spPr>
          <a:xfrm>
            <a:off x="2314575" y="2255520"/>
            <a:ext cx="6755130" cy="111376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400" dirty="0">
                <a:latin typeface="宋体" pitchFamily="2" charset="-122"/>
              </a:rPr>
              <a:t>取</a:t>
            </a:r>
            <a:r>
              <a:rPr lang="zh-CN" altLang="en-US" sz="2400" i="1" dirty="0">
                <a:latin typeface="Arial" panose="020B0604020202090204" pitchFamily="34" charset="0"/>
              </a:rPr>
              <a:t>μ</a:t>
            </a:r>
            <a:r>
              <a:rPr lang="zh-CN" altLang="en-US" sz="2400" baseline="-20000" dirty="0">
                <a:latin typeface="宋体" pitchFamily="2" charset="-122"/>
              </a:rPr>
              <a:t>1 </a:t>
            </a:r>
            <a:r>
              <a:rPr lang="zh-CN" altLang="en-US" sz="2400" dirty="0">
                <a:latin typeface="宋体" pitchFamily="2" charset="-122"/>
              </a:rPr>
              <a:t>=0,</a:t>
            </a:r>
            <a:r>
              <a:rPr lang="zh-CN" altLang="en-US" sz="2400" i="1" dirty="0">
                <a:latin typeface="Arial" panose="020B0604020202090204" pitchFamily="34" charset="0"/>
              </a:rPr>
              <a:t>μ</a:t>
            </a:r>
            <a:r>
              <a:rPr lang="zh-CN" altLang="en-US" sz="2400" baseline="-20000" dirty="0">
                <a:latin typeface="宋体" pitchFamily="2" charset="-122"/>
              </a:rPr>
              <a:t>2 </a:t>
            </a:r>
            <a:r>
              <a:rPr lang="zh-CN" altLang="en-US" sz="2400" dirty="0">
                <a:latin typeface="宋体" pitchFamily="2" charset="-122"/>
              </a:rPr>
              <a:t>=0,以下绘制三组参数下二元正态密度函数及密度等高线图形：</a:t>
            </a:r>
            <a:endParaRPr lang="zh-CN" altLang="en-US" sz="2400" dirty="0">
              <a:latin typeface="宋体" pitchFamily="2" charset="-122"/>
            </a:endParaRPr>
          </a:p>
        </p:txBody>
      </p:sp>
      <p:graphicFrame>
        <p:nvGraphicFramePr>
          <p:cNvPr id="37892" name="Object 4"/>
          <p:cNvGraphicFramePr>
            <a:graphicFrameLocks noChangeAspect="1"/>
          </p:cNvGraphicFramePr>
          <p:nvPr/>
        </p:nvGraphicFramePr>
        <p:xfrm>
          <a:off x="3735070" y="3642360"/>
          <a:ext cx="304800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1" imgW="1235075" imgH="229235" progId="Equation.DSMT4">
                  <p:embed/>
                </p:oleObj>
              </mc:Choice>
              <mc:Fallback>
                <p:oleObj name="" r:id="rId1" imgW="1235075" imgH="229235" progId="Equation.DSMT4">
                  <p:embed/>
                  <p:pic>
                    <p:nvPicPr>
                      <p:cNvPr id="0" name="图片 317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735070" y="3642360"/>
                        <a:ext cx="3048000" cy="565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3" name="Text Box 5"/>
          <p:cNvSpPr txBox="1"/>
          <p:nvPr/>
        </p:nvSpPr>
        <p:spPr>
          <a:xfrm>
            <a:off x="2459039" y="3695066"/>
            <a:ext cx="478091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Arial" panose="020B0604020202090204" pitchFamily="34" charset="0"/>
              </a:rPr>
              <a:t>（1）</a:t>
            </a:r>
            <a:r>
              <a:rPr lang="zh-CN" altLang="en-US" sz="2400" dirty="0">
                <a:latin typeface="宋体" pitchFamily="2" charset="-122"/>
              </a:rPr>
              <a:t>当</a:t>
            </a:r>
            <a:r>
              <a:rPr lang="zh-CN" altLang="en-US" sz="2400" dirty="0">
                <a:latin typeface="Arial" panose="020B0604020202090204" pitchFamily="34" charset="0"/>
              </a:rPr>
              <a:t>                                      </a:t>
            </a:r>
            <a:r>
              <a:rPr lang="zh-CN" altLang="en-US" sz="2400" dirty="0">
                <a:latin typeface="宋体" pitchFamily="2" charset="-122"/>
              </a:rPr>
              <a:t>时</a:t>
            </a:r>
            <a:endParaRPr lang="zh-CN" altLang="en-US" sz="2400" dirty="0">
              <a:latin typeface="宋体" pitchFamily="2" charset="-122"/>
            </a:endParaRPr>
          </a:p>
        </p:txBody>
      </p:sp>
      <p:graphicFrame>
        <p:nvGraphicFramePr>
          <p:cNvPr id="37894" name="Object 6"/>
          <p:cNvGraphicFramePr>
            <a:graphicFrameLocks noChangeAspect="1"/>
          </p:cNvGraphicFramePr>
          <p:nvPr/>
        </p:nvGraphicFramePr>
        <p:xfrm>
          <a:off x="3898900" y="5207953"/>
          <a:ext cx="3581400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1524635" imgH="228600" progId="Equation.DSMT4">
                  <p:embed/>
                </p:oleObj>
              </mc:Choice>
              <mc:Fallback>
                <p:oleObj name="" r:id="rId3" imgW="1524635" imgH="228600" progId="Equation.DSMT4">
                  <p:embed/>
                  <p:pic>
                    <p:nvPicPr>
                      <p:cNvPr id="0" name="图片 31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98900" y="5207953"/>
                        <a:ext cx="3581400" cy="5381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5" name="Object 7"/>
          <p:cNvGraphicFramePr>
            <a:graphicFrameLocks noChangeAspect="1"/>
          </p:cNvGraphicFramePr>
          <p:nvPr/>
        </p:nvGraphicFramePr>
        <p:xfrm>
          <a:off x="4041775" y="4487229"/>
          <a:ext cx="342900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5" imgW="1414145" imgH="229235" progId="Equation.DSMT4">
                  <p:embed/>
                </p:oleObj>
              </mc:Choice>
              <mc:Fallback>
                <p:oleObj name="" r:id="rId5" imgW="1414145" imgH="229235" progId="Equation.DSMT4">
                  <p:embed/>
                  <p:pic>
                    <p:nvPicPr>
                      <p:cNvPr id="0" name="图片 317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041775" y="4487229"/>
                        <a:ext cx="3429000" cy="555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6" name="Text Box 8"/>
          <p:cNvSpPr txBox="1"/>
          <p:nvPr/>
        </p:nvSpPr>
        <p:spPr>
          <a:xfrm>
            <a:off x="2386014" y="4487229"/>
            <a:ext cx="729297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400" dirty="0">
                <a:latin typeface="Arial" panose="020B0604020202090204" pitchFamily="34" charset="0"/>
              </a:rPr>
              <a:t>（2）</a:t>
            </a:r>
            <a:r>
              <a:rPr lang="zh-CN" altLang="en-US" sz="2400" dirty="0">
                <a:latin typeface="宋体" pitchFamily="2" charset="-122"/>
              </a:rPr>
              <a:t>当</a:t>
            </a:r>
            <a:r>
              <a:rPr lang="zh-CN" altLang="en-US" sz="2400" dirty="0">
                <a:latin typeface="Arial" panose="020B0604020202090204" pitchFamily="34" charset="0"/>
              </a:rPr>
              <a:t>                                               </a:t>
            </a:r>
            <a:r>
              <a:rPr lang="zh-CN" altLang="en-US" sz="2400" dirty="0">
                <a:latin typeface="宋体" pitchFamily="2" charset="-122"/>
              </a:rPr>
              <a:t>时</a:t>
            </a:r>
            <a:endParaRPr lang="zh-CN" altLang="en-US" sz="2400" dirty="0">
              <a:latin typeface="Arial" panose="020B0604020202090204" pitchFamily="34" charset="0"/>
            </a:endParaRPr>
          </a:p>
        </p:txBody>
      </p:sp>
      <p:sp>
        <p:nvSpPr>
          <p:cNvPr id="37897" name="Text Box 9"/>
          <p:cNvSpPr txBox="1"/>
          <p:nvPr/>
        </p:nvSpPr>
        <p:spPr>
          <a:xfrm>
            <a:off x="2386014" y="5207954"/>
            <a:ext cx="668337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400" dirty="0">
                <a:latin typeface="Arial" panose="020B0604020202090204" pitchFamily="34" charset="0"/>
              </a:rPr>
              <a:t>（3）</a:t>
            </a:r>
            <a:r>
              <a:rPr lang="zh-CN" altLang="en-US" sz="2400" dirty="0">
                <a:latin typeface="宋体" pitchFamily="2" charset="-122"/>
              </a:rPr>
              <a:t>当</a:t>
            </a:r>
            <a:r>
              <a:rPr lang="zh-CN" altLang="en-US" sz="2400" dirty="0">
                <a:latin typeface="Arial" panose="020B0604020202090204" pitchFamily="34" charset="0"/>
              </a:rPr>
              <a:t>                                               </a:t>
            </a:r>
            <a:r>
              <a:rPr lang="zh-CN" altLang="en-US" sz="2400" dirty="0">
                <a:latin typeface="宋体" pitchFamily="2" charset="-122"/>
              </a:rPr>
              <a:t>时</a:t>
            </a:r>
            <a:endParaRPr lang="zh-CN" altLang="en-US" sz="2400" dirty="0">
              <a:latin typeface="Arial" panose="020B0604020202090204" pitchFamily="34" charset="0"/>
            </a:endParaRPr>
          </a:p>
        </p:txBody>
      </p:sp>
      <p:graphicFrame>
        <p:nvGraphicFramePr>
          <p:cNvPr id="37898" name="Object 10"/>
          <p:cNvGraphicFramePr>
            <a:graphicFrameLocks noChangeAspect="1"/>
          </p:cNvGraphicFramePr>
          <p:nvPr/>
        </p:nvGraphicFramePr>
        <p:xfrm>
          <a:off x="2891156" y="1463041"/>
          <a:ext cx="5504815" cy="6432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7" imgW="1956435" imgH="228600" progId="Equation.3">
                  <p:embed/>
                </p:oleObj>
              </mc:Choice>
              <mc:Fallback>
                <p:oleObj name="" r:id="rId7" imgW="1956435" imgH="228600" progId="Equation.3">
                  <p:embed/>
                  <p:pic>
                    <p:nvPicPr>
                      <p:cNvPr id="0" name="图片 317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91156" y="1463041"/>
                        <a:ext cx="5504815" cy="6432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 descr="YYDYT21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2313" y="2420939"/>
            <a:ext cx="4419600" cy="3432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8915" name="Picture 3" descr="YYDYT21B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339" y="2420939"/>
            <a:ext cx="3673475" cy="3425825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38916" name="Object 4"/>
          <p:cNvGraphicFramePr>
            <a:graphicFrameLocks noChangeAspect="1"/>
          </p:cNvGraphicFramePr>
          <p:nvPr/>
        </p:nvGraphicFramePr>
        <p:xfrm>
          <a:off x="3505200" y="1016000"/>
          <a:ext cx="5181600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3" imgW="1235075" imgH="229235" progId="Equation.3">
                  <p:embed/>
                </p:oleObj>
              </mc:Choice>
              <mc:Fallback>
                <p:oleObj name="" r:id="rId3" imgW="1235075" imgH="229235" progId="Equation.3">
                  <p:embed/>
                  <p:pic>
                    <p:nvPicPr>
                      <p:cNvPr id="0" name="图片 317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05200" y="1016000"/>
                        <a:ext cx="5181600" cy="692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938" name="Object 2"/>
          <p:cNvGraphicFramePr>
            <a:graphicFrameLocks noChangeAspect="1"/>
          </p:cNvGraphicFramePr>
          <p:nvPr/>
        </p:nvGraphicFramePr>
        <p:xfrm>
          <a:off x="2972435" y="960755"/>
          <a:ext cx="5981700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1" imgW="1426845" imgH="229235" progId="Equation.3">
                  <p:embed/>
                </p:oleObj>
              </mc:Choice>
              <mc:Fallback>
                <p:oleObj name="" r:id="rId1" imgW="1426845" imgH="229235" progId="Equation.3">
                  <p:embed/>
                  <p:pic>
                    <p:nvPicPr>
                      <p:cNvPr id="0" name="图片 317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972435" y="960755"/>
                        <a:ext cx="5981700" cy="692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9939" name="Picture 3" descr="YYDYT23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1" y="2362200"/>
            <a:ext cx="3910013" cy="4114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9940" name="Picture 4" descr="YYDYT23B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1538" y="2349500"/>
            <a:ext cx="4248150" cy="41100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rand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63" name="Object 3"/>
          <p:cNvGraphicFramePr>
            <a:graphicFrameLocks noChangeAspect="1"/>
          </p:cNvGraphicFramePr>
          <p:nvPr/>
        </p:nvGraphicFramePr>
        <p:xfrm>
          <a:off x="2864803" y="876935"/>
          <a:ext cx="6462712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1" imgW="1537335" imgH="228600" progId="Equation.3">
                  <p:embed/>
                </p:oleObj>
              </mc:Choice>
              <mc:Fallback>
                <p:oleObj name="" r:id="rId1" imgW="1537335" imgH="228600" progId="Equation.3">
                  <p:embed/>
                  <p:pic>
                    <p:nvPicPr>
                      <p:cNvPr id="0" name="图片 31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64803" y="876935"/>
                        <a:ext cx="6462712" cy="692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0964" name="Picture 4" descr="YYDYT22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2362201"/>
            <a:ext cx="4648200" cy="35401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0965" name="Picture 5" descr="YYDYT22B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1900" y="2349501"/>
            <a:ext cx="4033838" cy="35591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rand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68580" tIns="34290" rIns="68580" bIns="34290" rtlCol="0" anchor="b">
            <a:norm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algn="r"/>
            <a:fld id="{9A0DB2DC-4C9A-4742-B13C-FB6460FD3503}" type="slidenum">
              <a:rPr lang="zh-CN" altLang="en-US" sz="1050" dirty="0"/>
            </a:fld>
            <a:endParaRPr lang="zh-CN" altLang="en-US" sz="1050" dirty="0"/>
          </a:p>
        </p:txBody>
      </p:sp>
      <p:sp>
        <p:nvSpPr>
          <p:cNvPr id="26627" name="Text Box 4"/>
          <p:cNvSpPr txBox="1"/>
          <p:nvPr/>
        </p:nvSpPr>
        <p:spPr>
          <a:xfrm>
            <a:off x="2016562" y="1541489"/>
            <a:ext cx="9088268" cy="224196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正态随机向量的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每一个变量</a:t>
            </a:r>
            <a:r>
              <a:rPr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均服从正态分布。反之不一定成立</a:t>
            </a:r>
            <a:endParaRPr lang="zh-CN" alt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多元正态向量的任意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线性变换</a:t>
            </a:r>
            <a:r>
              <a:rPr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仍服从多元正态分布。</a:t>
            </a:r>
            <a:endParaRPr lang="zh-CN" alt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若                        ,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为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*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阶常数阵，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为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</a:t>
            </a:r>
            <a:r>
              <a:rPr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维常数向量，则</a:t>
            </a:r>
            <a:endParaRPr lang="zh-CN" alt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50000"/>
              </a:lnSpc>
            </a:pPr>
            <a:endParaRPr lang="zh-CN" alt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aphicFrame>
        <p:nvGraphicFramePr>
          <p:cNvPr id="26628" name="Object 5"/>
          <p:cNvGraphicFramePr/>
          <p:nvPr/>
        </p:nvGraphicFramePr>
        <p:xfrm>
          <a:off x="2494916" y="2819012"/>
          <a:ext cx="1741023" cy="3936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1" imgW="1040765" imgH="254000" progId="Equation.3">
                  <p:embed/>
                </p:oleObj>
              </mc:Choice>
              <mc:Fallback>
                <p:oleObj name="" r:id="rId1" imgW="1040765" imgH="254000" progId="Equation.3">
                  <p:embed/>
                  <p:pic>
                    <p:nvPicPr>
                      <p:cNvPr id="0" name="图片 317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494916" y="2819012"/>
                        <a:ext cx="1741023" cy="393699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9" name="Object 6"/>
          <p:cNvGraphicFramePr/>
          <p:nvPr/>
        </p:nvGraphicFramePr>
        <p:xfrm>
          <a:off x="2926716" y="3695700"/>
          <a:ext cx="5564505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1841500" imgH="254000" progId="Equation.3">
                  <p:embed/>
                </p:oleObj>
              </mc:Choice>
              <mc:Fallback>
                <p:oleObj name="" r:id="rId3" imgW="1841500" imgH="254000" progId="Equation.3">
                  <p:embed/>
                  <p:pic>
                    <p:nvPicPr>
                      <p:cNvPr id="0" name="图片 317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26716" y="3695700"/>
                        <a:ext cx="5564505" cy="7937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2"/>
          <p:cNvSpPr txBox="1"/>
          <p:nvPr/>
        </p:nvSpPr>
        <p:spPr>
          <a:xfrm>
            <a:off x="1632532" y="351155"/>
            <a:ext cx="7886700" cy="944880"/>
          </a:xfrm>
          <a:prstGeom prst="rect">
            <a:avLst/>
          </a:prstGeom>
        </p:spPr>
        <p:txBody>
          <a:bodyPr vert="horz" wrap="square" lIns="68580" tIns="34290" rIns="68580" bIns="34290" rtlCol="0" anchor="b">
            <a:normAutofit/>
          </a:bodyPr>
          <a:lstStyle>
            <a:lvl1pPr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4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四、</a:t>
            </a:r>
            <a:r>
              <a:rPr lang="zh-CN" altLang="en-US" sz="4400" dirty="0">
                <a:solidFill>
                  <a:schemeClr val="tx2"/>
                </a:solidFill>
                <a:latin typeface="Tahoma" panose="020B0604030504040204" pitchFamily="34" charset="0"/>
              </a:rPr>
              <a:t>多元正态分布的性质</a:t>
            </a:r>
            <a:endParaRPr lang="zh-CN" altLang="en-US" sz="4400" dirty="0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Text Box 4"/>
          <p:cNvSpPr txBox="1"/>
          <p:nvPr/>
        </p:nvSpPr>
        <p:spPr>
          <a:xfrm>
            <a:off x="947912" y="976923"/>
            <a:ext cx="10460545" cy="2892132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3</a:t>
            </a:r>
            <a:r>
              <a:rPr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元正态分布中的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任意分量子集</a:t>
            </a:r>
            <a:r>
              <a:rPr lang="zh-CN" altLang="en-US" sz="2400" dirty="0">
                <a:solidFill>
                  <a:srgbClr val="7030A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（如有</a:t>
            </a:r>
            <a:r>
              <a:rPr lang="en-US" altLang="zh-CN" sz="2400" i="1" dirty="0">
                <a:solidFill>
                  <a:srgbClr val="7030A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k</a:t>
            </a:r>
            <a:r>
              <a:rPr lang="en-US" altLang="zh-CN" sz="2400" dirty="0">
                <a:solidFill>
                  <a:srgbClr val="7030A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(0&lt;</a:t>
            </a:r>
            <a:r>
              <a:rPr lang="en-US" altLang="zh-CN" sz="2400" i="1" dirty="0">
                <a:solidFill>
                  <a:srgbClr val="7030A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k</a:t>
            </a:r>
            <a:r>
              <a:rPr lang="en-US" altLang="zh-CN" sz="2400" dirty="0">
                <a:solidFill>
                  <a:srgbClr val="7030A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&lt;</a:t>
            </a:r>
            <a:r>
              <a:rPr lang="en-US" altLang="zh-CN" sz="2400" i="1" dirty="0">
                <a:solidFill>
                  <a:srgbClr val="7030A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p</a:t>
            </a:r>
            <a:r>
              <a:rPr lang="en-US" altLang="zh-CN" sz="2400" dirty="0">
                <a:solidFill>
                  <a:srgbClr val="7030A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</a:t>
            </a:r>
            <a:r>
              <a:rPr lang="zh-CN" altLang="en-US" sz="2400" dirty="0">
                <a:solidFill>
                  <a:srgbClr val="7030A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个变量组成的向量集合）</a:t>
            </a:r>
            <a:r>
              <a:rPr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变量服从多元正态分布</a:t>
            </a:r>
            <a:endParaRPr lang="zh-CN" alt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4</a:t>
            </a:r>
            <a:r>
              <a:rPr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多元正态向量的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条件分布</a:t>
            </a:r>
            <a:r>
              <a:rPr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仍服从正态分布。即在某些变量取值固定时，另外一些变量的分布服从多元正态分布。</a:t>
            </a:r>
            <a:endParaRPr lang="zh-CN" alt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5</a:t>
            </a:r>
            <a:r>
              <a:rPr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协方差为零</a:t>
            </a:r>
            <a:r>
              <a:rPr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的分量间相互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独立</a:t>
            </a:r>
            <a:endParaRPr lang="zh-CN" alt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078480" y="4218306"/>
            <a:ext cx="53644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Tahoma" panose="020B0604030504040204" pitchFamily="34" charset="0"/>
                <a:sym typeface="+mn-ea"/>
              </a:rPr>
              <a:t>如何判断数据</a:t>
            </a:r>
            <a:r>
              <a:rPr lang="zh-CN" altLang="en-US" sz="2400" i="1" u="sng" dirty="0">
                <a:solidFill>
                  <a:srgbClr val="0070C0"/>
                </a:solidFill>
                <a:latin typeface="Tahoma" panose="020B0604030504040204" pitchFamily="34" charset="0"/>
                <a:sym typeface="+mn-ea"/>
              </a:rPr>
              <a:t>不是</a:t>
            </a:r>
            <a:r>
              <a:rPr lang="zh-CN" altLang="en-US" sz="2400" dirty="0">
                <a:solidFill>
                  <a:srgbClr val="FF0000"/>
                </a:solidFill>
                <a:latin typeface="Tahoma" panose="020B0604030504040204" pitchFamily="34" charset="0"/>
                <a:sym typeface="+mn-ea"/>
              </a:rPr>
              <a:t>来自多元正态总体？</a:t>
            </a:r>
            <a:endParaRPr lang="zh-CN" altLang="en-US" sz="2400" dirty="0">
              <a:solidFill>
                <a:srgbClr val="FF0000"/>
              </a:solidFill>
              <a:latin typeface="Tahoma" panose="020B0604030504040204" pitchFamily="34" charset="0"/>
              <a:sym typeface="+mn-ea"/>
            </a:endParaRPr>
          </a:p>
        </p:txBody>
      </p:sp>
      <p:sp>
        <p:nvSpPr>
          <p:cNvPr id="27651" name="Text Box 3"/>
          <p:cNvSpPr txBox="1"/>
          <p:nvPr/>
        </p:nvSpPr>
        <p:spPr>
          <a:xfrm>
            <a:off x="2351405" y="5063491"/>
            <a:ext cx="681863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ahoma" panose="020B0604030504040204" pitchFamily="34" charset="0"/>
              </a:rPr>
              <a:t>对每一个变量是否服从正态分布进行检验即可。</a:t>
            </a:r>
            <a:endParaRPr lang="zh-CN" altLang="en-US" sz="2400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765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68580" tIns="34290" rIns="68580" bIns="34290" rtlCol="0" anchor="b">
            <a:norm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algn="r"/>
            <a:fld id="{9A0DB2DC-4C9A-4742-B13C-FB6460FD3503}" type="slidenum">
              <a:rPr lang="zh-CN" altLang="en-US" sz="1050" dirty="0"/>
            </a:fld>
            <a:endParaRPr lang="zh-CN" altLang="en-US" sz="1050" dirty="0"/>
          </a:p>
        </p:txBody>
      </p:sp>
      <p:sp>
        <p:nvSpPr>
          <p:cNvPr id="27651" name="Text Box 3"/>
          <p:cNvSpPr txBox="1"/>
          <p:nvPr/>
        </p:nvSpPr>
        <p:spPr>
          <a:xfrm>
            <a:off x="2315285" y="1766570"/>
            <a:ext cx="6818630" cy="1014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Tahoma" panose="020B0604030504040204" pitchFamily="34" charset="0"/>
              </a:rPr>
              <a:t>6 </a:t>
            </a:r>
            <a:r>
              <a:rPr lang="zh-CN" altLang="en-US" sz="2400" dirty="0">
                <a:latin typeface="Tahoma" panose="020B0604030504040204" pitchFamily="34" charset="0"/>
              </a:rPr>
              <a:t>若                    ,将</a:t>
            </a:r>
            <a:r>
              <a:rPr lang="en-US" altLang="zh-CN" sz="2400" dirty="0">
                <a:latin typeface="Tahoma" panose="020B0604030504040204" pitchFamily="34" charset="0"/>
              </a:rPr>
              <a:t>X，       </a:t>
            </a:r>
            <a:r>
              <a:rPr lang="zh-CN" altLang="en-US" sz="2400" dirty="0">
                <a:latin typeface="Tahoma" panose="020B0604030504040204" pitchFamily="34" charset="0"/>
              </a:rPr>
              <a:t>作如下划分：</a:t>
            </a:r>
            <a:endParaRPr lang="zh-CN" altLang="en-US" sz="2400" dirty="0">
              <a:latin typeface="Tahom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dirty="0">
                <a:latin typeface="Tahoma" panose="020B0604030504040204" pitchFamily="34" charset="0"/>
              </a:rPr>
              <a:t>                                                 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q</a:t>
            </a:r>
            <a:r>
              <a:rPr lang="en-US" altLang="zh-CN" sz="2400" dirty="0">
                <a:latin typeface="Tahoma" panose="020B0604030504040204" pitchFamily="34" charset="0"/>
              </a:rPr>
              <a:t>      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q</a:t>
            </a:r>
            <a:endParaRPr lang="en-US" altLang="zh-CN" sz="2400" i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aphicFrame>
        <p:nvGraphicFramePr>
          <p:cNvPr id="27652" name="Object 1024"/>
          <p:cNvGraphicFramePr/>
          <p:nvPr/>
        </p:nvGraphicFramePr>
        <p:xfrm>
          <a:off x="3067528" y="1766571"/>
          <a:ext cx="169672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1" imgW="1040765" imgH="254000" progId="Equation.3">
                  <p:embed/>
                </p:oleObj>
              </mc:Choice>
              <mc:Fallback>
                <p:oleObj name="" r:id="rId1" imgW="1040765" imgH="254000" progId="Equation.3">
                  <p:embed/>
                  <p:pic>
                    <p:nvPicPr>
                      <p:cNvPr id="0" name="图片 317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67528" y="1766571"/>
                        <a:ext cx="1696720" cy="517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3" name="Object 1025"/>
          <p:cNvGraphicFramePr/>
          <p:nvPr/>
        </p:nvGraphicFramePr>
        <p:xfrm>
          <a:off x="3809366" y="4659631"/>
          <a:ext cx="4173855" cy="1497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1346200" imgH="533400" progId="Equation.3">
                  <p:embed/>
                </p:oleObj>
              </mc:Choice>
              <mc:Fallback>
                <p:oleObj name="" r:id="rId3" imgW="1346200" imgH="533400" progId="Equation.3">
                  <p:embed/>
                  <p:pic>
                    <p:nvPicPr>
                      <p:cNvPr id="0" name="图片 31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09366" y="4659631"/>
                        <a:ext cx="4173855" cy="14979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4" name="Object 1026"/>
          <p:cNvGraphicFramePr/>
          <p:nvPr/>
        </p:nvGraphicFramePr>
        <p:xfrm>
          <a:off x="5544029" y="1766570"/>
          <a:ext cx="880745" cy="518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5" imgW="456565" imgH="254000" progId="Equation.3">
                  <p:embed/>
                </p:oleObj>
              </mc:Choice>
              <mc:Fallback>
                <p:oleObj name="" r:id="rId5" imgW="456565" imgH="254000" progId="Equation.3">
                  <p:embed/>
                  <p:pic>
                    <p:nvPicPr>
                      <p:cNvPr id="0" name="图片 316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544029" y="1766570"/>
                        <a:ext cx="880745" cy="51816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5" name="Object 1027"/>
          <p:cNvGraphicFramePr/>
          <p:nvPr/>
        </p:nvGraphicFramePr>
        <p:xfrm>
          <a:off x="2306320" y="2647950"/>
          <a:ext cx="1700530" cy="1107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7" imgW="812165" imgH="533400" progId="Equation.3">
                  <p:embed/>
                </p:oleObj>
              </mc:Choice>
              <mc:Fallback>
                <p:oleObj name="" r:id="rId7" imgW="812165" imgH="533400" progId="Equation.3">
                  <p:embed/>
                  <p:pic>
                    <p:nvPicPr>
                      <p:cNvPr id="0" name="图片 317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306320" y="2647950"/>
                        <a:ext cx="1700530" cy="11074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6" name="Object 1028"/>
          <p:cNvGraphicFramePr/>
          <p:nvPr/>
        </p:nvGraphicFramePr>
        <p:xfrm>
          <a:off x="4391660" y="2588260"/>
          <a:ext cx="1965960" cy="12268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9" imgW="761365" imgH="533400" progId="Equation.3">
                  <p:embed/>
                </p:oleObj>
              </mc:Choice>
              <mc:Fallback>
                <p:oleObj name="" r:id="rId9" imgW="761365" imgH="533400" progId="Equation.3">
                  <p:embed/>
                  <p:pic>
                    <p:nvPicPr>
                      <p:cNvPr id="0" name="图片 317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391660" y="2588260"/>
                        <a:ext cx="1965960" cy="122682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7" name="Object 1029"/>
          <p:cNvGraphicFramePr/>
          <p:nvPr/>
        </p:nvGraphicFramePr>
        <p:xfrm>
          <a:off x="6524626" y="2781300"/>
          <a:ext cx="2143125" cy="116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11" imgW="1472565" imgH="660400" progId="Equation.3">
                  <p:embed/>
                </p:oleObj>
              </mc:Choice>
              <mc:Fallback>
                <p:oleObj name="" r:id="rId11" imgW="1472565" imgH="660400" progId="Equation.3">
                  <p:embed/>
                  <p:pic>
                    <p:nvPicPr>
                      <p:cNvPr id="0" name="图片 316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524626" y="2781300"/>
                        <a:ext cx="2143125" cy="1162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8" name="Text Box 10"/>
          <p:cNvSpPr txBox="1"/>
          <p:nvPr/>
        </p:nvSpPr>
        <p:spPr>
          <a:xfrm>
            <a:off x="2349500" y="4084321"/>
            <a:ext cx="1657350" cy="4603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ahoma" panose="020B0604030504040204" pitchFamily="34" charset="0"/>
              </a:rPr>
              <a:t>则有</a:t>
            </a:r>
            <a:endParaRPr lang="zh-CN" altLang="en-US" sz="2400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7981950" y="6062981"/>
            <a:ext cx="2057400" cy="365125"/>
          </a:xfrm>
        </p:spPr>
        <p:txBody>
          <a:bodyPr vert="horz" wrap="square" lIns="68580" tIns="34290" rIns="68580" bIns="34290" rtlCol="0" anchor="b">
            <a:norm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algn="r"/>
            <a:fld id="{9A0DB2DC-4C9A-4742-B13C-FB6460FD3503}" type="slidenum">
              <a:rPr lang="zh-CN" altLang="en-US" sz="1050" dirty="0"/>
            </a:fld>
            <a:endParaRPr lang="zh-CN" altLang="en-US" sz="1050" dirty="0"/>
          </a:p>
        </p:txBody>
      </p:sp>
      <p:sp>
        <p:nvSpPr>
          <p:cNvPr id="28674" name="Text Box 3"/>
          <p:cNvSpPr txBox="1"/>
          <p:nvPr/>
        </p:nvSpPr>
        <p:spPr>
          <a:xfrm>
            <a:off x="2235836" y="2106930"/>
            <a:ext cx="7666355" cy="37846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457200" indent="-457200">
              <a:spcBef>
                <a:spcPct val="50000"/>
              </a:spcBef>
            </a:pPr>
            <a:r>
              <a:rPr lang="en-US" altLang="zh-CN" sz="2400" dirty="0">
                <a:latin typeface="Tahoma" panose="020B0604030504040204" pitchFamily="34" charset="0"/>
              </a:rPr>
              <a:t>7 </a:t>
            </a:r>
            <a:r>
              <a:rPr lang="zh-CN" altLang="en-US" sz="2400" dirty="0">
                <a:latin typeface="Tahoma" panose="020B0604030504040204" pitchFamily="34" charset="0"/>
              </a:rPr>
              <a:t>若                    ,且</a:t>
            </a:r>
            <a:r>
              <a:rPr lang="en-US" altLang="zh-CN" sz="2400" dirty="0">
                <a:latin typeface="Tahoma" panose="020B0604030504040204" pitchFamily="34" charset="0"/>
              </a:rPr>
              <a:t>         &gt;0,</a:t>
            </a:r>
            <a:r>
              <a:rPr lang="zh-CN" altLang="en-US" sz="2400" dirty="0">
                <a:latin typeface="Tahoma" panose="020B0604030504040204" pitchFamily="34" charset="0"/>
              </a:rPr>
              <a:t>则有：</a:t>
            </a:r>
            <a:endParaRPr lang="zh-CN" altLang="en-US" sz="2400" dirty="0">
              <a:latin typeface="Tahoma" panose="020B0604030504040204" pitchFamily="34" charset="0"/>
            </a:endParaRPr>
          </a:p>
          <a:p>
            <a:pPr marL="457200" indent="-457200">
              <a:spcBef>
                <a:spcPct val="50000"/>
              </a:spcBef>
            </a:pPr>
            <a:endParaRPr lang="zh-CN" altLang="en-US" sz="2400" dirty="0">
              <a:latin typeface="Tahoma" panose="020B0604030504040204" pitchFamily="34" charset="0"/>
            </a:endParaRPr>
          </a:p>
          <a:p>
            <a:pPr marL="457200" indent="-457200">
              <a:spcBef>
                <a:spcPct val="50000"/>
              </a:spcBef>
              <a:buAutoNum type="alphaLcParenR"/>
            </a:pPr>
            <a:r>
              <a:rPr lang="en-US" altLang="zh-CN" sz="2400" dirty="0">
                <a:latin typeface="Tahoma" panose="020B0604030504040204" pitchFamily="34" charset="0"/>
              </a:rPr>
              <a:t>                   </a:t>
            </a:r>
            <a:r>
              <a:rPr lang="zh-CN" altLang="en-US" sz="2400" dirty="0">
                <a:latin typeface="Tahoma" panose="020B0604030504040204" pitchFamily="34" charset="0"/>
              </a:rPr>
              <a:t>            的分布为</a:t>
            </a:r>
            <a:endParaRPr lang="zh-CN" altLang="en-US" sz="2400" dirty="0">
              <a:latin typeface="Tahoma" panose="020B0604030504040204" pitchFamily="34" charset="0"/>
            </a:endParaRPr>
          </a:p>
          <a:p>
            <a:pPr marL="457200" indent="-457200">
              <a:spcBef>
                <a:spcPct val="50000"/>
              </a:spcBef>
              <a:buAutoNum type="alphaLcParenR"/>
            </a:pPr>
            <a:endParaRPr lang="en-US" altLang="zh-CN" sz="2400" dirty="0">
              <a:latin typeface="Tahoma" panose="020B0604030504040204" pitchFamily="34" charset="0"/>
            </a:endParaRPr>
          </a:p>
          <a:p>
            <a:pPr marL="457200" indent="-457200">
              <a:spcBef>
                <a:spcPct val="50000"/>
              </a:spcBef>
              <a:buAutoNum type="alphaLcParenR"/>
            </a:pPr>
            <a:r>
              <a:rPr lang="zh-CN" altLang="en-US" sz="2400" dirty="0">
                <a:latin typeface="Tahoma" panose="020B0604030504040204" pitchFamily="34" charset="0"/>
              </a:rPr>
              <a:t>给定                         ，</a:t>
            </a:r>
            <a:endParaRPr lang="zh-CN" altLang="en-US" sz="2400" dirty="0">
              <a:latin typeface="Tahoma" panose="020B0604030504040204" pitchFamily="34" charset="0"/>
            </a:endParaRPr>
          </a:p>
          <a:p>
            <a:pPr marL="457200" indent="-457200">
              <a:spcBef>
                <a:spcPct val="50000"/>
              </a:spcBef>
              <a:buAutoNum type="alphaLcParenR"/>
            </a:pPr>
            <a:endParaRPr lang="zh-CN" altLang="en-US" sz="2400" dirty="0">
              <a:latin typeface="Tahoma" panose="020B0604030504040204" pitchFamily="34" charset="0"/>
            </a:endParaRPr>
          </a:p>
          <a:p>
            <a:pPr marL="457200" indent="-457200">
              <a:spcBef>
                <a:spcPct val="50000"/>
              </a:spcBef>
              <a:buAutoNum type="alphaLcParenR"/>
            </a:pPr>
            <a:endParaRPr lang="zh-CN" altLang="en-US" sz="2400" dirty="0">
              <a:latin typeface="Tahoma" panose="020B0604030504040204" pitchFamily="34" charset="0"/>
            </a:endParaRPr>
          </a:p>
        </p:txBody>
      </p:sp>
      <p:graphicFrame>
        <p:nvGraphicFramePr>
          <p:cNvPr id="28675" name="Object 4"/>
          <p:cNvGraphicFramePr/>
          <p:nvPr/>
        </p:nvGraphicFramePr>
        <p:xfrm>
          <a:off x="2887154" y="2157730"/>
          <a:ext cx="180530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1" imgW="1040765" imgH="254000" progId="Equation.3">
                  <p:embed/>
                </p:oleObj>
              </mc:Choice>
              <mc:Fallback>
                <p:oleObj name="" r:id="rId1" imgW="1040765" imgH="254000" progId="Equation.3">
                  <p:embed/>
                  <p:pic>
                    <p:nvPicPr>
                      <p:cNvPr id="0" name="图片 319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87154" y="2157730"/>
                        <a:ext cx="1805305" cy="514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6" name="Object 6"/>
          <p:cNvGraphicFramePr/>
          <p:nvPr/>
        </p:nvGraphicFramePr>
        <p:xfrm>
          <a:off x="5401119" y="2106930"/>
          <a:ext cx="611505" cy="5549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342900" imgH="279400" progId="Equation.3">
                  <p:embed/>
                </p:oleObj>
              </mc:Choice>
              <mc:Fallback>
                <p:oleObj name="" r:id="rId3" imgW="342900" imgH="279400" progId="Equation.3">
                  <p:embed/>
                  <p:pic>
                    <p:nvPicPr>
                      <p:cNvPr id="0" name="图片 318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401119" y="2106930"/>
                        <a:ext cx="611505" cy="5549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28677" name="Object 11"/>
              <p:cNvSpPr txBox="1"/>
              <p:nvPr/>
            </p:nvSpPr>
            <p:spPr>
              <a:xfrm>
                <a:off x="2576570" y="3189555"/>
                <a:ext cx="3235653" cy="819150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</m:d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28677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6570" y="3189555"/>
                <a:ext cx="3235653" cy="819150"/>
              </a:xfrm>
              <a:prstGeom prst="rect">
                <a:avLst/>
              </a:prstGeom>
              <a:blipFill rotWithShape="1">
                <a:blip r:embed="rId5"/>
                <a:stretch>
                  <a:fillRect l="-12" t="-71" r="2" b="71"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8678" name="Object 12"/>
          <p:cNvGraphicFramePr/>
          <p:nvPr/>
        </p:nvGraphicFramePr>
        <p:xfrm>
          <a:off x="6967102" y="3021013"/>
          <a:ext cx="1404938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6" imgW="9753600" imgH="5791200" progId="Equation.DSMT4">
                  <p:embed/>
                </p:oleObj>
              </mc:Choice>
              <mc:Fallback>
                <p:oleObj name="Equation" r:id="rId6" imgW="9753600" imgH="5791200" progId="Equation.DSMT4">
                  <p:embed/>
                  <p:pic>
                    <p:nvPicPr>
                      <p:cNvPr id="0" name="图片 3179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967102" y="3021013"/>
                        <a:ext cx="1404938" cy="777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9" name="Object 13"/>
          <p:cNvGraphicFramePr/>
          <p:nvPr/>
        </p:nvGraphicFramePr>
        <p:xfrm>
          <a:off x="3507105" y="4310381"/>
          <a:ext cx="2096770" cy="598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8" imgW="1040765" imgH="254000" progId="Equation.3">
                  <p:embed/>
                </p:oleObj>
              </mc:Choice>
              <mc:Fallback>
                <p:oleObj name="" r:id="rId8" imgW="1040765" imgH="254000" progId="Equation.3">
                  <p:embed/>
                  <p:pic>
                    <p:nvPicPr>
                      <p:cNvPr id="0" name="图片 3178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507105" y="4310381"/>
                        <a:ext cx="2096770" cy="5988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0" name="Object 14"/>
          <p:cNvGraphicFramePr/>
          <p:nvPr/>
        </p:nvGraphicFramePr>
        <p:xfrm>
          <a:off x="2744788" y="4984750"/>
          <a:ext cx="6980237" cy="1036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10" imgW="56692800" imgH="9753600" progId="Equation.DSMT4">
                  <p:embed/>
                </p:oleObj>
              </mc:Choice>
              <mc:Fallback>
                <p:oleObj name="Equation" r:id="rId10" imgW="56692800" imgH="9753600" progId="Equation.DSMT4">
                  <p:embed/>
                  <p:pic>
                    <p:nvPicPr>
                      <p:cNvPr id="0" name="图片 3184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744788" y="4984750"/>
                        <a:ext cx="6980237" cy="10366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68580" tIns="34290" rIns="68580" bIns="34290" rtlCol="0" anchor="b">
            <a:norm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algn="r"/>
            <a:fld id="{9A0DB2DC-4C9A-4742-B13C-FB6460FD3503}" type="slidenum">
              <a:rPr lang="zh-CN" altLang="en-US" sz="1050" dirty="0"/>
            </a:fld>
            <a:endParaRPr lang="zh-CN" altLang="en-US" sz="1050" dirty="0"/>
          </a:p>
        </p:txBody>
      </p:sp>
      <p:sp>
        <p:nvSpPr>
          <p:cNvPr id="31746" name="Rectangle 2"/>
          <p:cNvSpPr/>
          <p:nvPr/>
        </p:nvSpPr>
        <p:spPr>
          <a:xfrm>
            <a:off x="2785110" y="334645"/>
            <a:ext cx="6808470" cy="97155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r>
              <a:rPr lang="zh-CN" altLang="en-US" sz="3200" dirty="0">
                <a:solidFill>
                  <a:srgbClr val="FF0000"/>
                </a:solidFill>
                <a:latin typeface="Tahoma" panose="020B0604030504040204" pitchFamily="34" charset="0"/>
              </a:rPr>
              <a:t>第三节  均值向量和协方差阵的估计</a:t>
            </a:r>
            <a:endParaRPr lang="zh-CN" altLang="en-US" sz="320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31747" name="Text Box 3"/>
          <p:cNvSpPr txBox="1"/>
          <p:nvPr/>
        </p:nvSpPr>
        <p:spPr>
          <a:xfrm>
            <a:off x="2498090" y="1960246"/>
            <a:ext cx="786765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457200" indent="-457200">
              <a:spcBef>
                <a:spcPct val="50000"/>
              </a:spcBef>
            </a:pPr>
            <a:r>
              <a:rPr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设                           , 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400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400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en-US" altLang="zh-CN" sz="2400" dirty="0">
                <a:latin typeface="Times New Roman" panose="02020503050405090304" pitchFamily="18" charset="0"/>
                <a:ea typeface="Tahoma" panose="020B0604030504040204" pitchFamily="34" charset="0"/>
                <a:cs typeface="Times New Roman" panose="02020503050405090304" pitchFamily="18" charset="0"/>
              </a:rPr>
              <a:t>……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400" i="1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是来自总体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的样本，则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aphicFrame>
        <p:nvGraphicFramePr>
          <p:cNvPr id="31748" name="Object 0"/>
          <p:cNvGraphicFramePr/>
          <p:nvPr/>
        </p:nvGraphicFramePr>
        <p:xfrm>
          <a:off x="2879726" y="2000250"/>
          <a:ext cx="2041525" cy="5168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1" imgW="1040765" imgH="254000" progId="Equation.3">
                  <p:embed/>
                </p:oleObj>
              </mc:Choice>
              <mc:Fallback>
                <p:oleObj name="" r:id="rId1" imgW="1040765" imgH="254000" progId="Equation.3">
                  <p:embed/>
                  <p:pic>
                    <p:nvPicPr>
                      <p:cNvPr id="0" name="图片 320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79726" y="2000250"/>
                        <a:ext cx="2041525" cy="5168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9" name="Object 1"/>
          <p:cNvGraphicFramePr/>
          <p:nvPr/>
        </p:nvGraphicFramePr>
        <p:xfrm>
          <a:off x="3196909" y="2729865"/>
          <a:ext cx="5798185" cy="238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54864000" imgH="21336000" progId="Equation.DSMT4">
                  <p:embed/>
                </p:oleObj>
              </mc:Choice>
              <mc:Fallback>
                <p:oleObj name="Equation" r:id="rId3" imgW="54864000" imgH="21336000" progId="Equation.DSMT4">
                  <p:embed/>
                  <p:pic>
                    <p:nvPicPr>
                      <p:cNvPr id="0" name="图片 319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96909" y="2729865"/>
                        <a:ext cx="5798185" cy="2381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0" name="Text Box 11"/>
          <p:cNvSpPr txBox="1"/>
          <p:nvPr/>
        </p:nvSpPr>
        <p:spPr>
          <a:xfrm>
            <a:off x="2785110" y="5462271"/>
            <a:ext cx="529209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ahoma" panose="020B0604030504040204" pitchFamily="34" charset="0"/>
              </a:rPr>
              <a:t>分别是        的</a:t>
            </a:r>
            <a:r>
              <a:rPr lang="zh-CN" altLang="en-US" sz="2400" dirty="0">
                <a:solidFill>
                  <a:srgbClr val="FF0000"/>
                </a:solidFill>
                <a:latin typeface="Tahoma" panose="020B0604030504040204" pitchFamily="34" charset="0"/>
              </a:rPr>
              <a:t>极大似然估计量</a:t>
            </a:r>
            <a:r>
              <a:rPr lang="zh-CN" altLang="en-US" sz="2400" dirty="0">
                <a:latin typeface="Tahoma" panose="020B0604030504040204" pitchFamily="34" charset="0"/>
              </a:rPr>
              <a:t>。</a:t>
            </a:r>
            <a:endParaRPr lang="zh-CN" altLang="en-US" sz="2400" dirty="0">
              <a:latin typeface="Tahoma" panose="020B0604030504040204" pitchFamily="34" charset="0"/>
            </a:endParaRPr>
          </a:p>
        </p:txBody>
      </p:sp>
      <p:graphicFrame>
        <p:nvGraphicFramePr>
          <p:cNvPr id="31751" name="Object 2"/>
          <p:cNvGraphicFramePr/>
          <p:nvPr/>
        </p:nvGraphicFramePr>
        <p:xfrm>
          <a:off x="3761740" y="5420360"/>
          <a:ext cx="1033780" cy="5448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5" imgW="456565" imgH="254000" progId="Equation.3">
                  <p:embed/>
                </p:oleObj>
              </mc:Choice>
              <mc:Fallback>
                <p:oleObj name="" r:id="rId5" imgW="456565" imgH="254000" progId="Equation.3">
                  <p:embed/>
                  <p:pic>
                    <p:nvPicPr>
                      <p:cNvPr id="0" name="图片 319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761740" y="5420360"/>
                        <a:ext cx="1033780" cy="5448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68580" tIns="34290" rIns="68580" bIns="34290" rtlCol="0" anchor="b">
            <a:norm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algn="r"/>
            <a:fld id="{9A0DB2DC-4C9A-4742-B13C-FB6460FD3503}" type="slidenum">
              <a:rPr lang="zh-CN" altLang="en-US" sz="1050" dirty="0"/>
            </a:fld>
            <a:endParaRPr lang="zh-CN" altLang="en-US" sz="1050" dirty="0"/>
          </a:p>
        </p:txBody>
      </p:sp>
      <p:sp>
        <p:nvSpPr>
          <p:cNvPr id="31747" name="Text Box 3"/>
          <p:cNvSpPr txBox="1"/>
          <p:nvPr/>
        </p:nvSpPr>
        <p:spPr>
          <a:xfrm>
            <a:off x="2470785" y="1111885"/>
            <a:ext cx="7867650" cy="156845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457200" indent="-457200">
              <a:spcBef>
                <a:spcPct val="50000"/>
              </a:spcBef>
            </a:pPr>
            <a:r>
              <a:rPr lang="zh-CN" altLang="en-US" sz="2400" dirty="0">
                <a:latin typeface="Tahoma" panose="020B0604030504040204" pitchFamily="34" charset="0"/>
              </a:rPr>
              <a:t>均值向量的极大似然估计量</a:t>
            </a:r>
            <a:r>
              <a:rPr lang="zh-CN" altLang="en-US" sz="2400" dirty="0">
                <a:solidFill>
                  <a:srgbClr val="FF0000"/>
                </a:solidFill>
                <a:latin typeface="Tahoma" panose="020B0604030504040204" pitchFamily="34" charset="0"/>
              </a:rPr>
              <a:t>是无偏</a:t>
            </a:r>
            <a:r>
              <a:rPr lang="zh-CN" altLang="en-US" sz="2400" dirty="0">
                <a:latin typeface="Tahoma" panose="020B0604030504040204" pitchFamily="34" charset="0"/>
              </a:rPr>
              <a:t>估计量，</a:t>
            </a:r>
            <a:endParaRPr lang="zh-CN" altLang="en-US" sz="2400" dirty="0">
              <a:latin typeface="Tahoma" panose="020B0604030504040204" pitchFamily="34" charset="0"/>
            </a:endParaRPr>
          </a:p>
          <a:p>
            <a:pPr marL="457200" indent="-457200">
              <a:spcBef>
                <a:spcPct val="50000"/>
              </a:spcBef>
            </a:pPr>
            <a:r>
              <a:rPr lang="zh-CN" altLang="en-US" sz="2400" dirty="0">
                <a:latin typeface="Tahoma" panose="020B0604030504040204" pitchFamily="34" charset="0"/>
              </a:rPr>
              <a:t>协方差阵的极大似然估计量</a:t>
            </a:r>
            <a:r>
              <a:rPr lang="zh-CN" altLang="en-US" sz="2400" dirty="0">
                <a:solidFill>
                  <a:srgbClr val="FF0000"/>
                </a:solidFill>
                <a:latin typeface="Tahoma" panose="020B0604030504040204" pitchFamily="34" charset="0"/>
              </a:rPr>
              <a:t>不是无偏</a:t>
            </a:r>
            <a:r>
              <a:rPr lang="zh-CN" altLang="en-US" sz="2400" dirty="0">
                <a:latin typeface="Tahoma" panose="020B0604030504040204" pitchFamily="34" charset="0"/>
              </a:rPr>
              <a:t>估计量。</a:t>
            </a:r>
            <a:endParaRPr lang="zh-CN" altLang="en-US" sz="2400" dirty="0">
              <a:latin typeface="Tahoma" panose="020B0604030504040204" pitchFamily="34" charset="0"/>
            </a:endParaRPr>
          </a:p>
          <a:p>
            <a:pPr marL="457200" indent="-457200">
              <a:spcBef>
                <a:spcPct val="50000"/>
              </a:spcBef>
            </a:pPr>
            <a:r>
              <a:rPr lang="zh-CN" altLang="en-US" sz="2400" dirty="0">
                <a:latin typeface="Tahoma" panose="020B0604030504040204" pitchFamily="34" charset="0"/>
              </a:rPr>
              <a:t>其无偏估计量为</a:t>
            </a:r>
            <a:endParaRPr lang="zh-CN" altLang="en-US" sz="2400" dirty="0">
              <a:latin typeface="Tahoma" panose="020B0604030504040204" pitchFamily="34" charset="0"/>
            </a:endParaRPr>
          </a:p>
        </p:txBody>
      </p:sp>
      <p:graphicFrame>
        <p:nvGraphicFramePr>
          <p:cNvPr id="31749" name="Object 1"/>
          <p:cNvGraphicFramePr/>
          <p:nvPr/>
        </p:nvGraphicFramePr>
        <p:xfrm>
          <a:off x="2824480" y="3436939"/>
          <a:ext cx="6184900" cy="1190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1" imgW="2438400" imgH="444500" progId="Equation.3">
                  <p:embed/>
                </p:oleObj>
              </mc:Choice>
              <mc:Fallback>
                <p:oleObj name="" r:id="rId1" imgW="2438400" imgH="444500" progId="Equation.3">
                  <p:embed/>
                  <p:pic>
                    <p:nvPicPr>
                      <p:cNvPr id="0" name="图片 319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24480" y="3436939"/>
                        <a:ext cx="6184900" cy="1190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1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Text Box 3"/>
          <p:cNvSpPr txBox="1"/>
          <p:nvPr/>
        </p:nvSpPr>
        <p:spPr>
          <a:xfrm>
            <a:off x="2846705" y="764541"/>
            <a:ext cx="487680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457200" indent="-457200">
              <a:spcBef>
                <a:spcPct val="50000"/>
              </a:spcBef>
            </a:pPr>
            <a:r>
              <a:rPr lang="zh-CN" altLang="en-US" sz="2400" dirty="0">
                <a:latin typeface="Tahoma" panose="020B0604030504040204" pitchFamily="34" charset="0"/>
              </a:rPr>
              <a:t>多元正态分布参数的</a:t>
            </a:r>
            <a:r>
              <a:rPr lang="zh-CN" altLang="en-US" sz="2400" dirty="0">
                <a:solidFill>
                  <a:srgbClr val="FF0000"/>
                </a:solidFill>
                <a:latin typeface="Tahoma" panose="020B0604030504040204" pitchFamily="34" charset="0"/>
              </a:rPr>
              <a:t>区间估计</a:t>
            </a:r>
            <a:endParaRPr lang="zh-CN" altLang="en-US" sz="240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2" name="Text Box 3"/>
          <p:cNvSpPr txBox="1"/>
          <p:nvPr/>
        </p:nvSpPr>
        <p:spPr>
          <a:xfrm>
            <a:off x="2867025" y="1518286"/>
            <a:ext cx="487680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457200" indent="-457200">
              <a:spcBef>
                <a:spcPct val="50000"/>
              </a:spcBef>
            </a:pPr>
            <a:r>
              <a:rPr lang="zh-CN" altLang="en-US" sz="2400" dirty="0">
                <a:latin typeface="Tahoma" panose="020B0604030504040204" pitchFamily="34" charset="0"/>
              </a:rPr>
              <a:t>设二元正态向量</a:t>
            </a:r>
            <a:endParaRPr lang="zh-CN" altLang="en-US" sz="2400" dirty="0">
              <a:latin typeface="Tahoma" panose="020B0604030504040204" pitchFamily="34" charset="0"/>
            </a:endParaRPr>
          </a:p>
        </p:txBody>
      </p:sp>
      <p:graphicFrame>
        <p:nvGraphicFramePr>
          <p:cNvPr id="3" name="对象 2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047615" y="1473836"/>
          <a:ext cx="4911090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1" imgW="1930400" imgH="215900" progId="Equation.KSEE3">
                  <p:embed/>
                </p:oleObj>
              </mc:Choice>
              <mc:Fallback>
                <p:oleObj name="" r:id="rId1" imgW="19304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047615" y="1473836"/>
                        <a:ext cx="4911090" cy="549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/>
          <p:cNvGrpSpPr/>
          <p:nvPr/>
        </p:nvGrpSpPr>
        <p:grpSpPr>
          <a:xfrm>
            <a:off x="2952115" y="2507615"/>
            <a:ext cx="4876800" cy="459740"/>
            <a:chOff x="2249" y="3949"/>
            <a:chExt cx="7680" cy="724"/>
          </a:xfrm>
        </p:grpSpPr>
        <p:sp>
          <p:nvSpPr>
            <p:cNvPr id="4" name="Text Box 3"/>
            <p:cNvSpPr txBox="1"/>
            <p:nvPr/>
          </p:nvSpPr>
          <p:spPr>
            <a:xfrm>
              <a:off x="2249" y="3949"/>
              <a:ext cx="7680" cy="7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marL="457200" indent="-457200">
                <a:spcBef>
                  <a:spcPct val="50000"/>
                </a:spcBef>
              </a:pPr>
              <a:r>
                <a:rPr lang="zh-CN" altLang="en-US" sz="2400" dirty="0">
                  <a:latin typeface="Tahoma" panose="020B0604030504040204" pitchFamily="34" charset="0"/>
                </a:rPr>
                <a:t>则其         的取值范围为</a:t>
              </a:r>
              <a:endParaRPr lang="zh-CN" altLang="en-US" sz="2400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5" name="对象 4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3478" y="4005"/>
            <a:ext cx="1246" cy="6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" name="" r:id="rId3" imgW="330200" imgH="177165" progId="Equation.KSEE3">
                    <p:embed/>
                  </p:oleObj>
                </mc:Choice>
                <mc:Fallback>
                  <p:oleObj name="" r:id="rId3" imgW="330200" imgH="177165" progId="Equation.KSEE3">
                    <p:embed/>
                    <p:pic>
                      <p:nvPicPr>
                        <p:cNvPr id="0" name="图片 1025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478" y="4005"/>
                          <a:ext cx="1246" cy="66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772920" y="3316289"/>
          <a:ext cx="8646160" cy="12045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5" imgW="4013200" imgH="558800" progId="Equation.KSEE3">
                  <p:embed/>
                </p:oleObj>
              </mc:Choice>
              <mc:Fallback>
                <p:oleObj name="" r:id="rId5" imgW="4013200" imgH="558800" progId="Equation.KSEE3">
                  <p:embed/>
                  <p:pic>
                    <p:nvPicPr>
                      <p:cNvPr id="0" name="图片 102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72920" y="3316289"/>
                        <a:ext cx="8646160" cy="12045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3"/>
          <p:cNvSpPr txBox="1"/>
          <p:nvPr/>
        </p:nvSpPr>
        <p:spPr>
          <a:xfrm>
            <a:off x="2952115" y="4987291"/>
            <a:ext cx="714375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457200" indent="-457200">
              <a:spcBef>
                <a:spcPct val="50000"/>
              </a:spcBef>
            </a:pPr>
            <a:r>
              <a:rPr lang="zh-CN" altLang="en-US" sz="2400" dirty="0">
                <a:latin typeface="Tahoma" panose="020B0604030504040204" pitchFamily="34" charset="0"/>
              </a:rPr>
              <a:t>该范围是一个</a:t>
            </a:r>
            <a:r>
              <a:rPr lang="zh-CN" altLang="en-US" sz="2400" dirty="0">
                <a:solidFill>
                  <a:srgbClr val="FF0000"/>
                </a:solidFill>
                <a:latin typeface="Tahoma" panose="020B0604030504040204" pitchFamily="34" charset="0"/>
              </a:rPr>
              <a:t>椭圆</a:t>
            </a:r>
            <a:r>
              <a:rPr lang="zh-CN" altLang="en-US" sz="2400" dirty="0">
                <a:latin typeface="Tahoma" panose="020B0604030504040204" pitchFamily="34" charset="0"/>
              </a:rPr>
              <a:t>，它是两变量的联合参考值范围。</a:t>
            </a:r>
            <a:endParaRPr lang="zh-CN" altLang="en-US" sz="2400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Oval 2"/>
          <p:cNvSpPr/>
          <p:nvPr/>
        </p:nvSpPr>
        <p:spPr>
          <a:xfrm rot="-1727084">
            <a:off x="4656139" y="2463800"/>
            <a:ext cx="4389437" cy="1625600"/>
          </a:xfrm>
          <a:prstGeom prst="ellipse">
            <a:avLst/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91139" name="Line 3"/>
          <p:cNvSpPr/>
          <p:nvPr/>
        </p:nvSpPr>
        <p:spPr>
          <a:xfrm flipV="1">
            <a:off x="4656138" y="1412876"/>
            <a:ext cx="0" cy="38893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140" name="Line 4"/>
          <p:cNvSpPr/>
          <p:nvPr/>
        </p:nvSpPr>
        <p:spPr>
          <a:xfrm>
            <a:off x="2855914" y="4652963"/>
            <a:ext cx="6840537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145" name="Text Box 9"/>
          <p:cNvSpPr txBox="1"/>
          <p:nvPr/>
        </p:nvSpPr>
        <p:spPr>
          <a:xfrm>
            <a:off x="1847851" y="1341439"/>
            <a:ext cx="1032655" cy="4616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latin typeface="Arial" panose="020B0604020202090204" pitchFamily="34" charset="0"/>
              </a:rPr>
              <a:t>p</a:t>
            </a:r>
            <a:r>
              <a:rPr lang="en-US" altLang="zh-CN" sz="2400" b="1" dirty="0">
                <a:latin typeface="Arial" panose="020B0604020202090204" pitchFamily="34" charset="0"/>
              </a:rPr>
              <a:t>=2</a:t>
            </a:r>
            <a:r>
              <a:rPr lang="zh-CN" altLang="en-US" sz="2400" b="1" dirty="0">
                <a:latin typeface="Arial" panose="020B0604020202090204" pitchFamily="34" charset="0"/>
              </a:rPr>
              <a:t>时</a:t>
            </a:r>
            <a:endParaRPr lang="zh-CN" altLang="en-US" sz="2400" b="1" dirty="0">
              <a:latin typeface="Arial" panose="020B0604020202090204" pitchFamily="34" charset="0"/>
            </a:endParaRPr>
          </a:p>
        </p:txBody>
      </p:sp>
      <p:sp>
        <p:nvSpPr>
          <p:cNvPr id="91146" name="Text Box 10"/>
          <p:cNvSpPr txBox="1"/>
          <p:nvPr/>
        </p:nvSpPr>
        <p:spPr>
          <a:xfrm>
            <a:off x="1900239" y="2439989"/>
            <a:ext cx="184731" cy="4616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en-US" sz="2400" b="1" dirty="0">
              <a:solidFill>
                <a:schemeClr val="tx2"/>
              </a:solidFill>
              <a:latin typeface="Arial" panose="020B0604020202090204" pitchFamily="34" charset="0"/>
            </a:endParaRPr>
          </a:p>
        </p:txBody>
      </p:sp>
      <p:sp>
        <p:nvSpPr>
          <p:cNvPr id="92171" name="Text Box 11"/>
          <p:cNvSpPr txBox="1"/>
          <p:nvPr/>
        </p:nvSpPr>
        <p:spPr>
          <a:xfrm>
            <a:off x="2210119" y="2255204"/>
            <a:ext cx="1936749" cy="830997"/>
          </a:xfrm>
          <a:prstGeom prst="rect">
            <a:avLst/>
          </a:prstGeom>
          <a:solidFill>
            <a:srgbClr val="CCFFFF"/>
          </a:solidFill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宋体" pitchFamily="2" charset="-122"/>
              </a:rPr>
              <a:t>μ</a:t>
            </a:r>
            <a:r>
              <a:rPr lang="zh-CN" altLang="en-US" sz="2400" b="1" dirty="0">
                <a:latin typeface="宋体" pitchFamily="2" charset="-122"/>
              </a:rPr>
              <a:t>的中心在</a:t>
            </a:r>
            <a:endParaRPr lang="zh-CN" altLang="en-US" sz="2400" b="1" dirty="0">
              <a:latin typeface="宋体" pitchFamily="2" charset="-122"/>
            </a:endParaRPr>
          </a:p>
          <a:p>
            <a:r>
              <a:rPr lang="en-US" altLang="zh-CN" sz="2400" b="1" i="1" dirty="0">
                <a:latin typeface="Arial" panose="020B0604020202090204" pitchFamily="34" charset="0"/>
              </a:rPr>
              <a:t>X</a:t>
            </a:r>
            <a:r>
              <a:rPr lang="zh-CN" altLang="en-US" sz="2400" b="1" dirty="0">
                <a:latin typeface="Arial" panose="020B0604020202090204" pitchFamily="34" charset="0"/>
              </a:rPr>
              <a:t>的置信椭园</a:t>
            </a:r>
            <a:endParaRPr lang="zh-CN" altLang="en-US" sz="2400" b="1" dirty="0">
              <a:latin typeface="Arial" panose="020B0604020202090204" pitchFamily="34" charset="0"/>
            </a:endParaRPr>
          </a:p>
        </p:txBody>
      </p:sp>
      <p:sp>
        <p:nvSpPr>
          <p:cNvPr id="92172" name="Line 12"/>
          <p:cNvSpPr/>
          <p:nvPr/>
        </p:nvSpPr>
        <p:spPr>
          <a:xfrm>
            <a:off x="4151314" y="2636839"/>
            <a:ext cx="2232025" cy="936625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173" name="Line 13"/>
          <p:cNvSpPr/>
          <p:nvPr/>
        </p:nvSpPr>
        <p:spPr>
          <a:xfrm>
            <a:off x="1992314" y="2708275"/>
            <a:ext cx="287337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152" name="Rectangle 16"/>
          <p:cNvSpPr/>
          <p:nvPr/>
        </p:nvSpPr>
        <p:spPr>
          <a:xfrm>
            <a:off x="8040689" y="1412876"/>
            <a:ext cx="244792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400" b="1" dirty="0">
                <a:latin typeface="Arial" panose="020B0604020202090204" pitchFamily="34" charset="0"/>
              </a:rPr>
              <a:t>置信度为</a:t>
            </a:r>
            <a:r>
              <a:rPr lang="en-US" altLang="zh-CN" sz="2400" b="1" dirty="0">
                <a:latin typeface="Arial" panose="020B0604020202090204" pitchFamily="34" charset="0"/>
              </a:rPr>
              <a:t>1-α</a:t>
            </a:r>
            <a:endParaRPr lang="en-US" altLang="zh-CN" sz="2400" b="1" dirty="0">
              <a:latin typeface="Arial" panose="020B0604020202090204" pitchFamily="34" charset="0"/>
            </a:endParaRPr>
          </a:p>
        </p:txBody>
      </p:sp>
      <p:sp>
        <p:nvSpPr>
          <p:cNvPr id="92177" name="Line 17"/>
          <p:cNvSpPr/>
          <p:nvPr/>
        </p:nvSpPr>
        <p:spPr>
          <a:xfrm>
            <a:off x="5232400" y="2349501"/>
            <a:ext cx="0" cy="2447925"/>
          </a:xfrm>
          <a:prstGeom prst="line">
            <a:avLst/>
          </a:prstGeom>
          <a:ln w="28575" cap="flat" cmpd="sng">
            <a:solidFill>
              <a:srgbClr val="1EA43B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178" name="Line 18"/>
          <p:cNvSpPr/>
          <p:nvPr/>
        </p:nvSpPr>
        <p:spPr>
          <a:xfrm>
            <a:off x="8328025" y="2349501"/>
            <a:ext cx="0" cy="2447925"/>
          </a:xfrm>
          <a:prstGeom prst="line">
            <a:avLst/>
          </a:prstGeom>
          <a:ln w="28575" cap="flat" cmpd="sng">
            <a:solidFill>
              <a:srgbClr val="1EA43B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179" name="Line 19"/>
          <p:cNvSpPr/>
          <p:nvPr/>
        </p:nvSpPr>
        <p:spPr>
          <a:xfrm flipH="1">
            <a:off x="4511675" y="4221163"/>
            <a:ext cx="3816350" cy="0"/>
          </a:xfrm>
          <a:prstGeom prst="line">
            <a:avLst/>
          </a:prstGeom>
          <a:ln w="28575" cap="flat" cmpd="sng">
            <a:solidFill>
              <a:srgbClr val="1EA43B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180" name="Line 20"/>
          <p:cNvSpPr/>
          <p:nvPr/>
        </p:nvSpPr>
        <p:spPr>
          <a:xfrm flipH="1">
            <a:off x="4656139" y="2349500"/>
            <a:ext cx="3671887" cy="0"/>
          </a:xfrm>
          <a:prstGeom prst="line">
            <a:avLst/>
          </a:prstGeom>
          <a:ln w="28575" cap="flat" cmpd="sng">
            <a:solidFill>
              <a:srgbClr val="1EA43B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181" name="Text Box 21"/>
          <p:cNvSpPr txBox="1"/>
          <p:nvPr/>
        </p:nvSpPr>
        <p:spPr>
          <a:xfrm>
            <a:off x="2279650" y="5302250"/>
            <a:ext cx="3529330" cy="1198880"/>
          </a:xfrm>
          <a:prstGeom prst="rect">
            <a:avLst/>
          </a:prstGeom>
          <a:solidFill>
            <a:srgbClr val="CCFFCC"/>
          </a:solidFill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A3613"/>
                </a:solidFill>
                <a:latin typeface="Arial" panose="020B0604020202090204" pitchFamily="34" charset="0"/>
              </a:rPr>
              <a:t>绿线组成的长方形区域是</a:t>
            </a:r>
            <a:r>
              <a:rPr lang="en-US" altLang="zh-CN" sz="2400" b="1" dirty="0">
                <a:solidFill>
                  <a:srgbClr val="0A3613"/>
                </a:solidFill>
                <a:latin typeface="宋体" pitchFamily="2" charset="-122"/>
              </a:rPr>
              <a:t>μ</a:t>
            </a:r>
            <a:r>
              <a:rPr lang="en-US" altLang="zh-CN" sz="2400" b="1" baseline="-26000" dirty="0">
                <a:solidFill>
                  <a:srgbClr val="0A3613"/>
                </a:solidFill>
                <a:latin typeface="宋体" pitchFamily="2" charset="-122"/>
              </a:rPr>
              <a:t>1</a:t>
            </a:r>
            <a:r>
              <a:rPr lang="en-US" altLang="zh-CN" sz="2400" b="1" dirty="0">
                <a:solidFill>
                  <a:srgbClr val="0A3613"/>
                </a:solidFill>
                <a:latin typeface="宋体" pitchFamily="2" charset="-122"/>
              </a:rPr>
              <a:t>,μ</a:t>
            </a:r>
            <a:r>
              <a:rPr lang="en-US" altLang="zh-CN" sz="2400" b="1" baseline="-26000" dirty="0">
                <a:solidFill>
                  <a:srgbClr val="0A3613"/>
                </a:solidFill>
                <a:latin typeface="宋体" pitchFamily="2" charset="-122"/>
              </a:rPr>
              <a:t>2</a:t>
            </a:r>
            <a:r>
              <a:rPr lang="zh-CN" altLang="en-US" sz="2400" b="1" dirty="0">
                <a:solidFill>
                  <a:srgbClr val="0A3613"/>
                </a:solidFill>
                <a:latin typeface="宋体" pitchFamily="2" charset="-122"/>
              </a:rPr>
              <a:t>的分别求</a:t>
            </a:r>
            <a:r>
              <a:rPr lang="zh-CN" altLang="en-US" sz="2400" b="1" dirty="0">
                <a:solidFill>
                  <a:srgbClr val="0A3613"/>
                </a:solidFill>
                <a:latin typeface="Arial" panose="020B0604020202090204" pitchFamily="34" charset="0"/>
              </a:rPr>
              <a:t>置信区间组成的</a:t>
            </a:r>
            <a:r>
              <a:rPr lang="en-US" altLang="zh-CN" sz="2400" b="1" dirty="0">
                <a:solidFill>
                  <a:srgbClr val="0A3613"/>
                </a:solidFill>
                <a:latin typeface="Arial" panose="020B0604020202090204" pitchFamily="34" charset="0"/>
              </a:rPr>
              <a:t>.</a:t>
            </a:r>
            <a:endParaRPr lang="en-US" altLang="zh-CN" sz="2400" b="1" dirty="0">
              <a:solidFill>
                <a:srgbClr val="0A3613"/>
              </a:solidFill>
              <a:latin typeface="Arial" panose="020B0604020202090204" pitchFamily="34" charset="0"/>
            </a:endParaRPr>
          </a:p>
        </p:txBody>
      </p:sp>
      <p:sp>
        <p:nvSpPr>
          <p:cNvPr id="92182" name="Line 22"/>
          <p:cNvSpPr/>
          <p:nvPr/>
        </p:nvSpPr>
        <p:spPr>
          <a:xfrm flipV="1">
            <a:off x="5368290" y="3716655"/>
            <a:ext cx="2599690" cy="1586230"/>
          </a:xfrm>
          <a:prstGeom prst="line">
            <a:avLst/>
          </a:prstGeom>
          <a:ln w="28575" cap="flat" cmpd="sng">
            <a:solidFill>
              <a:srgbClr val="1EA43B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159" name="Rectangle 23"/>
          <p:cNvSpPr>
            <a:spLocks noGrp="1"/>
          </p:cNvSpPr>
          <p:nvPr>
            <p:ph type="title"/>
          </p:nvPr>
        </p:nvSpPr>
        <p:spPr>
          <a:xfrm>
            <a:off x="3329940" y="201296"/>
            <a:ext cx="5502910" cy="720725"/>
          </a:xfrm>
          <a:noFill/>
          <a:ln>
            <a:noFill/>
          </a:ln>
        </p:spPr>
        <p:txBody>
          <a:bodyPr vert="horz" lIns="90170" tIns="46990" rIns="90170" bIns="46990" rtlCol="0" anchor="ctr">
            <a:normAutofit fontScale="90000"/>
          </a:bodyPr>
          <a:lstStyle/>
          <a:p>
            <a:pPr eaLnBrk="1" hangingPunct="1"/>
            <a:r>
              <a:rPr lang="zh-CN" altLang="en-US" sz="4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置信域与联立置信区间 </a:t>
            </a:r>
            <a:endParaRPr lang="zh-CN" altLang="en-US" sz="40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92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2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2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2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2" grpId="0" bldLvl="0" animBg="1"/>
      <p:bldP spid="92171" grpId="0" bldLvl="0" animBg="1"/>
      <p:bldP spid="92181" grpId="0" bldLvl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7982585" y="6328411"/>
            <a:ext cx="2057400" cy="365125"/>
          </a:xfrm>
        </p:spPr>
        <p:txBody>
          <a:bodyPr vert="horz" wrap="square" lIns="68580" tIns="34290" rIns="68580" bIns="34290" rtlCol="0" anchor="b">
            <a:norm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algn="r"/>
            <a:fld id="{9A0DB2DC-4C9A-4742-B13C-FB6460FD3503}" type="slidenum">
              <a:rPr lang="zh-CN" altLang="en-US" sz="1050" dirty="0"/>
            </a:fld>
            <a:endParaRPr lang="zh-CN" altLang="en-US" sz="1050" dirty="0"/>
          </a:p>
        </p:txBody>
      </p:sp>
      <p:sp>
        <p:nvSpPr>
          <p:cNvPr id="177154" name="Rectangle 2"/>
          <p:cNvSpPr/>
          <p:nvPr/>
        </p:nvSpPr>
        <p:spPr>
          <a:xfrm>
            <a:off x="2667000" y="1314450"/>
            <a:ext cx="6858000" cy="414020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pPr algn="ctr"/>
            <a:endParaRPr lang="zh-CN" altLang="en-US" sz="2100" dirty="0">
              <a:latin typeface="Times New Roman" panose="02020503050405090304" pitchFamily="18" charset="0"/>
            </a:endParaRPr>
          </a:p>
        </p:txBody>
      </p:sp>
      <p:sp>
        <p:nvSpPr>
          <p:cNvPr id="177155" name="Rectangle 3"/>
          <p:cNvSpPr/>
          <p:nvPr/>
        </p:nvSpPr>
        <p:spPr>
          <a:xfrm>
            <a:off x="2769235" y="160020"/>
            <a:ext cx="5847080" cy="1568450"/>
          </a:xfrm>
          <a:prstGeom prst="rect">
            <a:avLst/>
          </a:prstGeom>
          <a:noFill/>
          <a:ln w="12700">
            <a:noFill/>
          </a:ln>
        </p:spPr>
        <p:txBody>
          <a:bodyPr wrap="square" anchor="t">
            <a:spAutoFit/>
          </a:bodyPr>
          <a:lstStyle/>
          <a:p>
            <a:pPr algn="just" defTabSz="0">
              <a:tabLst>
                <a:tab pos="1066800" algn="l"/>
              </a:tabLst>
            </a:pPr>
            <a:r>
              <a:rPr lang="zh-CN" altLang="en-US" sz="3200" b="1" dirty="0">
                <a:solidFill>
                  <a:srgbClr val="FF0000"/>
                </a:solidFill>
                <a:latin typeface="宋体" pitchFamily="2" charset="-122"/>
              </a:rPr>
              <a:t>     </a:t>
            </a:r>
            <a:endParaRPr lang="zh-CN" altLang="en-US" sz="3200" b="1" dirty="0">
              <a:solidFill>
                <a:srgbClr val="FF0000"/>
              </a:solidFill>
              <a:latin typeface="宋体" pitchFamily="2" charset="-122"/>
            </a:endParaRPr>
          </a:p>
          <a:p>
            <a:pPr algn="just" defTabSz="0">
              <a:tabLst>
                <a:tab pos="1066800" algn="l"/>
              </a:tabLst>
            </a:pPr>
            <a:r>
              <a:rPr lang="zh-CN" altLang="en-US" sz="3200" b="1" dirty="0">
                <a:solidFill>
                  <a:srgbClr val="FF0000"/>
                </a:solidFill>
                <a:latin typeface="Tahoma" panose="020B0604030504040204" pitchFamily="34" charset="0"/>
              </a:rPr>
              <a:t>     第四节 几种常用的抽样分布</a:t>
            </a:r>
            <a:endParaRPr lang="zh-CN" altLang="en-US" sz="3200" b="1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 algn="just" defTabSz="0">
              <a:tabLst>
                <a:tab pos="1066800" algn="l"/>
              </a:tabLst>
            </a:pPr>
            <a:r>
              <a:rPr lang="zh-CN" altLang="en-US" sz="3200" b="1" dirty="0">
                <a:solidFill>
                  <a:srgbClr val="FF0000"/>
                </a:solidFill>
                <a:latin typeface="宋体" pitchFamily="2" charset="-122"/>
              </a:rPr>
              <a:t>   </a:t>
            </a:r>
            <a:endParaRPr lang="zh-CN" altLang="en-US" sz="3200" b="1" dirty="0">
              <a:solidFill>
                <a:srgbClr val="FF0000"/>
              </a:solidFill>
              <a:latin typeface="宋体" pitchFamily="2" charset="-122"/>
            </a:endParaRPr>
          </a:p>
        </p:txBody>
      </p:sp>
      <p:sp>
        <p:nvSpPr>
          <p:cNvPr id="177156" name="Rectangle 4"/>
          <p:cNvSpPr/>
          <p:nvPr/>
        </p:nvSpPr>
        <p:spPr>
          <a:xfrm>
            <a:off x="2426971" y="1728470"/>
            <a:ext cx="3602355" cy="891540"/>
          </a:xfrm>
          <a:prstGeom prst="rect">
            <a:avLst/>
          </a:prstGeom>
          <a:noFill/>
          <a:ln w="12700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  <a:tabLst>
                <a:tab pos="800100" algn="l"/>
                <a:tab pos="1066800" algn="l"/>
              </a:tabLst>
            </a:pPr>
            <a:r>
              <a:rPr lang="zh-CN" altLang="en-US" sz="1600" b="1" dirty="0">
                <a:latin typeface="宋体" pitchFamily="2" charset="-122"/>
              </a:rPr>
              <a:t> </a:t>
            </a:r>
            <a:r>
              <a:rPr lang="zh-CN" altLang="en-US" sz="2400" b="1" dirty="0">
                <a:latin typeface="宋体" pitchFamily="2" charset="-122"/>
              </a:rPr>
              <a:t>定义</a:t>
            </a:r>
            <a:r>
              <a:rPr lang="zh-CN" altLang="en-US" sz="2400" dirty="0">
                <a:latin typeface="宋体" pitchFamily="2" charset="-122"/>
              </a:rPr>
              <a:t>随机矩阵的分布</a:t>
            </a:r>
            <a:endParaRPr lang="zh-CN" altLang="en-US" sz="1600" dirty="0">
              <a:latin typeface="Arial" panose="020B0604020202090204" pitchFamily="34" charset="0"/>
            </a:endParaRPr>
          </a:p>
          <a:p>
            <a:pPr defTabSz="0" eaLnBrk="0" hangingPunct="0">
              <a:tabLst>
                <a:tab pos="800100" algn="l"/>
                <a:tab pos="1066800" algn="l"/>
              </a:tabLst>
            </a:pPr>
            <a:endParaRPr lang="zh-CN" altLang="en-US" sz="1600" dirty="0">
              <a:latin typeface="Arial" panose="020B0604020202090204" pitchFamily="34" charset="0"/>
            </a:endParaRPr>
          </a:p>
        </p:txBody>
      </p:sp>
      <p:graphicFrame>
        <p:nvGraphicFramePr>
          <p:cNvPr id="221184" name="Object 1024"/>
          <p:cNvGraphicFramePr/>
          <p:nvPr/>
        </p:nvGraphicFramePr>
        <p:xfrm>
          <a:off x="3598781" y="2395220"/>
          <a:ext cx="5127789" cy="21022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1" imgW="59131200" imgH="22555200" progId="Equation.DSMT4">
                  <p:embed/>
                </p:oleObj>
              </mc:Choice>
              <mc:Fallback>
                <p:oleObj name="Equation" r:id="rId1" imgW="59131200" imgH="22555200" progId="Equation.DSMT4">
                  <p:embed/>
                  <p:pic>
                    <p:nvPicPr>
                      <p:cNvPr id="0" name="图片 321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598781" y="2395220"/>
                        <a:ext cx="5127789" cy="2102211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7158" name="Rectangle 6"/>
          <p:cNvSpPr/>
          <p:nvPr/>
        </p:nvSpPr>
        <p:spPr>
          <a:xfrm>
            <a:off x="2426970" y="4462780"/>
            <a:ext cx="7294880" cy="1085850"/>
          </a:xfrm>
          <a:prstGeom prst="rect">
            <a:avLst/>
          </a:prstGeom>
          <a:noFill/>
          <a:ln w="12700">
            <a:noFill/>
          </a:ln>
        </p:spPr>
        <p:txBody>
          <a:bodyPr wrap="none" anchor="ctr"/>
          <a:lstStyle/>
          <a:p>
            <a:pPr fontAlgn="auto">
              <a:lnSpc>
                <a:spcPct val="150000"/>
              </a:lnSpc>
            </a:pPr>
            <a:r>
              <a:rPr lang="zh-CN" altLang="en-US" sz="2400" dirty="0">
                <a:latin typeface="Arial" panose="020B0604020202090204" pitchFamily="34" charset="0"/>
              </a:rPr>
              <a:t>矩阵中的每一个元素均为随机变量，</a:t>
            </a:r>
            <a:endParaRPr lang="zh-CN" altLang="en-US" sz="2400" dirty="0">
              <a:latin typeface="Arial" panose="020B0604020202090204" pitchFamily="34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400" dirty="0">
                <a:latin typeface="Arial" panose="020B0604020202090204" pitchFamily="34" charset="0"/>
              </a:rPr>
              <a:t>则矩阵</a:t>
            </a:r>
            <a:r>
              <a:rPr lang="en-US" altLang="zh-CN" sz="2400" dirty="0">
                <a:latin typeface="Arial" panose="020B0604020202090204" pitchFamily="34" charset="0"/>
              </a:rPr>
              <a:t>X</a:t>
            </a:r>
            <a:r>
              <a:rPr lang="zh-CN" altLang="en-US" sz="2400" dirty="0">
                <a:latin typeface="Arial" panose="020B0604020202090204" pitchFamily="34" charset="0"/>
              </a:rPr>
              <a:t>的分布是其列向量拉长，组成一个长向量</a:t>
            </a:r>
            <a:endParaRPr lang="zh-CN" altLang="en-US" sz="2400" dirty="0">
              <a:latin typeface="Arial" panose="020B0604020202090204" pitchFamily="34" charset="0"/>
            </a:endParaRPr>
          </a:p>
        </p:txBody>
      </p:sp>
      <p:graphicFrame>
        <p:nvGraphicFramePr>
          <p:cNvPr id="221185" name="Object 1025"/>
          <p:cNvGraphicFramePr/>
          <p:nvPr/>
        </p:nvGraphicFramePr>
        <p:xfrm>
          <a:off x="2636331" y="5649638"/>
          <a:ext cx="6983040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100888800" imgH="8229600" progId="Equation.DSMT4">
                  <p:embed/>
                </p:oleObj>
              </mc:Choice>
              <mc:Fallback>
                <p:oleObj name="Equation" r:id="rId3" imgW="100888800" imgH="8229600" progId="Equation.DSMT4">
                  <p:embed/>
                  <p:pic>
                    <p:nvPicPr>
                      <p:cNvPr id="0" name="图片 321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36331" y="5649638"/>
                        <a:ext cx="6983040" cy="6905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68580" tIns="34290" rIns="68580" bIns="34290" rtlCol="0" anchor="b">
            <a:norm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algn="r"/>
            <a:fld id="{9A0DB2DC-4C9A-4742-B13C-FB6460FD3503}" type="slidenum">
              <a:rPr lang="zh-CN" altLang="en-US" sz="1050" dirty="0"/>
            </a:fld>
            <a:endParaRPr lang="zh-CN" altLang="en-US" sz="1050" dirty="0"/>
          </a:p>
        </p:txBody>
      </p:sp>
      <p:grpSp>
        <p:nvGrpSpPr>
          <p:cNvPr id="2" name="Group 2"/>
          <p:cNvGrpSpPr/>
          <p:nvPr/>
        </p:nvGrpSpPr>
        <p:grpSpPr>
          <a:xfrm>
            <a:off x="2230755" y="1411606"/>
            <a:ext cx="7508240" cy="2861817"/>
            <a:chOff x="130" y="395"/>
            <a:chExt cx="5088" cy="2404"/>
          </a:xfrm>
        </p:grpSpPr>
        <p:sp>
          <p:nvSpPr>
            <p:cNvPr id="34819" name="Rectangle 3"/>
            <p:cNvSpPr/>
            <p:nvPr/>
          </p:nvSpPr>
          <p:spPr>
            <a:xfrm>
              <a:off x="130" y="395"/>
              <a:ext cx="5088" cy="2404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>
              <a:spAutoFit/>
            </a:bodyPr>
            <a:lstStyle/>
            <a:p>
              <a:pPr defTabSz="0">
                <a:lnSpc>
                  <a:spcPct val="150000"/>
                </a:lnSpc>
                <a:tabLst>
                  <a:tab pos="1066800" algn="l"/>
                </a:tabLst>
              </a:pPr>
              <a:r>
                <a:rPr lang="zh-CN" altLang="en-US" sz="2400" dirty="0">
                  <a:latin typeface="宋体" pitchFamily="2" charset="-122"/>
                </a:rPr>
                <a:t>特别当  是  阶对称阵，则  的分布为上三角部分组成的长向量</a:t>
              </a:r>
              <a:endParaRPr lang="zh-CN" altLang="en-US" sz="2400" dirty="0">
                <a:latin typeface="宋体" pitchFamily="2" charset="-122"/>
              </a:endParaRPr>
            </a:p>
            <a:p>
              <a:pPr defTabSz="0">
                <a:lnSpc>
                  <a:spcPct val="150000"/>
                </a:lnSpc>
                <a:tabLst>
                  <a:tab pos="1066800" algn="l"/>
                </a:tabLst>
              </a:pPr>
              <a:endParaRPr lang="zh-CN" altLang="en-US" sz="2400" dirty="0">
                <a:latin typeface="Times New Roman" panose="02020503050405090304" pitchFamily="18" charset="0"/>
              </a:endParaRPr>
            </a:p>
            <a:p>
              <a:pPr defTabSz="0">
                <a:lnSpc>
                  <a:spcPct val="150000"/>
                </a:lnSpc>
                <a:tabLst>
                  <a:tab pos="1066800" algn="l"/>
                </a:tabLst>
              </a:pPr>
              <a:endParaRPr lang="zh-CN" altLang="en-US" sz="2400" dirty="0">
                <a:latin typeface="Times New Roman" panose="02020503050405090304" pitchFamily="18" charset="0"/>
              </a:endParaRPr>
            </a:p>
            <a:p>
              <a:pPr defTabSz="0">
                <a:lnSpc>
                  <a:spcPct val="150000"/>
                </a:lnSpc>
                <a:tabLst>
                  <a:tab pos="1066800" algn="l"/>
                </a:tabLst>
              </a:pPr>
              <a:r>
                <a:rPr lang="zh-CN" altLang="en-US" sz="2400" dirty="0">
                  <a:latin typeface="Times New Roman" panose="02020503050405090304" pitchFamily="18" charset="0"/>
                </a:rPr>
                <a:t>的分布。</a:t>
              </a:r>
              <a:endParaRPr lang="zh-CN" altLang="en-US" sz="2400" dirty="0">
                <a:latin typeface="Times New Roman" panose="02020503050405090304" pitchFamily="18" charset="0"/>
              </a:endParaRPr>
            </a:p>
          </p:txBody>
        </p:sp>
        <p:graphicFrame>
          <p:nvGraphicFramePr>
            <p:cNvPr id="34820" name="Object 4"/>
            <p:cNvGraphicFramePr/>
            <p:nvPr/>
          </p:nvGraphicFramePr>
          <p:xfrm>
            <a:off x="819" y="576"/>
            <a:ext cx="271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" name="" r:id="rId1" imgW="266065" imgH="266065" progId="Equation.3">
                    <p:embed/>
                  </p:oleObj>
                </mc:Choice>
                <mc:Fallback>
                  <p:oleObj name="" r:id="rId1" imgW="266065" imgH="266065" progId="Equation.3">
                    <p:embed/>
                    <p:pic>
                      <p:nvPicPr>
                        <p:cNvPr id="0" name="图片 3215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819" y="576"/>
                          <a:ext cx="271" cy="24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21" name="Object 5"/>
            <p:cNvGraphicFramePr/>
            <p:nvPr/>
          </p:nvGraphicFramePr>
          <p:xfrm>
            <a:off x="1258" y="576"/>
            <a:ext cx="152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" r:id="rId3" imgW="241300" imgH="266065" progId="Equation.3">
                    <p:embed/>
                  </p:oleObj>
                </mc:Choice>
                <mc:Fallback>
                  <p:oleObj name="" r:id="rId3" imgW="241300" imgH="266065" progId="Equation.3">
                    <p:embed/>
                    <p:pic>
                      <p:nvPicPr>
                        <p:cNvPr id="0" name="图片 3220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258" y="576"/>
                          <a:ext cx="152" cy="21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22" name="Object 6"/>
            <p:cNvGraphicFramePr/>
            <p:nvPr/>
          </p:nvGraphicFramePr>
          <p:xfrm>
            <a:off x="2615" y="551"/>
            <a:ext cx="269" cy="2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" r:id="rId5" imgW="266065" imgH="266065" progId="Equation.3">
                    <p:embed/>
                  </p:oleObj>
                </mc:Choice>
                <mc:Fallback>
                  <p:oleObj name="" r:id="rId5" imgW="266065" imgH="266065" progId="Equation.3">
                    <p:embed/>
                    <p:pic>
                      <p:nvPicPr>
                        <p:cNvPr id="0" name="图片 3219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615" y="551"/>
                          <a:ext cx="269" cy="26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9207" name="Object 7"/>
          <p:cNvGraphicFramePr/>
          <p:nvPr/>
        </p:nvGraphicFramePr>
        <p:xfrm>
          <a:off x="2356945" y="2561897"/>
          <a:ext cx="7236372" cy="8671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6" imgW="100888800" imgH="8229600" progId="Equation.DSMT4">
                  <p:embed/>
                </p:oleObj>
              </mc:Choice>
              <mc:Fallback>
                <p:oleObj name="Equation" r:id="rId6" imgW="100888800" imgH="8229600" progId="Equation.DSMT4">
                  <p:embed/>
                  <p:pic>
                    <p:nvPicPr>
                      <p:cNvPr id="0" name="图片 321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356945" y="2561897"/>
                        <a:ext cx="7236372" cy="86710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68580" tIns="34290" rIns="68580" bIns="34290" rtlCol="0" anchor="b">
            <a:norm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algn="r"/>
            <a:fld id="{9A0DB2DC-4C9A-4742-B13C-FB6460FD3503}" type="slidenum">
              <a:rPr lang="zh-CN" altLang="en-US" sz="1050" dirty="0"/>
            </a:fld>
            <a:endParaRPr lang="zh-CN" altLang="en-US" sz="1050" dirty="0"/>
          </a:p>
        </p:txBody>
      </p:sp>
      <p:grpSp>
        <p:nvGrpSpPr>
          <p:cNvPr id="2" name="Group 1026"/>
          <p:cNvGrpSpPr/>
          <p:nvPr/>
        </p:nvGrpSpPr>
        <p:grpSpPr>
          <a:xfrm>
            <a:off x="2254250" y="2169161"/>
            <a:ext cx="7900670" cy="2257425"/>
            <a:chOff x="144" y="1632"/>
            <a:chExt cx="5280" cy="1008"/>
          </a:xfrm>
        </p:grpSpPr>
        <p:sp>
          <p:nvSpPr>
            <p:cNvPr id="35843" name="Rectangle 1027"/>
            <p:cNvSpPr/>
            <p:nvPr/>
          </p:nvSpPr>
          <p:spPr>
            <a:xfrm>
              <a:off x="144" y="1776"/>
              <a:ext cx="5280" cy="86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/>
            <a:lstStyle/>
            <a:p>
              <a:pPr fontAlgn="auto">
                <a:lnSpc>
                  <a:spcPct val="150000"/>
                </a:lnSpc>
              </a:pPr>
              <a:r>
                <a:rPr lang="zh-CN" altLang="en-US" sz="2400" dirty="0">
                  <a:latin typeface="Arial" panose="020B0604020202090204" pitchFamily="34" charset="0"/>
                </a:rPr>
                <a:t>       在一元正态随机变量中，我们曾经讨论了      分布，</a:t>
              </a:r>
              <a:endParaRPr lang="zh-CN" altLang="en-US" sz="2400" dirty="0">
                <a:latin typeface="Arial" panose="020B0604020202090204" pitchFamily="34" charset="0"/>
              </a:endParaRPr>
            </a:p>
            <a:p>
              <a:pPr fontAlgn="auto">
                <a:lnSpc>
                  <a:spcPct val="150000"/>
                </a:lnSpc>
              </a:pPr>
              <a:r>
                <a:rPr lang="zh-CN" altLang="en-US" sz="2400" dirty="0">
                  <a:latin typeface="Arial" panose="020B0604020202090204" pitchFamily="34" charset="0"/>
                </a:rPr>
                <a:t>在多元正态随机变量也有类似的样本分布。</a:t>
              </a:r>
              <a:endParaRPr lang="zh-CN" altLang="en-US" sz="2400" dirty="0">
                <a:latin typeface="Arial" panose="020B0604020202090204" pitchFamily="34" charset="0"/>
              </a:endParaRPr>
            </a:p>
            <a:p>
              <a:pPr fontAlgn="auto"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FF0000"/>
                  </a:solidFill>
                  <a:latin typeface="宋体" pitchFamily="2" charset="-122"/>
                </a:rPr>
                <a:t>维希特分布（</a:t>
              </a:r>
              <a:r>
                <a:rPr lang="en-US" altLang="zh-CN" sz="2400" b="1" dirty="0">
                  <a:solidFill>
                    <a:srgbClr val="FF0000"/>
                  </a:solidFill>
                  <a:latin typeface="宋体" pitchFamily="2" charset="-122"/>
                </a:rPr>
                <a:t>Wishart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 pitchFamily="2" charset="-122"/>
                </a:rPr>
                <a:t>）相当于一元统计中的   分布。</a:t>
              </a:r>
              <a:endParaRPr lang="zh-CN" altLang="en-US" sz="2400" b="1" dirty="0">
                <a:solidFill>
                  <a:srgbClr val="FF0000"/>
                </a:solidFill>
                <a:latin typeface="宋体" pitchFamily="2" charset="-122"/>
              </a:endParaRPr>
            </a:p>
            <a:p>
              <a:pPr fontAlgn="auto">
                <a:lnSpc>
                  <a:spcPct val="150000"/>
                </a:lnSpc>
              </a:pPr>
              <a:r>
                <a:rPr lang="en-US" altLang="zh-CN" sz="2400" dirty="0">
                  <a:latin typeface="Tahoma" panose="020B0604030504040204" pitchFamily="34" charset="0"/>
                </a:rPr>
                <a:t>1928</a:t>
              </a:r>
              <a:r>
                <a:rPr lang="zh-CN" altLang="en-US" sz="2400" dirty="0">
                  <a:latin typeface="Tahoma" panose="020B0604030504040204" pitchFamily="34" charset="0"/>
                </a:rPr>
                <a:t>年由</a:t>
              </a:r>
              <a:r>
                <a:rPr lang="en-US" altLang="zh-CN" sz="2400" dirty="0">
                  <a:latin typeface="Tahoma" panose="020B0604030504040204" pitchFamily="34" charset="0"/>
                </a:rPr>
                <a:t>Wishart</a:t>
              </a:r>
              <a:r>
                <a:rPr lang="zh-CN" altLang="en-US" sz="2400" dirty="0">
                  <a:latin typeface="Tahoma" panose="020B0604030504040204" pitchFamily="34" charset="0"/>
                </a:rPr>
                <a:t>推导出来的。</a:t>
              </a:r>
              <a:endParaRPr lang="zh-CN" altLang="en-US" sz="2400" dirty="0">
                <a:solidFill>
                  <a:srgbClr val="000000"/>
                </a:solidFill>
                <a:latin typeface="宋体" pitchFamily="2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2400" dirty="0">
                  <a:latin typeface="Arial" panose="020B0604020202090204" pitchFamily="34" charset="0"/>
                </a:rPr>
                <a:t> </a:t>
              </a:r>
              <a:endParaRPr lang="zh-CN" altLang="en-US" sz="2400" dirty="0">
                <a:latin typeface="Arial" panose="020B0604020202090204" pitchFamily="34" charset="0"/>
              </a:endParaRPr>
            </a:p>
          </p:txBody>
        </p:sp>
        <p:graphicFrame>
          <p:nvGraphicFramePr>
            <p:cNvPr id="35844" name="Object 1024"/>
            <p:cNvGraphicFramePr/>
            <p:nvPr/>
          </p:nvGraphicFramePr>
          <p:xfrm>
            <a:off x="4250" y="1632"/>
            <a:ext cx="373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" name="" r:id="rId1" imgW="355600" imgH="393065" progId="Equation.3">
                    <p:embed/>
                  </p:oleObj>
                </mc:Choice>
                <mc:Fallback>
                  <p:oleObj name="" r:id="rId1" imgW="355600" imgH="393065" progId="Equation.3">
                    <p:embed/>
                    <p:pic>
                      <p:nvPicPr>
                        <p:cNvPr id="0" name="图片 3212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250" y="1632"/>
                          <a:ext cx="373" cy="24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45" name="Object 1025"/>
            <p:cNvGraphicFramePr/>
            <p:nvPr/>
          </p:nvGraphicFramePr>
          <p:xfrm>
            <a:off x="4250" y="2084"/>
            <a:ext cx="224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" r:id="rId3" imgW="355600" imgH="393065" progId="Equation.3">
                    <p:embed/>
                  </p:oleObj>
                </mc:Choice>
                <mc:Fallback>
                  <p:oleObj name="" r:id="rId3" imgW="355600" imgH="393065" progId="Equation.3">
                    <p:embed/>
                    <p:pic>
                      <p:nvPicPr>
                        <p:cNvPr id="0" name="图片 3216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250" y="2084"/>
                          <a:ext cx="224" cy="2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5846" name="Rectangle 1030"/>
          <p:cNvSpPr/>
          <p:nvPr/>
        </p:nvSpPr>
        <p:spPr>
          <a:xfrm>
            <a:off x="2943225" y="740411"/>
            <a:ext cx="5889754" cy="646331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latin typeface="Tahoma" panose="020B0604030504040204" pitchFamily="34" charset="0"/>
              </a:rPr>
              <a:t>一、维希特（</a:t>
            </a:r>
            <a:r>
              <a:rPr lang="en-US" altLang="zh-CN" sz="3600" dirty="0">
                <a:solidFill>
                  <a:schemeClr val="tx2"/>
                </a:solidFill>
                <a:latin typeface="Tahoma" panose="020B0604030504040204" pitchFamily="34" charset="0"/>
              </a:rPr>
              <a:t>Wishart</a:t>
            </a:r>
            <a:r>
              <a:rPr lang="zh-CN" altLang="en-US" sz="3600" dirty="0">
                <a:solidFill>
                  <a:schemeClr val="tx2"/>
                </a:solidFill>
                <a:latin typeface="Tahoma" panose="020B0604030504040204" pitchFamily="34" charset="0"/>
              </a:rPr>
              <a:t>）分布</a:t>
            </a:r>
            <a:endParaRPr lang="zh-CN" altLang="en-US" sz="3600" dirty="0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68580" tIns="34290" rIns="68580" bIns="34290" rtlCol="0" anchor="b">
            <a:no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algn="r"/>
            <a:fld id="{9A0DB2DC-4C9A-4742-B13C-FB6460FD3503}" type="slidenum">
              <a:rPr lang="zh-CN" altLang="en-US" sz="1200" dirty="0">
                <a:latin typeface="+mn-ea"/>
                <a:ea typeface="+mn-ea"/>
              </a:rPr>
            </a:fld>
            <a:endParaRPr lang="zh-CN" altLang="en-US" sz="1200" dirty="0">
              <a:latin typeface="+mn-ea"/>
              <a:ea typeface="+mn-ea"/>
            </a:endParaRPr>
          </a:p>
        </p:txBody>
      </p:sp>
      <p:sp>
        <p:nvSpPr>
          <p:cNvPr id="36867" name="Rectangle 3"/>
          <p:cNvSpPr/>
          <p:nvPr/>
        </p:nvSpPr>
        <p:spPr>
          <a:xfrm>
            <a:off x="2279650" y="445136"/>
            <a:ext cx="6858000" cy="460375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r>
              <a:rPr lang="zh-CN" altLang="en-US" sz="2400" b="1" dirty="0">
                <a:latin typeface="+mn-ea"/>
                <a:cs typeface="+mn-ea"/>
              </a:rPr>
              <a:t>     定义  维希特（</a:t>
            </a:r>
            <a:r>
              <a:rPr lang="en-US" altLang="zh-CN" sz="2400" b="1" dirty="0">
                <a:latin typeface="+mn-ea"/>
                <a:cs typeface="+mn-ea"/>
              </a:rPr>
              <a:t>Wishart</a:t>
            </a:r>
            <a:r>
              <a:rPr lang="zh-CN" altLang="en-US" sz="2400" b="1" dirty="0">
                <a:latin typeface="+mn-ea"/>
                <a:cs typeface="+mn-ea"/>
              </a:rPr>
              <a:t>）分布的统计量</a:t>
            </a:r>
            <a:endParaRPr lang="zh-CN" altLang="en-US" sz="2400" dirty="0">
              <a:latin typeface="+mn-ea"/>
              <a:cs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611756" y="1177926"/>
            <a:ext cx="6911975" cy="528955"/>
            <a:chOff x="3671" y="2967"/>
            <a:chExt cx="10885" cy="833"/>
          </a:xfrm>
        </p:grpSpPr>
        <p:sp>
          <p:nvSpPr>
            <p:cNvPr id="36869" name="Rectangle 5"/>
            <p:cNvSpPr/>
            <p:nvPr/>
          </p:nvSpPr>
          <p:spPr>
            <a:xfrm>
              <a:off x="3671" y="2970"/>
              <a:ext cx="4228" cy="72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anchor="t">
              <a:spAutoFit/>
            </a:bodyPr>
            <a:lstStyle/>
            <a:p>
              <a:r>
                <a:rPr lang="zh-CN" altLang="en-US" sz="2400" dirty="0">
                  <a:latin typeface="+mn-ea"/>
                  <a:cs typeface="+mn-ea"/>
                </a:rPr>
                <a:t>设  个随机向量 </a:t>
              </a:r>
              <a:endParaRPr lang="zh-CN" altLang="en-US" sz="2400" dirty="0">
                <a:latin typeface="+mn-ea"/>
                <a:cs typeface="+mn-ea"/>
              </a:endParaRPr>
            </a:p>
          </p:txBody>
        </p:sp>
        <p:graphicFrame>
          <p:nvGraphicFramePr>
            <p:cNvPr id="36870" name="Object 5"/>
            <p:cNvGraphicFramePr/>
            <p:nvPr/>
          </p:nvGraphicFramePr>
          <p:xfrm>
            <a:off x="4341" y="3090"/>
            <a:ext cx="718" cy="4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" name="" r:id="rId1" imgW="190500" imgH="203200" progId="Equation.3">
                    <p:embed/>
                  </p:oleObj>
                </mc:Choice>
                <mc:Fallback>
                  <p:oleObj name="" r:id="rId1" imgW="190500" imgH="203200" progId="Equation.3">
                    <p:embed/>
                    <p:pic>
                      <p:nvPicPr>
                        <p:cNvPr id="0" name="图片 3213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341" y="3090"/>
                          <a:ext cx="718" cy="48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71" name="Object 6"/>
            <p:cNvGraphicFramePr/>
            <p:nvPr/>
          </p:nvGraphicFramePr>
          <p:xfrm>
            <a:off x="7189" y="2967"/>
            <a:ext cx="7367" cy="8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" r:id="rId3" imgW="2413000" imgH="241300" progId="Equation.3">
                    <p:embed/>
                  </p:oleObj>
                </mc:Choice>
                <mc:Fallback>
                  <p:oleObj name="" r:id="rId3" imgW="2413000" imgH="241300" progId="Equation.3">
                    <p:embed/>
                    <p:pic>
                      <p:nvPicPr>
                        <p:cNvPr id="0" name="图片 3214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189" y="2967"/>
                          <a:ext cx="7367" cy="83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6873" name="Object 0"/>
          <p:cNvGraphicFramePr/>
          <p:nvPr/>
        </p:nvGraphicFramePr>
        <p:xfrm>
          <a:off x="2889886" y="1708786"/>
          <a:ext cx="4943475" cy="192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4940300" imgH="1905000" progId="Equation.3">
                  <p:embed/>
                </p:oleObj>
              </mc:Choice>
              <mc:Fallback>
                <p:oleObj name="" r:id="rId5" imgW="4940300" imgH="1905000" progId="Equation.3">
                  <p:embed/>
                  <p:pic>
                    <p:nvPicPr>
                      <p:cNvPr id="0" name="图片 322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89886" y="1708786"/>
                        <a:ext cx="4943475" cy="1927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2697480" y="4469130"/>
            <a:ext cx="5609590" cy="1319530"/>
            <a:chOff x="720" y="7332"/>
            <a:chExt cx="8834" cy="2078"/>
          </a:xfrm>
        </p:grpSpPr>
        <p:sp>
          <p:nvSpPr>
            <p:cNvPr id="36877" name="Rectangle 13"/>
            <p:cNvSpPr/>
            <p:nvPr/>
          </p:nvSpPr>
          <p:spPr>
            <a:xfrm>
              <a:off x="720" y="7332"/>
              <a:ext cx="8834" cy="17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anchor="t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2400" dirty="0">
                  <a:latin typeface="+mn-ea"/>
                  <a:cs typeface="+mn-ea"/>
                </a:rPr>
                <a:t>服从自由度为  的非中心维希特分布，</a:t>
              </a:r>
              <a:endParaRPr lang="zh-CN" altLang="en-US" sz="2400" dirty="0">
                <a:latin typeface="+mn-ea"/>
                <a:cs typeface="+mn-ea"/>
              </a:endParaRPr>
            </a:p>
            <a:p>
              <a:pPr algn="just">
                <a:lnSpc>
                  <a:spcPct val="150000"/>
                </a:lnSpc>
              </a:pPr>
              <a:r>
                <a:rPr lang="zh-CN" altLang="en-US" sz="2400" dirty="0">
                  <a:latin typeface="+mn-ea"/>
                  <a:cs typeface="+mn-ea"/>
                  <a:sym typeface="+mn-ea"/>
                </a:rPr>
                <a:t>记为</a:t>
              </a:r>
              <a:r>
                <a:rPr lang="zh-CN" altLang="en-US" sz="2400" dirty="0">
                  <a:latin typeface="+mn-ea"/>
                  <a:cs typeface="+mn-ea"/>
                </a:rPr>
                <a:t>                。</a:t>
              </a:r>
              <a:endParaRPr lang="zh-CN" altLang="en-US" sz="2400" dirty="0">
                <a:latin typeface="+mn-ea"/>
                <a:cs typeface="+mn-ea"/>
              </a:endParaRPr>
            </a:p>
          </p:txBody>
        </p:sp>
        <p:graphicFrame>
          <p:nvGraphicFramePr>
            <p:cNvPr id="36878" name="Object 3"/>
            <p:cNvGraphicFramePr/>
            <p:nvPr/>
          </p:nvGraphicFramePr>
          <p:xfrm>
            <a:off x="3747" y="7767"/>
            <a:ext cx="684" cy="4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" name="" r:id="rId7" imgW="190500" imgH="203200" progId="Equation.3">
                    <p:embed/>
                  </p:oleObj>
                </mc:Choice>
                <mc:Fallback>
                  <p:oleObj name="" r:id="rId7" imgW="190500" imgH="203200" progId="Equation.3">
                    <p:embed/>
                    <p:pic>
                      <p:nvPicPr>
                        <p:cNvPr id="0" name="图片 3105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747" y="7767"/>
                          <a:ext cx="684" cy="45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79" name="Object 4"/>
            <p:cNvGraphicFramePr/>
            <p:nvPr/>
          </p:nvGraphicFramePr>
          <p:xfrm>
            <a:off x="1900" y="8362"/>
            <a:ext cx="3842" cy="10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" name="" r:id="rId8" imgW="1016000" imgH="241300" progId="Equation.3">
                    <p:embed/>
                  </p:oleObj>
                </mc:Choice>
                <mc:Fallback>
                  <p:oleObj name="" r:id="rId8" imgW="1016000" imgH="241300" progId="Equation.3">
                    <p:embed/>
                    <p:pic>
                      <p:nvPicPr>
                        <p:cNvPr id="0" name="图片 3106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1900" y="8362"/>
                          <a:ext cx="3842" cy="1048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组合 7"/>
          <p:cNvGrpSpPr/>
          <p:nvPr/>
        </p:nvGrpSpPr>
        <p:grpSpPr>
          <a:xfrm>
            <a:off x="2391411" y="3636010"/>
            <a:ext cx="6895465" cy="1076960"/>
            <a:chOff x="-155" y="5823"/>
            <a:chExt cx="10859" cy="1696"/>
          </a:xfrm>
        </p:grpSpPr>
        <p:sp>
          <p:nvSpPr>
            <p:cNvPr id="36874" name="Rectangle 10"/>
            <p:cNvSpPr/>
            <p:nvPr/>
          </p:nvSpPr>
          <p:spPr>
            <a:xfrm>
              <a:off x="-155" y="6308"/>
              <a:ext cx="9354" cy="72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anchor="t">
              <a:spAutoFit/>
            </a:bodyPr>
            <a:lstStyle/>
            <a:p>
              <a:r>
                <a:rPr lang="zh-CN" altLang="en-US" sz="2400" dirty="0">
                  <a:latin typeface="+mn-ea"/>
                  <a:cs typeface="+mn-ea"/>
                </a:rPr>
                <a:t>  独立同分布于           ，则</a:t>
              </a:r>
              <a:endParaRPr lang="zh-CN" altLang="en-US" sz="2400" dirty="0">
                <a:latin typeface="+mn-ea"/>
                <a:cs typeface="+mn-ea"/>
              </a:endParaRPr>
            </a:p>
          </p:txBody>
        </p:sp>
        <p:graphicFrame>
          <p:nvGraphicFramePr>
            <p:cNvPr id="36875" name="Object 1"/>
            <p:cNvGraphicFramePr/>
            <p:nvPr/>
          </p:nvGraphicFramePr>
          <p:xfrm>
            <a:off x="3469" y="6333"/>
            <a:ext cx="2567" cy="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" name="" r:id="rId10" imgW="1117600" imgH="419100" progId="Equation.3">
                    <p:embed/>
                  </p:oleObj>
                </mc:Choice>
                <mc:Fallback>
                  <p:oleObj name="" r:id="rId10" imgW="1117600" imgH="419100" progId="Equation.3">
                    <p:embed/>
                    <p:pic>
                      <p:nvPicPr>
                        <p:cNvPr id="0" name="图片 3107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3469" y="6333"/>
                          <a:ext cx="2567" cy="8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3234" name="Object 2"/>
            <p:cNvGraphicFramePr/>
            <p:nvPr/>
          </p:nvGraphicFramePr>
          <p:xfrm>
            <a:off x="7239" y="5823"/>
            <a:ext cx="3465" cy="16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" name="" r:id="rId12" imgW="977900" imgH="431800" progId="Equation.3">
                    <p:embed/>
                  </p:oleObj>
                </mc:Choice>
                <mc:Fallback>
                  <p:oleObj name="" r:id="rId12" imgW="977900" imgH="431800" progId="Equation.3">
                    <p:embed/>
                    <p:pic>
                      <p:nvPicPr>
                        <p:cNvPr id="0" name="图片 3110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7239" y="5823"/>
                          <a:ext cx="3465" cy="1696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484755" y="1783715"/>
            <a:ext cx="7047230" cy="547370"/>
            <a:chOff x="1842" y="2367"/>
            <a:chExt cx="11098" cy="862"/>
          </a:xfrm>
        </p:grpSpPr>
        <p:sp>
          <p:nvSpPr>
            <p:cNvPr id="36881" name="Text Box 17"/>
            <p:cNvSpPr txBox="1"/>
            <p:nvPr/>
          </p:nvSpPr>
          <p:spPr>
            <a:xfrm>
              <a:off x="1842" y="2367"/>
              <a:ext cx="10329" cy="7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latin typeface="+mn-ea"/>
                  <a:cs typeface="+mn-ea"/>
                </a:rPr>
                <a:t>当       时，称为中心维希特分布，记为</a:t>
              </a:r>
              <a:r>
                <a:rPr lang="en-US" altLang="zh-CN" sz="2400" dirty="0">
                  <a:latin typeface="+mn-ea"/>
                  <a:cs typeface="+mn-ea"/>
                </a:rPr>
                <a:t> </a:t>
              </a:r>
              <a:endParaRPr lang="en-US" altLang="zh-CN" sz="2400" dirty="0">
                <a:latin typeface="+mn-ea"/>
                <a:cs typeface="+mn-ea"/>
              </a:endParaRPr>
            </a:p>
          </p:txBody>
        </p:sp>
        <p:graphicFrame>
          <p:nvGraphicFramePr>
            <p:cNvPr id="2" name="对象 1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2491" y="2367"/>
            <a:ext cx="1576" cy="8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" name="" r:id="rId1" imgW="444500" imgH="228600" progId="Equation.KSEE3">
                    <p:embed/>
                  </p:oleObj>
                </mc:Choice>
                <mc:Fallback>
                  <p:oleObj name="" r:id="rId1" imgW="444500" imgH="228600" progId="Equation.KSEE3">
                    <p:embed/>
                    <p:pic>
                      <p:nvPicPr>
                        <p:cNvPr id="0" name="图片 3072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491" y="2367"/>
                          <a:ext cx="1576" cy="81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" name="对象 2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10944" y="2367"/>
            <a:ext cx="1996" cy="8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" r:id="rId3" imgW="558800" imgH="241300" progId="Equation.KSEE3">
                    <p:embed/>
                  </p:oleObj>
                </mc:Choice>
                <mc:Fallback>
                  <p:oleObj name="" r:id="rId3" imgW="558800" imgH="241300" progId="Equation.KSEE3">
                    <p:embed/>
                    <p:pic>
                      <p:nvPicPr>
                        <p:cNvPr id="0" name="图片 3073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0944" y="2367"/>
                          <a:ext cx="1996" cy="86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组合 12"/>
          <p:cNvGrpSpPr/>
          <p:nvPr/>
        </p:nvGrpSpPr>
        <p:grpSpPr>
          <a:xfrm>
            <a:off x="2484755" y="2732405"/>
            <a:ext cx="3556000" cy="554990"/>
            <a:chOff x="1513" y="4303"/>
            <a:chExt cx="5600" cy="874"/>
          </a:xfrm>
        </p:grpSpPr>
        <p:sp>
          <p:nvSpPr>
            <p:cNvPr id="7" name="文本框 6"/>
            <p:cNvSpPr txBox="1"/>
            <p:nvPr/>
          </p:nvSpPr>
          <p:spPr>
            <a:xfrm>
              <a:off x="1513" y="4453"/>
              <a:ext cx="5601" cy="72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sz="2400" dirty="0">
                  <a:latin typeface="+mn-ea"/>
                  <a:cs typeface="+mn-ea"/>
                  <a:sym typeface="+mn-ea"/>
                </a:rPr>
                <a:t>当              时，</a:t>
              </a:r>
              <a:endParaRPr lang="zh-CN" altLang="en-US" sz="2400" dirty="0">
                <a:latin typeface="+mn-ea"/>
                <a:cs typeface="+mn-ea"/>
                <a:sym typeface="+mn-ea"/>
              </a:endParaRPr>
            </a:p>
          </p:txBody>
        </p:sp>
        <p:graphicFrame>
          <p:nvGraphicFramePr>
            <p:cNvPr id="8" name="对象 7"/>
            <p:cNvGraphicFramePr/>
            <p:nvPr/>
          </p:nvGraphicFramePr>
          <p:xfrm>
            <a:off x="2162" y="4303"/>
            <a:ext cx="3331" cy="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" name="" r:id="rId5" imgW="800100" imgH="228600" progId="Equation.KSEE3">
                    <p:embed/>
                  </p:oleObj>
                </mc:Choice>
                <mc:Fallback>
                  <p:oleObj name="" r:id="rId5" imgW="800100" imgH="228600" progId="Equation.KSEE3">
                    <p:embed/>
                    <p:pic>
                      <p:nvPicPr>
                        <p:cNvPr id="0" name="图片 5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162" y="4303"/>
                          <a:ext cx="3331" cy="8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23234" name="Object 2"/>
          <p:cNvGraphicFramePr/>
          <p:nvPr/>
        </p:nvGraphicFramePr>
        <p:xfrm>
          <a:off x="2484756" y="3539490"/>
          <a:ext cx="3601085" cy="1076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7" imgW="1600200" imgH="431800" progId="Equation.3">
                  <p:embed/>
                </p:oleObj>
              </mc:Choice>
              <mc:Fallback>
                <p:oleObj name="" r:id="rId7" imgW="1600200" imgH="431800" progId="Equation.3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484756" y="3539490"/>
                        <a:ext cx="3601085" cy="107696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/>
          <p:nvPr/>
        </p:nvGraphicFramePr>
        <p:xfrm>
          <a:off x="6545263" y="3540125"/>
          <a:ext cx="3282950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9" imgW="25908000" imgH="10363200" progId="Equation.DSMT4">
                  <p:embed/>
                </p:oleObj>
              </mc:Choice>
              <mc:Fallback>
                <p:oleObj name="Equation" r:id="rId9" imgW="25908000" imgH="10363200" progId="Equation.DSMT4">
                  <p:embed/>
                  <p:pic>
                    <p:nvPicPr>
                      <p:cNvPr id="0" name="图片 1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545263" y="3540125"/>
                        <a:ext cx="3282950" cy="107632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2484755" y="4981575"/>
            <a:ext cx="7407910" cy="111376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400" dirty="0">
                <a:latin typeface="+mn-ea"/>
                <a:cs typeface="+mn-ea"/>
                <a:sym typeface="+mn-ea"/>
              </a:rPr>
              <a:t>因此，维希特分布是一元卡方分布在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p</a:t>
            </a:r>
            <a:r>
              <a:rPr lang="zh-CN" altLang="en-US" sz="2400" dirty="0">
                <a:latin typeface="+mn-ea"/>
                <a:cs typeface="+mn-ea"/>
                <a:sym typeface="+mn-ea"/>
              </a:rPr>
              <a:t>维正态情况下的推广。</a:t>
            </a:r>
            <a:endParaRPr lang="zh-CN" altLang="en-US" sz="2400" dirty="0">
              <a:latin typeface="+mn-ea"/>
              <a:cs typeface="+mn-ea"/>
              <a:sym typeface="+mn-ea"/>
            </a:endParaRPr>
          </a:p>
        </p:txBody>
      </p:sp>
      <p:graphicFrame>
        <p:nvGraphicFramePr>
          <p:cNvPr id="15" name="对象 14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531745" y="492444"/>
          <a:ext cx="7039610" cy="9480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" r:id="rId11" imgW="3213100" imgH="431800" progId="Equation.KSEE3">
                  <p:embed/>
                </p:oleObj>
              </mc:Choice>
              <mc:Fallback>
                <p:oleObj name="" r:id="rId11" imgW="3213100" imgH="431800" progId="Equation.KSEE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531745" y="492444"/>
                        <a:ext cx="7039610" cy="9480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/>
          </p:cNvSpPr>
          <p:nvPr>
            <p:ph type="title"/>
          </p:nvPr>
        </p:nvSpPr>
        <p:spPr>
          <a:xfrm>
            <a:off x="3082291" y="483871"/>
            <a:ext cx="5755005" cy="644525"/>
          </a:xfrm>
        </p:spPr>
        <p:txBody>
          <a:bodyPr vert="horz" wrap="square" lIns="68580" tIns="34290" rIns="68580" bIns="34290" rtlCol="0" anchor="b">
            <a:noAutofit/>
          </a:bodyPr>
          <a:lstStyle/>
          <a:p>
            <a:pPr eaLnBrk="1" hangingPunct="1"/>
            <a:r>
              <a:rPr lang="zh-CN" altLang="en-US" sz="3200" dirty="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维希特</a:t>
            </a:r>
            <a:r>
              <a:rPr lang="en-US" altLang="zh-CN" sz="3200" dirty="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(Wishart)</a:t>
            </a:r>
            <a:r>
              <a:rPr lang="zh-CN" altLang="en-US" sz="3200" dirty="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分布的性质： </a:t>
            </a:r>
            <a:endParaRPr lang="zh-CN" altLang="en-US" sz="3200" dirty="0">
              <a:solidFill>
                <a:srgbClr val="FF0000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38915" name="Rectangle 3"/>
          <p:cNvSpPr>
            <a:spLocks noGrp="1"/>
          </p:cNvSpPr>
          <p:nvPr>
            <p:ph idx="1"/>
          </p:nvPr>
        </p:nvSpPr>
        <p:spPr>
          <a:xfrm>
            <a:off x="2312035" y="1477646"/>
            <a:ext cx="7664450" cy="1743075"/>
          </a:xfrm>
        </p:spPr>
        <p:txBody>
          <a:bodyPr vert="horz" wrap="square" lIns="68580" tIns="34290" rIns="68580" bIns="34290" rtlCol="0" anchor="t">
            <a:noAutofit/>
          </a:bodyPr>
          <a:lstStyle/>
          <a:p>
            <a:pPr fontAlgn="auto">
              <a:lnSpc>
                <a:spcPct val="150000"/>
              </a:lnSpc>
              <a:buNone/>
            </a:pPr>
            <a:r>
              <a:rPr lang="zh-CN" altLang="en-US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（</a:t>
            </a:r>
            <a:r>
              <a:rPr lang="en-US" altLang="zh-CN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zh-CN" altLang="en-US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）若</a:t>
            </a:r>
            <a:r>
              <a:rPr lang="en-US" altLang="zh-CN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en-US" altLang="zh-CN" baseline="-250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zh-CN" altLang="en-US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和</a:t>
            </a:r>
            <a:r>
              <a:rPr lang="en-US" altLang="zh-CN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en-US" altLang="zh-CN" baseline="-250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en-US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独立，其分布分别为                   </a:t>
            </a:r>
            <a:endParaRPr lang="zh-CN" altLang="en-US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  <a:buNone/>
            </a:pPr>
            <a:r>
              <a:rPr lang="zh-CN" altLang="en-US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则               的分布为                          即维希特</a:t>
            </a:r>
            <a:r>
              <a:rPr lang="en-US" altLang="zh-CN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(Wishart)</a:t>
            </a:r>
            <a:r>
              <a:rPr lang="zh-CN" altLang="en-US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分布有</a:t>
            </a:r>
            <a:r>
              <a:rPr lang="zh-CN" altLang="en-US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可加性</a:t>
            </a:r>
            <a:r>
              <a:rPr lang="zh-CN" altLang="en-US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  <a:endParaRPr lang="zh-CN" altLang="en-US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1" hangingPunct="1">
              <a:lnSpc>
                <a:spcPct val="140000"/>
              </a:lnSpc>
              <a:buNone/>
            </a:pPr>
            <a:endParaRPr lang="zh-CN" altLang="en-US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891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68580" tIns="34290" rIns="68580" bIns="34290" rtlCol="0" anchor="b">
            <a:norm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algn="r"/>
            <a:fld id="{9A0DB2DC-4C9A-4742-B13C-FB6460FD3503}" type="slidenum">
              <a:rPr lang="zh-CN" altLang="en-US" sz="1050" dirty="0"/>
            </a:fld>
            <a:endParaRPr lang="zh-CN" altLang="en-US" sz="1050" dirty="0"/>
          </a:p>
        </p:txBody>
      </p:sp>
      <p:graphicFrame>
        <p:nvGraphicFramePr>
          <p:cNvPr id="38917" name="Object 0"/>
          <p:cNvGraphicFramePr/>
          <p:nvPr/>
        </p:nvGraphicFramePr>
        <p:xfrm>
          <a:off x="7349855" y="1602741"/>
          <a:ext cx="1261745" cy="4908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1" imgW="634365" imgH="241300" progId="Equation.3">
                  <p:embed/>
                </p:oleObj>
              </mc:Choice>
              <mc:Fallback>
                <p:oleObj name="" r:id="rId1" imgW="634365" imgH="241300" progId="Equation.3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349855" y="1602741"/>
                        <a:ext cx="1261745" cy="4908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1" name="Object 2"/>
          <p:cNvGraphicFramePr/>
          <p:nvPr/>
        </p:nvGraphicFramePr>
        <p:xfrm>
          <a:off x="2782744" y="2303889"/>
          <a:ext cx="1150620" cy="414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965200" imgH="368300" progId="Equation.3">
                  <p:embed/>
                </p:oleObj>
              </mc:Choice>
              <mc:Fallback>
                <p:oleObj name="" r:id="rId3" imgW="965200" imgH="368300" progId="Equation.3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82744" y="2303889"/>
                        <a:ext cx="1150620" cy="41402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924" name="Group 12"/>
          <p:cNvGrpSpPr/>
          <p:nvPr/>
        </p:nvGrpSpPr>
        <p:grpSpPr>
          <a:xfrm>
            <a:off x="2432807" y="3945257"/>
            <a:ext cx="7737532" cy="1129955"/>
            <a:chOff x="270" y="2531"/>
            <a:chExt cx="5314" cy="949"/>
          </a:xfrm>
        </p:grpSpPr>
        <p:sp>
          <p:nvSpPr>
            <p:cNvPr id="38925" name="Rectangle 13"/>
            <p:cNvSpPr/>
            <p:nvPr/>
          </p:nvSpPr>
          <p:spPr>
            <a:xfrm>
              <a:off x="270" y="2531"/>
              <a:ext cx="5040" cy="94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anchor="t">
              <a:spAutoFit/>
            </a:bodyPr>
            <a:lstStyle/>
            <a:p>
              <a:pPr fontAlgn="auto">
                <a:lnSpc>
                  <a:spcPct val="150000"/>
                </a:lnSpc>
              </a:pPr>
              <a:r>
                <a:rPr lang="zh-CN" altLang="en-US" sz="2400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（</a:t>
              </a:r>
              <a:r>
                <a:rPr lang="en-US" altLang="zh-CN" sz="2400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2</a:t>
              </a:r>
              <a:r>
                <a:rPr lang="zh-CN" altLang="en-US" sz="2400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）                           ，</a:t>
              </a:r>
              <a:r>
                <a:rPr lang="en-US" altLang="zh-CN" sz="2400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C</a:t>
              </a:r>
              <a:r>
                <a:rPr lang="zh-CN" altLang="en-US" sz="2400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为</a:t>
              </a:r>
              <a:r>
                <a:rPr lang="en-US" altLang="zh-CN" sz="2400" i="1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m</a:t>
              </a:r>
              <a:r>
                <a:rPr lang="en-US" altLang="zh-CN" sz="2400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×</a:t>
              </a:r>
              <a:r>
                <a:rPr lang="en-US" altLang="zh-CN" sz="2400" i="1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p</a:t>
              </a:r>
              <a:r>
                <a:rPr lang="zh-CN" altLang="en-US" sz="2400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阶的矩阵，    则        的分布为                        分布。</a:t>
              </a:r>
              <a:endParaRPr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graphicFrame>
          <p:nvGraphicFramePr>
            <p:cNvPr id="38926" name="Object 5"/>
            <p:cNvGraphicFramePr/>
            <p:nvPr/>
          </p:nvGraphicFramePr>
          <p:xfrm>
            <a:off x="791" y="2641"/>
            <a:ext cx="1510" cy="4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" r:id="rId5" imgW="838200" imgH="241300" progId="Equation.3">
                    <p:embed/>
                  </p:oleObj>
                </mc:Choice>
                <mc:Fallback>
                  <p:oleObj name="" r:id="rId5" imgW="838200" imgH="241300" progId="Equation.3">
                    <p:embed/>
                    <p:pic>
                      <p:nvPicPr>
                        <p:cNvPr id="0" name="图片 3132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791" y="2641"/>
                          <a:ext cx="1510" cy="47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27" name="Object 6"/>
            <p:cNvGraphicFramePr/>
            <p:nvPr/>
          </p:nvGraphicFramePr>
          <p:xfrm>
            <a:off x="4780" y="2687"/>
            <a:ext cx="804" cy="2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" r:id="rId7" imgW="862965" imgH="330200" progId="Equation.3">
                    <p:embed/>
                  </p:oleObj>
                </mc:Choice>
                <mc:Fallback>
                  <p:oleObj name="" r:id="rId7" imgW="862965" imgH="330200" progId="Equation.3">
                    <p:embed/>
                    <p:pic>
                      <p:nvPicPr>
                        <p:cNvPr id="0" name="图片 3125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780" y="2687"/>
                          <a:ext cx="804" cy="26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8928" name="Object 4"/>
          <p:cNvGraphicFramePr/>
          <p:nvPr/>
        </p:nvGraphicFramePr>
        <p:xfrm>
          <a:off x="3657600" y="4581093"/>
          <a:ext cx="198120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9" imgW="812800" imgH="228600" progId="Equation.3">
                  <p:embed/>
                </p:oleObj>
              </mc:Choice>
              <mc:Fallback>
                <p:oleObj name="" r:id="rId9" imgW="812800" imgH="228600" progId="Equation.3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657600" y="4581093"/>
                        <a:ext cx="1981200" cy="552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0"/>
          <p:cNvGraphicFramePr/>
          <p:nvPr/>
        </p:nvGraphicFramePr>
        <p:xfrm>
          <a:off x="8682908" y="1642156"/>
          <a:ext cx="1238250" cy="4908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11" imgW="622300" imgH="241300" progId="Equation.3">
                  <p:embed/>
                </p:oleObj>
              </mc:Choice>
              <mc:Fallback>
                <p:oleObj name="" r:id="rId11" imgW="622300" imgH="241300" progId="Equation.3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682908" y="1642156"/>
                        <a:ext cx="1238250" cy="4908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0"/>
          <p:cNvGraphicFramePr/>
          <p:nvPr/>
        </p:nvGraphicFramePr>
        <p:xfrm>
          <a:off x="5215490" y="2207577"/>
          <a:ext cx="1894205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13" imgW="914400" imgH="241300" progId="Equation.3">
                  <p:embed/>
                </p:oleObj>
              </mc:Choice>
              <mc:Fallback>
                <p:oleObj name="" r:id="rId13" imgW="914400" imgH="241300" progId="Equation.3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215490" y="2207577"/>
                        <a:ext cx="1894205" cy="638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68580" tIns="34290" rIns="68580" bIns="34290" rtlCol="0" anchor="b">
            <a:norm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algn="r"/>
            <a:fld id="{9A0DB2DC-4C9A-4742-B13C-FB6460FD3503}" type="slidenum">
              <a:rPr lang="zh-CN" altLang="en-US" sz="1050" dirty="0"/>
            </a:fld>
            <a:endParaRPr lang="zh-CN" altLang="en-US" sz="1050" dirty="0"/>
          </a:p>
        </p:txBody>
      </p:sp>
      <p:sp>
        <p:nvSpPr>
          <p:cNvPr id="32771" name="Text Box 3"/>
          <p:cNvSpPr txBox="1"/>
          <p:nvPr/>
        </p:nvSpPr>
        <p:spPr>
          <a:xfrm>
            <a:off x="2040890" y="2005966"/>
            <a:ext cx="8110220" cy="359981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457200" indent="-457200">
              <a:lnSpc>
                <a:spcPct val="200000"/>
              </a:lnSpc>
            </a:pPr>
            <a:r>
              <a:rPr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设                        , 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400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400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en-US" altLang="zh-CN" sz="2400" dirty="0">
                <a:latin typeface="Times New Roman" panose="02020503050405090304" pitchFamily="18" charset="0"/>
                <a:ea typeface="Tahoma" panose="020B0604030504040204" pitchFamily="34" charset="0"/>
                <a:cs typeface="Times New Roman" panose="02020503050405090304" pitchFamily="18" charset="0"/>
              </a:rPr>
              <a:t>……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400" i="1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是来自总体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的样本，则有</a:t>
            </a:r>
            <a:endParaRPr lang="zh-CN" alt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indent="-457200">
              <a:lnSpc>
                <a:spcPct val="200000"/>
              </a:lnSpc>
            </a:pPr>
            <a:r>
              <a:rPr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（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）</a:t>
            </a:r>
            <a:endParaRPr lang="zh-CN" alt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indent="-457200">
              <a:lnSpc>
                <a:spcPct val="200000"/>
              </a:lnSpc>
            </a:pPr>
            <a:r>
              <a:rPr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（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）   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-1)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</a:t>
            </a:r>
            <a:r>
              <a:rPr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的分布为自由度为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-1</a:t>
            </a:r>
            <a:r>
              <a:rPr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的维希特分布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W</a:t>
            </a:r>
            <a:r>
              <a:rPr lang="en-US" altLang="zh-CN" sz="2400" i="1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-1, </a:t>
            </a:r>
            <a:r>
              <a:rPr lang="zh-CN" altLang="en-US" sz="2400" dirty="0">
                <a:latin typeface="Cambria Math" panose="02040503050406030204" pitchFamily="18" charset="0"/>
                <a:cs typeface="Times New Roman" panose="02020503050405090304" pitchFamily="18" charset="0"/>
              </a:rPr>
              <a:t>𝞢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；</a:t>
            </a:r>
            <a:endParaRPr lang="zh-CN" alt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indent="-457200">
              <a:lnSpc>
                <a:spcPct val="200000"/>
              </a:lnSpc>
            </a:pPr>
            <a:r>
              <a:rPr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（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3</a:t>
            </a:r>
            <a:r>
              <a:rPr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）                 是独立的。</a:t>
            </a:r>
            <a:endParaRPr lang="zh-CN" alt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indent="-457200">
              <a:lnSpc>
                <a:spcPct val="150000"/>
              </a:lnSpc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aphicFrame>
        <p:nvGraphicFramePr>
          <p:cNvPr id="32772" name="Object 1024"/>
          <p:cNvGraphicFramePr/>
          <p:nvPr/>
        </p:nvGraphicFramePr>
        <p:xfrm>
          <a:off x="2603500" y="2306955"/>
          <a:ext cx="1640840" cy="5245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1" imgW="876300" imgH="241300" progId="Equation.3">
                  <p:embed/>
                </p:oleObj>
              </mc:Choice>
              <mc:Fallback>
                <p:oleObj name="" r:id="rId1" imgW="876300" imgH="241300" progId="Equation.3">
                  <p:embed/>
                  <p:pic>
                    <p:nvPicPr>
                      <p:cNvPr id="0" name="图片 320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03500" y="2306955"/>
                        <a:ext cx="1640840" cy="5245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4045585" y="843281"/>
            <a:ext cx="3167380" cy="944245"/>
            <a:chOff x="2697" y="430"/>
            <a:chExt cx="4988" cy="1487"/>
          </a:xfrm>
        </p:grpSpPr>
        <p:sp>
          <p:nvSpPr>
            <p:cNvPr id="32770" name="Rectangle 2"/>
            <p:cNvSpPr/>
            <p:nvPr/>
          </p:nvSpPr>
          <p:spPr>
            <a:xfrm>
              <a:off x="3055" y="430"/>
              <a:ext cx="4631" cy="126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b"/>
            <a:lstStyle/>
            <a:p>
              <a:r>
                <a:rPr lang="zh-CN" altLang="en-US" sz="32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anose="020B0604030504040204" pitchFamily="34" charset="0"/>
                </a:rPr>
                <a:t>       抽样分布 </a:t>
              </a:r>
              <a:endPara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</a:endParaRPr>
            </a:p>
          </p:txBody>
        </p:sp>
        <p:graphicFrame>
          <p:nvGraphicFramePr>
            <p:cNvPr id="32773" name="Object 1025"/>
            <p:cNvGraphicFramePr/>
            <p:nvPr/>
          </p:nvGraphicFramePr>
          <p:xfrm>
            <a:off x="2697" y="599"/>
            <a:ext cx="1824" cy="1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" r:id="rId3" imgW="330200" imgH="228600" progId="Equation.3">
                    <p:embed/>
                  </p:oleObj>
                </mc:Choice>
                <mc:Fallback>
                  <p:oleObj name="" r:id="rId3" imgW="330200" imgH="228600" progId="Equation.3">
                    <p:embed/>
                    <p:pic>
                      <p:nvPicPr>
                        <p:cNvPr id="0" name="图片 3209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697" y="599"/>
                          <a:ext cx="1824" cy="131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2774" name="Object 1026"/>
          <p:cNvGraphicFramePr/>
          <p:nvPr/>
        </p:nvGraphicFramePr>
        <p:xfrm>
          <a:off x="3063241" y="2831148"/>
          <a:ext cx="2552065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901700" imgH="393700" progId="Equation.3">
                  <p:embed/>
                </p:oleObj>
              </mc:Choice>
              <mc:Fallback>
                <p:oleObj name="" r:id="rId5" imgW="901700" imgH="393700" progId="Equation.3">
                  <p:embed/>
                  <p:pic>
                    <p:nvPicPr>
                      <p:cNvPr id="0" name="图片 321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63241" y="2831148"/>
                        <a:ext cx="2552065" cy="1035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5" name="Object 1027"/>
          <p:cNvGraphicFramePr/>
          <p:nvPr/>
        </p:nvGraphicFramePr>
        <p:xfrm>
          <a:off x="2878682" y="4399980"/>
          <a:ext cx="1499870" cy="5289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7" imgW="393065" imgH="203200" progId="Equation.3">
                  <p:embed/>
                </p:oleObj>
              </mc:Choice>
              <mc:Fallback>
                <p:oleObj name="" r:id="rId7" imgW="393065" imgH="203200" progId="Equation.3">
                  <p:embed/>
                  <p:pic>
                    <p:nvPicPr>
                      <p:cNvPr id="0" name="图片 319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78682" y="4399980"/>
                        <a:ext cx="1499870" cy="5289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/>
          </p:cNvSpPr>
          <p:nvPr>
            <p:ph type="title"/>
          </p:nvPr>
        </p:nvSpPr>
        <p:spPr>
          <a:xfrm>
            <a:off x="2667000" y="492126"/>
            <a:ext cx="5455920" cy="730885"/>
          </a:xfrm>
        </p:spPr>
        <p:txBody>
          <a:bodyPr vert="horz" wrap="square" lIns="68580" tIns="34290" rIns="68580" bIns="34290" rtlCol="0" anchor="b">
            <a:normAutofit/>
          </a:bodyPr>
          <a:lstStyle/>
          <a:p>
            <a:pPr eaLnBrk="1" hangingPunct="1"/>
            <a:r>
              <a:rPr lang="zh-CN" altLang="en-US" sz="2700" dirty="0">
                <a:solidFill>
                  <a:schemeClr val="tx1"/>
                </a:solidFill>
              </a:rPr>
              <a:t>二、霍特林</a:t>
            </a:r>
            <a:r>
              <a:rPr lang="en-US" altLang="zh-CN" sz="2700" dirty="0">
                <a:solidFill>
                  <a:schemeClr val="tx1"/>
                </a:solidFill>
              </a:rPr>
              <a:t>Hotelling     </a:t>
            </a:r>
            <a:r>
              <a:rPr lang="zh-CN" altLang="en-US" sz="2700" dirty="0">
                <a:solidFill>
                  <a:schemeClr val="tx1"/>
                </a:solidFill>
              </a:rPr>
              <a:t>分布</a:t>
            </a:r>
            <a:endParaRPr lang="zh-CN" altLang="en-US" sz="2700" dirty="0">
              <a:solidFill>
                <a:schemeClr val="tx1"/>
              </a:solidFill>
            </a:endParaRPr>
          </a:p>
        </p:txBody>
      </p:sp>
      <p:sp>
        <p:nvSpPr>
          <p:cNvPr id="41987" name="Rectangle 3"/>
          <p:cNvSpPr>
            <a:spLocks noGrp="1"/>
          </p:cNvSpPr>
          <p:nvPr>
            <p:ph type="body" sz="half" idx="1"/>
          </p:nvPr>
        </p:nvSpPr>
        <p:spPr>
          <a:xfrm>
            <a:off x="2667001" y="2150745"/>
            <a:ext cx="7193915" cy="3086100"/>
          </a:xfrm>
        </p:spPr>
        <p:txBody>
          <a:bodyPr vert="horz" wrap="square" lIns="68580" tIns="34290" rIns="68580" bIns="34290" rtlCol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定义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设                           ，                          </a:t>
            </a:r>
            <a:endParaRPr lang="zh-CN" altLang="en-US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且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en-US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与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</a:t>
            </a:r>
            <a:r>
              <a:rPr lang="zh-CN" altLang="en-US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相互独立，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en-US" altLang="zh-CN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≥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zh-CN" altLang="en-US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，则称统计量</a:t>
            </a:r>
            <a:endParaRPr lang="zh-CN" altLang="en-US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zh-CN" altLang="en-US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的分布为非中心霍特林     分布，记为</a:t>
            </a:r>
            <a:endParaRPr lang="zh-CN" altLang="en-US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zh-CN" altLang="en-US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1985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68580" tIns="34290" rIns="68580" bIns="34290" rtlCol="0" anchor="b">
            <a:norm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algn="r"/>
            <a:fld id="{9A0DB2DC-4C9A-4742-B13C-FB6460FD3503}" type="slidenum">
              <a:rPr lang="zh-CN" altLang="en-US" sz="1050" dirty="0"/>
            </a:fld>
            <a:endParaRPr lang="zh-CN" altLang="en-US" sz="1050" dirty="0"/>
          </a:p>
        </p:txBody>
      </p:sp>
      <p:graphicFrame>
        <p:nvGraphicFramePr>
          <p:cNvPr id="41990" name="Object 4"/>
          <p:cNvGraphicFramePr/>
          <p:nvPr/>
        </p:nvGraphicFramePr>
        <p:xfrm>
          <a:off x="5867400" y="707709"/>
          <a:ext cx="457200" cy="4357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1" imgW="203200" imgH="190500" progId="Equation.3">
                  <p:embed/>
                </p:oleObj>
              </mc:Choice>
              <mc:Fallback>
                <p:oleObj name="" r:id="rId1" imgW="203200" imgH="190500" progId="Equation.3">
                  <p:embed/>
                  <p:pic>
                    <p:nvPicPr>
                      <p:cNvPr id="0" name="图片 314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867400" y="707709"/>
                        <a:ext cx="457200" cy="435769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2" name="Object 12"/>
          <p:cNvGraphicFramePr/>
          <p:nvPr/>
        </p:nvGraphicFramePr>
        <p:xfrm>
          <a:off x="3796030" y="2176780"/>
          <a:ext cx="2005330" cy="665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901700" imgH="241300" progId="Equation.DSMT4">
                  <p:embed/>
                </p:oleObj>
              </mc:Choice>
              <mc:Fallback>
                <p:oleObj name="" r:id="rId3" imgW="901700" imgH="241300" progId="Equation.DSMT4">
                  <p:embed/>
                  <p:pic>
                    <p:nvPicPr>
                      <p:cNvPr id="0" name="图片 314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96030" y="2176780"/>
                        <a:ext cx="2005330" cy="6654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4" name="Object 14"/>
          <p:cNvGraphicFramePr/>
          <p:nvPr/>
        </p:nvGraphicFramePr>
        <p:xfrm>
          <a:off x="5934061" y="2178050"/>
          <a:ext cx="2055812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5" imgW="21031200" imgH="5791200" progId="Equation.DSMT4">
                  <p:embed/>
                </p:oleObj>
              </mc:Choice>
              <mc:Fallback>
                <p:oleObj name="Equation" r:id="rId5" imgW="21031200" imgH="5791200" progId="Equation.DSMT4">
                  <p:embed/>
                  <p:pic>
                    <p:nvPicPr>
                      <p:cNvPr id="0" name="图片 314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934061" y="2178050"/>
                        <a:ext cx="2055812" cy="663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6" name="Object 16"/>
          <p:cNvGraphicFramePr/>
          <p:nvPr/>
        </p:nvGraphicFramePr>
        <p:xfrm>
          <a:off x="3951288" y="3524250"/>
          <a:ext cx="2557462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7" imgW="22555200" imgH="4876800" progId="Equation.DSMT4">
                  <p:embed/>
                </p:oleObj>
              </mc:Choice>
              <mc:Fallback>
                <p:oleObj name="Equation" r:id="rId7" imgW="22555200" imgH="4876800" progId="Equation.DSMT4">
                  <p:embed/>
                  <p:pic>
                    <p:nvPicPr>
                      <p:cNvPr id="0" name="图片 314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951288" y="3524250"/>
                        <a:ext cx="2557462" cy="581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7" name="Rectangle 23"/>
          <p:cNvSpPr/>
          <p:nvPr/>
        </p:nvSpPr>
        <p:spPr>
          <a:xfrm>
            <a:off x="2667001" y="2913200"/>
            <a:ext cx="184731" cy="300082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endParaRPr lang="zh-CN" altLang="en-US" sz="1350" dirty="0">
              <a:latin typeface="Tahoma" panose="020B0604030504040204" pitchFamily="34" charset="0"/>
            </a:endParaRPr>
          </a:p>
        </p:txBody>
      </p:sp>
      <p:graphicFrame>
        <p:nvGraphicFramePr>
          <p:cNvPr id="41998" name="Object 22"/>
          <p:cNvGraphicFramePr/>
          <p:nvPr/>
        </p:nvGraphicFramePr>
        <p:xfrm>
          <a:off x="4149091" y="4891406"/>
          <a:ext cx="2760345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9" imgW="1016000" imgH="228600" progId="Equation.DSMT4">
                  <p:embed/>
                </p:oleObj>
              </mc:Choice>
              <mc:Fallback>
                <p:oleObj name="" r:id="rId9" imgW="1016000" imgH="228600" progId="Equation.DSMT4">
                  <p:embed/>
                  <p:pic>
                    <p:nvPicPr>
                      <p:cNvPr id="0" name="图片 313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149091" y="4891406"/>
                        <a:ext cx="2760345" cy="600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2582545" y="1454786"/>
            <a:ext cx="74472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霍特林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Hotelling      </a:t>
            </a:r>
            <a:r>
              <a:rPr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分布是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</a:t>
            </a:r>
            <a:r>
              <a:rPr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分布在多维情况下的推广。</a:t>
            </a:r>
            <a:endParaRPr lang="zh-CN" altLang="en-US" sz="2400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Object 4"/>
              <p:cNvSpPr txBox="1"/>
              <p:nvPr/>
            </p:nvSpPr>
            <p:spPr>
              <a:xfrm>
                <a:off x="4821922" y="1454150"/>
                <a:ext cx="457200" cy="509269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zh-CN" alt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7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1922" y="1454150"/>
                <a:ext cx="457200" cy="509269"/>
              </a:xfrm>
              <a:prstGeom prst="rect">
                <a:avLst/>
              </a:prstGeom>
              <a:blipFill rotWithShape="1">
                <a:blip r:embed="rId11"/>
                <a:stretch>
                  <a:fillRect l="-80" r="80" b="124"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组合 7"/>
          <p:cNvGrpSpPr/>
          <p:nvPr/>
        </p:nvGrpSpPr>
        <p:grpSpPr>
          <a:xfrm>
            <a:off x="2526666" y="5522595"/>
            <a:ext cx="7474585" cy="1196340"/>
            <a:chOff x="1800" y="2608"/>
            <a:chExt cx="11771" cy="1884"/>
          </a:xfrm>
        </p:grpSpPr>
        <p:sp>
          <p:nvSpPr>
            <p:cNvPr id="39947" name="Rectangle 11"/>
            <p:cNvSpPr/>
            <p:nvPr/>
          </p:nvSpPr>
          <p:spPr>
            <a:xfrm>
              <a:off x="1800" y="2608"/>
              <a:ext cx="11621" cy="17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anchor="t">
              <a:spAutoFit/>
            </a:bodyPr>
            <a:lstStyle/>
            <a:p>
              <a:pPr algn="just" defTabSz="0">
                <a:lnSpc>
                  <a:spcPct val="150000"/>
                </a:lnSpc>
                <a:tabLst>
                  <a:tab pos="1066800" algn="l"/>
                </a:tabLst>
              </a:pPr>
              <a:r>
                <a:rPr lang="zh-CN" altLang="en-US" sz="2400" dirty="0">
                  <a:latin typeface="+mn-ea"/>
                  <a:cs typeface="+mn-ea"/>
                </a:rPr>
                <a:t>当      时，  </a:t>
              </a:r>
              <a:r>
                <a:rPr lang="zh-CN" altLang="en-US" sz="2400" dirty="0">
                  <a:latin typeface="+mn-ea"/>
                  <a:cs typeface="+mn-ea"/>
                  <a:sym typeface="+mn-ea"/>
                </a:rPr>
                <a:t> 服从自由度为</a:t>
              </a:r>
              <a:r>
                <a:rPr lang="en-US" altLang="zh-CN" sz="2400" i="1" dirty="0">
                  <a:latin typeface="Times New Roman" panose="02020503050405090304" pitchFamily="18" charset="0"/>
                  <a:cs typeface="Times New Roman" panose="02020503050405090304" pitchFamily="18" charset="0"/>
                  <a:sym typeface="+mn-ea"/>
                </a:rPr>
                <a:t>n</a:t>
              </a:r>
              <a:r>
                <a:rPr lang="zh-CN" altLang="en-US" sz="2400" dirty="0">
                  <a:latin typeface="+mn-ea"/>
                  <a:cs typeface="+mn-ea"/>
                  <a:sym typeface="+mn-ea"/>
                </a:rPr>
                <a:t>的中心霍特林分布，记为 </a:t>
              </a:r>
              <a:r>
                <a:rPr lang="zh-CN" altLang="en-US" sz="2400" dirty="0">
                  <a:latin typeface="+mn-ea"/>
                  <a:cs typeface="+mn-ea"/>
                </a:rPr>
                <a:t>               。</a:t>
              </a:r>
              <a:endParaRPr lang="zh-CN" altLang="en-US" sz="2400" dirty="0">
                <a:latin typeface="+mn-ea"/>
                <a:cs typeface="+mn-ea"/>
              </a:endParaRPr>
            </a:p>
          </p:txBody>
        </p:sp>
        <p:graphicFrame>
          <p:nvGraphicFramePr>
            <p:cNvPr id="39948" name="Object 4"/>
            <p:cNvGraphicFramePr/>
            <p:nvPr/>
          </p:nvGraphicFramePr>
          <p:xfrm>
            <a:off x="2543" y="2777"/>
            <a:ext cx="1246" cy="8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" name="" r:id="rId12" imgW="381000" imgH="203200" progId="Equation.3">
                    <p:embed/>
                  </p:oleObj>
                </mc:Choice>
                <mc:Fallback>
                  <p:oleObj name="" r:id="rId12" imgW="381000" imgH="203200" progId="Equation.3">
                    <p:embed/>
                    <p:pic>
                      <p:nvPicPr>
                        <p:cNvPr id="0" name="图片 3122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2543" y="2777"/>
                          <a:ext cx="1246" cy="8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49" name="Object 5"/>
            <p:cNvGraphicFramePr/>
            <p:nvPr/>
          </p:nvGraphicFramePr>
          <p:xfrm>
            <a:off x="4819" y="2704"/>
            <a:ext cx="680" cy="7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" name="" r:id="rId14" imgW="190500" imgH="190500" progId="Equation.3">
                    <p:embed/>
                  </p:oleObj>
                </mc:Choice>
                <mc:Fallback>
                  <p:oleObj name="" r:id="rId14" imgW="190500" imgH="190500" progId="Equation.3">
                    <p:embed/>
                    <p:pic>
                      <p:nvPicPr>
                        <p:cNvPr id="0" name="图片 3127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4819" y="2704"/>
                          <a:ext cx="680" cy="79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51" name="Object 7"/>
            <p:cNvGraphicFramePr/>
            <p:nvPr/>
          </p:nvGraphicFramePr>
          <p:xfrm>
            <a:off x="2879" y="3585"/>
            <a:ext cx="3820" cy="9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" name="" r:id="rId16" imgW="862965" imgH="228600" progId="Equation.3">
                    <p:embed/>
                  </p:oleObj>
                </mc:Choice>
                <mc:Fallback>
                  <p:oleObj name="" r:id="rId16" imgW="862965" imgH="228600" progId="Equation.3">
                    <p:embed/>
                    <p:pic>
                      <p:nvPicPr>
                        <p:cNvPr id="0" name="图片 3129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2879" y="3585"/>
                          <a:ext cx="3820" cy="90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52" name="Rectangle 16"/>
            <p:cNvSpPr/>
            <p:nvPr/>
          </p:nvSpPr>
          <p:spPr>
            <a:xfrm>
              <a:off x="5801" y="2860"/>
              <a:ext cx="7770" cy="72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anchor="t">
              <a:spAutoFit/>
            </a:bodyPr>
            <a:lstStyle/>
            <a:p>
              <a:endParaRPr lang="zh-CN" altLang="en-US" sz="2400" dirty="0">
                <a:latin typeface="+mn-ea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Object 4"/>
              <p:cNvSpPr txBox="1"/>
              <p:nvPr/>
            </p:nvSpPr>
            <p:spPr>
              <a:xfrm>
                <a:off x="5705461" y="4277996"/>
                <a:ext cx="457200" cy="509269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zh-CN" alt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13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5461" y="4277996"/>
                <a:ext cx="457200" cy="509269"/>
              </a:xfrm>
              <a:prstGeom prst="rect">
                <a:avLst/>
              </a:prstGeom>
              <a:blipFill rotWithShape="1">
                <a:blip r:embed="rId18"/>
                <a:stretch>
                  <a:fillRect l="-136" r="136"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59470" y="6323331"/>
            <a:ext cx="2057400" cy="365125"/>
          </a:xfrm>
        </p:spPr>
        <p:txBody>
          <a:bodyPr vert="horz" wrap="square" lIns="68580" tIns="34290" rIns="68580" bIns="34290" rtlCol="0" anchor="b">
            <a:no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algn="r"/>
            <a:fld id="{9A0DB2DC-4C9A-4742-B13C-FB6460FD3503}" type="slidenum">
              <a:rPr lang="zh-CN" altLang="en-US" sz="1200" dirty="0">
                <a:latin typeface="+mn-ea"/>
                <a:ea typeface="+mn-ea"/>
              </a:rPr>
            </a:fld>
            <a:endParaRPr lang="zh-CN" altLang="en-US" sz="1200" dirty="0">
              <a:latin typeface="+mn-ea"/>
              <a:ea typeface="+mn-ea"/>
            </a:endParaRPr>
          </a:p>
        </p:txBody>
      </p:sp>
      <p:sp>
        <p:nvSpPr>
          <p:cNvPr id="39939" name="Rectangle 3"/>
          <p:cNvSpPr/>
          <p:nvPr/>
        </p:nvSpPr>
        <p:spPr>
          <a:xfrm>
            <a:off x="5778104" y="3339704"/>
            <a:ext cx="6858000" cy="299085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endParaRPr lang="zh-CN" altLang="en-US" sz="1350" dirty="0">
              <a:latin typeface="Tahoma" panose="020B0604030504040204" pitchFamily="34" charset="0"/>
            </a:endParaRPr>
          </a:p>
        </p:txBody>
      </p:sp>
      <p:sp>
        <p:nvSpPr>
          <p:cNvPr id="39944" name="Rectangle 8"/>
          <p:cNvSpPr/>
          <p:nvPr/>
        </p:nvSpPr>
        <p:spPr>
          <a:xfrm>
            <a:off x="2270760" y="581660"/>
            <a:ext cx="2880360" cy="521970"/>
          </a:xfrm>
          <a:prstGeom prst="rect">
            <a:avLst/>
          </a:prstGeom>
          <a:noFill/>
          <a:ln w="12700">
            <a:noFill/>
          </a:ln>
        </p:spPr>
        <p:txBody>
          <a:bodyPr wrap="square" anchor="t">
            <a:spAutoFit/>
          </a:bodyPr>
          <a:lstStyle/>
          <a:p>
            <a:pPr indent="933450" algn="just" defTabSz="0">
              <a:tabLst>
                <a:tab pos="1066800" algn="l"/>
              </a:tabLst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定理：</a:t>
            </a:r>
            <a:endParaRPr lang="zh-CN" altLang="en-US" sz="2800" b="1" dirty="0">
              <a:solidFill>
                <a:srgbClr val="FF0000"/>
              </a:solidFill>
              <a:latin typeface="+mn-ea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2467610" y="1466850"/>
            <a:ext cx="7613650" cy="2807970"/>
            <a:chOff x="962" y="1626"/>
            <a:chExt cx="11990" cy="4422"/>
          </a:xfrm>
        </p:grpSpPr>
        <p:graphicFrame>
          <p:nvGraphicFramePr>
            <p:cNvPr id="39953" name="Object 8"/>
            <p:cNvGraphicFramePr/>
            <p:nvPr/>
          </p:nvGraphicFramePr>
          <p:xfrm>
            <a:off x="2186" y="4162"/>
            <a:ext cx="7740" cy="18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" name="" r:id="rId1" imgW="3467100" imgH="787400" progId="Equation.3">
                    <p:embed/>
                  </p:oleObj>
                </mc:Choice>
                <mc:Fallback>
                  <p:oleObj name="" r:id="rId1" imgW="3467100" imgH="787400" progId="Equation.3">
                    <p:embed/>
                    <p:pic>
                      <p:nvPicPr>
                        <p:cNvPr id="0" name="图片 3133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186" y="4162"/>
                          <a:ext cx="7740" cy="188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文本框 4"/>
            <p:cNvSpPr txBox="1"/>
            <p:nvPr/>
          </p:nvSpPr>
          <p:spPr>
            <a:xfrm>
              <a:off x="962" y="1626"/>
              <a:ext cx="11990" cy="364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zh-CN" altLang="en-US" sz="2400" dirty="0">
                  <a:latin typeface="Times New Roman" panose="02020503050405090304" pitchFamily="18" charset="0"/>
                  <a:cs typeface="Times New Roman" panose="02020503050405090304" pitchFamily="18" charset="0"/>
                  <a:sym typeface="+mn-ea"/>
                </a:rPr>
                <a:t> 设                                                       ，且</a:t>
              </a:r>
              <a:r>
                <a:rPr lang="en-US" altLang="zh-CN" sz="2400" i="1" dirty="0">
                  <a:latin typeface="Times New Roman" panose="02020503050405090304" pitchFamily="18" charset="0"/>
                  <a:cs typeface="Times New Roman" panose="02020503050405090304" pitchFamily="18" charset="0"/>
                  <a:sym typeface="+mn-ea"/>
                </a:rPr>
                <a:t>X</a:t>
              </a:r>
              <a:r>
                <a:rPr lang="zh-CN" altLang="en-US" sz="2400" dirty="0">
                  <a:latin typeface="Times New Roman" panose="02020503050405090304" pitchFamily="18" charset="0"/>
                  <a:cs typeface="Times New Roman" panose="02020503050405090304" pitchFamily="18" charset="0"/>
                  <a:sym typeface="+mn-ea"/>
                </a:rPr>
                <a:t>与</a:t>
              </a:r>
              <a:r>
                <a:rPr lang="en-US" altLang="zh-CN" sz="2400" i="1" dirty="0">
                  <a:latin typeface="Times New Roman" panose="02020503050405090304" pitchFamily="18" charset="0"/>
                  <a:cs typeface="Times New Roman" panose="02020503050405090304" pitchFamily="18" charset="0"/>
                  <a:sym typeface="+mn-ea"/>
                </a:rPr>
                <a:t>W</a:t>
              </a:r>
              <a:r>
                <a:rPr lang="zh-CN" altLang="en-US" sz="2400" dirty="0">
                  <a:latin typeface="Times New Roman" panose="02020503050405090304" pitchFamily="18" charset="0"/>
                  <a:cs typeface="Times New Roman" panose="02020503050405090304" pitchFamily="18" charset="0"/>
                  <a:sym typeface="+mn-ea"/>
                </a:rPr>
                <a:t>相互独立，</a:t>
              </a:r>
              <a:r>
                <a:rPr lang="en-US" altLang="zh-CN" sz="2800" i="1" dirty="0">
                  <a:latin typeface="Times New Roman" panose="02020503050405090304" pitchFamily="18" charset="0"/>
                  <a:cs typeface="Times New Roman" panose="02020503050405090304" pitchFamily="18" charset="0"/>
                  <a:sym typeface="+mn-ea"/>
                </a:rPr>
                <a:t>n</a:t>
              </a:r>
              <a:r>
                <a:rPr lang="en-US" altLang="zh-CN" sz="2800" dirty="0">
                  <a:latin typeface="Times New Roman" panose="02020503050405090304" pitchFamily="18" charset="0"/>
                  <a:cs typeface="Times New Roman" panose="02020503050405090304" pitchFamily="18" charset="0"/>
                  <a:sym typeface="+mn-ea"/>
                </a:rPr>
                <a:t>≥</a:t>
              </a:r>
              <a:r>
                <a:rPr lang="en-US" altLang="zh-CN" sz="2800" i="1" dirty="0">
                  <a:latin typeface="Times New Roman" panose="02020503050405090304" pitchFamily="18" charset="0"/>
                  <a:cs typeface="Times New Roman" panose="02020503050405090304" pitchFamily="18" charset="0"/>
                  <a:sym typeface="+mn-ea"/>
                </a:rPr>
                <a:t>p</a:t>
              </a:r>
              <a:r>
                <a:rPr lang="zh-CN" altLang="en-US" sz="2400" dirty="0">
                  <a:latin typeface="Times New Roman" panose="02020503050405090304" pitchFamily="18" charset="0"/>
                  <a:cs typeface="Times New Roman" panose="02020503050405090304" pitchFamily="18" charset="0"/>
                  <a:sym typeface="+mn-ea"/>
                </a:rPr>
                <a:t>，令</a:t>
              </a:r>
              <a:endParaRPr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endParaRPr>
            </a:p>
            <a:p>
              <a:pPr>
                <a:lnSpc>
                  <a:spcPct val="200000"/>
                </a:lnSpc>
              </a:pPr>
              <a:r>
                <a:rPr lang="zh-CN" altLang="en-US" sz="2400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则</a:t>
              </a:r>
              <a:endParaRPr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graphicFrame>
          <p:nvGraphicFramePr>
            <p:cNvPr id="41992" name="Object 12"/>
            <p:cNvGraphicFramePr/>
            <p:nvPr/>
          </p:nvGraphicFramePr>
          <p:xfrm>
            <a:off x="1846" y="2011"/>
            <a:ext cx="3068" cy="10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Equation" r:id="rId3" imgW="21031200" imgH="5791200" progId="Equation.DSMT4">
                    <p:embed/>
                  </p:oleObj>
                </mc:Choice>
                <mc:Fallback>
                  <p:oleObj name="Equation" r:id="rId3" imgW="21031200" imgH="5791200" progId="Equation.DSMT4">
                    <p:embed/>
                    <p:pic>
                      <p:nvPicPr>
                        <p:cNvPr id="0" name="图片 3141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846" y="2011"/>
                          <a:ext cx="3068" cy="10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994" name="Object 14"/>
            <p:cNvGraphicFramePr/>
            <p:nvPr/>
          </p:nvGraphicFramePr>
          <p:xfrm>
            <a:off x="5104" y="2011"/>
            <a:ext cx="3237" cy="10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Equation" r:id="rId5" imgW="21031200" imgH="5791200" progId="Equation.DSMT4">
                    <p:embed/>
                  </p:oleObj>
                </mc:Choice>
                <mc:Fallback>
                  <p:oleObj name="Equation" r:id="rId5" imgW="21031200" imgH="5791200" progId="Equation.DSMT4">
                    <p:embed/>
                    <p:pic>
                      <p:nvPicPr>
                        <p:cNvPr id="0" name="图片 3145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104" y="2011"/>
                          <a:ext cx="3237" cy="10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996" name="Object 16"/>
            <p:cNvGraphicFramePr/>
            <p:nvPr/>
          </p:nvGraphicFramePr>
          <p:xfrm>
            <a:off x="2809" y="3146"/>
            <a:ext cx="4027" cy="9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Equation" r:id="rId7" imgW="22555200" imgH="4876800" progId="Equation.DSMT4">
                    <p:embed/>
                  </p:oleObj>
                </mc:Choice>
                <mc:Fallback>
                  <p:oleObj name="Equation" r:id="rId7" imgW="22555200" imgH="4876800" progId="Equation.DSMT4">
                    <p:embed/>
                    <p:pic>
                      <p:nvPicPr>
                        <p:cNvPr id="0" name="图片 3143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809" y="3146"/>
                          <a:ext cx="4027" cy="91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68580" tIns="34290" rIns="68580" bIns="34290" rtlCol="0" anchor="b">
            <a:norm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algn="r"/>
            <a:fld id="{9A0DB2DC-4C9A-4742-B13C-FB6460FD3503}" type="slidenum">
              <a:rPr lang="zh-CN" altLang="en-US" sz="1050" dirty="0"/>
            </a:fld>
            <a:endParaRPr lang="zh-CN" altLang="en-US" sz="1050" dirty="0"/>
          </a:p>
        </p:txBody>
      </p:sp>
      <p:sp>
        <p:nvSpPr>
          <p:cNvPr id="40963" name="Rectangle 3"/>
          <p:cNvSpPr/>
          <p:nvPr/>
        </p:nvSpPr>
        <p:spPr>
          <a:xfrm>
            <a:off x="5666408" y="2170431"/>
            <a:ext cx="4307205" cy="460375"/>
          </a:xfrm>
          <a:prstGeom prst="rect">
            <a:avLst/>
          </a:prstGeom>
          <a:noFill/>
          <a:ln w="12700">
            <a:noFill/>
          </a:ln>
        </p:spPr>
        <p:txBody>
          <a:bodyPr wrap="square" anchor="t">
            <a:spAutoFit/>
          </a:bodyPr>
          <a:lstStyle/>
          <a:p>
            <a:pPr indent="304800" algn="just"/>
            <a:r>
              <a:rPr lang="zh-CN" altLang="en-US" dirty="0">
                <a:latin typeface="宋体" pitchFamily="2" charset="-122"/>
              </a:rPr>
              <a:t>               </a:t>
            </a:r>
            <a:r>
              <a:rPr lang="en-US" altLang="zh-CN" sz="2400" dirty="0">
                <a:latin typeface="Times New Roman" panose="02020503050405090304" pitchFamily="18" charset="0"/>
              </a:rPr>
              <a:t>…</a:t>
            </a:r>
            <a:endParaRPr lang="en-US" altLang="zh-CN" sz="2400" dirty="0">
              <a:latin typeface="Arial" panose="020B0604020202090204" pitchFamily="34" charset="0"/>
            </a:endParaRPr>
          </a:p>
        </p:txBody>
      </p:sp>
      <p:graphicFrame>
        <p:nvGraphicFramePr>
          <p:cNvPr id="40964" name="Object 6"/>
          <p:cNvGraphicFramePr/>
          <p:nvPr/>
        </p:nvGraphicFramePr>
        <p:xfrm>
          <a:off x="2506012" y="1030022"/>
          <a:ext cx="3830320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1" imgW="1295400" imgH="241300" progId="Equation.3">
                  <p:embed/>
                </p:oleObj>
              </mc:Choice>
              <mc:Fallback>
                <p:oleObj name="" r:id="rId1" imgW="1295400" imgH="241300" progId="Equation.3">
                  <p:embed/>
                  <p:pic>
                    <p:nvPicPr>
                      <p:cNvPr id="0" name="图片 314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06012" y="1030022"/>
                        <a:ext cx="3830320" cy="669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5" name="Object 7"/>
          <p:cNvGraphicFramePr/>
          <p:nvPr/>
        </p:nvGraphicFramePr>
        <p:xfrm>
          <a:off x="2506648" y="1765935"/>
          <a:ext cx="3739515" cy="623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1346200" imgH="241300" progId="Equation.3">
                  <p:embed/>
                </p:oleObj>
              </mc:Choice>
              <mc:Fallback>
                <p:oleObj name="" r:id="rId3" imgW="1346200" imgH="241300" progId="Equation.3">
                  <p:embed/>
                  <p:pic>
                    <p:nvPicPr>
                      <p:cNvPr id="0" name="图片 313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06648" y="1765935"/>
                        <a:ext cx="3739515" cy="62357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6" name="Object 8"/>
          <p:cNvGraphicFramePr/>
          <p:nvPr/>
        </p:nvGraphicFramePr>
        <p:xfrm>
          <a:off x="2506648" y="2487295"/>
          <a:ext cx="3829685" cy="6565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5" imgW="1333500" imgH="241300" progId="Equation.3">
                  <p:embed/>
                </p:oleObj>
              </mc:Choice>
              <mc:Fallback>
                <p:oleObj name="" r:id="rId5" imgW="1333500" imgH="241300" progId="Equation.3">
                  <p:embed/>
                  <p:pic>
                    <p:nvPicPr>
                      <p:cNvPr id="0" name="图片 314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06648" y="2487295"/>
                        <a:ext cx="3829685" cy="6565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7330" name="Object 2"/>
          <p:cNvGraphicFramePr/>
          <p:nvPr/>
        </p:nvGraphicFramePr>
        <p:xfrm>
          <a:off x="2771775" y="5086350"/>
          <a:ext cx="7329488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7" imgW="67056000" imgH="5486400" progId="Equation.DSMT4">
                  <p:embed/>
                </p:oleObj>
              </mc:Choice>
              <mc:Fallback>
                <p:oleObj name="Equation" r:id="rId7" imgW="67056000" imgH="5486400" progId="Equation.DSMT4">
                  <p:embed/>
                  <p:pic>
                    <p:nvPicPr>
                      <p:cNvPr id="0" name="图片 313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771775" y="5086350"/>
                        <a:ext cx="7329488" cy="660400"/>
                      </a:xfrm>
                      <a:prstGeom prst="rect">
                        <a:avLst/>
                      </a:prstGeom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7331" name="Object 3"/>
          <p:cNvGraphicFramePr/>
          <p:nvPr/>
        </p:nvGraphicFramePr>
        <p:xfrm>
          <a:off x="2755900" y="5840413"/>
          <a:ext cx="5822950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9" imgW="49987200" imgH="10058400" progId="Equation.DSMT4">
                  <p:embed/>
                </p:oleObj>
              </mc:Choice>
              <mc:Fallback>
                <p:oleObj name="Equation" r:id="rId9" imgW="49987200" imgH="10058400" progId="Equation.DSMT4">
                  <p:embed/>
                  <p:pic>
                    <p:nvPicPr>
                      <p:cNvPr id="0" name="图片 314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755900" y="5840413"/>
                        <a:ext cx="5822950" cy="1047750"/>
                      </a:xfrm>
                      <a:prstGeom prst="rect">
                        <a:avLst/>
                      </a:prstGeom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11"/>
          <p:cNvGrpSpPr/>
          <p:nvPr/>
        </p:nvGrpSpPr>
        <p:grpSpPr>
          <a:xfrm>
            <a:off x="632982" y="368935"/>
            <a:ext cx="10814053" cy="1198880"/>
            <a:chOff x="-735" y="99"/>
            <a:chExt cx="7373" cy="1007"/>
          </a:xfrm>
        </p:grpSpPr>
        <p:sp>
          <p:nvSpPr>
            <p:cNvPr id="40972" name="Rectangle 12"/>
            <p:cNvSpPr/>
            <p:nvPr/>
          </p:nvSpPr>
          <p:spPr>
            <a:xfrm>
              <a:off x="-735" y="99"/>
              <a:ext cx="7373" cy="100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anchor="t">
              <a:spAutoFit/>
            </a:bodyPr>
            <a:lstStyle/>
            <a:p>
              <a:pPr algn="just" fontAlgn="auto"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FF5050"/>
                  </a:solidFill>
                  <a:latin typeface="宋体" pitchFamily="2" charset="-122"/>
                </a:rPr>
                <a:t>定理</a:t>
              </a:r>
              <a:r>
                <a:rPr lang="zh-CN" altLang="en-US" sz="2400" dirty="0">
                  <a:solidFill>
                    <a:srgbClr val="000000"/>
                  </a:solidFill>
                  <a:latin typeface="宋体" pitchFamily="2" charset="-122"/>
                </a:rPr>
                <a:t>：</a:t>
              </a:r>
              <a:r>
                <a:rPr lang="zh-CN" altLang="en-US" sz="2400" dirty="0">
                  <a:latin typeface="宋体" pitchFamily="2" charset="-122"/>
                </a:rPr>
                <a:t>设         </a:t>
              </a:r>
              <a:r>
                <a:rPr lang="en-US" altLang="zh-CN" sz="2400" dirty="0">
                  <a:latin typeface="宋体" pitchFamily="2" charset="-122"/>
                </a:rPr>
                <a:t>		</a:t>
              </a:r>
              <a:r>
                <a:rPr lang="zh-CN" altLang="en-US" sz="2400" dirty="0">
                  <a:latin typeface="宋体" pitchFamily="2" charset="-122"/>
                </a:rPr>
                <a:t>是来自多元正态总体       </a:t>
              </a:r>
              <a:r>
                <a:rPr lang="en-US" altLang="zh-CN" sz="2400" dirty="0">
                  <a:latin typeface="宋体" pitchFamily="2" charset="-122"/>
                </a:rPr>
                <a:t>		   </a:t>
              </a:r>
              <a:r>
                <a:rPr lang="zh-CN" altLang="en-US" sz="2400" dirty="0">
                  <a:latin typeface="宋体" pitchFamily="2" charset="-122"/>
                </a:rPr>
                <a:t>的简单随机样本，观测数据为</a:t>
              </a:r>
              <a:endParaRPr lang="zh-CN" altLang="en-US" sz="2400" dirty="0">
                <a:latin typeface="宋体" pitchFamily="2" charset="-122"/>
              </a:endParaRPr>
            </a:p>
          </p:txBody>
        </p:sp>
        <p:graphicFrame>
          <p:nvGraphicFramePr>
            <p:cNvPr id="40973" name="Object 4"/>
            <p:cNvGraphicFramePr/>
            <p:nvPr/>
          </p:nvGraphicFramePr>
          <p:xfrm>
            <a:off x="191" y="132"/>
            <a:ext cx="1597" cy="5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" name="Equation" r:id="rId11" imgW="21031200" imgH="5486400" progId="Equation.DSMT4">
                    <p:embed/>
                  </p:oleObj>
                </mc:Choice>
                <mc:Fallback>
                  <p:oleObj name="Equation" r:id="rId11" imgW="21031200" imgH="5486400" progId="Equation.DSMT4">
                    <p:embed/>
                    <p:pic>
                      <p:nvPicPr>
                        <p:cNvPr id="0" name="图片 3142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91" y="132"/>
                          <a:ext cx="1597" cy="55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974" name="Object 5"/>
            <p:cNvGraphicFramePr/>
            <p:nvPr/>
          </p:nvGraphicFramePr>
          <p:xfrm>
            <a:off x="3718" y="223"/>
            <a:ext cx="1390" cy="4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" name="" r:id="rId13" imgW="1143000" imgH="419100" progId="Equation.3">
                    <p:embed/>
                  </p:oleObj>
                </mc:Choice>
                <mc:Fallback>
                  <p:oleObj name="" r:id="rId13" imgW="1143000" imgH="419100" progId="Equation.3">
                    <p:embed/>
                    <p:pic>
                      <p:nvPicPr>
                        <p:cNvPr id="0" name="图片 3148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3718" y="223"/>
                          <a:ext cx="1390" cy="45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组合 9"/>
          <p:cNvGrpSpPr/>
          <p:nvPr/>
        </p:nvGrpSpPr>
        <p:grpSpPr>
          <a:xfrm>
            <a:off x="2633980" y="3010535"/>
            <a:ext cx="7499350" cy="1800860"/>
            <a:chOff x="1906" y="5024"/>
            <a:chExt cx="11810" cy="2836"/>
          </a:xfrm>
        </p:grpSpPr>
        <p:graphicFrame>
          <p:nvGraphicFramePr>
            <p:cNvPr id="227328" name="Object 0"/>
            <p:cNvGraphicFramePr/>
            <p:nvPr/>
          </p:nvGraphicFramePr>
          <p:xfrm>
            <a:off x="2738" y="5161"/>
            <a:ext cx="3404" cy="15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" name="" r:id="rId15" imgW="787400" imgH="431800" progId="Equation.3">
                    <p:embed/>
                  </p:oleObj>
                </mc:Choice>
                <mc:Fallback>
                  <p:oleObj name="" r:id="rId15" imgW="787400" imgH="431800" progId="Equation.3">
                    <p:embed/>
                    <p:pic>
                      <p:nvPicPr>
                        <p:cNvPr id="0" name="图片 3135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738" y="5161"/>
                          <a:ext cx="3404" cy="151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7329" name="Object 1"/>
            <p:cNvGraphicFramePr/>
            <p:nvPr/>
          </p:nvGraphicFramePr>
          <p:xfrm>
            <a:off x="2157" y="6431"/>
            <a:ext cx="4944" cy="14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" name="Equation" r:id="rId17" imgW="36880800" imgH="10363200" progId="Equation.DSMT4">
                    <p:embed/>
                  </p:oleObj>
                </mc:Choice>
                <mc:Fallback>
                  <p:oleObj name="Equation" r:id="rId17" imgW="36880800" imgH="10363200" progId="Equation.DSMT4">
                    <p:embed/>
                    <p:pic>
                      <p:nvPicPr>
                        <p:cNvPr id="0" name="图片 3134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2157" y="6431"/>
                          <a:ext cx="4944" cy="142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文本框 12"/>
            <p:cNvSpPr txBox="1"/>
            <p:nvPr/>
          </p:nvSpPr>
          <p:spPr>
            <a:xfrm>
              <a:off x="1906" y="5024"/>
              <a:ext cx="11810" cy="22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lnSpc>
                  <a:spcPct val="200000"/>
                </a:lnSpc>
              </a:pPr>
              <a:r>
                <a:rPr lang="zh-CN" altLang="en-US" sz="2400" dirty="0"/>
                <a:t>令                          为样本均值，</a:t>
              </a:r>
              <a:endParaRPr lang="zh-CN" altLang="en-US" sz="2400" dirty="0"/>
            </a:p>
            <a:p>
              <a:pPr fontAlgn="auto">
                <a:lnSpc>
                  <a:spcPct val="200000"/>
                </a:lnSpc>
              </a:pPr>
              <a:r>
                <a:rPr lang="zh-CN" altLang="en-US" sz="2400" dirty="0"/>
                <a:t>                                      为样本叉积矩阵</a:t>
              </a:r>
              <a:r>
                <a:rPr lang="en-US" altLang="zh-CN" sz="2400" dirty="0"/>
                <a:t>/</a:t>
              </a:r>
              <a:r>
                <a:rPr lang="zh-CN" altLang="en-US" sz="2400" dirty="0"/>
                <a:t>样本离差阵，</a:t>
              </a:r>
              <a:endParaRPr lang="zh-CN" altLang="en-US" sz="2400" dirty="0"/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1814195" y="4625976"/>
            <a:ext cx="17068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/>
              <a:t>则有结论：</a:t>
            </a:r>
            <a:endParaRPr lang="zh-CN" altLang="en-US" sz="2400"/>
          </a:p>
        </p:txBody>
      </p:sp>
      <p:sp>
        <p:nvSpPr>
          <p:cNvPr id="15" name="文本框 14"/>
          <p:cNvSpPr txBox="1"/>
          <p:nvPr/>
        </p:nvSpPr>
        <p:spPr>
          <a:xfrm>
            <a:off x="4871720" y="1765935"/>
            <a:ext cx="7180580" cy="713080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 dirty="0"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  <a:sym typeface="+mn-ea"/>
              </a:rPr>
              <a:t>此性质在后面的假设检验中，经常用到，非常重要。</a:t>
            </a:r>
            <a:endParaRPr lang="zh-CN" altLang="en-US" sz="2400" dirty="0"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73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73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73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73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/>
          </p:cNvSpPr>
          <p:nvPr>
            <p:ph type="title"/>
          </p:nvPr>
        </p:nvSpPr>
        <p:spPr>
          <a:xfrm>
            <a:off x="2287271" y="236856"/>
            <a:ext cx="3435985" cy="770255"/>
          </a:xfrm>
        </p:spPr>
        <p:txBody>
          <a:bodyPr vert="horz" wrap="square" lIns="68580" tIns="34290" rIns="68580" bIns="34290" rtlCol="0" anchor="b">
            <a:normAutofit/>
          </a:bodyPr>
          <a:lstStyle/>
          <a:p>
            <a:pPr eaLnBrk="1" hangingPunct="1"/>
            <a:r>
              <a:rPr lang="zh-CN" altLang="en-US" sz="2700" dirty="0">
                <a:solidFill>
                  <a:srgbClr val="FF0000"/>
                </a:solidFill>
              </a:rPr>
              <a:t>三、维尔克斯分布</a:t>
            </a:r>
            <a:endParaRPr lang="zh-CN" altLang="en-US" sz="2700" dirty="0">
              <a:solidFill>
                <a:srgbClr val="FF0000"/>
              </a:solidFill>
            </a:endParaRPr>
          </a:p>
        </p:txBody>
      </p:sp>
      <p:sp>
        <p:nvSpPr>
          <p:cNvPr id="43011" name="Rectangle 3"/>
          <p:cNvSpPr>
            <a:spLocks noGrp="1"/>
          </p:cNvSpPr>
          <p:nvPr>
            <p:ph idx="1"/>
          </p:nvPr>
        </p:nvSpPr>
        <p:spPr>
          <a:xfrm>
            <a:off x="1963421" y="1073785"/>
            <a:ext cx="7997825" cy="1977390"/>
          </a:xfrm>
        </p:spPr>
        <p:txBody>
          <a:bodyPr vert="horz" wrap="square" lIns="68580" tIns="34290" rIns="68580" bIns="34290" rtlCol="0" anchor="t"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zh-CN" altLang="en-US" dirty="0"/>
              <a:t>若                    ，则称协差阵的行列式       为</a:t>
            </a:r>
            <a:r>
              <a:rPr lang="en-US" altLang="zh-CN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en-US" dirty="0"/>
              <a:t>的广义方差，称            为样本广义方差。其中</a:t>
            </a:r>
            <a:endParaRPr lang="zh-CN" altLang="en-US" dirty="0"/>
          </a:p>
        </p:txBody>
      </p:sp>
      <p:sp>
        <p:nvSpPr>
          <p:cNvPr id="4300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68580" tIns="34290" rIns="68580" bIns="34290" rtlCol="0" anchor="b">
            <a:norm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algn="r"/>
            <a:fld id="{9A0DB2DC-4C9A-4742-B13C-FB6460FD3503}" type="slidenum">
              <a:rPr lang="zh-CN" altLang="en-US" sz="1050" dirty="0"/>
            </a:fld>
            <a:endParaRPr lang="zh-CN" altLang="en-US" sz="1050" dirty="0"/>
          </a:p>
        </p:txBody>
      </p:sp>
      <p:sp>
        <p:nvSpPr>
          <p:cNvPr id="43012" name="Rectangle 5"/>
          <p:cNvSpPr/>
          <p:nvPr/>
        </p:nvSpPr>
        <p:spPr>
          <a:xfrm>
            <a:off x="2667001" y="707210"/>
            <a:ext cx="184731" cy="300082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endParaRPr lang="zh-CN" altLang="en-US" sz="1350" dirty="0">
              <a:latin typeface="Tahoma" panose="020B0604030504040204" pitchFamily="34" charset="0"/>
            </a:endParaRPr>
          </a:p>
        </p:txBody>
      </p:sp>
      <p:graphicFrame>
        <p:nvGraphicFramePr>
          <p:cNvPr id="43014" name="Object 11"/>
          <p:cNvGraphicFramePr/>
          <p:nvPr/>
        </p:nvGraphicFramePr>
        <p:xfrm>
          <a:off x="2324736" y="1358901"/>
          <a:ext cx="158559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1" imgW="850265" imgH="241300" progId="Equation.DSMT4">
                  <p:embed/>
                </p:oleObj>
              </mc:Choice>
              <mc:Fallback>
                <p:oleObj name="" r:id="rId1" imgW="850265" imgH="241300" progId="Equation.DSMT4">
                  <p:embed/>
                  <p:pic>
                    <p:nvPicPr>
                      <p:cNvPr id="0" name="图片 315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24736" y="1358901"/>
                        <a:ext cx="1585595" cy="574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6" name="Object 13"/>
          <p:cNvGraphicFramePr/>
          <p:nvPr/>
        </p:nvGraphicFramePr>
        <p:xfrm>
          <a:off x="7076292" y="1311766"/>
          <a:ext cx="584835" cy="5162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203200" imgH="254000" progId="Equation.DSMT4">
                  <p:embed/>
                </p:oleObj>
              </mc:Choice>
              <mc:Fallback>
                <p:oleObj name="" r:id="rId3" imgW="203200" imgH="254000" progId="Equation.DSMT4">
                  <p:embed/>
                  <p:pic>
                    <p:nvPicPr>
                      <p:cNvPr id="0" name="图片 315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076292" y="1311766"/>
                        <a:ext cx="584835" cy="5162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8" name="Object 15"/>
          <p:cNvGraphicFramePr/>
          <p:nvPr/>
        </p:nvGraphicFramePr>
        <p:xfrm>
          <a:off x="2374900" y="1906905"/>
          <a:ext cx="930910" cy="9740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5" imgW="316865" imgH="431800" progId="Equation.DSMT4">
                  <p:embed/>
                </p:oleObj>
              </mc:Choice>
              <mc:Fallback>
                <p:oleObj name="" r:id="rId5" imgW="316865" imgH="431800" progId="Equation.DSMT4">
                  <p:embed/>
                  <p:pic>
                    <p:nvPicPr>
                      <p:cNvPr id="0" name="图片 314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74900" y="1906905"/>
                        <a:ext cx="930910" cy="9740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0" name="Object 17"/>
          <p:cNvGraphicFramePr/>
          <p:nvPr/>
        </p:nvGraphicFramePr>
        <p:xfrm>
          <a:off x="6376036" y="1812290"/>
          <a:ext cx="3957955" cy="1002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7" imgW="1790700" imgH="431800" progId="Equation.DSMT4">
                  <p:embed/>
                </p:oleObj>
              </mc:Choice>
              <mc:Fallback>
                <p:oleObj name="" r:id="rId7" imgW="1790700" imgH="431800" progId="Equation.DSMT4">
                  <p:embed/>
                  <p:pic>
                    <p:nvPicPr>
                      <p:cNvPr id="0" name="图片 315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376036" y="1812290"/>
                        <a:ext cx="3957955" cy="10020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29" name="Rectangle 28"/>
          <p:cNvSpPr/>
          <p:nvPr/>
        </p:nvSpPr>
        <p:spPr>
          <a:xfrm>
            <a:off x="2667001" y="707210"/>
            <a:ext cx="184731" cy="300082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endParaRPr lang="zh-CN" altLang="en-US" sz="1350" dirty="0">
              <a:latin typeface="Tahoma" panose="020B060403050404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856740" y="3352166"/>
            <a:ext cx="8479790" cy="2277745"/>
            <a:chOff x="692" y="5729"/>
            <a:chExt cx="13354" cy="3587"/>
          </a:xfrm>
        </p:grpSpPr>
        <p:graphicFrame>
          <p:nvGraphicFramePr>
            <p:cNvPr id="43022" name="Object 19"/>
            <p:cNvGraphicFramePr/>
            <p:nvPr/>
          </p:nvGraphicFramePr>
          <p:xfrm>
            <a:off x="2409" y="6193"/>
            <a:ext cx="2997" cy="8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" name="" r:id="rId9" imgW="914400" imgH="241300" progId="Equation.DSMT4">
                    <p:embed/>
                  </p:oleObj>
                </mc:Choice>
                <mc:Fallback>
                  <p:oleObj name="" r:id="rId9" imgW="914400" imgH="241300" progId="Equation.DSMT4">
                    <p:embed/>
                    <p:pic>
                      <p:nvPicPr>
                        <p:cNvPr id="0" name="图片 3158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409" y="6193"/>
                          <a:ext cx="2997" cy="82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24" name="Object 21"/>
            <p:cNvGraphicFramePr/>
            <p:nvPr/>
          </p:nvGraphicFramePr>
          <p:xfrm>
            <a:off x="5819" y="6119"/>
            <a:ext cx="1661" cy="9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" name="" r:id="rId11" imgW="419100" imgH="228600" progId="Equation.DSMT4">
                    <p:embed/>
                  </p:oleObj>
                </mc:Choice>
                <mc:Fallback>
                  <p:oleObj name="" r:id="rId11" imgW="419100" imgH="228600" progId="Equation.DSMT4">
                    <p:embed/>
                    <p:pic>
                      <p:nvPicPr>
                        <p:cNvPr id="0" name="图片 3154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5819" y="6119"/>
                          <a:ext cx="1661" cy="97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26" name="Object 23"/>
            <p:cNvGraphicFramePr/>
            <p:nvPr/>
          </p:nvGraphicFramePr>
          <p:xfrm>
            <a:off x="7641" y="5980"/>
            <a:ext cx="3151" cy="10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" name="" r:id="rId13" imgW="951865" imgH="241300" progId="Equation.DSMT4">
                    <p:embed/>
                  </p:oleObj>
                </mc:Choice>
                <mc:Fallback>
                  <p:oleObj name="" r:id="rId13" imgW="951865" imgH="241300" progId="Equation.DSMT4">
                    <p:embed/>
                    <p:pic>
                      <p:nvPicPr>
                        <p:cNvPr id="0" name="图片 3150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7641" y="5980"/>
                          <a:ext cx="3151" cy="103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28" name="Object 25"/>
            <p:cNvGraphicFramePr/>
            <p:nvPr/>
          </p:nvGraphicFramePr>
          <p:xfrm>
            <a:off x="11134" y="6119"/>
            <a:ext cx="1312" cy="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" name="" r:id="rId15" imgW="381000" imgH="190500" progId="Equation.DSMT4">
                    <p:embed/>
                  </p:oleObj>
                </mc:Choice>
                <mc:Fallback>
                  <p:oleObj name="" r:id="rId15" imgW="381000" imgH="190500" progId="Equation.DSMT4">
                    <p:embed/>
                    <p:pic>
                      <p:nvPicPr>
                        <p:cNvPr id="0" name="图片 3151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1134" y="6119"/>
                          <a:ext cx="1312" cy="62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30" name="Object 27"/>
            <p:cNvGraphicFramePr/>
            <p:nvPr/>
          </p:nvGraphicFramePr>
          <p:xfrm>
            <a:off x="6139" y="7015"/>
            <a:ext cx="2805" cy="15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" name="" r:id="rId17" imgW="812165" imgH="469900" progId="Equation.DSMT4">
                    <p:embed/>
                  </p:oleObj>
                </mc:Choice>
                <mc:Fallback>
                  <p:oleObj name="" r:id="rId17" imgW="812165" imgH="469900" progId="Equation.DSMT4">
                    <p:embed/>
                    <p:pic>
                      <p:nvPicPr>
                        <p:cNvPr id="0" name="图片 3156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6139" y="7015"/>
                          <a:ext cx="2805" cy="152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33" name="Object 44"/>
            <p:cNvGraphicFramePr/>
            <p:nvPr/>
          </p:nvGraphicFramePr>
          <p:xfrm>
            <a:off x="2472" y="8496"/>
            <a:ext cx="973" cy="7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" name="" r:id="rId19" imgW="152400" imgH="165100" progId="Equation.DSMT4">
                    <p:embed/>
                  </p:oleObj>
                </mc:Choice>
                <mc:Fallback>
                  <p:oleObj name="" r:id="rId19" imgW="152400" imgH="165100" progId="Equation.DSMT4">
                    <p:embed/>
                    <p:pic>
                      <p:nvPicPr>
                        <p:cNvPr id="0" name="图片 3157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2472" y="8496"/>
                          <a:ext cx="973" cy="73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35" name="Object 46"/>
            <p:cNvGraphicFramePr/>
            <p:nvPr/>
          </p:nvGraphicFramePr>
          <p:xfrm>
            <a:off x="10485" y="8409"/>
            <a:ext cx="3561" cy="9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" name="" r:id="rId21" imgW="990600" imgH="228600" progId="Equation.DSMT4">
                    <p:embed/>
                  </p:oleObj>
                </mc:Choice>
                <mc:Fallback>
                  <p:oleObj name="" r:id="rId21" imgW="990600" imgH="228600" progId="Equation.DSMT4">
                    <p:embed/>
                    <p:pic>
                      <p:nvPicPr>
                        <p:cNvPr id="0" name="图片 3155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10485" y="8409"/>
                          <a:ext cx="3561" cy="90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文本框 13"/>
            <p:cNvSpPr txBox="1"/>
            <p:nvPr/>
          </p:nvSpPr>
          <p:spPr>
            <a:xfrm>
              <a:off x="692" y="5729"/>
              <a:ext cx="12911" cy="344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zh-CN" altLang="en-US" sz="2400" dirty="0">
                  <a:solidFill>
                    <a:srgbClr val="FF0000"/>
                  </a:solidFill>
                  <a:sym typeface="+mn-ea"/>
                </a:rPr>
                <a:t>定义</a:t>
              </a:r>
              <a:r>
                <a:rPr lang="zh-CN" altLang="en-US" sz="2400" dirty="0">
                  <a:sym typeface="+mn-ea"/>
                </a:rPr>
                <a:t> 若                        ，           ，                      ，        ，</a:t>
              </a:r>
              <a:endParaRPr lang="zh-CN" altLang="en-US" sz="2400" dirty="0"/>
            </a:p>
            <a:p>
              <a:pPr>
                <a:lnSpc>
                  <a:spcPct val="200000"/>
                </a:lnSpc>
              </a:pPr>
              <a:r>
                <a:rPr lang="zh-CN" altLang="en-US" sz="2400" dirty="0">
                  <a:sym typeface="+mn-ea"/>
                </a:rPr>
                <a:t>且</a:t>
              </a:r>
              <a:r>
                <a:rPr lang="en-US" altLang="zh-CN" sz="2400" dirty="0">
                  <a:sym typeface="+mn-ea"/>
                </a:rPr>
                <a:t>A</a:t>
              </a:r>
              <a:r>
                <a:rPr lang="en-US" altLang="zh-CN" sz="2400" baseline="-25000" dirty="0">
                  <a:sym typeface="+mn-ea"/>
                </a:rPr>
                <a:t>1</a:t>
              </a:r>
              <a:r>
                <a:rPr lang="zh-CN" altLang="en-US" sz="2400" dirty="0">
                  <a:sym typeface="+mn-ea"/>
                </a:rPr>
                <a:t>和</a:t>
              </a:r>
              <a:r>
                <a:rPr lang="en-US" altLang="zh-CN" sz="2400" dirty="0">
                  <a:sym typeface="+mn-ea"/>
                </a:rPr>
                <a:t>A</a:t>
              </a:r>
              <a:r>
                <a:rPr lang="en-US" altLang="zh-CN" sz="2400" baseline="-25000" dirty="0">
                  <a:sym typeface="+mn-ea"/>
                </a:rPr>
                <a:t>2</a:t>
              </a:r>
              <a:r>
                <a:rPr lang="zh-CN" altLang="en-US" sz="2400" dirty="0">
                  <a:sym typeface="+mn-ea"/>
                </a:rPr>
                <a:t>相互独立，则称                     </a:t>
              </a:r>
              <a:r>
                <a:rPr lang="zh-CN" altLang="en-US" sz="2400" dirty="0">
                  <a:latin typeface="Tahoma" panose="020B0604030504040204" pitchFamily="34" charset="0"/>
                  <a:sym typeface="+mn-ea"/>
                </a:rPr>
                <a:t>为维尔克斯（</a:t>
              </a:r>
              <a:r>
                <a:rPr lang="en-US" altLang="zh-CN" sz="2400" dirty="0">
                  <a:latin typeface="Tahoma" panose="020B0604030504040204" pitchFamily="34" charset="0"/>
                  <a:sym typeface="+mn-ea"/>
                </a:rPr>
                <a:t>wilks</a:t>
              </a:r>
              <a:r>
                <a:rPr lang="zh-CN" altLang="en-US" sz="2400" dirty="0">
                  <a:latin typeface="Tahoma" panose="020B0604030504040204" pitchFamily="34" charset="0"/>
                  <a:sym typeface="+mn-ea"/>
                </a:rPr>
                <a:t>）统计量，   的分布称为维尔克斯分布，简记为 </a:t>
              </a:r>
              <a:endParaRPr lang="zh-CN" altLang="en-US" sz="2400" dirty="0"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52650" y="1101725"/>
            <a:ext cx="7886700" cy="4351338"/>
          </a:xfrm>
        </p:spPr>
        <p:txBody>
          <a:bodyPr/>
          <a:lstStyle/>
          <a:p>
            <a:pPr marL="0" indent="0">
              <a:buNone/>
            </a:pPr>
            <a:r>
              <a:rPr lang="zh-CN" altLang="en-US"/>
              <a:t>在实际应用中，通常把威尔克斯统计量转化为     统计量，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进而转化为</a:t>
            </a:r>
            <a:r>
              <a:rPr lang="en-US" altLang="zh-CN"/>
              <a:t>F</a:t>
            </a:r>
            <a:r>
              <a:rPr lang="zh-CN" altLang="en-US"/>
              <a:t>统计量，从而利用</a:t>
            </a:r>
            <a:r>
              <a:rPr lang="en-US" altLang="zh-CN"/>
              <a:t>F</a:t>
            </a:r>
            <a:r>
              <a:rPr lang="zh-CN" altLang="en-US"/>
              <a:t>统计量来解决相关问题。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与</a:t>
            </a:r>
            <a:r>
              <a:rPr lang="en-US" altLang="zh-CN"/>
              <a:t>F</a:t>
            </a:r>
            <a:r>
              <a:rPr lang="zh-CN" altLang="en-US"/>
              <a:t>统计量反向变化。</a:t>
            </a:r>
            <a:endParaRPr lang="zh-CN" altLang="en-US"/>
          </a:p>
        </p:txBody>
      </p:sp>
      <p:graphicFrame>
        <p:nvGraphicFramePr>
          <p:cNvPr id="4" name="对象 3"/>
          <p:cNvGraphicFramePr/>
          <p:nvPr/>
        </p:nvGraphicFramePr>
        <p:xfrm>
          <a:off x="8254366" y="1101726"/>
          <a:ext cx="522605" cy="5467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1" imgW="652145" imgH="522605" progId="Equation.DSMT4">
                  <p:embed/>
                </p:oleObj>
              </mc:Choice>
              <mc:Fallback>
                <p:oleObj name="" r:id="rId1" imgW="652145" imgH="522605" progId="Equation.DSMT4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254366" y="1101726"/>
                        <a:ext cx="522605" cy="5467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1924" name="Picture 4" descr="aaa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3429000"/>
            <a:ext cx="8229600" cy="990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AutoShape 9"/>
          <p:cNvSpPr/>
          <p:nvPr/>
        </p:nvSpPr>
        <p:spPr>
          <a:xfrm>
            <a:off x="1905000" y="3357246"/>
            <a:ext cx="8229600" cy="1133475"/>
          </a:xfrm>
          <a:prstGeom prst="roundRect">
            <a:avLst>
              <a:gd name="adj" fmla="val 16667"/>
            </a:avLst>
          </a:prstGeom>
          <a:solidFill>
            <a:schemeClr val="accent4">
              <a:lumMod val="20000"/>
              <a:lumOff val="80000"/>
              <a:alpha val="16000"/>
            </a:schemeClr>
          </a:solidFill>
          <a:ln w="9525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/>
          <a:lstStyle/>
          <a:p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1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68580" tIns="34290" rIns="68580" bIns="34290" rtlCol="0" anchor="b">
            <a:normAutofit/>
          </a:bodyPr>
          <a:lstStyle/>
          <a:p>
            <a:pPr eaLnBrk="1" hangingPunct="1"/>
            <a:r>
              <a:rPr lang="zh-CN" altLang="en-US" dirty="0"/>
              <a:t>小结</a:t>
            </a:r>
            <a:endParaRPr lang="zh-CN" altLang="en-US" dirty="0"/>
          </a:p>
        </p:txBody>
      </p:sp>
      <p:sp>
        <p:nvSpPr>
          <p:cNvPr id="4608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68580" tIns="34290" rIns="68580" bIns="34290" rtlCol="0" anchor="t">
            <a:normAutofit/>
          </a:bodyPr>
          <a:lstStyle/>
          <a:p>
            <a:pPr marL="457200" indent="-457200" algn="l">
              <a:buFont typeface="Arial" panose="020B0604020202090204" pitchFamily="34" charset="0"/>
              <a:buChar char="•"/>
            </a:pPr>
            <a:r>
              <a:rPr lang="zh-CN" altLang="en-US" sz="2000"/>
              <a:t>随机向量分布与独立性</a:t>
            </a:r>
            <a:endParaRPr lang="en-US" altLang="zh-CN" sz="2000" dirty="0"/>
          </a:p>
          <a:p>
            <a:pPr marL="457200" indent="-457200"/>
            <a:r>
              <a:rPr lang="zh-CN" altLang="en-US" sz="2000" dirty="0"/>
              <a:t>随机向量的数字特征</a:t>
            </a:r>
            <a:endParaRPr lang="en-US" altLang="zh-CN" sz="2000" dirty="0"/>
          </a:p>
          <a:p>
            <a:pPr marL="457200" indent="-457200" algn="l">
              <a:buFont typeface="Arial" panose="020B0604020202090204" pitchFamily="34" charset="0"/>
              <a:buChar char="•"/>
            </a:pPr>
            <a:r>
              <a:rPr lang="zh-CN" altLang="en-US" sz="2000" dirty="0"/>
              <a:t>多元正态分布的定义及性质</a:t>
            </a:r>
            <a:endParaRPr lang="zh-CN" altLang="en-US" sz="2000" dirty="0"/>
          </a:p>
          <a:p>
            <a:pPr marL="457200" indent="-457200" algn="l">
              <a:buFont typeface="Arial" panose="020B0604020202090204" pitchFamily="34" charset="0"/>
              <a:buChar char="•"/>
            </a:pPr>
            <a:r>
              <a:rPr lang="zh-CN" altLang="en-US" sz="2000" dirty="0"/>
              <a:t>均值向量和协方差阵的估计</a:t>
            </a:r>
            <a:endParaRPr lang="zh-CN" altLang="en-US" sz="2000" dirty="0"/>
          </a:p>
          <a:p>
            <a:pPr marL="457200" indent="-457200" algn="l">
              <a:buFont typeface="Arial" panose="020B0604020202090204" pitchFamily="34" charset="0"/>
              <a:buChar char="•"/>
            </a:pPr>
            <a:r>
              <a:rPr lang="zh-CN" altLang="en-US" sz="2000" dirty="0"/>
              <a:t>几种常用的抽样分布</a:t>
            </a:r>
            <a:endParaRPr lang="zh-CN" altLang="en-US" sz="2000" dirty="0"/>
          </a:p>
          <a:p>
            <a:pPr marL="0" indent="0">
              <a:buNone/>
            </a:pPr>
            <a:endParaRPr lang="zh-CN" altLang="en-US" sz="2100" dirty="0"/>
          </a:p>
        </p:txBody>
      </p:sp>
      <p:sp>
        <p:nvSpPr>
          <p:cNvPr id="4608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68580" tIns="34290" rIns="68580" bIns="34290" rtlCol="0" anchor="b">
            <a:norm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algn="r"/>
            <a:fld id="{9A0DB2DC-4C9A-4742-B13C-FB6460FD3503}" type="slidenum">
              <a:rPr lang="zh-CN" altLang="en-US" sz="1050" dirty="0"/>
            </a:fld>
            <a:endParaRPr lang="zh-CN" altLang="en-US" sz="105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TAG_VERSION" val="1.0"/>
  <p:tag name="KSO_WM_TEMPLATE_CATEGORY" val="custom"/>
  <p:tag name="KSO_WM_TEMPLATE_INDEX" val="20180000"/>
</p:tagLst>
</file>

<file path=ppt/tags/tag2.xml><?xml version="1.0" encoding="utf-8"?>
<p:tagLst xmlns:p="http://schemas.openxmlformats.org/presentationml/2006/main">
  <p:tag name="KSO_WM_TAG_VERSION" val="1.0"/>
  <p:tag name="KSO_WM_TEMPLATE_CATEGORY" val="custom"/>
  <p:tag name="KSO_WM_TEMPLATE_INDEX" val="20180000"/>
</p:tagLst>
</file>

<file path=ppt/tags/tag3.xml><?xml version="1.0" encoding="utf-8"?>
<p:tagLst xmlns:p="http://schemas.openxmlformats.org/presentationml/2006/main">
  <p:tag name="KSO_WM_TEMPLATE_CATEGORY" val="custom"/>
  <p:tag name="KSO_WM_TEMPLATE_INDEX" val="20182222"/>
  <p:tag name="KSO_WM_TAG_VERSION" val="1.0"/>
  <p:tag name="KSO_WM_TEMPLATE_THUMBS_INDEX" val="1、9、12、16、22、25、30、31、"/>
  <p:tag name="KSO_WM_BEAUTIFY_FLAG" val="#wm#"/>
</p:tagLst>
</file>

<file path=ppt/tags/tag4.xml><?xml version="1.0" encoding="utf-8"?>
<p:tagLst xmlns:p="http://schemas.openxmlformats.org/presentationml/2006/main">
  <p:tag name="commondata" val="eyJoZGlkIjoiOGRhOGEwNmFjNTQ2MzkwN2Y0OTYxOTYzOWY2OTM4ZWMifQ=="/>
</p:tagLst>
</file>

<file path=ppt/theme/theme1.xml><?xml version="1.0" encoding="utf-8"?>
<a:theme xmlns:a="http://schemas.openxmlformats.org/drawingml/2006/main" name="自定义设计方案">
  <a:themeElements>
    <a:clrScheme name="自定义 11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5B9BD5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4593</Words>
  <Application>WPS 演示</Application>
  <PresentationFormat>宽屏</PresentationFormat>
  <Paragraphs>411</Paragraphs>
  <Slides>47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27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134</vt:i4>
      </vt:variant>
      <vt:variant>
        <vt:lpstr>幻灯片标题</vt:lpstr>
      </vt:variant>
      <vt:variant>
        <vt:i4>47</vt:i4>
      </vt:variant>
    </vt:vector>
  </HeadingPairs>
  <TitlesOfParts>
    <vt:vector size="209" baseType="lpstr">
      <vt:lpstr>Arial</vt:lpstr>
      <vt:lpstr>宋体</vt:lpstr>
      <vt:lpstr>Wingdings</vt:lpstr>
      <vt:lpstr>微软雅黑</vt:lpstr>
      <vt:lpstr>Segoe UI</vt:lpstr>
      <vt:lpstr>Tahoma</vt:lpstr>
      <vt:lpstr>汉仪书宋二KW</vt:lpstr>
      <vt:lpstr>Times New Roman</vt:lpstr>
      <vt:lpstr>楷体_GB2312</vt:lpstr>
      <vt:lpstr>汉仪楷体简</vt:lpstr>
      <vt:lpstr>Symbol</vt:lpstr>
      <vt:lpstr>Kingsoft Sign</vt:lpstr>
      <vt:lpstr>黑体</vt:lpstr>
      <vt:lpstr>汉仪中黑KW</vt:lpstr>
      <vt:lpstr>汉仪旗黑</vt:lpstr>
      <vt:lpstr>宋体</vt:lpstr>
      <vt:lpstr>Arial Unicode MS</vt:lpstr>
      <vt:lpstr>Calibri</vt:lpstr>
      <vt:lpstr>Helvetica Neue</vt:lpstr>
      <vt:lpstr>Cambria Math</vt:lpstr>
      <vt:lpstr>Kingsoft Math</vt:lpstr>
      <vt:lpstr>华文新魏</vt:lpstr>
      <vt:lpstr>苹方-简</vt:lpstr>
      <vt:lpstr>宋体-简</vt:lpstr>
      <vt:lpstr>BatangChe</vt:lpstr>
      <vt:lpstr>Apple SD Gothic Neo</vt:lpstr>
      <vt:lpstr>STIX Two Math</vt:lpstr>
      <vt:lpstr>自定义设计方案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Equation.KSEE3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Equation.KSEE3</vt:lpstr>
      <vt:lpstr>Equation.DSMT4</vt:lpstr>
      <vt:lpstr>Excel.Sheet.8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Equation.KSEE3</vt:lpstr>
      <vt:lpstr>Equation.3</vt:lpstr>
      <vt:lpstr>Equation.KSEE3</vt:lpstr>
      <vt:lpstr>Equation.3</vt:lpstr>
      <vt:lpstr>Equation.3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Equation.DSMT4</vt:lpstr>
      <vt:lpstr>Equation.3</vt:lpstr>
      <vt:lpstr>Equation.DSMT4</vt:lpstr>
      <vt:lpstr>Equation.3</vt:lpstr>
      <vt:lpstr>Equation.3</vt:lpstr>
      <vt:lpstr>Equation.KSEE3</vt:lpstr>
      <vt:lpstr>Equation.KSEE3</vt:lpstr>
      <vt:lpstr>Equation.KSEE3</vt:lpstr>
      <vt:lpstr>Equation.3</vt:lpstr>
      <vt:lpstr>Equation.DSMT4</vt:lpstr>
      <vt:lpstr>Equation.DSMT4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Equation.KSEE3</vt:lpstr>
      <vt:lpstr>Equation.KSEE3</vt:lpstr>
      <vt:lpstr>Equation.KSEE3</vt:lpstr>
      <vt:lpstr>Equation.3</vt:lpstr>
      <vt:lpstr>Equation.DSMT4</vt:lpstr>
      <vt:lpstr>Equation.3</vt:lpstr>
      <vt:lpstr>Equation.KSEE3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第二章 多元正态分布及参数估计 </vt:lpstr>
      <vt:lpstr>PowerPoint 演示文稿</vt:lpstr>
      <vt:lpstr>第一节 基础知识</vt:lpstr>
      <vt:lpstr>一、随机向量</vt:lpstr>
      <vt:lpstr>二、多元分布函数与密度函数</vt:lpstr>
      <vt:lpstr>PowerPoint 演示文稿</vt:lpstr>
      <vt:lpstr>三、多元向量的独立性</vt:lpstr>
      <vt:lpstr>四、随机向量的数字特征</vt:lpstr>
      <vt:lpstr> （二）协方差矩阵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（四）样本均值与样本协方差阵</vt:lpstr>
      <vt:lpstr>PowerPoint 演示文稿</vt:lpstr>
      <vt:lpstr>3 样本相关系数阵 </vt:lpstr>
      <vt:lpstr> 第二节  多元正态分布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置信域与联立置信区间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维希特(Wishart)分布的性质： </vt:lpstr>
      <vt:lpstr>PowerPoint 演示文稿</vt:lpstr>
      <vt:lpstr>二、霍特林Hotelling     分布</vt:lpstr>
      <vt:lpstr>PowerPoint 演示文稿</vt:lpstr>
      <vt:lpstr>PowerPoint 演示文稿</vt:lpstr>
      <vt:lpstr>三、维尔克斯分布</vt:lpstr>
      <vt:lpstr>PowerPoint 演示文稿</vt:lpstr>
      <vt:lpstr>小结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6HGBYM2</dc:creator>
  <cp:lastModifiedBy>233</cp:lastModifiedBy>
  <cp:revision>143</cp:revision>
  <dcterms:created xsi:type="dcterms:W3CDTF">2024-12-05T08:31:28Z</dcterms:created>
  <dcterms:modified xsi:type="dcterms:W3CDTF">2024-12-05T08:31:28Z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2052-6.10.1.8873</vt:lpwstr>
  </property>
  <property fmtid="{D5CDD505-2E9C-101B-9397-08002B2CF9AE}" pid="3" name="ICV">
    <vt:lpwstr>D0C49100CD3D1595DF64516726FB4A6A_42</vt:lpwstr>
  </property>
</Properties>
</file>