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366" r:id="rId3"/>
    <p:sldId id="368" r:id="rId4"/>
    <p:sldId id="546" r:id="rId5"/>
    <p:sldId id="547" r:id="rId6"/>
    <p:sldId id="369" r:id="rId7"/>
    <p:sldId id="370" r:id="rId8"/>
    <p:sldId id="371" r:id="rId9"/>
    <p:sldId id="372" r:id="rId10"/>
    <p:sldId id="373" r:id="rId11"/>
    <p:sldId id="374" r:id="rId12"/>
    <p:sldId id="375" r:id="rId13"/>
    <p:sldId id="376" r:id="rId14"/>
    <p:sldId id="377" r:id="rId15"/>
    <p:sldId id="379" r:id="rId16"/>
    <p:sldId id="380" r:id="rId17"/>
    <p:sldId id="381" r:id="rId18"/>
    <p:sldId id="382" r:id="rId19"/>
    <p:sldId id="434" r:id="rId20"/>
    <p:sldId id="435" r:id="rId21"/>
    <p:sldId id="383" r:id="rId22"/>
    <p:sldId id="384" r:id="rId23"/>
    <p:sldId id="385" r:id="rId24"/>
    <p:sldId id="386" r:id="rId25"/>
    <p:sldId id="387" r:id="rId26"/>
    <p:sldId id="388" r:id="rId27"/>
    <p:sldId id="389" r:id="rId28"/>
    <p:sldId id="390" r:id="rId29"/>
    <p:sldId id="437" r:id="rId30"/>
    <p:sldId id="391" r:id="rId31"/>
    <p:sldId id="392" r:id="rId32"/>
    <p:sldId id="436" r:id="rId33"/>
    <p:sldId id="395" r:id="rId34"/>
    <p:sldId id="396" r:id="rId35"/>
    <p:sldId id="397" r:id="rId36"/>
    <p:sldId id="398" r:id="rId37"/>
    <p:sldId id="399" r:id="rId38"/>
    <p:sldId id="400" r:id="rId39"/>
    <p:sldId id="634" r:id="rId40"/>
  </p:sldIdLst>
  <p:sldSz cx="12192000" cy="6858000"/>
  <p:notesSz cx="7103745" cy="10234295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4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gs" Target="tags/tag4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7" Type="http://schemas.openxmlformats.org/officeDocument/2006/relationships/image" Target="../media/image12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33.wmf"/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.wmf"/><Relationship Id="rId8" Type="http://schemas.openxmlformats.org/officeDocument/2006/relationships/image" Target="../media/image41.wmf"/><Relationship Id="rId7" Type="http://schemas.openxmlformats.org/officeDocument/2006/relationships/image" Target="../media/image40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0" Type="http://schemas.openxmlformats.org/officeDocument/2006/relationships/image" Target="../media/image43.wmf"/><Relationship Id="rId1" Type="http://schemas.openxmlformats.org/officeDocument/2006/relationships/image" Target="../media/image34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54.wmf"/><Relationship Id="rId4" Type="http://schemas.openxmlformats.org/officeDocument/2006/relationships/image" Target="../media/image53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1.vml.rels><?xml version="1.0" encoding="UTF-8" standalone="yes"?>
<Relationships xmlns="http://schemas.openxmlformats.org/package/2006/relationships"><Relationship Id="rId7" Type="http://schemas.openxmlformats.org/officeDocument/2006/relationships/image" Target="../media/image60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52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66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15.vml.rels><?xml version="1.0" encoding="UTF-8" standalone="yes"?>
<Relationships xmlns="http://schemas.openxmlformats.org/package/2006/relationships"><Relationship Id="rId5" Type="http://schemas.openxmlformats.org/officeDocument/2006/relationships/image" Target="../media/image74.wmf"/><Relationship Id="rId4" Type="http://schemas.openxmlformats.org/officeDocument/2006/relationships/image" Target="../media/image73.wmf"/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18.vml.rels><?xml version="1.0" encoding="UTF-8" standalone="yes"?>
<Relationships xmlns="http://schemas.openxmlformats.org/package/2006/relationships"><Relationship Id="rId4" Type="http://schemas.openxmlformats.org/officeDocument/2006/relationships/image" Target="../media/image82.wmf"/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drawings/_rels/vmlDrawing22.vml.rels><?xml version="1.0" encoding="UTF-8" standalone="yes"?>
<Relationships xmlns="http://schemas.openxmlformats.org/package/2006/relationships"><Relationship Id="rId5" Type="http://schemas.openxmlformats.org/officeDocument/2006/relationships/image" Target="../media/image94.wmf"/><Relationship Id="rId4" Type="http://schemas.openxmlformats.org/officeDocument/2006/relationships/image" Target="../media/image93.wmf"/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23.vml.rels><?xml version="1.0" encoding="UTF-8" standalone="yes"?>
<Relationships xmlns="http://schemas.openxmlformats.org/package/2006/relationships"><Relationship Id="rId4" Type="http://schemas.openxmlformats.org/officeDocument/2006/relationships/image" Target="../media/image98.wmf"/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2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2.wmf"/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25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7" Type="http://schemas.openxmlformats.org/officeDocument/2006/relationships/image" Target="../media/image100.wmf"/><Relationship Id="rId6" Type="http://schemas.openxmlformats.org/officeDocument/2006/relationships/image" Target="../media/image99.w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Relationship Id="rId3" Type="http://schemas.openxmlformats.org/officeDocument/2006/relationships/image" Target="../media/image113.wmf"/><Relationship Id="rId2" Type="http://schemas.openxmlformats.org/officeDocument/2006/relationships/image" Target="../media/image95.wmf"/><Relationship Id="rId1" Type="http://schemas.openxmlformats.org/officeDocument/2006/relationships/image" Target="../media/image112.wmf"/></Relationships>
</file>

<file path=ppt/drawings/_rels/vmlDrawing28.vml.rels><?xml version="1.0" encoding="UTF-8" standalone="yes"?>
<Relationships xmlns="http://schemas.openxmlformats.org/package/2006/relationships"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7" Type="http://schemas.openxmlformats.org/officeDocument/2006/relationships/image" Target="../media/image128.wmf"/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H="1">
            <a:off x="11286047" y="5948624"/>
            <a:ext cx="884255" cy="909376"/>
          </a:xfrm>
          <a:custGeom>
            <a:avLst/>
            <a:gdLst>
              <a:gd name="connsiteX0" fmla="*/ 346668 w 884255"/>
              <a:gd name="connsiteY0" fmla="*/ 0 h 909376"/>
              <a:gd name="connsiteX1" fmla="*/ 884255 w 884255"/>
              <a:gd name="connsiteY1" fmla="*/ 537587 h 909376"/>
              <a:gd name="connsiteX2" fmla="*/ 792444 w 884255"/>
              <a:gd name="connsiteY2" fmla="*/ 838157 h 909376"/>
              <a:gd name="connsiteX3" fmla="*/ 733683 w 884255"/>
              <a:gd name="connsiteY3" fmla="*/ 909376 h 909376"/>
              <a:gd name="connsiteX4" fmla="*/ 0 w 884255"/>
              <a:gd name="connsiteY4" fmla="*/ 909376 h 909376"/>
              <a:gd name="connsiteX5" fmla="*/ 0 w 884255"/>
              <a:gd name="connsiteY5" fmla="*/ 129846 h 909376"/>
              <a:gd name="connsiteX6" fmla="*/ 46098 w 884255"/>
              <a:gd name="connsiteY6" fmla="*/ 91812 h 909376"/>
              <a:gd name="connsiteX7" fmla="*/ 346668 w 884255"/>
              <a:gd name="connsiteY7" fmla="*/ 0 h 909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4255" h="909376">
                <a:moveTo>
                  <a:pt x="346668" y="0"/>
                </a:moveTo>
                <a:cubicBezTo>
                  <a:pt x="643569" y="0"/>
                  <a:pt x="884255" y="240686"/>
                  <a:pt x="884255" y="537587"/>
                </a:cubicBezTo>
                <a:cubicBezTo>
                  <a:pt x="884255" y="648925"/>
                  <a:pt x="850409" y="752358"/>
                  <a:pt x="792444" y="838157"/>
                </a:cubicBezTo>
                <a:lnTo>
                  <a:pt x="733683" y="909376"/>
                </a:lnTo>
                <a:lnTo>
                  <a:pt x="0" y="909376"/>
                </a:lnTo>
                <a:lnTo>
                  <a:pt x="0" y="129846"/>
                </a:lnTo>
                <a:lnTo>
                  <a:pt x="46098" y="91812"/>
                </a:lnTo>
                <a:cubicBezTo>
                  <a:pt x="131897" y="33847"/>
                  <a:pt x="235330" y="0"/>
                  <a:pt x="3466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65100" dist="38100" dir="2700000" algn="tl" rotWithShape="0">
              <a:srgbClr val="2B579A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 flipH="1">
            <a:off x="10200090" y="5551714"/>
            <a:ext cx="1306287" cy="1306286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 flipH="1">
            <a:off x="11286047" y="5084467"/>
            <a:ext cx="633047" cy="633047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1" name="椭圆 10"/>
          <p:cNvSpPr/>
          <p:nvPr/>
        </p:nvSpPr>
        <p:spPr>
          <a:xfrm flipH="1">
            <a:off x="8941166" y="5948624"/>
            <a:ext cx="808156" cy="8081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 flipH="1">
            <a:off x="9172527" y="4877188"/>
            <a:ext cx="633047" cy="63304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 flipH="1">
            <a:off x="8887483" y="5502246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4" name="椭圆 13"/>
          <p:cNvSpPr/>
          <p:nvPr/>
        </p:nvSpPr>
        <p:spPr>
          <a:xfrm flipH="1">
            <a:off x="10716845" y="5326364"/>
            <a:ext cx="225351" cy="22535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5" name="椭圆 14"/>
          <p:cNvSpPr/>
          <p:nvPr/>
        </p:nvSpPr>
        <p:spPr>
          <a:xfrm flipH="1">
            <a:off x="11682959" y="4262913"/>
            <a:ext cx="225351" cy="2253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6" name="椭圆 15"/>
          <p:cNvSpPr/>
          <p:nvPr/>
        </p:nvSpPr>
        <p:spPr>
          <a:xfrm flipH="1">
            <a:off x="9909794" y="4488264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7" name="椭圆 16"/>
          <p:cNvSpPr/>
          <p:nvPr/>
        </p:nvSpPr>
        <p:spPr>
          <a:xfrm flipH="1">
            <a:off x="9899377" y="5392247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2336061"/>
            <a:ext cx="9144000" cy="1200329"/>
          </a:xfrm>
        </p:spPr>
        <p:txBody>
          <a:bodyPr anchor="b">
            <a:normAutofit/>
          </a:bodyPr>
          <a:lstStyle>
            <a:lvl1pPr algn="ctr"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28465"/>
            <a:ext cx="9144000" cy="535531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 flipH="1">
            <a:off x="1087573" y="1247412"/>
            <a:ext cx="665027" cy="633047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4" name="椭圆 23"/>
          <p:cNvSpPr/>
          <p:nvPr/>
        </p:nvSpPr>
        <p:spPr>
          <a:xfrm flipH="1">
            <a:off x="205154" y="256009"/>
            <a:ext cx="633047" cy="63304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5" name="椭圆 24"/>
          <p:cNvSpPr/>
          <p:nvPr/>
        </p:nvSpPr>
        <p:spPr>
          <a:xfrm flipH="1">
            <a:off x="215431" y="1328679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6" name="椭圆 25"/>
          <p:cNvSpPr/>
          <p:nvPr/>
        </p:nvSpPr>
        <p:spPr>
          <a:xfrm flipH="1">
            <a:off x="2097125" y="663705"/>
            <a:ext cx="225351" cy="2253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7" name="椭圆 26"/>
          <p:cNvSpPr/>
          <p:nvPr/>
        </p:nvSpPr>
        <p:spPr>
          <a:xfrm flipH="1">
            <a:off x="725877" y="1804831"/>
            <a:ext cx="225351" cy="2253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8" name="椭圆 27"/>
          <p:cNvSpPr/>
          <p:nvPr/>
        </p:nvSpPr>
        <p:spPr>
          <a:xfrm flipH="1">
            <a:off x="1237742" y="314697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9" name="椭圆 28"/>
          <p:cNvSpPr/>
          <p:nvPr/>
        </p:nvSpPr>
        <p:spPr>
          <a:xfrm flipH="1">
            <a:off x="725877" y="1041698"/>
            <a:ext cx="225351" cy="225351"/>
          </a:xfrm>
          <a:prstGeom prst="ellipse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30" name="椭圆 29"/>
          <p:cNvSpPr/>
          <p:nvPr/>
        </p:nvSpPr>
        <p:spPr>
          <a:xfrm flipH="1">
            <a:off x="1131651" y="663704"/>
            <a:ext cx="808156" cy="8081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Arial" panose="020B060402020209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065127" y="1899138"/>
            <a:ext cx="2471896" cy="2471896"/>
          </a:xfrm>
          <a:prstGeom prst="ellipse">
            <a:avLst/>
          </a:prstGeom>
          <a:solidFill>
            <a:schemeClr val="accent1">
              <a:lumMod val="60000"/>
              <a:lumOff val="40000"/>
              <a:alpha val="7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椭圆 7"/>
          <p:cNvSpPr/>
          <p:nvPr/>
        </p:nvSpPr>
        <p:spPr>
          <a:xfrm>
            <a:off x="1406771" y="2240783"/>
            <a:ext cx="1788607" cy="178860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9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537023" y="3155182"/>
            <a:ext cx="6450480" cy="0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2570805" y="5051810"/>
            <a:ext cx="221064" cy="221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椭圆 10"/>
          <p:cNvSpPr/>
          <p:nvPr/>
        </p:nvSpPr>
        <p:spPr>
          <a:xfrm>
            <a:off x="1577694" y="4557767"/>
            <a:ext cx="309823" cy="30982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76200" dist="38100" dir="2700000" algn="tl" rotWithShape="0">
              <a:srgbClr val="2B579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椭圆 11"/>
          <p:cNvSpPr/>
          <p:nvPr/>
        </p:nvSpPr>
        <p:spPr>
          <a:xfrm>
            <a:off x="1848999" y="6108561"/>
            <a:ext cx="221064" cy="22106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椭圆 12"/>
          <p:cNvSpPr/>
          <p:nvPr/>
        </p:nvSpPr>
        <p:spPr>
          <a:xfrm>
            <a:off x="2791869" y="5716676"/>
            <a:ext cx="147376" cy="14737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76200" dist="38100" dir="2700000" algn="tl" rotWithShape="0">
              <a:srgbClr val="2B579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椭圆 13"/>
          <p:cNvSpPr/>
          <p:nvPr/>
        </p:nvSpPr>
        <p:spPr>
          <a:xfrm>
            <a:off x="2359791" y="4068746"/>
            <a:ext cx="147376" cy="14737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611331" y="2149466"/>
            <a:ext cx="6223772" cy="97872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611331" y="3231383"/>
            <a:ext cx="6220880" cy="53553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15022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533823" y="1"/>
            <a:ext cx="9145467" cy="1154099"/>
            <a:chOff x="1533823" y="0"/>
            <a:chExt cx="9145467" cy="1154099"/>
          </a:xfrm>
        </p:grpSpPr>
        <p:sp>
          <p:nvSpPr>
            <p:cNvPr id="7" name="任意多边形: 形状 6"/>
            <p:cNvSpPr/>
            <p:nvPr/>
          </p:nvSpPr>
          <p:spPr>
            <a:xfrm flipV="1">
              <a:off x="3133630" y="0"/>
              <a:ext cx="1328050" cy="1049462"/>
            </a:xfrm>
            <a:custGeom>
              <a:avLst/>
              <a:gdLst>
                <a:gd name="connsiteX0" fmla="*/ 125100 w 1328050"/>
                <a:gd name="connsiteY0" fmla="*/ 1049462 h 1049462"/>
                <a:gd name="connsiteX1" fmla="*/ 1202951 w 1328050"/>
                <a:gd name="connsiteY1" fmla="*/ 1049462 h 1049462"/>
                <a:gd name="connsiteX2" fmla="*/ 1214645 w 1328050"/>
                <a:gd name="connsiteY2" fmla="*/ 1035288 h 1049462"/>
                <a:gd name="connsiteX3" fmla="*/ 1328050 w 1328050"/>
                <a:gd name="connsiteY3" fmla="*/ 664025 h 1049462"/>
                <a:gd name="connsiteX4" fmla="*/ 664025 w 1328050"/>
                <a:gd name="connsiteY4" fmla="*/ 0 h 1049462"/>
                <a:gd name="connsiteX5" fmla="*/ 0 w 1328050"/>
                <a:gd name="connsiteY5" fmla="*/ 664025 h 1049462"/>
                <a:gd name="connsiteX6" fmla="*/ 113405 w 1328050"/>
                <a:gd name="connsiteY6" fmla="*/ 1035288 h 104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8050" h="1049462">
                  <a:moveTo>
                    <a:pt x="125100" y="1049462"/>
                  </a:moveTo>
                  <a:lnTo>
                    <a:pt x="1202951" y="1049462"/>
                  </a:lnTo>
                  <a:lnTo>
                    <a:pt x="1214645" y="1035288"/>
                  </a:lnTo>
                  <a:cubicBezTo>
                    <a:pt x="1286243" y="929309"/>
                    <a:pt x="1328050" y="801549"/>
                    <a:pt x="1328050" y="664025"/>
                  </a:cubicBezTo>
                  <a:cubicBezTo>
                    <a:pt x="1328050" y="297294"/>
                    <a:pt x="1030756" y="0"/>
                    <a:pt x="664025" y="0"/>
                  </a:cubicBezTo>
                  <a:cubicBezTo>
                    <a:pt x="297294" y="0"/>
                    <a:pt x="0" y="297294"/>
                    <a:pt x="0" y="664025"/>
                  </a:cubicBezTo>
                  <a:cubicBezTo>
                    <a:pt x="0" y="801549"/>
                    <a:pt x="41807" y="929309"/>
                    <a:pt x="113405" y="103528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1143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8" name="任意多边形: 形状 7"/>
            <p:cNvSpPr/>
            <p:nvPr/>
          </p:nvSpPr>
          <p:spPr>
            <a:xfrm flipV="1">
              <a:off x="4771823" y="0"/>
              <a:ext cx="777822" cy="459209"/>
            </a:xfrm>
            <a:custGeom>
              <a:avLst/>
              <a:gdLst>
                <a:gd name="connsiteX0" fmla="*/ 14193 w 777822"/>
                <a:gd name="connsiteY0" fmla="*/ 459209 h 459209"/>
                <a:gd name="connsiteX1" fmla="*/ 763630 w 777822"/>
                <a:gd name="connsiteY1" fmla="*/ 459209 h 459209"/>
                <a:gd name="connsiteX2" fmla="*/ 777822 w 777822"/>
                <a:gd name="connsiteY2" fmla="*/ 388911 h 459209"/>
                <a:gd name="connsiteX3" fmla="*/ 388911 w 777822"/>
                <a:gd name="connsiteY3" fmla="*/ 0 h 459209"/>
                <a:gd name="connsiteX4" fmla="*/ 0 w 777822"/>
                <a:gd name="connsiteY4" fmla="*/ 388911 h 459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822" h="459209">
                  <a:moveTo>
                    <a:pt x="14193" y="459209"/>
                  </a:moveTo>
                  <a:lnTo>
                    <a:pt x="763630" y="459209"/>
                  </a:lnTo>
                  <a:lnTo>
                    <a:pt x="777822" y="388911"/>
                  </a:lnTo>
                  <a:cubicBezTo>
                    <a:pt x="777822" y="174121"/>
                    <a:pt x="603701" y="0"/>
                    <a:pt x="388911" y="0"/>
                  </a:cubicBezTo>
                  <a:cubicBezTo>
                    <a:pt x="174121" y="0"/>
                    <a:pt x="0" y="174121"/>
                    <a:pt x="0" y="3889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9" name="椭圆 8"/>
            <p:cNvSpPr/>
            <p:nvPr/>
          </p:nvSpPr>
          <p:spPr>
            <a:xfrm flipV="1">
              <a:off x="5834776" y="271636"/>
              <a:ext cx="777826" cy="7778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任意多边形: 形状 9"/>
            <p:cNvSpPr/>
            <p:nvPr/>
          </p:nvSpPr>
          <p:spPr>
            <a:xfrm flipV="1">
              <a:off x="7112798" y="0"/>
              <a:ext cx="887872" cy="629286"/>
            </a:xfrm>
            <a:custGeom>
              <a:avLst/>
              <a:gdLst>
                <a:gd name="connsiteX0" fmla="*/ 41699 w 887872"/>
                <a:gd name="connsiteY0" fmla="*/ 629286 h 629286"/>
                <a:gd name="connsiteX1" fmla="*/ 846174 w 887872"/>
                <a:gd name="connsiteY1" fmla="*/ 629286 h 629286"/>
                <a:gd name="connsiteX2" fmla="*/ 852986 w 887872"/>
                <a:gd name="connsiteY2" fmla="*/ 616736 h 629286"/>
                <a:gd name="connsiteX3" fmla="*/ 887872 w 887872"/>
                <a:gd name="connsiteY3" fmla="*/ 443936 h 629286"/>
                <a:gd name="connsiteX4" fmla="*/ 443936 w 887872"/>
                <a:gd name="connsiteY4" fmla="*/ 0 h 629286"/>
                <a:gd name="connsiteX5" fmla="*/ 0 w 887872"/>
                <a:gd name="connsiteY5" fmla="*/ 443936 h 629286"/>
                <a:gd name="connsiteX6" fmla="*/ 34887 w 887872"/>
                <a:gd name="connsiteY6" fmla="*/ 616736 h 629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7872" h="629286">
                  <a:moveTo>
                    <a:pt x="41699" y="629286"/>
                  </a:moveTo>
                  <a:lnTo>
                    <a:pt x="846174" y="629286"/>
                  </a:lnTo>
                  <a:lnTo>
                    <a:pt x="852986" y="616736"/>
                  </a:lnTo>
                  <a:cubicBezTo>
                    <a:pt x="875450" y="563624"/>
                    <a:pt x="887872" y="505231"/>
                    <a:pt x="887872" y="443936"/>
                  </a:cubicBezTo>
                  <a:cubicBezTo>
                    <a:pt x="887872" y="198757"/>
                    <a:pt x="689115" y="0"/>
                    <a:pt x="443936" y="0"/>
                  </a:cubicBezTo>
                  <a:cubicBezTo>
                    <a:pt x="198757" y="0"/>
                    <a:pt x="0" y="198757"/>
                    <a:pt x="0" y="443936"/>
                  </a:cubicBezTo>
                  <a:cubicBezTo>
                    <a:pt x="0" y="505231"/>
                    <a:pt x="12423" y="563624"/>
                    <a:pt x="34887" y="6167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1" name="任意多边形: 形状 10"/>
            <p:cNvSpPr/>
            <p:nvPr/>
          </p:nvSpPr>
          <p:spPr>
            <a:xfrm flipV="1">
              <a:off x="8333916" y="1"/>
              <a:ext cx="1450608" cy="1143677"/>
            </a:xfrm>
            <a:custGeom>
              <a:avLst/>
              <a:gdLst>
                <a:gd name="connsiteX0" fmla="*/ 134472 w 1450608"/>
                <a:gd name="connsiteY0" fmla="*/ 1143677 h 1143677"/>
                <a:gd name="connsiteX1" fmla="*/ 1316136 w 1450608"/>
                <a:gd name="connsiteY1" fmla="*/ 1143677 h 1143677"/>
                <a:gd name="connsiteX2" fmla="*/ 1326737 w 1450608"/>
                <a:gd name="connsiteY2" fmla="*/ 1130828 h 1143677"/>
                <a:gd name="connsiteX3" fmla="*/ 1450608 w 1450608"/>
                <a:gd name="connsiteY3" fmla="*/ 725304 h 1143677"/>
                <a:gd name="connsiteX4" fmla="*/ 725304 w 1450608"/>
                <a:gd name="connsiteY4" fmla="*/ 0 h 1143677"/>
                <a:gd name="connsiteX5" fmla="*/ 0 w 1450608"/>
                <a:gd name="connsiteY5" fmla="*/ 725304 h 1143677"/>
                <a:gd name="connsiteX6" fmla="*/ 123871 w 1450608"/>
                <a:gd name="connsiteY6" fmla="*/ 1130828 h 114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0608" h="1143677">
                  <a:moveTo>
                    <a:pt x="134472" y="1143677"/>
                  </a:moveTo>
                  <a:lnTo>
                    <a:pt x="1316136" y="1143677"/>
                  </a:lnTo>
                  <a:lnTo>
                    <a:pt x="1326737" y="1130828"/>
                  </a:lnTo>
                  <a:cubicBezTo>
                    <a:pt x="1404943" y="1015069"/>
                    <a:pt x="1450608" y="875519"/>
                    <a:pt x="1450608" y="725304"/>
                  </a:cubicBezTo>
                  <a:cubicBezTo>
                    <a:pt x="1450608" y="324730"/>
                    <a:pt x="1125878" y="0"/>
                    <a:pt x="725304" y="0"/>
                  </a:cubicBezTo>
                  <a:cubicBezTo>
                    <a:pt x="324730" y="0"/>
                    <a:pt x="0" y="324730"/>
                    <a:pt x="0" y="725304"/>
                  </a:cubicBezTo>
                  <a:cubicBezTo>
                    <a:pt x="0" y="875519"/>
                    <a:pt x="45665" y="1015069"/>
                    <a:pt x="123871" y="1130828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2" name="椭圆 11"/>
            <p:cNvSpPr/>
            <p:nvPr/>
          </p:nvSpPr>
          <p:spPr>
            <a:xfrm flipV="1">
              <a:off x="2286980" y="511738"/>
              <a:ext cx="561520" cy="5615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" name="任意多边形: 形状 12"/>
            <p:cNvSpPr/>
            <p:nvPr/>
          </p:nvSpPr>
          <p:spPr>
            <a:xfrm flipV="1">
              <a:off x="1533823" y="0"/>
              <a:ext cx="786976" cy="418373"/>
            </a:xfrm>
            <a:custGeom>
              <a:avLst/>
              <a:gdLst>
                <a:gd name="connsiteX0" fmla="*/ 2509 w 786976"/>
                <a:gd name="connsiteY0" fmla="*/ 418373 h 418373"/>
                <a:gd name="connsiteX1" fmla="*/ 784468 w 786976"/>
                <a:gd name="connsiteY1" fmla="*/ 418373 h 418373"/>
                <a:gd name="connsiteX2" fmla="*/ 786976 w 786976"/>
                <a:gd name="connsiteY2" fmla="*/ 393488 h 418373"/>
                <a:gd name="connsiteX3" fmla="*/ 393488 w 786976"/>
                <a:gd name="connsiteY3" fmla="*/ 0 h 418373"/>
                <a:gd name="connsiteX4" fmla="*/ 0 w 786976"/>
                <a:gd name="connsiteY4" fmla="*/ 393488 h 41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976" h="418373">
                  <a:moveTo>
                    <a:pt x="2509" y="418373"/>
                  </a:moveTo>
                  <a:lnTo>
                    <a:pt x="784468" y="418373"/>
                  </a:lnTo>
                  <a:lnTo>
                    <a:pt x="786976" y="393488"/>
                  </a:lnTo>
                  <a:cubicBezTo>
                    <a:pt x="786976" y="176171"/>
                    <a:pt x="610805" y="0"/>
                    <a:pt x="393488" y="0"/>
                  </a:cubicBezTo>
                  <a:cubicBezTo>
                    <a:pt x="176171" y="0"/>
                    <a:pt x="0" y="176171"/>
                    <a:pt x="0" y="3934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4" name="椭圆 13"/>
            <p:cNvSpPr/>
            <p:nvPr/>
          </p:nvSpPr>
          <p:spPr>
            <a:xfrm flipV="1">
              <a:off x="10117770" y="483400"/>
              <a:ext cx="561520" cy="5615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" name="椭圆 14"/>
            <p:cNvSpPr/>
            <p:nvPr/>
          </p:nvSpPr>
          <p:spPr>
            <a:xfrm flipV="1">
              <a:off x="6819661" y="779752"/>
              <a:ext cx="374347" cy="37434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6" name="组合 15"/>
          <p:cNvGrpSpPr/>
          <p:nvPr/>
        </p:nvGrpSpPr>
        <p:grpSpPr>
          <a:xfrm flipV="1">
            <a:off x="1533823" y="5695274"/>
            <a:ext cx="9145467" cy="1154099"/>
            <a:chOff x="1533823" y="0"/>
            <a:chExt cx="9145467" cy="1154099"/>
          </a:xfrm>
        </p:grpSpPr>
        <p:sp>
          <p:nvSpPr>
            <p:cNvPr id="17" name="任意多边形: 形状 16"/>
            <p:cNvSpPr/>
            <p:nvPr/>
          </p:nvSpPr>
          <p:spPr>
            <a:xfrm flipV="1">
              <a:off x="3133630" y="0"/>
              <a:ext cx="1328050" cy="1049462"/>
            </a:xfrm>
            <a:custGeom>
              <a:avLst/>
              <a:gdLst>
                <a:gd name="connsiteX0" fmla="*/ 125100 w 1328050"/>
                <a:gd name="connsiteY0" fmla="*/ 1049462 h 1049462"/>
                <a:gd name="connsiteX1" fmla="*/ 1202951 w 1328050"/>
                <a:gd name="connsiteY1" fmla="*/ 1049462 h 1049462"/>
                <a:gd name="connsiteX2" fmla="*/ 1214645 w 1328050"/>
                <a:gd name="connsiteY2" fmla="*/ 1035288 h 1049462"/>
                <a:gd name="connsiteX3" fmla="*/ 1328050 w 1328050"/>
                <a:gd name="connsiteY3" fmla="*/ 664025 h 1049462"/>
                <a:gd name="connsiteX4" fmla="*/ 664025 w 1328050"/>
                <a:gd name="connsiteY4" fmla="*/ 0 h 1049462"/>
                <a:gd name="connsiteX5" fmla="*/ 0 w 1328050"/>
                <a:gd name="connsiteY5" fmla="*/ 664025 h 1049462"/>
                <a:gd name="connsiteX6" fmla="*/ 113405 w 1328050"/>
                <a:gd name="connsiteY6" fmla="*/ 1035288 h 104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8050" h="1049462">
                  <a:moveTo>
                    <a:pt x="125100" y="1049462"/>
                  </a:moveTo>
                  <a:lnTo>
                    <a:pt x="1202951" y="1049462"/>
                  </a:lnTo>
                  <a:lnTo>
                    <a:pt x="1214645" y="1035288"/>
                  </a:lnTo>
                  <a:cubicBezTo>
                    <a:pt x="1286243" y="929309"/>
                    <a:pt x="1328050" y="801549"/>
                    <a:pt x="1328050" y="664025"/>
                  </a:cubicBezTo>
                  <a:cubicBezTo>
                    <a:pt x="1328050" y="297294"/>
                    <a:pt x="1030756" y="0"/>
                    <a:pt x="664025" y="0"/>
                  </a:cubicBezTo>
                  <a:cubicBezTo>
                    <a:pt x="297294" y="0"/>
                    <a:pt x="0" y="297294"/>
                    <a:pt x="0" y="664025"/>
                  </a:cubicBezTo>
                  <a:cubicBezTo>
                    <a:pt x="0" y="801549"/>
                    <a:pt x="41807" y="929309"/>
                    <a:pt x="113405" y="103528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1143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8" name="任意多边形: 形状 17"/>
            <p:cNvSpPr/>
            <p:nvPr/>
          </p:nvSpPr>
          <p:spPr>
            <a:xfrm flipV="1">
              <a:off x="4771823" y="0"/>
              <a:ext cx="777822" cy="459209"/>
            </a:xfrm>
            <a:custGeom>
              <a:avLst/>
              <a:gdLst>
                <a:gd name="connsiteX0" fmla="*/ 14193 w 777822"/>
                <a:gd name="connsiteY0" fmla="*/ 459209 h 459209"/>
                <a:gd name="connsiteX1" fmla="*/ 763630 w 777822"/>
                <a:gd name="connsiteY1" fmla="*/ 459209 h 459209"/>
                <a:gd name="connsiteX2" fmla="*/ 777822 w 777822"/>
                <a:gd name="connsiteY2" fmla="*/ 388911 h 459209"/>
                <a:gd name="connsiteX3" fmla="*/ 388911 w 777822"/>
                <a:gd name="connsiteY3" fmla="*/ 0 h 459209"/>
                <a:gd name="connsiteX4" fmla="*/ 0 w 777822"/>
                <a:gd name="connsiteY4" fmla="*/ 388911 h 459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822" h="459209">
                  <a:moveTo>
                    <a:pt x="14193" y="459209"/>
                  </a:moveTo>
                  <a:lnTo>
                    <a:pt x="763630" y="459209"/>
                  </a:lnTo>
                  <a:lnTo>
                    <a:pt x="777822" y="388911"/>
                  </a:lnTo>
                  <a:cubicBezTo>
                    <a:pt x="777822" y="174121"/>
                    <a:pt x="603701" y="0"/>
                    <a:pt x="388911" y="0"/>
                  </a:cubicBezTo>
                  <a:cubicBezTo>
                    <a:pt x="174121" y="0"/>
                    <a:pt x="0" y="174121"/>
                    <a:pt x="0" y="3889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286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19" name="椭圆 18"/>
            <p:cNvSpPr/>
            <p:nvPr/>
          </p:nvSpPr>
          <p:spPr>
            <a:xfrm flipV="1">
              <a:off x="5834776" y="271636"/>
              <a:ext cx="777826" cy="7778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/>
            <p:nvPr/>
          </p:nvSpPr>
          <p:spPr>
            <a:xfrm flipV="1">
              <a:off x="7112798" y="0"/>
              <a:ext cx="887872" cy="629286"/>
            </a:xfrm>
            <a:custGeom>
              <a:avLst/>
              <a:gdLst>
                <a:gd name="connsiteX0" fmla="*/ 41699 w 887872"/>
                <a:gd name="connsiteY0" fmla="*/ 629286 h 629286"/>
                <a:gd name="connsiteX1" fmla="*/ 846174 w 887872"/>
                <a:gd name="connsiteY1" fmla="*/ 629286 h 629286"/>
                <a:gd name="connsiteX2" fmla="*/ 852986 w 887872"/>
                <a:gd name="connsiteY2" fmla="*/ 616736 h 629286"/>
                <a:gd name="connsiteX3" fmla="*/ 887872 w 887872"/>
                <a:gd name="connsiteY3" fmla="*/ 443936 h 629286"/>
                <a:gd name="connsiteX4" fmla="*/ 443936 w 887872"/>
                <a:gd name="connsiteY4" fmla="*/ 0 h 629286"/>
                <a:gd name="connsiteX5" fmla="*/ 0 w 887872"/>
                <a:gd name="connsiteY5" fmla="*/ 443936 h 629286"/>
                <a:gd name="connsiteX6" fmla="*/ 34887 w 887872"/>
                <a:gd name="connsiteY6" fmla="*/ 616736 h 629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7872" h="629286">
                  <a:moveTo>
                    <a:pt x="41699" y="629286"/>
                  </a:moveTo>
                  <a:lnTo>
                    <a:pt x="846174" y="629286"/>
                  </a:lnTo>
                  <a:lnTo>
                    <a:pt x="852986" y="616736"/>
                  </a:lnTo>
                  <a:cubicBezTo>
                    <a:pt x="875450" y="563624"/>
                    <a:pt x="887872" y="505231"/>
                    <a:pt x="887872" y="443936"/>
                  </a:cubicBezTo>
                  <a:cubicBezTo>
                    <a:pt x="887872" y="198757"/>
                    <a:pt x="689115" y="0"/>
                    <a:pt x="443936" y="0"/>
                  </a:cubicBezTo>
                  <a:cubicBezTo>
                    <a:pt x="198757" y="0"/>
                    <a:pt x="0" y="198757"/>
                    <a:pt x="0" y="443936"/>
                  </a:cubicBezTo>
                  <a:cubicBezTo>
                    <a:pt x="0" y="505231"/>
                    <a:pt x="12423" y="563624"/>
                    <a:pt x="34887" y="6167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1" name="任意多边形: 形状 20"/>
            <p:cNvSpPr/>
            <p:nvPr/>
          </p:nvSpPr>
          <p:spPr>
            <a:xfrm flipV="1">
              <a:off x="8333916" y="1"/>
              <a:ext cx="1450608" cy="1143677"/>
            </a:xfrm>
            <a:custGeom>
              <a:avLst/>
              <a:gdLst>
                <a:gd name="connsiteX0" fmla="*/ 134472 w 1450608"/>
                <a:gd name="connsiteY0" fmla="*/ 1143677 h 1143677"/>
                <a:gd name="connsiteX1" fmla="*/ 1316136 w 1450608"/>
                <a:gd name="connsiteY1" fmla="*/ 1143677 h 1143677"/>
                <a:gd name="connsiteX2" fmla="*/ 1326737 w 1450608"/>
                <a:gd name="connsiteY2" fmla="*/ 1130828 h 1143677"/>
                <a:gd name="connsiteX3" fmla="*/ 1450608 w 1450608"/>
                <a:gd name="connsiteY3" fmla="*/ 725304 h 1143677"/>
                <a:gd name="connsiteX4" fmla="*/ 725304 w 1450608"/>
                <a:gd name="connsiteY4" fmla="*/ 0 h 1143677"/>
                <a:gd name="connsiteX5" fmla="*/ 0 w 1450608"/>
                <a:gd name="connsiteY5" fmla="*/ 725304 h 1143677"/>
                <a:gd name="connsiteX6" fmla="*/ 123871 w 1450608"/>
                <a:gd name="connsiteY6" fmla="*/ 1130828 h 114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0608" h="1143677">
                  <a:moveTo>
                    <a:pt x="134472" y="1143677"/>
                  </a:moveTo>
                  <a:lnTo>
                    <a:pt x="1316136" y="1143677"/>
                  </a:lnTo>
                  <a:lnTo>
                    <a:pt x="1326737" y="1130828"/>
                  </a:lnTo>
                  <a:cubicBezTo>
                    <a:pt x="1404943" y="1015069"/>
                    <a:pt x="1450608" y="875519"/>
                    <a:pt x="1450608" y="725304"/>
                  </a:cubicBezTo>
                  <a:cubicBezTo>
                    <a:pt x="1450608" y="324730"/>
                    <a:pt x="1125878" y="0"/>
                    <a:pt x="725304" y="0"/>
                  </a:cubicBezTo>
                  <a:cubicBezTo>
                    <a:pt x="324730" y="0"/>
                    <a:pt x="0" y="324730"/>
                    <a:pt x="0" y="725304"/>
                  </a:cubicBezTo>
                  <a:cubicBezTo>
                    <a:pt x="0" y="875519"/>
                    <a:pt x="45665" y="1015069"/>
                    <a:pt x="123871" y="1130828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2" name="椭圆 21"/>
            <p:cNvSpPr/>
            <p:nvPr/>
          </p:nvSpPr>
          <p:spPr>
            <a:xfrm flipV="1">
              <a:off x="2286980" y="511738"/>
              <a:ext cx="561520" cy="56152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任意多边形: 形状 22"/>
            <p:cNvSpPr/>
            <p:nvPr/>
          </p:nvSpPr>
          <p:spPr>
            <a:xfrm flipV="1">
              <a:off x="1533823" y="0"/>
              <a:ext cx="786976" cy="418373"/>
            </a:xfrm>
            <a:custGeom>
              <a:avLst/>
              <a:gdLst>
                <a:gd name="connsiteX0" fmla="*/ 2509 w 786976"/>
                <a:gd name="connsiteY0" fmla="*/ 418373 h 418373"/>
                <a:gd name="connsiteX1" fmla="*/ 784468 w 786976"/>
                <a:gd name="connsiteY1" fmla="*/ 418373 h 418373"/>
                <a:gd name="connsiteX2" fmla="*/ 786976 w 786976"/>
                <a:gd name="connsiteY2" fmla="*/ 393488 h 418373"/>
                <a:gd name="connsiteX3" fmla="*/ 393488 w 786976"/>
                <a:gd name="connsiteY3" fmla="*/ 0 h 418373"/>
                <a:gd name="connsiteX4" fmla="*/ 0 w 786976"/>
                <a:gd name="connsiteY4" fmla="*/ 393488 h 41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976" h="418373">
                  <a:moveTo>
                    <a:pt x="2509" y="418373"/>
                  </a:moveTo>
                  <a:lnTo>
                    <a:pt x="784468" y="418373"/>
                  </a:lnTo>
                  <a:lnTo>
                    <a:pt x="786976" y="393488"/>
                  </a:lnTo>
                  <a:cubicBezTo>
                    <a:pt x="786976" y="176171"/>
                    <a:pt x="610805" y="0"/>
                    <a:pt x="393488" y="0"/>
                  </a:cubicBezTo>
                  <a:cubicBezTo>
                    <a:pt x="176171" y="0"/>
                    <a:pt x="0" y="176171"/>
                    <a:pt x="0" y="3934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4" name="椭圆 23"/>
            <p:cNvSpPr/>
            <p:nvPr/>
          </p:nvSpPr>
          <p:spPr>
            <a:xfrm flipV="1">
              <a:off x="10117770" y="483400"/>
              <a:ext cx="561520" cy="5615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椭圆 24"/>
            <p:cNvSpPr/>
            <p:nvPr/>
          </p:nvSpPr>
          <p:spPr>
            <a:xfrm flipV="1">
              <a:off x="6819661" y="779752"/>
              <a:ext cx="374347" cy="374347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65889" y="2302403"/>
            <a:ext cx="10515600" cy="1569660"/>
          </a:xfrm>
        </p:spPr>
        <p:txBody>
          <a:bodyPr>
            <a:normAutofit/>
          </a:bodyPr>
          <a:lstStyle>
            <a:lvl1pPr algn="ctr">
              <a:defRPr sz="80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4572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396603" y="365125"/>
            <a:ext cx="957197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9445668" cy="5811838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4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4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3.xml"/><Relationship Id="rId15" Type="http://schemas.openxmlformats.org/officeDocument/2006/relationships/tags" Target="../tags/tag2.xml"/><Relationship Id="rId14" Type="http://schemas.openxmlformats.org/officeDocument/2006/relationships/tags" Target="../tags/tag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rot="10800000">
            <a:off x="46587" y="5707287"/>
            <a:ext cx="1430939" cy="1085390"/>
            <a:chOff x="46587" y="5707287"/>
            <a:chExt cx="1430938" cy="1085390"/>
          </a:xfrm>
        </p:grpSpPr>
        <p:sp>
          <p:nvSpPr>
            <p:cNvPr id="8" name="椭圆 7"/>
            <p:cNvSpPr/>
            <p:nvPr/>
          </p:nvSpPr>
          <p:spPr>
            <a:xfrm>
              <a:off x="649487" y="6446845"/>
              <a:ext cx="345832" cy="3458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" name="椭圆 8"/>
            <p:cNvSpPr/>
            <p:nvPr/>
          </p:nvSpPr>
          <p:spPr>
            <a:xfrm>
              <a:off x="966734" y="5707287"/>
              <a:ext cx="510791" cy="510791"/>
            </a:xfrm>
            <a:prstGeom prst="ellipse">
              <a:avLst/>
            </a:prstGeom>
            <a:solidFill>
              <a:schemeClr val="accent1">
                <a:lumMod val="75000"/>
                <a:alpha val="65000"/>
              </a:schemeClr>
            </a:solidFill>
            <a:ln>
              <a:noFill/>
            </a:ln>
            <a:effectLst>
              <a:outerShdw blurRad="76200" dist="38100" dir="2700000" algn="tl" rotWithShape="0">
                <a:srgbClr val="2B579A">
                  <a:alpha val="5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椭圆 9"/>
            <p:cNvSpPr/>
            <p:nvPr/>
          </p:nvSpPr>
          <p:spPr>
            <a:xfrm>
              <a:off x="46587" y="6234989"/>
              <a:ext cx="221063" cy="22106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75000"/>
              </a:schemeClr>
            </a:solidFill>
            <a:ln>
              <a:noFill/>
            </a:ln>
            <a:effectLst>
              <a:outerShdw blurRad="76200" dist="38100" dir="2700000" algn="tl" rotWithShape="0">
                <a:srgbClr val="2B579A">
                  <a:alpha val="61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A6D4A088-84C6-4E25-8974-50052BF70A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5F6551D-C697-47F0-8D0F-B52E4434774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>
            <p:custDataLst>
              <p:tags r:id="rId1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image" Target="../media/image9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6.wmf"/><Relationship Id="rId16" Type="http://schemas.openxmlformats.org/officeDocument/2006/relationships/vmlDrawing" Target="../drawings/vmlDrawing2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2.wmf"/><Relationship Id="rId13" Type="http://schemas.openxmlformats.org/officeDocument/2006/relationships/oleObject" Target="../embeddings/oleObject11.bin"/><Relationship Id="rId12" Type="http://schemas.openxmlformats.org/officeDocument/2006/relationships/image" Target="../media/image11.wmf"/><Relationship Id="rId11" Type="http://schemas.openxmlformats.org/officeDocument/2006/relationships/oleObject" Target="../embeddings/oleObject10.bin"/><Relationship Id="rId10" Type="http://schemas.openxmlformats.org/officeDocument/2006/relationships/image" Target="../media/image10.wmf"/><Relationship Id="rId1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6.w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3.wmf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0.wmf"/><Relationship Id="rId7" Type="http://schemas.openxmlformats.org/officeDocument/2006/relationships/oleObject" Target="../embeddings/oleObject19.bin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7.wmf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16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24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21.wmf"/><Relationship Id="rId14" Type="http://schemas.openxmlformats.org/officeDocument/2006/relationships/vmlDrawing" Target="../drawings/vmlDrawing5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6.wmf"/><Relationship Id="rId11" Type="http://schemas.openxmlformats.org/officeDocument/2006/relationships/oleObject" Target="../embeddings/oleObject25.bin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20.bin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27.wmf"/><Relationship Id="rId1" Type="http://schemas.openxmlformats.org/officeDocument/2006/relationships/oleObject" Target="../embeddings/oleObject26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wmf"/><Relationship Id="rId8" Type="http://schemas.openxmlformats.org/officeDocument/2006/relationships/oleObject" Target="../embeddings/oleObject31.bin"/><Relationship Id="rId7" Type="http://schemas.openxmlformats.org/officeDocument/2006/relationships/image" Target="../media/image32.png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0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29.wmf"/><Relationship Id="rId11" Type="http://schemas.openxmlformats.org/officeDocument/2006/relationships/vmlDrawing" Target="../drawings/vmlDrawing7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28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.bin"/><Relationship Id="rId8" Type="http://schemas.openxmlformats.org/officeDocument/2006/relationships/image" Target="../media/image37.wmf"/><Relationship Id="rId7" Type="http://schemas.openxmlformats.org/officeDocument/2006/relationships/oleObject" Target="../embeddings/oleObject35.bin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5.wmf"/><Relationship Id="rId3" Type="http://schemas.openxmlformats.org/officeDocument/2006/relationships/oleObject" Target="../embeddings/oleObject33.bin"/><Relationship Id="rId22" Type="http://schemas.openxmlformats.org/officeDocument/2006/relationships/vmlDrawing" Target="../drawings/vmlDrawing8.v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43.wmf"/><Relationship Id="rId2" Type="http://schemas.openxmlformats.org/officeDocument/2006/relationships/image" Target="../media/image34.wmf"/><Relationship Id="rId19" Type="http://schemas.openxmlformats.org/officeDocument/2006/relationships/oleObject" Target="../embeddings/oleObject41.bin"/><Relationship Id="rId18" Type="http://schemas.openxmlformats.org/officeDocument/2006/relationships/image" Target="../media/image42.wmf"/><Relationship Id="rId17" Type="http://schemas.openxmlformats.org/officeDocument/2006/relationships/oleObject" Target="../embeddings/oleObject40.bin"/><Relationship Id="rId16" Type="http://schemas.openxmlformats.org/officeDocument/2006/relationships/image" Target="../media/image41.wmf"/><Relationship Id="rId15" Type="http://schemas.openxmlformats.org/officeDocument/2006/relationships/oleObject" Target="../embeddings/oleObject39.bin"/><Relationship Id="rId14" Type="http://schemas.openxmlformats.org/officeDocument/2006/relationships/image" Target="../media/image40.wmf"/><Relationship Id="rId13" Type="http://schemas.openxmlformats.org/officeDocument/2006/relationships/oleObject" Target="../embeddings/oleObject38.bin"/><Relationship Id="rId12" Type="http://schemas.openxmlformats.org/officeDocument/2006/relationships/image" Target="../media/image39.wmf"/><Relationship Id="rId11" Type="http://schemas.openxmlformats.org/officeDocument/2006/relationships/oleObject" Target="../embeddings/oleObject37.bin"/><Relationship Id="rId10" Type="http://schemas.openxmlformats.org/officeDocument/2006/relationships/image" Target="../media/image38.wmf"/><Relationship Id="rId1" Type="http://schemas.openxmlformats.org/officeDocument/2006/relationships/oleObject" Target="../embeddings/oleObject32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.bin"/><Relationship Id="rId8" Type="http://schemas.openxmlformats.org/officeDocument/2006/relationships/image" Target="../media/image47.wmf"/><Relationship Id="rId7" Type="http://schemas.openxmlformats.org/officeDocument/2006/relationships/oleObject" Target="../embeddings/oleObject45.bin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44.wmf"/><Relationship Id="rId14" Type="http://schemas.openxmlformats.org/officeDocument/2006/relationships/vmlDrawing" Target="../drawings/vmlDrawing9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49.wmf"/><Relationship Id="rId11" Type="http://schemas.openxmlformats.org/officeDocument/2006/relationships/oleObject" Target="../embeddings/oleObject47.bin"/><Relationship Id="rId10" Type="http://schemas.openxmlformats.org/officeDocument/2006/relationships/image" Target="../media/image48.wmf"/><Relationship Id="rId1" Type="http://schemas.openxmlformats.org/officeDocument/2006/relationships/oleObject" Target="../embeddings/oleObject42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.bin"/><Relationship Id="rId8" Type="http://schemas.openxmlformats.org/officeDocument/2006/relationships/image" Target="../media/image53.wmf"/><Relationship Id="rId7" Type="http://schemas.openxmlformats.org/officeDocument/2006/relationships/oleObject" Target="../embeddings/oleObject51.bin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50.wmf"/><Relationship Id="rId12" Type="http://schemas.openxmlformats.org/officeDocument/2006/relationships/vmlDrawing" Target="../drawings/vmlDrawing10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4.wmf"/><Relationship Id="rId1" Type="http://schemas.openxmlformats.org/officeDocument/2006/relationships/oleObject" Target="../embeddings/oleObject48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7.bin"/><Relationship Id="rId8" Type="http://schemas.openxmlformats.org/officeDocument/2006/relationships/image" Target="../media/image57.wmf"/><Relationship Id="rId7" Type="http://schemas.openxmlformats.org/officeDocument/2006/relationships/oleObject" Target="../embeddings/oleObject56.bin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54.bin"/><Relationship Id="rId2" Type="http://schemas.openxmlformats.org/officeDocument/2006/relationships/image" Target="../media/image6.wmf"/><Relationship Id="rId17" Type="http://schemas.openxmlformats.org/officeDocument/2006/relationships/vmlDrawing" Target="../drawings/vmlDrawing11.v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60.wmf"/><Relationship Id="rId14" Type="http://schemas.openxmlformats.org/officeDocument/2006/relationships/oleObject" Target="../embeddings/oleObject60.bin"/><Relationship Id="rId13" Type="http://schemas.openxmlformats.org/officeDocument/2006/relationships/image" Target="../media/image59.wmf"/><Relationship Id="rId12" Type="http://schemas.openxmlformats.org/officeDocument/2006/relationships/oleObject" Target="../embeddings/oleObject59.bin"/><Relationship Id="rId11" Type="http://schemas.openxmlformats.org/officeDocument/2006/relationships/image" Target="../media/image58.wmf"/><Relationship Id="rId10" Type="http://schemas.openxmlformats.org/officeDocument/2006/relationships/oleObject" Target="../embeddings/oleObject58.bin"/><Relationship Id="rId1" Type="http://schemas.openxmlformats.org/officeDocument/2006/relationships/oleObject" Target="../embeddings/oleObject53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2.vml"/><Relationship Id="rId8" Type="http://schemas.openxmlformats.org/officeDocument/2006/relationships/slideLayout" Target="../slideLayouts/slideLayout2.xml"/><Relationship Id="rId7" Type="http://schemas.openxmlformats.org/officeDocument/2006/relationships/oleObject" Target="../embeddings/oleObject64.bin"/><Relationship Id="rId6" Type="http://schemas.openxmlformats.org/officeDocument/2006/relationships/image" Target="../media/image62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61.wmf"/><Relationship Id="rId3" Type="http://schemas.openxmlformats.org/officeDocument/2006/relationships/oleObject" Target="../embeddings/oleObject62.bin"/><Relationship Id="rId2" Type="http://schemas.openxmlformats.org/officeDocument/2006/relationships/image" Target="../media/image52.wmf"/><Relationship Id="rId1" Type="http://schemas.openxmlformats.org/officeDocument/2006/relationships/oleObject" Target="../embeddings/oleObject61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6.wmf"/><Relationship Id="rId7" Type="http://schemas.openxmlformats.org/officeDocument/2006/relationships/oleObject" Target="../embeddings/oleObject68.bin"/><Relationship Id="rId6" Type="http://schemas.openxmlformats.org/officeDocument/2006/relationships/image" Target="../media/image65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66.bin"/><Relationship Id="rId2" Type="http://schemas.openxmlformats.org/officeDocument/2006/relationships/image" Target="../media/image63.wmf"/><Relationship Id="rId10" Type="http://schemas.openxmlformats.org/officeDocument/2006/relationships/vmlDrawing" Target="../drawings/vmlDrawing13.vml"/><Relationship Id="rId1" Type="http://schemas.openxmlformats.org/officeDocument/2006/relationships/oleObject" Target="../embeddings/oleObject6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68.wmf"/><Relationship Id="rId3" Type="http://schemas.openxmlformats.org/officeDocument/2006/relationships/oleObject" Target="../embeddings/oleObject70.bin"/><Relationship Id="rId2" Type="http://schemas.openxmlformats.org/officeDocument/2006/relationships/image" Target="../media/image67.wmf"/><Relationship Id="rId1" Type="http://schemas.openxmlformats.org/officeDocument/2006/relationships/oleObject" Target="../embeddings/oleObject69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6.bin"/><Relationship Id="rId8" Type="http://schemas.openxmlformats.org/officeDocument/2006/relationships/image" Target="../media/image73.wmf"/><Relationship Id="rId7" Type="http://schemas.openxmlformats.org/officeDocument/2006/relationships/oleObject" Target="../embeddings/oleObject75.bin"/><Relationship Id="rId6" Type="http://schemas.openxmlformats.org/officeDocument/2006/relationships/image" Target="../media/image72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71.wmf"/><Relationship Id="rId3" Type="http://schemas.openxmlformats.org/officeDocument/2006/relationships/oleObject" Target="../embeddings/oleObject73.bin"/><Relationship Id="rId2" Type="http://schemas.openxmlformats.org/officeDocument/2006/relationships/image" Target="../media/image70.wmf"/><Relationship Id="rId12" Type="http://schemas.openxmlformats.org/officeDocument/2006/relationships/vmlDrawing" Target="../drawings/vmlDrawing15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74.wmf"/><Relationship Id="rId1" Type="http://schemas.openxmlformats.org/officeDocument/2006/relationships/oleObject" Target="../embeddings/oleObject72.bin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5.wmf"/><Relationship Id="rId1" Type="http://schemas.openxmlformats.org/officeDocument/2006/relationships/oleObject" Target="../embeddings/oleObject77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77.wmf"/><Relationship Id="rId3" Type="http://schemas.openxmlformats.org/officeDocument/2006/relationships/oleObject" Target="../embeddings/oleObject79.bin"/><Relationship Id="rId2" Type="http://schemas.openxmlformats.org/officeDocument/2006/relationships/image" Target="../media/image76.wmf"/><Relationship Id="rId1" Type="http://schemas.openxmlformats.org/officeDocument/2006/relationships/oleObject" Target="../embeddings/oleObject78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2.wmf"/><Relationship Id="rId7" Type="http://schemas.openxmlformats.org/officeDocument/2006/relationships/oleObject" Target="../embeddings/oleObject84.bin"/><Relationship Id="rId6" Type="http://schemas.openxmlformats.org/officeDocument/2006/relationships/image" Target="../media/image81.wmf"/><Relationship Id="rId5" Type="http://schemas.openxmlformats.org/officeDocument/2006/relationships/oleObject" Target="../embeddings/oleObject83.bin"/><Relationship Id="rId4" Type="http://schemas.openxmlformats.org/officeDocument/2006/relationships/image" Target="../media/image80.wmf"/><Relationship Id="rId3" Type="http://schemas.openxmlformats.org/officeDocument/2006/relationships/oleObject" Target="../embeddings/oleObject82.bin"/><Relationship Id="rId2" Type="http://schemas.openxmlformats.org/officeDocument/2006/relationships/image" Target="../media/image79.wmf"/><Relationship Id="rId10" Type="http://schemas.openxmlformats.org/officeDocument/2006/relationships/vmlDrawing" Target="../drawings/vmlDrawing18.vml"/><Relationship Id="rId1" Type="http://schemas.openxmlformats.org/officeDocument/2006/relationships/oleObject" Target="../embeddings/oleObject8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9.v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85.wmf"/><Relationship Id="rId5" Type="http://schemas.openxmlformats.org/officeDocument/2006/relationships/oleObject" Target="../embeddings/oleObject87.bin"/><Relationship Id="rId4" Type="http://schemas.openxmlformats.org/officeDocument/2006/relationships/image" Target="../media/image84.wmf"/><Relationship Id="rId3" Type="http://schemas.openxmlformats.org/officeDocument/2006/relationships/oleObject" Target="../embeddings/oleObject86.bin"/><Relationship Id="rId2" Type="http://schemas.openxmlformats.org/officeDocument/2006/relationships/image" Target="../media/image83.wmf"/><Relationship Id="rId1" Type="http://schemas.openxmlformats.org/officeDocument/2006/relationships/oleObject" Target="../embeddings/oleObject85.bin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7.wmf"/><Relationship Id="rId3" Type="http://schemas.openxmlformats.org/officeDocument/2006/relationships/oleObject" Target="../embeddings/oleObject89.bin"/><Relationship Id="rId2" Type="http://schemas.openxmlformats.org/officeDocument/2006/relationships/image" Target="../media/image86.wmf"/><Relationship Id="rId1" Type="http://schemas.openxmlformats.org/officeDocument/2006/relationships/oleObject" Target="../embeddings/oleObject88.bin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9.png"/><Relationship Id="rId3" Type="http://schemas.openxmlformats.org/officeDocument/2006/relationships/oleObject" Target="../embeddings/oleObject91.bin"/><Relationship Id="rId2" Type="http://schemas.openxmlformats.org/officeDocument/2006/relationships/image" Target="../media/image88.png"/><Relationship Id="rId1" Type="http://schemas.openxmlformats.org/officeDocument/2006/relationships/oleObject" Target="../embeddings/oleObject90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6.bin"/><Relationship Id="rId8" Type="http://schemas.openxmlformats.org/officeDocument/2006/relationships/image" Target="../media/image93.wmf"/><Relationship Id="rId7" Type="http://schemas.openxmlformats.org/officeDocument/2006/relationships/oleObject" Target="../embeddings/oleObject95.bin"/><Relationship Id="rId6" Type="http://schemas.openxmlformats.org/officeDocument/2006/relationships/image" Target="../media/image92.w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91.wmf"/><Relationship Id="rId3" Type="http://schemas.openxmlformats.org/officeDocument/2006/relationships/oleObject" Target="../embeddings/oleObject93.bin"/><Relationship Id="rId2" Type="http://schemas.openxmlformats.org/officeDocument/2006/relationships/image" Target="../media/image90.wmf"/><Relationship Id="rId12" Type="http://schemas.openxmlformats.org/officeDocument/2006/relationships/vmlDrawing" Target="../drawings/vmlDrawing22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94.wmf"/><Relationship Id="rId1" Type="http://schemas.openxmlformats.org/officeDocument/2006/relationships/oleObject" Target="../embeddings/oleObject92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8.wmf"/><Relationship Id="rId7" Type="http://schemas.openxmlformats.org/officeDocument/2006/relationships/oleObject" Target="../embeddings/oleObject100.bin"/><Relationship Id="rId6" Type="http://schemas.openxmlformats.org/officeDocument/2006/relationships/image" Target="../media/image97.w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96.wmf"/><Relationship Id="rId3" Type="http://schemas.openxmlformats.org/officeDocument/2006/relationships/oleObject" Target="../embeddings/oleObject98.bin"/><Relationship Id="rId2" Type="http://schemas.openxmlformats.org/officeDocument/2006/relationships/image" Target="../media/image95.wmf"/><Relationship Id="rId10" Type="http://schemas.openxmlformats.org/officeDocument/2006/relationships/vmlDrawing" Target="../drawings/vmlDrawing23.vml"/><Relationship Id="rId1" Type="http://schemas.openxmlformats.org/officeDocument/2006/relationships/oleObject" Target="../embeddings/oleObject97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2.wmf"/><Relationship Id="rId7" Type="http://schemas.openxmlformats.org/officeDocument/2006/relationships/oleObject" Target="../embeddings/oleObject104.bin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103.bin"/><Relationship Id="rId4" Type="http://schemas.openxmlformats.org/officeDocument/2006/relationships/image" Target="../media/image100.wmf"/><Relationship Id="rId3" Type="http://schemas.openxmlformats.org/officeDocument/2006/relationships/oleObject" Target="../embeddings/oleObject102.bin"/><Relationship Id="rId2" Type="http://schemas.openxmlformats.org/officeDocument/2006/relationships/image" Target="../media/image99.wmf"/><Relationship Id="rId10" Type="http://schemas.openxmlformats.org/officeDocument/2006/relationships/vmlDrawing" Target="../drawings/vmlDrawing24.vml"/><Relationship Id="rId1" Type="http://schemas.openxmlformats.org/officeDocument/2006/relationships/oleObject" Target="../embeddings/oleObject101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9.bin"/><Relationship Id="rId8" Type="http://schemas.openxmlformats.org/officeDocument/2006/relationships/image" Target="../media/image106.wmf"/><Relationship Id="rId7" Type="http://schemas.openxmlformats.org/officeDocument/2006/relationships/oleObject" Target="../embeddings/oleObject108.bin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104.wmf"/><Relationship Id="rId3" Type="http://schemas.openxmlformats.org/officeDocument/2006/relationships/oleObject" Target="../embeddings/oleObject106.bin"/><Relationship Id="rId2" Type="http://schemas.openxmlformats.org/officeDocument/2006/relationships/image" Target="../media/image103.wmf"/><Relationship Id="rId14" Type="http://schemas.openxmlformats.org/officeDocument/2006/relationships/vmlDrawing" Target="../drawings/vmlDrawing25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08.wmf"/><Relationship Id="rId11" Type="http://schemas.openxmlformats.org/officeDocument/2006/relationships/oleObject" Target="../embeddings/oleObject110.bin"/><Relationship Id="rId10" Type="http://schemas.openxmlformats.org/officeDocument/2006/relationships/image" Target="../media/image107.wmf"/><Relationship Id="rId1" Type="http://schemas.openxmlformats.org/officeDocument/2006/relationships/oleObject" Target="../embeddings/oleObject105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110.wmf"/><Relationship Id="rId3" Type="http://schemas.openxmlformats.org/officeDocument/2006/relationships/oleObject" Target="../embeddings/oleObject112.bin"/><Relationship Id="rId2" Type="http://schemas.openxmlformats.org/officeDocument/2006/relationships/image" Target="../media/image109.wmf"/><Relationship Id="rId1" Type="http://schemas.openxmlformats.org/officeDocument/2006/relationships/oleObject" Target="../embeddings/oleObject111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8.bin"/><Relationship Id="rId8" Type="http://schemas.openxmlformats.org/officeDocument/2006/relationships/image" Target="../media/image114.wmf"/><Relationship Id="rId7" Type="http://schemas.openxmlformats.org/officeDocument/2006/relationships/oleObject" Target="../embeddings/oleObject117.bin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95.wmf"/><Relationship Id="rId3" Type="http://schemas.openxmlformats.org/officeDocument/2006/relationships/oleObject" Target="../embeddings/oleObject115.bin"/><Relationship Id="rId2" Type="http://schemas.openxmlformats.org/officeDocument/2006/relationships/image" Target="../media/image112.wmf"/><Relationship Id="rId18" Type="http://schemas.openxmlformats.org/officeDocument/2006/relationships/vmlDrawing" Target="../drawings/vmlDrawing27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01.wmf"/><Relationship Id="rId15" Type="http://schemas.openxmlformats.org/officeDocument/2006/relationships/oleObject" Target="../embeddings/oleObject121.bin"/><Relationship Id="rId14" Type="http://schemas.openxmlformats.org/officeDocument/2006/relationships/image" Target="../media/image100.wmf"/><Relationship Id="rId13" Type="http://schemas.openxmlformats.org/officeDocument/2006/relationships/oleObject" Target="../embeddings/oleObject120.bin"/><Relationship Id="rId12" Type="http://schemas.openxmlformats.org/officeDocument/2006/relationships/image" Target="../media/image99.wmf"/><Relationship Id="rId11" Type="http://schemas.openxmlformats.org/officeDocument/2006/relationships/oleObject" Target="../embeddings/oleObject119.bin"/><Relationship Id="rId10" Type="http://schemas.openxmlformats.org/officeDocument/2006/relationships/image" Target="../media/image115.wmf"/><Relationship Id="rId1" Type="http://schemas.openxmlformats.org/officeDocument/2006/relationships/oleObject" Target="../embeddings/oleObject114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6.bin"/><Relationship Id="rId8" Type="http://schemas.openxmlformats.org/officeDocument/2006/relationships/image" Target="../media/image119.wmf"/><Relationship Id="rId7" Type="http://schemas.openxmlformats.org/officeDocument/2006/relationships/oleObject" Target="../embeddings/oleObject125.bin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17.wmf"/><Relationship Id="rId3" Type="http://schemas.openxmlformats.org/officeDocument/2006/relationships/oleObject" Target="../embeddings/oleObject123.bin"/><Relationship Id="rId2" Type="http://schemas.openxmlformats.org/officeDocument/2006/relationships/image" Target="../media/image116.wmf"/><Relationship Id="rId14" Type="http://schemas.openxmlformats.org/officeDocument/2006/relationships/vmlDrawing" Target="../drawings/vmlDrawing28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1.wmf"/><Relationship Id="rId11" Type="http://schemas.openxmlformats.org/officeDocument/2006/relationships/oleObject" Target="../embeddings/oleObject127.bin"/><Relationship Id="rId10" Type="http://schemas.openxmlformats.org/officeDocument/2006/relationships/image" Target="../media/image120.wmf"/><Relationship Id="rId1" Type="http://schemas.openxmlformats.org/officeDocument/2006/relationships/oleObject" Target="../embeddings/oleObject122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2.bin"/><Relationship Id="rId8" Type="http://schemas.openxmlformats.org/officeDocument/2006/relationships/image" Target="../media/image125.wmf"/><Relationship Id="rId7" Type="http://schemas.openxmlformats.org/officeDocument/2006/relationships/oleObject" Target="../embeddings/oleObject131.bin"/><Relationship Id="rId6" Type="http://schemas.openxmlformats.org/officeDocument/2006/relationships/image" Target="../media/image124.w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23.wmf"/><Relationship Id="rId3" Type="http://schemas.openxmlformats.org/officeDocument/2006/relationships/oleObject" Target="../embeddings/oleObject129.bin"/><Relationship Id="rId2" Type="http://schemas.openxmlformats.org/officeDocument/2006/relationships/image" Target="../media/image122.wmf"/><Relationship Id="rId18" Type="http://schemas.openxmlformats.org/officeDocument/2006/relationships/vmlDrawing" Target="../drawings/vmlDrawing29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29.wmf"/><Relationship Id="rId15" Type="http://schemas.openxmlformats.org/officeDocument/2006/relationships/oleObject" Target="../embeddings/oleObject135.bin"/><Relationship Id="rId14" Type="http://schemas.openxmlformats.org/officeDocument/2006/relationships/image" Target="../media/image128.wmf"/><Relationship Id="rId13" Type="http://schemas.openxmlformats.org/officeDocument/2006/relationships/oleObject" Target="../embeddings/oleObject134.bin"/><Relationship Id="rId12" Type="http://schemas.openxmlformats.org/officeDocument/2006/relationships/image" Target="../media/image127.wmf"/><Relationship Id="rId11" Type="http://schemas.openxmlformats.org/officeDocument/2006/relationships/oleObject" Target="../embeddings/oleObject133.bin"/><Relationship Id="rId10" Type="http://schemas.openxmlformats.org/officeDocument/2006/relationships/image" Target="../media/image126.wmf"/><Relationship Id="rId1" Type="http://schemas.openxmlformats.org/officeDocument/2006/relationships/oleObject" Target="../embeddings/oleObject128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 descr="Large confetti"/>
          <p:cNvSpPr>
            <a:spLocks noGrp="1" noChangeArrowheads="1"/>
          </p:cNvSpPr>
          <p:nvPr>
            <p:ph type="ctrTitle"/>
          </p:nvPr>
        </p:nvSpPr>
        <p:spPr>
          <a:xfrm>
            <a:off x="2736012" y="1039952"/>
            <a:ext cx="6858000" cy="1200329"/>
          </a:xfrm>
          <a:noFill/>
        </p:spPr>
        <p:txBody>
          <a:bodyPr anchor="ctr"/>
          <a:lstStyle/>
          <a:p>
            <a:pPr eaLnBrk="1" hangingPunct="1"/>
            <a:r>
              <a:rPr lang="zh-CN" altLang="en-US" b="1" dirty="0">
                <a:ea typeface="华文新魏" panose="02010800040101010101" pitchFamily="2" charset="-122"/>
              </a:rPr>
              <a:t>第八章 因子分析</a:t>
            </a:r>
            <a:endParaRPr lang="zh-CN" altLang="en-US" b="1" dirty="0">
              <a:ea typeface="华文新魏" panose="02010800040101010101" pitchFamily="2" charset="-122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1596895" y="2729012"/>
            <a:ext cx="4939665" cy="3352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dirty="0">
                <a:latin typeface="宋体" pitchFamily="2" charset="-122"/>
              </a:rPr>
              <a:t>因子分析模型</a:t>
            </a:r>
            <a:endParaRPr lang="zh-CN" altLang="en-US" dirty="0">
              <a:latin typeface="宋体" pitchFamily="2" charset="-122"/>
            </a:endParaRPr>
          </a:p>
          <a:p>
            <a:pPr algn="l"/>
            <a:r>
              <a:rPr lang="zh-CN" altLang="en-US" dirty="0">
                <a:latin typeface="宋体" pitchFamily="2" charset="-122"/>
              </a:rPr>
              <a:t>因子载荷矩阵的估计方法</a:t>
            </a:r>
            <a:endParaRPr lang="zh-CN" altLang="en-US" dirty="0">
              <a:latin typeface="宋体" pitchFamily="2" charset="-122"/>
            </a:endParaRPr>
          </a:p>
          <a:p>
            <a:pPr algn="l"/>
            <a:r>
              <a:rPr lang="en-US" altLang="zh-CN" dirty="0">
                <a:latin typeface="宋体" pitchFamily="2" charset="-122"/>
              </a:rPr>
              <a:t>*</a:t>
            </a:r>
            <a:r>
              <a:rPr lang="zh-CN" altLang="en-US" dirty="0">
                <a:latin typeface="宋体" pitchFamily="2" charset="-122"/>
              </a:rPr>
              <a:t>因子旋转</a:t>
            </a:r>
            <a:endParaRPr lang="zh-CN" altLang="en-US" dirty="0">
              <a:latin typeface="宋体" pitchFamily="2" charset="-122"/>
            </a:endParaRPr>
          </a:p>
          <a:p>
            <a:pPr algn="l"/>
            <a:r>
              <a:rPr lang="en-US" altLang="zh-CN" dirty="0">
                <a:latin typeface="宋体" pitchFamily="2" charset="-122"/>
              </a:rPr>
              <a:t>*</a:t>
            </a:r>
            <a:r>
              <a:rPr lang="zh-CN" altLang="en-US" dirty="0">
                <a:latin typeface="宋体" pitchFamily="2" charset="-122"/>
              </a:rPr>
              <a:t>因子得分 </a:t>
            </a:r>
            <a:endParaRPr lang="zh-CN" altLang="en-US" dirty="0">
              <a:latin typeface="宋体" pitchFamily="2" charset="-122"/>
            </a:endParaRPr>
          </a:p>
          <a:p>
            <a:pPr algn="l"/>
            <a:r>
              <a:rPr lang="en-US" altLang="zh-CN" dirty="0">
                <a:latin typeface="宋体" pitchFamily="2" charset="-122"/>
              </a:rPr>
              <a:t>*</a:t>
            </a:r>
            <a:r>
              <a:rPr lang="zh-CN" altLang="en-US" dirty="0">
                <a:latin typeface="宋体" pitchFamily="2" charset="-122"/>
              </a:rPr>
              <a:t>因子分析的步骤、展望和建议</a:t>
            </a:r>
            <a:br>
              <a:rPr lang="zh-CN" altLang="en-US" dirty="0">
                <a:latin typeface="宋体" pitchFamily="2" charset="-122"/>
              </a:rPr>
            </a:br>
            <a:endParaRPr lang="zh-CN" altLang="en-US" dirty="0">
              <a:latin typeface="宋体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46276" y="2908738"/>
            <a:ext cx="23332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作业：</a:t>
            </a:r>
            <a:r>
              <a:rPr lang="en-US" altLang="zh-CN" dirty="0"/>
              <a:t>8-2 </a:t>
            </a:r>
            <a:r>
              <a:rPr lang="zh-CN" altLang="en-US" dirty="0"/>
              <a:t>，其中前两问加上计算共同度和公共因子对</a:t>
            </a:r>
            <a:r>
              <a:rPr lang="en-US" altLang="zh-CN" dirty="0"/>
              <a:t>X</a:t>
            </a:r>
            <a:r>
              <a:rPr lang="zh-CN" altLang="en-US" dirty="0"/>
              <a:t>的贡献</a:t>
            </a:r>
            <a:endParaRPr lang="zh-CN" altLang="en-US" dirty="0"/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1056290" y="511044"/>
            <a:ext cx="9703676" cy="5797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260350">
              <a:lnSpc>
                <a:spcPct val="130000"/>
              </a:lnSpc>
            </a:pPr>
            <a:r>
              <a:rPr kumimoji="1" lang="zh-CN" altLang="en-US" sz="3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第一节 引言</a:t>
            </a:r>
            <a:endParaRPr kumimoji="1" lang="zh-CN" altLang="en-US" sz="3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260350" algn="just">
              <a:lnSpc>
                <a:spcPct val="130000"/>
              </a:lnSpc>
            </a:pP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endParaRPr kumimoji="1"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因子分析</a:t>
            </a:r>
            <a:r>
              <a:rPr kumimoji="1"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(factor analysis)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是一种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数据结构简化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的技术</a:t>
            </a:r>
            <a:endParaRPr kumimoji="1"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algn="just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通过研究众多变量之间的内部依赖关系，探求观测数据中的基本结构，并用少数几个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假想变量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来表示其基本的数据结构</a:t>
            </a:r>
            <a:endParaRPr kumimoji="1"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algn="just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这几个假想变量能够反映原来众多变量的主要信息</a:t>
            </a:r>
            <a:endParaRPr kumimoji="1"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algn="just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原始的变量是可观测的显在变量，而假想变量是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不可观测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的潜在变量，称为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因子</a:t>
            </a:r>
            <a:endParaRPr kumimoji="1" lang="zh-CN" altLang="en-US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260350" algn="just" eaLnBrk="0" hangingPunct="0">
              <a:lnSpc>
                <a:spcPct val="130000"/>
              </a:lnSpc>
            </a:pP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endParaRPr kumimoji="1"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/>
          <p:nvPr/>
        </p:nvSpPr>
        <p:spPr>
          <a:xfrm>
            <a:off x="867104" y="1062902"/>
            <a:ext cx="9955924" cy="45348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例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为了了解学生的学习能力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观测了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位学生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个科目的成绩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分数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用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,…,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个科目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例如代数、几何、语文、英语、政治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,… ), 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=(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,…,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tp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)′(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=1,…,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表示第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个学生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个科目的成绩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假想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是对所有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=1,…,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所共有的因子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它表示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智商高低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的因子。我们对这些资料进行归纳分析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可以看出各个科目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即变量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由两部分组成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     </a:t>
            </a:r>
            <a:r>
              <a:rPr lang="zh-CN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i="1" baseline="-20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=a</a:t>
            </a:r>
            <a:r>
              <a:rPr lang="zh-CN" altLang="zh-CN" sz="2800" i="1" baseline="-22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F+ε</a:t>
            </a:r>
            <a:r>
              <a:rPr lang="zh-CN" altLang="zh-CN" sz="2800" i="1" baseline="-22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=1,…,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其中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ε</a:t>
            </a:r>
            <a:r>
              <a:rPr lang="zh-CN" altLang="zh-CN" sz="2800" i="1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是变量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特有的特殊因子。这就是一个最简单的因子模型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124" name="Text Box 4"/>
          <p:cNvSpPr txBox="1"/>
          <p:nvPr/>
        </p:nvSpPr>
        <p:spPr>
          <a:xfrm>
            <a:off x="3616325" y="82551"/>
            <a:ext cx="3741420" cy="7067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  <a:latin typeface="黑体" panose="02010609060101010101" charset="-122"/>
                <a:ea typeface="华文新魏" panose="02010800040101010101" pitchFamily="2" charset="-122"/>
              </a:rPr>
              <a:t>什么是</a:t>
            </a:r>
            <a:r>
              <a:rPr lang="zh-CN" altLang="en-US" sz="4000" b="1" dirty="0">
                <a:solidFill>
                  <a:srgbClr val="FF0000"/>
                </a:solidFill>
                <a:latin typeface="宋体" pitchFamily="2" charset="-122"/>
                <a:ea typeface="华文新魏" panose="02010800040101010101" pitchFamily="2" charset="-122"/>
              </a:rPr>
              <a:t>因子分析</a:t>
            </a:r>
            <a:endParaRPr lang="zh-CN" altLang="en-US" sz="4000" dirty="0">
              <a:solidFill>
                <a:srgbClr val="FF0000"/>
              </a:solidFill>
              <a:latin typeface="Arial" panose="020B060402020209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3"/>
          <p:cNvSpPr txBox="1"/>
          <p:nvPr/>
        </p:nvSpPr>
        <p:spPr>
          <a:xfrm>
            <a:off x="804042" y="915518"/>
            <a:ext cx="9411752" cy="45348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进一步可把这个简单因子模型推广到多个因子的情况,即全体科目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所共有的因子有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个,如数学推导因子、记忆因子、计算因子…等.分别记为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F</a:t>
            </a:r>
            <a:r>
              <a:rPr lang="zh-CN" altLang="en-US" sz="2800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,…,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F</a:t>
            </a:r>
            <a:r>
              <a:rPr lang="zh-CN" altLang="en-US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,即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</a:t>
            </a:r>
            <a:r>
              <a:rPr lang="zh-CN" altLang="en-US" sz="2800" b="1" i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en-US" sz="2800" b="1" i="1" baseline="-22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</a:t>
            </a:r>
            <a:r>
              <a:rPr lang="zh-CN" altLang="en-US" sz="2800" b="1" i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</a:t>
            </a:r>
            <a:r>
              <a:rPr lang="zh-CN" altLang="en-US" sz="2800" b="1" i="1" baseline="-22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b="1" baseline="-22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en-US" sz="2800" b="1" i="1" baseline="-22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b="1" i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F</a:t>
            </a:r>
            <a:r>
              <a:rPr lang="zh-CN" altLang="en-US" sz="2800" b="1" baseline="-22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en-US" sz="2800" b="1" i="1" baseline="-22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+</a:t>
            </a:r>
            <a:r>
              <a:rPr lang="zh-CN" altLang="en-US" sz="2800" b="1" i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</a:t>
            </a:r>
            <a:r>
              <a:rPr lang="zh-CN" altLang="en-US" sz="2800" b="1" i="1" baseline="-22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b="1" baseline="-22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zh-CN" altLang="en-US" sz="2800" b="1" i="1" baseline="-22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b="1" i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F</a:t>
            </a:r>
            <a:r>
              <a:rPr lang="zh-CN" altLang="en-US" sz="2800" b="1" baseline="-22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+…+</a:t>
            </a:r>
            <a:r>
              <a:rPr lang="zh-CN" altLang="en-US" sz="2800" b="1" i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</a:t>
            </a:r>
            <a:r>
              <a:rPr lang="zh-CN" altLang="en-US" sz="2800" b="1" i="1" baseline="-22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im </a:t>
            </a:r>
            <a:r>
              <a:rPr lang="zh-CN" altLang="en-US" sz="2800" b="1" i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F</a:t>
            </a:r>
            <a:r>
              <a:rPr lang="zh-CN" altLang="en-US" sz="2800" b="1" i="1" baseline="-22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+</a:t>
            </a:r>
            <a:r>
              <a:rPr lang="zh-CN" altLang="en-US" sz="2800" b="1" i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ε</a:t>
            </a:r>
            <a:r>
              <a:rPr lang="zh-CN" altLang="en-US" sz="2800" b="1" i="1" baseline="-22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b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en-US" altLang="zh-CN" sz="2800" b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i="1" dirty="0">
                <a:solidFill>
                  <a:srgbClr val="CC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=1,…,</a:t>
            </a:r>
            <a:r>
              <a:rPr lang="zh-CN" altLang="en-US" sz="2800" i="1" dirty="0">
                <a:solidFill>
                  <a:srgbClr val="CC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       </a:t>
            </a:r>
            <a:endParaRPr lang="zh-CN" altLang="en-US" sz="2800" dirty="0">
              <a:solidFill>
                <a:srgbClr val="CC00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用这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不可观测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的相互独立的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公共因子</a:t>
            </a:r>
            <a:r>
              <a:rPr lang="zh-CN" altLang="en-US" sz="2800" i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F</a:t>
            </a:r>
            <a:r>
              <a:rPr lang="zh-CN" altLang="en-US" sz="2800" baseline="-22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,…,</a:t>
            </a:r>
            <a:r>
              <a:rPr lang="zh-CN" altLang="en-US" sz="2800" i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F</a:t>
            </a:r>
            <a:r>
              <a:rPr lang="zh-CN" altLang="en-US" sz="2800" i="1" baseline="-22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(也称为潜因子)和一个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特殊因子</a:t>
            </a:r>
            <a:r>
              <a:rPr lang="zh-CN" altLang="en-US" sz="2800" i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ε</a:t>
            </a:r>
            <a:r>
              <a:rPr lang="zh-CN" altLang="en-US" sz="2800" i="1" baseline="-22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来描述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原始可测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的相关变量(科目) 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en-US" sz="2800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,…,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en-US" sz="2800" i="1" baseline="-20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,并解释分析学生的学习能力.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4"/>
          <p:cNvSpPr>
            <a:spLocks noChangeArrowheads="1"/>
          </p:cNvSpPr>
          <p:nvPr/>
        </p:nvSpPr>
        <p:spPr bwMode="auto">
          <a:xfrm>
            <a:off x="1397619" y="685800"/>
            <a:ext cx="9151847" cy="2655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kumimoji="1" lang="zh-CN" altLang="en-US" sz="2800" dirty="0">
                <a:latin typeface="宋体" pitchFamily="2" charset="-122"/>
              </a:rPr>
              <a:t>    对商店进行综合评价</a:t>
            </a:r>
            <a:r>
              <a:rPr kumimoji="1" lang="en-US" altLang="zh-CN" sz="2800" dirty="0">
                <a:latin typeface="宋体" pitchFamily="2" charset="-122"/>
              </a:rPr>
              <a:t>:</a:t>
            </a:r>
            <a:r>
              <a:rPr kumimoji="1" lang="zh-CN" altLang="en-US" sz="2800" dirty="0">
                <a:latin typeface="宋体" pitchFamily="2" charset="-122"/>
              </a:rPr>
              <a:t>对商店的测度指标很多，但消费者主要关心的是三个方面，即商店的环境、商店的服务和商品的价格。因子分析方法可以通过</a:t>
            </a:r>
            <a:r>
              <a:rPr kumimoji="1" lang="en-US" altLang="zh-CN" sz="2800" dirty="0">
                <a:latin typeface="宋体" pitchFamily="2" charset="-122"/>
              </a:rPr>
              <a:t>24</a:t>
            </a:r>
            <a:r>
              <a:rPr kumimoji="1" lang="zh-CN" altLang="en-US" sz="2800" dirty="0">
                <a:latin typeface="宋体" pitchFamily="2" charset="-122"/>
              </a:rPr>
              <a:t>个变量，找出反映商店环境、商店服务水平和商品价格的三个</a:t>
            </a:r>
            <a:r>
              <a:rPr kumimoji="1" lang="zh-CN" altLang="en-US" sz="2800" dirty="0">
                <a:solidFill>
                  <a:srgbClr val="FF0000"/>
                </a:solidFill>
                <a:latin typeface="宋体" pitchFamily="2" charset="-122"/>
              </a:rPr>
              <a:t>潜在</a:t>
            </a:r>
            <a:r>
              <a:rPr kumimoji="1" lang="zh-CN" altLang="en-US" sz="2800" dirty="0">
                <a:latin typeface="宋体" pitchFamily="2" charset="-122"/>
              </a:rPr>
              <a:t>的因子。</a:t>
            </a:r>
            <a:r>
              <a:rPr kumimoji="1" lang="zh-CN" altLang="en-US" sz="2800" dirty="0">
                <a:latin typeface="Times New Roman" panose="02020503050405090304" pitchFamily="18" charset="0"/>
              </a:rPr>
              <a:t>而这三个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公共因子</a:t>
            </a:r>
            <a:r>
              <a:rPr kumimoji="1" lang="zh-CN" altLang="en-US" sz="2800" dirty="0">
                <a:latin typeface="Times New Roman" panose="02020503050405090304" pitchFamily="18" charset="0"/>
              </a:rPr>
              <a:t>可以表示为：</a:t>
            </a:r>
            <a:endParaRPr kumimoji="1"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1033" name="Rectangle 5"/>
          <p:cNvSpPr>
            <a:spLocks noGrp="1" noChangeArrowheads="1"/>
          </p:cNvSpPr>
          <p:nvPr>
            <p:ph idx="1"/>
          </p:nvPr>
        </p:nvSpPr>
        <p:spPr>
          <a:xfrm>
            <a:off x="2849563" y="3830638"/>
            <a:ext cx="7073900" cy="519112"/>
          </a:xfrm>
          <a:noFill/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tx2"/>
                </a:solidFill>
              </a:rPr>
              <a:t>            </a:t>
            </a:r>
            <a:endParaRPr lang="en-US" altLang="zh-CN" sz="2800">
              <a:solidFill>
                <a:schemeClr val="tx2"/>
              </a:solidFill>
            </a:endParaRPr>
          </a:p>
        </p:txBody>
      </p:sp>
      <p:graphicFrame>
        <p:nvGraphicFramePr>
          <p:cNvPr id="1026" name="Object 6"/>
          <p:cNvGraphicFramePr>
            <a:graphicFrameLocks noChangeAspect="1"/>
          </p:cNvGraphicFramePr>
          <p:nvPr/>
        </p:nvGraphicFramePr>
        <p:xfrm>
          <a:off x="2301240" y="3568701"/>
          <a:ext cx="5699760" cy="518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103936800" imgH="9448800" progId="Equation.DSMT4">
                  <p:embed/>
                </p:oleObj>
              </mc:Choice>
              <mc:Fallback>
                <p:oleObj name="Equation" r:id="rId1" imgW="103936800" imgH="9448800" progId="Equation.DSMT4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01240" y="3568701"/>
                        <a:ext cx="5699760" cy="51879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7"/>
          <p:cNvGraphicFramePr>
            <a:graphicFrameLocks noChangeAspect="1"/>
          </p:cNvGraphicFramePr>
          <p:nvPr/>
        </p:nvGraphicFramePr>
        <p:xfrm>
          <a:off x="8526780" y="3656965"/>
          <a:ext cx="1397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33528000" imgH="8229600" progId="Equation.3">
                  <p:embed/>
                </p:oleObj>
              </mc:Choice>
              <mc:Fallback>
                <p:oleObj name="Equation" r:id="rId3" imgW="33528000" imgH="8229600" progId="Equation.3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26780" y="3656965"/>
                        <a:ext cx="1397000" cy="342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Rectangle 8"/>
          <p:cNvSpPr>
            <a:spLocks noChangeArrowheads="1"/>
          </p:cNvSpPr>
          <p:nvPr/>
        </p:nvSpPr>
        <p:spPr bwMode="auto">
          <a:xfrm>
            <a:off x="633095" y="4419600"/>
            <a:ext cx="11438890" cy="1383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kumimoji="1" lang="en-US" altLang="zh-CN" sz="2800" dirty="0">
                <a:latin typeface="宋体" pitchFamily="2" charset="-122"/>
              </a:rPr>
              <a:t>   </a:t>
            </a:r>
            <a:r>
              <a:rPr kumimoji="1" lang="zh-CN" altLang="en-US" sz="2800" dirty="0">
                <a:latin typeface="宋体" pitchFamily="2" charset="-122"/>
              </a:rPr>
              <a:t>称          </a:t>
            </a:r>
            <a:r>
              <a:rPr kumimoji="1" lang="en-US" altLang="zh-CN" sz="2800" dirty="0">
                <a:latin typeface="宋体" pitchFamily="2" charset="-122"/>
              </a:rPr>
              <a:t>	      </a:t>
            </a:r>
            <a:r>
              <a:rPr kumimoji="1" lang="zh-CN" altLang="en-US" sz="2800" dirty="0">
                <a:latin typeface="宋体" pitchFamily="2" charset="-122"/>
              </a:rPr>
              <a:t>是不可观测的潜在因子。</a:t>
            </a:r>
            <a:r>
              <a:rPr kumimoji="1"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24</a:t>
            </a:r>
            <a:r>
              <a:rPr kumimoji="1" lang="zh-CN" altLang="en-US" sz="2800" dirty="0">
                <a:latin typeface="宋体" pitchFamily="2" charset="-122"/>
              </a:rPr>
              <a:t>个变量共享这三个因子，但是每个变量又有自己的个性，不被</a:t>
            </a:r>
            <a:r>
              <a:rPr kumimoji="1" lang="zh-CN" altLang="en-US" sz="2800" dirty="0">
                <a:latin typeface="Times New Roman" panose="02020503050405090304" pitchFamily="18" charset="0"/>
              </a:rPr>
              <a:t>包含的部分     ，称为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</a:rPr>
              <a:t>特殊因子</a:t>
            </a:r>
            <a:r>
              <a:rPr kumimoji="1" lang="zh-CN" altLang="en-US" sz="2800" dirty="0">
                <a:latin typeface="Times New Roman" panose="02020503050405090304" pitchFamily="18" charset="0"/>
              </a:rPr>
              <a:t>。</a:t>
            </a:r>
            <a:endParaRPr kumimoji="1" lang="zh-CN" altLang="en-US" sz="28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1028" name="Object 9"/>
          <p:cNvGraphicFramePr>
            <a:graphicFrameLocks noChangeAspect="1"/>
          </p:cNvGraphicFramePr>
          <p:nvPr/>
        </p:nvGraphicFramePr>
        <p:xfrm>
          <a:off x="1397636" y="4689792"/>
          <a:ext cx="1661690" cy="454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34747200" imgH="9448800" progId="Equation.DSMT4">
                  <p:embed/>
                </p:oleObj>
              </mc:Choice>
              <mc:Fallback>
                <p:oleObj name="Equation" r:id="rId5" imgW="34747200" imgH="9448800" progId="Equation.DSMT4">
                  <p:embed/>
                  <p:pic>
                    <p:nvPicPr>
                      <p:cNvPr id="0" name="Object 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97636" y="4689792"/>
                        <a:ext cx="1661690" cy="45435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10"/>
          <p:cNvGraphicFramePr>
            <a:graphicFrameLocks noChangeAspect="1"/>
          </p:cNvGraphicFramePr>
          <p:nvPr/>
        </p:nvGraphicFramePr>
        <p:xfrm>
          <a:off x="7514907" y="5266748"/>
          <a:ext cx="3460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6096000" imgH="9448800" progId="Equation.DSMT4">
                  <p:embed/>
                </p:oleObj>
              </mc:Choice>
              <mc:Fallback>
                <p:oleObj name="Equation" r:id="rId7" imgW="6096000" imgH="9448800" progId="Equation.DSMT4">
                  <p:embed/>
                  <p:pic>
                    <p:nvPicPr>
                      <p:cNvPr id="0" name="Object 1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14907" y="5266748"/>
                        <a:ext cx="346075" cy="536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939800" y="1109134"/>
            <a:ext cx="9855200" cy="43823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SzPct val="85000"/>
            </a:pPr>
            <a:r>
              <a:rPr kumimoji="1" lang="zh-CN" altLang="en-US" sz="36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注：</a:t>
            </a:r>
            <a:r>
              <a:rPr kumimoji="1" lang="zh-CN" altLang="en-US" sz="2400" u="sng" dirty="0">
                <a:latin typeface="宋体" pitchFamily="2" charset="-122"/>
                <a:sym typeface="+mn-ea"/>
              </a:rPr>
              <a:t>因子分析与</a:t>
            </a:r>
            <a:r>
              <a:rPr kumimoji="1" lang="zh-CN" altLang="en-US" sz="2400" u="sng" dirty="0">
                <a:solidFill>
                  <a:srgbClr val="FF0000"/>
                </a:solidFill>
                <a:latin typeface="宋体" pitchFamily="2" charset="-122"/>
              </a:rPr>
              <a:t>主成分分析</a:t>
            </a:r>
            <a:r>
              <a:rPr kumimoji="1" lang="zh-CN" altLang="en-US" sz="2400" u="sng" dirty="0">
                <a:latin typeface="宋体" pitchFamily="2" charset="-122"/>
              </a:rPr>
              <a:t>的不同：</a:t>
            </a:r>
            <a:endParaRPr kumimoji="1" lang="zh-CN" altLang="en-US" sz="2400" u="sng" dirty="0">
              <a:latin typeface="宋体" pitchFamily="2" charset="-122"/>
            </a:endParaRPr>
          </a:p>
          <a:p>
            <a:pPr marL="342900" indent="-342900">
              <a:lnSpc>
                <a:spcPct val="150000"/>
              </a:lnSpc>
              <a:buSzPct val="85000"/>
              <a:buFont typeface="Arial" panose="020B0604020202090204" pitchFamily="34" charset="0"/>
              <a:buChar char="•"/>
            </a:pPr>
            <a:r>
              <a:rPr kumimoji="1" lang="zh-CN" altLang="en-US" sz="2400" dirty="0">
                <a:latin typeface="宋体" pitchFamily="2" charset="-122"/>
              </a:rPr>
              <a:t>主成分分析仅仅是</a:t>
            </a:r>
            <a:r>
              <a:rPr kumimoji="1" lang="zh-CN" altLang="en-US" sz="2400" dirty="0">
                <a:solidFill>
                  <a:srgbClr val="FF0000"/>
                </a:solidFill>
                <a:latin typeface="宋体" pitchFamily="2" charset="-122"/>
              </a:rPr>
              <a:t>变量变换</a:t>
            </a:r>
            <a:r>
              <a:rPr kumimoji="1" lang="zh-CN" altLang="en-US" sz="2400" dirty="0">
                <a:latin typeface="宋体" pitchFamily="2" charset="-122"/>
              </a:rPr>
              <a:t>，而因子分析需要</a:t>
            </a:r>
            <a:r>
              <a:rPr kumimoji="1" lang="zh-CN" altLang="en-US" sz="2400" dirty="0">
                <a:solidFill>
                  <a:srgbClr val="FF0000"/>
                </a:solidFill>
                <a:latin typeface="宋体" pitchFamily="2" charset="-122"/>
              </a:rPr>
              <a:t>构造因子模型</a:t>
            </a:r>
            <a:r>
              <a:rPr kumimoji="1" lang="en-US" altLang="zh-CN" sz="2400" dirty="0">
                <a:latin typeface="宋体" pitchFamily="2" charset="-122"/>
              </a:rPr>
              <a:t>.</a:t>
            </a:r>
            <a:endParaRPr kumimoji="1" lang="en-US" altLang="zh-CN" sz="2400" dirty="0">
              <a:latin typeface="宋体" pitchFamily="2" charset="-122"/>
            </a:endParaRPr>
          </a:p>
          <a:p>
            <a:pPr marL="342900" indent="-342900">
              <a:lnSpc>
                <a:spcPct val="150000"/>
              </a:lnSpc>
              <a:buSzPct val="85000"/>
              <a:buFont typeface="Arial" panose="020B0604020202090204" pitchFamily="34" charset="0"/>
              <a:buChar char="•"/>
            </a:pPr>
            <a:r>
              <a:rPr kumimoji="1" lang="zh-CN" altLang="en-US" sz="2400" dirty="0">
                <a:latin typeface="宋体" pitchFamily="2" charset="-122"/>
                <a:sym typeface="+mn-ea"/>
              </a:rPr>
              <a:t>主成分为原始变量的线性组合，而因子分析中，</a:t>
            </a:r>
            <a:r>
              <a:rPr kumimoji="1" lang="zh-CN" altLang="en-US" sz="2400" dirty="0">
                <a:latin typeface="宋体" pitchFamily="2" charset="-122"/>
              </a:rPr>
              <a:t>原始变量表示为公因子和特殊因子的线性组合。</a:t>
            </a:r>
            <a:endParaRPr kumimoji="1" lang="en-US" altLang="zh-CN" sz="2400" dirty="0">
              <a:latin typeface="宋体" pitchFamily="2" charset="-122"/>
            </a:endParaRPr>
          </a:p>
          <a:p>
            <a:pPr marL="342900" indent="-342900">
              <a:lnSpc>
                <a:spcPct val="150000"/>
              </a:lnSpc>
              <a:buSzPct val="85000"/>
              <a:buFont typeface="Arial" panose="020B0604020202090204" pitchFamily="34" charset="0"/>
              <a:buChar char="•"/>
            </a:pPr>
            <a:r>
              <a:rPr kumimoji="1" lang="zh-CN" altLang="en-US" sz="2400" dirty="0">
                <a:latin typeface="宋体" pitchFamily="2" charset="-122"/>
              </a:rPr>
              <a:t>主成分分析中，</a:t>
            </a:r>
            <a:r>
              <a:rPr kumimoji="1" lang="zh-CN" altLang="en-US" sz="2400" dirty="0">
                <a:solidFill>
                  <a:srgbClr val="FF0000"/>
                </a:solidFill>
                <a:latin typeface="宋体" pitchFamily="2" charset="-122"/>
              </a:rPr>
              <a:t>主成分的个数与原始变量个数相同</a:t>
            </a:r>
            <a:r>
              <a:rPr kumimoji="1" lang="zh-CN" altLang="en-US" sz="2400" dirty="0">
                <a:latin typeface="宋体" pitchFamily="2" charset="-122"/>
              </a:rPr>
              <a:t>，它是将一组具有相关关系的变量变换为一组互不相关的变量（最后取前面少数几个主成分），而因子分析的目的是要用</a:t>
            </a:r>
            <a:r>
              <a:rPr kumimoji="1" lang="zh-CN" altLang="en-US" sz="2400" dirty="0">
                <a:solidFill>
                  <a:srgbClr val="FF0000"/>
                </a:solidFill>
                <a:latin typeface="宋体" pitchFamily="2" charset="-122"/>
              </a:rPr>
              <a:t>尽可能少的公因子</a:t>
            </a:r>
            <a:r>
              <a:rPr kumimoji="1" lang="zh-CN" altLang="en-US" sz="2400" dirty="0">
                <a:latin typeface="宋体" pitchFamily="2" charset="-122"/>
              </a:rPr>
              <a:t>，以便构造一个结构简单的因子模型。</a:t>
            </a:r>
            <a:endParaRPr kumimoji="1" lang="zh-CN" altLang="en-US" sz="2400" dirty="0">
              <a:latin typeface="宋体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0" y="312421"/>
            <a:ext cx="5029200" cy="682625"/>
          </a:xfrm>
        </p:spPr>
        <p:txBody>
          <a:bodyPr/>
          <a:lstStyle/>
          <a:p>
            <a:pPr eaLnBrk="1" hangingPunct="1"/>
            <a:r>
              <a:rPr lang="zh-CN" altLang="en-US" sz="3200" b="1" dirty="0">
                <a:latin typeface="宋体" pitchFamily="2" charset="-122"/>
              </a:rPr>
              <a:t>第二节  因子分析模型</a:t>
            </a:r>
            <a:r>
              <a:rPr lang="zh-CN" altLang="en-US" sz="2800" dirty="0">
                <a:ea typeface="华文琥珀" panose="02010800040101010101" pitchFamily="2" charset="-122"/>
              </a:rPr>
              <a:t> </a:t>
            </a:r>
            <a:endParaRPr lang="zh-CN" altLang="en-US" sz="2800" dirty="0">
              <a:ea typeface="华文琥珀" panose="02010800040101010101" pitchFamily="2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1196975"/>
            <a:ext cx="8586788" cy="469265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宋体" pitchFamily="2" charset="-122"/>
              </a:rPr>
              <a:t>     </a:t>
            </a:r>
            <a:r>
              <a:rPr lang="zh-CN" altLang="en-US" sz="2800" b="1" dirty="0">
                <a:solidFill>
                  <a:schemeClr val="tx1"/>
                </a:solidFill>
                <a:latin typeface="宋体" pitchFamily="2" charset="-122"/>
              </a:rPr>
              <a:t>一、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型</a:t>
            </a:r>
            <a:r>
              <a:rPr lang="zh-CN" altLang="en-US" sz="2800" b="1" dirty="0">
                <a:solidFill>
                  <a:schemeClr val="tx1"/>
                </a:solidFill>
                <a:latin typeface="宋体" pitchFamily="2" charset="-122"/>
              </a:rPr>
              <a:t>因子分析模型</a:t>
            </a:r>
            <a:endParaRPr lang="zh-CN" altLang="en-US" sz="2800" b="1" dirty="0">
              <a:solidFill>
                <a:schemeClr val="tx1"/>
              </a:solidFill>
              <a:latin typeface="宋体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1524000" y="1844676"/>
            <a:ext cx="9144000" cy="830263"/>
            <a:chOff x="0" y="1392"/>
            <a:chExt cx="5760" cy="523"/>
          </a:xfrm>
        </p:grpSpPr>
        <p:sp>
          <p:nvSpPr>
            <p:cNvPr id="2061" name="Rectangle 5"/>
            <p:cNvSpPr>
              <a:spLocks noChangeArrowheads="1"/>
            </p:cNvSpPr>
            <p:nvPr/>
          </p:nvSpPr>
          <p:spPr bwMode="auto">
            <a:xfrm>
              <a:off x="0" y="1392"/>
              <a:ext cx="5760" cy="52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indent="400050" algn="just"/>
              <a:r>
                <a:rPr kumimoji="1" lang="en-US" altLang="zh-CN" sz="2400">
                  <a:latin typeface="宋体" pitchFamily="2" charset="-122"/>
                </a:rPr>
                <a:t>     </a:t>
              </a:r>
              <a:r>
                <a:rPr kumimoji="1" lang="zh-CN" altLang="en-US" sz="2400">
                  <a:latin typeface="宋体" pitchFamily="2" charset="-122"/>
                </a:rPr>
                <a:t>设                </a:t>
              </a:r>
              <a:r>
                <a:rPr kumimoji="1" lang="en-US" altLang="zh-CN" sz="2400">
                  <a:latin typeface="宋体" pitchFamily="2" charset="-122"/>
                </a:rPr>
                <a:t>		   </a:t>
              </a:r>
              <a:r>
                <a:rPr kumimoji="1" lang="zh-CN" altLang="en-US" sz="2400">
                  <a:latin typeface="宋体" pitchFamily="2" charset="-122"/>
                </a:rPr>
                <a:t>为  </a:t>
              </a:r>
              <a:r>
                <a:rPr kumimoji="1" lang="en-US" altLang="zh-CN" sz="2400">
                  <a:latin typeface="宋体" pitchFamily="2" charset="-122"/>
                </a:rPr>
                <a:t>  </a:t>
              </a:r>
              <a:r>
                <a:rPr kumimoji="1" lang="zh-CN" altLang="en-US" sz="2400">
                  <a:latin typeface="宋体" pitchFamily="2" charset="-122"/>
                </a:rPr>
                <a:t>个</a:t>
              </a:r>
              <a:r>
                <a:rPr kumimoji="1" lang="zh-CN" altLang="en-US" sz="2400">
                  <a:solidFill>
                    <a:srgbClr val="FF0000"/>
                  </a:solidFill>
                  <a:latin typeface="宋体" pitchFamily="2" charset="-122"/>
                </a:rPr>
                <a:t>变量</a:t>
              </a:r>
              <a:r>
                <a:rPr kumimoji="1" lang="zh-CN" altLang="en-US" sz="2400">
                  <a:latin typeface="宋体" pitchFamily="2" charset="-122"/>
                </a:rPr>
                <a:t>，如果表示为</a:t>
              </a:r>
              <a:endParaRPr kumimoji="1" lang="zh-CN" altLang="en-US" sz="2400">
                <a:latin typeface="宋体" pitchFamily="2" charset="-122"/>
              </a:endParaRPr>
            </a:p>
            <a:p>
              <a:pPr indent="400050" eaLnBrk="0" hangingPunct="0"/>
              <a:endParaRPr kumimoji="1" lang="zh-CN" altLang="en-US" sz="2400">
                <a:latin typeface="宋体" pitchFamily="2" charset="-122"/>
              </a:endParaRPr>
            </a:p>
          </p:txBody>
        </p:sp>
        <p:grpSp>
          <p:nvGrpSpPr>
            <p:cNvPr id="2062" name="Group 6"/>
            <p:cNvGrpSpPr/>
            <p:nvPr/>
          </p:nvGrpSpPr>
          <p:grpSpPr bwMode="auto">
            <a:xfrm>
              <a:off x="811" y="1423"/>
              <a:ext cx="2069" cy="272"/>
              <a:chOff x="811" y="1423"/>
              <a:chExt cx="2069" cy="272"/>
            </a:xfrm>
          </p:grpSpPr>
          <p:graphicFrame>
            <p:nvGraphicFramePr>
              <p:cNvPr id="2054" name="Object 7"/>
              <p:cNvGraphicFramePr>
                <a:graphicFrameLocks noChangeAspect="1"/>
              </p:cNvGraphicFramePr>
              <p:nvPr/>
            </p:nvGraphicFramePr>
            <p:xfrm>
              <a:off x="811" y="1423"/>
              <a:ext cx="23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7" name="Equation" r:id="rId1" imgW="9144000" imgH="10363200" progId="Equation.3">
                      <p:embed/>
                    </p:oleObj>
                  </mc:Choice>
                  <mc:Fallback>
                    <p:oleObj name="Equation" r:id="rId1" imgW="9144000" imgH="1036320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811" y="1423"/>
                            <a:ext cx="236" cy="27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5" name="Object 8"/>
              <p:cNvGraphicFramePr>
                <a:graphicFrameLocks noChangeAspect="1"/>
              </p:cNvGraphicFramePr>
              <p:nvPr/>
            </p:nvGraphicFramePr>
            <p:xfrm>
              <a:off x="1047" y="1423"/>
              <a:ext cx="1214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" name="Equation" r:id="rId3" imgW="46024800" imgH="9448800" progId="Equation.DSMT4">
                      <p:embed/>
                    </p:oleObj>
                  </mc:Choice>
                  <mc:Fallback>
                    <p:oleObj name="Equation" r:id="rId3" imgW="46024800" imgH="9448800" progId="Equation.DSMT4">
                      <p:embed/>
                      <p:pic>
                        <p:nvPicPr>
                          <p:cNvPr id="0" name="Object 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047" y="1423"/>
                            <a:ext cx="1214" cy="24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6" name="Object 9"/>
              <p:cNvGraphicFramePr>
                <a:graphicFrameLocks noChangeAspect="1"/>
              </p:cNvGraphicFramePr>
              <p:nvPr/>
            </p:nvGraphicFramePr>
            <p:xfrm>
              <a:off x="2712" y="1478"/>
              <a:ext cx="168" cy="1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" name="Equation" r:id="rId5" imgW="6400800" imgH="7315200" progId="Equation.3">
                      <p:embed/>
                    </p:oleObj>
                  </mc:Choice>
                  <mc:Fallback>
                    <p:oleObj name="Equation" r:id="rId5" imgW="6400800" imgH="73152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712" y="1478"/>
                            <a:ext cx="168" cy="189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" name="Group 10"/>
          <p:cNvGrpSpPr/>
          <p:nvPr/>
        </p:nvGrpSpPr>
        <p:grpSpPr bwMode="auto">
          <a:xfrm>
            <a:off x="2667000" y="2590800"/>
            <a:ext cx="5900738" cy="431800"/>
            <a:chOff x="696" y="1824"/>
            <a:chExt cx="3717" cy="272"/>
          </a:xfrm>
        </p:grpSpPr>
        <p:graphicFrame>
          <p:nvGraphicFramePr>
            <p:cNvPr id="2052" name="Object 11"/>
            <p:cNvGraphicFramePr>
              <a:graphicFrameLocks noChangeAspect="1"/>
            </p:cNvGraphicFramePr>
            <p:nvPr/>
          </p:nvGraphicFramePr>
          <p:xfrm>
            <a:off x="696" y="1824"/>
            <a:ext cx="272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Equation" r:id="rId7" imgW="103632000" imgH="10363200" progId="Equation.DSMT4">
                    <p:embed/>
                  </p:oleObj>
                </mc:Choice>
                <mc:Fallback>
                  <p:oleObj name="Equation" r:id="rId7" imgW="103632000" imgH="10363200" progId="Equation.DSMT4">
                    <p:embed/>
                    <p:pic>
                      <p:nvPicPr>
                        <p:cNvPr id="0" name="Object 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96" y="1824"/>
                          <a:ext cx="2720" cy="272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" name="Object 12"/>
            <p:cNvGraphicFramePr>
              <a:graphicFrameLocks noChangeAspect="1"/>
            </p:cNvGraphicFramePr>
            <p:nvPr/>
          </p:nvGraphicFramePr>
          <p:xfrm>
            <a:off x="3696" y="1824"/>
            <a:ext cx="717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Equation" r:id="rId9" imgW="27127200" imgH="9448800" progId="Equation.3">
                    <p:embed/>
                  </p:oleObj>
                </mc:Choice>
                <mc:Fallback>
                  <p:oleObj name="Equation" r:id="rId9" imgW="27127200" imgH="9448800" progId="Equation.3">
                    <p:embed/>
                    <p:pic>
                      <p:nvPicPr>
                        <p:cNvPr id="0" name="Object 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696" y="1824"/>
                          <a:ext cx="717" cy="24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373" name="Object 13"/>
          <p:cNvGraphicFramePr>
            <a:graphicFrameLocks noChangeAspect="1"/>
          </p:cNvGraphicFramePr>
          <p:nvPr/>
        </p:nvGraphicFramePr>
        <p:xfrm>
          <a:off x="2133600" y="3429000"/>
          <a:ext cx="7437438" cy="213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1" imgW="178308000" imgH="51206400" progId="Equation.DSMT4">
                  <p:embed/>
                </p:oleObj>
              </mc:Choice>
              <mc:Fallback>
                <p:oleObj name="Equation" r:id="rId11" imgW="178308000" imgH="51206400" progId="Equation.DSMT4">
                  <p:embed/>
                  <p:pic>
                    <p:nvPicPr>
                      <p:cNvPr id="0" name="Object 1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33600" y="3429000"/>
                        <a:ext cx="7437438" cy="2139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4" name="Object 14"/>
          <p:cNvGraphicFramePr>
            <a:graphicFrameLocks noChangeAspect="1"/>
          </p:cNvGraphicFramePr>
          <p:nvPr/>
        </p:nvGraphicFramePr>
        <p:xfrm>
          <a:off x="3055062" y="5947867"/>
          <a:ext cx="3172874" cy="502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3" imgW="61874400" imgH="10058400" progId="Equation.DSMT4">
                  <p:embed/>
                </p:oleObj>
              </mc:Choice>
              <mc:Fallback>
                <p:oleObj name="Equation" r:id="rId13" imgW="61874400" imgH="10058400" progId="Equation.DSMT4">
                  <p:embed/>
                  <p:pic>
                    <p:nvPicPr>
                      <p:cNvPr id="0" name="Object 1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55062" y="5947867"/>
                        <a:ext cx="3172874" cy="50263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2003426" y="457200"/>
            <a:ext cx="7966075" cy="1949450"/>
            <a:chOff x="494" y="624"/>
            <a:chExt cx="5018" cy="1228"/>
          </a:xfrm>
        </p:grpSpPr>
        <p:sp>
          <p:nvSpPr>
            <p:cNvPr id="3085" name="Rectangle 3"/>
            <p:cNvSpPr>
              <a:spLocks noChangeArrowheads="1"/>
            </p:cNvSpPr>
            <p:nvPr/>
          </p:nvSpPr>
          <p:spPr bwMode="auto">
            <a:xfrm>
              <a:off x="494" y="624"/>
              <a:ext cx="5018" cy="122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indent="266700" algn="just">
                <a:lnSpc>
                  <a:spcPct val="150000"/>
                </a:lnSpc>
              </a:pPr>
              <a:r>
                <a:rPr kumimoji="1" lang="en-US" altLang="zh-CN" sz="28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                </a:t>
              </a:r>
              <a:r>
                <a:rPr kumimoji="1" lang="zh-CN" altLang="en-US" sz="28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称为</a:t>
              </a:r>
              <a:r>
                <a:rPr kumimoji="1" lang="zh-CN" altLang="en-US" sz="2800" dirty="0">
                  <a:solidFill>
                    <a:srgbClr val="FF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公共因子</a:t>
              </a:r>
              <a:r>
                <a:rPr kumimoji="1" lang="zh-CN" altLang="en-US" sz="28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，是</a:t>
              </a:r>
              <a:r>
                <a:rPr kumimoji="1" lang="zh-CN" altLang="en-US" sz="2800" dirty="0">
                  <a:solidFill>
                    <a:srgbClr val="FF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不可观测</a:t>
              </a:r>
              <a:r>
                <a:rPr kumimoji="1" lang="zh-CN" altLang="en-US" sz="28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的变量，他们的系数称为</a:t>
              </a:r>
              <a:r>
                <a:rPr kumimoji="1" lang="zh-CN" altLang="en-US" sz="2800" dirty="0">
                  <a:solidFill>
                    <a:srgbClr val="FF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因子载荷</a:t>
              </a:r>
              <a:r>
                <a:rPr kumimoji="1" lang="zh-CN" altLang="en-US" sz="28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。  是</a:t>
              </a:r>
              <a:r>
                <a:rPr kumimoji="1" lang="zh-CN" altLang="en-US" sz="2800" dirty="0">
                  <a:solidFill>
                    <a:srgbClr val="FF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特殊因子</a:t>
              </a:r>
              <a:r>
                <a:rPr kumimoji="1" lang="zh-CN" altLang="en-US" sz="28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，是不能被前</a:t>
              </a:r>
              <a:r>
                <a:rPr kumimoji="1" lang="en-US" altLang="zh-CN" sz="2800" i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m</a:t>
              </a:r>
              <a:r>
                <a:rPr kumimoji="1" lang="zh-CN" altLang="en-US" sz="28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个公共因子包含的部分。并且满足：</a:t>
              </a:r>
              <a:endPara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graphicFrame>
          <p:nvGraphicFramePr>
            <p:cNvPr id="3078" name="Object 4"/>
            <p:cNvGraphicFramePr>
              <a:graphicFrameLocks noChangeAspect="1"/>
            </p:cNvGraphicFramePr>
            <p:nvPr/>
          </p:nvGraphicFramePr>
          <p:xfrm>
            <a:off x="494" y="743"/>
            <a:ext cx="106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Equation" r:id="rId1" imgW="40843200" imgH="10363200" progId="Equation.3">
                    <p:embed/>
                  </p:oleObj>
                </mc:Choice>
                <mc:Fallback>
                  <p:oleObj name="Equation" r:id="rId1" imgW="40843200" imgH="10363200" progId="Equation.3">
                    <p:embed/>
                    <p:pic>
                      <p:nvPicPr>
                        <p:cNvPr id="0" name="Object 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94" y="743"/>
                          <a:ext cx="1067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9" name="Object 5"/>
            <p:cNvGraphicFramePr>
              <a:graphicFrameLocks noChangeAspect="1"/>
            </p:cNvGraphicFramePr>
            <p:nvPr/>
          </p:nvGraphicFramePr>
          <p:xfrm>
            <a:off x="2940" y="1039"/>
            <a:ext cx="273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3" imgW="6400800" imgH="10363200" progId="Equation.3">
                    <p:embed/>
                  </p:oleObj>
                </mc:Choice>
                <mc:Fallback>
                  <p:oleObj name="Equation" r:id="rId3" imgW="6400800" imgH="10363200" progId="Equation.3">
                    <p:embed/>
                    <p:pic>
                      <p:nvPicPr>
                        <p:cNvPr id="0" name="Object 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940" y="1039"/>
                          <a:ext cx="273" cy="45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4165374" y="2550411"/>
          <a:ext cx="3839124" cy="2308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41148000" imgH="21945600" progId="Equation.DSMT4">
                  <p:embed/>
                </p:oleObj>
              </mc:Choice>
              <mc:Fallback>
                <p:oleObj name="Equation" r:id="rId5" imgW="41148000" imgH="21945600" progId="Equation.DSMT4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65374" y="2550411"/>
                        <a:ext cx="3839124" cy="230897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11"/>
          <p:cNvGrpSpPr/>
          <p:nvPr/>
        </p:nvGrpSpPr>
        <p:grpSpPr bwMode="auto">
          <a:xfrm>
            <a:off x="2613660" y="5330826"/>
            <a:ext cx="5740400" cy="522288"/>
            <a:chOff x="496" y="3186"/>
            <a:chExt cx="3616" cy="329"/>
          </a:xfrm>
        </p:grpSpPr>
        <p:sp>
          <p:nvSpPr>
            <p:cNvPr id="3083" name="Rectangle 13"/>
            <p:cNvSpPr>
              <a:spLocks noChangeArrowheads="1"/>
            </p:cNvSpPr>
            <p:nvPr/>
          </p:nvSpPr>
          <p:spPr bwMode="auto">
            <a:xfrm>
              <a:off x="496" y="3186"/>
              <a:ext cx="3616" cy="329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eaLnBrk="0" hangingPunct="0"/>
              <a:r>
                <a:rPr kumimoji="1" lang="zh-CN" altLang="en-US" sz="2800">
                  <a:solidFill>
                    <a:schemeClr val="tx1"/>
                  </a:solidFill>
                  <a:latin typeface="宋体" pitchFamily="2" charset="-122"/>
                </a:rPr>
                <a:t>即</a:t>
              </a:r>
              <a:r>
                <a:rPr kumimoji="1" lang="zh-CN" altLang="en-US" sz="2800">
                  <a:solidFill>
                    <a:srgbClr val="FF0000"/>
                  </a:solidFill>
                  <a:latin typeface="宋体" pitchFamily="2" charset="-122"/>
                </a:rPr>
                <a:t>           </a:t>
              </a:r>
              <a:r>
                <a:rPr kumimoji="1" lang="en-US" altLang="zh-CN" sz="2800">
                  <a:solidFill>
                    <a:srgbClr val="FF0000"/>
                  </a:solidFill>
                  <a:latin typeface="宋体" pitchFamily="2" charset="-122"/>
                </a:rPr>
                <a:t>	    </a:t>
              </a:r>
              <a:r>
                <a:rPr kumimoji="1" lang="zh-CN" altLang="en-US" sz="2800">
                  <a:solidFill>
                    <a:srgbClr val="FF0000"/>
                  </a:solidFill>
                  <a:latin typeface="宋体" pitchFamily="2" charset="-122"/>
                </a:rPr>
                <a:t>互不相关</a:t>
              </a:r>
              <a:r>
                <a:rPr kumimoji="1" lang="zh-CN" altLang="en-US" sz="2800">
                  <a:solidFill>
                    <a:schemeClr val="tx1"/>
                  </a:solidFill>
                  <a:latin typeface="宋体" pitchFamily="2" charset="-122"/>
                </a:rPr>
                <a:t>，方差为</a:t>
              </a:r>
              <a:r>
                <a:rPr kumimoji="1" lang="en-US" altLang="zh-CN" sz="2800">
                  <a:solidFill>
                    <a:schemeClr val="tx1"/>
                  </a:solidFill>
                  <a:latin typeface="宋体" pitchFamily="2" charset="-122"/>
                </a:rPr>
                <a:t>1</a:t>
              </a:r>
              <a:r>
                <a:rPr kumimoji="1" lang="zh-CN" altLang="en-US" sz="2800">
                  <a:solidFill>
                    <a:schemeClr val="tx1"/>
                  </a:solidFill>
                  <a:latin typeface="宋体" pitchFamily="2" charset="-122"/>
                </a:rPr>
                <a:t>。</a:t>
              </a:r>
              <a:endParaRPr kumimoji="1" lang="zh-CN" altLang="en-US" sz="2800">
                <a:solidFill>
                  <a:schemeClr val="tx1"/>
                </a:solidFill>
                <a:latin typeface="宋体" pitchFamily="2" charset="-122"/>
              </a:endParaRPr>
            </a:p>
          </p:txBody>
        </p:sp>
        <p:graphicFrame>
          <p:nvGraphicFramePr>
            <p:cNvPr id="3075" name="Object 12"/>
            <p:cNvGraphicFramePr>
              <a:graphicFrameLocks noChangeAspect="1"/>
            </p:cNvGraphicFramePr>
            <p:nvPr/>
          </p:nvGraphicFramePr>
          <p:xfrm>
            <a:off x="804" y="3215"/>
            <a:ext cx="106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7" imgW="40843200" imgH="10363200" progId="Equation.3">
                    <p:embed/>
                  </p:oleObj>
                </mc:Choice>
                <mc:Fallback>
                  <p:oleObj name="Equation" r:id="rId7" imgW="40843200" imgH="10363200" progId="Equation.3">
                    <p:embed/>
                    <p:pic>
                      <p:nvPicPr>
                        <p:cNvPr id="0" name="Object 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04" y="3215"/>
                          <a:ext cx="1067" cy="272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8"/>
          <p:cNvSpPr txBox="1"/>
          <p:nvPr/>
        </p:nvSpPr>
        <p:spPr>
          <a:xfrm>
            <a:off x="2430781" y="2854960"/>
            <a:ext cx="1103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endParaRPr lang="zh-CN" altLang="en-US" sz="2800"/>
          </a:p>
        </p:txBody>
      </p: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4"/>
          <p:cNvSpPr>
            <a:spLocks noChangeArrowheads="1"/>
          </p:cNvSpPr>
          <p:nvPr/>
        </p:nvSpPr>
        <p:spPr bwMode="auto">
          <a:xfrm>
            <a:off x="1874520" y="3455035"/>
            <a:ext cx="7393940" cy="52197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kumimoji="1" lang="zh-CN" altLang="en-US" sz="2800" dirty="0">
                <a:solidFill>
                  <a:schemeClr val="tx1"/>
                </a:solidFill>
                <a:latin typeface="宋体" pitchFamily="2" charset="-122"/>
              </a:rPr>
              <a:t>即</a:t>
            </a:r>
            <a:r>
              <a:rPr kumimoji="1" lang="zh-CN" altLang="en-US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ε</a:t>
            </a:r>
            <a:r>
              <a:rPr kumimoji="1" lang="en-US" altLang="zh-CN" sz="2800" i="1" baseline="-25000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kumimoji="1" lang="zh-CN" altLang="en-US" sz="2800" dirty="0">
                <a:solidFill>
                  <a:srgbClr val="FF0000"/>
                </a:solidFill>
                <a:latin typeface="宋体" pitchFamily="2" charset="-122"/>
              </a:rPr>
              <a:t>互不相关</a:t>
            </a:r>
            <a:r>
              <a:rPr kumimoji="1" lang="zh-CN" altLang="en-US" sz="2800" dirty="0">
                <a:solidFill>
                  <a:schemeClr val="tx1"/>
                </a:solidFill>
                <a:latin typeface="宋体" pitchFamily="2" charset="-122"/>
              </a:rPr>
              <a:t>，方差不一定相等，           。</a:t>
            </a:r>
            <a:endParaRPr kumimoji="1" lang="zh-CN" altLang="en-US" sz="2800" dirty="0">
              <a:solidFill>
                <a:schemeClr val="tx1"/>
              </a:solidFill>
              <a:latin typeface="宋体" pitchFamily="2" charset="-122"/>
            </a:endParaRPr>
          </a:p>
        </p:txBody>
      </p:sp>
      <p:sp>
        <p:nvSpPr>
          <p:cNvPr id="3084" name="Rectangle 10"/>
          <p:cNvSpPr>
            <a:spLocks noChangeArrowheads="1"/>
          </p:cNvSpPr>
          <p:nvPr/>
        </p:nvSpPr>
        <p:spPr bwMode="auto">
          <a:xfrm>
            <a:off x="5855970" y="4672965"/>
            <a:ext cx="3222625" cy="52197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1" lang="zh-CN" altLang="en-US" sz="2800">
                <a:solidFill>
                  <a:schemeClr val="tx1"/>
                </a:solidFill>
                <a:latin typeface="宋体" pitchFamily="2" charset="-122"/>
              </a:rPr>
              <a:t>即    </a:t>
            </a:r>
            <a:r>
              <a:rPr kumimoji="1" lang="en-US" altLang="zh-CN" sz="2800">
                <a:solidFill>
                  <a:schemeClr val="tx1"/>
                </a:solidFill>
                <a:latin typeface="宋体" pitchFamily="2" charset="-122"/>
              </a:rPr>
              <a:t>	  </a:t>
            </a:r>
            <a:r>
              <a:rPr kumimoji="1" lang="zh-CN" altLang="en-US" sz="2800">
                <a:solidFill>
                  <a:srgbClr val="FF0000"/>
                </a:solidFill>
                <a:latin typeface="宋体" pitchFamily="2" charset="-122"/>
              </a:rPr>
              <a:t>不相关</a:t>
            </a:r>
            <a:r>
              <a:rPr kumimoji="1" lang="zh-CN" altLang="en-US" sz="2800">
                <a:solidFill>
                  <a:schemeClr val="tx1"/>
                </a:solidFill>
                <a:latin typeface="宋体" pitchFamily="2" charset="-122"/>
              </a:rPr>
              <a:t>；</a:t>
            </a:r>
            <a:endParaRPr kumimoji="1" lang="zh-CN" altLang="en-US" sz="2800">
              <a:solidFill>
                <a:schemeClr val="tx1"/>
              </a:solidFill>
              <a:latin typeface="宋体" pitchFamily="2" charset="-122"/>
            </a:endParaRP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3585210" y="725171"/>
          <a:ext cx="3892550" cy="212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93268800" imgH="51206400" progId="Equation.3">
                  <p:embed/>
                </p:oleObj>
              </mc:Choice>
              <mc:Fallback>
                <p:oleObj name="Equation" r:id="rId1" imgW="93268800" imgH="51206400" progId="Equation.3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85210" y="725171"/>
                        <a:ext cx="3892550" cy="2125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8"/>
          <p:cNvGraphicFramePr>
            <a:graphicFrameLocks noChangeAspect="1"/>
          </p:cNvGraphicFramePr>
          <p:nvPr/>
        </p:nvGraphicFramePr>
        <p:xfrm>
          <a:off x="2977516" y="4758691"/>
          <a:ext cx="230695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47244000" imgH="9448800" progId="Equation.DSMT4">
                  <p:embed/>
                </p:oleObj>
              </mc:Choice>
              <mc:Fallback>
                <p:oleObj name="Equation" r:id="rId3" imgW="47244000" imgH="9448800" progId="Equation.DSMT4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77516" y="4758691"/>
                        <a:ext cx="2306955" cy="454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9"/>
          <p:cNvGraphicFramePr>
            <a:graphicFrameLocks noChangeAspect="1"/>
          </p:cNvGraphicFramePr>
          <p:nvPr/>
        </p:nvGraphicFramePr>
        <p:xfrm>
          <a:off x="6416675" y="4758691"/>
          <a:ext cx="615950" cy="351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14630400" imgH="8534400" progId="Equation.3">
                  <p:embed/>
                </p:oleObj>
              </mc:Choice>
              <mc:Fallback>
                <p:oleObj name="Equation" r:id="rId5" imgW="14630400" imgH="8534400" progId="Equation.3">
                  <p:embed/>
                  <p:pic>
                    <p:nvPicPr>
                      <p:cNvPr id="0" name="Object 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16675" y="4758691"/>
                        <a:ext cx="615950" cy="35115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009141" y="725170"/>
            <a:ext cx="1103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/>
              <a:t>（</a:t>
            </a:r>
            <a:r>
              <a:rPr lang="en-US" altLang="zh-CN" sz="2800"/>
              <a:t>2</a:t>
            </a:r>
            <a:r>
              <a:rPr lang="zh-CN" altLang="en-US" sz="2800"/>
              <a:t>）</a:t>
            </a:r>
            <a:endParaRPr lang="zh-CN" altLang="en-US" sz="2800"/>
          </a:p>
        </p:txBody>
      </p:sp>
      <p:sp>
        <p:nvSpPr>
          <p:cNvPr id="5" name="文本框 4"/>
          <p:cNvSpPr txBox="1"/>
          <p:nvPr/>
        </p:nvSpPr>
        <p:spPr>
          <a:xfrm>
            <a:off x="1874521" y="4758690"/>
            <a:ext cx="1103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/>
              <a:t>（</a:t>
            </a:r>
            <a:r>
              <a:rPr lang="en-US" altLang="zh-CN" sz="2800"/>
              <a:t>3</a:t>
            </a:r>
            <a:r>
              <a:rPr lang="zh-CN" altLang="en-US" sz="2800"/>
              <a:t>）</a:t>
            </a:r>
            <a:endParaRPr lang="zh-CN" altLang="en-US" sz="2800"/>
          </a:p>
        </p:txBody>
      </p:sp>
      <p:graphicFrame>
        <p:nvGraphicFramePr>
          <p:cNvPr id="4099" name="Object 5"/>
          <p:cNvGraphicFramePr>
            <a:graphicFrameLocks noChangeAspect="1"/>
          </p:cNvGraphicFramePr>
          <p:nvPr/>
        </p:nvGraphicFramePr>
        <p:xfrm>
          <a:off x="7032625" y="3455035"/>
          <a:ext cx="18732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7" imgW="45110400" imgH="11277600" progId="Equation.3">
                  <p:embed/>
                </p:oleObj>
              </mc:Choice>
              <mc:Fallback>
                <p:oleObj name="Equation" r:id="rId7" imgW="45110400" imgH="11277600" progId="Equation.3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32625" y="3455035"/>
                        <a:ext cx="1873250" cy="463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061845" y="304800"/>
            <a:ext cx="3666490" cy="914400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solidFill>
                  <a:schemeClr val="tx1"/>
                </a:solidFill>
              </a:rPr>
              <a:t>用矩阵的表达方式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2026891" y="1366400"/>
          <a:ext cx="349726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52730400" imgH="9144000" progId="Equation.DSMT4">
                  <p:embed/>
                </p:oleObj>
              </mc:Choice>
              <mc:Fallback>
                <p:oleObj name="Equation" r:id="rId1" imgW="52730400" imgH="9144000" progId="Equation.DSMT4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26891" y="1366400"/>
                        <a:ext cx="3497262" cy="574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2128060" y="2338990"/>
          <a:ext cx="1647462" cy="481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32004000" imgH="9448800" progId="Equation.DSMT4">
                  <p:embed/>
                </p:oleObj>
              </mc:Choice>
              <mc:Fallback>
                <p:oleObj name="Equation" r:id="rId3" imgW="32004000" imgH="94488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8060" y="2338990"/>
                        <a:ext cx="1647462" cy="48157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2127855" y="3057654"/>
          <a:ext cx="1583719" cy="511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29260800" imgH="9448800" progId="Equation.DSMT4">
                  <p:embed/>
                </p:oleObj>
              </mc:Choice>
              <mc:Fallback>
                <p:oleObj name="Equation" r:id="rId5" imgW="29260800" imgH="94488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7855" y="3057654"/>
                        <a:ext cx="1583719" cy="51140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4002088" y="2297113"/>
          <a:ext cx="2198687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41757600" imgH="10363200" progId="Equation.DSMT4">
                  <p:embed/>
                </p:oleObj>
              </mc:Choice>
              <mc:Fallback>
                <p:oleObj name="Equation" r:id="rId7" imgW="41757600" imgH="10363200" progId="Equation.DSMT4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02088" y="2297113"/>
                        <a:ext cx="2198687" cy="5476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7"/>
          <p:cNvGraphicFramePr>
            <a:graphicFrameLocks noChangeAspect="1"/>
          </p:cNvGraphicFramePr>
          <p:nvPr/>
        </p:nvGraphicFramePr>
        <p:xfrm>
          <a:off x="3976251" y="3026969"/>
          <a:ext cx="5190246" cy="644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98145600" imgH="12192000" progId="Equation.DSMT4">
                  <p:embed/>
                </p:oleObj>
              </mc:Choice>
              <mc:Fallback>
                <p:oleObj name="Equation" r:id="rId9" imgW="98145600" imgH="12192000" progId="Equation.DSMT4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76251" y="3026969"/>
                        <a:ext cx="5190246" cy="644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8"/>
          <p:cNvGraphicFramePr>
            <a:graphicFrameLocks noChangeAspect="1"/>
          </p:cNvGraphicFramePr>
          <p:nvPr/>
        </p:nvGraphicFramePr>
        <p:xfrm>
          <a:off x="1895475" y="3938588"/>
          <a:ext cx="9348788" cy="229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220675200" imgH="51206400" progId="Equation.DSMT4">
                  <p:embed/>
                </p:oleObj>
              </mc:Choice>
              <mc:Fallback>
                <p:oleObj name="Equation" r:id="rId11" imgW="220675200" imgH="51206400" progId="Equation.DSMT4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95475" y="3938588"/>
                        <a:ext cx="9348788" cy="2298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3311526" y="517525"/>
            <a:ext cx="4664075" cy="86868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二、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型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因子分析模型</a:t>
            </a:r>
            <a:endParaRPr lang="zh-CN" altLang="en-US" sz="28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149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830705"/>
            <a:ext cx="7772400" cy="35242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Q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型因子分析模型：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此时，                             表示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个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样品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因子分析的目的就是通过模型，以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替代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，由于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&lt;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，从而达到降低维数的作用。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150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146" name="Object 5"/>
          <p:cNvGraphicFramePr>
            <a:graphicFrameLocks noChangeAspect="1"/>
          </p:cNvGraphicFramePr>
          <p:nvPr/>
        </p:nvGraphicFramePr>
        <p:xfrm>
          <a:off x="3916691" y="2537919"/>
          <a:ext cx="5069653" cy="520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105765600" imgH="11277600" progId="Equation.DSMT4">
                  <p:embed/>
                </p:oleObj>
              </mc:Choice>
              <mc:Fallback>
                <p:oleObj name="Equation" r:id="rId1" imgW="105765600" imgH="112776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16691" y="2537919"/>
                        <a:ext cx="5069653" cy="52067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147" name="Object 7"/>
          <p:cNvGraphicFramePr>
            <a:graphicFrameLocks noChangeAspect="1"/>
          </p:cNvGraphicFramePr>
          <p:nvPr/>
        </p:nvGraphicFramePr>
        <p:xfrm>
          <a:off x="3381813" y="3140264"/>
          <a:ext cx="2836836" cy="627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26212800" imgH="5791200" progId="Equation.DSMT4">
                  <p:embed/>
                </p:oleObj>
              </mc:Choice>
              <mc:Fallback>
                <p:oleObj name="Equation" r:id="rId3" imgW="26212800" imgH="5791200" progId="Equation.DSMT4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81813" y="3140264"/>
                        <a:ext cx="2836836" cy="62760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4495800" cy="609600"/>
          </a:xfrm>
        </p:spPr>
        <p:txBody>
          <a:bodyPr/>
          <a:lstStyle/>
          <a:p>
            <a:pPr eaLnBrk="1" hangingPunct="1"/>
            <a:r>
              <a:rPr lang="en-US" altLang="zh-CN" sz="2400" b="1" dirty="0">
                <a:solidFill>
                  <a:schemeClr val="tx1"/>
                </a:solidFill>
              </a:rPr>
              <a:t>    </a:t>
            </a:r>
            <a:r>
              <a:rPr lang="zh-CN" altLang="en-US" sz="2800" b="1" dirty="0">
                <a:solidFill>
                  <a:schemeClr val="tx1"/>
                </a:solidFill>
              </a:rPr>
              <a:t>三、因子分析模型的性质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20483" name="Rectangle 3"/>
          <p:cNvSpPr>
            <a:spLocks noRot="1" noChangeArrowheads="1"/>
          </p:cNvSpPr>
          <p:nvPr/>
        </p:nvSpPr>
        <p:spPr bwMode="auto">
          <a:xfrm>
            <a:off x="2345690" y="990600"/>
            <a:ext cx="854075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1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、原始变量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协方差矩阵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的分解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2364384" y="1767491"/>
          <a:ext cx="4251681" cy="584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75895200" imgH="10058400" progId="Equation.DSMT4">
                  <p:embed/>
                </p:oleObj>
              </mc:Choice>
              <mc:Fallback>
                <p:oleObj name="Equation" r:id="rId1" imgW="75895200" imgH="100584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64384" y="1767491"/>
                        <a:ext cx="4251681" cy="58419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/>
        </p:nvGraphicFramePr>
        <p:xfrm>
          <a:off x="2276475" y="2505075"/>
          <a:ext cx="7262813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40512800" imgH="10058400" progId="Equation.DSMT4">
                  <p:embed/>
                </p:oleObj>
              </mc:Choice>
              <mc:Fallback>
                <p:oleObj name="Equation" r:id="rId3" imgW="140512800" imgH="100584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76475" y="2505075"/>
                        <a:ext cx="7262813" cy="5286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3612100" y="3285807"/>
          <a:ext cx="2407700" cy="549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45415200" imgH="10363200" progId="Equation.DSMT4">
                  <p:embed/>
                </p:oleObj>
              </mc:Choice>
              <mc:Fallback>
                <p:oleObj name="Equation" r:id="rId5" imgW="45415200" imgH="10363200" progId="Equation.DSMT4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12100" y="3285807"/>
                        <a:ext cx="2407700" cy="54959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0487" name="Object 7"/>
              <p:cNvSpPr txBox="1"/>
              <p:nvPr/>
            </p:nvSpPr>
            <p:spPr>
              <a:xfrm>
                <a:off x="3451225" y="4013200"/>
                <a:ext cx="5934075" cy="5286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是因子模型的系数，</m:t>
                    </m:r>
                  </m:oMath>
                </a14:m>
                <a:r>
                  <a:rPr lang="zh-CN" altLang="en-US" sz="2800" dirty="0"/>
                  <a:t>因子载荷阵</a:t>
                </a:r>
                <a:endParaRPr lang="zh-CN" altLang="en-US" sz="2800" dirty="0"/>
              </a:p>
            </p:txBody>
          </p:sp>
        </mc:Choice>
        <mc:Fallback>
          <p:sp>
            <p:nvSpPr>
              <p:cNvPr id="2048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225" y="4013200"/>
                <a:ext cx="5934075" cy="528638"/>
              </a:xfrm>
              <a:prstGeom prst="rect">
                <a:avLst/>
              </a:prstGeom>
              <a:blipFill rotWithShape="1">
                <a:blip r:embed="rId7"/>
                <a:stretch>
                  <a:fillRect b="-3183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488" name="Object 8"/>
          <p:cNvGraphicFramePr>
            <a:graphicFrameLocks noChangeAspect="1"/>
          </p:cNvGraphicFramePr>
          <p:nvPr/>
        </p:nvGraphicFramePr>
        <p:xfrm>
          <a:off x="3462834" y="4768852"/>
          <a:ext cx="5266331" cy="563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8" imgW="114300000" imgH="12192000" progId="Equation.DSMT4">
                  <p:embed/>
                </p:oleObj>
              </mc:Choice>
              <mc:Fallback>
                <p:oleObj name="Equation" r:id="rId8" imgW="114300000" imgH="12192000" progId="Equation.DSMT4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62834" y="4768852"/>
                        <a:ext cx="5266331" cy="56324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2894966" y="5332095"/>
            <a:ext cx="6072505" cy="1143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fontAlgn="auto">
              <a:lnSpc>
                <a:spcPct val="150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的主对角线上的元素值越小，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则公共因子共享的成分越多。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334713" y="554067"/>
            <a:ext cx="5410200" cy="684213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solidFill>
                  <a:srgbClr val="FF0000"/>
                </a:solidFill>
              </a:rPr>
              <a:t>2</a:t>
            </a:r>
            <a:r>
              <a:rPr lang="zh-CN" altLang="en-US" sz="2800" dirty="0">
                <a:solidFill>
                  <a:srgbClr val="FF0000"/>
                </a:solidFill>
              </a:rPr>
              <a:t>、模型不受计量单位的影响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906088" y="1444336"/>
            <a:ext cx="10380748" cy="429006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将原始变量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做变换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CX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这里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＝</a:t>
            </a:r>
            <a:r>
              <a:rPr lang="en-US" altLang="zh-CN" sz="2800" i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diag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,…,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</a:t>
            </a:r>
            <a:r>
              <a:rPr lang="en-US" altLang="zh-CN" sz="2800" i="1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),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</a:t>
            </a:r>
            <a:r>
              <a:rPr lang="en-US" altLang="zh-CN" sz="2800" i="1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&gt;0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1531739" y="2135443"/>
          <a:ext cx="401391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76809600" imgH="9448800" progId="Equation.DSMT4">
                  <p:embed/>
                </p:oleObj>
              </mc:Choice>
              <mc:Fallback>
                <p:oleObj name="Equation" r:id="rId1" imgW="76809600" imgH="94488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31739" y="2135443"/>
                        <a:ext cx="4013915" cy="4778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1563773" y="2777228"/>
          <a:ext cx="3981881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75895200" imgH="9144000" progId="Equation.DSMT4">
                  <p:embed/>
                </p:oleObj>
              </mc:Choice>
              <mc:Fallback>
                <p:oleObj name="Equation" r:id="rId3" imgW="75895200" imgH="91440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63773" y="2777228"/>
                        <a:ext cx="3981881" cy="4778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1563773" y="3410026"/>
          <a:ext cx="3911308" cy="581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74066400" imgH="10668000" progId="Equation.DSMT4">
                  <p:embed/>
                </p:oleObj>
              </mc:Choice>
              <mc:Fallback>
                <p:oleObj name="Equation" r:id="rId5" imgW="74066400" imgH="10668000" progId="Equation.DSMT4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63773" y="3410026"/>
                        <a:ext cx="3911308" cy="58184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1531739" y="4162166"/>
          <a:ext cx="3620375" cy="581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68580000" imgH="10668000" progId="Equation.DSMT4">
                  <p:embed/>
                </p:oleObj>
              </mc:Choice>
              <mc:Fallback>
                <p:oleObj name="Equation" r:id="rId7" imgW="68580000" imgH="10668000" progId="Equation.DSMT4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31739" y="4162166"/>
                        <a:ext cx="3620375" cy="58184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5736999" y="4154809"/>
          <a:ext cx="1390364" cy="496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25298400" imgH="8839200" progId="Equation.DSMT4">
                  <p:embed/>
                </p:oleObj>
              </mc:Choice>
              <mc:Fallback>
                <p:oleObj name="Equation" r:id="rId9" imgW="25298400" imgH="8839200" progId="Equation.DSMT4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36999" y="4154809"/>
                        <a:ext cx="1390364" cy="49656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531739" y="4868603"/>
          <a:ext cx="144779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1" imgW="35052000" imgH="10972800" progId="Equation.DSMT4">
                  <p:embed/>
                </p:oleObj>
              </mc:Choice>
              <mc:Fallback>
                <p:oleObj name="Equation" r:id="rId11" imgW="35052000" imgH="10972800" progId="Equation.DSMT4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31739" y="4868603"/>
                        <a:ext cx="1447792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1501081" y="5504640"/>
          <a:ext cx="137157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3" imgW="32918400" imgH="10972800" progId="Equation.DSMT4">
                  <p:embed/>
                </p:oleObj>
              </mc:Choice>
              <mc:Fallback>
                <p:oleObj name="Equation" r:id="rId13" imgW="32918400" imgH="10972800" progId="Equation.DSMT4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01081" y="5504640"/>
                        <a:ext cx="137157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3501658" y="4895726"/>
          <a:ext cx="170180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5" imgW="40843200" imgH="10972800" progId="Equation.DSMT4">
                  <p:embed/>
                </p:oleObj>
              </mc:Choice>
              <mc:Fallback>
                <p:oleObj name="Equation" r:id="rId15" imgW="40843200" imgH="109728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01658" y="4895726"/>
                        <a:ext cx="1701808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/>
        </p:nvGraphicFramePr>
        <p:xfrm>
          <a:off x="3347016" y="5439961"/>
          <a:ext cx="51816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7" imgW="122834400" imgH="12192000" progId="Equation.DSMT4">
                  <p:embed/>
                </p:oleObj>
              </mc:Choice>
              <mc:Fallback>
                <p:oleObj name="Equation" r:id="rId17" imgW="122834400" imgH="121920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47016" y="5439961"/>
                        <a:ext cx="5181600" cy="587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/>
        </p:nvGraphicFramePr>
        <p:xfrm>
          <a:off x="1531739" y="5971237"/>
          <a:ext cx="4981139" cy="711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9" imgW="90220800" imgH="13106400" progId="Equation.DSMT4">
                  <p:embed/>
                </p:oleObj>
              </mc:Choice>
              <mc:Fallback>
                <p:oleObj name="Equation" r:id="rId19" imgW="90220800" imgH="13106400" progId="Equation.DSMT4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31739" y="5971237"/>
                        <a:ext cx="4981139" cy="71158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1501081" y="4063042"/>
            <a:ext cx="3702385" cy="7174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311400" y="393065"/>
            <a:ext cx="6019800" cy="609600"/>
          </a:xfrm>
        </p:spPr>
        <p:txBody>
          <a:bodyPr/>
          <a:lstStyle/>
          <a:p>
            <a:pPr eaLnBrk="1" hangingPunct="1"/>
            <a:r>
              <a:rPr lang="en-US" altLang="zh-CN" sz="2800">
                <a:solidFill>
                  <a:srgbClr val="FF0000"/>
                </a:solidFill>
                <a:latin typeface="宋体" pitchFamily="2" charset="-122"/>
              </a:rPr>
              <a:t>3</a:t>
            </a:r>
            <a:r>
              <a:rPr lang="zh-CN" altLang="en-US" sz="2800">
                <a:solidFill>
                  <a:srgbClr val="FF0000"/>
                </a:solidFill>
                <a:latin typeface="宋体" pitchFamily="2" charset="-122"/>
              </a:rPr>
              <a:t>、因子载荷不是惟一的</a:t>
            </a:r>
            <a:endParaRPr lang="zh-CN" altLang="en-US" sz="280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991996" y="1278255"/>
            <a:ext cx="8207375" cy="115697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设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为一个</a:t>
            </a:r>
            <a:r>
              <a:rPr lang="en-US" altLang="zh-CN" sz="2800" i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en-US" altLang="zh-CN" sz="2800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×</a:t>
            </a:r>
            <a:r>
              <a:rPr lang="en-US" altLang="zh-CN" sz="2800" i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正交矩阵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，令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2800" b="1" baseline="30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'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，则模型可以表示为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endParaRPr lang="zh-CN" altLang="en-US" sz="28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4856163" y="2195513"/>
          <a:ext cx="29352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60350400" imgH="10668000" progId="Equation.DSMT4">
                  <p:embed/>
                </p:oleObj>
              </mc:Choice>
              <mc:Fallback>
                <p:oleObj name="Equation" r:id="rId1" imgW="60350400" imgH="106680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56163" y="2195513"/>
                        <a:ext cx="2935287" cy="533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3086100" y="3632691"/>
          <a:ext cx="1726127" cy="445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37795200" imgH="9753600" progId="Equation.DSMT4">
                  <p:embed/>
                </p:oleObj>
              </mc:Choice>
              <mc:Fallback>
                <p:oleObj name="Equation" r:id="rId3" imgW="37795200" imgH="97536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86100" y="3632691"/>
                        <a:ext cx="1726127" cy="44545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/>
        </p:nvGraphicFramePr>
        <p:xfrm>
          <a:off x="5180067" y="3632691"/>
          <a:ext cx="1455183" cy="445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30175200" imgH="9448800" progId="Equation.DSMT4">
                  <p:embed/>
                </p:oleObj>
              </mc:Choice>
              <mc:Fallback>
                <p:oleObj name="Equation" r:id="rId5" imgW="30175200" imgH="9448800" progId="Equation.DSMT4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80067" y="3632691"/>
                        <a:ext cx="1455183" cy="44545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7"/>
          <p:cNvGraphicFramePr>
            <a:graphicFrameLocks noChangeAspect="1"/>
          </p:cNvGraphicFramePr>
          <p:nvPr/>
        </p:nvGraphicFramePr>
        <p:xfrm>
          <a:off x="3096172" y="4330721"/>
          <a:ext cx="5097951" cy="445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125882400" imgH="10972800" progId="Equation.DSMT4">
                  <p:embed/>
                </p:oleObj>
              </mc:Choice>
              <mc:Fallback>
                <p:oleObj name="Equation" r:id="rId7" imgW="125882400" imgH="10972800" progId="Equation.DSMT4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96172" y="4330721"/>
                        <a:ext cx="5097951" cy="44545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/>
        </p:nvGraphicFramePr>
        <p:xfrm>
          <a:off x="3096172" y="5028751"/>
          <a:ext cx="4450724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99060000" imgH="12192000" progId="Equation.DSMT4">
                  <p:embed/>
                </p:oleObj>
              </mc:Choice>
              <mc:Fallback>
                <p:oleObj name="Equation" r:id="rId9" imgW="99060000" imgH="12192000" progId="Equation.DSMT4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96172" y="5028751"/>
                        <a:ext cx="4450724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9"/>
          <p:cNvGraphicFramePr>
            <a:graphicFrameLocks noChangeAspect="1"/>
          </p:cNvGraphicFramePr>
          <p:nvPr/>
        </p:nvGraphicFramePr>
        <p:xfrm>
          <a:off x="3155950" y="5575300"/>
          <a:ext cx="404812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84734400" imgH="13106400" progId="Equation.DSMT4">
                  <p:embed/>
                </p:oleObj>
              </mc:Choice>
              <mc:Fallback>
                <p:oleObj name="Equation" r:id="rId11" imgW="84734400" imgH="13106400" progId="Equation.DSMT4">
                  <p:embed/>
                  <p:pic>
                    <p:nvPicPr>
                      <p:cNvPr id="0" name="Object 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55950" y="5575300"/>
                        <a:ext cx="4048125" cy="6111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2133600" y="2895600"/>
            <a:ext cx="4191000" cy="533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800"/>
              <a:t>且满足因子模型的条件</a:t>
            </a:r>
            <a:endParaRPr lang="zh-CN" altLang="en-US"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1524001" y="457200"/>
            <a:ext cx="723582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800" b="1">
                <a:latin typeface="宋体" pitchFamily="2" charset="-122"/>
              </a:rPr>
              <a:t>  </a:t>
            </a:r>
            <a:r>
              <a:rPr kumimoji="1" lang="zh-CN" altLang="en-US" sz="2800" b="1">
                <a:latin typeface="宋体" pitchFamily="2" charset="-122"/>
              </a:rPr>
              <a:t>四、 因子载荷矩阵中的几个统计特征</a:t>
            </a:r>
            <a:endParaRPr kumimoji="1" lang="zh-CN" altLang="en-US" sz="2800" b="1">
              <a:latin typeface="宋体" pitchFamily="2" charset="-122"/>
            </a:endParaRP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2438401" y="1101090"/>
            <a:ext cx="541083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、因子载荷</a:t>
            </a:r>
            <a:r>
              <a:rPr kumimoji="1" lang="en-US" altLang="zh-CN" sz="2800" b="1" i="1" dirty="0" err="1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kumimoji="1" lang="en-US" altLang="zh-CN" sz="2800" b="1" i="1" baseline="-25000" dirty="0" err="1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ij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的统计意义</a:t>
            </a:r>
            <a:endParaRPr kumimoji="1" lang="en-US" altLang="zh-CN" sz="2800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2057400" y="1712912"/>
            <a:ext cx="7772400" cy="534988"/>
            <a:chOff x="336" y="1223"/>
            <a:chExt cx="4896" cy="337"/>
          </a:xfrm>
        </p:grpSpPr>
        <p:sp>
          <p:nvSpPr>
            <p:cNvPr id="11281" name="Rectangle 5"/>
            <p:cNvSpPr>
              <a:spLocks noChangeArrowheads="1"/>
            </p:cNvSpPr>
            <p:nvPr/>
          </p:nvSpPr>
          <p:spPr bwMode="auto">
            <a:xfrm>
              <a:off x="336" y="1248"/>
              <a:ext cx="489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kumimoji="1" lang="en-US" altLang="zh-CN" sz="2400" dirty="0">
                  <a:solidFill>
                    <a:srgbClr val="FF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  </a:t>
              </a:r>
              <a:r>
                <a:rPr kumimoji="1" lang="zh-CN" altLang="en-US" sz="2400" dirty="0">
                  <a:solidFill>
                    <a:srgbClr val="FF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因子载荷   是第</a:t>
              </a:r>
              <a:r>
                <a:rPr kumimoji="1" lang="en-US" altLang="zh-CN" sz="2400" i="1" dirty="0" err="1">
                  <a:solidFill>
                    <a:srgbClr val="FF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i</a:t>
              </a:r>
              <a:r>
                <a:rPr kumimoji="1" lang="zh-CN" altLang="en-US" sz="2400" dirty="0">
                  <a:solidFill>
                    <a:srgbClr val="FF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个变量与第</a:t>
              </a:r>
              <a:r>
                <a:rPr kumimoji="1" lang="en-US" altLang="zh-CN" sz="2400" i="1" dirty="0">
                  <a:solidFill>
                    <a:srgbClr val="FF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j</a:t>
              </a:r>
              <a:r>
                <a:rPr kumimoji="1" lang="zh-CN" altLang="en-US" sz="2400" dirty="0">
                  <a:solidFill>
                    <a:srgbClr val="FF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个公共因子的相关系数</a:t>
              </a:r>
              <a:r>
                <a:rPr kumimoji="1" lang="zh-CN" altLang="en-US" sz="2400" dirty="0">
                  <a:solidFill>
                    <a:srgbClr val="FF0000"/>
                  </a:solidFill>
                  <a:latin typeface="Times New Roman" panose="02020503050405090304" pitchFamily="18" charset="0"/>
                  <a:ea typeface="华文琥珀" panose="02010800040101010101" pitchFamily="2" charset="-122"/>
                  <a:cs typeface="Times New Roman" panose="02020503050405090304" pitchFamily="18" charset="0"/>
                </a:rPr>
                <a:t> </a:t>
              </a:r>
              <a:endParaRPr kumimoji="1"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ea typeface="华文琥珀" panose="02010800040101010101" pitchFamily="2" charset="-122"/>
                <a:cs typeface="Times New Roman" panose="02020503050405090304" pitchFamily="18" charset="0"/>
              </a:endParaRPr>
            </a:p>
          </p:txBody>
        </p:sp>
        <p:graphicFrame>
          <p:nvGraphicFramePr>
            <p:cNvPr id="11270" name="Object 6"/>
            <p:cNvGraphicFramePr>
              <a:graphicFrameLocks noChangeAspect="1"/>
            </p:cNvGraphicFramePr>
            <p:nvPr/>
          </p:nvGraphicFramePr>
          <p:xfrm>
            <a:off x="1208" y="1223"/>
            <a:ext cx="246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Equation" r:id="rId1" imgW="4267200" imgH="5791200" progId="Equation.DSMT4">
                    <p:embed/>
                  </p:oleObj>
                </mc:Choice>
                <mc:Fallback>
                  <p:oleObj name="Equation" r:id="rId1" imgW="4267200" imgH="5791200" progId="Equation.DSMT4">
                    <p:embed/>
                    <p:pic>
                      <p:nvPicPr>
                        <p:cNvPr id="0" name="Object 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08" y="1223"/>
                          <a:ext cx="246" cy="33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/>
          <p:cNvGrpSpPr/>
          <p:nvPr/>
        </p:nvGrpSpPr>
        <p:grpSpPr bwMode="auto">
          <a:xfrm>
            <a:off x="1981200" y="2438401"/>
            <a:ext cx="8578850" cy="460375"/>
            <a:chOff x="288" y="1632"/>
            <a:chExt cx="5280" cy="290"/>
          </a:xfrm>
        </p:grpSpPr>
        <p:sp>
          <p:nvSpPr>
            <p:cNvPr id="11280" name="Rectangle 8"/>
            <p:cNvSpPr>
              <a:spLocks noChangeArrowheads="1"/>
            </p:cNvSpPr>
            <p:nvPr/>
          </p:nvSpPr>
          <p:spPr bwMode="auto">
            <a:xfrm>
              <a:off x="288" y="1632"/>
              <a:ext cx="5280" cy="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kumimoji="1" lang="zh-CN" altLang="en-US" sz="2400">
                  <a:latin typeface="宋体" pitchFamily="2" charset="-122"/>
                </a:rPr>
                <a:t>模型为</a:t>
              </a:r>
              <a:r>
                <a:rPr kumimoji="1" lang="zh-CN" altLang="en-US" sz="2400">
                  <a:latin typeface="Times New Roman" panose="02020503050405090304" pitchFamily="18" charset="0"/>
                  <a:ea typeface="华文琥珀" panose="02010800040101010101" pitchFamily="2" charset="-122"/>
                </a:rPr>
                <a:t> </a:t>
              </a:r>
              <a:endParaRPr kumimoji="1" lang="zh-CN" altLang="en-US" sz="2400">
                <a:latin typeface="Times New Roman" panose="02020503050405090304" pitchFamily="18" charset="0"/>
                <a:ea typeface="华文琥珀" panose="02010800040101010101" pitchFamily="2" charset="-122"/>
              </a:endParaRPr>
            </a:p>
          </p:txBody>
        </p:sp>
        <p:graphicFrame>
          <p:nvGraphicFramePr>
            <p:cNvPr id="11269" name="Object 9"/>
            <p:cNvGraphicFramePr>
              <a:graphicFrameLocks noChangeAspect="1"/>
            </p:cNvGraphicFramePr>
            <p:nvPr/>
          </p:nvGraphicFramePr>
          <p:xfrm>
            <a:off x="1200" y="1632"/>
            <a:ext cx="2283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3" imgW="87172800" imgH="10363200" progId="Equation.3">
                    <p:embed/>
                  </p:oleObj>
                </mc:Choice>
                <mc:Fallback>
                  <p:oleObj name="Equation" r:id="rId3" imgW="87172800" imgH="10363200" progId="Equation.3">
                    <p:embed/>
                    <p:pic>
                      <p:nvPicPr>
                        <p:cNvPr id="0" name="Object 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00" y="1632"/>
                          <a:ext cx="2283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0"/>
          <p:cNvGrpSpPr/>
          <p:nvPr/>
        </p:nvGrpSpPr>
        <p:grpSpPr bwMode="auto">
          <a:xfrm>
            <a:off x="1828800" y="3021012"/>
            <a:ext cx="8229600" cy="577850"/>
            <a:chOff x="48" y="1944"/>
            <a:chExt cx="5184" cy="364"/>
          </a:xfrm>
        </p:grpSpPr>
        <p:sp>
          <p:nvSpPr>
            <p:cNvPr id="11279" name="Rectangle 11"/>
            <p:cNvSpPr>
              <a:spLocks noChangeArrowheads="1"/>
            </p:cNvSpPr>
            <p:nvPr/>
          </p:nvSpPr>
          <p:spPr bwMode="auto">
            <a:xfrm>
              <a:off x="48" y="1944"/>
              <a:ext cx="518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kumimoji="1" lang="en-US" altLang="zh-CN" sz="2400" dirty="0">
                  <a:latin typeface="宋体" pitchFamily="2" charset="-122"/>
                </a:rPr>
                <a:t> </a:t>
              </a:r>
              <a:r>
                <a:rPr kumimoji="1" lang="zh-CN" altLang="en-US" sz="2400" dirty="0">
                  <a:latin typeface="宋体" pitchFamily="2" charset="-122"/>
                </a:rPr>
                <a:t>在上式的左右两边乘以</a:t>
              </a:r>
              <a:r>
                <a:rPr kumimoji="1" lang="zh-CN" altLang="en-US" sz="2400" dirty="0">
                  <a:latin typeface="Times New Roman" panose="02020503050405090304" pitchFamily="18" charset="0"/>
                  <a:ea typeface="华文琥珀" panose="02010800040101010101" pitchFamily="2" charset="-122"/>
                </a:rPr>
                <a:t> </a:t>
              </a:r>
              <a:endParaRPr kumimoji="1" lang="zh-CN" altLang="en-US" sz="2400" dirty="0">
                <a:latin typeface="Times New Roman" panose="02020503050405090304" pitchFamily="18" charset="0"/>
                <a:ea typeface="华文琥珀" panose="02010800040101010101" pitchFamily="2" charset="-122"/>
              </a:endParaRPr>
            </a:p>
          </p:txBody>
        </p:sp>
        <p:graphicFrame>
          <p:nvGraphicFramePr>
            <p:cNvPr id="11268" name="Object 12"/>
            <p:cNvGraphicFramePr>
              <a:graphicFrameLocks noChangeAspect="1"/>
            </p:cNvGraphicFramePr>
            <p:nvPr/>
          </p:nvGraphicFramePr>
          <p:xfrm>
            <a:off x="2208" y="2016"/>
            <a:ext cx="216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Equation" r:id="rId5" imgW="8229600" imgH="11277600" progId="Equation.3">
                    <p:embed/>
                  </p:oleObj>
                </mc:Choice>
                <mc:Fallback>
                  <p:oleObj name="Equation" r:id="rId5" imgW="8229600" imgH="11277600" progId="Equation.3">
                    <p:embed/>
                    <p:pic>
                      <p:nvPicPr>
                        <p:cNvPr id="0" name="Object 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08" y="2016"/>
                          <a:ext cx="216" cy="2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5715000" y="3044462"/>
            <a:ext cx="3733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en-US" altLang="zh-CN" sz="2400" dirty="0">
                <a:latin typeface="宋体" pitchFamily="2" charset="-122"/>
              </a:rPr>
              <a:t>,</a:t>
            </a:r>
            <a:r>
              <a:rPr kumimoji="1" lang="zh-CN" altLang="en-US" sz="2400" dirty="0">
                <a:latin typeface="宋体" pitchFamily="2" charset="-122"/>
              </a:rPr>
              <a:t>再求数学期望</a:t>
            </a:r>
            <a:r>
              <a:rPr kumimoji="1" lang="zh-CN" altLang="en-US" sz="2400" dirty="0">
                <a:latin typeface="Times New Roman" panose="02020503050405090304" pitchFamily="18" charset="0"/>
                <a:ea typeface="华文琥珀" panose="02010800040101010101" pitchFamily="2" charset="-122"/>
              </a:rPr>
              <a:t> </a:t>
            </a:r>
            <a:endParaRPr kumimoji="1" lang="zh-CN" altLang="en-US" sz="2400" dirty="0">
              <a:latin typeface="Times New Roman" panose="02020503050405090304" pitchFamily="18" charset="0"/>
              <a:ea typeface="华文琥珀" panose="02010800040101010101" pitchFamily="2" charset="-122"/>
            </a:endParaRPr>
          </a:p>
        </p:txBody>
      </p:sp>
      <p:graphicFrame>
        <p:nvGraphicFramePr>
          <p:cNvPr id="24590" name="Object 14"/>
          <p:cNvGraphicFramePr>
            <a:graphicFrameLocks noChangeAspect="1"/>
          </p:cNvGraphicFramePr>
          <p:nvPr/>
        </p:nvGraphicFramePr>
        <p:xfrm>
          <a:off x="1527754" y="3685225"/>
          <a:ext cx="94884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7" imgW="105460800" imgH="5791200" progId="Equation.DSMT4">
                  <p:embed/>
                </p:oleObj>
              </mc:Choice>
              <mc:Fallback>
                <p:oleObj name="Equation" r:id="rId7" imgW="105460800" imgH="5791200" progId="Equation.DSMT4">
                  <p:embed/>
                  <p:pic>
                    <p:nvPicPr>
                      <p:cNvPr id="0" name="Object 1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27754" y="3685225"/>
                        <a:ext cx="9488487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1" name="Rectangle 15"/>
          <p:cNvSpPr>
            <a:spLocks noChangeArrowheads="1"/>
          </p:cNvSpPr>
          <p:nvPr/>
        </p:nvSpPr>
        <p:spPr bwMode="auto">
          <a:xfrm>
            <a:off x="1706880" y="4454537"/>
            <a:ext cx="5638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/>
            <a:r>
              <a:rPr kumimoji="1" lang="en-US" altLang="zh-CN" sz="2400" dirty="0">
                <a:latin typeface="宋体" pitchFamily="2" charset="-122"/>
              </a:rPr>
              <a:t>   </a:t>
            </a:r>
            <a:r>
              <a:rPr kumimoji="1" lang="zh-CN" altLang="en-US" sz="2400" dirty="0">
                <a:latin typeface="宋体" pitchFamily="2" charset="-122"/>
              </a:rPr>
              <a:t>根据公共因子的模型性质，有</a:t>
            </a:r>
            <a:endParaRPr kumimoji="1" lang="zh-CN" altLang="en-US" sz="2400" dirty="0">
              <a:latin typeface="宋体" pitchFamily="2" charset="-122"/>
            </a:endParaRPr>
          </a:p>
        </p:txBody>
      </p:sp>
      <p:graphicFrame>
        <p:nvGraphicFramePr>
          <p:cNvPr id="24592" name="Object 16"/>
          <p:cNvGraphicFramePr>
            <a:graphicFrameLocks noChangeAspect="1"/>
          </p:cNvGraphicFramePr>
          <p:nvPr/>
        </p:nvGraphicFramePr>
        <p:xfrm>
          <a:off x="2262142" y="4941722"/>
          <a:ext cx="1808208" cy="838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9" imgW="14020800" imgH="6096000" progId="Equation.DSMT4">
                  <p:embed/>
                </p:oleObj>
              </mc:Choice>
              <mc:Fallback>
                <p:oleObj name="Equation" r:id="rId9" imgW="14020800" imgH="6096000" progId="Equation.DSMT4">
                  <p:embed/>
                  <p:pic>
                    <p:nvPicPr>
                      <p:cNvPr id="0" name="Object 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62142" y="4941722"/>
                        <a:ext cx="1808208" cy="83806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2057400" y="4941722"/>
            <a:ext cx="8355724" cy="17600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kumimoji="1"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</a:t>
            </a:r>
            <a:r>
              <a:rPr kumimoji="1"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（载荷矩阵中第</a:t>
            </a:r>
            <a:r>
              <a:rPr kumimoji="1" lang="en-US" altLang="zh-CN" sz="24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kumimoji="1"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行，第</a:t>
            </a:r>
            <a:r>
              <a:rPr kumimoji="1"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kumimoji="1"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列的元素）表示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kumimoji="1" lang="en-US" altLang="zh-CN" sz="2400" i="1" baseline="-25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依赖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kumimoji="1" lang="en-US" altLang="zh-CN" sz="2400" i="1" baseline="-25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的权重</a:t>
            </a:r>
            <a:r>
              <a:rPr kumimoji="1"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，反映了第</a:t>
            </a:r>
            <a:r>
              <a:rPr kumimoji="1"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kumimoji="1"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个公共因子在第</a:t>
            </a:r>
            <a:r>
              <a:rPr kumimoji="1" lang="en-US" altLang="zh-CN" sz="24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kumimoji="1"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个变量上的相对重要性。绝对值越大，相关程度越高。</a:t>
            </a:r>
            <a:endParaRPr kumimoji="1"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8" name="Rectangle 2"/>
          <p:cNvSpPr>
            <a:spLocks noChangeArrowheads="1"/>
          </p:cNvSpPr>
          <p:nvPr/>
        </p:nvSpPr>
        <p:spPr bwMode="auto">
          <a:xfrm>
            <a:off x="1828801" y="533400"/>
            <a:ext cx="761428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800" b="1">
                <a:solidFill>
                  <a:srgbClr val="FF3300"/>
                </a:solidFill>
                <a:latin typeface="宋体" pitchFamily="2" charset="-122"/>
              </a:rPr>
              <a:t>    2</a:t>
            </a:r>
            <a:r>
              <a:rPr kumimoji="1" lang="zh-CN" altLang="en-US" sz="2800" b="1">
                <a:solidFill>
                  <a:srgbClr val="FF3300"/>
                </a:solidFill>
                <a:latin typeface="宋体" pitchFamily="2" charset="-122"/>
              </a:rPr>
              <a:t>、变量共同度的统计意义</a:t>
            </a:r>
            <a:endParaRPr kumimoji="1" lang="en-US" altLang="zh-CN" sz="2400">
              <a:solidFill>
                <a:schemeClr val="tx2"/>
              </a:solidFill>
              <a:latin typeface="Times New Roman" panose="02020503050405090304" pitchFamily="18" charset="0"/>
            </a:endParaRPr>
          </a:p>
        </p:txBody>
      </p:sp>
      <p:sp>
        <p:nvSpPr>
          <p:cNvPr id="12299" name="Rectangle 3"/>
          <p:cNvSpPr>
            <a:spLocks noChangeArrowheads="1"/>
          </p:cNvSpPr>
          <p:nvPr/>
        </p:nvSpPr>
        <p:spPr bwMode="auto">
          <a:xfrm>
            <a:off x="1752601" y="1066800"/>
            <a:ext cx="8255635" cy="12277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</a:pP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变量     的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共同度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是因子载荷矩阵的第</a:t>
            </a:r>
            <a:r>
              <a:rPr kumimoji="1" lang="en-US" altLang="zh-CN" sz="28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行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元素的平方和，反映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变量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X</a:t>
            </a:r>
            <a:r>
              <a:rPr kumimoji="1" lang="en-US" altLang="zh-CN" sz="2800" i="1" baseline="-25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对公因子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依赖的程度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，记为</a:t>
            </a:r>
            <a:endParaRPr kumimoji="1"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12290" name="Object 4"/>
          <p:cNvGraphicFramePr>
            <a:graphicFrameLocks noChangeAspect="1"/>
          </p:cNvGraphicFramePr>
          <p:nvPr/>
        </p:nvGraphicFramePr>
        <p:xfrm>
          <a:off x="2559050" y="1212215"/>
          <a:ext cx="3746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9144000" imgH="10363200" progId="Equation.3">
                  <p:embed/>
                </p:oleObj>
              </mc:Choice>
              <mc:Fallback>
                <p:oleObj name="Equation" r:id="rId1" imgW="9144000" imgH="103632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59050" y="1212215"/>
                        <a:ext cx="37465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6"/>
          <p:cNvGraphicFramePr>
            <a:graphicFrameLocks noChangeAspect="1"/>
          </p:cNvGraphicFramePr>
          <p:nvPr/>
        </p:nvGraphicFramePr>
        <p:xfrm>
          <a:off x="2286000" y="2556510"/>
          <a:ext cx="3632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87172800" imgH="10363200" progId="Equation.3">
                  <p:embed/>
                </p:oleObj>
              </mc:Choice>
              <mc:Fallback>
                <p:oleObj name="Equation" r:id="rId3" imgW="87172800" imgH="10363200" progId="Equation.3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6000" y="2556510"/>
                        <a:ext cx="3632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Rectangle 7"/>
          <p:cNvSpPr>
            <a:spLocks noChangeArrowheads="1"/>
          </p:cNvSpPr>
          <p:nvPr/>
        </p:nvSpPr>
        <p:spPr bwMode="auto">
          <a:xfrm>
            <a:off x="6234430" y="2556510"/>
            <a:ext cx="3352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400">
                <a:latin typeface="宋体" pitchFamily="2" charset="-122"/>
              </a:rPr>
              <a:t>两边求方差</a:t>
            </a:r>
            <a:r>
              <a:rPr kumimoji="1" lang="zh-CN" altLang="en-US" sz="2400">
                <a:latin typeface="Times New Roman" panose="02020503050405090304" pitchFamily="18" charset="0"/>
                <a:ea typeface="华文琥珀" panose="02010800040101010101" pitchFamily="2" charset="-122"/>
              </a:rPr>
              <a:t> </a:t>
            </a:r>
            <a:endParaRPr kumimoji="1" lang="zh-CN" altLang="en-US" sz="2400">
              <a:latin typeface="Times New Roman" panose="02020503050405090304" pitchFamily="18" charset="0"/>
              <a:ea typeface="华文琥珀" panose="02010800040101010101" pitchFamily="2" charset="-122"/>
            </a:endParaRPr>
          </a:p>
        </p:txBody>
      </p:sp>
      <p:graphicFrame>
        <p:nvGraphicFramePr>
          <p:cNvPr id="12292" name="Object 9"/>
          <p:cNvGraphicFramePr>
            <a:graphicFrameLocks noChangeAspect="1"/>
          </p:cNvGraphicFramePr>
          <p:nvPr/>
        </p:nvGraphicFramePr>
        <p:xfrm>
          <a:off x="1972734" y="3147039"/>
          <a:ext cx="701516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68554400" imgH="11277600" progId="Equation.3">
                  <p:embed/>
                </p:oleObj>
              </mc:Choice>
              <mc:Fallback>
                <p:oleObj name="Equation" r:id="rId5" imgW="168554400" imgH="11277600" progId="Equation.3">
                  <p:embed/>
                  <p:pic>
                    <p:nvPicPr>
                      <p:cNvPr id="0" name="Object 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72734" y="3147039"/>
                        <a:ext cx="7015163" cy="463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11"/>
          <p:cNvGraphicFramePr>
            <a:graphicFrameLocks noChangeAspect="1"/>
          </p:cNvGraphicFramePr>
          <p:nvPr/>
        </p:nvGraphicFramePr>
        <p:xfrm>
          <a:off x="2698115" y="3705225"/>
          <a:ext cx="2164754" cy="867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43891200" imgH="17373600" progId="Equation.3">
                  <p:embed/>
                </p:oleObj>
              </mc:Choice>
              <mc:Fallback>
                <p:oleObj name="Equation" r:id="rId7" imgW="43891200" imgH="17373600" progId="Equation.3">
                  <p:embed/>
                  <p:pic>
                    <p:nvPicPr>
                      <p:cNvPr id="0" name="Object 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98115" y="3705225"/>
                        <a:ext cx="2164754" cy="86741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4" name="Rectangle 12"/>
          <p:cNvSpPr>
            <a:spLocks noChangeArrowheads="1"/>
          </p:cNvSpPr>
          <p:nvPr/>
        </p:nvSpPr>
        <p:spPr bwMode="auto">
          <a:xfrm>
            <a:off x="1667934" y="4408975"/>
            <a:ext cx="8188974" cy="227267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所有的公共因子和特殊因子对变量    的方差贡献为</a:t>
            </a:r>
            <a:r>
              <a:rPr kumimoji="1"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kumimoji="1"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如果        非常靠近</a:t>
            </a:r>
            <a:r>
              <a:rPr kumimoji="1"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   非常小，表明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kumimoji="1" lang="en-US" altLang="zh-CN" sz="2800" i="1" baseline="-25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对公共因子的共同依赖程度大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，则因子分析的效果好，从原变量空间到公共因子空间的转化性质好。</a:t>
            </a:r>
            <a:endParaRPr kumimoji="1"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12294" name="Object 13"/>
          <p:cNvGraphicFramePr>
            <a:graphicFrameLocks noChangeAspect="1"/>
          </p:cNvGraphicFramePr>
          <p:nvPr/>
        </p:nvGraphicFramePr>
        <p:xfrm>
          <a:off x="7141808" y="4572635"/>
          <a:ext cx="3746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9144000" imgH="10363200" progId="Equation.3">
                  <p:embed/>
                </p:oleObj>
              </mc:Choice>
              <mc:Fallback>
                <p:oleObj name="Equation" r:id="rId9" imgW="9144000" imgH="10363200" progId="Equation.3">
                  <p:embed/>
                  <p:pic>
                    <p:nvPicPr>
                      <p:cNvPr id="0" name="Object 1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141808" y="4572635"/>
                        <a:ext cx="37465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14"/>
          <p:cNvGraphicFramePr>
            <a:graphicFrameLocks noChangeAspect="1"/>
          </p:cNvGraphicFramePr>
          <p:nvPr/>
        </p:nvGraphicFramePr>
        <p:xfrm>
          <a:off x="2415805" y="4881566"/>
          <a:ext cx="79565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0" imgW="15544800" imgH="17373600" progId="Equation.3">
                  <p:embed/>
                </p:oleObj>
              </mc:Choice>
              <mc:Fallback>
                <p:oleObj name="Equation" r:id="rId10" imgW="15544800" imgH="17373600" progId="Equation.3">
                  <p:embed/>
                  <p:pic>
                    <p:nvPicPr>
                      <p:cNvPr id="0" name="Object 14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415805" y="4881566"/>
                        <a:ext cx="795655" cy="895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15"/>
          <p:cNvGraphicFramePr>
            <a:graphicFrameLocks noChangeAspect="1"/>
          </p:cNvGraphicFramePr>
          <p:nvPr/>
        </p:nvGraphicFramePr>
        <p:xfrm>
          <a:off x="5092965" y="5081761"/>
          <a:ext cx="3873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2" imgW="9448800" imgH="11277600" progId="Equation.3">
                  <p:embed/>
                </p:oleObj>
              </mc:Choice>
              <mc:Fallback>
                <p:oleObj name="Equation" r:id="rId12" imgW="9448800" imgH="11277600" progId="Equation.3">
                  <p:embed/>
                  <p:pic>
                    <p:nvPicPr>
                      <p:cNvPr id="0" name="Object 15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092965" y="5081761"/>
                        <a:ext cx="387350" cy="463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17"/>
          <p:cNvGraphicFramePr>
            <a:graphicFrameLocks noChangeAspect="1"/>
          </p:cNvGraphicFramePr>
          <p:nvPr/>
        </p:nvGraphicFramePr>
        <p:xfrm>
          <a:off x="9856908" y="4983992"/>
          <a:ext cx="1980565" cy="916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4" imgW="31394400" imgH="16459200" progId="Equation.DSMT4">
                  <p:embed/>
                </p:oleObj>
              </mc:Choice>
              <mc:Fallback>
                <p:oleObj name="Equation" r:id="rId14" imgW="31394400" imgH="16459200" progId="Equation.DSMT4">
                  <p:embed/>
                  <p:pic>
                    <p:nvPicPr>
                      <p:cNvPr id="0" name="Object 17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856908" y="4983992"/>
                        <a:ext cx="1980565" cy="91694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4953001" y="3829686"/>
            <a:ext cx="4903907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i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altLang="zh-CN" sz="2400" i="1" baseline="-25000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400" dirty="0">
                <a:solidFill>
                  <a:srgbClr val="0070C0"/>
                </a:solidFill>
              </a:rPr>
              <a:t>的方差＝公因子方差＋剩余方差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Rectangle 2"/>
          <p:cNvSpPr>
            <a:spLocks noChangeArrowheads="1"/>
          </p:cNvSpPr>
          <p:nvPr/>
        </p:nvSpPr>
        <p:spPr bwMode="auto">
          <a:xfrm>
            <a:off x="1524000" y="1219200"/>
            <a:ext cx="91440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/>
            <a:r>
              <a:rPr kumimoji="1" lang="en-US" altLang="zh-CN" sz="2800" b="1">
                <a:solidFill>
                  <a:srgbClr val="FF3300"/>
                </a:solidFill>
                <a:latin typeface="宋体" pitchFamily="2" charset="-122"/>
              </a:rPr>
              <a:t>      3</a:t>
            </a:r>
            <a:r>
              <a:rPr kumimoji="1" lang="zh-CN" altLang="en-US" sz="2800" b="1">
                <a:solidFill>
                  <a:srgbClr val="FF3300"/>
                </a:solidFill>
                <a:latin typeface="宋体" pitchFamily="2" charset="-122"/>
              </a:rPr>
              <a:t>、公共因子  </a:t>
            </a:r>
            <a:r>
              <a:rPr kumimoji="1" lang="en-US" altLang="zh-CN" sz="2800" b="1">
                <a:solidFill>
                  <a:srgbClr val="FF3300"/>
                </a:solidFill>
                <a:latin typeface="宋体" pitchFamily="2" charset="-122"/>
              </a:rPr>
              <a:t>  </a:t>
            </a:r>
            <a:r>
              <a:rPr kumimoji="1" lang="zh-CN" altLang="en-US" sz="2800" b="1">
                <a:solidFill>
                  <a:srgbClr val="FF3300"/>
                </a:solidFill>
                <a:latin typeface="宋体" pitchFamily="2" charset="-122"/>
              </a:rPr>
              <a:t>方差贡献的统计意义</a:t>
            </a:r>
            <a:endParaRPr kumimoji="1" lang="en-US" altLang="zh-CN" sz="2800">
              <a:solidFill>
                <a:srgbClr val="FF3300"/>
              </a:solidFill>
              <a:latin typeface="Times New Roman" panose="02020503050405090304" pitchFamily="18" charset="0"/>
            </a:endParaRPr>
          </a:p>
        </p:txBody>
      </p:sp>
      <p:graphicFrame>
        <p:nvGraphicFramePr>
          <p:cNvPr id="13314" name="Object 3"/>
          <p:cNvGraphicFramePr>
            <a:graphicFrameLocks noChangeAspect="1"/>
          </p:cNvGraphicFramePr>
          <p:nvPr/>
        </p:nvGraphicFramePr>
        <p:xfrm>
          <a:off x="4104005" y="1277620"/>
          <a:ext cx="3429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8229600" imgH="11277600" progId="Equation.DSMT4">
                  <p:embed/>
                </p:oleObj>
              </mc:Choice>
              <mc:Fallback>
                <p:oleObj name="Equation" r:id="rId1" imgW="8229600" imgH="11277600" progId="Equation.DSMT4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04005" y="1277620"/>
                        <a:ext cx="342900" cy="4635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Rectangle 5"/>
          <p:cNvSpPr>
            <a:spLocks noChangeArrowheads="1"/>
          </p:cNvSpPr>
          <p:nvPr/>
        </p:nvSpPr>
        <p:spPr bwMode="auto">
          <a:xfrm>
            <a:off x="2159000" y="1962786"/>
            <a:ext cx="7576820" cy="3449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kumimoji="1" lang="zh-CN" altLang="en-US" sz="2800" dirty="0">
                <a:latin typeface="宋体" pitchFamily="2" charset="-122"/>
              </a:rPr>
              <a:t>因子载荷矩阵中各</a:t>
            </a:r>
            <a:r>
              <a:rPr kumimoji="1" lang="zh-CN" altLang="en-US" sz="2800" dirty="0">
                <a:solidFill>
                  <a:srgbClr val="FF0000"/>
                </a:solidFill>
                <a:latin typeface="宋体" pitchFamily="2" charset="-122"/>
              </a:rPr>
              <a:t>列</a:t>
            </a:r>
            <a:r>
              <a:rPr kumimoji="1" lang="zh-CN" altLang="en-US" sz="2800" dirty="0">
                <a:latin typeface="宋体" pitchFamily="2" charset="-122"/>
              </a:rPr>
              <a:t>元素的平方和       </a:t>
            </a:r>
            <a:endParaRPr kumimoji="1" lang="zh-CN" altLang="en-US" sz="2800" dirty="0">
              <a:latin typeface="宋体" pitchFamily="2" charset="-122"/>
            </a:endParaRPr>
          </a:p>
          <a:p>
            <a:pPr algn="just">
              <a:lnSpc>
                <a:spcPct val="130000"/>
              </a:lnSpc>
            </a:pPr>
            <a:endParaRPr kumimoji="1" lang="zh-CN" altLang="en-US" sz="2800" dirty="0">
              <a:latin typeface="宋体" pitchFamily="2" charset="-122"/>
            </a:endParaRPr>
          </a:p>
          <a:p>
            <a:pPr algn="just">
              <a:lnSpc>
                <a:spcPct val="130000"/>
              </a:lnSpc>
            </a:pPr>
            <a:endParaRPr kumimoji="1" lang="zh-CN" altLang="en-US" sz="2800" dirty="0">
              <a:latin typeface="宋体" pitchFamily="2" charset="-122"/>
            </a:endParaRPr>
          </a:p>
          <a:p>
            <a:pPr algn="just">
              <a:lnSpc>
                <a:spcPct val="130000"/>
              </a:lnSpc>
            </a:pPr>
            <a:r>
              <a:rPr kumimoji="1" lang="zh-CN" altLang="en-US" sz="2800" dirty="0">
                <a:latin typeface="宋体" pitchFamily="2" charset="-122"/>
              </a:rPr>
              <a:t>称为   </a:t>
            </a:r>
            <a:r>
              <a:rPr kumimoji="1" lang="en-US" altLang="zh-CN" sz="2800" dirty="0">
                <a:latin typeface="宋体" pitchFamily="2" charset="-122"/>
              </a:rPr>
              <a:t>   </a:t>
            </a:r>
            <a:r>
              <a:rPr kumimoji="1" lang="zh-CN" altLang="en-US" sz="2800" dirty="0">
                <a:latin typeface="宋体" pitchFamily="2" charset="-122"/>
              </a:rPr>
              <a:t>对</a:t>
            </a:r>
            <a:r>
              <a:rPr kumimoji="1"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kumimoji="1" lang="zh-CN" altLang="en-US" sz="2800" dirty="0">
                <a:latin typeface="宋体" pitchFamily="2" charset="-122"/>
              </a:rPr>
              <a:t>的所有分量的</a:t>
            </a:r>
            <a:r>
              <a:rPr kumimoji="1" lang="zh-CN" altLang="en-US" sz="2800" dirty="0">
                <a:solidFill>
                  <a:srgbClr val="FF0000"/>
                </a:solidFill>
                <a:latin typeface="宋体" pitchFamily="2" charset="-122"/>
              </a:rPr>
              <a:t>方差贡献和</a:t>
            </a:r>
            <a:r>
              <a:rPr kumimoji="1" lang="zh-CN" altLang="en-US" sz="2800" dirty="0">
                <a:latin typeface="宋体" pitchFamily="2" charset="-122"/>
              </a:rPr>
              <a:t>。</a:t>
            </a:r>
            <a:endParaRPr kumimoji="1" lang="zh-CN" altLang="en-US" sz="2800" dirty="0">
              <a:latin typeface="宋体" pitchFamily="2" charset="-122"/>
            </a:endParaRPr>
          </a:p>
          <a:p>
            <a:pPr algn="just">
              <a:lnSpc>
                <a:spcPct val="130000"/>
              </a:lnSpc>
            </a:pPr>
            <a:r>
              <a:rPr kumimoji="1" lang="zh-CN" altLang="en-US" sz="2800" dirty="0">
                <a:solidFill>
                  <a:srgbClr val="FF0000"/>
                </a:solidFill>
                <a:latin typeface="宋体" pitchFamily="2" charset="-122"/>
              </a:rPr>
              <a:t>衡量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kumimoji="1" lang="en-US" altLang="zh-CN" sz="2800" i="1" baseline="-25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kumimoji="1" lang="zh-CN" altLang="en-US" sz="2800" dirty="0">
                <a:solidFill>
                  <a:srgbClr val="FF0000"/>
                </a:solidFill>
                <a:latin typeface="宋体" pitchFamily="2" charset="-122"/>
                <a:sym typeface="+mn-ea"/>
              </a:rPr>
              <a:t>的</a:t>
            </a:r>
            <a:r>
              <a:rPr kumimoji="1" lang="zh-CN" altLang="en-US" sz="2800" dirty="0">
                <a:solidFill>
                  <a:srgbClr val="FF0000"/>
                </a:solidFill>
                <a:latin typeface="宋体" pitchFamily="2" charset="-122"/>
              </a:rPr>
              <a:t>相对重要性。</a:t>
            </a:r>
            <a:endParaRPr kumimoji="1" lang="zh-CN" altLang="en-US" sz="2800" dirty="0">
              <a:solidFill>
                <a:srgbClr val="FF0000"/>
              </a:solidFill>
              <a:latin typeface="宋体" pitchFamily="2" charset="-122"/>
            </a:endParaRPr>
          </a:p>
          <a:p>
            <a:pPr eaLnBrk="0" hangingPunct="0">
              <a:lnSpc>
                <a:spcPct val="130000"/>
              </a:lnSpc>
            </a:pPr>
            <a:endParaRPr kumimoji="1" lang="zh-CN" altLang="en-US" sz="2800" dirty="0">
              <a:solidFill>
                <a:srgbClr val="FF0000"/>
              </a:solidFill>
              <a:latin typeface="宋体" pitchFamily="2" charset="-122"/>
            </a:endParaRPr>
          </a:p>
        </p:txBody>
      </p:sp>
      <p:graphicFrame>
        <p:nvGraphicFramePr>
          <p:cNvPr id="13315" name="Object 6"/>
          <p:cNvGraphicFramePr>
            <a:graphicFrameLocks noChangeAspect="1"/>
          </p:cNvGraphicFramePr>
          <p:nvPr/>
        </p:nvGraphicFramePr>
        <p:xfrm>
          <a:off x="4601845" y="2726055"/>
          <a:ext cx="1704340" cy="922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31699200" imgH="16764000" progId="Equation.3">
                  <p:embed/>
                </p:oleObj>
              </mc:Choice>
              <mc:Fallback>
                <p:oleObj name="Equation" r:id="rId3" imgW="31699200" imgH="16764000" progId="Equation.3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01845" y="2726055"/>
                        <a:ext cx="1704340" cy="92202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21" name="Group 14"/>
          <p:cNvGrpSpPr/>
          <p:nvPr/>
        </p:nvGrpSpPr>
        <p:grpSpPr bwMode="auto">
          <a:xfrm>
            <a:off x="3028950" y="3740469"/>
            <a:ext cx="1263650" cy="498475"/>
            <a:chOff x="1422" y="2425"/>
            <a:chExt cx="796" cy="314"/>
          </a:xfrm>
        </p:grpSpPr>
        <p:graphicFrame>
          <p:nvGraphicFramePr>
            <p:cNvPr id="13317" name="Object 7"/>
            <p:cNvGraphicFramePr>
              <a:graphicFrameLocks noChangeAspect="1"/>
            </p:cNvGraphicFramePr>
            <p:nvPr/>
          </p:nvGraphicFramePr>
          <p:xfrm>
            <a:off x="2196" y="2576"/>
            <a:ext cx="22" cy="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5" imgW="812800" imgH="203200" progId="Equation.DSMT4">
                    <p:embed/>
                  </p:oleObj>
                </mc:Choice>
                <mc:Fallback>
                  <p:oleObj name="Equation" r:id="rId5" imgW="812800" imgH="203200" progId="Equation.DSMT4">
                    <p:embed/>
                    <p:pic>
                      <p:nvPicPr>
                        <p:cNvPr id="0" name="Object 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96" y="2576"/>
                          <a:ext cx="22" cy="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8" name="Object 10"/>
            <p:cNvGraphicFramePr>
              <a:graphicFrameLocks noChangeAspect="1"/>
            </p:cNvGraphicFramePr>
            <p:nvPr/>
          </p:nvGraphicFramePr>
          <p:xfrm>
            <a:off x="1422" y="2425"/>
            <a:ext cx="225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7" imgW="8229600" imgH="11277600" progId="Equation.3">
                    <p:embed/>
                  </p:oleObj>
                </mc:Choice>
                <mc:Fallback>
                  <p:oleObj name="Equation" r:id="rId7" imgW="8229600" imgH="11277600" progId="Equation.3">
                    <p:embed/>
                    <p:pic>
                      <p:nvPicPr>
                        <p:cNvPr id="0" name="Object 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22" y="2425"/>
                          <a:ext cx="225" cy="31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22" name="Rectangle 11"/>
          <p:cNvSpPr>
            <a:spLocks noChangeArrowheads="1"/>
          </p:cNvSpPr>
          <p:nvPr/>
        </p:nvSpPr>
        <p:spPr bwMode="auto">
          <a:xfrm>
            <a:off x="5695950" y="3338513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23" name="Rectangle 12"/>
          <p:cNvSpPr>
            <a:spLocks noChangeArrowheads="1"/>
          </p:cNvSpPr>
          <p:nvPr/>
        </p:nvSpPr>
        <p:spPr bwMode="auto">
          <a:xfrm>
            <a:off x="5353050" y="3328988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/>
          <p:nvPr/>
        </p:nvSpPr>
        <p:spPr>
          <a:xfrm>
            <a:off x="3108326" y="3449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33795" name="Text Box 3"/>
          <p:cNvSpPr txBox="1"/>
          <p:nvPr/>
        </p:nvSpPr>
        <p:spPr>
          <a:xfrm>
            <a:off x="2803526" y="4364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33796" name="Text Box 4"/>
          <p:cNvSpPr txBox="1"/>
          <p:nvPr/>
        </p:nvSpPr>
        <p:spPr>
          <a:xfrm>
            <a:off x="1497723" y="1989456"/>
            <a:ext cx="8592207" cy="3969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已知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个相关变量的观测数据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en-US" sz="2800" baseline="-26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i="1" baseline="-26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baseline="-26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i="1" baseline="-26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 (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en-US" sz="2800" i="1" baseline="-26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baseline="-26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,…, 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x</a:t>
            </a:r>
            <a:r>
              <a:rPr lang="zh-CN" altLang="en-US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ip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′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(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=1,…,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n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). 因子分析的目的是用少数几个公共因子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(设为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个)来描述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个相关变量间的协方差结构：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         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Σ=AA′+D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其中 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 (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</a:t>
            </a:r>
            <a:r>
              <a:rPr lang="zh-CN" altLang="en-US" sz="2800" i="1" baseline="-24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)为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×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的因子载荷阵;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 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D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 diag(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σ</a:t>
            </a:r>
            <a:r>
              <a:rPr lang="zh-CN" altLang="en-US" sz="2800" baseline="3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zh-CN" altLang="en-US" sz="2800" baseline="-26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,…,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σ</a:t>
            </a:r>
            <a:r>
              <a:rPr lang="zh-CN" altLang="en-US" sz="2800" baseline="3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zh-CN" altLang="en-US" sz="2800" i="1" baseline="-26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)为</a:t>
            </a:r>
            <a:r>
              <a:rPr lang="zh-CN" altLang="en-US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阶对角阵.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14342" name="Rectangle 2"/>
          <p:cNvSpPr>
            <a:spLocks noGrp="1" noChangeArrowheads="1"/>
          </p:cNvSpPr>
          <p:nvPr/>
        </p:nvSpPr>
        <p:spPr>
          <a:xfrm>
            <a:off x="2205356" y="773430"/>
            <a:ext cx="7356475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4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latin typeface="宋体" pitchFamily="2" charset="-122"/>
              </a:rPr>
              <a:t>第三节  因子载荷矩阵的估计方法</a:t>
            </a:r>
            <a:endParaRPr lang="zh-CN" altLang="en-US" sz="3600" b="1" dirty="0">
              <a:solidFill>
                <a:srgbClr val="FF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/>
          <p:nvPr/>
        </p:nvSpPr>
        <p:spPr>
          <a:xfrm>
            <a:off x="3108326" y="3449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34819" name="Text Box 3"/>
          <p:cNvSpPr txBox="1"/>
          <p:nvPr/>
        </p:nvSpPr>
        <p:spPr>
          <a:xfrm>
            <a:off x="2803526" y="4364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35844" name="Text Box 4"/>
          <p:cNvSpPr txBox="1"/>
          <p:nvPr/>
        </p:nvSpPr>
        <p:spPr>
          <a:xfrm>
            <a:off x="1629728" y="3276601"/>
            <a:ext cx="8736012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由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个相关变量的观测数据可得到协差阵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Σ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的估计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记为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S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).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为了建立公因子模型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首先要估计因子载荷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</a:t>
            </a:r>
            <a:r>
              <a:rPr lang="zh-CN" altLang="zh-CN" sz="2800" i="1" baseline="-2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ij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和特殊方差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σ</a:t>
            </a:r>
            <a:r>
              <a:rPr lang="zh-CN" altLang="zh-CN" sz="2800" i="1" baseline="-26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zh-CN" sz="2800" baseline="32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zh-CN" altLang="zh-CN" sz="2800" i="1" baseline="-26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常用的参数估计方法有以下三种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: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主成分法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主因子法和极大似然法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  <p:sp>
        <p:nvSpPr>
          <p:cNvPr id="2" name="Text Box 5"/>
          <p:cNvSpPr txBox="1"/>
          <p:nvPr/>
        </p:nvSpPr>
        <p:spPr>
          <a:xfrm>
            <a:off x="1692275" y="1246505"/>
            <a:ext cx="8610600" cy="194950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</a:t>
            </a:r>
            <a:r>
              <a:rPr lang="zh-CN" altLang="en-US" sz="2800" dirty="0">
                <a:solidFill>
                  <a:srgbClr val="660033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因子分析的参数估计问题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就是估计公共因子的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个数</a:t>
            </a:r>
            <a:r>
              <a:rPr lang="zh-CN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m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、因子载荷阵</a:t>
            </a:r>
            <a:r>
              <a:rPr lang="zh-CN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A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及特殊因子的方差</a:t>
            </a:r>
            <a:r>
              <a:rPr lang="zh-CN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σ</a:t>
            </a:r>
            <a:r>
              <a:rPr lang="zh-CN" altLang="zh-CN" sz="2800" baseline="32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2</a:t>
            </a:r>
            <a:r>
              <a:rPr lang="zh-CN" altLang="zh-CN" sz="2800" i="1" baseline="-26000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zh-CN" sz="2800" i="1" baseline="-260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i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= 1,…,</a:t>
            </a:r>
            <a:r>
              <a:rPr lang="zh-CN" altLang="zh-CN" sz="2800" i="1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p</a:t>
            </a: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),</a:t>
            </a:r>
            <a:r>
              <a:rPr lang="zh-CN" altLang="en-US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使得满足</a:t>
            </a:r>
            <a:endParaRPr lang="zh-CN" altLang="en-US" sz="2800" dirty="0"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   </a:t>
            </a:r>
            <a:r>
              <a:rPr lang="zh-CN" altLang="zh-CN" sz="2800" b="1" i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Σ=AA′+D   </a:t>
            </a:r>
            <a:r>
              <a:rPr lang="zh-CN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或      </a:t>
            </a:r>
            <a:r>
              <a:rPr lang="zh-CN" altLang="zh-CN" sz="2800" b="1" i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Σ≈AA′+D</a:t>
            </a:r>
            <a:r>
              <a:rPr lang="zh-CN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</a:rPr>
              <a:t>.</a:t>
            </a:r>
            <a:endParaRPr lang="zh-CN" altLang="zh-CN" sz="2800" b="1" dirty="0">
              <a:solidFill>
                <a:srgbClr val="FF0000"/>
              </a:solidFill>
              <a:latin typeface="Times New Roman" panose="02020503050405090304" pitchFamily="18" charset="0"/>
              <a:ea typeface="黑体" panose="02010609060101010101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3" name="Rectangle 3"/>
          <p:cNvSpPr>
            <a:spLocks noGrp="1" noChangeArrowheads="1"/>
          </p:cNvSpPr>
          <p:nvPr>
            <p:ph idx="1"/>
          </p:nvPr>
        </p:nvSpPr>
        <p:spPr>
          <a:xfrm>
            <a:off x="1889760" y="1426845"/>
            <a:ext cx="8412480" cy="2143760"/>
          </a:xfrm>
        </p:spPr>
        <p:txBody>
          <a:bodyPr>
            <a:noAutofit/>
          </a:bodyPr>
          <a:lstStyle/>
          <a:p>
            <a:pPr fontAlgn="auto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设随机向量                               的均值为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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，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 pitchFamily="18" charset="2"/>
            </a:endParaRPr>
          </a:p>
          <a:p>
            <a:pPr fontAlgn="auto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    协方差阵为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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的特征根，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 pitchFamily="18" charset="2"/>
            </a:endParaRPr>
          </a:p>
          <a:p>
            <a:pPr fontAlgn="auto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                         为对应的标准化特征向量，则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14338" name="Object 5"/>
          <p:cNvGraphicFramePr>
            <a:graphicFrameLocks noChangeAspect="1"/>
          </p:cNvGraphicFramePr>
          <p:nvPr/>
        </p:nvGraphicFramePr>
        <p:xfrm>
          <a:off x="4159140" y="1421743"/>
          <a:ext cx="2698861" cy="815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32004000" imgH="8229600" progId="Equation.DSMT4">
                  <p:embed/>
                </p:oleObj>
              </mc:Choice>
              <mc:Fallback>
                <p:oleObj name="Equation" r:id="rId1" imgW="32004000" imgH="82296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59140" y="1421743"/>
                        <a:ext cx="2698861" cy="8153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6"/>
          <p:cNvGraphicFramePr>
            <a:graphicFrameLocks noChangeAspect="1"/>
          </p:cNvGraphicFramePr>
          <p:nvPr/>
        </p:nvGraphicFramePr>
        <p:xfrm>
          <a:off x="4542472" y="2242185"/>
          <a:ext cx="3107055" cy="513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68275200" imgH="11277600" progId="Equation.3">
                  <p:embed/>
                </p:oleObj>
              </mc:Choice>
              <mc:Fallback>
                <p:oleObj name="Equation" r:id="rId3" imgW="68275200" imgH="11277600" progId="Equation.3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42472" y="2242185"/>
                        <a:ext cx="3107055" cy="513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7"/>
          <p:cNvGraphicFramePr>
            <a:graphicFrameLocks noChangeAspect="1"/>
          </p:cNvGraphicFramePr>
          <p:nvPr/>
        </p:nvGraphicFramePr>
        <p:xfrm>
          <a:off x="2373695" y="2845182"/>
          <a:ext cx="1816383" cy="583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7068800" imgH="5791200" progId="Equation.DSMT4">
                  <p:embed/>
                </p:oleObj>
              </mc:Choice>
              <mc:Fallback>
                <p:oleObj name="Equation" r:id="rId5" imgW="17068800" imgH="5791200" progId="Equation.DSMT4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73695" y="2845182"/>
                        <a:ext cx="1816383" cy="58381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8"/>
          <p:cNvGraphicFramePr>
            <a:graphicFrameLocks noChangeAspect="1"/>
          </p:cNvGraphicFramePr>
          <p:nvPr/>
        </p:nvGraphicFramePr>
        <p:xfrm>
          <a:off x="3242472" y="3706672"/>
          <a:ext cx="5286673" cy="2084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129844800" imgH="51206400" progId="Equation.DSMT4">
                  <p:embed/>
                </p:oleObj>
              </mc:Choice>
              <mc:Fallback>
                <p:oleObj name="Equation" r:id="rId7" imgW="129844800" imgH="51206400" progId="Equation.DSMT4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42472" y="3706672"/>
                        <a:ext cx="5286673" cy="208488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Rectangle 9"/>
          <p:cNvSpPr>
            <a:spLocks noRot="1" noChangeArrowheads="1"/>
          </p:cNvSpPr>
          <p:nvPr/>
        </p:nvSpPr>
        <p:spPr bwMode="auto">
          <a:xfrm>
            <a:off x="2487931" y="622300"/>
            <a:ext cx="4542155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r>
              <a:rPr kumimoji="1" lang="en-US" altLang="zh-CN" sz="2800" b="1">
                <a:solidFill>
                  <a:srgbClr val="FF0000"/>
                </a:solidFill>
                <a:latin typeface="宋体" pitchFamily="2" charset="-122"/>
              </a:rPr>
              <a:t>  </a:t>
            </a:r>
            <a:r>
              <a:rPr kumimoji="1" lang="zh-CN" altLang="en-US" sz="2800" b="1">
                <a:solidFill>
                  <a:srgbClr val="FF0000"/>
                </a:solidFill>
                <a:latin typeface="宋体" pitchFamily="2" charset="-122"/>
              </a:rPr>
              <a:t>（一）主成分法</a:t>
            </a:r>
            <a:endParaRPr kumimoji="1" lang="zh-CN" altLang="en-US" sz="2800" b="1">
              <a:solidFill>
                <a:srgbClr val="FF0000"/>
              </a:solidFill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1694181" y="4846321"/>
            <a:ext cx="8696325" cy="2139315"/>
          </a:xfrm>
        </p:spPr>
        <p:txBody>
          <a:bodyPr>
            <a:normAutofit/>
          </a:bodyPr>
          <a:lstStyle/>
          <a:p>
            <a:pPr fontAlgn="auto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</a:t>
            </a:r>
            <a:r>
              <a:rPr lang="zh-CN" altLang="en-US" sz="2800" dirty="0">
                <a:solidFill>
                  <a:schemeClr val="tx1"/>
                </a:solidFill>
              </a:rPr>
              <a:t>上式给出的</a:t>
            </a:r>
            <a:r>
              <a:rPr lang="zh-CN" altLang="en-US" sz="2800" b="1" dirty="0">
                <a:solidFill>
                  <a:schemeClr val="tx1"/>
                </a:solidFill>
                <a:sym typeface="Symbol" panose="05050102010706020507" pitchFamily="18" charset="2"/>
              </a:rPr>
              <a:t>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表达式是精确的，然而，它实际上是毫无价值的，因为我们的目的是寻求用少数几个公共因子解释，故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略去后面的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m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项的贡献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，有</a:t>
            </a:r>
            <a:endParaRPr lang="zh-CN" altLang="en-US" sz="28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2128016" y="2373609"/>
          <a:ext cx="8926521" cy="521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198424800" imgH="11277600" progId="Equation.DSMT4">
                  <p:embed/>
                </p:oleObj>
              </mc:Choice>
              <mc:Fallback>
                <p:oleObj name="Equation" r:id="rId1" imgW="198424800" imgH="11277600" progId="Equation.DSMT4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28016" y="2373609"/>
                        <a:ext cx="8926521" cy="52184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2166938" y="2814638"/>
          <a:ext cx="5570537" cy="216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62179200" imgH="25603200" progId="Equation.DSMT4">
                  <p:embed/>
                </p:oleObj>
              </mc:Choice>
              <mc:Fallback>
                <p:oleObj name="Equation" r:id="rId3" imgW="62179200" imgH="256032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66938" y="2814638"/>
                        <a:ext cx="5570537" cy="21605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2631801" y="371311"/>
          <a:ext cx="4920948" cy="200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25882400" imgH="51206400" progId="Equation.DSMT4">
                  <p:embed/>
                </p:oleObj>
              </mc:Choice>
              <mc:Fallback>
                <p:oleObj name="Equation" r:id="rId5" imgW="125882400" imgH="512064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31801" y="371311"/>
                        <a:ext cx="4920948" cy="200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Rectangle 2"/>
          <p:cNvSpPr>
            <a:spLocks noGrp="1" noChangeArrowheads="1"/>
          </p:cNvSpPr>
          <p:nvPr>
            <p:ph idx="1"/>
          </p:nvPr>
        </p:nvSpPr>
        <p:spPr>
          <a:xfrm>
            <a:off x="1524000" y="381001"/>
            <a:ext cx="9144000" cy="57181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    </a:t>
            </a:r>
            <a:endParaRPr lang="en-US" altLang="zh-CN"/>
          </a:p>
        </p:txBody>
      </p:sp>
      <p:graphicFrame>
        <p:nvGraphicFramePr>
          <p:cNvPr id="16386" name="Object 3"/>
          <p:cNvGraphicFramePr>
            <a:graphicFrameLocks noChangeAspect="1"/>
          </p:cNvGraphicFramePr>
          <p:nvPr/>
        </p:nvGraphicFramePr>
        <p:xfrm>
          <a:off x="804040" y="652280"/>
          <a:ext cx="7802265" cy="591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161239200" imgH="12192000" progId="Equation.DSMT4">
                  <p:embed/>
                </p:oleObj>
              </mc:Choice>
              <mc:Fallback>
                <p:oleObj name="Equation" r:id="rId1" imgW="161239200" imgH="12192000" progId="Equation.DSMT4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4040" y="652280"/>
                        <a:ext cx="7802265" cy="59108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4"/>
          <p:cNvGraphicFramePr>
            <a:graphicFrameLocks noChangeAspect="1"/>
          </p:cNvGraphicFramePr>
          <p:nvPr/>
        </p:nvGraphicFramePr>
        <p:xfrm>
          <a:off x="2898775" y="1266825"/>
          <a:ext cx="6396038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77698400" imgH="57607200" progId="Equation.DSMT4">
                  <p:embed/>
                </p:oleObj>
              </mc:Choice>
              <mc:Fallback>
                <p:oleObj name="Equation" r:id="rId3" imgW="177698400" imgH="576072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98775" y="1266825"/>
                        <a:ext cx="6396038" cy="2216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6"/>
          <p:cNvGraphicFramePr>
            <a:graphicFrameLocks noChangeAspect="1"/>
          </p:cNvGraphicFramePr>
          <p:nvPr/>
        </p:nvGraphicFramePr>
        <p:xfrm>
          <a:off x="2780643" y="3927628"/>
          <a:ext cx="4337701" cy="562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99060000" imgH="13106400" progId="Equation.DSMT4">
                  <p:embed/>
                </p:oleObj>
              </mc:Choice>
              <mc:Fallback>
                <p:oleObj name="Equation" r:id="rId5" imgW="99060000" imgH="13106400" progId="Equation.DSMT4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80643" y="3927628"/>
                        <a:ext cx="4337701" cy="56230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7"/>
          <p:cNvGraphicFramePr>
            <a:graphicFrameLocks noChangeAspect="1"/>
          </p:cNvGraphicFramePr>
          <p:nvPr/>
        </p:nvGraphicFramePr>
        <p:xfrm>
          <a:off x="7320280" y="3726180"/>
          <a:ext cx="2146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51511200" imgH="23164800" progId="Equation.DSMT4">
                  <p:embed/>
                </p:oleObj>
              </mc:Choice>
              <mc:Fallback>
                <p:oleObj name="Equation" r:id="rId7" imgW="51511200" imgH="23164800" progId="Equation.DSMT4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20280" y="3726180"/>
                        <a:ext cx="21463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3382963" y="5305425"/>
          <a:ext cx="529907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127711200" imgH="16764000" progId="Equation.DSMT4">
                  <p:embed/>
                </p:oleObj>
              </mc:Choice>
              <mc:Fallback>
                <p:oleObj name="Equation" r:id="rId9" imgW="127711200" imgH="167640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82963" y="5305425"/>
                        <a:ext cx="5299075" cy="669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1066800"/>
            <a:ext cx="8229600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注：残差矩阵</a:t>
            </a:r>
            <a:endParaRPr lang="zh-CN" altLang="en-US" dirty="0"/>
          </a:p>
        </p:txBody>
      </p:sp>
      <p:graphicFrame>
        <p:nvGraphicFramePr>
          <p:cNvPr id="17410" name="Object 3"/>
          <p:cNvGraphicFramePr>
            <a:graphicFrameLocks noChangeAspect="1"/>
          </p:cNvGraphicFramePr>
          <p:nvPr/>
        </p:nvGraphicFramePr>
        <p:xfrm>
          <a:off x="3157538" y="2060575"/>
          <a:ext cx="3941762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55168800" imgH="10058400" progId="Equation.DSMT4">
                  <p:embed/>
                </p:oleObj>
              </mc:Choice>
              <mc:Fallback>
                <p:oleObj name="Equation" r:id="rId1" imgW="55168800" imgH="10058400" progId="Equation.DSMT4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57538" y="2060575"/>
                        <a:ext cx="3941762" cy="7254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2286001" y="3124201"/>
            <a:ext cx="6398895" cy="8655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其中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为样本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的协方差矩阵。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289" y="620713"/>
            <a:ext cx="7793037" cy="11430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  <a:latin typeface="宋体" pitchFamily="2" charset="-122"/>
              </a:rPr>
              <a:t>    </a:t>
            </a:r>
            <a:r>
              <a:rPr lang="zh-CN" altLang="en-US" sz="2800" b="1">
                <a:solidFill>
                  <a:srgbClr val="FF0000"/>
                </a:solidFill>
                <a:latin typeface="宋体" pitchFamily="2" charset="-122"/>
              </a:rPr>
              <a:t>（二）主因子法</a:t>
            </a:r>
            <a:endParaRPr lang="zh-CN" altLang="en-US" sz="2800" b="1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1587500"/>
            <a:ext cx="8540750" cy="3602990"/>
          </a:xfrm>
        </p:spPr>
        <p:txBody>
          <a:bodyPr>
            <a:normAutofit fontScale="92500" lnSpcReduction="10000"/>
          </a:bodyPr>
          <a:lstStyle/>
          <a:p>
            <a:pPr fontAlgn="auto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主因子方法是对主成分方法的修正，假定我们首先对变量进行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标准化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变换。则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</a:t>
            </a:r>
            <a:endParaRPr lang="zh-CN" altLang="en-US" sz="28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称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en-US" altLang="zh-CN" sz="2800" b="1" baseline="30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为约相关矩阵，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对角线上的元素是   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而不是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18434" name="Object 4"/>
          <p:cNvGraphicFramePr>
            <a:graphicFrameLocks noChangeAspect="1"/>
          </p:cNvGraphicFramePr>
          <p:nvPr/>
        </p:nvGraphicFramePr>
        <p:xfrm>
          <a:off x="7761048" y="4498281"/>
          <a:ext cx="421640" cy="600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7924800" imgH="11277600" progId="Equation.DSMT4">
                  <p:embed/>
                </p:oleObj>
              </mc:Choice>
              <mc:Fallback>
                <p:oleObj name="Equation" r:id="rId1" imgW="7924800" imgH="112776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761048" y="4498281"/>
                        <a:ext cx="421640" cy="6007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752341" y="2840356"/>
          <a:ext cx="2540635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787400" imgH="165100" progId="Equation.KSEE3">
                  <p:embed/>
                </p:oleObj>
              </mc:Choice>
              <mc:Fallback>
                <p:oleObj name="" r:id="rId3" imgW="787400" imgH="1651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52341" y="2840356"/>
                        <a:ext cx="2540635" cy="532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474211" y="3576956"/>
          <a:ext cx="3565525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5" imgW="1104900" imgH="165100" progId="Equation.KSEE3">
                  <p:embed/>
                </p:oleObj>
              </mc:Choice>
              <mc:Fallback>
                <p:oleObj name="" r:id="rId5" imgW="1104900" imgH="1651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74211" y="3576956"/>
                        <a:ext cx="3565525" cy="532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3219067" y="1007352"/>
          <a:ext cx="4166132" cy="2116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113080800" imgH="57302400" progId="Equation.DSMT4">
                  <p:embed/>
                </p:oleObj>
              </mc:Choice>
              <mc:Fallback>
                <p:oleObj name="Equation" r:id="rId1" imgW="113080800" imgH="57302400" progId="Equation.DSMT4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19067" y="1007352"/>
                        <a:ext cx="4166132" cy="211684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Rectangle 3"/>
          <p:cNvSpPr>
            <a:spLocks noChangeArrowheads="1"/>
          </p:cNvSpPr>
          <p:nvPr/>
        </p:nvSpPr>
        <p:spPr bwMode="auto">
          <a:xfrm>
            <a:off x="2197735" y="3124201"/>
            <a:ext cx="7796530" cy="1124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直接求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en-US" altLang="zh-CN" sz="2800" b="1" baseline="30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特征根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和对应的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正交特征向量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得如下的矩阵：</a:t>
            </a:r>
            <a:endParaRPr lang="zh-CN" altLang="en-US" sz="2800" baseline="30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19459" name="Object 4"/>
          <p:cNvGraphicFramePr>
            <a:graphicFrameLocks noChangeAspect="1"/>
          </p:cNvGraphicFramePr>
          <p:nvPr/>
        </p:nvGraphicFramePr>
        <p:xfrm>
          <a:off x="3568703" y="4442006"/>
          <a:ext cx="4497381" cy="665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19786400" imgH="17678400" progId="Equation.DSMT4">
                  <p:embed/>
                </p:oleObj>
              </mc:Choice>
              <mc:Fallback>
                <p:oleObj name="Equation" r:id="rId3" imgW="119786400" imgH="176784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8703" y="4442006"/>
                        <a:ext cx="4497381" cy="66543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5"/>
          <p:cNvGraphicFramePr>
            <a:graphicFrameLocks noChangeAspect="1"/>
          </p:cNvGraphicFramePr>
          <p:nvPr/>
        </p:nvGraphicFramePr>
        <p:xfrm>
          <a:off x="3628947" y="5356287"/>
          <a:ext cx="4376892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96316800" imgH="12192000" progId="Equation.DSMT4">
                  <p:embed/>
                </p:oleObj>
              </mc:Choice>
              <mc:Fallback>
                <p:oleObj name="Equation" r:id="rId5" imgW="96316800" imgH="121920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28947" y="5356287"/>
                        <a:ext cx="4376892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6"/>
          <p:cNvGraphicFramePr>
            <a:graphicFrameLocks noChangeAspect="1"/>
          </p:cNvGraphicFramePr>
          <p:nvPr/>
        </p:nvGraphicFramePr>
        <p:xfrm>
          <a:off x="3710390" y="6159169"/>
          <a:ext cx="4295449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99364800" imgH="12192000" progId="Equation.DSMT4">
                  <p:embed/>
                </p:oleObj>
              </mc:Choice>
              <mc:Fallback>
                <p:oleObj name="Equation" r:id="rId7" imgW="99364800" imgH="12192000" progId="Equation.DSMT4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10390" y="6159169"/>
                        <a:ext cx="4295449" cy="527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2438400" y="1627188"/>
          <a:ext cx="3813708" cy="2201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96926400" imgH="52425600" progId="Equation.DSMT4">
                  <p:embed/>
                </p:oleObj>
              </mc:Choice>
              <mc:Fallback>
                <p:oleObj name="Equation" r:id="rId1" imgW="96926400" imgH="52425600" progId="Equation.DSMT4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38400" y="1627188"/>
                        <a:ext cx="3813708" cy="22012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3"/>
          <p:cNvSpPr>
            <a:spLocks noChangeArrowheads="1"/>
          </p:cNvSpPr>
          <p:nvPr/>
        </p:nvSpPr>
        <p:spPr bwMode="auto">
          <a:xfrm>
            <a:off x="2438400" y="457201"/>
            <a:ext cx="18415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endParaRPr kumimoji="1" lang="zh-CN" altLang="zh-CN" sz="2800" b="1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20486" name="Group 4"/>
          <p:cNvGrpSpPr/>
          <p:nvPr/>
        </p:nvGrpSpPr>
        <p:grpSpPr bwMode="auto">
          <a:xfrm>
            <a:off x="1524000" y="914400"/>
            <a:ext cx="9144000" cy="584200"/>
            <a:chOff x="0" y="336"/>
            <a:chExt cx="5760" cy="368"/>
          </a:xfrm>
        </p:grpSpPr>
        <p:sp>
          <p:nvSpPr>
            <p:cNvPr id="20487" name="Rectangle 5"/>
            <p:cNvSpPr>
              <a:spLocks noChangeArrowheads="1"/>
            </p:cNvSpPr>
            <p:nvPr/>
          </p:nvSpPr>
          <p:spPr bwMode="auto">
            <a:xfrm>
              <a:off x="0" y="336"/>
              <a:ext cx="5760" cy="35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kumimoji="1" lang="en-US" altLang="zh-CN" sz="2800">
                  <a:latin typeface="宋体" pitchFamily="2" charset="-122"/>
                </a:rPr>
                <a:t>  </a:t>
              </a:r>
              <a:r>
                <a:rPr kumimoji="1" lang="zh-CN" altLang="en-US" sz="2800">
                  <a:latin typeface="宋体" pitchFamily="2" charset="-122"/>
                </a:rPr>
                <a:t>当特殊因子  的方差不同且</a:t>
              </a:r>
              <a:r>
                <a:rPr kumimoji="1" lang="zh-CN" altLang="en-US" sz="2800">
                  <a:solidFill>
                    <a:srgbClr val="FF0000"/>
                  </a:solidFill>
                  <a:latin typeface="Times New Roman" panose="02020503050405090304" pitchFamily="18" charset="0"/>
                </a:rPr>
                <a:t>已知</a:t>
              </a:r>
              <a:r>
                <a:rPr kumimoji="1" lang="zh-CN" altLang="en-US" sz="2800">
                  <a:latin typeface="Times New Roman" panose="02020503050405090304" pitchFamily="18" charset="0"/>
                </a:rPr>
                <a:t>时，问题非常好解决。</a:t>
              </a:r>
              <a:endParaRPr kumimoji="1" lang="zh-CN" altLang="en-US" sz="2800">
                <a:latin typeface="Times New Roman" panose="02020503050405090304" pitchFamily="18" charset="0"/>
              </a:endParaRPr>
            </a:p>
          </p:txBody>
        </p:sp>
        <p:graphicFrame>
          <p:nvGraphicFramePr>
            <p:cNvPr id="20484" name="Object 6"/>
            <p:cNvGraphicFramePr>
              <a:graphicFrameLocks noChangeAspect="1"/>
            </p:cNvGraphicFramePr>
            <p:nvPr/>
          </p:nvGraphicFramePr>
          <p:xfrm>
            <a:off x="1440" y="432"/>
            <a:ext cx="16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6400800" imgH="10363200" progId="Equation.3">
                    <p:embed/>
                  </p:oleObj>
                </mc:Choice>
                <mc:Fallback>
                  <p:oleObj name="Equation" r:id="rId3" imgW="6400800" imgH="10363200" progId="Equation.3">
                    <p:embed/>
                    <p:pic>
                      <p:nvPicPr>
                        <p:cNvPr id="0" name="Object 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40" y="432"/>
                          <a:ext cx="168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483" name="Object 7"/>
          <p:cNvGraphicFramePr>
            <a:graphicFrameLocks noGrp="1" noChangeAspect="1"/>
          </p:cNvGraphicFramePr>
          <p:nvPr>
            <p:ph sz="quarter" idx="13"/>
          </p:nvPr>
        </p:nvGraphicFramePr>
        <p:xfrm>
          <a:off x="2798763" y="3113088"/>
          <a:ext cx="7170737" cy="300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44170400" imgH="60350400" progId="Equation.DSMT4">
                  <p:embed/>
                </p:oleObj>
              </mc:Choice>
              <mc:Fallback>
                <p:oleObj name="Equation" r:id="rId5" imgW="144170400" imgH="60350400" progId="Equation.DSMT4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98763" y="3113088"/>
                        <a:ext cx="7170737" cy="30019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3205901" y="2356097"/>
          <a:ext cx="5780198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120396000" imgH="17678400" progId="Equation.DSMT4">
                  <p:embed/>
                </p:oleObj>
              </mc:Choice>
              <mc:Fallback>
                <p:oleObj name="Equation" r:id="rId1" imgW="120396000" imgH="17678400" progId="Equation.DSMT4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05901" y="2356097"/>
                        <a:ext cx="5780198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3218815" y="3791444"/>
          <a:ext cx="3202508" cy="1647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84124800" imgH="43281600" progId="Equation.DSMT4">
                  <p:embed/>
                </p:oleObj>
              </mc:Choice>
              <mc:Fallback>
                <p:oleObj name="Equation" r:id="rId3" imgW="84124800" imgH="43281600" progId="Equation.DSMT4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18815" y="3791444"/>
                        <a:ext cx="3202508" cy="16476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895601" y="1249680"/>
            <a:ext cx="15741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则有：</a:t>
            </a:r>
            <a:endParaRPr lang="zh-CN" altLang="en-US" sz="2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/>
          <p:nvPr/>
        </p:nvSpPr>
        <p:spPr>
          <a:xfrm>
            <a:off x="3108326" y="3449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43011" name="Text Box 3"/>
          <p:cNvSpPr txBox="1"/>
          <p:nvPr/>
        </p:nvSpPr>
        <p:spPr>
          <a:xfrm>
            <a:off x="2803526" y="4364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graphicFrame>
        <p:nvGraphicFramePr>
          <p:cNvPr id="44036" name="Object 4"/>
          <p:cNvGraphicFramePr>
            <a:graphicFrameLocks noChangeAspect="1"/>
          </p:cNvGraphicFramePr>
          <p:nvPr/>
        </p:nvGraphicFramePr>
        <p:xfrm>
          <a:off x="4243705" y="4453255"/>
          <a:ext cx="2286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422400" imgH="406400" progId="">
                  <p:embed/>
                </p:oleObj>
              </mc:Choice>
              <mc:Fallback>
                <p:oleObj name="" r:id="rId1" imgW="1422400" imgH="406400" progId="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43705" y="4453255"/>
                        <a:ext cx="2286000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Text Box 5"/>
          <p:cNvSpPr txBox="1"/>
          <p:nvPr/>
        </p:nvSpPr>
        <p:spPr>
          <a:xfrm>
            <a:off x="1821181" y="567374"/>
            <a:ext cx="8550275" cy="39693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实际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应用中特殊因子方差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σ</a:t>
            </a:r>
            <a:r>
              <a:rPr lang="zh-CN" altLang="zh-CN" sz="2800" i="1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zh-CN" sz="2800" baseline="4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zh-CN" sz="2800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或公因子方差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也称为共同度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</a:t>
            </a:r>
            <a:r>
              <a:rPr lang="zh-CN" altLang="zh-CN" sz="2800" i="1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zh-CN" sz="2800" baseline="4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zh-CN" sz="2800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未知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以上得到的解是近似解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为了得到近似程度更好的解，常常采用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迭代主因子法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即利用上面得到的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baseline="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作为特殊方差的初始估计，重复上述步骤，直到解稳定为止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43014" name="Object 6"/>
          <p:cNvGraphicFramePr>
            <a:graphicFrameLocks noChangeAspect="1"/>
          </p:cNvGraphicFramePr>
          <p:nvPr/>
        </p:nvGraphicFramePr>
        <p:xfrm>
          <a:off x="4384615" y="2589110"/>
          <a:ext cx="28194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892300" imgH="368300" progId="">
                  <p:embed/>
                </p:oleObj>
              </mc:Choice>
              <mc:Fallback>
                <p:oleObj name="" r:id="rId3" imgW="1892300" imgH="368300" progId="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84615" y="2589110"/>
                        <a:ext cx="2819400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9" name="Text Box 7"/>
          <p:cNvSpPr txBox="1"/>
          <p:nvPr/>
        </p:nvSpPr>
        <p:spPr>
          <a:xfrm>
            <a:off x="1142365" y="4453255"/>
            <a:ext cx="10266045" cy="1383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宋体" pitchFamily="2" charset="-122"/>
              </a:rPr>
              <a:t>    因特殊因子方差　　         </a:t>
            </a:r>
            <a:r>
              <a:rPr lang="en-US" altLang="zh-CN" sz="2800" dirty="0">
                <a:latin typeface="宋体" pitchFamily="2" charset="-122"/>
              </a:rPr>
              <a:t>      	 </a:t>
            </a:r>
            <a:r>
              <a:rPr lang="zh-CN" altLang="en-US" sz="2800" dirty="0">
                <a:latin typeface="宋体" pitchFamily="2" charset="-122"/>
              </a:rPr>
              <a:t>,故求特殊因子方差的初始估计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等价</a:t>
            </a:r>
            <a:r>
              <a:rPr lang="zh-CN" altLang="en-US" sz="2800" dirty="0">
                <a:latin typeface="宋体" pitchFamily="2" charset="-122"/>
              </a:rPr>
              <a:t>于求公因子方差(或称共同度) 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</a:t>
            </a:r>
            <a:r>
              <a:rPr lang="zh-CN" altLang="en-US" sz="2800" i="1" baseline="-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2800" baseline="46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latin typeface="宋体" pitchFamily="2" charset="-122"/>
              </a:rPr>
              <a:t>的初始估计.</a:t>
            </a:r>
            <a:endParaRPr lang="zh-CN" altLang="en-US" sz="2800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694815" y="940435"/>
            <a:ext cx="6972935" cy="635635"/>
            <a:chOff x="151" y="3030"/>
            <a:chExt cx="10981" cy="1001"/>
          </a:xfrm>
        </p:grpSpPr>
        <p:sp>
          <p:nvSpPr>
            <p:cNvPr id="22536" name="Rectangle 3"/>
            <p:cNvSpPr>
              <a:spLocks noChangeArrowheads="1"/>
            </p:cNvSpPr>
            <p:nvPr/>
          </p:nvSpPr>
          <p:spPr bwMode="auto">
            <a:xfrm>
              <a:off x="151" y="3167"/>
              <a:ext cx="10981" cy="82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kumimoji="1" lang="en-US" altLang="zh-CN" sz="2800" dirty="0">
                  <a:latin typeface="宋体" pitchFamily="2" charset="-122"/>
                </a:rPr>
                <a:t>     </a:t>
              </a:r>
              <a:r>
                <a:rPr kumimoji="1" lang="zh-CN" altLang="en-US" sz="2800" dirty="0">
                  <a:latin typeface="宋体" pitchFamily="2" charset="-122"/>
                </a:rPr>
                <a:t>首先，求</a:t>
              </a:r>
              <a:r>
                <a:rPr kumimoji="1" lang="en-US" altLang="zh-CN" sz="2800" dirty="0">
                  <a:latin typeface="宋体" pitchFamily="2" charset="-122"/>
                </a:rPr>
                <a:t> </a:t>
              </a:r>
              <a:r>
                <a:rPr kumimoji="1" lang="zh-CN" altLang="en-US" sz="2800" dirty="0">
                  <a:latin typeface="宋体" pitchFamily="2" charset="-122"/>
                </a:rPr>
                <a:t>  </a:t>
              </a:r>
              <a:r>
                <a:rPr kumimoji="1" lang="en-US" altLang="zh-CN" sz="2800" dirty="0">
                  <a:latin typeface="宋体" pitchFamily="2" charset="-122"/>
                </a:rPr>
                <a:t>  </a:t>
              </a:r>
              <a:r>
                <a:rPr kumimoji="1" lang="zh-CN" altLang="en-US" sz="2800" dirty="0">
                  <a:latin typeface="宋体" pitchFamily="2" charset="-122"/>
                </a:rPr>
                <a:t>的初始估计值，构造出</a:t>
              </a:r>
              <a:r>
                <a:rPr kumimoji="1" lang="zh-CN" altLang="en-US" sz="2800" dirty="0">
                  <a:latin typeface="Times New Roman" panose="02020503050405090304" pitchFamily="18" charset="0"/>
                  <a:ea typeface="华文琥珀" panose="02010800040101010101" pitchFamily="2" charset="-122"/>
                </a:rPr>
                <a:t> </a:t>
              </a:r>
              <a:endParaRPr kumimoji="1" lang="zh-CN" altLang="en-US" sz="2800" dirty="0">
                <a:latin typeface="Times New Roman" panose="02020503050405090304" pitchFamily="18" charset="0"/>
                <a:ea typeface="华文琥珀" panose="02010800040101010101" pitchFamily="2" charset="-122"/>
              </a:endParaRPr>
            </a:p>
          </p:txBody>
        </p:sp>
        <p:graphicFrame>
          <p:nvGraphicFramePr>
            <p:cNvPr id="22530" name="Object 4"/>
            <p:cNvGraphicFramePr>
              <a:graphicFrameLocks noChangeAspect="1"/>
            </p:cNvGraphicFramePr>
            <p:nvPr/>
          </p:nvGraphicFramePr>
          <p:xfrm>
            <a:off x="3222" y="3030"/>
            <a:ext cx="740" cy="10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Equation" r:id="rId1" imgW="7620000" imgH="10668000" progId="Equation.3">
                    <p:embed/>
                  </p:oleObj>
                </mc:Choice>
                <mc:Fallback>
                  <p:oleObj name="Equation" r:id="rId1" imgW="7620000" imgH="10668000" progId="Equation.3">
                    <p:embed/>
                    <p:pic>
                      <p:nvPicPr>
                        <p:cNvPr id="0" name="Object 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222" y="3030"/>
                          <a:ext cx="740" cy="100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1" name="Object 5"/>
            <p:cNvGraphicFramePr>
              <a:graphicFrameLocks noChangeAspect="1"/>
            </p:cNvGraphicFramePr>
            <p:nvPr/>
          </p:nvGraphicFramePr>
          <p:xfrm>
            <a:off x="10104" y="3214"/>
            <a:ext cx="598" cy="6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4572000" imgH="4572000" progId="Equation.DSMT4">
                    <p:embed/>
                  </p:oleObj>
                </mc:Choice>
                <mc:Fallback>
                  <p:oleObj name="Equation" r:id="rId3" imgW="4572000" imgH="4572000" progId="Equation.DSMT4">
                    <p:embed/>
                    <p:pic>
                      <p:nvPicPr>
                        <p:cNvPr id="0" name="Object 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104" y="3214"/>
                          <a:ext cx="598" cy="63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7" name="Rectangle 6"/>
          <p:cNvSpPr>
            <a:spLocks noChangeArrowheads="1"/>
          </p:cNvSpPr>
          <p:nvPr/>
        </p:nvSpPr>
        <p:spPr bwMode="auto">
          <a:xfrm>
            <a:off x="2120900" y="2019301"/>
            <a:ext cx="7825740" cy="35168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kumimoji="1"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1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）取         ，在这个情况下主因子解与主成分解等价；</a:t>
            </a:r>
            <a:endParaRPr kumimoji="1"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35000"/>
              </a:lnSpc>
            </a:pP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</a:t>
            </a:r>
            <a:r>
              <a:rPr kumimoji="1"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）取            ，  为</a:t>
            </a:r>
            <a:r>
              <a:rPr kumimoji="1"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kumimoji="1" lang="en-US" altLang="zh-CN" sz="28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与其他所有的原始变量</a:t>
            </a:r>
            <a:r>
              <a:rPr kumimoji="1" lang="en-US" altLang="zh-CN" sz="28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kumimoji="1" lang="en-US" altLang="zh-CN" sz="2800" i="1" baseline="-25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的复相关系数的平方，即</a:t>
            </a:r>
            <a:r>
              <a:rPr kumimoji="1"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kumimoji="1" lang="en-US" altLang="zh-CN" sz="28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对其余的</a:t>
            </a:r>
            <a:r>
              <a:rPr kumimoji="1"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kumimoji="1"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-1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</a:t>
            </a:r>
            <a:r>
              <a:rPr kumimoji="1" lang="en-US" altLang="zh-CN" sz="28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kumimoji="1" lang="en-US" altLang="zh-CN" sz="2800" i="1" baseline="-25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的回归方程的决定系数，这是因为</a:t>
            </a:r>
            <a:r>
              <a:rPr kumimoji="1"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kumimoji="1" lang="en-US" altLang="zh-CN" sz="28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kumimoji="1"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与公共因子的关系是通过其余的</a:t>
            </a:r>
            <a:r>
              <a:rPr kumimoji="1"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kumimoji="1"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-1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个</a:t>
            </a:r>
            <a:r>
              <a:rPr kumimoji="1" lang="en-US" altLang="zh-CN" sz="28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kumimoji="1" lang="en-US" altLang="zh-CN" sz="2800" i="1" baseline="-25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kumimoji="1"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的线性组合联系起来的；</a:t>
            </a:r>
            <a:endParaRPr kumimoji="1"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22532" name="Object 7"/>
          <p:cNvGraphicFramePr>
            <a:graphicFrameLocks noChangeAspect="1"/>
          </p:cNvGraphicFramePr>
          <p:nvPr/>
        </p:nvGraphicFramePr>
        <p:xfrm>
          <a:off x="3644901" y="2171700"/>
          <a:ext cx="7905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8592800" imgH="10668000" progId="Equation.3">
                  <p:embed/>
                </p:oleObj>
              </mc:Choice>
              <mc:Fallback>
                <p:oleObj name="Equation" r:id="rId5" imgW="18592800" imgH="10668000" progId="Equation.3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44901" y="2171700"/>
                        <a:ext cx="790575" cy="4381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10"/>
          <p:cNvGraphicFramePr>
            <a:graphicFrameLocks noChangeAspect="1"/>
          </p:cNvGraphicFramePr>
          <p:nvPr/>
        </p:nvGraphicFramePr>
        <p:xfrm>
          <a:off x="3644901" y="3333231"/>
          <a:ext cx="1003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24079200" imgH="10668000" progId="Equation.3">
                  <p:embed/>
                </p:oleObj>
              </mc:Choice>
              <mc:Fallback>
                <p:oleObj name="Equation" r:id="rId7" imgW="24079200" imgH="10668000" progId="Equation.3">
                  <p:embed/>
                  <p:pic>
                    <p:nvPicPr>
                      <p:cNvPr id="0" name="Object 1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44901" y="3333231"/>
                        <a:ext cx="1003300" cy="4445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11"/>
          <p:cNvGraphicFramePr>
            <a:graphicFrameLocks noChangeAspect="1"/>
          </p:cNvGraphicFramePr>
          <p:nvPr/>
        </p:nvGraphicFramePr>
        <p:xfrm>
          <a:off x="4844294" y="3333231"/>
          <a:ext cx="368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8839200" imgH="10668000" progId="Equation.3">
                  <p:embed/>
                </p:oleObj>
              </mc:Choice>
              <mc:Fallback>
                <p:oleObj name="Equation" r:id="rId9" imgW="8839200" imgH="10668000" progId="Equation.3">
                  <p:embed/>
                  <p:pic>
                    <p:nvPicPr>
                      <p:cNvPr id="0" name="Object 1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44294" y="3333231"/>
                        <a:ext cx="3683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9" name="Rectangle 2"/>
          <p:cNvSpPr>
            <a:spLocks noChangeArrowheads="1"/>
          </p:cNvSpPr>
          <p:nvPr/>
        </p:nvSpPr>
        <p:spPr bwMode="auto">
          <a:xfrm>
            <a:off x="1752600" y="1663701"/>
            <a:ext cx="8305800" cy="164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kumimoji="1"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3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）取                              ，这意味着取</a:t>
            </a:r>
            <a:r>
              <a:rPr kumimoji="1"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kumimoji="1" lang="en-US" altLang="zh-CN" sz="2800" i="1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与其余的</a:t>
            </a:r>
            <a:r>
              <a:rPr kumimoji="1" lang="en-US" altLang="zh-CN" sz="28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kumimoji="1" lang="en-US" altLang="zh-CN" sz="2800" i="1" baseline="-25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j</a:t>
            </a:r>
            <a:r>
              <a:rPr kumimoji="1"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的简单相关系数的绝对值最大者；</a:t>
            </a:r>
            <a:endParaRPr kumimoji="1"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0" hangingPunct="0"/>
            <a:endParaRPr kumimoji="1"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23554" name="Object 3"/>
          <p:cNvGraphicFramePr>
            <a:graphicFrameLocks noChangeAspect="1"/>
          </p:cNvGraphicFramePr>
          <p:nvPr/>
        </p:nvGraphicFramePr>
        <p:xfrm>
          <a:off x="2936492" y="1774826"/>
          <a:ext cx="26733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64008000" imgH="11887200" progId="Equation.3">
                  <p:embed/>
                </p:oleObj>
              </mc:Choice>
              <mc:Fallback>
                <p:oleObj name="Equation" r:id="rId1" imgW="64008000" imgH="118872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36492" y="1774826"/>
                        <a:ext cx="2673350" cy="4953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Rectangle 4"/>
          <p:cNvSpPr>
            <a:spLocks noChangeArrowheads="1"/>
          </p:cNvSpPr>
          <p:nvPr/>
        </p:nvSpPr>
        <p:spPr bwMode="auto">
          <a:xfrm>
            <a:off x="1524000" y="3175000"/>
            <a:ext cx="9144000" cy="8915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/>
            <a:r>
              <a:rPr kumimoji="1" lang="en-US" altLang="zh-CN" sz="2400">
                <a:latin typeface="宋体" pitchFamily="2" charset="-122"/>
              </a:rPr>
              <a:t>     </a:t>
            </a:r>
            <a:r>
              <a:rPr kumimoji="1" lang="en-US" altLang="zh-CN" sz="2800">
                <a:latin typeface="宋体" pitchFamily="2" charset="-122"/>
              </a:rPr>
              <a:t>4</a:t>
            </a:r>
            <a:r>
              <a:rPr kumimoji="1" lang="zh-CN" altLang="en-US" sz="2800">
                <a:latin typeface="宋体" pitchFamily="2" charset="-122"/>
              </a:rPr>
              <a:t>）取              ，</a:t>
            </a:r>
            <a:r>
              <a:rPr kumimoji="1" lang="en-US" altLang="zh-CN" sz="2800">
                <a:latin typeface="宋体" pitchFamily="2" charset="-122"/>
              </a:rPr>
              <a:t>	</a:t>
            </a:r>
            <a:r>
              <a:rPr kumimoji="1" lang="zh-CN" altLang="en-US" sz="2800">
                <a:latin typeface="宋体" pitchFamily="2" charset="-122"/>
              </a:rPr>
              <a:t>其中要求该值为正数</a:t>
            </a:r>
            <a:r>
              <a:rPr kumimoji="1" lang="zh-CN" altLang="en-US" sz="2400">
                <a:latin typeface="宋体" pitchFamily="2" charset="-122"/>
              </a:rPr>
              <a:t>。</a:t>
            </a:r>
            <a:endParaRPr kumimoji="1" lang="zh-CN" altLang="en-US" sz="2400">
              <a:latin typeface="宋体" pitchFamily="2" charset="-122"/>
            </a:endParaRPr>
          </a:p>
          <a:p>
            <a:pPr eaLnBrk="0" hangingPunct="0"/>
            <a:endParaRPr kumimoji="1" lang="zh-CN" altLang="en-US" sz="2400">
              <a:latin typeface="宋体" pitchFamily="2" charset="-122"/>
            </a:endParaRPr>
          </a:p>
        </p:txBody>
      </p:sp>
      <p:graphicFrame>
        <p:nvGraphicFramePr>
          <p:cNvPr id="23555" name="Object 5"/>
          <p:cNvGraphicFramePr>
            <a:graphicFrameLocks noChangeAspect="1"/>
          </p:cNvGraphicFramePr>
          <p:nvPr/>
        </p:nvGraphicFramePr>
        <p:xfrm>
          <a:off x="2861945" y="3035300"/>
          <a:ext cx="2222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53340000" imgH="20116800" progId="Equation.3">
                  <p:embed/>
                </p:oleObj>
              </mc:Choice>
              <mc:Fallback>
                <p:oleObj name="Equation" r:id="rId3" imgW="53340000" imgH="20116800" progId="Equation.3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61945" y="3035300"/>
                        <a:ext cx="2222500" cy="8382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Rectangle 6"/>
          <p:cNvSpPr>
            <a:spLocks noChangeArrowheads="1"/>
          </p:cNvSpPr>
          <p:nvPr/>
        </p:nvSpPr>
        <p:spPr bwMode="auto">
          <a:xfrm>
            <a:off x="1524000" y="4121150"/>
            <a:ext cx="8234680" cy="9531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800" dirty="0">
                <a:latin typeface="宋体" pitchFamily="2" charset="-122"/>
              </a:rPr>
              <a:t>    5</a:t>
            </a:r>
            <a:r>
              <a:rPr kumimoji="1" lang="zh-CN" altLang="en-US" sz="2800" dirty="0">
                <a:latin typeface="宋体" pitchFamily="2" charset="-122"/>
              </a:rPr>
              <a:t>）取       ，</a:t>
            </a:r>
            <a:r>
              <a:rPr kumimoji="1" lang="en-US" altLang="zh-CN" sz="2800" dirty="0">
                <a:latin typeface="宋体" pitchFamily="2" charset="-122"/>
              </a:rPr>
              <a:t>	</a:t>
            </a:r>
            <a:r>
              <a:rPr kumimoji="1" lang="zh-CN" altLang="en-US" sz="2800" dirty="0">
                <a:latin typeface="宋体" pitchFamily="2" charset="-122"/>
              </a:rPr>
              <a:t>其中  </a:t>
            </a:r>
            <a:r>
              <a:rPr kumimoji="1" lang="en-US" altLang="zh-CN" sz="2800" dirty="0">
                <a:latin typeface="宋体" pitchFamily="2" charset="-122"/>
              </a:rPr>
              <a:t> </a:t>
            </a:r>
            <a:r>
              <a:rPr kumimoji="1" lang="zh-CN" altLang="en-US" sz="2800" dirty="0">
                <a:latin typeface="宋体" pitchFamily="2" charset="-122"/>
              </a:rPr>
              <a:t>是</a:t>
            </a:r>
            <a:r>
              <a:rPr kumimoji="1"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kumimoji="1" lang="en-US" altLang="zh-CN" sz="2800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-1</a:t>
            </a:r>
            <a:r>
              <a:rPr kumimoji="1" lang="zh-CN" altLang="en-US" sz="2800" dirty="0">
                <a:latin typeface="宋体" pitchFamily="2" charset="-122"/>
              </a:rPr>
              <a:t>的对角元素。</a:t>
            </a:r>
            <a:endParaRPr kumimoji="1" lang="zh-CN" altLang="en-US" sz="2800" dirty="0">
              <a:latin typeface="宋体" pitchFamily="2" charset="-122"/>
            </a:endParaRPr>
          </a:p>
          <a:p>
            <a:pPr eaLnBrk="0" hangingPunct="0"/>
            <a:endParaRPr kumimoji="1" lang="en-US" altLang="zh-CN" sz="28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23556" name="Object 7"/>
          <p:cNvGraphicFramePr>
            <a:graphicFrameLocks noChangeAspect="1"/>
          </p:cNvGraphicFramePr>
          <p:nvPr/>
        </p:nvGraphicFramePr>
        <p:xfrm>
          <a:off x="2936240" y="4178300"/>
          <a:ext cx="12128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29260800" imgH="10668000" progId="Equation.3">
                  <p:embed/>
                </p:oleObj>
              </mc:Choice>
              <mc:Fallback>
                <p:oleObj name="Equation" r:id="rId5" imgW="29260800" imgH="10668000" progId="Equation.3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36240" y="4178300"/>
                        <a:ext cx="1212850" cy="4381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8"/>
          <p:cNvGraphicFramePr>
            <a:graphicFrameLocks noChangeAspect="1"/>
          </p:cNvGraphicFramePr>
          <p:nvPr/>
        </p:nvGraphicFramePr>
        <p:xfrm>
          <a:off x="5084446" y="4178300"/>
          <a:ext cx="30956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7315200" imgH="8534400" progId="Equation.3">
                  <p:embed/>
                </p:oleObj>
              </mc:Choice>
              <mc:Fallback>
                <p:oleObj name="Equation" r:id="rId7" imgW="7315200" imgH="8534400" progId="Equation.3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84446" y="4178300"/>
                        <a:ext cx="309563" cy="355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Text Box 3"/>
          <p:cNvSpPr txBox="1"/>
          <p:nvPr/>
        </p:nvSpPr>
        <p:spPr>
          <a:xfrm>
            <a:off x="1752601" y="1371600"/>
            <a:ext cx="8626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2800" b="1" dirty="0">
                <a:latin typeface="宋体" pitchFamily="2" charset="-122"/>
              </a:rPr>
              <a:t>   </a:t>
            </a:r>
            <a:endParaRPr lang="zh-CN" altLang="zh-CN" sz="4400" b="1" dirty="0">
              <a:latin typeface="宋体" pitchFamily="2" charset="-122"/>
            </a:endParaRPr>
          </a:p>
        </p:txBody>
      </p:sp>
      <p:sp>
        <p:nvSpPr>
          <p:cNvPr id="45060" name="Text Box 4"/>
          <p:cNvSpPr txBox="1"/>
          <p:nvPr/>
        </p:nvSpPr>
        <p:spPr>
          <a:xfrm>
            <a:off x="1828800" y="1524001"/>
            <a:ext cx="8534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3200" b="1" dirty="0">
                <a:latin typeface="宋体" pitchFamily="2" charset="-122"/>
              </a:rPr>
              <a:t>   </a:t>
            </a:r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45061" name="Text Box 5"/>
          <p:cNvSpPr txBox="1"/>
          <p:nvPr/>
        </p:nvSpPr>
        <p:spPr>
          <a:xfrm>
            <a:off x="3108326" y="34496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45062" name="Text Box 6"/>
          <p:cNvSpPr txBox="1"/>
          <p:nvPr/>
        </p:nvSpPr>
        <p:spPr>
          <a:xfrm>
            <a:off x="2803526" y="43640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45063" name="Rectangle 7"/>
          <p:cNvSpPr/>
          <p:nvPr/>
        </p:nvSpPr>
        <p:spPr>
          <a:xfrm>
            <a:off x="1828800" y="1447801"/>
            <a:ext cx="8610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3200" b="1" dirty="0">
                <a:latin typeface="宋体" pitchFamily="2" charset="-122"/>
              </a:rPr>
              <a:t>   </a:t>
            </a:r>
            <a:endParaRPr lang="zh-CN" altLang="zh-CN" sz="3200" b="1" dirty="0">
              <a:latin typeface="宋体" pitchFamily="2" charset="-122"/>
            </a:endParaRPr>
          </a:p>
        </p:txBody>
      </p:sp>
      <p:sp>
        <p:nvSpPr>
          <p:cNvPr id="45064" name="Text Box 8"/>
          <p:cNvSpPr txBox="1"/>
          <p:nvPr/>
        </p:nvSpPr>
        <p:spPr>
          <a:xfrm>
            <a:off x="2727326" y="2001838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dirty="0">
              <a:latin typeface="Arial" panose="020B0604020202090204" pitchFamily="34" charset="0"/>
            </a:endParaRPr>
          </a:p>
        </p:txBody>
      </p:sp>
      <p:sp>
        <p:nvSpPr>
          <p:cNvPr id="46089" name="Text Box 9"/>
          <p:cNvSpPr txBox="1"/>
          <p:nvPr/>
        </p:nvSpPr>
        <p:spPr>
          <a:xfrm>
            <a:off x="1545020" y="828567"/>
            <a:ext cx="9238593" cy="5262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假定公因子</a:t>
            </a:r>
            <a:r>
              <a:rPr lang="zh-CN" altLang="zh-CN" sz="2800" i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和特殊因子</a:t>
            </a:r>
            <a:r>
              <a:rPr lang="zh-CN" altLang="zh-CN" sz="2800" i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ε</a:t>
            </a:r>
            <a:r>
              <a:rPr lang="zh-CN" altLang="en-US" sz="2800" u="sng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服从正态分布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，那么我们可得到因子载荷阵和特殊方差的极大似然估计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设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维观测向量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,…,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zh-CN" sz="2800" i="1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baseline="-2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为来自正态总体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zh-CN" altLang="zh-CN" sz="2800" i="1" baseline="-2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Σ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的随机样本，则样本似然函数为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μ,Σ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的函数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μ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Σ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)。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设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Σ=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AA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′+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，取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μ=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X，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则似然函数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AA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′+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A,D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的函数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φ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A,D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求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A,D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使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φ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达最大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为保证得到唯一解，可附加计算上方便的唯一性条件：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A′D</a:t>
            </a:r>
            <a:r>
              <a:rPr lang="zh-CN" altLang="zh-CN" sz="2800" baseline="3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-1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=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对角阵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用迭代方法可求得极大似然估计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zh-CN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6090" name="Line 10"/>
          <p:cNvSpPr/>
          <p:nvPr/>
        </p:nvSpPr>
        <p:spPr>
          <a:xfrm>
            <a:off x="4860418" y="3634105"/>
            <a:ext cx="304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091" name="Line 11"/>
          <p:cNvSpPr/>
          <p:nvPr/>
        </p:nvSpPr>
        <p:spPr>
          <a:xfrm>
            <a:off x="7635875" y="3634105"/>
            <a:ext cx="304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83" name="Rectangle 2"/>
          <p:cNvSpPr>
            <a:spLocks noGrp="1" noChangeArrowheads="1"/>
          </p:cNvSpPr>
          <p:nvPr/>
        </p:nvSpPr>
        <p:spPr>
          <a:xfrm>
            <a:off x="1828800" y="132080"/>
            <a:ext cx="411099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4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//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（三）极大似然估计法</a:t>
            </a:r>
            <a:endParaRPr lang="zh-CN" altLang="en-US" sz="2800" b="1" dirty="0">
              <a:solidFill>
                <a:srgbClr val="FF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0" name="Rectangle 2"/>
          <p:cNvSpPr>
            <a:spLocks noGrp="1" noChangeArrowheads="1"/>
          </p:cNvSpPr>
          <p:nvPr>
            <p:ph idx="1"/>
          </p:nvPr>
        </p:nvSpPr>
        <p:spPr>
          <a:xfrm>
            <a:off x="1828800" y="870585"/>
            <a:ext cx="8534400" cy="476631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      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</a:rPr>
              <a:t>8.3.1</a:t>
            </a:r>
            <a:r>
              <a:rPr lang="zh-CN" altLang="en-US" b="1" dirty="0">
                <a:solidFill>
                  <a:srgbClr val="FF0000"/>
                </a:solidFill>
              </a:rPr>
              <a:t>   </a:t>
            </a:r>
            <a:r>
              <a:rPr lang="zh-CN" altLang="en-US" sz="2800" dirty="0">
                <a:solidFill>
                  <a:schemeClr val="tx1"/>
                </a:solidFill>
              </a:rPr>
              <a:t>假定某地固定资产投资率   ，通货膨胀率   ，失业率     ，相关系数矩阵为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试用主成分分析法求因子分析模型。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26626" name="Object 3"/>
          <p:cNvGraphicFramePr>
            <a:graphicFrameLocks noChangeAspect="1"/>
          </p:cNvGraphicFramePr>
          <p:nvPr/>
        </p:nvGraphicFramePr>
        <p:xfrm>
          <a:off x="7653338" y="960756"/>
          <a:ext cx="318770" cy="47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6400800" imgH="9448800" progId="Equation.3">
                  <p:embed/>
                </p:oleObj>
              </mc:Choice>
              <mc:Fallback>
                <p:oleObj name="Equation" r:id="rId1" imgW="6400800" imgH="94488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53338" y="960756"/>
                        <a:ext cx="318770" cy="4718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4"/>
          <p:cNvGraphicFramePr>
            <a:graphicFrameLocks noChangeAspect="1"/>
          </p:cNvGraphicFramePr>
          <p:nvPr/>
        </p:nvGraphicFramePr>
        <p:xfrm>
          <a:off x="2450571" y="1469286"/>
          <a:ext cx="396875" cy="512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7315200" imgH="9448800" progId="Equation.3">
                  <p:embed/>
                </p:oleObj>
              </mc:Choice>
              <mc:Fallback>
                <p:oleObj name="Equation" r:id="rId3" imgW="7315200" imgH="94488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50571" y="1469286"/>
                        <a:ext cx="396875" cy="5124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5"/>
          <p:cNvGraphicFramePr>
            <a:graphicFrameLocks noChangeAspect="1"/>
          </p:cNvGraphicFramePr>
          <p:nvPr/>
        </p:nvGraphicFramePr>
        <p:xfrm>
          <a:off x="4262967" y="1469286"/>
          <a:ext cx="370840" cy="49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7010400" imgH="9448800" progId="Equation.3">
                  <p:embed/>
                </p:oleObj>
              </mc:Choice>
              <mc:Fallback>
                <p:oleObj name="Equation" r:id="rId5" imgW="7010400" imgH="9448800" progId="Equation.3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62967" y="1469286"/>
                        <a:ext cx="370840" cy="4997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6"/>
          <p:cNvGraphicFramePr>
            <a:graphicFrameLocks noChangeAspect="1"/>
          </p:cNvGraphicFramePr>
          <p:nvPr/>
        </p:nvGraphicFramePr>
        <p:xfrm>
          <a:off x="4109085" y="2287271"/>
          <a:ext cx="3703638" cy="178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35356800" imgH="17068800" progId="Equation.3">
                  <p:embed/>
                </p:oleObj>
              </mc:Choice>
              <mc:Fallback>
                <p:oleObj name="Equation" r:id="rId7" imgW="35356800" imgH="17068800" progId="Equation.3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09085" y="2287271"/>
                        <a:ext cx="3703638" cy="1789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6" name="Rectangle 2"/>
          <p:cNvSpPr>
            <a:spLocks noGrp="1" noChangeArrowheads="1"/>
          </p:cNvSpPr>
          <p:nvPr>
            <p:ph idx="1"/>
          </p:nvPr>
        </p:nvSpPr>
        <p:spPr>
          <a:xfrm>
            <a:off x="1866265" y="654050"/>
            <a:ext cx="2378710" cy="762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 sz="2800">
                <a:solidFill>
                  <a:schemeClr val="tx1"/>
                </a:solidFill>
              </a:rPr>
              <a:t>特征根为</a:t>
            </a:r>
            <a:r>
              <a:rPr lang="zh-CN" altLang="en-US">
                <a:solidFill>
                  <a:schemeClr val="tx1"/>
                </a:solidFill>
              </a:rPr>
              <a:t>：          </a:t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7650" name="Object 3"/>
          <p:cNvGraphicFramePr>
            <a:graphicFrameLocks noChangeAspect="1"/>
          </p:cNvGraphicFramePr>
          <p:nvPr/>
        </p:nvGraphicFramePr>
        <p:xfrm>
          <a:off x="4114800" y="838200"/>
          <a:ext cx="1181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28346400" imgH="9448800" progId="Equation.3">
                  <p:embed/>
                </p:oleObj>
              </mc:Choice>
              <mc:Fallback>
                <p:oleObj name="Equation" r:id="rId1" imgW="28346400" imgH="94488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14800" y="838200"/>
                        <a:ext cx="1181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4"/>
          <p:cNvGraphicFramePr>
            <a:graphicFrameLocks noChangeAspect="1"/>
          </p:cNvGraphicFramePr>
          <p:nvPr/>
        </p:nvGraphicFramePr>
        <p:xfrm>
          <a:off x="5486400" y="838200"/>
          <a:ext cx="1244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29870400" imgH="9448800" progId="Equation.3">
                  <p:embed/>
                </p:oleObj>
              </mc:Choice>
              <mc:Fallback>
                <p:oleObj name="Equation" r:id="rId3" imgW="29870400" imgH="94488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86400" y="838200"/>
                        <a:ext cx="1244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5"/>
          <p:cNvGraphicFramePr>
            <a:graphicFrameLocks noChangeAspect="1"/>
          </p:cNvGraphicFramePr>
          <p:nvPr/>
        </p:nvGraphicFramePr>
        <p:xfrm>
          <a:off x="6934200" y="838200"/>
          <a:ext cx="1066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25603200" imgH="9448800" progId="Equation.3">
                  <p:embed/>
                </p:oleObj>
              </mc:Choice>
              <mc:Fallback>
                <p:oleObj name="Equation" r:id="rId5" imgW="25603200" imgH="9448800" progId="Equation.3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34200" y="838200"/>
                        <a:ext cx="1066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6"/>
          <p:cNvGraphicFramePr>
            <a:graphicFrameLocks noChangeAspect="1"/>
          </p:cNvGraphicFramePr>
          <p:nvPr/>
        </p:nvGraphicFramePr>
        <p:xfrm>
          <a:off x="3055620" y="3009845"/>
          <a:ext cx="6277566" cy="1785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71018400" imgH="20116800" progId="Equation.DSMT4">
                  <p:embed/>
                </p:oleObj>
              </mc:Choice>
              <mc:Fallback>
                <p:oleObj name="Equation" r:id="rId7" imgW="71018400" imgH="20116800" progId="Equation.DSMT4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55620" y="3009845"/>
                        <a:ext cx="6277566" cy="178584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7"/>
          <p:cNvGraphicFramePr>
            <a:graphicFrameLocks noChangeAspect="1"/>
          </p:cNvGraphicFramePr>
          <p:nvPr/>
        </p:nvGraphicFramePr>
        <p:xfrm>
          <a:off x="3652838" y="1416050"/>
          <a:ext cx="3995737" cy="149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46024800" imgH="17068800" progId="Equation.DSMT4">
                  <p:embed/>
                </p:oleObj>
              </mc:Choice>
              <mc:Fallback>
                <p:oleObj name="Equation" r:id="rId9" imgW="46024800" imgH="17068800" progId="Equation.DSMT4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52838" y="1416050"/>
                        <a:ext cx="3995737" cy="1490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8"/>
          <p:cNvGraphicFramePr>
            <a:graphicFrameLocks noChangeAspect="1"/>
          </p:cNvGraphicFramePr>
          <p:nvPr/>
        </p:nvGraphicFramePr>
        <p:xfrm>
          <a:off x="3429000" y="5029200"/>
          <a:ext cx="38735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92964000" imgH="33832800" progId="Equation.3">
                  <p:embed/>
                </p:oleObj>
              </mc:Choice>
              <mc:Fallback>
                <p:oleObj name="Equation" r:id="rId11" imgW="92964000" imgH="33832800" progId="Equation.3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29000" y="5029200"/>
                        <a:ext cx="3873500" cy="1409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2"/>
          <p:cNvSpPr>
            <a:spLocks noGrp="1" noChangeArrowheads="1"/>
          </p:cNvSpPr>
          <p:nvPr>
            <p:ph idx="1"/>
          </p:nvPr>
        </p:nvSpPr>
        <p:spPr>
          <a:xfrm>
            <a:off x="1790700" y="3075305"/>
            <a:ext cx="8610600" cy="27432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可取前两个因子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为公共因子，第一公因子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物价就业因子，对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的贡献为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1.55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。第二公因子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</a:t>
            </a:r>
            <a:r>
              <a:rPr lang="en-US" altLang="zh-CN" sz="2800" baseline="-25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为投资因子，对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的贡献为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0.85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。共同度分别为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0.706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0.706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en-US" sz="2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28674" name="Object 3"/>
          <p:cNvGraphicFramePr>
            <a:graphicFrameLocks noChangeAspect="1"/>
          </p:cNvGraphicFramePr>
          <p:nvPr/>
        </p:nvGraphicFramePr>
        <p:xfrm>
          <a:off x="2895600" y="728346"/>
          <a:ext cx="4912360" cy="597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1663700" imgH="215900" progId="Equation.3">
                  <p:embed/>
                </p:oleObj>
              </mc:Choice>
              <mc:Fallback>
                <p:oleObj name="Equation" r:id="rId1" imgW="1663700" imgH="2159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95600" y="728346"/>
                        <a:ext cx="4912360" cy="5975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5" name="Object 4"/>
          <p:cNvGraphicFramePr>
            <a:graphicFrameLocks noChangeAspect="1"/>
          </p:cNvGraphicFramePr>
          <p:nvPr/>
        </p:nvGraphicFramePr>
        <p:xfrm>
          <a:off x="2883535" y="1499235"/>
          <a:ext cx="6424930" cy="629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2311400" imgH="228600" progId="Equation.3">
                  <p:embed/>
                </p:oleObj>
              </mc:Choice>
              <mc:Fallback>
                <p:oleObj name="Equation" r:id="rId3" imgW="2311400" imgH="2286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83535" y="1499235"/>
                        <a:ext cx="6424930" cy="6299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5"/>
          <p:cNvGraphicFramePr>
            <a:graphicFrameLocks noChangeAspect="1"/>
          </p:cNvGraphicFramePr>
          <p:nvPr/>
        </p:nvGraphicFramePr>
        <p:xfrm>
          <a:off x="2895601" y="2357755"/>
          <a:ext cx="6461125" cy="613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2387600" imgH="228600" progId="Equation.3">
                  <p:embed/>
                </p:oleObj>
              </mc:Choice>
              <mc:Fallback>
                <p:oleObj name="Equation" r:id="rId5" imgW="2387600" imgH="228600" progId="Equation.3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95601" y="2357755"/>
                        <a:ext cx="6461125" cy="6134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/>
        </p:nvSpPr>
        <p:spPr>
          <a:xfrm>
            <a:off x="4377055" y="5565140"/>
            <a:ext cx="750570" cy="4737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528310" y="6038850"/>
            <a:ext cx="750570" cy="4737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3289301" y="5067301"/>
            <a:ext cx="724535" cy="3943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706" name="Rectangle 2"/>
          <p:cNvSpPr>
            <a:spLocks noGrp="1" noChangeArrowheads="1"/>
          </p:cNvSpPr>
          <p:nvPr>
            <p:ph idx="1"/>
          </p:nvPr>
        </p:nvSpPr>
        <p:spPr>
          <a:xfrm>
            <a:off x="1978660" y="3467101"/>
            <a:ext cx="8018780" cy="1501775"/>
          </a:xfrm>
          <a:noFill/>
        </p:spPr>
        <p:txBody>
          <a:bodyPr>
            <a:noAutofit/>
          </a:bodyPr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tx1"/>
                </a:solidFill>
              </a:rPr>
              <a:t>试用主因子分析法求因子分析模型。假定用</a:t>
            </a:r>
            <a:endParaRPr lang="zh-CN" altLang="en-US" sz="280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tx1"/>
                </a:solidFill>
              </a:rPr>
              <a:t>　　　　　　　　代替初始的     。                                  </a:t>
            </a:r>
            <a:endParaRPr lang="zh-CN" altLang="en-US" sz="2800">
              <a:solidFill>
                <a:schemeClr val="tx1"/>
              </a:solidFill>
            </a:endParaRPr>
          </a:p>
        </p:txBody>
      </p:sp>
      <p:graphicFrame>
        <p:nvGraphicFramePr>
          <p:cNvPr id="29701" name="Object 6"/>
          <p:cNvGraphicFramePr>
            <a:graphicFrameLocks noChangeAspect="1"/>
          </p:cNvGraphicFramePr>
          <p:nvPr/>
        </p:nvGraphicFramePr>
        <p:xfrm>
          <a:off x="3829685" y="1602741"/>
          <a:ext cx="3282950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35356800" imgH="17068800" progId="Equation.3">
                  <p:embed/>
                </p:oleObj>
              </mc:Choice>
              <mc:Fallback>
                <p:oleObj name="Equation" r:id="rId1" imgW="35356800" imgH="17068800" progId="Equation.3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29685" y="1602741"/>
                        <a:ext cx="3282950" cy="1584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7"/>
          <p:cNvGraphicFramePr>
            <a:graphicFrameLocks noChangeAspect="1"/>
          </p:cNvGraphicFramePr>
          <p:nvPr/>
        </p:nvGraphicFramePr>
        <p:xfrm>
          <a:off x="2058035" y="4229100"/>
          <a:ext cx="26733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64008000" imgH="11887200" progId="Equation.3">
                  <p:embed/>
                </p:oleObj>
              </mc:Choice>
              <mc:Fallback>
                <p:oleObj name="Equation" r:id="rId3" imgW="64008000" imgH="11887200" progId="Equation.3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8035" y="4229100"/>
                        <a:ext cx="267335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8"/>
          <p:cNvGraphicFramePr>
            <a:graphicFrameLocks noChangeAspect="1"/>
          </p:cNvGraphicFramePr>
          <p:nvPr/>
        </p:nvGraphicFramePr>
        <p:xfrm>
          <a:off x="6795135" y="4254500"/>
          <a:ext cx="317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5" imgW="7620000" imgH="10668000" progId="Equation.3">
                  <p:embed/>
                </p:oleObj>
              </mc:Choice>
              <mc:Fallback>
                <p:oleObj name="Equation" r:id="rId5" imgW="7620000" imgH="10668000" progId="Equation.3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95135" y="4254500"/>
                        <a:ext cx="3175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9"/>
          <p:cNvGraphicFramePr>
            <a:graphicFrameLocks noChangeAspect="1"/>
          </p:cNvGraphicFramePr>
          <p:nvPr/>
        </p:nvGraphicFramePr>
        <p:xfrm>
          <a:off x="8903336" y="4456431"/>
          <a:ext cx="139065" cy="40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7" imgW="1371600" imgH="393700" progId="Equation.DSMT4">
                  <p:embed/>
                </p:oleObj>
              </mc:Choice>
              <mc:Fallback>
                <p:oleObj name="Equation" r:id="rId7" imgW="1371600" imgH="393700" progId="Equation.DSMT4">
                  <p:embed/>
                  <p:pic>
                    <p:nvPicPr>
                      <p:cNvPr id="0" name="Object 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903336" y="4456431"/>
                        <a:ext cx="139065" cy="400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Object 10"/>
          <p:cNvGraphicFramePr>
            <a:graphicFrameLocks noChangeAspect="1"/>
          </p:cNvGraphicFramePr>
          <p:nvPr/>
        </p:nvGraphicFramePr>
        <p:xfrm>
          <a:off x="2329816" y="4968875"/>
          <a:ext cx="7011035" cy="166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9" imgW="2997200" imgH="711200" progId="Equation.3">
                  <p:embed/>
                </p:oleObj>
              </mc:Choice>
              <mc:Fallback>
                <p:oleObj name="Equation" r:id="rId9" imgW="2997200" imgH="711200" progId="Equation.3">
                  <p:embed/>
                  <p:pic>
                    <p:nvPicPr>
                      <p:cNvPr id="0" name="Object 1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29816" y="4968875"/>
                        <a:ext cx="7011035" cy="1666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Rectangle 2"/>
          <p:cNvSpPr>
            <a:spLocks noGrp="1" noChangeArrowheads="1"/>
          </p:cNvSpPr>
          <p:nvPr/>
        </p:nvSpPr>
        <p:spPr>
          <a:xfrm>
            <a:off x="1577340" y="258446"/>
            <a:ext cx="8652510" cy="1344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      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</a:rPr>
              <a:t>8.3.2</a:t>
            </a:r>
            <a:r>
              <a:rPr lang="zh-CN" altLang="en-US" sz="2800" dirty="0">
                <a:solidFill>
                  <a:schemeClr val="tx1"/>
                </a:solidFill>
              </a:rPr>
              <a:t> 假定某地固定资产投资率   ，通货膨胀率    ，失业率     ，相关系数矩阵为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26626" name="Object 3"/>
          <p:cNvGraphicFramePr>
            <a:graphicFrameLocks noChangeAspect="1"/>
          </p:cNvGraphicFramePr>
          <p:nvPr/>
        </p:nvGraphicFramePr>
        <p:xfrm>
          <a:off x="7287795" y="321946"/>
          <a:ext cx="318770" cy="47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1" imgW="6400800" imgH="9448800" progId="Equation.3">
                  <p:embed/>
                </p:oleObj>
              </mc:Choice>
              <mc:Fallback>
                <p:oleObj name="Equation" r:id="rId11" imgW="6400800" imgH="94488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87795" y="321946"/>
                        <a:ext cx="318770" cy="4718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4"/>
          <p:cNvGraphicFramePr>
            <a:graphicFrameLocks noChangeAspect="1"/>
          </p:cNvGraphicFramePr>
          <p:nvPr/>
        </p:nvGraphicFramePr>
        <p:xfrm>
          <a:off x="9691906" y="321946"/>
          <a:ext cx="396875" cy="512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3" imgW="7315200" imgH="9448800" progId="Equation.3">
                  <p:embed/>
                </p:oleObj>
              </mc:Choice>
              <mc:Fallback>
                <p:oleObj name="Equation" r:id="rId13" imgW="7315200" imgH="94488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691906" y="321946"/>
                        <a:ext cx="396875" cy="5124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5"/>
          <p:cNvGraphicFramePr>
            <a:graphicFrameLocks noChangeAspect="1"/>
          </p:cNvGraphicFramePr>
          <p:nvPr/>
        </p:nvGraphicFramePr>
        <p:xfrm>
          <a:off x="3023870" y="896619"/>
          <a:ext cx="370840" cy="49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5" imgW="7010400" imgH="9448800" progId="Equation.3">
                  <p:embed/>
                </p:oleObj>
              </mc:Choice>
              <mc:Fallback>
                <p:oleObj name="Equation" r:id="rId15" imgW="7010400" imgH="9448800" progId="Equation.3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23870" y="896619"/>
                        <a:ext cx="370840" cy="4997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8" name="Rectangle 2"/>
          <p:cNvSpPr>
            <a:spLocks noChangeArrowheads="1"/>
          </p:cNvSpPr>
          <p:nvPr/>
        </p:nvSpPr>
        <p:spPr bwMode="auto">
          <a:xfrm>
            <a:off x="1524000" y="685800"/>
            <a:ext cx="9144000" cy="5410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SzPct val="85000"/>
            </a:pPr>
            <a:r>
              <a:rPr kumimoji="1" lang="en-US" altLang="zh-CN" sz="3200">
                <a:latin typeface="Times New Roman" panose="02020503050405090304" pitchFamily="18" charset="0"/>
              </a:rPr>
              <a:t>        </a:t>
            </a:r>
            <a:r>
              <a:rPr kumimoji="1" lang="zh-CN" altLang="en-US" sz="2800">
                <a:latin typeface="Times New Roman" panose="02020503050405090304" pitchFamily="18" charset="0"/>
              </a:rPr>
              <a:t>特征根为</a:t>
            </a:r>
            <a:r>
              <a:rPr kumimoji="1" lang="zh-CN" altLang="en-US" sz="3200">
                <a:latin typeface="Times New Roman" panose="02020503050405090304" pitchFamily="18" charset="0"/>
              </a:rPr>
              <a:t>：          </a:t>
            </a:r>
            <a:endParaRPr kumimoji="1" lang="zh-CN" altLang="en-US" sz="3200">
              <a:latin typeface="Times New Roman" panose="02020503050405090304" pitchFamily="18" charset="0"/>
            </a:endParaRPr>
          </a:p>
        </p:txBody>
      </p:sp>
      <p:graphicFrame>
        <p:nvGraphicFramePr>
          <p:cNvPr id="30722" name="Object 3"/>
          <p:cNvGraphicFramePr>
            <a:graphicFrameLocks noChangeAspect="1"/>
          </p:cNvGraphicFramePr>
          <p:nvPr/>
        </p:nvGraphicFramePr>
        <p:xfrm>
          <a:off x="3962400" y="838200"/>
          <a:ext cx="1524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36576000" imgH="9448800" progId="Equation.3">
                  <p:embed/>
                </p:oleObj>
              </mc:Choice>
              <mc:Fallback>
                <p:oleObj name="Equation" r:id="rId1" imgW="36576000" imgH="94488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62400" y="838200"/>
                        <a:ext cx="1524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4"/>
          <p:cNvGraphicFramePr>
            <a:graphicFrameLocks noChangeAspect="1"/>
          </p:cNvGraphicFramePr>
          <p:nvPr/>
        </p:nvGraphicFramePr>
        <p:xfrm>
          <a:off x="3962400" y="1371600"/>
          <a:ext cx="1574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37795200" imgH="9448800" progId="Equation.3">
                  <p:embed/>
                </p:oleObj>
              </mc:Choice>
              <mc:Fallback>
                <p:oleObj name="Equation" r:id="rId3" imgW="37795200" imgH="94488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62400" y="1371600"/>
                        <a:ext cx="1574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5"/>
          <p:cNvGraphicFramePr>
            <a:graphicFrameLocks noChangeAspect="1"/>
          </p:cNvGraphicFramePr>
          <p:nvPr/>
        </p:nvGraphicFramePr>
        <p:xfrm>
          <a:off x="3962400" y="1905000"/>
          <a:ext cx="812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9507200" imgH="9448800" progId="Equation.3">
                  <p:embed/>
                </p:oleObj>
              </mc:Choice>
              <mc:Fallback>
                <p:oleObj name="Equation" r:id="rId5" imgW="19507200" imgH="9448800" progId="Equation.3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2400" y="1905000"/>
                        <a:ext cx="812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9" name="Rectangle 6"/>
          <p:cNvSpPr>
            <a:spLocks noChangeArrowheads="1"/>
          </p:cNvSpPr>
          <p:nvPr/>
        </p:nvSpPr>
        <p:spPr bwMode="auto">
          <a:xfrm>
            <a:off x="1905000" y="2514600"/>
            <a:ext cx="7010400" cy="533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r>
              <a:rPr kumimoji="1" lang="en-US" altLang="zh-CN" sz="2400">
                <a:latin typeface="Times New Roman" panose="02020503050405090304" pitchFamily="18" charset="0"/>
              </a:rPr>
              <a:t> </a:t>
            </a:r>
            <a:r>
              <a:rPr kumimoji="1" lang="zh-CN" altLang="en-US" sz="2400">
                <a:latin typeface="Times New Roman" panose="02020503050405090304" pitchFamily="18" charset="0"/>
              </a:rPr>
              <a:t>对应的非零特征向量为：</a:t>
            </a:r>
            <a:endParaRPr kumimoji="1" lang="zh-CN" altLang="en-US" sz="2400">
              <a:latin typeface="Times New Roman" panose="02020503050405090304" pitchFamily="18" charset="0"/>
            </a:endParaRPr>
          </a:p>
        </p:txBody>
      </p:sp>
      <p:graphicFrame>
        <p:nvGraphicFramePr>
          <p:cNvPr id="30725" name="Object 7"/>
          <p:cNvGraphicFramePr>
            <a:graphicFrameLocks noChangeAspect="1"/>
          </p:cNvGraphicFramePr>
          <p:nvPr/>
        </p:nvGraphicFramePr>
        <p:xfrm>
          <a:off x="5334000" y="2209800"/>
          <a:ext cx="25654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61569600" imgH="33832800" progId="Equation.3">
                  <p:embed/>
                </p:oleObj>
              </mc:Choice>
              <mc:Fallback>
                <p:oleObj name="Equation" r:id="rId7" imgW="61569600" imgH="33832800" progId="Equation.3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34000" y="2209800"/>
                        <a:ext cx="2565400" cy="1409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8"/>
          <p:cNvGraphicFramePr>
            <a:graphicFrameLocks noChangeAspect="1"/>
          </p:cNvGraphicFramePr>
          <p:nvPr/>
        </p:nvGraphicFramePr>
        <p:xfrm>
          <a:off x="1905001" y="4114800"/>
          <a:ext cx="4716145" cy="1501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2540000" imgH="762000" progId="Equation.3">
                  <p:embed/>
                </p:oleObj>
              </mc:Choice>
              <mc:Fallback>
                <p:oleObj name="Equation" r:id="rId9" imgW="2540000" imgH="762000" progId="Equation.3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05001" y="4114800"/>
                        <a:ext cx="4716145" cy="15011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9"/>
          <p:cNvGraphicFramePr>
            <a:graphicFrameLocks noChangeAspect="1"/>
          </p:cNvGraphicFramePr>
          <p:nvPr/>
        </p:nvGraphicFramePr>
        <p:xfrm>
          <a:off x="6718300" y="4114800"/>
          <a:ext cx="28448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68275200" imgH="33832800" progId="Equation.3">
                  <p:embed/>
                </p:oleObj>
              </mc:Choice>
              <mc:Fallback>
                <p:oleObj name="Equation" r:id="rId11" imgW="68275200" imgH="33832800" progId="Equation.3">
                  <p:embed/>
                  <p:pic>
                    <p:nvPicPr>
                      <p:cNvPr id="0" name="Object 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18300" y="4114800"/>
                        <a:ext cx="2844800" cy="1409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3352800" y="533400"/>
          <a:ext cx="3505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" imgW="84124800" imgH="9448800" progId="Equation.3">
                  <p:embed/>
                </p:oleObj>
              </mc:Choice>
              <mc:Fallback>
                <p:oleObj name="Equation" r:id="rId1" imgW="84124800" imgH="9448800" progId="Equation.3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52800" y="533400"/>
                        <a:ext cx="3505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Object 3"/>
          <p:cNvGraphicFramePr>
            <a:graphicFrameLocks noChangeAspect="1"/>
          </p:cNvGraphicFramePr>
          <p:nvPr/>
        </p:nvGraphicFramePr>
        <p:xfrm>
          <a:off x="3314700" y="1219200"/>
          <a:ext cx="3581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85953600" imgH="9448800" progId="Equation.3">
                  <p:embed/>
                </p:oleObj>
              </mc:Choice>
              <mc:Fallback>
                <p:oleObj name="Equation" r:id="rId3" imgW="85953600" imgH="94488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14700" y="1219200"/>
                        <a:ext cx="3581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4"/>
          <p:cNvGraphicFramePr>
            <a:graphicFrameLocks noChangeAspect="1"/>
          </p:cNvGraphicFramePr>
          <p:nvPr/>
        </p:nvGraphicFramePr>
        <p:xfrm>
          <a:off x="3352800" y="1905000"/>
          <a:ext cx="3721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89306400" imgH="9448800" progId="Equation.3">
                  <p:embed/>
                </p:oleObj>
              </mc:Choice>
              <mc:Fallback>
                <p:oleObj name="Equation" r:id="rId5" imgW="89306400" imgH="94488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52800" y="1905000"/>
                        <a:ext cx="3721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5"/>
          <p:cNvGraphicFramePr>
            <a:graphicFrameLocks noChangeAspect="1"/>
          </p:cNvGraphicFramePr>
          <p:nvPr/>
        </p:nvGraphicFramePr>
        <p:xfrm>
          <a:off x="3276600" y="2743200"/>
          <a:ext cx="23622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50596800" imgH="8839200" progId="Equation.3">
                  <p:embed/>
                </p:oleObj>
              </mc:Choice>
              <mc:Fallback>
                <p:oleObj name="Equation" r:id="rId7" imgW="50596800" imgH="8839200" progId="Equation.3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76600" y="2743200"/>
                        <a:ext cx="2362200" cy="412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6"/>
          <p:cNvGraphicFramePr>
            <a:graphicFrameLocks noChangeAspect="1"/>
          </p:cNvGraphicFramePr>
          <p:nvPr/>
        </p:nvGraphicFramePr>
        <p:xfrm>
          <a:off x="3935414" y="3406775"/>
          <a:ext cx="388937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公式" r:id="rId9" imgW="46634400" imgH="5486400" progId="Equation.3">
                  <p:embed/>
                </p:oleObj>
              </mc:Choice>
              <mc:Fallback>
                <p:oleObj name="公式" r:id="rId9" imgW="46634400" imgH="5486400" progId="Equation.3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35414" y="3406775"/>
                        <a:ext cx="3889375" cy="4587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7"/>
          <p:cNvGraphicFramePr>
            <a:graphicFrameLocks noChangeAspect="1"/>
          </p:cNvGraphicFramePr>
          <p:nvPr/>
        </p:nvGraphicFramePr>
        <p:xfrm>
          <a:off x="3886200" y="4114800"/>
          <a:ext cx="3937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94488000" imgH="10668000" progId="Equation.3">
                  <p:embed/>
                </p:oleObj>
              </mc:Choice>
              <mc:Fallback>
                <p:oleObj name="Equation" r:id="rId11" imgW="94488000" imgH="10668000" progId="Equation.3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86200" y="4114800"/>
                        <a:ext cx="39370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Object 8"/>
          <p:cNvGraphicFramePr>
            <a:graphicFrameLocks noChangeAspect="1"/>
          </p:cNvGraphicFramePr>
          <p:nvPr/>
        </p:nvGraphicFramePr>
        <p:xfrm>
          <a:off x="3886200" y="4800600"/>
          <a:ext cx="3949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94792800" imgH="10668000" progId="Equation.3">
                  <p:embed/>
                </p:oleObj>
              </mc:Choice>
              <mc:Fallback>
                <p:oleObj name="Equation" r:id="rId13" imgW="94792800" imgH="10668000" progId="Equation.3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86200" y="4800600"/>
                        <a:ext cx="39497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3313545" y="5518150"/>
          <a:ext cx="45681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5" imgW="48463200" imgH="4876800" progId="Equation.DSMT4">
                  <p:embed/>
                </p:oleObj>
              </mc:Choice>
              <mc:Fallback>
                <p:oleObj name="Equation" r:id="rId15" imgW="48463200" imgH="48768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13545" y="5518150"/>
                        <a:ext cx="4568125" cy="461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7147034" cy="4351338"/>
          </a:xfrm>
        </p:spPr>
        <p:txBody>
          <a:bodyPr/>
          <a:lstStyle/>
          <a:p>
            <a:pPr algn="l"/>
            <a:r>
              <a:rPr lang="zh-CN" altLang="en-US" dirty="0">
                <a:latin typeface="宋体" pitchFamily="2" charset="-122"/>
              </a:rPr>
              <a:t>因子分析模型</a:t>
            </a:r>
            <a:endParaRPr lang="zh-CN" altLang="en-US" dirty="0">
              <a:latin typeface="宋体" pitchFamily="2" charset="-122"/>
            </a:endParaRPr>
          </a:p>
          <a:p>
            <a:pPr algn="l"/>
            <a:r>
              <a:rPr lang="zh-CN" altLang="en-US" dirty="0">
                <a:latin typeface="宋体" pitchFamily="2" charset="-122"/>
              </a:rPr>
              <a:t>因子载荷矩阵的估计方法</a:t>
            </a:r>
            <a:endParaRPr lang="zh-CN" altLang="en-US" dirty="0">
              <a:latin typeface="宋体" pitchFamily="2" charset="-122"/>
            </a:endParaRPr>
          </a:p>
          <a:p>
            <a:pPr algn="l"/>
            <a:r>
              <a:rPr lang="en-US" altLang="zh-CN" dirty="0">
                <a:latin typeface="宋体" pitchFamily="2" charset="-122"/>
              </a:rPr>
              <a:t>*</a:t>
            </a:r>
            <a:r>
              <a:rPr lang="zh-CN" altLang="en-US" dirty="0">
                <a:latin typeface="宋体" pitchFamily="2" charset="-122"/>
              </a:rPr>
              <a:t>因子旋转</a:t>
            </a:r>
            <a:endParaRPr lang="zh-CN" altLang="en-US" dirty="0">
              <a:latin typeface="宋体" pitchFamily="2" charset="-122"/>
            </a:endParaRPr>
          </a:p>
          <a:p>
            <a:pPr algn="l"/>
            <a:r>
              <a:rPr lang="en-US" altLang="zh-CN" dirty="0">
                <a:latin typeface="宋体" pitchFamily="2" charset="-122"/>
              </a:rPr>
              <a:t>*</a:t>
            </a:r>
            <a:r>
              <a:rPr lang="zh-CN" altLang="en-US" dirty="0">
                <a:latin typeface="宋体" pitchFamily="2" charset="-122"/>
              </a:rPr>
              <a:t>因子得分 </a:t>
            </a:r>
            <a:endParaRPr lang="zh-CN" altLang="en-US" dirty="0">
              <a:latin typeface="宋体" pitchFamily="2" charset="-122"/>
            </a:endParaRPr>
          </a:p>
          <a:p>
            <a:pPr algn="l"/>
            <a:r>
              <a:rPr lang="en-US" altLang="zh-CN" dirty="0">
                <a:latin typeface="宋体" pitchFamily="2" charset="-122"/>
              </a:rPr>
              <a:t>*</a:t>
            </a:r>
            <a:r>
              <a:rPr lang="zh-CN" altLang="en-US" dirty="0">
                <a:latin typeface="宋体" pitchFamily="2" charset="-122"/>
              </a:rPr>
              <a:t>因子分析的步骤、展望和建议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0000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0000"/>
</p:tagLst>
</file>

<file path=ppt/tags/tag3.xml><?xml version="1.0" encoding="utf-8"?>
<p:tagLst xmlns:p="http://schemas.openxmlformats.org/presentationml/2006/main">
  <p:tag name="KSO_WM_TEMPLATE_CATEGORY" val="custom"/>
  <p:tag name="KSO_WM_TEMPLATE_INDEX" val="20182222"/>
  <p:tag name="KSO_WM_TAG_VERSION" val="1.0"/>
  <p:tag name="KSO_WM_TEMPLATE_THUMBS_INDEX" val="1、9、12、16、22、25、30、31、"/>
  <p:tag name="KSO_WM_BEAUTIFY_FLAG" val="#wm#"/>
</p:tagLst>
</file>

<file path=ppt/tags/tag4.xml><?xml version="1.0" encoding="utf-8"?>
<p:tagLst xmlns:p="http://schemas.openxmlformats.org/presentationml/2006/main">
  <p:tag name="commondata" val="eyJoZGlkIjoiOGRhOGEwNmFjNTQ2MzkwN2Y0OTYxOTYzOWY2OTM4ZWMifQ=="/>
</p:tagLst>
</file>

<file path=ppt/theme/theme1.xml><?xml version="1.0" encoding="utf-8"?>
<a:theme xmlns:a="http://schemas.openxmlformats.org/drawingml/2006/main" name="自定义设计方案">
  <a:themeElements>
    <a:clrScheme name="自定义 1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5B9BD5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3995</Words>
  <Application>WPS 演示</Application>
  <PresentationFormat>宽屏</PresentationFormat>
  <Paragraphs>227</Paragraphs>
  <Slides>38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133</vt:i4>
      </vt:variant>
      <vt:variant>
        <vt:lpstr>幻灯片标题</vt:lpstr>
      </vt:variant>
      <vt:variant>
        <vt:i4>38</vt:i4>
      </vt:variant>
    </vt:vector>
  </HeadingPairs>
  <TitlesOfParts>
    <vt:vector size="195" baseType="lpstr">
      <vt:lpstr>Arial</vt:lpstr>
      <vt:lpstr>宋体</vt:lpstr>
      <vt:lpstr>Wingdings</vt:lpstr>
      <vt:lpstr>微软雅黑</vt:lpstr>
      <vt:lpstr>Segoe UI</vt:lpstr>
      <vt:lpstr>华文新魏</vt:lpstr>
      <vt:lpstr>宋体-简</vt:lpstr>
      <vt:lpstr>Times New Roman</vt:lpstr>
      <vt:lpstr>黑体</vt:lpstr>
      <vt:lpstr>汉仪中黑KW</vt:lpstr>
      <vt:lpstr>汉仪书宋二KW</vt:lpstr>
      <vt:lpstr>华文琥珀</vt:lpstr>
      <vt:lpstr>汉仪旗黑</vt:lpstr>
      <vt:lpstr>宋体</vt:lpstr>
      <vt:lpstr>Arial Unicode MS</vt:lpstr>
      <vt:lpstr>Calibri</vt:lpstr>
      <vt:lpstr>Helvetica Neue</vt:lpstr>
      <vt:lpstr>Cambria Math</vt:lpstr>
      <vt:lpstr>Kingsoft Math</vt:lpstr>
      <vt:lpstr>Symbol</vt:lpstr>
      <vt:lpstr>Kingsoft Sign</vt:lpstr>
      <vt:lpstr>黑体</vt:lpstr>
      <vt:lpstr>苹方-简</vt:lpstr>
      <vt:lpstr>自定义设计方案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第八章 因子分析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第二节  因子分析模型 </vt:lpstr>
      <vt:lpstr>PowerPoint 演示文稿</vt:lpstr>
      <vt:lpstr>PowerPoint 演示文稿</vt:lpstr>
      <vt:lpstr>用矩阵的表达方式</vt:lpstr>
      <vt:lpstr>二、Q型因子分析模型</vt:lpstr>
      <vt:lpstr>    三、因子分析模型的性质</vt:lpstr>
      <vt:lpstr>2、模型不受计量单位的影响</vt:lpstr>
      <vt:lpstr>3、因子载荷不是惟一的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注：残差矩阵</vt:lpstr>
      <vt:lpstr>    （二）主因子法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6HGBYM2</dc:creator>
  <cp:lastModifiedBy>233</cp:lastModifiedBy>
  <cp:revision>141</cp:revision>
  <dcterms:created xsi:type="dcterms:W3CDTF">2024-12-05T08:31:22Z</dcterms:created>
  <dcterms:modified xsi:type="dcterms:W3CDTF">2024-12-05T08:31:22Z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2052-6.10.1.8873</vt:lpwstr>
  </property>
  <property fmtid="{D5CDD505-2E9C-101B-9397-08002B2CF9AE}" pid="3" name="ICV">
    <vt:lpwstr>608B1DE3E038D83DB2DD3B67D487D020_42</vt:lpwstr>
  </property>
</Properties>
</file>