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366" r:id="rId3"/>
    <p:sldId id="368" r:id="rId4"/>
    <p:sldId id="370" r:id="rId5"/>
    <p:sldId id="371" r:id="rId6"/>
    <p:sldId id="372" r:id="rId7"/>
    <p:sldId id="510" r:id="rId8"/>
    <p:sldId id="511" r:id="rId9"/>
    <p:sldId id="513" r:id="rId10"/>
    <p:sldId id="51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430" r:id="rId20"/>
    <p:sldId id="431" r:id="rId21"/>
    <p:sldId id="432" r:id="rId22"/>
    <p:sldId id="433" r:id="rId23"/>
    <p:sldId id="434" r:id="rId24"/>
    <p:sldId id="381" r:id="rId25"/>
    <p:sldId id="382" r:id="rId26"/>
    <p:sldId id="383" r:id="rId27"/>
    <p:sldId id="385" r:id="rId28"/>
    <p:sldId id="386" r:id="rId29"/>
    <p:sldId id="387" r:id="rId30"/>
    <p:sldId id="442" r:id="rId31"/>
    <p:sldId id="443" r:id="rId32"/>
    <p:sldId id="444" r:id="rId33"/>
    <p:sldId id="445" r:id="rId34"/>
    <p:sldId id="446" r:id="rId35"/>
    <p:sldId id="447" r:id="rId37"/>
    <p:sldId id="448" r:id="rId38"/>
    <p:sldId id="449" r:id="rId39"/>
    <p:sldId id="451" r:id="rId40"/>
    <p:sldId id="459" r:id="rId41"/>
    <p:sldId id="460" r:id="rId42"/>
    <p:sldId id="411" r:id="rId43"/>
    <p:sldId id="412" r:id="rId44"/>
    <p:sldId id="413" r:id="rId45"/>
    <p:sldId id="414" r:id="rId46"/>
    <p:sldId id="415" r:id="rId47"/>
    <p:sldId id="416" r:id="rId48"/>
    <p:sldId id="418" r:id="rId49"/>
    <p:sldId id="419" r:id="rId50"/>
    <p:sldId id="420" r:id="rId51"/>
    <p:sldId id="421" r:id="rId52"/>
    <p:sldId id="499" r:id="rId53"/>
    <p:sldId id="422" r:id="rId54"/>
    <p:sldId id="423" r:id="rId55"/>
    <p:sldId id="424" r:id="rId56"/>
    <p:sldId id="425" r:id="rId57"/>
    <p:sldId id="426" r:id="rId58"/>
    <p:sldId id="514" r:id="rId5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0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7" Type="http://schemas.openxmlformats.org/officeDocument/2006/relationships/image" Target="../media/image30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5.vml.rels><?xml version="1.0" encoding="UTF-8" standalone="yes"?>
<Relationships xmlns="http://schemas.openxmlformats.org/package/2006/relationships"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png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png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7.wmf"/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8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9.wmf"/><Relationship Id="rId8" Type="http://schemas.openxmlformats.org/officeDocument/2006/relationships/image" Target="../media/image88.wmf"/><Relationship Id="rId7" Type="http://schemas.openxmlformats.org/officeDocument/2006/relationships/image" Target="../media/image87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8.vml.rels><?xml version="1.0" encoding="UTF-8" standalone="yes"?>
<Relationships xmlns="http://schemas.openxmlformats.org/package/2006/relationships"><Relationship Id="rId5" Type="http://schemas.openxmlformats.org/officeDocument/2006/relationships/image" Target="../media/image86.wmf"/><Relationship Id="rId4" Type="http://schemas.openxmlformats.org/officeDocument/2006/relationships/image" Target="../media/image85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90.wmf"/></Relationships>
</file>

<file path=ppt/drawings/_rels/vmlDrawing29.vml.rels><?xml version="1.0" encoding="UTF-8" standalone="yes"?>
<Relationships xmlns="http://schemas.openxmlformats.org/package/2006/relationships"><Relationship Id="rId7" Type="http://schemas.openxmlformats.org/officeDocument/2006/relationships/image" Target="../media/image94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73.wmf"/><Relationship Id="rId3" Type="http://schemas.openxmlformats.org/officeDocument/2006/relationships/image" Target="../media/image9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3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png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drawings/_rels/vmlDrawing3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35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6.wmf"/><Relationship Id="rId4" Type="http://schemas.openxmlformats.org/officeDocument/2006/relationships/image" Target="../media/image115.wmf"/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37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3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0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149507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endParaRPr lang="zh-CN" altLang="en-US" dirty="0"/>
          </a:p>
        </p:txBody>
      </p:sp>
      <p:sp>
        <p:nvSpPr>
          <p:cNvPr id="149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3025" y="8685213"/>
            <a:ext cx="297338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H="1">
            <a:off x="11286047" y="5948624"/>
            <a:ext cx="884255" cy="909376"/>
          </a:xfrm>
          <a:custGeom>
            <a:avLst/>
            <a:gdLst>
              <a:gd name="connsiteX0" fmla="*/ 346668 w 884255"/>
              <a:gd name="connsiteY0" fmla="*/ 0 h 909376"/>
              <a:gd name="connsiteX1" fmla="*/ 884255 w 884255"/>
              <a:gd name="connsiteY1" fmla="*/ 537587 h 909376"/>
              <a:gd name="connsiteX2" fmla="*/ 792444 w 884255"/>
              <a:gd name="connsiteY2" fmla="*/ 838157 h 909376"/>
              <a:gd name="connsiteX3" fmla="*/ 733683 w 884255"/>
              <a:gd name="connsiteY3" fmla="*/ 909376 h 909376"/>
              <a:gd name="connsiteX4" fmla="*/ 0 w 884255"/>
              <a:gd name="connsiteY4" fmla="*/ 909376 h 909376"/>
              <a:gd name="connsiteX5" fmla="*/ 0 w 884255"/>
              <a:gd name="connsiteY5" fmla="*/ 129846 h 909376"/>
              <a:gd name="connsiteX6" fmla="*/ 46098 w 884255"/>
              <a:gd name="connsiteY6" fmla="*/ 91812 h 909376"/>
              <a:gd name="connsiteX7" fmla="*/ 346668 w 884255"/>
              <a:gd name="connsiteY7" fmla="*/ 0 h 90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4255" h="909376">
                <a:moveTo>
                  <a:pt x="346668" y="0"/>
                </a:moveTo>
                <a:cubicBezTo>
                  <a:pt x="643569" y="0"/>
                  <a:pt x="884255" y="240686"/>
                  <a:pt x="884255" y="537587"/>
                </a:cubicBezTo>
                <a:cubicBezTo>
                  <a:pt x="884255" y="648925"/>
                  <a:pt x="850409" y="752358"/>
                  <a:pt x="792444" y="838157"/>
                </a:cubicBezTo>
                <a:lnTo>
                  <a:pt x="733683" y="909376"/>
                </a:lnTo>
                <a:lnTo>
                  <a:pt x="0" y="909376"/>
                </a:lnTo>
                <a:lnTo>
                  <a:pt x="0" y="129846"/>
                </a:lnTo>
                <a:lnTo>
                  <a:pt x="46098" y="91812"/>
                </a:lnTo>
                <a:cubicBezTo>
                  <a:pt x="131897" y="33847"/>
                  <a:pt x="235330" y="0"/>
                  <a:pt x="3466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65100" dist="38100" dir="2700000" algn="tl" rotWithShape="0">
              <a:srgbClr val="2B579A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 flipH="1">
            <a:off x="10200090" y="5551714"/>
            <a:ext cx="1306287" cy="1306286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 flipH="1">
            <a:off x="11286047" y="5084467"/>
            <a:ext cx="633047" cy="633047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 flipH="1">
            <a:off x="8941166" y="5948624"/>
            <a:ext cx="808156" cy="8081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 flipH="1">
            <a:off x="9172527" y="4877188"/>
            <a:ext cx="633047" cy="6330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 flipH="1">
            <a:off x="8887483" y="5502246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/>
        </p:nvSpPr>
        <p:spPr>
          <a:xfrm flipH="1">
            <a:off x="10716845" y="5326364"/>
            <a:ext cx="225351" cy="22535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 flipH="1">
            <a:off x="11682959" y="4262913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 flipH="1">
            <a:off x="9909794" y="4488264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 flipH="1">
            <a:off x="9899377" y="5392247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2336061"/>
            <a:ext cx="9144000" cy="1200329"/>
          </a:xfrm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28465"/>
            <a:ext cx="9144000" cy="53553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 flipH="1">
            <a:off x="1087573" y="1247412"/>
            <a:ext cx="665027" cy="633047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205154" y="256009"/>
            <a:ext cx="633047" cy="6330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215431" y="1328679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2097125" y="663705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725877" y="1804831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1237742" y="314697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725877" y="1041698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1131651" y="663704"/>
            <a:ext cx="808156" cy="8081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065127" y="1899138"/>
            <a:ext cx="2471896" cy="2471896"/>
          </a:xfrm>
          <a:prstGeom prst="ellipse">
            <a:avLst/>
          </a:prstGeom>
          <a:solidFill>
            <a:schemeClr val="accent1">
              <a:lumMod val="60000"/>
              <a:lumOff val="40000"/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椭圆 7"/>
          <p:cNvSpPr/>
          <p:nvPr/>
        </p:nvSpPr>
        <p:spPr>
          <a:xfrm>
            <a:off x="1406771" y="2240783"/>
            <a:ext cx="1788607" cy="178860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537023" y="3155182"/>
            <a:ext cx="6450480" cy="0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570805" y="5051810"/>
            <a:ext cx="221064" cy="221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椭圆 10"/>
          <p:cNvSpPr/>
          <p:nvPr/>
        </p:nvSpPr>
        <p:spPr>
          <a:xfrm>
            <a:off x="1577694" y="4557767"/>
            <a:ext cx="309823" cy="30982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椭圆 11"/>
          <p:cNvSpPr/>
          <p:nvPr/>
        </p:nvSpPr>
        <p:spPr>
          <a:xfrm>
            <a:off x="1848999" y="6108561"/>
            <a:ext cx="221064" cy="22106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椭圆 12"/>
          <p:cNvSpPr/>
          <p:nvPr/>
        </p:nvSpPr>
        <p:spPr>
          <a:xfrm>
            <a:off x="2791869" y="5716676"/>
            <a:ext cx="147376" cy="1473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椭圆 13"/>
          <p:cNvSpPr/>
          <p:nvPr/>
        </p:nvSpPr>
        <p:spPr>
          <a:xfrm>
            <a:off x="2359791" y="4068746"/>
            <a:ext cx="147376" cy="1473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611331" y="2149466"/>
            <a:ext cx="6223772" cy="97872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611331" y="3231383"/>
            <a:ext cx="6220880" cy="53553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15022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533823" y="1"/>
            <a:ext cx="9145467" cy="1154099"/>
            <a:chOff x="1533823" y="0"/>
            <a:chExt cx="9145467" cy="1154099"/>
          </a:xfrm>
        </p:grpSpPr>
        <p:sp>
          <p:nvSpPr>
            <p:cNvPr id="7" name="任意多边形: 形状 6"/>
            <p:cNvSpPr/>
            <p:nvPr/>
          </p:nvSpPr>
          <p:spPr>
            <a:xfrm flipV="1">
              <a:off x="3133630" y="0"/>
              <a:ext cx="1328050" cy="1049462"/>
            </a:xfrm>
            <a:custGeom>
              <a:avLst/>
              <a:gdLst>
                <a:gd name="connsiteX0" fmla="*/ 125100 w 1328050"/>
                <a:gd name="connsiteY0" fmla="*/ 1049462 h 1049462"/>
                <a:gd name="connsiteX1" fmla="*/ 1202951 w 1328050"/>
                <a:gd name="connsiteY1" fmla="*/ 1049462 h 1049462"/>
                <a:gd name="connsiteX2" fmla="*/ 1214645 w 1328050"/>
                <a:gd name="connsiteY2" fmla="*/ 1035288 h 1049462"/>
                <a:gd name="connsiteX3" fmla="*/ 1328050 w 1328050"/>
                <a:gd name="connsiteY3" fmla="*/ 664025 h 1049462"/>
                <a:gd name="connsiteX4" fmla="*/ 664025 w 1328050"/>
                <a:gd name="connsiteY4" fmla="*/ 0 h 1049462"/>
                <a:gd name="connsiteX5" fmla="*/ 0 w 1328050"/>
                <a:gd name="connsiteY5" fmla="*/ 664025 h 1049462"/>
                <a:gd name="connsiteX6" fmla="*/ 113405 w 1328050"/>
                <a:gd name="connsiteY6" fmla="*/ 1035288 h 10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050" h="1049462">
                  <a:moveTo>
                    <a:pt x="125100" y="1049462"/>
                  </a:moveTo>
                  <a:lnTo>
                    <a:pt x="1202951" y="1049462"/>
                  </a:lnTo>
                  <a:lnTo>
                    <a:pt x="1214645" y="1035288"/>
                  </a:lnTo>
                  <a:cubicBezTo>
                    <a:pt x="1286243" y="929309"/>
                    <a:pt x="1328050" y="801549"/>
                    <a:pt x="1328050" y="664025"/>
                  </a:cubicBezTo>
                  <a:cubicBezTo>
                    <a:pt x="1328050" y="297294"/>
                    <a:pt x="1030756" y="0"/>
                    <a:pt x="664025" y="0"/>
                  </a:cubicBezTo>
                  <a:cubicBezTo>
                    <a:pt x="297294" y="0"/>
                    <a:pt x="0" y="297294"/>
                    <a:pt x="0" y="664025"/>
                  </a:cubicBezTo>
                  <a:cubicBezTo>
                    <a:pt x="0" y="801549"/>
                    <a:pt x="41807" y="929309"/>
                    <a:pt x="113405" y="10352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8" name="任意多边形: 形状 7"/>
            <p:cNvSpPr/>
            <p:nvPr/>
          </p:nvSpPr>
          <p:spPr>
            <a:xfrm flipV="1">
              <a:off x="4771823" y="0"/>
              <a:ext cx="777822" cy="459209"/>
            </a:xfrm>
            <a:custGeom>
              <a:avLst/>
              <a:gdLst>
                <a:gd name="connsiteX0" fmla="*/ 14193 w 777822"/>
                <a:gd name="connsiteY0" fmla="*/ 459209 h 459209"/>
                <a:gd name="connsiteX1" fmla="*/ 763630 w 777822"/>
                <a:gd name="connsiteY1" fmla="*/ 459209 h 459209"/>
                <a:gd name="connsiteX2" fmla="*/ 777822 w 777822"/>
                <a:gd name="connsiteY2" fmla="*/ 388911 h 459209"/>
                <a:gd name="connsiteX3" fmla="*/ 388911 w 777822"/>
                <a:gd name="connsiteY3" fmla="*/ 0 h 459209"/>
                <a:gd name="connsiteX4" fmla="*/ 0 w 777822"/>
                <a:gd name="connsiteY4" fmla="*/ 388911 h 4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22" h="459209">
                  <a:moveTo>
                    <a:pt x="14193" y="459209"/>
                  </a:moveTo>
                  <a:lnTo>
                    <a:pt x="763630" y="459209"/>
                  </a:lnTo>
                  <a:lnTo>
                    <a:pt x="777822" y="388911"/>
                  </a:lnTo>
                  <a:cubicBezTo>
                    <a:pt x="777822" y="174121"/>
                    <a:pt x="603701" y="0"/>
                    <a:pt x="388911" y="0"/>
                  </a:cubicBezTo>
                  <a:cubicBezTo>
                    <a:pt x="174121" y="0"/>
                    <a:pt x="0" y="174121"/>
                    <a:pt x="0" y="3889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/>
            <p:nvPr/>
          </p:nvSpPr>
          <p:spPr>
            <a:xfrm flipV="1">
              <a:off x="5834776" y="271636"/>
              <a:ext cx="777826" cy="7778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任意多边形: 形状 9"/>
            <p:cNvSpPr/>
            <p:nvPr/>
          </p:nvSpPr>
          <p:spPr>
            <a:xfrm flipV="1">
              <a:off x="7112798" y="0"/>
              <a:ext cx="887872" cy="629286"/>
            </a:xfrm>
            <a:custGeom>
              <a:avLst/>
              <a:gdLst>
                <a:gd name="connsiteX0" fmla="*/ 41699 w 887872"/>
                <a:gd name="connsiteY0" fmla="*/ 629286 h 629286"/>
                <a:gd name="connsiteX1" fmla="*/ 846174 w 887872"/>
                <a:gd name="connsiteY1" fmla="*/ 629286 h 629286"/>
                <a:gd name="connsiteX2" fmla="*/ 852986 w 887872"/>
                <a:gd name="connsiteY2" fmla="*/ 616736 h 629286"/>
                <a:gd name="connsiteX3" fmla="*/ 887872 w 887872"/>
                <a:gd name="connsiteY3" fmla="*/ 443936 h 629286"/>
                <a:gd name="connsiteX4" fmla="*/ 443936 w 887872"/>
                <a:gd name="connsiteY4" fmla="*/ 0 h 629286"/>
                <a:gd name="connsiteX5" fmla="*/ 0 w 887872"/>
                <a:gd name="connsiteY5" fmla="*/ 443936 h 629286"/>
                <a:gd name="connsiteX6" fmla="*/ 34887 w 887872"/>
                <a:gd name="connsiteY6" fmla="*/ 616736 h 62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7872" h="629286">
                  <a:moveTo>
                    <a:pt x="41699" y="629286"/>
                  </a:moveTo>
                  <a:lnTo>
                    <a:pt x="846174" y="629286"/>
                  </a:lnTo>
                  <a:lnTo>
                    <a:pt x="852986" y="616736"/>
                  </a:lnTo>
                  <a:cubicBezTo>
                    <a:pt x="875450" y="563624"/>
                    <a:pt x="887872" y="505231"/>
                    <a:pt x="887872" y="443936"/>
                  </a:cubicBezTo>
                  <a:cubicBezTo>
                    <a:pt x="887872" y="198757"/>
                    <a:pt x="689115" y="0"/>
                    <a:pt x="443936" y="0"/>
                  </a:cubicBezTo>
                  <a:cubicBezTo>
                    <a:pt x="198757" y="0"/>
                    <a:pt x="0" y="198757"/>
                    <a:pt x="0" y="443936"/>
                  </a:cubicBezTo>
                  <a:cubicBezTo>
                    <a:pt x="0" y="505231"/>
                    <a:pt x="12423" y="563624"/>
                    <a:pt x="34887" y="61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1" name="任意多边形: 形状 10"/>
            <p:cNvSpPr/>
            <p:nvPr/>
          </p:nvSpPr>
          <p:spPr>
            <a:xfrm flipV="1">
              <a:off x="8333916" y="1"/>
              <a:ext cx="1450608" cy="1143677"/>
            </a:xfrm>
            <a:custGeom>
              <a:avLst/>
              <a:gdLst>
                <a:gd name="connsiteX0" fmla="*/ 134472 w 1450608"/>
                <a:gd name="connsiteY0" fmla="*/ 1143677 h 1143677"/>
                <a:gd name="connsiteX1" fmla="*/ 1316136 w 1450608"/>
                <a:gd name="connsiteY1" fmla="*/ 1143677 h 1143677"/>
                <a:gd name="connsiteX2" fmla="*/ 1326737 w 1450608"/>
                <a:gd name="connsiteY2" fmla="*/ 1130828 h 1143677"/>
                <a:gd name="connsiteX3" fmla="*/ 1450608 w 1450608"/>
                <a:gd name="connsiteY3" fmla="*/ 725304 h 1143677"/>
                <a:gd name="connsiteX4" fmla="*/ 725304 w 1450608"/>
                <a:gd name="connsiteY4" fmla="*/ 0 h 1143677"/>
                <a:gd name="connsiteX5" fmla="*/ 0 w 1450608"/>
                <a:gd name="connsiteY5" fmla="*/ 725304 h 1143677"/>
                <a:gd name="connsiteX6" fmla="*/ 123871 w 1450608"/>
                <a:gd name="connsiteY6" fmla="*/ 1130828 h 11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0608" h="1143677">
                  <a:moveTo>
                    <a:pt x="134472" y="1143677"/>
                  </a:moveTo>
                  <a:lnTo>
                    <a:pt x="1316136" y="1143677"/>
                  </a:lnTo>
                  <a:lnTo>
                    <a:pt x="1326737" y="1130828"/>
                  </a:lnTo>
                  <a:cubicBezTo>
                    <a:pt x="1404943" y="1015069"/>
                    <a:pt x="1450608" y="875519"/>
                    <a:pt x="1450608" y="725304"/>
                  </a:cubicBezTo>
                  <a:cubicBezTo>
                    <a:pt x="1450608" y="324730"/>
                    <a:pt x="1125878" y="0"/>
                    <a:pt x="725304" y="0"/>
                  </a:cubicBezTo>
                  <a:cubicBezTo>
                    <a:pt x="324730" y="0"/>
                    <a:pt x="0" y="324730"/>
                    <a:pt x="0" y="725304"/>
                  </a:cubicBezTo>
                  <a:cubicBezTo>
                    <a:pt x="0" y="875519"/>
                    <a:pt x="45665" y="1015069"/>
                    <a:pt x="123871" y="11308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2" name="椭圆 11"/>
            <p:cNvSpPr/>
            <p:nvPr/>
          </p:nvSpPr>
          <p:spPr>
            <a:xfrm flipV="1">
              <a:off x="2286980" y="511738"/>
              <a:ext cx="561520" cy="5615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任意多边形: 形状 12"/>
            <p:cNvSpPr/>
            <p:nvPr/>
          </p:nvSpPr>
          <p:spPr>
            <a:xfrm flipV="1">
              <a:off x="1533823" y="0"/>
              <a:ext cx="786976" cy="418373"/>
            </a:xfrm>
            <a:custGeom>
              <a:avLst/>
              <a:gdLst>
                <a:gd name="connsiteX0" fmla="*/ 2509 w 786976"/>
                <a:gd name="connsiteY0" fmla="*/ 418373 h 418373"/>
                <a:gd name="connsiteX1" fmla="*/ 784468 w 786976"/>
                <a:gd name="connsiteY1" fmla="*/ 418373 h 418373"/>
                <a:gd name="connsiteX2" fmla="*/ 786976 w 786976"/>
                <a:gd name="connsiteY2" fmla="*/ 393488 h 418373"/>
                <a:gd name="connsiteX3" fmla="*/ 393488 w 786976"/>
                <a:gd name="connsiteY3" fmla="*/ 0 h 418373"/>
                <a:gd name="connsiteX4" fmla="*/ 0 w 786976"/>
                <a:gd name="connsiteY4" fmla="*/ 393488 h 41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76" h="418373">
                  <a:moveTo>
                    <a:pt x="2509" y="418373"/>
                  </a:moveTo>
                  <a:lnTo>
                    <a:pt x="784468" y="418373"/>
                  </a:lnTo>
                  <a:lnTo>
                    <a:pt x="786976" y="393488"/>
                  </a:lnTo>
                  <a:cubicBezTo>
                    <a:pt x="786976" y="176171"/>
                    <a:pt x="610805" y="0"/>
                    <a:pt x="393488" y="0"/>
                  </a:cubicBezTo>
                  <a:cubicBezTo>
                    <a:pt x="176171" y="0"/>
                    <a:pt x="0" y="176171"/>
                    <a:pt x="0" y="3934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4" name="椭圆 13"/>
            <p:cNvSpPr/>
            <p:nvPr/>
          </p:nvSpPr>
          <p:spPr>
            <a:xfrm flipV="1">
              <a:off x="10117770" y="483400"/>
              <a:ext cx="561520" cy="5615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椭圆 14"/>
            <p:cNvSpPr/>
            <p:nvPr/>
          </p:nvSpPr>
          <p:spPr>
            <a:xfrm flipV="1">
              <a:off x="6819661" y="779752"/>
              <a:ext cx="374347" cy="37434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6" name="组合 15"/>
          <p:cNvGrpSpPr/>
          <p:nvPr/>
        </p:nvGrpSpPr>
        <p:grpSpPr>
          <a:xfrm flipV="1">
            <a:off x="1533823" y="5695274"/>
            <a:ext cx="9145467" cy="1154099"/>
            <a:chOff x="1533823" y="0"/>
            <a:chExt cx="9145467" cy="1154099"/>
          </a:xfrm>
        </p:grpSpPr>
        <p:sp>
          <p:nvSpPr>
            <p:cNvPr id="17" name="任意多边形: 形状 16"/>
            <p:cNvSpPr/>
            <p:nvPr/>
          </p:nvSpPr>
          <p:spPr>
            <a:xfrm flipV="1">
              <a:off x="3133630" y="0"/>
              <a:ext cx="1328050" cy="1049462"/>
            </a:xfrm>
            <a:custGeom>
              <a:avLst/>
              <a:gdLst>
                <a:gd name="connsiteX0" fmla="*/ 125100 w 1328050"/>
                <a:gd name="connsiteY0" fmla="*/ 1049462 h 1049462"/>
                <a:gd name="connsiteX1" fmla="*/ 1202951 w 1328050"/>
                <a:gd name="connsiteY1" fmla="*/ 1049462 h 1049462"/>
                <a:gd name="connsiteX2" fmla="*/ 1214645 w 1328050"/>
                <a:gd name="connsiteY2" fmla="*/ 1035288 h 1049462"/>
                <a:gd name="connsiteX3" fmla="*/ 1328050 w 1328050"/>
                <a:gd name="connsiteY3" fmla="*/ 664025 h 1049462"/>
                <a:gd name="connsiteX4" fmla="*/ 664025 w 1328050"/>
                <a:gd name="connsiteY4" fmla="*/ 0 h 1049462"/>
                <a:gd name="connsiteX5" fmla="*/ 0 w 1328050"/>
                <a:gd name="connsiteY5" fmla="*/ 664025 h 1049462"/>
                <a:gd name="connsiteX6" fmla="*/ 113405 w 1328050"/>
                <a:gd name="connsiteY6" fmla="*/ 1035288 h 10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050" h="1049462">
                  <a:moveTo>
                    <a:pt x="125100" y="1049462"/>
                  </a:moveTo>
                  <a:lnTo>
                    <a:pt x="1202951" y="1049462"/>
                  </a:lnTo>
                  <a:lnTo>
                    <a:pt x="1214645" y="1035288"/>
                  </a:lnTo>
                  <a:cubicBezTo>
                    <a:pt x="1286243" y="929309"/>
                    <a:pt x="1328050" y="801549"/>
                    <a:pt x="1328050" y="664025"/>
                  </a:cubicBezTo>
                  <a:cubicBezTo>
                    <a:pt x="1328050" y="297294"/>
                    <a:pt x="1030756" y="0"/>
                    <a:pt x="664025" y="0"/>
                  </a:cubicBezTo>
                  <a:cubicBezTo>
                    <a:pt x="297294" y="0"/>
                    <a:pt x="0" y="297294"/>
                    <a:pt x="0" y="664025"/>
                  </a:cubicBezTo>
                  <a:cubicBezTo>
                    <a:pt x="0" y="801549"/>
                    <a:pt x="41807" y="929309"/>
                    <a:pt x="113405" y="10352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8" name="任意多边形: 形状 17"/>
            <p:cNvSpPr/>
            <p:nvPr/>
          </p:nvSpPr>
          <p:spPr>
            <a:xfrm flipV="1">
              <a:off x="4771823" y="0"/>
              <a:ext cx="777822" cy="459209"/>
            </a:xfrm>
            <a:custGeom>
              <a:avLst/>
              <a:gdLst>
                <a:gd name="connsiteX0" fmla="*/ 14193 w 777822"/>
                <a:gd name="connsiteY0" fmla="*/ 459209 h 459209"/>
                <a:gd name="connsiteX1" fmla="*/ 763630 w 777822"/>
                <a:gd name="connsiteY1" fmla="*/ 459209 h 459209"/>
                <a:gd name="connsiteX2" fmla="*/ 777822 w 777822"/>
                <a:gd name="connsiteY2" fmla="*/ 388911 h 459209"/>
                <a:gd name="connsiteX3" fmla="*/ 388911 w 777822"/>
                <a:gd name="connsiteY3" fmla="*/ 0 h 459209"/>
                <a:gd name="connsiteX4" fmla="*/ 0 w 777822"/>
                <a:gd name="connsiteY4" fmla="*/ 388911 h 4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22" h="459209">
                  <a:moveTo>
                    <a:pt x="14193" y="459209"/>
                  </a:moveTo>
                  <a:lnTo>
                    <a:pt x="763630" y="459209"/>
                  </a:lnTo>
                  <a:lnTo>
                    <a:pt x="777822" y="388911"/>
                  </a:lnTo>
                  <a:cubicBezTo>
                    <a:pt x="777822" y="174121"/>
                    <a:pt x="603701" y="0"/>
                    <a:pt x="388911" y="0"/>
                  </a:cubicBezTo>
                  <a:cubicBezTo>
                    <a:pt x="174121" y="0"/>
                    <a:pt x="0" y="174121"/>
                    <a:pt x="0" y="3889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9" name="椭圆 18"/>
            <p:cNvSpPr/>
            <p:nvPr/>
          </p:nvSpPr>
          <p:spPr>
            <a:xfrm flipV="1">
              <a:off x="5834776" y="271636"/>
              <a:ext cx="777826" cy="7778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/>
            <p:nvPr/>
          </p:nvSpPr>
          <p:spPr>
            <a:xfrm flipV="1">
              <a:off x="7112798" y="0"/>
              <a:ext cx="887872" cy="629286"/>
            </a:xfrm>
            <a:custGeom>
              <a:avLst/>
              <a:gdLst>
                <a:gd name="connsiteX0" fmla="*/ 41699 w 887872"/>
                <a:gd name="connsiteY0" fmla="*/ 629286 h 629286"/>
                <a:gd name="connsiteX1" fmla="*/ 846174 w 887872"/>
                <a:gd name="connsiteY1" fmla="*/ 629286 h 629286"/>
                <a:gd name="connsiteX2" fmla="*/ 852986 w 887872"/>
                <a:gd name="connsiteY2" fmla="*/ 616736 h 629286"/>
                <a:gd name="connsiteX3" fmla="*/ 887872 w 887872"/>
                <a:gd name="connsiteY3" fmla="*/ 443936 h 629286"/>
                <a:gd name="connsiteX4" fmla="*/ 443936 w 887872"/>
                <a:gd name="connsiteY4" fmla="*/ 0 h 629286"/>
                <a:gd name="connsiteX5" fmla="*/ 0 w 887872"/>
                <a:gd name="connsiteY5" fmla="*/ 443936 h 629286"/>
                <a:gd name="connsiteX6" fmla="*/ 34887 w 887872"/>
                <a:gd name="connsiteY6" fmla="*/ 616736 h 62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7872" h="629286">
                  <a:moveTo>
                    <a:pt x="41699" y="629286"/>
                  </a:moveTo>
                  <a:lnTo>
                    <a:pt x="846174" y="629286"/>
                  </a:lnTo>
                  <a:lnTo>
                    <a:pt x="852986" y="616736"/>
                  </a:lnTo>
                  <a:cubicBezTo>
                    <a:pt x="875450" y="563624"/>
                    <a:pt x="887872" y="505231"/>
                    <a:pt x="887872" y="443936"/>
                  </a:cubicBezTo>
                  <a:cubicBezTo>
                    <a:pt x="887872" y="198757"/>
                    <a:pt x="689115" y="0"/>
                    <a:pt x="443936" y="0"/>
                  </a:cubicBezTo>
                  <a:cubicBezTo>
                    <a:pt x="198757" y="0"/>
                    <a:pt x="0" y="198757"/>
                    <a:pt x="0" y="443936"/>
                  </a:cubicBezTo>
                  <a:cubicBezTo>
                    <a:pt x="0" y="505231"/>
                    <a:pt x="12423" y="563624"/>
                    <a:pt x="34887" y="61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1" name="任意多边形: 形状 20"/>
            <p:cNvSpPr/>
            <p:nvPr/>
          </p:nvSpPr>
          <p:spPr>
            <a:xfrm flipV="1">
              <a:off x="8333916" y="1"/>
              <a:ext cx="1450608" cy="1143677"/>
            </a:xfrm>
            <a:custGeom>
              <a:avLst/>
              <a:gdLst>
                <a:gd name="connsiteX0" fmla="*/ 134472 w 1450608"/>
                <a:gd name="connsiteY0" fmla="*/ 1143677 h 1143677"/>
                <a:gd name="connsiteX1" fmla="*/ 1316136 w 1450608"/>
                <a:gd name="connsiteY1" fmla="*/ 1143677 h 1143677"/>
                <a:gd name="connsiteX2" fmla="*/ 1326737 w 1450608"/>
                <a:gd name="connsiteY2" fmla="*/ 1130828 h 1143677"/>
                <a:gd name="connsiteX3" fmla="*/ 1450608 w 1450608"/>
                <a:gd name="connsiteY3" fmla="*/ 725304 h 1143677"/>
                <a:gd name="connsiteX4" fmla="*/ 725304 w 1450608"/>
                <a:gd name="connsiteY4" fmla="*/ 0 h 1143677"/>
                <a:gd name="connsiteX5" fmla="*/ 0 w 1450608"/>
                <a:gd name="connsiteY5" fmla="*/ 725304 h 1143677"/>
                <a:gd name="connsiteX6" fmla="*/ 123871 w 1450608"/>
                <a:gd name="connsiteY6" fmla="*/ 1130828 h 11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0608" h="1143677">
                  <a:moveTo>
                    <a:pt x="134472" y="1143677"/>
                  </a:moveTo>
                  <a:lnTo>
                    <a:pt x="1316136" y="1143677"/>
                  </a:lnTo>
                  <a:lnTo>
                    <a:pt x="1326737" y="1130828"/>
                  </a:lnTo>
                  <a:cubicBezTo>
                    <a:pt x="1404943" y="1015069"/>
                    <a:pt x="1450608" y="875519"/>
                    <a:pt x="1450608" y="725304"/>
                  </a:cubicBezTo>
                  <a:cubicBezTo>
                    <a:pt x="1450608" y="324730"/>
                    <a:pt x="1125878" y="0"/>
                    <a:pt x="725304" y="0"/>
                  </a:cubicBezTo>
                  <a:cubicBezTo>
                    <a:pt x="324730" y="0"/>
                    <a:pt x="0" y="324730"/>
                    <a:pt x="0" y="725304"/>
                  </a:cubicBezTo>
                  <a:cubicBezTo>
                    <a:pt x="0" y="875519"/>
                    <a:pt x="45665" y="1015069"/>
                    <a:pt x="123871" y="11308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2" name="椭圆 21"/>
            <p:cNvSpPr/>
            <p:nvPr/>
          </p:nvSpPr>
          <p:spPr>
            <a:xfrm flipV="1">
              <a:off x="2286980" y="511738"/>
              <a:ext cx="561520" cy="5615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任意多边形: 形状 22"/>
            <p:cNvSpPr/>
            <p:nvPr/>
          </p:nvSpPr>
          <p:spPr>
            <a:xfrm flipV="1">
              <a:off x="1533823" y="0"/>
              <a:ext cx="786976" cy="418373"/>
            </a:xfrm>
            <a:custGeom>
              <a:avLst/>
              <a:gdLst>
                <a:gd name="connsiteX0" fmla="*/ 2509 w 786976"/>
                <a:gd name="connsiteY0" fmla="*/ 418373 h 418373"/>
                <a:gd name="connsiteX1" fmla="*/ 784468 w 786976"/>
                <a:gd name="connsiteY1" fmla="*/ 418373 h 418373"/>
                <a:gd name="connsiteX2" fmla="*/ 786976 w 786976"/>
                <a:gd name="connsiteY2" fmla="*/ 393488 h 418373"/>
                <a:gd name="connsiteX3" fmla="*/ 393488 w 786976"/>
                <a:gd name="connsiteY3" fmla="*/ 0 h 418373"/>
                <a:gd name="connsiteX4" fmla="*/ 0 w 786976"/>
                <a:gd name="connsiteY4" fmla="*/ 393488 h 41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76" h="418373">
                  <a:moveTo>
                    <a:pt x="2509" y="418373"/>
                  </a:moveTo>
                  <a:lnTo>
                    <a:pt x="784468" y="418373"/>
                  </a:lnTo>
                  <a:lnTo>
                    <a:pt x="786976" y="393488"/>
                  </a:lnTo>
                  <a:cubicBezTo>
                    <a:pt x="786976" y="176171"/>
                    <a:pt x="610805" y="0"/>
                    <a:pt x="393488" y="0"/>
                  </a:cubicBezTo>
                  <a:cubicBezTo>
                    <a:pt x="176171" y="0"/>
                    <a:pt x="0" y="176171"/>
                    <a:pt x="0" y="3934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4" name="椭圆 23"/>
            <p:cNvSpPr/>
            <p:nvPr/>
          </p:nvSpPr>
          <p:spPr>
            <a:xfrm flipV="1">
              <a:off x="10117770" y="483400"/>
              <a:ext cx="561520" cy="5615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椭圆 24"/>
            <p:cNvSpPr/>
            <p:nvPr/>
          </p:nvSpPr>
          <p:spPr>
            <a:xfrm flipV="1">
              <a:off x="6819661" y="779752"/>
              <a:ext cx="374347" cy="37434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65889" y="2302403"/>
            <a:ext cx="10515600" cy="1569660"/>
          </a:xfrm>
        </p:spPr>
        <p:txBody>
          <a:bodyPr>
            <a:normAutofit/>
          </a:bodyPr>
          <a:lstStyle>
            <a:lvl1pPr algn="ctr">
              <a:defRPr sz="80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396603" y="365125"/>
            <a:ext cx="957197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9445668" cy="581183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BDB75-57F0-4322-AEF7-4E24CFD259A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4209A-EED9-4C42-AB2A-BDDD5ACB863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3.xml"/><Relationship Id="rId16" Type="http://schemas.openxmlformats.org/officeDocument/2006/relationships/tags" Target="../tags/tag2.xml"/><Relationship Id="rId15" Type="http://schemas.openxmlformats.org/officeDocument/2006/relationships/tags" Target="../tags/tag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rot="10800000">
            <a:off x="46587" y="5707287"/>
            <a:ext cx="1430939" cy="1085390"/>
            <a:chOff x="46587" y="5707287"/>
            <a:chExt cx="1430938" cy="1085390"/>
          </a:xfrm>
        </p:grpSpPr>
        <p:sp>
          <p:nvSpPr>
            <p:cNvPr id="8" name="椭圆 7"/>
            <p:cNvSpPr/>
            <p:nvPr/>
          </p:nvSpPr>
          <p:spPr>
            <a:xfrm>
              <a:off x="649487" y="6446845"/>
              <a:ext cx="345832" cy="3458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/>
            <p:nvPr/>
          </p:nvSpPr>
          <p:spPr>
            <a:xfrm>
              <a:off x="966734" y="5707287"/>
              <a:ext cx="510791" cy="510791"/>
            </a:xfrm>
            <a:prstGeom prst="ellipse">
              <a:avLst/>
            </a:prstGeom>
            <a:solidFill>
              <a:schemeClr val="accent1">
                <a:lumMod val="75000"/>
                <a:alpha val="6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5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椭圆 9"/>
            <p:cNvSpPr/>
            <p:nvPr/>
          </p:nvSpPr>
          <p:spPr>
            <a:xfrm>
              <a:off x="46587" y="6234989"/>
              <a:ext cx="221063" cy="22106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7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61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8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5.w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7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9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21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4.wmf"/><Relationship Id="rId18" Type="http://schemas.openxmlformats.org/officeDocument/2006/relationships/vmlDrawing" Target="../drawings/vmlDrawing9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30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9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8.wmf"/><Relationship Id="rId1" Type="http://schemas.openxmlformats.org/officeDocument/2006/relationships/oleObject" Target="../embeddings/oleObject22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32.wmf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7.wmf"/><Relationship Id="rId11" Type="http://schemas.openxmlformats.org/officeDocument/2006/relationships/oleObject" Target="../embeddings/oleObject35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30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9.png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8.png"/><Relationship Id="rId1" Type="http://schemas.openxmlformats.org/officeDocument/2006/relationships/oleObject" Target="../embeddings/oleObject36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1" Type="http://schemas.openxmlformats.org/officeDocument/2006/relationships/oleObject" Target="../embeddings/oleObject38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3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2.wmf"/><Relationship Id="rId1" Type="http://schemas.openxmlformats.org/officeDocument/2006/relationships/oleObject" Target="../embeddings/oleObject3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41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7.wmf"/><Relationship Id="rId14" Type="http://schemas.openxmlformats.org/officeDocument/2006/relationships/vmlDrawing" Target="../drawings/vmlDrawing1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49.bin"/><Relationship Id="rId10" Type="http://schemas.openxmlformats.org/officeDocument/2006/relationships/image" Target="../media/image51.wmf"/><Relationship Id="rId1" Type="http://schemas.openxmlformats.org/officeDocument/2006/relationships/oleObject" Target="../embeddings/oleObject44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1" Type="http://schemas.openxmlformats.org/officeDocument/2006/relationships/oleObject" Target="../embeddings/oleObject50.bin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54.png"/><Relationship Id="rId1" Type="http://schemas.openxmlformats.org/officeDocument/2006/relationships/oleObject" Target="../embeddings/oleObject51.bin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7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56.wmf"/><Relationship Id="rId1" Type="http://schemas.openxmlformats.org/officeDocument/2006/relationships/oleObject" Target="../embeddings/oleObject53.bin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9.png"/><Relationship Id="rId3" Type="http://schemas.openxmlformats.org/officeDocument/2006/relationships/oleObject" Target="../embeddings/oleObject56.bin"/><Relationship Id="rId2" Type="http://schemas.openxmlformats.org/officeDocument/2006/relationships/image" Target="../media/image58.png"/><Relationship Id="rId1" Type="http://schemas.openxmlformats.org/officeDocument/2006/relationships/oleObject" Target="../embeddings/oleObject55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1" Type="http://schemas.openxmlformats.org/officeDocument/2006/relationships/oleObject" Target="../embeddings/oleObject57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1.wmf"/><Relationship Id="rId1" Type="http://schemas.openxmlformats.org/officeDocument/2006/relationships/oleObject" Target="../embeddings/oleObject58.bin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3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62.wmf"/><Relationship Id="rId1" Type="http://schemas.openxmlformats.org/officeDocument/2006/relationships/oleObject" Target="../embeddings/oleObject59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7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64.wmf"/><Relationship Id="rId10" Type="http://schemas.openxmlformats.org/officeDocument/2006/relationships/vmlDrawing" Target="../drawings/vmlDrawing23.vml"/><Relationship Id="rId1" Type="http://schemas.openxmlformats.org/officeDocument/2006/relationships/oleObject" Target="../embeddings/oleObject61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wmf"/><Relationship Id="rId1" Type="http://schemas.openxmlformats.org/officeDocument/2006/relationships/oleObject" Target="../embeddings/oleObject65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oleObject" Target="../embeddings/oleObject70.bin"/><Relationship Id="rId7" Type="http://schemas.openxmlformats.org/officeDocument/2006/relationships/image" Target="../media/image71.wmf"/><Relationship Id="rId6" Type="http://schemas.openxmlformats.org/officeDocument/2006/relationships/oleObject" Target="../embeddings/oleObject69.bin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67.bin"/><Relationship Id="rId23" Type="http://schemas.openxmlformats.org/officeDocument/2006/relationships/vmlDrawing" Target="../drawings/vmlDrawing25.vml"/><Relationship Id="rId22" Type="http://schemas.openxmlformats.org/officeDocument/2006/relationships/slideLayout" Target="../slideLayouts/slideLayout2.xml"/><Relationship Id="rId21" Type="http://schemas.openxmlformats.org/officeDocument/2006/relationships/oleObject" Target="../embeddings/oleObject77.bin"/><Relationship Id="rId20" Type="http://schemas.openxmlformats.org/officeDocument/2006/relationships/image" Target="../media/image77.wmf"/><Relationship Id="rId2" Type="http://schemas.openxmlformats.org/officeDocument/2006/relationships/image" Target="../media/image69.wmf"/><Relationship Id="rId19" Type="http://schemas.openxmlformats.org/officeDocument/2006/relationships/oleObject" Target="../embeddings/oleObject76.bin"/><Relationship Id="rId18" Type="http://schemas.openxmlformats.org/officeDocument/2006/relationships/oleObject" Target="../embeddings/oleObject75.bin"/><Relationship Id="rId17" Type="http://schemas.openxmlformats.org/officeDocument/2006/relationships/image" Target="../media/image76.wmf"/><Relationship Id="rId16" Type="http://schemas.openxmlformats.org/officeDocument/2006/relationships/oleObject" Target="../embeddings/oleObject74.bin"/><Relationship Id="rId15" Type="http://schemas.openxmlformats.org/officeDocument/2006/relationships/image" Target="../media/image75.wmf"/><Relationship Id="rId14" Type="http://schemas.openxmlformats.org/officeDocument/2006/relationships/oleObject" Target="../embeddings/oleObject73.bin"/><Relationship Id="rId13" Type="http://schemas.openxmlformats.org/officeDocument/2006/relationships/image" Target="../media/image74.wmf"/><Relationship Id="rId12" Type="http://schemas.openxmlformats.org/officeDocument/2006/relationships/oleObject" Target="../embeddings/oleObject72.bin"/><Relationship Id="rId11" Type="http://schemas.openxmlformats.org/officeDocument/2006/relationships/image" Target="../media/image73.wmf"/><Relationship Id="rId10" Type="http://schemas.openxmlformats.org/officeDocument/2006/relationships/oleObject" Target="../embeddings/oleObject71.bin"/><Relationship Id="rId1" Type="http://schemas.openxmlformats.org/officeDocument/2006/relationships/oleObject" Target="../embeddings/oleObject66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2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81.bin"/><Relationship Id="rId6" Type="http://schemas.openxmlformats.org/officeDocument/2006/relationships/image" Target="../media/image77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78.wmf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78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4.bin"/><Relationship Id="rId22" Type="http://schemas.openxmlformats.org/officeDocument/2006/relationships/vmlDrawing" Target="../drawings/vmlDrawing27.vml"/><Relationship Id="rId21" Type="http://schemas.openxmlformats.org/officeDocument/2006/relationships/slideLayout" Target="../slideLayouts/slideLayout7.xml"/><Relationship Id="rId20" Type="http://schemas.openxmlformats.org/officeDocument/2006/relationships/oleObject" Target="../embeddings/oleObject93.bin"/><Relationship Id="rId2" Type="http://schemas.openxmlformats.org/officeDocument/2006/relationships/image" Target="../media/image81.wmf"/><Relationship Id="rId19" Type="http://schemas.openxmlformats.org/officeDocument/2006/relationships/oleObject" Target="../embeddings/oleObject92.bin"/><Relationship Id="rId18" Type="http://schemas.openxmlformats.org/officeDocument/2006/relationships/image" Target="../media/image89.wmf"/><Relationship Id="rId17" Type="http://schemas.openxmlformats.org/officeDocument/2006/relationships/oleObject" Target="../embeddings/oleObject91.bin"/><Relationship Id="rId16" Type="http://schemas.openxmlformats.org/officeDocument/2006/relationships/image" Target="../media/image88.wmf"/><Relationship Id="rId15" Type="http://schemas.openxmlformats.org/officeDocument/2006/relationships/oleObject" Target="../embeddings/oleObject90.bin"/><Relationship Id="rId14" Type="http://schemas.openxmlformats.org/officeDocument/2006/relationships/image" Target="../media/image87.wmf"/><Relationship Id="rId13" Type="http://schemas.openxmlformats.org/officeDocument/2006/relationships/oleObject" Target="../embeddings/oleObject89.bin"/><Relationship Id="rId12" Type="http://schemas.openxmlformats.org/officeDocument/2006/relationships/image" Target="../media/image86.w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83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8.bin"/><Relationship Id="rId8" Type="http://schemas.openxmlformats.org/officeDocument/2006/relationships/image" Target="../media/image85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90.wmf"/><Relationship Id="rId12" Type="http://schemas.openxmlformats.org/officeDocument/2006/relationships/vmlDrawing" Target="../drawings/vmlDrawing28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6.wmf"/><Relationship Id="rId1" Type="http://schemas.openxmlformats.org/officeDocument/2006/relationships/oleObject" Target="../embeddings/oleObject94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oleObject" Target="../embeddings/oleObject103.bin"/><Relationship Id="rId7" Type="http://schemas.openxmlformats.org/officeDocument/2006/relationships/image" Target="../media/image91.wmf"/><Relationship Id="rId6" Type="http://schemas.openxmlformats.org/officeDocument/2006/relationships/oleObject" Target="../embeddings/oleObject102.bin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69.wmf"/><Relationship Id="rId17" Type="http://schemas.openxmlformats.org/officeDocument/2006/relationships/vmlDrawing" Target="../drawings/vmlDrawing29.v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94.wmf"/><Relationship Id="rId14" Type="http://schemas.openxmlformats.org/officeDocument/2006/relationships/oleObject" Target="../embeddings/oleObject106.bin"/><Relationship Id="rId13" Type="http://schemas.openxmlformats.org/officeDocument/2006/relationships/image" Target="../media/image93.wmf"/><Relationship Id="rId12" Type="http://schemas.openxmlformats.org/officeDocument/2006/relationships/oleObject" Target="../embeddings/oleObject105.bin"/><Relationship Id="rId11" Type="http://schemas.openxmlformats.org/officeDocument/2006/relationships/image" Target="../media/image92.wmf"/><Relationship Id="rId10" Type="http://schemas.openxmlformats.org/officeDocument/2006/relationships/oleObject" Target="../embeddings/oleObject104.bin"/><Relationship Id="rId1" Type="http://schemas.openxmlformats.org/officeDocument/2006/relationships/oleObject" Target="../embeddings/oleObject99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108.bin"/><Relationship Id="rId2" Type="http://schemas.openxmlformats.org/officeDocument/2006/relationships/image" Target="../media/image95.wmf"/><Relationship Id="rId1" Type="http://schemas.openxmlformats.org/officeDocument/2006/relationships/oleObject" Target="../embeddings/oleObject107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4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113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98.wmf"/><Relationship Id="rId12" Type="http://schemas.openxmlformats.org/officeDocument/2006/relationships/vmlDrawing" Target="../drawings/vmlDrawing31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110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116.bin"/><Relationship Id="rId2" Type="http://schemas.openxmlformats.org/officeDocument/2006/relationships/image" Target="../media/image103.png"/><Relationship Id="rId1" Type="http://schemas.openxmlformats.org/officeDocument/2006/relationships/oleObject" Target="../embeddings/oleObject115.bin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0.wmf"/><Relationship Id="rId1" Type="http://schemas.openxmlformats.org/officeDocument/2006/relationships/oleObject" Target="../embeddings/oleObject118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wmf"/><Relationship Id="rId8" Type="http://schemas.openxmlformats.org/officeDocument/2006/relationships/oleObject" Target="../embeddings/oleObject123.bin"/><Relationship Id="rId7" Type="http://schemas.openxmlformats.org/officeDocument/2006/relationships/oleObject" Target="../embeddings/oleObject122.bin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120.bin"/><Relationship Id="rId2" Type="http://schemas.openxmlformats.org/officeDocument/2006/relationships/image" Target="../media/image106.wmf"/><Relationship Id="rId15" Type="http://schemas.openxmlformats.org/officeDocument/2006/relationships/vmlDrawing" Target="../drawings/vmlDrawing34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11.wmf"/><Relationship Id="rId12" Type="http://schemas.openxmlformats.org/officeDocument/2006/relationships/oleObject" Target="../embeddings/oleObject125.bin"/><Relationship Id="rId11" Type="http://schemas.openxmlformats.org/officeDocument/2006/relationships/image" Target="../media/image110.wmf"/><Relationship Id="rId10" Type="http://schemas.openxmlformats.org/officeDocument/2006/relationships/oleObject" Target="../embeddings/oleObject124.bin"/><Relationship Id="rId1" Type="http://schemas.openxmlformats.org/officeDocument/2006/relationships/oleObject" Target="../embeddings/oleObject119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0.bin"/><Relationship Id="rId8" Type="http://schemas.openxmlformats.org/officeDocument/2006/relationships/image" Target="../media/image115.w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13.w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112.wmf"/><Relationship Id="rId12" Type="http://schemas.openxmlformats.org/officeDocument/2006/relationships/vmlDrawing" Target="../drawings/vmlDrawing3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16.wmf"/><Relationship Id="rId1" Type="http://schemas.openxmlformats.org/officeDocument/2006/relationships/oleObject" Target="../embeddings/oleObject126.bin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7.wmf"/><Relationship Id="rId1" Type="http://schemas.openxmlformats.org/officeDocument/2006/relationships/oleObject" Target="../embeddings/oleObject131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6.bin"/><Relationship Id="rId8" Type="http://schemas.openxmlformats.org/officeDocument/2006/relationships/image" Target="../media/image120.wmf"/><Relationship Id="rId7" Type="http://schemas.openxmlformats.org/officeDocument/2006/relationships/oleObject" Target="../embeddings/oleObject135.bin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18.wmf"/><Relationship Id="rId3" Type="http://schemas.openxmlformats.org/officeDocument/2006/relationships/oleObject" Target="../embeddings/oleObject133.bin"/><Relationship Id="rId2" Type="http://schemas.openxmlformats.org/officeDocument/2006/relationships/image" Target="../media/image100.wmf"/><Relationship Id="rId16" Type="http://schemas.openxmlformats.org/officeDocument/2006/relationships/vmlDrawing" Target="../drawings/vmlDrawing37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23.wmf"/><Relationship Id="rId13" Type="http://schemas.openxmlformats.org/officeDocument/2006/relationships/oleObject" Target="../embeddings/oleObject138.bin"/><Relationship Id="rId12" Type="http://schemas.openxmlformats.org/officeDocument/2006/relationships/image" Target="../media/image122.wmf"/><Relationship Id="rId11" Type="http://schemas.openxmlformats.org/officeDocument/2006/relationships/oleObject" Target="../embeddings/oleObject137.bin"/><Relationship Id="rId10" Type="http://schemas.openxmlformats.org/officeDocument/2006/relationships/image" Target="../media/image121.wmf"/><Relationship Id="rId1" Type="http://schemas.openxmlformats.org/officeDocument/2006/relationships/oleObject" Target="../embeddings/oleObject132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B132D8A-728A-4AF7-9396-7539C4EC2C42}" type="slidenum">
              <a:rPr lang="en-US" altLang="zh-CN"/>
            </a:fld>
            <a:endParaRPr lang="en-US" altLang="zh-CN"/>
          </a:p>
        </p:txBody>
      </p:sp>
      <p:sp>
        <p:nvSpPr>
          <p:cNvPr id="52228" name="Rectangle 5"/>
          <p:cNvSpPr>
            <a:spLocks noChangeArrowheads="1"/>
          </p:cNvSpPr>
          <p:nvPr/>
        </p:nvSpPr>
        <p:spPr bwMode="auto">
          <a:xfrm>
            <a:off x="3538248" y="1132853"/>
            <a:ext cx="5115503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4800" b="1" dirty="0">
                <a:latin typeface="宋体" pitchFamily="2" charset="-122"/>
              </a:rPr>
              <a:t>第六章  判别分析</a:t>
            </a:r>
            <a:endParaRPr lang="zh-CN" altLang="en-US" sz="4800" b="1" dirty="0">
              <a:latin typeface="宋体" pitchFamily="2" charset="-122"/>
            </a:endParaRPr>
          </a:p>
        </p:txBody>
      </p:sp>
      <p:sp>
        <p:nvSpPr>
          <p:cNvPr id="2" name="Text Box 1026"/>
          <p:cNvSpPr txBox="1">
            <a:spLocks noChangeArrowheads="1"/>
          </p:cNvSpPr>
          <p:nvPr/>
        </p:nvSpPr>
        <p:spPr bwMode="auto">
          <a:xfrm>
            <a:off x="2927010" y="2981316"/>
            <a:ext cx="5943600" cy="23575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/>
              <a:t>概述</a:t>
            </a:r>
            <a:endParaRPr lang="zh-CN" altLang="en-US" sz="3200" dirty="0"/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/>
              <a:t>距离判别法</a:t>
            </a:r>
            <a:endParaRPr lang="zh-CN" altLang="en-US" sz="3200" dirty="0"/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/>
              <a:t>费歇判别法</a:t>
            </a:r>
            <a:endParaRPr lang="zh-CN" altLang="en-US" sz="3200" dirty="0"/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dirty="0"/>
              <a:t>贝叶斯判别法</a:t>
            </a:r>
            <a:endParaRPr lang="zh-CN" altLang="en-US" sz="3200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046326" y="2734596"/>
            <a:ext cx="3307474" cy="83099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作业</a:t>
            </a:r>
            <a:r>
              <a:rPr lang="en-US" altLang="zh-CN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5-2</a:t>
            </a:r>
            <a:r>
              <a:rPr lang="zh-CN" altLang="en-US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5-10</a:t>
            </a:r>
            <a:r>
              <a:rPr lang="zh-CN" altLang="en-US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第一问</a:t>
            </a:r>
            <a:endParaRPr lang="zh-CN" altLang="en-US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2152650" y="2135506"/>
            <a:ext cx="7886700" cy="3324225"/>
          </a:xfrm>
          <a:noFill/>
        </p:spPr>
        <p:txBody>
          <a:bodyPr>
            <a:noAutofit/>
          </a:bodyPr>
          <a:lstStyle/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一、什么是判别分析？</a:t>
            </a: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     在一些已知研究对象用某种方法已经分成若干类的情况下，通过新样品的观测数据，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判定新样品所属类别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的方法。</a:t>
            </a: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5F84793-1A21-45DD-A79A-7AFA77DD558B}" type="slidenum">
              <a:rPr lang="en-US" altLang="zh-CN"/>
            </a:fld>
            <a:endParaRPr lang="en-US" altLang="zh-CN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4500881" y="1030605"/>
            <a:ext cx="2581275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chemeClr val="tx2"/>
                </a:solidFill>
              </a:rPr>
              <a:t>第一节   概述</a:t>
            </a:r>
            <a:endParaRPr lang="zh-CN" altLang="en-US" sz="32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b="1" dirty="0"/>
              <a:t>判别分析举例</a:t>
            </a:r>
            <a:endParaRPr lang="zh-CN" altLang="en-US" sz="3200" b="1" dirty="0"/>
          </a:p>
        </p:txBody>
      </p:sp>
      <p:sp>
        <p:nvSpPr>
          <p:cNvPr id="56324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成功概率的判定</a:t>
            </a:r>
            <a:endParaRPr lang="zh-CN" altLang="en-US" dirty="0">
              <a:solidFill>
                <a:schemeClr val="tx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医生对病情的诊断</a:t>
            </a:r>
            <a:endParaRPr lang="zh-CN" altLang="en-US" dirty="0">
              <a:solidFill>
                <a:schemeClr val="tx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信用风险的判定</a:t>
            </a:r>
            <a:endParaRPr lang="zh-CN" altLang="en-US" dirty="0">
              <a:solidFill>
                <a:schemeClr val="tx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企业运行状态或财务状况的判定</a:t>
            </a:r>
            <a:endParaRPr lang="zh-CN" altLang="en-US" dirty="0">
              <a:solidFill>
                <a:schemeClr val="tx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在税务稽查中，要判断某企业是否偷漏税</a:t>
            </a:r>
            <a:endParaRPr lang="en-US" altLang="zh-CN" dirty="0">
              <a:solidFill>
                <a:schemeClr val="tx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根据发掘出来的人类头盖骨的高、宽等特征来判断其是男性还是女性</a:t>
            </a:r>
            <a:endParaRPr lang="zh-CN" altLang="en-US" dirty="0">
              <a:solidFill>
                <a:schemeClr val="tx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5EE89A-79EC-48D1-BB04-0BEF33D0B3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pull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b="1" dirty="0"/>
              <a:t>二、判别分析的种类</a:t>
            </a:r>
            <a:endParaRPr lang="zh-CN" altLang="en-US" sz="3200" b="1" dirty="0"/>
          </a:p>
        </p:txBody>
      </p:sp>
      <p:sp>
        <p:nvSpPr>
          <p:cNvPr id="57348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、按判别的</a:t>
            </a: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组数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分有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两组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判别分析和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多组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判别分析</a:t>
            </a: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、按区分不同总体所用的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数学模型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分有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线性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判别和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非线性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判别</a:t>
            </a: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3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、按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判别准则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的不同有距离判别、费希尔（</a:t>
            </a: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Fisher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）判别和贝叶斯（</a:t>
            </a: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Bayes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）判别。</a:t>
            </a: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65A9D9-0959-4192-A518-42E844BD3B3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40636" y="610235"/>
            <a:ext cx="7110413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第二节</a:t>
            </a:r>
            <a:r>
              <a:rPr lang="zh-CN" altLang="en-US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距离判别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289305" y="1742123"/>
            <a:ext cx="8843392" cy="3598862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       </a:t>
            </a:r>
            <a:r>
              <a:rPr lang="zh-CN" altLang="en-US" sz="2800" dirty="0">
                <a:solidFill>
                  <a:schemeClr val="tx2"/>
                </a:solidFill>
              </a:rPr>
              <a:t>一、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距离判别的思想</a:t>
            </a: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    距离判别的</a:t>
            </a:r>
            <a:r>
              <a:rPr lang="zh-CN" altLang="en-US" sz="2800" dirty="0">
                <a:latin typeface="宋体" pitchFamily="2" charset="-122"/>
              </a:rPr>
              <a:t>最直观的想法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是计算样品到第</a:t>
            </a:r>
            <a:r>
              <a:rPr lang="en-US" altLang="zh-CN" sz="2800" i="1" dirty="0" err="1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类总体的重心的距离，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哪个距离最小就将它判归哪个总体</a:t>
            </a:r>
            <a:endParaRPr lang="en-US" altLang="zh-CN" sz="2800" dirty="0">
              <a:solidFill>
                <a:schemeClr val="tx2"/>
              </a:solidFill>
              <a:latin typeface="宋体" pitchFamily="2" charset="-12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    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我们首先考虑是否能够构造一个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恰当的距离函数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，通过样品与某类别之间距离的大小，判别其所属类别。 </a:t>
            </a: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    </a:t>
            </a:r>
            <a:endParaRPr lang="zh-CN" altLang="en-US" sz="28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5C2644-36DD-4F72-A1EC-092E54CDA2FC}" type="slidenum">
              <a:rPr lang="en-US" altLang="zh-CN"/>
            </a:fld>
            <a:endParaRPr lang="en-US" altLang="zh-CN"/>
          </a:p>
        </p:txBody>
      </p:sp>
      <p:sp>
        <p:nvSpPr>
          <p:cNvPr id="58373" name="Rectangle 4"/>
          <p:cNvSpPr>
            <a:spLocks noChangeArrowheads="1"/>
          </p:cNvSpPr>
          <p:nvPr/>
        </p:nvSpPr>
        <p:spPr bwMode="auto">
          <a:xfrm>
            <a:off x="5176838" y="3314700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8374" name="Rectangle 7"/>
          <p:cNvSpPr>
            <a:spLocks noChangeArrowheads="1"/>
          </p:cNvSpPr>
          <p:nvPr/>
        </p:nvSpPr>
        <p:spPr bwMode="auto">
          <a:xfrm>
            <a:off x="5505450" y="3314700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8375" name="Rectangle 9"/>
          <p:cNvSpPr>
            <a:spLocks noChangeArrowheads="1"/>
          </p:cNvSpPr>
          <p:nvPr/>
        </p:nvSpPr>
        <p:spPr bwMode="auto">
          <a:xfrm>
            <a:off x="5486400" y="3314700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框 8193"/>
          <p:cNvSpPr txBox="1"/>
          <p:nvPr/>
        </p:nvSpPr>
        <p:spPr>
          <a:xfrm>
            <a:off x="1828800" y="160020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       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8195" name="文本框 8194"/>
          <p:cNvSpPr txBox="1"/>
          <p:nvPr/>
        </p:nvSpPr>
        <p:spPr>
          <a:xfrm>
            <a:off x="1981200" y="938849"/>
            <a:ext cx="8382000" cy="4615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例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6.1.1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已知有两个类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比如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是设备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生产的产品，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是设备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生产的同类产品。设备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的产品质量高(如考察指标为耐磨度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)，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其平均耐磨度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=80,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反映设备精度的方差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altLang="zh-CN" sz="2800" baseline="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(1)=0.25;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设备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的产品质量稍差，其平均耐磨度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=75,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反映设备精度的方差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altLang="zh-CN" sz="2800" baseline="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(2)=4.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今有一产品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测得耐磨度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=78，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试判断该产品是哪一台设备生产的?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9217"/>
          <p:cNvSpPr txBox="1"/>
          <p:nvPr/>
        </p:nvSpPr>
        <p:spPr>
          <a:xfrm>
            <a:off x="1828800" y="160020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       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219" name="文本框 9218"/>
          <p:cNvSpPr txBox="1"/>
          <p:nvPr/>
        </p:nvSpPr>
        <p:spPr>
          <a:xfrm>
            <a:off x="1639571" y="915670"/>
            <a:ext cx="8912225" cy="59080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考虑一种相对于分散性的距离.记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相对平方距离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或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)，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)=                        =                   = 16=4</a:t>
            </a:r>
            <a:r>
              <a:rPr lang="en-US" altLang="zh-CN" sz="2800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altLang="zh-CN" sz="2800" baseline="28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)=                     =                     =2.25=1.5</a:t>
            </a:r>
            <a:r>
              <a:rPr lang="en-US" altLang="zh-CN" sz="2800" baseline="28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altLang="zh-CN" sz="2800" baseline="28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因为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)=1.5&lt;4=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按这种距离准则应判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为设备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生产的.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196" name="直接连接符 9219"/>
          <p:cNvSpPr/>
          <p:nvPr/>
        </p:nvSpPr>
        <p:spPr>
          <a:xfrm>
            <a:off x="3779520" y="3276600"/>
            <a:ext cx="1905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7" name="文本框 9220"/>
          <p:cNvSpPr txBox="1"/>
          <p:nvPr/>
        </p:nvSpPr>
        <p:spPr>
          <a:xfrm>
            <a:off x="3992881" y="2590800"/>
            <a:ext cx="1595755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32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32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altLang="zh-CN" sz="2800" baseline="2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198" name="文本框 9221"/>
          <p:cNvSpPr txBox="1"/>
          <p:nvPr/>
        </p:nvSpPr>
        <p:spPr>
          <a:xfrm>
            <a:off x="4208781" y="3276600"/>
            <a:ext cx="91884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altLang="zh-CN" sz="2800" baseline="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199" name="直接连接符 9222"/>
          <p:cNvSpPr/>
          <p:nvPr/>
        </p:nvSpPr>
        <p:spPr>
          <a:xfrm flipV="1">
            <a:off x="6080760" y="3276600"/>
            <a:ext cx="144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0" name="文本框 9223"/>
          <p:cNvSpPr txBox="1"/>
          <p:nvPr/>
        </p:nvSpPr>
        <p:spPr>
          <a:xfrm>
            <a:off x="6141086" y="2733675"/>
            <a:ext cx="156324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(78 - 80)</a:t>
            </a:r>
            <a:r>
              <a:rPr lang="zh-CN" altLang="en-US" sz="2800" baseline="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201" name="文本框 9224"/>
          <p:cNvSpPr txBox="1"/>
          <p:nvPr/>
        </p:nvSpPr>
        <p:spPr>
          <a:xfrm>
            <a:off x="6445886" y="3190875"/>
            <a:ext cx="813043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0.25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202" name="文本框 9225"/>
          <p:cNvSpPr txBox="1"/>
          <p:nvPr/>
        </p:nvSpPr>
        <p:spPr>
          <a:xfrm>
            <a:off x="3674795" y="3770557"/>
            <a:ext cx="2065338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32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32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4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-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800" baseline="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altLang="zh-CN" sz="2800" baseline="2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203" name="文本框 9226"/>
          <p:cNvSpPr txBox="1"/>
          <p:nvPr/>
        </p:nvSpPr>
        <p:spPr>
          <a:xfrm>
            <a:off x="3827196" y="4651619"/>
            <a:ext cx="91884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altLang="zh-CN" sz="2800" baseline="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204" name="文本框 9227"/>
          <p:cNvSpPr txBox="1"/>
          <p:nvPr/>
        </p:nvSpPr>
        <p:spPr>
          <a:xfrm>
            <a:off x="5811331" y="3983963"/>
            <a:ext cx="1981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(78 - 75)</a:t>
            </a:r>
            <a:r>
              <a:rPr lang="zh-CN" altLang="en-US" sz="2800" baseline="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205" name="文本框 9228"/>
          <p:cNvSpPr txBox="1"/>
          <p:nvPr/>
        </p:nvSpPr>
        <p:spPr>
          <a:xfrm>
            <a:off x="6192331" y="4542763"/>
            <a:ext cx="36420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206" name="直接连接符 9229"/>
          <p:cNvSpPr/>
          <p:nvPr/>
        </p:nvSpPr>
        <p:spPr>
          <a:xfrm>
            <a:off x="3614470" y="4508744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07" name="直接连接符 9230"/>
          <p:cNvSpPr/>
          <p:nvPr/>
        </p:nvSpPr>
        <p:spPr>
          <a:xfrm>
            <a:off x="5887531" y="4517363"/>
            <a:ext cx="137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11265"/>
          <p:cNvSpPr txBox="1"/>
          <p:nvPr/>
        </p:nvSpPr>
        <p:spPr>
          <a:xfrm>
            <a:off x="1981200" y="1752600"/>
            <a:ext cx="8153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latin typeface="Arial" panose="020B0604020202090204" pitchFamily="34" charset="0"/>
              </a:rPr>
              <a:t>      </a:t>
            </a:r>
            <a:endParaRPr lang="zh-CN" altLang="en-US" b="1" dirty="0">
              <a:latin typeface="Arial" panose="020B0604020202090204" pitchFamily="34" charset="0"/>
            </a:endParaRPr>
          </a:p>
        </p:txBody>
      </p:sp>
      <p:sp>
        <p:nvSpPr>
          <p:cNvPr id="10243" name="文本框 11266"/>
          <p:cNvSpPr txBox="1"/>
          <p:nvPr/>
        </p:nvSpPr>
        <p:spPr>
          <a:xfrm>
            <a:off x="2193926" y="1392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244" name="文本框 11267"/>
          <p:cNvSpPr txBox="1"/>
          <p:nvPr/>
        </p:nvSpPr>
        <p:spPr>
          <a:xfrm>
            <a:off x="1752600" y="1371600"/>
            <a:ext cx="8915400" cy="1276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     利用马氏距离对两个一维正态总体判别归类</a:t>
            </a:r>
            <a:endParaRPr lang="zh-CN" altLang="en-US" sz="2800" dirty="0">
              <a:latin typeface="宋体" pitchFamily="2" charset="-122"/>
            </a:endParaRPr>
          </a:p>
          <a:p>
            <a:endParaRPr lang="zh-CN" altLang="en-US" sz="2800" dirty="0">
              <a:latin typeface="宋体" pitchFamily="2" charset="-122"/>
            </a:endParaRPr>
          </a:p>
          <a:p>
            <a:pPr>
              <a:lnSpc>
                <a:spcPct val="75000"/>
              </a:lnSpc>
            </a:pPr>
            <a:r>
              <a:rPr lang="zh-CN" altLang="en-US" sz="2800" dirty="0">
                <a:latin typeface="宋体" pitchFamily="2" charset="-122"/>
              </a:rPr>
              <a:t>令: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0245" name="文本框 11268"/>
          <p:cNvSpPr txBox="1"/>
          <p:nvPr/>
        </p:nvSpPr>
        <p:spPr>
          <a:xfrm>
            <a:off x="2727326" y="2763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graphicFrame>
        <p:nvGraphicFramePr>
          <p:cNvPr id="10246" name="对象 11269"/>
          <p:cNvGraphicFramePr>
            <a:graphicFrameLocks noChangeAspect="1"/>
          </p:cNvGraphicFramePr>
          <p:nvPr/>
        </p:nvGraphicFramePr>
        <p:xfrm>
          <a:off x="2819400" y="2012172"/>
          <a:ext cx="2667000" cy="1062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2476500" imgH="736600" progId="">
                  <p:embed/>
                </p:oleObj>
              </mc:Choice>
              <mc:Fallback>
                <p:oleObj name="" r:id="rId1" imgW="2476500" imgH="73660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19400" y="2012172"/>
                        <a:ext cx="2667000" cy="106275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文本框 11270"/>
          <p:cNvSpPr txBox="1"/>
          <p:nvPr/>
        </p:nvSpPr>
        <p:spPr>
          <a:xfrm>
            <a:off x="28035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pic>
        <p:nvPicPr>
          <p:cNvPr id="11272" name="图片 11271" descr="SHT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750" y="3006725"/>
            <a:ext cx="7848600" cy="3562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3" name="直接连接符 11272"/>
          <p:cNvSpPr/>
          <p:nvPr/>
        </p:nvSpPr>
        <p:spPr>
          <a:xfrm flipV="1">
            <a:off x="6311900" y="5229226"/>
            <a:ext cx="0" cy="1008063"/>
          </a:xfrm>
          <a:prstGeom prst="line">
            <a:avLst/>
          </a:prstGeom>
          <a:ln w="38100" cap="flat" cmpd="sng">
            <a:solidFill>
              <a:srgbClr val="070CD5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4" name="文本框 11273"/>
          <p:cNvSpPr txBox="1"/>
          <p:nvPr/>
        </p:nvSpPr>
        <p:spPr>
          <a:xfrm>
            <a:off x="5735638" y="2060576"/>
            <a:ext cx="4176712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 =79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为到两总体相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对距离相等的分界点)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275" name="矩形 11274"/>
          <p:cNvSpPr/>
          <p:nvPr/>
        </p:nvSpPr>
        <p:spPr>
          <a:xfrm>
            <a:off x="7967663" y="3068639"/>
            <a:ext cx="2146742" cy="954107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i="1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8000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=78&lt;</a:t>
            </a:r>
            <a:r>
              <a:rPr lang="en-US" altLang="zh-CN" sz="2800" i="1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*=79</a:t>
            </a:r>
            <a:endParaRPr lang="en-US" altLang="zh-CN" sz="2800" dirty="0">
              <a:solidFill>
                <a:srgbClr val="070CD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sz="2800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判</a:t>
            </a:r>
            <a:r>
              <a:rPr lang="en-US" altLang="zh-CN" sz="2800" i="1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8000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∈</a:t>
            </a:r>
            <a:r>
              <a:rPr lang="en-US" altLang="zh-CN" sz="2800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4000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solidFill>
                  <a:srgbClr val="070CD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2800" dirty="0">
              <a:solidFill>
                <a:srgbClr val="070CD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252" name="文本框 11275"/>
          <p:cNvSpPr txBox="1"/>
          <p:nvPr/>
        </p:nvSpPr>
        <p:spPr>
          <a:xfrm>
            <a:off x="3944938" y="111126"/>
            <a:ext cx="2214880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马氏距离</a:t>
            </a: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" grpId="0"/>
      <p:bldP spid="1127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内容占位符 10241"/>
          <p:cNvGraphicFramePr>
            <a:graphicFrameLocks noGrp="1" noChangeAspect="1"/>
          </p:cNvGraphicFramePr>
          <p:nvPr>
            <p:ph sz="half" idx="1"/>
          </p:nvPr>
        </p:nvGraphicFramePr>
        <p:xfrm>
          <a:off x="2855913" y="2781300"/>
          <a:ext cx="5830887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2794000" imgH="457200" progId="Equation.3">
                  <p:embed/>
                </p:oleObj>
              </mc:Choice>
              <mc:Fallback>
                <p:oleObj name="" r:id="rId1" imgW="2794000" imgH="4572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5913" y="2781300"/>
                        <a:ext cx="5830887" cy="954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内容占位符 1024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847850" y="3789363"/>
          <a:ext cx="8280400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492500" imgH="457200" progId="Equation.3">
                  <p:embed/>
                </p:oleObj>
              </mc:Choice>
              <mc:Fallback>
                <p:oleObj name="" r:id="rId3" imgW="3492500" imgH="457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850" y="3789363"/>
                        <a:ext cx="8280400" cy="1084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内容占位符 1024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94125" y="5373688"/>
          <a:ext cx="3162300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251585" imgH="459740" progId="Equation.3">
                  <p:embed/>
                </p:oleObj>
              </mc:Choice>
              <mc:Fallback>
                <p:oleObj name="" r:id="rId5" imgW="1251585" imgH="45974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94125" y="5373688"/>
                        <a:ext cx="3162300" cy="1163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文本框 10243"/>
          <p:cNvSpPr txBox="1"/>
          <p:nvPr/>
        </p:nvSpPr>
        <p:spPr>
          <a:xfrm>
            <a:off x="1919606" y="750889"/>
            <a:ext cx="8569325" cy="194764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一般地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我们假设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的分布为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altLang="zh-CN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的分布为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altLang="zh-CN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则利用相对距离的定义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可以找出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分界点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不妨设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&lt;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&lt;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&lt;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令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221" name="文本框 10244"/>
          <p:cNvSpPr txBox="1"/>
          <p:nvPr/>
        </p:nvSpPr>
        <p:spPr>
          <a:xfrm>
            <a:off x="2727326" y="2763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222" name="文本框 10245"/>
          <p:cNvSpPr txBox="1"/>
          <p:nvPr/>
        </p:nvSpPr>
        <p:spPr>
          <a:xfrm>
            <a:off x="28035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247" name="矩形 10246"/>
          <p:cNvSpPr/>
          <p:nvPr/>
        </p:nvSpPr>
        <p:spPr>
          <a:xfrm>
            <a:off x="1919606" y="4821555"/>
            <a:ext cx="574738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而按这种距离最近的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90204" pitchFamily="34" charset="0"/>
              </a:rPr>
              <a:t>判别准则</a:t>
            </a:r>
            <a:r>
              <a:rPr lang="zh-CN" altLang="en-US" sz="2800" dirty="0">
                <a:latin typeface="Arial" panose="020B0604020202090204" pitchFamily="34" charset="0"/>
              </a:rPr>
              <a:t>为：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9225" name="文本框 10248"/>
          <p:cNvSpPr txBox="1"/>
          <p:nvPr/>
        </p:nvSpPr>
        <p:spPr>
          <a:xfrm>
            <a:off x="4665028" y="50800"/>
            <a:ext cx="2236510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马氏距离</a:t>
            </a: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EAE80C-CBC5-499A-97EE-614D013F8B96}" type="slidenum">
              <a:rPr lang="en-US" altLang="zh-CN"/>
            </a:fld>
            <a:endParaRPr lang="en-US" altLang="zh-CN"/>
          </a:p>
        </p:txBody>
      </p:sp>
      <p:grpSp>
        <p:nvGrpSpPr>
          <p:cNvPr id="1033" name="Group 23"/>
          <p:cNvGrpSpPr/>
          <p:nvPr/>
        </p:nvGrpSpPr>
        <p:grpSpPr bwMode="auto">
          <a:xfrm>
            <a:off x="1676400" y="533401"/>
            <a:ext cx="8991600" cy="1730375"/>
            <a:chOff x="336" y="480"/>
            <a:chExt cx="5280" cy="1090"/>
          </a:xfrm>
        </p:grpSpPr>
        <p:grpSp>
          <p:nvGrpSpPr>
            <p:cNvPr id="1036" name="Group 22"/>
            <p:cNvGrpSpPr/>
            <p:nvPr/>
          </p:nvGrpSpPr>
          <p:grpSpPr bwMode="auto">
            <a:xfrm>
              <a:off x="336" y="480"/>
              <a:ext cx="5280" cy="1090"/>
              <a:chOff x="336" y="480"/>
              <a:chExt cx="5280" cy="1090"/>
            </a:xfrm>
          </p:grpSpPr>
          <p:sp>
            <p:nvSpPr>
              <p:cNvPr id="1037" name="Rectangle 4"/>
              <p:cNvSpPr>
                <a:spLocks noChangeArrowheads="1"/>
              </p:cNvSpPr>
              <p:nvPr/>
            </p:nvSpPr>
            <p:spPr bwMode="auto">
              <a:xfrm>
                <a:off x="336" y="480"/>
                <a:ext cx="5280" cy="10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/>
              <a:lstStyle/>
              <a:p>
                <a:pPr marL="342900" indent="-76200">
                  <a:lnSpc>
                    <a:spcPct val="125000"/>
                  </a:lnSpc>
                  <a:buClr>
                    <a:schemeClr val="folHlink"/>
                  </a:buClr>
                  <a:buSzPct val="60000"/>
                </a:pPr>
                <a:r>
                  <a:rPr lang="en-US" altLang="zh-CN" sz="2800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      </a:t>
                </a:r>
                <a:r>
                  <a:rPr lang="zh-CN" altLang="en-US" sz="2800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设                                                                   </a:t>
                </a:r>
                <a:endParaRPr lang="zh-CN" altLang="en-US" sz="2800" dirty="0">
                  <a:latin typeface="Times New Roman" panose="02020503050405090304" pitchFamily="18" charset="0"/>
                  <a:ea typeface="黑体" panose="02010609060101010101" charset="-122"/>
                  <a:cs typeface="Times New Roman" panose="02020503050405090304" pitchFamily="18" charset="0"/>
                </a:endParaRPr>
              </a:p>
              <a:p>
                <a:pPr marL="342900" indent="-76200">
                  <a:lnSpc>
                    <a:spcPct val="125000"/>
                  </a:lnSpc>
                  <a:buClr>
                    <a:schemeClr val="folHlink"/>
                  </a:buClr>
                  <a:buSzPct val="60000"/>
                </a:pPr>
                <a:r>
                  <a:rPr lang="zh-CN" altLang="en-US" sz="2800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是从期望</a:t>
                </a:r>
                <a:r>
                  <a:rPr lang="en-US" altLang="zh-CN" sz="2800" b="1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μ</a:t>
                </a:r>
                <a:r>
                  <a:rPr lang="en-US" altLang="zh-CN" sz="2800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=                           </a:t>
                </a:r>
                <a:r>
                  <a:rPr lang="zh-CN" altLang="en-US" sz="2800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和协方差阵</a:t>
                </a:r>
                <a:r>
                  <a:rPr lang="en-US" altLang="zh-CN" sz="2800" b="1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Σ</a:t>
                </a:r>
                <a:r>
                  <a:rPr lang="en-US" altLang="zh-CN" sz="2800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=                   </a:t>
                </a:r>
                <a:endParaRPr lang="en-US" altLang="zh-CN" sz="2800" dirty="0">
                  <a:latin typeface="Times New Roman" panose="02020503050405090304" pitchFamily="18" charset="0"/>
                  <a:ea typeface="黑体" panose="02010609060101010101" charset="-122"/>
                  <a:cs typeface="Times New Roman" panose="02020503050405090304" pitchFamily="18" charset="0"/>
                </a:endParaRPr>
              </a:p>
              <a:p>
                <a:pPr marL="342900" indent="-76200" algn="just">
                  <a:lnSpc>
                    <a:spcPct val="125000"/>
                  </a:lnSpc>
                  <a:buClr>
                    <a:schemeClr val="folHlink"/>
                  </a:buClr>
                  <a:buSzPct val="60000"/>
                </a:pPr>
                <a:r>
                  <a:rPr lang="zh-CN" altLang="en-US" sz="2800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的总体</a:t>
                </a:r>
                <a:r>
                  <a:rPr lang="en-US" altLang="zh-CN" sz="2800" i="1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G</a:t>
                </a:r>
                <a:r>
                  <a:rPr lang="zh-CN" altLang="en-US" sz="2800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抽得的两个观测值，则称</a:t>
                </a:r>
                <a:endParaRPr lang="zh-CN" altLang="en-US" sz="2800" dirty="0">
                  <a:latin typeface="Times New Roman" panose="02020503050405090304" pitchFamily="18" charset="0"/>
                  <a:ea typeface="黑体" panose="02010609060101010101" charset="-122"/>
                  <a:cs typeface="Times New Roman" panose="02020503050405090304" pitchFamily="18" charset="0"/>
                </a:endParaRPr>
              </a:p>
              <a:p>
                <a:pPr marL="342900" indent="-76200" algn="just" eaLnBrk="0" hangingPunct="0">
                  <a:lnSpc>
                    <a:spcPct val="125000"/>
                  </a:lnSpc>
                  <a:buClr>
                    <a:schemeClr val="folHlink"/>
                  </a:buClr>
                  <a:buSzPct val="60000"/>
                </a:pPr>
                <a:r>
                  <a:rPr lang="zh-CN" altLang="en-US" sz="2800" dirty="0">
                    <a:latin typeface="Times New Roman" panose="02020503050405090304" pitchFamily="18" charset="0"/>
                    <a:ea typeface="黑体" panose="02010609060101010101" charset="-122"/>
                    <a:cs typeface="Times New Roman" panose="02020503050405090304" pitchFamily="18" charset="0"/>
                  </a:rPr>
                  <a:t>                </a:t>
                </a:r>
                <a:endParaRPr lang="zh-CN" altLang="en-US" sz="2800" dirty="0">
                  <a:latin typeface="Times New Roman" panose="02020503050405090304" pitchFamily="18" charset="0"/>
                  <a:ea typeface="黑体" panose="02010609060101010101" charset="-122"/>
                  <a:cs typeface="Times New Roman" panose="02020503050405090304" pitchFamily="18" charset="0"/>
                </a:endParaRPr>
              </a:p>
            </p:txBody>
          </p:sp>
          <p:graphicFrame>
            <p:nvGraphicFramePr>
              <p:cNvPr id="1029" name="Object 5"/>
              <p:cNvGraphicFramePr>
                <a:graphicFrameLocks noChangeAspect="1"/>
              </p:cNvGraphicFramePr>
              <p:nvPr/>
            </p:nvGraphicFramePr>
            <p:xfrm>
              <a:off x="1090" y="504"/>
              <a:ext cx="1729" cy="4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Equation" r:id="rId1" imgW="30480000" imgH="5791200" progId="Equation.DSMT4">
                      <p:embed/>
                    </p:oleObj>
                  </mc:Choice>
                  <mc:Fallback>
                    <p:oleObj name="Equation" r:id="rId1" imgW="30480000" imgH="5791200" progId="Equation.DSMT4">
                      <p:embed/>
                      <p:pic>
                        <p:nvPicPr>
                          <p:cNvPr id="0" name="Object 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090" y="504"/>
                            <a:ext cx="1729" cy="41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0" name="Object 6"/>
              <p:cNvGraphicFramePr>
                <a:graphicFrameLocks noChangeAspect="1"/>
              </p:cNvGraphicFramePr>
              <p:nvPr/>
            </p:nvGraphicFramePr>
            <p:xfrm>
              <a:off x="2856" y="480"/>
              <a:ext cx="1907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Equation" r:id="rId3" imgW="27736800" imgH="5791200" progId="Equation.DSMT4">
                      <p:embed/>
                    </p:oleObj>
                  </mc:Choice>
                  <mc:Fallback>
                    <p:oleObj name="Equation" r:id="rId3" imgW="27736800" imgH="5791200" progId="Equation.DSMT4">
                      <p:embed/>
                      <p:pic>
                        <p:nvPicPr>
                          <p:cNvPr id="0" name="Object 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56" y="480"/>
                            <a:ext cx="1907" cy="36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1" name="Object 7"/>
              <p:cNvGraphicFramePr>
                <a:graphicFrameLocks noChangeAspect="1"/>
              </p:cNvGraphicFramePr>
              <p:nvPr/>
            </p:nvGraphicFramePr>
            <p:xfrm>
              <a:off x="1634" y="849"/>
              <a:ext cx="1304" cy="3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Equation" r:id="rId5" imgW="22555200" imgH="5791200" progId="Equation.DSMT4">
                      <p:embed/>
                    </p:oleObj>
                  </mc:Choice>
                  <mc:Fallback>
                    <p:oleObj name="Equation" r:id="rId5" imgW="22555200" imgH="57912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634" y="849"/>
                            <a:ext cx="1304" cy="34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28" name="Object 8"/>
            <p:cNvGraphicFramePr>
              <a:graphicFrameLocks noChangeAspect="1"/>
            </p:cNvGraphicFramePr>
            <p:nvPr/>
          </p:nvGraphicFramePr>
          <p:xfrm>
            <a:off x="4369" y="849"/>
            <a:ext cx="1158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7" imgW="17678400" imgH="7315200" progId="Equation.DSMT4">
                    <p:embed/>
                  </p:oleObj>
                </mc:Choice>
                <mc:Fallback>
                  <p:oleObj name="Equation" r:id="rId7" imgW="17678400" imgH="7315200" progId="Equation.DSMT4">
                    <p:embed/>
                    <p:pic>
                      <p:nvPicPr>
                        <p:cNvPr id="0" name="Object 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69" y="849"/>
                          <a:ext cx="1158" cy="3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45" name="Object 9"/>
          <p:cNvGraphicFramePr>
            <a:graphicFrameLocks noChangeAspect="1"/>
          </p:cNvGraphicFramePr>
          <p:nvPr/>
        </p:nvGraphicFramePr>
        <p:xfrm>
          <a:off x="3038312" y="3203501"/>
          <a:ext cx="6254151" cy="576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46024800" imgH="5486400" progId="Equation.DSMT4">
                  <p:embed/>
                </p:oleObj>
              </mc:Choice>
              <mc:Fallback>
                <p:oleObj name="Equation" r:id="rId9" imgW="46024800" imgH="5486400" progId="Equation.DSMT4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38312" y="3203501"/>
                        <a:ext cx="6254151" cy="57605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0"/>
          <p:cNvGraphicFramePr>
            <a:graphicFrameLocks noChangeAspect="1"/>
          </p:cNvGraphicFramePr>
          <p:nvPr/>
        </p:nvGraphicFramePr>
        <p:xfrm>
          <a:off x="3450567" y="5448423"/>
          <a:ext cx="5589916" cy="54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1" imgW="71628000" imgH="5791200" progId="Equation.DSMT4">
                  <p:embed/>
                </p:oleObj>
              </mc:Choice>
              <mc:Fallback>
                <p:oleObj name="Equation" r:id="rId11" imgW="71628000" imgH="5791200" progId="Equation.DSMT4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50567" y="5448423"/>
                        <a:ext cx="5589916" cy="54693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Rectangle 12"/>
          <p:cNvSpPr>
            <a:spLocks noChangeArrowheads="1"/>
          </p:cNvSpPr>
          <p:nvPr/>
        </p:nvSpPr>
        <p:spPr bwMode="auto">
          <a:xfrm>
            <a:off x="2514600" y="3962401"/>
            <a:ext cx="7848600" cy="1303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A50021"/>
              </a:buClr>
              <a:buSzPct val="75000"/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样品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G</a:t>
            </a:r>
            <a:r>
              <a:rPr lang="en-US" altLang="zh-CN" sz="2800" i="1" baseline="-25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类之间的马氏距离定义为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与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G</a:t>
            </a:r>
            <a:r>
              <a:rPr lang="en-US" altLang="zh-CN" sz="2800" i="1" baseline="-25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类重心间的距离： 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035" name="Text Box 24"/>
          <p:cNvSpPr txBox="1">
            <a:spLocks noChangeArrowheads="1"/>
          </p:cNvSpPr>
          <p:nvPr/>
        </p:nvSpPr>
        <p:spPr bwMode="auto">
          <a:xfrm>
            <a:off x="2514600" y="2395644"/>
            <a:ext cx="6324600" cy="5760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125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与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Y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之间的马氏距离 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62200" y="1066801"/>
            <a:ext cx="8064500" cy="792163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马氏距离和欧式距离之间的差别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052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78E3BC1-D25F-4DAD-8A30-E151450651E4}" type="slidenum">
              <a:rPr lang="en-US" altLang="zh-CN"/>
            </a:fld>
            <a:endParaRPr lang="en-US" altLang="zh-CN"/>
          </a:p>
        </p:txBody>
      </p:sp>
      <p:graphicFrame>
        <p:nvGraphicFramePr>
          <p:cNvPr id="209928" name="Object 8"/>
          <p:cNvGraphicFramePr>
            <a:graphicFrameLocks noChangeAspect="1"/>
          </p:cNvGraphicFramePr>
          <p:nvPr/>
        </p:nvGraphicFramePr>
        <p:xfrm>
          <a:off x="4119880" y="2897347"/>
          <a:ext cx="3666227" cy="449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99669600" imgH="10972800" progId="Equation.DSMT4">
                  <p:embed/>
                </p:oleObj>
              </mc:Choice>
              <mc:Fallback>
                <p:oleObj name="Equation" r:id="rId1" imgW="99669600" imgH="109728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9880" y="2897347"/>
                        <a:ext cx="3666227" cy="4497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0" name="Object 10"/>
          <p:cNvGraphicFramePr>
            <a:graphicFrameLocks noChangeAspect="1"/>
          </p:cNvGraphicFramePr>
          <p:nvPr/>
        </p:nvGraphicFramePr>
        <p:xfrm>
          <a:off x="4171638" y="4585090"/>
          <a:ext cx="3562710" cy="449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89001600" imgH="10972800" progId="Equation.DSMT4">
                  <p:embed/>
                </p:oleObj>
              </mc:Choice>
              <mc:Fallback>
                <p:oleObj name="Equation" r:id="rId3" imgW="89001600" imgH="10972800" progId="Equation.DSMT4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71638" y="4585090"/>
                        <a:ext cx="3562710" cy="4497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33" name="Rectangle 13"/>
          <p:cNvSpPr>
            <a:spLocks noChangeArrowheads="1"/>
          </p:cNvSpPr>
          <p:nvPr/>
        </p:nvSpPr>
        <p:spPr bwMode="auto">
          <a:xfrm>
            <a:off x="2514601" y="2133600"/>
            <a:ext cx="2233613" cy="57943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800"/>
              <a:t>马氏距离</a:t>
            </a:r>
            <a:endParaRPr lang="zh-CN" altLang="en-US" sz="2800"/>
          </a:p>
        </p:txBody>
      </p:sp>
      <p:sp>
        <p:nvSpPr>
          <p:cNvPr id="209934" name="Rectangle 14"/>
          <p:cNvSpPr>
            <a:spLocks noChangeArrowheads="1"/>
          </p:cNvSpPr>
          <p:nvPr/>
        </p:nvSpPr>
        <p:spPr bwMode="auto">
          <a:xfrm>
            <a:off x="2590800" y="3657601"/>
            <a:ext cx="1606550" cy="51911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800"/>
              <a:t>欧氏距离</a:t>
            </a:r>
            <a:endParaRPr lang="zh-CN" altLang="en-US" sz="28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7" name="Rectangle 3"/>
          <p:cNvSpPr>
            <a:spLocks noGrp="1" noChangeArrowheads="1"/>
          </p:cNvSpPr>
          <p:nvPr>
            <p:ph idx="1"/>
          </p:nvPr>
        </p:nvSpPr>
        <p:spPr>
          <a:xfrm>
            <a:off x="2120266" y="154305"/>
            <a:ext cx="5904865" cy="57658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马氏距离的特点：  </a:t>
            </a:r>
            <a:endParaRPr lang="zh-CN" altLang="en-US" sz="28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7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E55AE5-84B0-4DAD-8B1D-A76BD88AF053}" type="slidenum">
              <a:rPr lang="en-US" altLang="zh-CN"/>
            </a:fld>
            <a:endParaRPr lang="en-US" altLang="zh-CN"/>
          </a:p>
        </p:txBody>
      </p:sp>
      <p:graphicFrame>
        <p:nvGraphicFramePr>
          <p:cNvPr id="216068" name="Object 4"/>
          <p:cNvGraphicFramePr>
            <a:graphicFrameLocks noChangeAspect="1"/>
          </p:cNvGraphicFramePr>
          <p:nvPr/>
        </p:nvGraphicFramePr>
        <p:xfrm>
          <a:off x="3215958" y="1673860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48463200" imgH="17678400" progId="Equation.DSMT4">
                  <p:embed/>
                </p:oleObj>
              </mc:Choice>
              <mc:Fallback>
                <p:oleObj name="Equation" r:id="rId1" imgW="48463200" imgH="176784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5958" y="1673860"/>
                        <a:ext cx="20193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69" name="Object 5"/>
          <p:cNvGraphicFramePr>
            <a:graphicFrameLocks noChangeAspect="1"/>
          </p:cNvGraphicFramePr>
          <p:nvPr/>
        </p:nvGraphicFramePr>
        <p:xfrm>
          <a:off x="3216275" y="2489200"/>
          <a:ext cx="41783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00279200" imgH="28651200" progId="Equation.DSMT4">
                  <p:embed/>
                </p:oleObj>
              </mc:Choice>
              <mc:Fallback>
                <p:oleObj name="Equation" r:id="rId3" imgW="100279200" imgH="286512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16275" y="2489200"/>
                        <a:ext cx="4178300" cy="1193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0" name="Object 6"/>
          <p:cNvGraphicFramePr>
            <a:graphicFrameLocks noChangeAspect="1"/>
          </p:cNvGraphicFramePr>
          <p:nvPr/>
        </p:nvGraphicFramePr>
        <p:xfrm>
          <a:off x="3719513" y="3568700"/>
          <a:ext cx="3238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77724000" imgH="17678400" progId="Equation.DSMT4">
                  <p:embed/>
                </p:oleObj>
              </mc:Choice>
              <mc:Fallback>
                <p:oleObj name="Equation" r:id="rId5" imgW="77724000" imgH="176784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19513" y="3568700"/>
                        <a:ext cx="32385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1" name="Object 7"/>
          <p:cNvGraphicFramePr>
            <a:graphicFrameLocks noChangeAspect="1"/>
          </p:cNvGraphicFramePr>
          <p:nvPr/>
        </p:nvGraphicFramePr>
        <p:xfrm>
          <a:off x="7100253" y="3669983"/>
          <a:ext cx="2705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64922400" imgH="15240000" progId="Equation.DSMT4">
                  <p:embed/>
                </p:oleObj>
              </mc:Choice>
              <mc:Fallback>
                <p:oleObj name="Equation" r:id="rId7" imgW="64922400" imgH="152400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00253" y="3669983"/>
                        <a:ext cx="27051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2" name="Rectangle 8"/>
          <p:cNvSpPr>
            <a:spLocks noChangeArrowheads="1"/>
          </p:cNvSpPr>
          <p:nvPr/>
        </p:nvSpPr>
        <p:spPr bwMode="auto">
          <a:xfrm>
            <a:off x="2120265" y="864871"/>
            <a:ext cx="7358380" cy="649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、马氏距离是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标准化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后的欧式距离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6073" name="Rectangle 9"/>
          <p:cNvSpPr>
            <a:spLocks noChangeArrowheads="1"/>
          </p:cNvSpPr>
          <p:nvPr/>
        </p:nvSpPr>
        <p:spPr bwMode="auto">
          <a:xfrm>
            <a:off x="2187575" y="4447541"/>
            <a:ext cx="7223760" cy="2115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、马氏距离不受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计量单位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的影响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;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侧重从概率角度测度距离，计算的是与类别中心相差几个标准差单位。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836614"/>
            <a:ext cx="8229600" cy="5545137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3</a:t>
            </a:r>
            <a:r>
              <a:rPr lang="zh-CN" altLang="en-US" sz="28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、若变量之间是相互无关的，则协方差矩阵为对角矩阵</a:t>
            </a:r>
            <a:endParaRPr lang="zh-CN" altLang="en-US" sz="28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1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60F346-43FF-4816-A970-5A8687A48AC7}" type="slidenum">
              <a:rPr lang="en-US" altLang="zh-CN"/>
            </a:fld>
            <a:endParaRPr lang="en-US" altLang="zh-CN"/>
          </a:p>
        </p:txBody>
      </p:sp>
      <p:graphicFrame>
        <p:nvGraphicFramePr>
          <p:cNvPr id="217092" name="Object 4"/>
          <p:cNvGraphicFramePr>
            <a:graphicFrameLocks noChangeAspect="1"/>
          </p:cNvGraphicFramePr>
          <p:nvPr/>
        </p:nvGraphicFramePr>
        <p:xfrm>
          <a:off x="2063750" y="2492375"/>
          <a:ext cx="36830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88392000" imgH="51206400" progId="Equation.DSMT4">
                  <p:embed/>
                </p:oleObj>
              </mc:Choice>
              <mc:Fallback>
                <p:oleObj name="Equation" r:id="rId1" imgW="88392000" imgH="512064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63750" y="2492375"/>
                        <a:ext cx="3683000" cy="2133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3" name="Object 5"/>
          <p:cNvGraphicFramePr>
            <a:graphicFrameLocks noChangeAspect="1"/>
          </p:cNvGraphicFramePr>
          <p:nvPr/>
        </p:nvGraphicFramePr>
        <p:xfrm>
          <a:off x="6121083" y="1876108"/>
          <a:ext cx="4089400" cy="363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98145600" imgH="87172800" progId="Equation.DSMT4">
                  <p:embed/>
                </p:oleObj>
              </mc:Choice>
              <mc:Fallback>
                <p:oleObj name="Equation" r:id="rId3" imgW="98145600" imgH="871728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21083" y="1876108"/>
                        <a:ext cx="4089400" cy="363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1E13C9D-B405-4A84-BA53-86E10961383B}" type="slidenum">
              <a:rPr lang="en-US" altLang="zh-CN"/>
            </a:fld>
            <a:endParaRPr lang="en-US" altLang="zh-CN"/>
          </a:p>
        </p:txBody>
      </p:sp>
      <p:graphicFrame>
        <p:nvGraphicFramePr>
          <p:cNvPr id="358400" name="Object 3072"/>
          <p:cNvGraphicFramePr>
            <a:graphicFrameLocks noChangeAspect="1"/>
          </p:cNvGraphicFramePr>
          <p:nvPr/>
        </p:nvGraphicFramePr>
        <p:xfrm>
          <a:off x="2226812" y="991438"/>
          <a:ext cx="6844489" cy="357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167640000" imgH="87172800" progId="Equation.DSMT4">
                  <p:embed/>
                </p:oleObj>
              </mc:Choice>
              <mc:Fallback>
                <p:oleObj name="Equation" r:id="rId1" imgW="167640000" imgH="87172800" progId="Equation.DSMT4">
                  <p:embed/>
                  <p:pic>
                    <p:nvPicPr>
                      <p:cNvPr id="0" name="Object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26812" y="991438"/>
                        <a:ext cx="6844489" cy="3571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1" name="Object 3073"/>
          <p:cNvGraphicFramePr>
            <a:graphicFrameLocks noChangeAspect="1"/>
          </p:cNvGraphicFramePr>
          <p:nvPr/>
        </p:nvGraphicFramePr>
        <p:xfrm>
          <a:off x="3719513" y="4868863"/>
          <a:ext cx="59563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42951200" imgH="28346400" progId="Equation.DSMT4">
                  <p:embed/>
                </p:oleObj>
              </mc:Choice>
              <mc:Fallback>
                <p:oleObj name="Equation" r:id="rId3" imgW="142951200" imgH="28346400" progId="Equation.DSMT4">
                  <p:embed/>
                  <p:pic>
                    <p:nvPicPr>
                      <p:cNvPr id="0" name="Object 30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9513" y="4868863"/>
                        <a:ext cx="5956300" cy="1181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63286B-C7E9-4FAA-B0DC-D6B42DC4C785}" type="slidenum">
              <a:rPr lang="en-US" altLang="zh-CN"/>
            </a:fld>
            <a:endParaRPr lang="en-US" altLang="zh-CN"/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4991100" y="326231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1752600" y="304801"/>
            <a:ext cx="9144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  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二、两个总体距离判别法 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2209800" y="1600200"/>
            <a:ext cx="8229600" cy="31076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设有两个协差阵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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相同的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维正态总体，对给定的样品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，判别样品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到底是来自哪一个总体，一个最直观的想法是计算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到两个总体的距离。故我们用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马氏距离来给定判别规则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，有：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eaLnBrk="0" hangingPunct="0"/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</p:txBody>
      </p:sp>
      <p:sp>
        <p:nvSpPr>
          <p:cNvPr id="6151" name="Rectangle 19"/>
          <p:cNvSpPr>
            <a:spLocks noChangeArrowheads="1"/>
          </p:cNvSpPr>
          <p:nvPr/>
        </p:nvSpPr>
        <p:spPr bwMode="auto">
          <a:xfrm>
            <a:off x="4857750" y="303371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9234" name="Object 18"/>
          <p:cNvGraphicFramePr>
            <a:graphicFrameLocks noChangeAspect="1"/>
          </p:cNvGraphicFramePr>
          <p:nvPr/>
        </p:nvGraphicFramePr>
        <p:xfrm>
          <a:off x="2803585" y="4289199"/>
          <a:ext cx="6857710" cy="2133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60350400" imgH="19507200" progId="Equation.DSMT4">
                  <p:embed/>
                </p:oleObj>
              </mc:Choice>
              <mc:Fallback>
                <p:oleObj name="Equation" r:id="rId1" imgW="60350400" imgH="19507200" progId="Equation.DSMT4">
                  <p:embed/>
                  <p:pic>
                    <p:nvPicPr>
                      <p:cNvPr id="0" name="Object 1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03585" y="4289199"/>
                        <a:ext cx="6857710" cy="21336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2743200" y="990600"/>
            <a:ext cx="4724400" cy="533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r>
              <a:rPr lang="en-US" altLang="zh-CN" sz="2800" dirty="0">
                <a:solidFill>
                  <a:srgbClr val="0070C0"/>
                </a:solidFill>
              </a:rPr>
              <a:t>1</a:t>
            </a:r>
            <a:r>
              <a:rPr lang="zh-CN" altLang="en-US" sz="2800" dirty="0">
                <a:solidFill>
                  <a:srgbClr val="0070C0"/>
                </a:solidFill>
              </a:rPr>
              <a:t>、方差相等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C8BA12-2A32-463C-8C72-FF80B651806D}" type="slidenum">
              <a:rPr lang="en-US" altLang="zh-CN"/>
            </a:fld>
            <a:endParaRPr lang="en-US" altLang="zh-CN"/>
          </a:p>
        </p:txBody>
      </p:sp>
      <p:graphicFrame>
        <p:nvGraphicFramePr>
          <p:cNvPr id="359424" name="Object 1024"/>
          <p:cNvGraphicFramePr>
            <a:graphicFrameLocks noChangeAspect="1"/>
          </p:cNvGraphicFramePr>
          <p:nvPr/>
        </p:nvGraphicFramePr>
        <p:xfrm>
          <a:off x="3486150" y="463551"/>
          <a:ext cx="5956300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142951200" imgH="25298400" progId="Equation.3">
                  <p:embed/>
                </p:oleObj>
              </mc:Choice>
              <mc:Fallback>
                <p:oleObj name="Equation" r:id="rId1" imgW="142951200" imgH="25298400" progId="Equation.3">
                  <p:embed/>
                  <p:pic>
                    <p:nvPicPr>
                      <p:cNvPr id="0" name="Object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86150" y="463551"/>
                        <a:ext cx="5956300" cy="1039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25" name="Object 1025"/>
          <p:cNvGraphicFramePr>
            <a:graphicFrameLocks noChangeAspect="1"/>
          </p:cNvGraphicFramePr>
          <p:nvPr/>
        </p:nvGraphicFramePr>
        <p:xfrm>
          <a:off x="3435350" y="1911350"/>
          <a:ext cx="39687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95097600" imgH="10668000" progId="Equation.3">
                  <p:embed/>
                </p:oleObj>
              </mc:Choice>
              <mc:Fallback>
                <p:oleObj name="Equation" r:id="rId3" imgW="95097600" imgH="10668000" progId="Equation.3">
                  <p:embed/>
                  <p:pic>
                    <p:nvPicPr>
                      <p:cNvPr id="0" name="Object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5350" y="1911350"/>
                        <a:ext cx="396875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26" name="Object 1026"/>
          <p:cNvGraphicFramePr>
            <a:graphicFrameLocks noChangeAspect="1"/>
          </p:cNvGraphicFramePr>
          <p:nvPr/>
        </p:nvGraphicFramePr>
        <p:xfrm>
          <a:off x="3200400" y="3505200"/>
          <a:ext cx="2705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64922400" imgH="10972800" progId="Equation.3">
                  <p:embed/>
                </p:oleObj>
              </mc:Choice>
              <mc:Fallback>
                <p:oleObj name="Equation" r:id="rId5" imgW="64922400" imgH="10972800" progId="Equation.3">
                  <p:embed/>
                  <p:pic>
                    <p:nvPicPr>
                      <p:cNvPr id="0" name="Object 10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0400" y="3505200"/>
                        <a:ext cx="2705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27" name="Object 1027"/>
          <p:cNvGraphicFramePr>
            <a:graphicFrameLocks noChangeAspect="1"/>
          </p:cNvGraphicFramePr>
          <p:nvPr/>
        </p:nvGraphicFramePr>
        <p:xfrm>
          <a:off x="5943600" y="3505200"/>
          <a:ext cx="30686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73456800" imgH="10972800" progId="Equation.3">
                  <p:embed/>
                </p:oleObj>
              </mc:Choice>
              <mc:Fallback>
                <p:oleObj name="Equation" r:id="rId7" imgW="73456800" imgH="10972800" progId="Equation.3">
                  <p:embed/>
                  <p:pic>
                    <p:nvPicPr>
                      <p:cNvPr id="0" name="Object 10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43600" y="3505200"/>
                        <a:ext cx="3068638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28" name="Object 1028"/>
          <p:cNvGraphicFramePr>
            <a:graphicFrameLocks noChangeAspect="1"/>
          </p:cNvGraphicFramePr>
          <p:nvPr/>
        </p:nvGraphicFramePr>
        <p:xfrm>
          <a:off x="3352801" y="4191000"/>
          <a:ext cx="42846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103022400" imgH="19812000" progId="Equation.3">
                  <p:embed/>
                </p:oleObj>
              </mc:Choice>
              <mc:Fallback>
                <p:oleObj name="Equation" r:id="rId9" imgW="103022400" imgH="19812000" progId="Equation.3">
                  <p:embed/>
                  <p:pic>
                    <p:nvPicPr>
                      <p:cNvPr id="0" name="Object 10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52801" y="4191000"/>
                        <a:ext cx="4284663" cy="83185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29" name="Object 1029"/>
          <p:cNvGraphicFramePr>
            <a:graphicFrameLocks noChangeAspect="1"/>
          </p:cNvGraphicFramePr>
          <p:nvPr/>
        </p:nvGraphicFramePr>
        <p:xfrm>
          <a:off x="2971800" y="5029200"/>
          <a:ext cx="20399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1" imgW="48768000" imgH="19812000" progId="Equation.3">
                  <p:embed/>
                </p:oleObj>
              </mc:Choice>
              <mc:Fallback>
                <p:oleObj name="Equation" r:id="rId11" imgW="48768000" imgH="19812000" progId="Equation.3">
                  <p:embed/>
                  <p:pic>
                    <p:nvPicPr>
                      <p:cNvPr id="0" name="Object 10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71800" y="5029200"/>
                        <a:ext cx="203993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30" name="Object 1030"/>
          <p:cNvGraphicFramePr>
            <a:graphicFrameLocks noChangeAspect="1"/>
          </p:cNvGraphicFramePr>
          <p:nvPr/>
        </p:nvGraphicFramePr>
        <p:xfrm>
          <a:off x="5486400" y="5209032"/>
          <a:ext cx="4610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110642400" imgH="12192000" progId="Equation.3">
                  <p:embed/>
                </p:oleObj>
              </mc:Choice>
              <mc:Fallback>
                <p:oleObj name="Equation" r:id="rId13" imgW="110642400" imgH="12192000" progId="Equation.3">
                  <p:embed/>
                  <p:pic>
                    <p:nvPicPr>
                      <p:cNvPr id="0" name="Object 10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86400" y="5209032"/>
                        <a:ext cx="461010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31" name="Object 1031"/>
          <p:cNvGraphicFramePr>
            <a:graphicFrameLocks noChangeAspect="1"/>
          </p:cNvGraphicFramePr>
          <p:nvPr/>
        </p:nvGraphicFramePr>
        <p:xfrm>
          <a:off x="3384550" y="2590800"/>
          <a:ext cx="4057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97231200" imgH="10668000" progId="Equation.3">
                  <p:embed/>
                </p:oleObj>
              </mc:Choice>
              <mc:Fallback>
                <p:oleObj name="Equation" r:id="rId15" imgW="97231200" imgH="10668000" progId="Equation.3">
                  <p:embed/>
                  <p:pic>
                    <p:nvPicPr>
                      <p:cNvPr id="0" name="Object 103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84550" y="2590800"/>
                        <a:ext cx="405765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B9B754-3C75-4066-8F0B-C772ADC36490}" type="slidenum">
              <a:rPr lang="en-US" altLang="zh-CN"/>
            </a:fld>
            <a:endParaRPr lang="en-US" altLang="zh-CN"/>
          </a:p>
        </p:txBody>
      </p:sp>
      <p:sp>
        <p:nvSpPr>
          <p:cNvPr id="8201" name="Rectangle 2051"/>
          <p:cNvSpPr>
            <a:spLocks noChangeArrowheads="1"/>
          </p:cNvSpPr>
          <p:nvPr/>
        </p:nvSpPr>
        <p:spPr bwMode="auto">
          <a:xfrm>
            <a:off x="5848350" y="3328988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02" name="Rectangle 2053"/>
          <p:cNvSpPr>
            <a:spLocks noChangeArrowheads="1"/>
          </p:cNvSpPr>
          <p:nvPr/>
        </p:nvSpPr>
        <p:spPr bwMode="auto">
          <a:xfrm>
            <a:off x="5405438" y="3328988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203" name="Rectangle 2055"/>
          <p:cNvSpPr>
            <a:spLocks noChangeArrowheads="1"/>
          </p:cNvSpPr>
          <p:nvPr/>
        </p:nvSpPr>
        <p:spPr bwMode="auto">
          <a:xfrm>
            <a:off x="5143500" y="3309938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1993" name="Rectangle 2057"/>
          <p:cNvSpPr>
            <a:spLocks noChangeArrowheads="1"/>
          </p:cNvSpPr>
          <p:nvPr/>
        </p:nvSpPr>
        <p:spPr bwMode="auto">
          <a:xfrm>
            <a:off x="1524000" y="2133600"/>
            <a:ext cx="9144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indent="1111250" algn="just"/>
            <a:r>
              <a:rPr lang="zh-CN" altLang="en-US" sz="2800">
                <a:latin typeface="Times New Roman" panose="02020503050405090304" pitchFamily="18" charset="0"/>
              </a:rPr>
              <a:t>则前面的判别法则表示为</a:t>
            </a:r>
            <a:endParaRPr lang="zh-CN" altLang="en-US" sz="2800">
              <a:latin typeface="Times New Roman" panose="02020503050405090304" pitchFamily="18" charset="0"/>
            </a:endParaRPr>
          </a:p>
        </p:txBody>
      </p:sp>
      <p:graphicFrame>
        <p:nvGraphicFramePr>
          <p:cNvPr id="360448" name="Object 3072"/>
          <p:cNvGraphicFramePr>
            <a:graphicFrameLocks noChangeAspect="1"/>
          </p:cNvGraphicFramePr>
          <p:nvPr/>
        </p:nvGraphicFramePr>
        <p:xfrm>
          <a:off x="2659844" y="2809558"/>
          <a:ext cx="4524401" cy="1571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36271200" imgH="17678400" progId="Equation.DSMT4">
                  <p:embed/>
                </p:oleObj>
              </mc:Choice>
              <mc:Fallback>
                <p:oleObj name="Equation" r:id="rId1" imgW="36271200" imgH="17678400" progId="Equation.DSMT4">
                  <p:embed/>
                  <p:pic>
                    <p:nvPicPr>
                      <p:cNvPr id="0" name="Object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59844" y="2809558"/>
                        <a:ext cx="4524401" cy="1571944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52"/>
          <p:cNvGrpSpPr/>
          <p:nvPr/>
        </p:nvGrpSpPr>
        <p:grpSpPr bwMode="auto">
          <a:xfrm>
            <a:off x="1673332" y="4227514"/>
            <a:ext cx="8694314" cy="2652713"/>
            <a:chOff x="94" y="2663"/>
            <a:chExt cx="5666" cy="1671"/>
          </a:xfrm>
        </p:grpSpPr>
        <p:sp>
          <p:nvSpPr>
            <p:cNvPr id="8206" name="Rectangle 2060"/>
            <p:cNvSpPr>
              <a:spLocks noChangeArrowheads="1"/>
            </p:cNvSpPr>
            <p:nvPr/>
          </p:nvSpPr>
          <p:spPr bwMode="auto">
            <a:xfrm>
              <a:off x="94" y="2663"/>
              <a:ext cx="5666" cy="16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just" fontAlgn="auto">
                <a:lnSpc>
                  <a:spcPct val="150000"/>
                </a:lnSpc>
              </a:pPr>
              <a:r>
                <a:rPr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        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当           和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  <a:sym typeface="Symbol" panose="05050102010706020507" pitchFamily="18" charset="2"/>
                </a:rPr>
                <a:t>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已知时，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  <a:sym typeface="Symbol" panose="05050102010706020507" pitchFamily="18" charset="2"/>
                </a:rPr>
                <a:t>                      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是一个已知的</a:t>
              </a:r>
              <a:r>
                <a:rPr lang="en-US" altLang="zh-CN" sz="2800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p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维向量，</a:t>
              </a:r>
              <a:r>
                <a:rPr lang="en-US" altLang="zh-CN" sz="2800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W</a:t>
              </a:r>
              <a:r>
                <a:rPr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(</a:t>
              </a:r>
              <a:r>
                <a:rPr lang="en-US" altLang="zh-CN" sz="2800" i="1" dirty="0">
                  <a:latin typeface="Times New Roman" panose="02020503050405090304" pitchFamily="18" charset="0"/>
                  <a:cs typeface="Times New Roman" panose="0202050305040509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  <a:sym typeface="Symbol" panose="05050102010706020507" pitchFamily="18" charset="2"/>
                </a:rPr>
                <a:t>)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  <a:sym typeface="Symbol" panose="05050102010706020507" pitchFamily="18" charset="2"/>
                </a:rPr>
                <a:t>是</a:t>
              </a:r>
              <a:r>
                <a:rPr lang="en-US" altLang="zh-CN" sz="2800" i="1" dirty="0">
                  <a:latin typeface="Times New Roman" panose="02020503050405090304" pitchFamily="18" charset="0"/>
                  <a:cs typeface="Times New Roman" panose="02020503050405090304" pitchFamily="18" charset="0"/>
                  <a:sym typeface="Symbol" panose="05050102010706020507" pitchFamily="18" charset="2"/>
                </a:rPr>
                <a:t>y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  <a:sym typeface="Symbol" panose="05050102010706020507" pitchFamily="18" charset="2"/>
                </a:rPr>
                <a:t>的线性函数，称为</a:t>
              </a:r>
              <a:r>
                <a:rPr lang="zh-CN" altLang="en-US" sz="28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  <a:sym typeface="Symbol" panose="05050102010706020507" pitchFamily="18" charset="2"/>
                </a:rPr>
                <a:t>线性判别函数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  <a:sym typeface="Symbol" panose="05050102010706020507" pitchFamily="18" charset="2"/>
                </a:rPr>
                <a:t>。</a:t>
              </a:r>
              <a:r>
                <a:rPr lang="zh-CN" altLang="en-US" sz="2800" i="1" dirty="0">
                  <a:latin typeface="Times New Roman" panose="02020503050405090304" pitchFamily="18" charset="0"/>
                  <a:cs typeface="Times New Roman" panose="02020503050405090304" pitchFamily="18" charset="0"/>
                  <a:sym typeface="Symbol" panose="05050102010706020507" pitchFamily="18" charset="2"/>
                </a:rPr>
                <a:t>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称为</a:t>
              </a:r>
              <a:r>
                <a:rPr lang="zh-CN" altLang="en-US" sz="28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判别系数</a:t>
              </a:r>
              <a:r>
                <a:rPr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。用线性判别函数进行判别分析非常直观，使用起来最方便，在实际中的应用也最广泛。</a:t>
              </a:r>
              <a:endPara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8198" name="Object 3076"/>
            <p:cNvGraphicFramePr>
              <a:graphicFrameLocks noChangeAspect="1"/>
            </p:cNvGraphicFramePr>
            <p:nvPr/>
          </p:nvGraphicFramePr>
          <p:xfrm>
            <a:off x="891" y="2760"/>
            <a:ext cx="512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3" imgW="19507200" imgH="10058400" progId="Equation.3">
                    <p:embed/>
                  </p:oleObj>
                </mc:Choice>
                <mc:Fallback>
                  <p:oleObj name="Equation" r:id="rId3" imgW="19507200" imgH="10058400" progId="Equation.3">
                    <p:embed/>
                    <p:pic>
                      <p:nvPicPr>
                        <p:cNvPr id="0" name="Object 30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1" y="2760"/>
                          <a:ext cx="512" cy="2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9" name="Object 3077"/>
            <p:cNvGraphicFramePr>
              <a:graphicFrameLocks noChangeAspect="1"/>
            </p:cNvGraphicFramePr>
            <p:nvPr/>
          </p:nvGraphicFramePr>
          <p:xfrm>
            <a:off x="2711" y="2760"/>
            <a:ext cx="146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5" imgW="56083200" imgH="10972800" progId="Equation.3">
                    <p:embed/>
                  </p:oleObj>
                </mc:Choice>
                <mc:Fallback>
                  <p:oleObj name="Equation" r:id="rId5" imgW="56083200" imgH="10972800" progId="Equation.3">
                    <p:embed/>
                    <p:pic>
                      <p:nvPicPr>
                        <p:cNvPr id="0" name="Object 30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11" y="2760"/>
                          <a:ext cx="1464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0449" name="Object 3073"/>
          <p:cNvGraphicFramePr>
            <a:graphicFrameLocks noChangeAspect="1"/>
          </p:cNvGraphicFramePr>
          <p:nvPr/>
        </p:nvGraphicFramePr>
        <p:xfrm>
          <a:off x="3267711" y="588011"/>
          <a:ext cx="4250055" cy="49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1828800" imgH="215900" progId="Equation.3">
                  <p:embed/>
                </p:oleObj>
              </mc:Choice>
              <mc:Fallback>
                <p:oleObj name="Equation" r:id="rId7" imgW="1828800" imgH="215900" progId="Equation.3">
                  <p:embed/>
                  <p:pic>
                    <p:nvPicPr>
                      <p:cNvPr id="0" name="Object 307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67711" y="588011"/>
                        <a:ext cx="4250055" cy="495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50" name="Object 3074"/>
          <p:cNvGraphicFramePr>
            <a:graphicFrameLocks noChangeAspect="1"/>
          </p:cNvGraphicFramePr>
          <p:nvPr/>
        </p:nvGraphicFramePr>
        <p:xfrm>
          <a:off x="4114800" y="1179196"/>
          <a:ext cx="4097020" cy="516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1930400" imgH="241300" progId="Equation.3">
                  <p:embed/>
                </p:oleObj>
              </mc:Choice>
              <mc:Fallback>
                <p:oleObj name="Equation" r:id="rId9" imgW="1930400" imgH="241300" progId="Equation.3">
                  <p:embed/>
                  <p:pic>
                    <p:nvPicPr>
                      <p:cNvPr id="0" name="Object 307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14800" y="1179196"/>
                        <a:ext cx="4097020" cy="5162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51" name="Object 3075"/>
          <p:cNvGraphicFramePr>
            <a:graphicFrameLocks noChangeAspect="1"/>
          </p:cNvGraphicFramePr>
          <p:nvPr/>
        </p:nvGraphicFramePr>
        <p:xfrm>
          <a:off x="4114801" y="1613535"/>
          <a:ext cx="211899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1" imgW="711200" imgH="203200" progId="Equation.3">
                  <p:embed/>
                </p:oleObj>
              </mc:Choice>
              <mc:Fallback>
                <p:oleObj name="Equation" r:id="rId11" imgW="711200" imgH="203200" progId="Equation.3">
                  <p:embed/>
                  <p:pic>
                    <p:nvPicPr>
                      <p:cNvPr id="0" name="Object 307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14801" y="1613535"/>
                        <a:ext cx="2118995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文本框 23553"/>
          <p:cNvSpPr txBox="1"/>
          <p:nvPr/>
        </p:nvSpPr>
        <p:spPr>
          <a:xfrm>
            <a:off x="1752600" y="1295400"/>
            <a:ext cx="8745538" cy="1114664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</a:t>
            </a:r>
            <a:r>
              <a:rPr lang="en-US" altLang="en-US" sz="2800" dirty="0" err="1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例如</a:t>
            </a:r>
            <a:r>
              <a:rPr lang="en-US" altLang="zh-CN" sz="2800" i="1" dirty="0" err="1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=2</a:t>
            </a:r>
            <a:r>
              <a:rPr lang="en-US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时,直线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W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)=0</a:t>
            </a:r>
            <a:r>
              <a:rPr lang="en-US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把平面分为两个区域</a:t>
            </a:r>
            <a:endParaRPr lang="en-US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en-US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en-US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en-US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    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2531" name="文本框 23554"/>
          <p:cNvSpPr txBox="1"/>
          <p:nvPr/>
        </p:nvSpPr>
        <p:spPr>
          <a:xfrm>
            <a:off x="1736726" y="12398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2532" name="直接连接符 23555"/>
          <p:cNvSpPr/>
          <p:nvPr/>
        </p:nvSpPr>
        <p:spPr>
          <a:xfrm>
            <a:off x="2133600" y="4724400"/>
            <a:ext cx="7467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3" name="直接连接符 23556"/>
          <p:cNvSpPr/>
          <p:nvPr/>
        </p:nvSpPr>
        <p:spPr>
          <a:xfrm flipV="1">
            <a:off x="6172200" y="2514600"/>
            <a:ext cx="0" cy="434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4" name="直接连接符 23557"/>
          <p:cNvSpPr/>
          <p:nvPr/>
        </p:nvSpPr>
        <p:spPr>
          <a:xfrm>
            <a:off x="3810000" y="2667000"/>
            <a:ext cx="5486400" cy="35814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5" name="文本框 23558"/>
          <p:cNvSpPr txBox="1"/>
          <p:nvPr/>
        </p:nvSpPr>
        <p:spPr>
          <a:xfrm>
            <a:off x="8153400" y="5257800"/>
            <a:ext cx="136768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W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)=0</a:t>
            </a:r>
            <a:endParaRPr lang="en-US" altLang="zh-CN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3560" name="文本框 23559"/>
          <p:cNvSpPr txBox="1"/>
          <p:nvPr/>
        </p:nvSpPr>
        <p:spPr>
          <a:xfrm>
            <a:off x="5410200" y="2667000"/>
            <a:ext cx="4352474" cy="52322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en-US" altLang="zh-CN" sz="2800" b="1" baseline="-24000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={X </a:t>
            </a:r>
            <a:r>
              <a:rPr lang="en-US" altLang="zh-CN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=(</a:t>
            </a:r>
            <a:r>
              <a:rPr lang="en-US" altLang="zh-CN" sz="2800" b="1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 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en-US" altLang="zh-CN" sz="2800" b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en-US" altLang="zh-CN" sz="2800" b="1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 </a:t>
            </a:r>
            <a:r>
              <a:rPr lang="en-US" altLang="zh-CN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)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:</a:t>
            </a:r>
            <a:r>
              <a:rPr lang="en-US" altLang="zh-CN" sz="2800" b="1" i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W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b="1" i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)＞0}</a:t>
            </a:r>
            <a:endParaRPr lang="en-US" altLang="zh-CN" sz="28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3561" name="文本框 23560"/>
          <p:cNvSpPr txBox="1"/>
          <p:nvPr/>
        </p:nvSpPr>
        <p:spPr>
          <a:xfrm>
            <a:off x="2209801" y="4876801"/>
            <a:ext cx="4176143" cy="1061829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i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</a:t>
            </a:r>
            <a:r>
              <a:rPr lang="en-US" altLang="zh-CN" sz="2800" b="1" baseline="-24000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={</a:t>
            </a:r>
            <a:r>
              <a:rPr lang="en-US" altLang="zh-CN" sz="2800" b="1" i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en-US" altLang="zh-CN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=(</a:t>
            </a:r>
            <a:r>
              <a:rPr lang="en-US" altLang="zh-CN" sz="2800" b="1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 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en-US" altLang="zh-CN" sz="2800" b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en-US" altLang="zh-CN" sz="2800" b="1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 </a:t>
            </a:r>
            <a:r>
              <a:rPr lang="en-US" altLang="zh-CN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:</a:t>
            </a:r>
            <a:r>
              <a:rPr lang="en-US" altLang="zh-CN" sz="2800" b="1" i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W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b="1" i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)&lt;0}</a:t>
            </a:r>
            <a:endParaRPr lang="en-US" altLang="zh-CN" sz="28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endParaRPr lang="en-US" altLang="zh-CN" sz="28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2538" name="文本框 23561"/>
          <p:cNvSpPr txBox="1"/>
          <p:nvPr/>
        </p:nvSpPr>
        <p:spPr>
          <a:xfrm>
            <a:off x="9661525" y="4410075"/>
            <a:ext cx="48442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endParaRPr lang="en-US" altLang="zh-CN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2539" name="文本框 23562"/>
          <p:cNvSpPr txBox="1"/>
          <p:nvPr/>
        </p:nvSpPr>
        <p:spPr>
          <a:xfrm>
            <a:off x="5943600" y="2057400"/>
            <a:ext cx="48442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endParaRPr lang="en-US" altLang="zh-CN" sz="2800" b="1" baseline="-200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2541" name="文本框 23564"/>
          <p:cNvSpPr txBox="1"/>
          <p:nvPr/>
        </p:nvSpPr>
        <p:spPr>
          <a:xfrm>
            <a:off x="2553970" y="242889"/>
            <a:ext cx="5133136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两总体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Σ</a:t>
            </a:r>
            <a:r>
              <a:rPr lang="en-US" altLang="zh-CN" sz="3600" baseline="-2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=Σ</a:t>
            </a:r>
            <a:r>
              <a:rPr lang="en-US" altLang="zh-CN" sz="3600" baseline="-2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时的判别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0" grpId="0"/>
      <p:bldP spid="2356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文本框 24577"/>
          <p:cNvSpPr txBox="1"/>
          <p:nvPr/>
        </p:nvSpPr>
        <p:spPr>
          <a:xfrm>
            <a:off x="1828800" y="1431926"/>
            <a:ext cx="8382000" cy="58041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en-US" sz="2800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</a:t>
            </a:r>
            <a:endParaRPr lang="en-US" altLang="en-US" sz="2800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3555" name="文本框 24578"/>
          <p:cNvSpPr txBox="1"/>
          <p:nvPr/>
        </p:nvSpPr>
        <p:spPr>
          <a:xfrm>
            <a:off x="1736726" y="12398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3556" name="文本框 24579"/>
          <p:cNvSpPr txBox="1"/>
          <p:nvPr/>
        </p:nvSpPr>
        <p:spPr>
          <a:xfrm>
            <a:off x="1828800" y="1371601"/>
            <a:ext cx="8534400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考察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的特殊情况,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并设两总体为正态总体，其分布已知为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</a:t>
            </a:r>
            <a:r>
              <a:rPr lang="en-US" altLang="zh-CN" sz="2800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</a:t>
            </a:r>
            <a:r>
              <a:rPr lang="en-US" altLang="zh-CN" sz="2800" baseline="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</a:t>
            </a:r>
            <a:r>
              <a:rPr lang="en-US" altLang="zh-CN" sz="2800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</a:t>
            </a:r>
            <a:r>
              <a:rPr lang="en-US" altLang="zh-CN" sz="2800" baseline="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两总体的方差相同，记为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</a:t>
            </a:r>
            <a:r>
              <a:rPr lang="en-US" altLang="zh-CN" sz="2800" baseline="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),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这时判别函数为</a:t>
            </a:r>
            <a:endParaRPr lang="zh-CN" altLang="en-US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3557" name="文本框 24580"/>
          <p:cNvSpPr txBox="1"/>
          <p:nvPr/>
        </p:nvSpPr>
        <p:spPr>
          <a:xfrm>
            <a:off x="2574926" y="32210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24582" name="对象 24581"/>
          <p:cNvGraphicFramePr>
            <a:graphicFrameLocks noChangeAspect="1"/>
          </p:cNvGraphicFramePr>
          <p:nvPr/>
        </p:nvGraphicFramePr>
        <p:xfrm>
          <a:off x="2286000" y="3048000"/>
          <a:ext cx="7848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5676900" imgH="647700" progId="">
                  <p:embed/>
                </p:oleObj>
              </mc:Choice>
              <mc:Fallback>
                <p:oleObj name="" r:id="rId1" imgW="5676900" imgH="647700" progId="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0" y="3048000"/>
                        <a:ext cx="7848600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文本框 24582"/>
          <p:cNvSpPr txBox="1"/>
          <p:nvPr/>
        </p:nvSpPr>
        <p:spPr>
          <a:xfrm>
            <a:off x="3641726" y="43640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24584" name="对象 24583"/>
          <p:cNvGraphicFramePr>
            <a:graphicFrameLocks noChangeAspect="1"/>
          </p:cNvGraphicFramePr>
          <p:nvPr/>
        </p:nvGraphicFramePr>
        <p:xfrm>
          <a:off x="3276600" y="4114800"/>
          <a:ext cx="5181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946400" imgH="647700" progId="">
                  <p:embed/>
                </p:oleObj>
              </mc:Choice>
              <mc:Fallback>
                <p:oleObj name="" r:id="rId3" imgW="2946400" imgH="647700" progId="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4114800"/>
                        <a:ext cx="518160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文本框 24584"/>
          <p:cNvSpPr txBox="1"/>
          <p:nvPr/>
        </p:nvSpPr>
        <p:spPr>
          <a:xfrm>
            <a:off x="1905000" y="42672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</a:rPr>
              <a:t>其中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</a:endParaRPr>
          </a:p>
        </p:txBody>
      </p:sp>
      <p:sp>
        <p:nvSpPr>
          <p:cNvPr id="24586" name="文本框 24585"/>
          <p:cNvSpPr txBox="1"/>
          <p:nvPr/>
        </p:nvSpPr>
        <p:spPr>
          <a:xfrm>
            <a:off x="1828800" y="5094606"/>
            <a:ext cx="7040710" cy="130317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不妨设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</a:t>
            </a:r>
            <a:r>
              <a:rPr lang="en-US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&gt;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</a:t>
            </a:r>
            <a:r>
              <a:rPr lang="en-US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则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为正数，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W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的符号取决于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&gt;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或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&lt;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4587" name="直接连接符 24586"/>
          <p:cNvSpPr/>
          <p:nvPr/>
        </p:nvSpPr>
        <p:spPr>
          <a:xfrm>
            <a:off x="2199640" y="5984875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88" name="直接连接符 24587"/>
          <p:cNvSpPr/>
          <p:nvPr/>
        </p:nvSpPr>
        <p:spPr>
          <a:xfrm>
            <a:off x="3128010" y="5984875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65" name="文本框 24588"/>
          <p:cNvSpPr txBox="1"/>
          <p:nvPr/>
        </p:nvSpPr>
        <p:spPr>
          <a:xfrm>
            <a:off x="2884805" y="387034"/>
            <a:ext cx="5133136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两总体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Σ</a:t>
            </a:r>
            <a:r>
              <a:rPr lang="en-US" altLang="zh-CN" sz="3600" baseline="-2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=Σ</a:t>
            </a:r>
            <a:r>
              <a:rPr lang="en-US" altLang="zh-CN" sz="3600" baseline="-2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时的判别</a:t>
            </a:r>
            <a:endParaRPr lang="zh-CN" altLang="en-US" sz="3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59" grpId="0"/>
      <p:bldP spid="24585" grpId="0"/>
      <p:bldP spid="24586" grpId="0"/>
      <p:bldP spid="24587" grpId="0" animBg="1"/>
      <p:bldP spid="2458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文本框 25601"/>
          <p:cNvSpPr txBox="1"/>
          <p:nvPr/>
        </p:nvSpPr>
        <p:spPr>
          <a:xfrm>
            <a:off x="1828800" y="1431926"/>
            <a:ext cx="8382000" cy="647421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en-US" sz="3200" b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      </a:t>
            </a:r>
            <a:endParaRPr lang="en-US" altLang="en-US" sz="3200" b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</a:endParaRPr>
          </a:p>
        </p:txBody>
      </p:sp>
      <p:sp>
        <p:nvSpPr>
          <p:cNvPr id="24579" name="文本框 25602"/>
          <p:cNvSpPr txBox="1"/>
          <p:nvPr/>
        </p:nvSpPr>
        <p:spPr>
          <a:xfrm>
            <a:off x="1736726" y="1239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4580" name="文本框 25603"/>
          <p:cNvSpPr txBox="1"/>
          <p:nvPr/>
        </p:nvSpPr>
        <p:spPr>
          <a:xfrm>
            <a:off x="2574926" y="3221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4581" name="文本框 25604"/>
          <p:cNvSpPr txBox="1"/>
          <p:nvPr/>
        </p:nvSpPr>
        <p:spPr>
          <a:xfrm>
            <a:off x="36417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4582" name="文本框 25605"/>
          <p:cNvSpPr txBox="1"/>
          <p:nvPr/>
        </p:nvSpPr>
        <p:spPr>
          <a:xfrm>
            <a:off x="3641726" y="5659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4583" name="文本框 25606"/>
          <p:cNvSpPr txBox="1"/>
          <p:nvPr/>
        </p:nvSpPr>
        <p:spPr>
          <a:xfrm>
            <a:off x="1828800" y="677545"/>
            <a:ext cx="8610600" cy="194950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用这种判别法会发生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错判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,如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来自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但却落入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被判为属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错判的概率为下图中阴影左半部分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的面积,并记为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P(2|1).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类似有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P(1|2).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584" name="文本框 25607"/>
          <p:cNvSpPr txBox="1"/>
          <p:nvPr/>
        </p:nvSpPr>
        <p:spPr>
          <a:xfrm>
            <a:off x="3641726" y="4516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pic>
        <p:nvPicPr>
          <p:cNvPr id="24585" name="图片 25608" descr="Sht62"/>
          <p:cNvPicPr>
            <a:picLocks noChangeAspect="1"/>
          </p:cNvPicPr>
          <p:nvPr/>
        </p:nvPicPr>
        <p:blipFill>
          <a:blip r:embed="rId1">
            <a:lum bright="-23999" contrast="42000"/>
          </a:blip>
          <a:stretch>
            <a:fillRect/>
          </a:stretch>
        </p:blipFill>
        <p:spPr>
          <a:xfrm>
            <a:off x="1828800" y="2819400"/>
            <a:ext cx="8305800" cy="3505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6" name="文本框 25609"/>
          <p:cNvSpPr txBox="1"/>
          <p:nvPr/>
        </p:nvSpPr>
        <p:spPr>
          <a:xfrm>
            <a:off x="5241926" y="6269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4587" name="文本框 25610"/>
          <p:cNvSpPr txBox="1"/>
          <p:nvPr/>
        </p:nvSpPr>
        <p:spPr>
          <a:xfrm>
            <a:off x="4572000" y="6019801"/>
            <a:ext cx="3124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CC3300"/>
                </a:solidFill>
                <a:latin typeface="Arial" panose="020B0604020202090204" pitchFamily="34" charset="0"/>
              </a:rPr>
              <a:t>分界点</a:t>
            </a:r>
            <a:r>
              <a:rPr lang="en-US" altLang="zh-CN" sz="3200" b="1" dirty="0">
                <a:solidFill>
                  <a:srgbClr val="CC3300"/>
                </a:solidFill>
                <a:latin typeface="Arial" panose="020B0604020202090204" pitchFamily="34" charset="0"/>
              </a:rPr>
              <a:t>μ=</a:t>
            </a:r>
            <a:r>
              <a:rPr lang="en-US" altLang="zh-CN" sz="2800" b="1" dirty="0">
                <a:solidFill>
                  <a:srgbClr val="CC3300"/>
                </a:solidFill>
                <a:latin typeface="Arial" panose="020B0604020202090204" pitchFamily="34" charset="0"/>
              </a:rPr>
              <a:t>77.5</a:t>
            </a:r>
            <a:endParaRPr lang="en-US" altLang="zh-CN" sz="3200" b="1" dirty="0">
              <a:solidFill>
                <a:srgbClr val="CC3300"/>
              </a:solidFill>
              <a:latin typeface="Arial" panose="020B0604020202090204" pitchFamily="34" charset="0"/>
            </a:endParaRPr>
          </a:p>
        </p:txBody>
      </p:sp>
      <p:sp>
        <p:nvSpPr>
          <p:cNvPr id="24588" name="直接连接符 25611"/>
          <p:cNvSpPr/>
          <p:nvPr/>
        </p:nvSpPr>
        <p:spPr>
          <a:xfrm>
            <a:off x="5364480" y="6172200"/>
            <a:ext cx="2286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文本框 26625"/>
          <p:cNvSpPr txBox="1"/>
          <p:nvPr/>
        </p:nvSpPr>
        <p:spPr>
          <a:xfrm>
            <a:off x="1828800" y="1431926"/>
            <a:ext cx="8382000" cy="647421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en-US" sz="3200" b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      </a:t>
            </a:r>
            <a:endParaRPr lang="en-US" altLang="en-US" sz="3200" b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</a:endParaRPr>
          </a:p>
        </p:txBody>
      </p:sp>
      <p:sp>
        <p:nvSpPr>
          <p:cNvPr id="25603" name="文本框 26626"/>
          <p:cNvSpPr txBox="1"/>
          <p:nvPr/>
        </p:nvSpPr>
        <p:spPr>
          <a:xfrm>
            <a:off x="1736726" y="1239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5604" name="文本框 26627"/>
          <p:cNvSpPr txBox="1"/>
          <p:nvPr/>
        </p:nvSpPr>
        <p:spPr>
          <a:xfrm>
            <a:off x="1157288" y="1371601"/>
            <a:ext cx="8520112" cy="5618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Arial" panose="020B0604020202090204" pitchFamily="34" charset="0"/>
              </a:rPr>
              <a:t>   </a:t>
            </a:r>
            <a:endParaRPr lang="zh-CN" altLang="en-US" b="1" dirty="0">
              <a:latin typeface="Arial" panose="020B0604020202090204" pitchFamily="34" charset="0"/>
            </a:endParaRPr>
          </a:p>
        </p:txBody>
      </p:sp>
      <p:sp>
        <p:nvSpPr>
          <p:cNvPr id="25605" name="文本框 26628"/>
          <p:cNvSpPr txBox="1"/>
          <p:nvPr/>
        </p:nvSpPr>
        <p:spPr>
          <a:xfrm>
            <a:off x="2574926" y="3221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5606" name="文本框 26629"/>
          <p:cNvSpPr txBox="1"/>
          <p:nvPr/>
        </p:nvSpPr>
        <p:spPr>
          <a:xfrm>
            <a:off x="36417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5607" name="文本框 26630"/>
          <p:cNvSpPr txBox="1"/>
          <p:nvPr/>
        </p:nvSpPr>
        <p:spPr>
          <a:xfrm>
            <a:off x="3641726" y="5659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26632" name="文本框 26631"/>
          <p:cNvSpPr txBox="1"/>
          <p:nvPr/>
        </p:nvSpPr>
        <p:spPr>
          <a:xfrm>
            <a:off x="1736726" y="303530"/>
            <a:ext cx="9021763" cy="655447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上例中,当</a:t>
            </a:r>
            <a:r>
              <a:rPr lang="en-US" sz="2800" i="1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</a:t>
            </a:r>
            <a:r>
              <a:rPr lang="en-US" sz="2800" i="1" baseline="-200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sz="28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=80,</a:t>
            </a:r>
            <a:r>
              <a:rPr lang="en-US" sz="2800" i="1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</a:t>
            </a:r>
            <a:r>
              <a:rPr lang="en-US" sz="2800" i="1" baseline="-200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sz="28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=75,σ=2</a:t>
            </a:r>
            <a:r>
              <a:rPr lang="zh-CN" altLang="en-US" sz="28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</a:t>
            </a:r>
            <a:endParaRPr lang="zh-CN" altLang="en-US" sz="280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分界点</a:t>
            </a:r>
            <a:r>
              <a:rPr lang="en-US" sz="28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 = (80+75)/2=77.5,</a:t>
            </a:r>
            <a:r>
              <a:rPr lang="zh-CN" altLang="en-US" sz="28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故错判概率为</a:t>
            </a:r>
            <a:endParaRPr lang="zh-CN" altLang="en-US" sz="280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</a:t>
            </a: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P(2|1)= P{</a:t>
            </a:r>
            <a:r>
              <a:rPr lang="en-US" sz="2800" i="1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&lt;77.5|</a:t>
            </a:r>
            <a:r>
              <a:rPr lang="en-US" sz="2800" i="1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∈</a:t>
            </a:r>
            <a:r>
              <a:rPr lang="en-US" sz="2800" i="1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G</a:t>
            </a:r>
            <a:r>
              <a:rPr lang="en-US" sz="2800" baseline="-240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}     (</a:t>
            </a:r>
            <a:r>
              <a:rPr lang="en-US" sz="2800" i="1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~N(80,4) ) </a:t>
            </a:r>
            <a:endParaRPr lang="en-US" sz="2800">
              <a:solidFill>
                <a:srgbClr val="0681C6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     = P{(</a:t>
            </a:r>
            <a:r>
              <a:rPr lang="en-US" sz="2800" i="1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-80)/2&lt;(77.5-80)/2}</a:t>
            </a:r>
            <a:endParaRPr lang="en-US" sz="2800">
              <a:solidFill>
                <a:srgbClr val="0681C6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     = P{</a:t>
            </a:r>
            <a:r>
              <a:rPr lang="en-US" sz="2800" i="1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U</a:t>
            </a: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&lt;-1.25}            </a:t>
            </a:r>
            <a:r>
              <a:rPr lang="en-US" sz="2800">
                <a:solidFill>
                  <a:srgbClr val="AA2A2A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sz="2800" i="1">
                <a:solidFill>
                  <a:srgbClr val="AA2A2A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U</a:t>
            </a:r>
            <a:r>
              <a:rPr lang="en-US" sz="2800">
                <a:solidFill>
                  <a:srgbClr val="AA2A2A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=(</a:t>
            </a:r>
            <a:r>
              <a:rPr lang="en-US" sz="2800" i="1">
                <a:solidFill>
                  <a:srgbClr val="AA2A2A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sz="2800">
                <a:solidFill>
                  <a:srgbClr val="AA2A2A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-80)/2~N(0,1) )</a:t>
            </a:r>
            <a:endParaRPr lang="en-US" sz="2800">
              <a:solidFill>
                <a:srgbClr val="AA2A2A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     = 1-Φ(1.25)= 0.1056</a:t>
            </a:r>
            <a:endParaRPr lang="en-US" sz="2800">
              <a:solidFill>
                <a:srgbClr val="0681C6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</a:t>
            </a: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P(1|2)= P{</a:t>
            </a:r>
            <a:r>
              <a:rPr lang="en-US" sz="2800" i="1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&gt;77.5|</a:t>
            </a:r>
            <a:r>
              <a:rPr lang="en-US" sz="2800" i="1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∈</a:t>
            </a:r>
            <a:r>
              <a:rPr lang="en-US" sz="2800" i="1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G</a:t>
            </a:r>
            <a:r>
              <a:rPr lang="en-US" sz="2800" baseline="-240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}       (</a:t>
            </a:r>
            <a:r>
              <a:rPr lang="en-US" sz="2800" i="1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~N(75,4) ) </a:t>
            </a:r>
            <a:endParaRPr lang="en-US" sz="2800">
              <a:solidFill>
                <a:srgbClr val="1EA43B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     = P{(</a:t>
            </a:r>
            <a:r>
              <a:rPr lang="en-US" sz="2800" i="1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-75)/2&gt;(77.5-75)/2}</a:t>
            </a:r>
            <a:endParaRPr lang="en-US" sz="2800">
              <a:solidFill>
                <a:srgbClr val="1EA43B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     = P{</a:t>
            </a:r>
            <a:r>
              <a:rPr lang="en-US" sz="2800" i="1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U</a:t>
            </a: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&gt;1.25}           </a:t>
            </a:r>
            <a:r>
              <a:rPr lang="en-US" sz="2800">
                <a:solidFill>
                  <a:srgbClr val="AA2A2A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sz="2800" i="1">
                <a:solidFill>
                  <a:srgbClr val="AA2A2A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U</a:t>
            </a:r>
            <a:r>
              <a:rPr lang="en-US" sz="2800">
                <a:solidFill>
                  <a:srgbClr val="AA2A2A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=(</a:t>
            </a:r>
            <a:r>
              <a:rPr lang="en-US" sz="2800" i="1">
                <a:solidFill>
                  <a:srgbClr val="AA2A2A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sz="2800">
                <a:solidFill>
                  <a:srgbClr val="AA2A2A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-75)/2~N(0,1) )</a:t>
            </a:r>
            <a:endParaRPr lang="en-US" sz="2800">
              <a:solidFill>
                <a:srgbClr val="AA2A2A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     = </a:t>
            </a:r>
            <a:r>
              <a:rPr lang="en-US" sz="2800">
                <a:solidFill>
                  <a:srgbClr val="0E9F07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1-Φ(1.25)=</a:t>
            </a:r>
            <a:r>
              <a:rPr lang="en-US" sz="2800">
                <a:solidFill>
                  <a:srgbClr val="0681C6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en-US" sz="2800">
                <a:solidFill>
                  <a:srgbClr val="1EA43B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0.1056=P(2|1)</a:t>
            </a:r>
            <a:endParaRPr lang="en-US" sz="2800">
              <a:solidFill>
                <a:srgbClr val="1EA43B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5609" name="直接连接符 26632"/>
          <p:cNvSpPr/>
          <p:nvPr/>
        </p:nvSpPr>
        <p:spPr>
          <a:xfrm>
            <a:off x="2884805" y="1209040"/>
            <a:ext cx="304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文本框 27649"/>
          <p:cNvSpPr txBox="1"/>
          <p:nvPr/>
        </p:nvSpPr>
        <p:spPr>
          <a:xfrm>
            <a:off x="1828800" y="1371601"/>
            <a:ext cx="8382000" cy="58041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en-US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</a:t>
            </a:r>
            <a:endParaRPr lang="en-US" altLang="en-US" sz="28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6627" name="文本框 27650"/>
          <p:cNvSpPr txBox="1"/>
          <p:nvPr/>
        </p:nvSpPr>
        <p:spPr>
          <a:xfrm>
            <a:off x="1736726" y="12398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6628" name="文本框 27651"/>
          <p:cNvSpPr txBox="1"/>
          <p:nvPr/>
        </p:nvSpPr>
        <p:spPr>
          <a:xfrm>
            <a:off x="1157288" y="1371601"/>
            <a:ext cx="8520112" cy="5618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Arial" panose="020B0604020202090204" pitchFamily="34" charset="0"/>
              </a:rPr>
              <a:t>   </a:t>
            </a:r>
            <a:endParaRPr lang="zh-CN" altLang="en-US" b="1" dirty="0">
              <a:latin typeface="Arial" panose="020B0604020202090204" pitchFamily="34" charset="0"/>
            </a:endParaRPr>
          </a:p>
        </p:txBody>
      </p:sp>
      <p:sp>
        <p:nvSpPr>
          <p:cNvPr id="26629" name="文本框 27652"/>
          <p:cNvSpPr txBox="1"/>
          <p:nvPr/>
        </p:nvSpPr>
        <p:spPr>
          <a:xfrm>
            <a:off x="2574926" y="32210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6630" name="文本框 27653"/>
          <p:cNvSpPr txBox="1"/>
          <p:nvPr/>
        </p:nvSpPr>
        <p:spPr>
          <a:xfrm>
            <a:off x="3641726" y="43640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26632" name="对象 27655"/>
          <p:cNvGraphicFramePr>
            <a:graphicFrameLocks noChangeAspect="1"/>
          </p:cNvGraphicFramePr>
          <p:nvPr/>
        </p:nvGraphicFramePr>
        <p:xfrm>
          <a:off x="2743200" y="2133600"/>
          <a:ext cx="66294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4546600" imgH="622300" progId="">
                  <p:embed/>
                </p:oleObj>
              </mc:Choice>
              <mc:Fallback>
                <p:oleObj name="" r:id="rId1" imgW="4546600" imgH="622300" progId="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3200" y="2133600"/>
                        <a:ext cx="6629400" cy="1155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文本框 27656"/>
          <p:cNvSpPr txBox="1"/>
          <p:nvPr/>
        </p:nvSpPr>
        <p:spPr>
          <a:xfrm>
            <a:off x="2095500" y="1240155"/>
            <a:ext cx="32156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一般地,经计算可得: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7658" name="文本框 27657"/>
          <p:cNvSpPr txBox="1"/>
          <p:nvPr/>
        </p:nvSpPr>
        <p:spPr>
          <a:xfrm>
            <a:off x="1905000" y="3352801"/>
            <a:ext cx="83820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由错判概率的公式及上图可见,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当两总体均值靠得很近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(即| 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</a:t>
            </a:r>
            <a:r>
              <a:rPr lang="en-US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- 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μ</a:t>
            </a:r>
            <a:r>
              <a:rPr lang="en-US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|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很小)时,则错判概率很大,这时作判别分析是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没有意义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的.因此只有当两总体的均值有显著性差异时,作判别分析才有意义.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idx="1"/>
          </p:nvPr>
        </p:nvSpPr>
        <p:spPr>
          <a:xfrm>
            <a:off x="2209800" y="609600"/>
            <a:ext cx="8001000" cy="59436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例   在企业的考核中，可以根据企业的生产经营情况把企业分为优秀企业和一般企业。考核企业经营状况的指标有：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资金利润率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利润总额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资金占用总额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劳动生产率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总产值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职工平均人数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产品净值率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净产值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总产值 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08ECA6-2871-4175-97F3-8FADF18B779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4A804F7-30E9-4F49-A968-70E749C6FE33}" type="slidenum">
              <a:rPr lang="en-US" altLang="zh-CN"/>
            </a:fld>
            <a:endParaRPr lang="en-US" altLang="zh-CN"/>
          </a:p>
        </p:txBody>
      </p:sp>
      <p:graphicFrame>
        <p:nvGraphicFramePr>
          <p:cNvPr id="232450" name="Group 2050"/>
          <p:cNvGraphicFramePr>
            <a:graphicFrameLocks noGrp="1"/>
          </p:cNvGraphicFramePr>
          <p:nvPr/>
        </p:nvGraphicFramePr>
        <p:xfrm>
          <a:off x="1859916" y="2816225"/>
          <a:ext cx="8471535" cy="3200400"/>
        </p:xfrm>
        <a:graphic>
          <a:graphicData uri="http://schemas.openxmlformats.org/drawingml/2006/table">
            <a:tbl>
              <a:tblPr/>
              <a:tblGrid>
                <a:gridCol w="1911985"/>
                <a:gridCol w="1115695"/>
                <a:gridCol w="1195070"/>
                <a:gridCol w="1353820"/>
                <a:gridCol w="217805"/>
                <a:gridCol w="1482090"/>
                <a:gridCol w="1195070"/>
              </a:tblGrid>
              <a:tr h="6096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变量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均值向量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协方差矩阵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hMerge="1">
                  <a:tcPr/>
                </a:tc>
              </a:tr>
              <a:tr h="6858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优秀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一般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 gridSpan="4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hMerge="1"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资金利润率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13.5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5.4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68.39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40.24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21.41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劳动生产率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40.7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29.8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40.24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54.58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11.67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产品净值率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10.7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6.2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21.41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11.67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7.90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381885" y="333375"/>
            <a:ext cx="6761480" cy="23304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三个指标的均值向量和协方差矩阵如下。</a:t>
            </a:r>
            <a:endParaRPr lang="zh-CN" altLang="en-US" sz="28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现有二个企业，观测值分别为</a:t>
            </a:r>
            <a:endParaRPr lang="zh-CN" altLang="en-US" sz="28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（</a:t>
            </a:r>
            <a:r>
              <a:rPr lang="en-US" altLang="zh-CN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7.8</a:t>
            </a:r>
            <a:r>
              <a:rPr lang="zh-CN" alt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en-US" altLang="zh-CN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39.1</a:t>
            </a:r>
            <a:r>
              <a:rPr lang="zh-CN" alt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en-US" altLang="zh-CN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9.6</a:t>
            </a:r>
            <a:r>
              <a:rPr lang="zh-CN" alt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）和（</a:t>
            </a:r>
            <a:r>
              <a:rPr lang="en-US" altLang="zh-CN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8.1</a:t>
            </a:r>
            <a:r>
              <a:rPr lang="zh-CN" alt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en-US" altLang="zh-CN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34.2</a:t>
            </a:r>
            <a:r>
              <a:rPr lang="zh-CN" alt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en-US" altLang="zh-CN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6.9</a:t>
            </a:r>
            <a:r>
              <a:rPr lang="zh-CN" alt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），</a:t>
            </a:r>
            <a:endParaRPr lang="zh-CN" altLang="en-US" sz="28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问这两个企业应该属于哪一类？</a:t>
            </a:r>
            <a:endParaRPr lang="zh-CN" altLang="en-US" sz="28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9" name="Rectangle 3"/>
          <p:cNvSpPr>
            <a:spLocks noGrp="1" noChangeArrowheads="1"/>
          </p:cNvSpPr>
          <p:nvPr>
            <p:ph idx="1"/>
          </p:nvPr>
        </p:nvSpPr>
        <p:spPr>
          <a:xfrm>
            <a:off x="491707" y="258792"/>
            <a:ext cx="11171206" cy="490629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import </a:t>
            </a:r>
            <a:r>
              <a:rPr lang="en-US" altLang="zh-CN" sz="2000" dirty="0" err="1"/>
              <a:t>numpy</a:t>
            </a:r>
            <a:r>
              <a:rPr lang="en-US" altLang="zh-CN" sz="2000" dirty="0"/>
              <a:t> as np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mu1=</a:t>
            </a:r>
            <a:r>
              <a:rPr lang="en-US" altLang="zh-CN" sz="2000" dirty="0" err="1"/>
              <a:t>np.array</a:t>
            </a:r>
            <a:r>
              <a:rPr lang="en-US" altLang="zh-CN" sz="2000" dirty="0"/>
              <a:t>([13.5,40.7,10.7])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mu2=</a:t>
            </a:r>
            <a:r>
              <a:rPr lang="en-US" altLang="zh-CN" sz="2000" dirty="0" err="1"/>
              <a:t>np.array</a:t>
            </a:r>
            <a:r>
              <a:rPr lang="en-US" altLang="zh-CN" sz="2000" dirty="0"/>
              <a:t>([5.4,29.8,6.2])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 err="1"/>
              <a:t>mu_sub</a:t>
            </a:r>
            <a:r>
              <a:rPr lang="en-US" altLang="zh-CN" sz="2000" dirty="0"/>
              <a:t>=mu1-mu2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 err="1"/>
              <a:t>mubar</a:t>
            </a:r>
            <a:r>
              <a:rPr lang="en-US" altLang="zh-CN" sz="2000" dirty="0"/>
              <a:t>=(mu1+mu2)/2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sigma=</a:t>
            </a:r>
            <a:r>
              <a:rPr lang="en-US" altLang="zh-CN" sz="2000" dirty="0" err="1"/>
              <a:t>np.array</a:t>
            </a:r>
            <a:r>
              <a:rPr lang="en-US" altLang="zh-CN" sz="2000" dirty="0"/>
              <a:t>([[68.39,40.24,21.41],[40.24,54.58,11.67],[21.41,11.67,7.9]])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 err="1"/>
              <a:t>sigma_inv</a:t>
            </a:r>
            <a:r>
              <a:rPr lang="en-US" altLang="zh-CN" sz="2000" dirty="0"/>
              <a:t>=</a:t>
            </a:r>
            <a:r>
              <a:rPr lang="en-US" altLang="zh-CN" sz="2000" dirty="0" err="1"/>
              <a:t>np.linalg.inv</a:t>
            </a:r>
            <a:r>
              <a:rPr lang="en-US" altLang="zh-CN" sz="2000" dirty="0"/>
              <a:t>(sigma)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alpha=np.dot(</a:t>
            </a:r>
            <a:r>
              <a:rPr lang="en-US" altLang="zh-CN" sz="2000" dirty="0" err="1"/>
              <a:t>sigma_inv,mu_sub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cons=-np.dot(</a:t>
            </a:r>
            <a:r>
              <a:rPr lang="en-US" altLang="zh-CN" sz="2000" dirty="0" err="1"/>
              <a:t>alpha,mubar</a:t>
            </a:r>
            <a:r>
              <a:rPr lang="en-US" altLang="zh-CN" sz="2000" dirty="0"/>
              <a:t>)   # </a:t>
            </a:r>
            <a:r>
              <a:rPr lang="zh-CN" altLang="en-US" sz="2000" dirty="0"/>
              <a:t>常数项</a:t>
            </a:r>
            <a:endParaRPr lang="zh-CN" altLang="en-US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print("y=",alpha[0],"x1+",alpha[1],"x2+",alpha[2],"x3+",cons)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y= -0.6058078029022496 x1+ 0.25361593359171064 x2+ 1.836790774066063 x3+ -18.735959962539773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y1=</a:t>
            </a:r>
            <a:r>
              <a:rPr lang="en-US" altLang="zh-CN" sz="2000" dirty="0" err="1"/>
              <a:t>np.array</a:t>
            </a:r>
            <a:r>
              <a:rPr lang="en-US" altLang="zh-CN" sz="2000" dirty="0"/>
              <a:t>([7.8,39.1,9.6])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wy1=np.dot(alpha,y1-mubar)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4.08831360929277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y2=</a:t>
            </a:r>
            <a:r>
              <a:rPr lang="en-US" altLang="zh-CN" sz="2000" dirty="0" err="1"/>
              <a:t>np.array</a:t>
            </a:r>
            <a:r>
              <a:rPr lang="en-US" altLang="zh-CN" sz="2000" dirty="0"/>
              <a:t>([8.1,34.2,6.9])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wy2=np.dot(alpha,y2-mubar)</a:t>
            </a:r>
            <a:endParaRPr lang="en-US" altLang="zh-CN" sz="2000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dirty="0"/>
              <a:t>-2.2954818961556542</a:t>
            </a:r>
            <a:endParaRPr lang="en-US" altLang="zh-CN" sz="2000" dirty="0"/>
          </a:p>
        </p:txBody>
      </p:sp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C194BE-7538-4A94-B465-5F81028C556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722B2E-CFE9-4B89-89AF-8D05AEBF01CD}" type="slidenum">
              <a:rPr lang="en-US" altLang="zh-CN"/>
            </a:fld>
            <a:endParaRPr lang="en-US" altLang="zh-CN"/>
          </a:p>
        </p:txBody>
      </p:sp>
      <p:sp>
        <p:nvSpPr>
          <p:cNvPr id="43010" name="Rectangle 1026"/>
          <p:cNvSpPr>
            <a:spLocks noChangeArrowheads="1"/>
          </p:cNvSpPr>
          <p:nvPr/>
        </p:nvSpPr>
        <p:spPr bwMode="auto">
          <a:xfrm>
            <a:off x="1524000" y="798195"/>
            <a:ext cx="9144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tabLst>
                <a:tab pos="638175" algn="l"/>
              </a:tabLst>
            </a:pPr>
            <a:r>
              <a:rPr lang="en-US" altLang="zh-CN" sz="2800" b="1">
                <a:solidFill>
                  <a:srgbClr val="0070C0"/>
                </a:solidFill>
                <a:latin typeface="Times New Roman" panose="02020503050405090304" pitchFamily="18" charset="0"/>
              </a:rPr>
              <a:t>         2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503050405090304" pitchFamily="18" charset="0"/>
              </a:rPr>
              <a:t>、当总体的协方差已知，且不相等</a:t>
            </a:r>
            <a:endParaRPr lang="zh-CN" altLang="en-US" sz="2800">
              <a:solidFill>
                <a:srgbClr val="0070C0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362496" name="Object 3072"/>
          <p:cNvGraphicFramePr>
            <a:graphicFrameLocks noChangeAspect="1"/>
          </p:cNvGraphicFramePr>
          <p:nvPr/>
        </p:nvGraphicFramePr>
        <p:xfrm>
          <a:off x="3267075" y="1854638"/>
          <a:ext cx="4870698" cy="157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60350400" imgH="19507200" progId="Equation.DSMT4">
                  <p:embed/>
                </p:oleObj>
              </mc:Choice>
              <mc:Fallback>
                <p:oleObj name="Equation" r:id="rId1" imgW="60350400" imgH="19507200" progId="Equation.DSMT4">
                  <p:embed/>
                  <p:pic>
                    <p:nvPicPr>
                      <p:cNvPr id="0" name="Object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67075" y="1854638"/>
                        <a:ext cx="4870698" cy="1574362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497" name="Object 3073"/>
          <p:cNvGraphicFramePr>
            <a:graphicFrameLocks noChangeAspect="1"/>
          </p:cNvGraphicFramePr>
          <p:nvPr/>
        </p:nvGraphicFramePr>
        <p:xfrm>
          <a:off x="3267075" y="4190672"/>
          <a:ext cx="5497143" cy="967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66141600" imgH="11582400" progId="Equation.DSMT4">
                  <p:embed/>
                </p:oleObj>
              </mc:Choice>
              <mc:Fallback>
                <p:oleObj name="Equation" r:id="rId3" imgW="66141600" imgH="11582400" progId="Equation.DSMT4">
                  <p:embed/>
                  <p:pic>
                    <p:nvPicPr>
                      <p:cNvPr id="0" name="Object 30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67075" y="4190672"/>
                        <a:ext cx="5497143" cy="96710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106420" y="5567681"/>
            <a:ext cx="5331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距离为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二次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函数，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非线性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判别函数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40449"/>
            <a:ext cx="2743200" cy="365125"/>
          </a:xfrm>
          <a:noFill/>
        </p:spPr>
        <p:txBody>
          <a:bodyPr/>
          <a:lstStyle/>
          <a:p>
            <a:fld id="{55828CBE-0E20-4B0C-8A1D-844AA2131905}" type="slidenum">
              <a:rPr lang="en-US" altLang="zh-CN"/>
            </a:fld>
            <a:endParaRPr lang="en-US" altLang="zh-CN"/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2209800" y="1534096"/>
            <a:ext cx="7772400" cy="1430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设有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个总体，分别有均值向量</a:t>
            </a:r>
            <a:r>
              <a:rPr lang="en-US" altLang="zh-CN" sz="2400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en-US" altLang="zh-CN" sz="2400" i="1" baseline="-25000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=1,2,…,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和协方差阵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altLang="zh-CN" sz="2400" i="1" baseline="-25000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Σ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，各总体出现的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先验概率相等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。又设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是一个待判样品。则与总体</a:t>
            </a:r>
            <a:r>
              <a:rPr lang="en-US" altLang="zh-CN" sz="24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的距离为（即判别函数）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271" name="Rectangle 10"/>
          <p:cNvSpPr>
            <a:spLocks noChangeArrowheads="1"/>
          </p:cNvSpPr>
          <p:nvPr/>
        </p:nvSpPr>
        <p:spPr bwMode="auto">
          <a:xfrm>
            <a:off x="2218531" y="454821"/>
            <a:ext cx="7239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70C0"/>
                </a:solidFill>
                <a:latin typeface="Times New Roman" panose="02020503050405090304" pitchFamily="18" charset="0"/>
              </a:rPr>
              <a:t>三、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503050405090304" pitchFamily="18" charset="0"/>
              </a:rPr>
              <a:t>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503050405090304" pitchFamily="18" charset="0"/>
              </a:rPr>
              <a:t>多总体的距离判别法</a:t>
            </a:r>
            <a:endParaRPr lang="zh-CN" altLang="en-US" sz="2800" b="1" dirty="0">
              <a:solidFill>
                <a:srgbClr val="0070C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1272" name="Rectangle 12"/>
          <p:cNvSpPr>
            <a:spLocks noChangeArrowheads="1"/>
          </p:cNvSpPr>
          <p:nvPr/>
        </p:nvSpPr>
        <p:spPr bwMode="auto">
          <a:xfrm>
            <a:off x="5053013" y="3295650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4043" name="Object 11"/>
          <p:cNvGraphicFramePr>
            <a:graphicFrameLocks noChangeAspect="1"/>
          </p:cNvGraphicFramePr>
          <p:nvPr/>
        </p:nvGraphicFramePr>
        <p:xfrm>
          <a:off x="2289175" y="3432555"/>
          <a:ext cx="4899934" cy="572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47244000" imgH="5791200" progId="Equation.DSMT4">
                  <p:embed/>
                </p:oleObj>
              </mc:Choice>
              <mc:Fallback>
                <p:oleObj name="Equation" r:id="rId1" imgW="47244000" imgH="5791200" progId="Equation.DSMT4">
                  <p:embed/>
                  <p:pic>
                    <p:nvPicPr>
                      <p:cNvPr id="0" name="Object 1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9175" y="3432555"/>
                        <a:ext cx="4899934" cy="57274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5" name="Object 13"/>
          <p:cNvGraphicFramePr>
            <a:graphicFrameLocks noChangeAspect="1"/>
          </p:cNvGraphicFramePr>
          <p:nvPr/>
        </p:nvGraphicFramePr>
        <p:xfrm>
          <a:off x="3768725" y="4241598"/>
          <a:ext cx="41386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43281600" imgH="5791200" progId="Equation.DSMT4">
                  <p:embed/>
                </p:oleObj>
              </mc:Choice>
              <mc:Fallback>
                <p:oleObj name="Equation" r:id="rId3" imgW="43281600" imgH="5791200" progId="Equation.DSMT4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68725" y="4241598"/>
                        <a:ext cx="4138613" cy="582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9" name="Rectangle 17"/>
          <p:cNvSpPr>
            <a:spLocks noChangeArrowheads="1"/>
          </p:cNvSpPr>
          <p:nvPr/>
        </p:nvSpPr>
        <p:spPr bwMode="auto">
          <a:xfrm>
            <a:off x="2035176" y="4853421"/>
            <a:ext cx="8004175" cy="13167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上式中的第一项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8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’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altLang="zh-CN" sz="28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</a:t>
            </a:r>
            <a:r>
              <a:rPr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无关，则舍去，得一个等价的函数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44050" name="Object 18"/>
          <p:cNvGraphicFramePr>
            <a:graphicFrameLocks noChangeAspect="1"/>
          </p:cNvGraphicFramePr>
          <p:nvPr/>
        </p:nvGraphicFramePr>
        <p:xfrm>
          <a:off x="4603005" y="5630282"/>
          <a:ext cx="3793572" cy="574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40538400" imgH="5791200" progId="Equation.DSMT4">
                  <p:embed/>
                </p:oleObj>
              </mc:Choice>
              <mc:Fallback>
                <p:oleObj name="Equation" r:id="rId5" imgW="40538400" imgH="5791200" progId="Equation.DSMT4">
                  <p:embed/>
                  <p:pic>
                    <p:nvPicPr>
                      <p:cNvPr id="0" name="Object 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03005" y="5630282"/>
                        <a:ext cx="3793572" cy="57478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049702-5B00-4FDE-AE15-420FBA8C6C25}" type="slidenum">
              <a:rPr lang="en-US" altLang="zh-CN"/>
            </a:fld>
            <a:endParaRPr lang="en-US" altLang="zh-CN"/>
          </a:p>
        </p:txBody>
      </p:sp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1524000" y="457200"/>
            <a:ext cx="67818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>
                <a:latin typeface="Times New Roman" panose="02020503050405090304" pitchFamily="18" charset="0"/>
              </a:rPr>
              <a:t>        </a:t>
            </a:r>
            <a:r>
              <a:rPr lang="zh-CN" altLang="en-US" sz="2800" dirty="0">
                <a:latin typeface="Times New Roman" panose="02020503050405090304" pitchFamily="18" charset="0"/>
              </a:rPr>
              <a:t>将上式中提出</a:t>
            </a:r>
            <a:r>
              <a:rPr lang="en-US" altLang="zh-CN" sz="2800" dirty="0">
                <a:latin typeface="Times New Roman" panose="02020503050405090304" pitchFamily="18" charset="0"/>
              </a:rPr>
              <a:t>-2</a:t>
            </a:r>
            <a:r>
              <a:rPr lang="zh-CN" altLang="en-US" sz="2800" dirty="0">
                <a:latin typeface="Times New Roman" panose="02020503050405090304" pitchFamily="18" charset="0"/>
              </a:rPr>
              <a:t>，得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12298" name="Rectangle 4"/>
          <p:cNvSpPr>
            <a:spLocks noChangeArrowheads="1"/>
          </p:cNvSpPr>
          <p:nvPr/>
        </p:nvSpPr>
        <p:spPr bwMode="auto">
          <a:xfrm>
            <a:off x="5200650" y="3309938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3276600" y="1048227"/>
          <a:ext cx="5314906" cy="60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47853600" imgH="5791200" progId="Equation.DSMT4">
                  <p:embed/>
                </p:oleObj>
              </mc:Choice>
              <mc:Fallback>
                <p:oleObj name="Equation" r:id="rId1" imgW="47853600" imgH="57912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1048227"/>
                        <a:ext cx="5314906" cy="6054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Rectangle 6"/>
          <p:cNvSpPr>
            <a:spLocks noChangeArrowheads="1"/>
          </p:cNvSpPr>
          <p:nvPr/>
        </p:nvSpPr>
        <p:spPr bwMode="auto">
          <a:xfrm>
            <a:off x="5291138" y="3309938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5061" name="Object 5"/>
          <p:cNvGraphicFramePr>
            <a:graphicFrameLocks noChangeAspect="1"/>
          </p:cNvGraphicFramePr>
          <p:nvPr/>
        </p:nvGraphicFramePr>
        <p:xfrm>
          <a:off x="2510120" y="1757643"/>
          <a:ext cx="5381060" cy="618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2730400" imgH="5791200" progId="Equation.DSMT4">
                  <p:embed/>
                </p:oleObj>
              </mc:Choice>
              <mc:Fallback>
                <p:oleObj name="Equation" r:id="rId3" imgW="52730400" imgH="57912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0120" y="1757643"/>
                        <a:ext cx="5381060" cy="6185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1524001" y="2349500"/>
            <a:ext cx="645731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1195705" algn="just"/>
            <a:r>
              <a:rPr lang="zh-CN" altLang="en-US" sz="2800">
                <a:latin typeface="Times New Roman" panose="02020503050405090304" pitchFamily="18" charset="0"/>
              </a:rPr>
              <a:t>则距离判别法的判别函数为</a:t>
            </a:r>
            <a:r>
              <a:rPr lang="zh-CN" altLang="en-US" sz="2800">
                <a:solidFill>
                  <a:srgbClr val="FF0000"/>
                </a:solidFill>
                <a:latin typeface="Times New Roman" panose="02020503050405090304" pitchFamily="18" charset="0"/>
              </a:rPr>
              <a:t>线性</a:t>
            </a:r>
            <a:r>
              <a:rPr lang="zh-CN" altLang="en-US" sz="2800">
                <a:latin typeface="Times New Roman" panose="02020503050405090304" pitchFamily="18" charset="0"/>
              </a:rPr>
              <a:t>：</a:t>
            </a:r>
            <a:endParaRPr lang="zh-CN" altLang="en-US" sz="2800">
              <a:latin typeface="Times New Roman" panose="02020503050405090304" pitchFamily="18" charset="0"/>
            </a:endParaRPr>
          </a:p>
        </p:txBody>
      </p:sp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4543743" y="3657600"/>
          <a:ext cx="50927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99060000" imgH="13411200" progId="Equation.3">
                  <p:embed/>
                </p:oleObj>
              </mc:Choice>
              <mc:Fallback>
                <p:oleObj name="Equation" r:id="rId5" imgW="99060000" imgH="134112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43743" y="3657600"/>
                        <a:ext cx="5092700" cy="6667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Object 11"/>
          <p:cNvGraphicFramePr>
            <a:graphicFrameLocks noChangeAspect="1"/>
          </p:cNvGraphicFramePr>
          <p:nvPr/>
        </p:nvGraphicFramePr>
        <p:xfrm>
          <a:off x="2894610" y="6022976"/>
          <a:ext cx="6741833" cy="666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56083200" imgH="5791200" progId="Equation.DSMT4">
                  <p:embed/>
                </p:oleObj>
              </mc:Choice>
              <mc:Fallback>
                <p:oleObj name="Equation" r:id="rId7" imgW="56083200" imgH="5791200" progId="Equation.DSMT4">
                  <p:embed/>
                  <p:pic>
                    <p:nvPicPr>
                      <p:cNvPr id="0" name="Object 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4610" y="6022976"/>
                        <a:ext cx="6741833" cy="666749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1" name="Rectangle 15"/>
          <p:cNvSpPr>
            <a:spLocks noChangeArrowheads="1"/>
          </p:cNvSpPr>
          <p:nvPr/>
        </p:nvSpPr>
        <p:spPr bwMode="auto">
          <a:xfrm>
            <a:off x="1992631" y="4653280"/>
            <a:ext cx="747077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800" b="1">
                <a:latin typeface="Times New Roman" panose="02020503050405090304" pitchFamily="18" charset="0"/>
              </a:rPr>
              <a:t>注</a:t>
            </a:r>
            <a:r>
              <a:rPr lang="zh-CN" altLang="en-US" sz="2800">
                <a:latin typeface="Times New Roman" panose="02020503050405090304" pitchFamily="18" charset="0"/>
              </a:rPr>
              <a:t>：这与前面所提出的距离判别是等价的</a:t>
            </a:r>
            <a:r>
              <a:rPr lang="en-US" altLang="zh-CN" sz="2800">
                <a:latin typeface="Times New Roman" panose="02020503050405090304" pitchFamily="18" charset="0"/>
              </a:rPr>
              <a:t>.</a:t>
            </a:r>
            <a:endParaRPr lang="en-US" altLang="zh-CN" sz="2800">
              <a:latin typeface="Times New Roman" panose="02020503050405090304" pitchFamily="18" charset="0"/>
            </a:endParaRPr>
          </a:p>
        </p:txBody>
      </p:sp>
      <p:graphicFrame>
        <p:nvGraphicFramePr>
          <p:cNvPr id="45070" name="Object 14"/>
          <p:cNvGraphicFramePr>
            <a:graphicFrameLocks noChangeAspect="1"/>
          </p:cNvGraphicFramePr>
          <p:nvPr/>
        </p:nvGraphicFramePr>
        <p:xfrm>
          <a:off x="2065020" y="5175251"/>
          <a:ext cx="6240780" cy="687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58826400" imgH="6400800" progId="Equation.3">
                  <p:embed/>
                </p:oleObj>
              </mc:Choice>
              <mc:Fallback>
                <p:oleObj name="Equation" r:id="rId9" imgW="58826400" imgH="6400800" progId="Equation.3">
                  <p:embed/>
                  <p:pic>
                    <p:nvPicPr>
                      <p:cNvPr id="0" name="Object 1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65020" y="5175251"/>
                        <a:ext cx="6240780" cy="68770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2" name="Object 16"/>
          <p:cNvGraphicFramePr>
            <a:graphicFrameLocks noChangeAspect="1"/>
          </p:cNvGraphicFramePr>
          <p:nvPr/>
        </p:nvGraphicFramePr>
        <p:xfrm>
          <a:off x="2510120" y="2953387"/>
          <a:ext cx="5207051" cy="605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1" imgW="52730400" imgH="5791200" progId="Equation.DSMT4">
                  <p:embed/>
                </p:oleObj>
              </mc:Choice>
              <mc:Fallback>
                <p:oleObj name="Equation" r:id="rId11" imgW="52730400" imgH="5791200" progId="Equation.DSMT4">
                  <p:embed/>
                  <p:pic>
                    <p:nvPicPr>
                      <p:cNvPr id="0" name="Object 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10120" y="2953387"/>
                        <a:ext cx="5207051" cy="60547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8" name="Rectangle 1028"/>
          <p:cNvSpPr>
            <a:spLocks noChangeArrowheads="1"/>
          </p:cNvSpPr>
          <p:nvPr/>
        </p:nvSpPr>
        <p:spPr bwMode="auto">
          <a:xfrm>
            <a:off x="1295400" y="3657600"/>
            <a:ext cx="3962400" cy="52197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indent="1195705"/>
            <a:r>
              <a:rPr lang="zh-CN" altLang="en-US" sz="2800">
                <a:latin typeface="Times New Roman" panose="02020503050405090304" pitchFamily="18" charset="0"/>
              </a:rPr>
              <a:t>判别规则为</a:t>
            </a:r>
            <a:endParaRPr lang="zh-CN" altLang="en-US" sz="280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0" name="文本框 91139"/>
          <p:cNvSpPr txBox="1"/>
          <p:nvPr/>
        </p:nvSpPr>
        <p:spPr>
          <a:xfrm>
            <a:off x="2359660" y="1892301"/>
            <a:ext cx="714248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Fisher</a:t>
            </a:r>
            <a:r>
              <a:rPr lang="zh-CN" altLang="en-US" sz="2800" b="1" dirty="0">
                <a:solidFill>
                  <a:schemeClr val="accent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判别的基本思想</a:t>
            </a:r>
            <a:endParaRPr lang="zh-CN" altLang="en-US" sz="28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Fisher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判别的基本思想是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投影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.将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组</a:t>
            </a:r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维数据投影到某一个方向,使得投影后组与组之间尽可能地分开.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/>
        </p:nvSpPr>
        <p:spPr>
          <a:xfrm>
            <a:off x="2942591" y="180975"/>
            <a:ext cx="630745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sz="3600">
                <a:solidFill>
                  <a:srgbClr val="FF0000"/>
                </a:solidFill>
              </a:rPr>
              <a:t>第三节 费希尔判别法</a:t>
            </a:r>
            <a:endParaRPr lang="zh-CN" altLang="en-US" sz="3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文本框 92161"/>
          <p:cNvSpPr txBox="1"/>
          <p:nvPr/>
        </p:nvSpPr>
        <p:spPr>
          <a:xfrm>
            <a:off x="1828800" y="160020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       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1139" name="文本框 92162"/>
          <p:cNvSpPr txBox="1"/>
          <p:nvPr/>
        </p:nvSpPr>
        <p:spPr>
          <a:xfrm>
            <a:off x="1752601" y="1524000"/>
            <a:ext cx="85201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90204" pitchFamily="34" charset="0"/>
              </a:rPr>
              <a:t>     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91140" name="文本框 92163"/>
          <p:cNvSpPr txBox="1"/>
          <p:nvPr/>
        </p:nvSpPr>
        <p:spPr>
          <a:xfrm>
            <a:off x="1905000" y="1544638"/>
            <a:ext cx="8458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宋体" pitchFamily="2" charset="-122"/>
            </a:endParaRPr>
          </a:p>
        </p:txBody>
      </p:sp>
      <p:graphicFrame>
        <p:nvGraphicFramePr>
          <p:cNvPr id="91141" name="对象 92164"/>
          <p:cNvGraphicFramePr>
            <a:graphicFrameLocks noChangeAspect="1"/>
          </p:cNvGraphicFramePr>
          <p:nvPr/>
        </p:nvGraphicFramePr>
        <p:xfrm>
          <a:off x="1752600" y="1439864"/>
          <a:ext cx="8001000" cy="504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7099300" imgH="4889500" progId="">
                  <p:embed/>
                </p:oleObj>
              </mc:Choice>
              <mc:Fallback>
                <p:oleObj name="" r:id="rId1" imgW="7099300" imgH="4889500" progId="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1439864"/>
                        <a:ext cx="8001000" cy="504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2" name="直接连接符 92165"/>
          <p:cNvSpPr/>
          <p:nvPr/>
        </p:nvSpPr>
        <p:spPr>
          <a:xfrm>
            <a:off x="2971800" y="4495800"/>
            <a:ext cx="7010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3" name="直接连接符 92166"/>
          <p:cNvSpPr/>
          <p:nvPr/>
        </p:nvSpPr>
        <p:spPr>
          <a:xfrm flipV="1">
            <a:off x="5105400" y="1524000"/>
            <a:ext cx="0" cy="43434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4" name="直接连接符 92167"/>
          <p:cNvSpPr/>
          <p:nvPr/>
        </p:nvSpPr>
        <p:spPr>
          <a:xfrm>
            <a:off x="3048000" y="2133600"/>
            <a:ext cx="3886200" cy="4419600"/>
          </a:xfrm>
          <a:prstGeom prst="line">
            <a:avLst/>
          </a:prstGeom>
          <a:ln w="38100" cap="flat" cmpd="sng">
            <a:solidFill>
              <a:srgbClr val="3399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5" name="直接连接符 92168"/>
          <p:cNvSpPr/>
          <p:nvPr/>
        </p:nvSpPr>
        <p:spPr>
          <a:xfrm flipH="1">
            <a:off x="4343400" y="2819400"/>
            <a:ext cx="914400" cy="838200"/>
          </a:xfrm>
          <a:prstGeom prst="line">
            <a:avLst/>
          </a:prstGeom>
          <a:ln w="9525" cap="rnd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6" name="直接连接符 92169"/>
          <p:cNvSpPr/>
          <p:nvPr/>
        </p:nvSpPr>
        <p:spPr>
          <a:xfrm flipH="1">
            <a:off x="4724400" y="2438400"/>
            <a:ext cx="1676400" cy="1600200"/>
          </a:xfrm>
          <a:prstGeom prst="line">
            <a:avLst/>
          </a:prstGeom>
          <a:ln w="9525" cap="rnd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7" name="直接连接符 92170"/>
          <p:cNvSpPr/>
          <p:nvPr/>
        </p:nvSpPr>
        <p:spPr>
          <a:xfrm flipV="1">
            <a:off x="3276600" y="3733800"/>
            <a:ext cx="1219200" cy="914400"/>
          </a:xfrm>
          <a:prstGeom prst="line">
            <a:avLst/>
          </a:prstGeom>
          <a:ln w="9525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8" name="直接连接符 92171"/>
          <p:cNvSpPr/>
          <p:nvPr/>
        </p:nvSpPr>
        <p:spPr>
          <a:xfrm flipH="1">
            <a:off x="5181600" y="3581400"/>
            <a:ext cx="1066800" cy="990600"/>
          </a:xfrm>
          <a:prstGeom prst="line">
            <a:avLst/>
          </a:prstGeom>
          <a:ln w="9525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9" name="直接连接符 92172"/>
          <p:cNvSpPr/>
          <p:nvPr/>
        </p:nvSpPr>
        <p:spPr>
          <a:xfrm flipH="1">
            <a:off x="5791200" y="3962400"/>
            <a:ext cx="1524000" cy="12954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50" name="直接连接符 92173"/>
          <p:cNvSpPr/>
          <p:nvPr/>
        </p:nvSpPr>
        <p:spPr>
          <a:xfrm flipH="1">
            <a:off x="6019800" y="3429000"/>
            <a:ext cx="2590800" cy="20574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51" name="直接连接符 92174"/>
          <p:cNvSpPr/>
          <p:nvPr/>
        </p:nvSpPr>
        <p:spPr>
          <a:xfrm flipH="1">
            <a:off x="6477000" y="4876800"/>
            <a:ext cx="1447800" cy="10668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52" name="直接连接符 92175"/>
          <p:cNvSpPr/>
          <p:nvPr/>
        </p:nvSpPr>
        <p:spPr>
          <a:xfrm flipH="1">
            <a:off x="6629400" y="4191000"/>
            <a:ext cx="2819400" cy="19812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53" name="文本框 92176"/>
          <p:cNvSpPr txBox="1"/>
          <p:nvPr/>
        </p:nvSpPr>
        <p:spPr>
          <a:xfrm>
            <a:off x="6918326" y="6213475"/>
            <a:ext cx="777777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8000"/>
                </a:solidFill>
                <a:latin typeface="Arial" panose="020B0604020202090204" pitchFamily="34" charset="0"/>
              </a:rPr>
              <a:t>方向</a:t>
            </a:r>
            <a:r>
              <a:rPr lang="en-US" altLang="zh-CN" b="1" dirty="0">
                <a:solidFill>
                  <a:srgbClr val="008000"/>
                </a:solidFill>
                <a:latin typeface="Arial" panose="020B0604020202090204" pitchFamily="34" charset="0"/>
              </a:rPr>
              <a:t>a</a:t>
            </a:r>
            <a:endParaRPr lang="en-US" altLang="zh-CN" dirty="0">
              <a:latin typeface="Arial" panose="020B0604020202090204" pitchFamily="34" charset="0"/>
            </a:endParaRPr>
          </a:p>
        </p:txBody>
      </p:sp>
      <p:sp>
        <p:nvSpPr>
          <p:cNvPr id="92178" name="文本框 92177"/>
          <p:cNvSpPr txBox="1"/>
          <p:nvPr/>
        </p:nvSpPr>
        <p:spPr>
          <a:xfrm>
            <a:off x="7687945" y="488950"/>
            <a:ext cx="2819400" cy="92202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当</a:t>
            </a:r>
            <a:r>
              <a:rPr lang="en-US" altLang="zh-CN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=2,</a:t>
            </a:r>
            <a:r>
              <a:rPr lang="en-US" altLang="zh-CN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时,寻找方向</a:t>
            </a:r>
            <a:r>
              <a:rPr lang="en-US" altLang="zh-CN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使两组数据投影后在一维直线上尽可能区分开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1155" name="文本框 92178"/>
          <p:cNvSpPr txBox="1"/>
          <p:nvPr/>
        </p:nvSpPr>
        <p:spPr>
          <a:xfrm>
            <a:off x="4003993" y="488633"/>
            <a:ext cx="3531736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Fisher</a:t>
            </a:r>
            <a:r>
              <a:rPr lang="zh-CN" altLang="en-US" sz="4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判别图示</a:t>
            </a: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文本框 93185"/>
          <p:cNvSpPr txBox="1"/>
          <p:nvPr/>
        </p:nvSpPr>
        <p:spPr>
          <a:xfrm>
            <a:off x="1828800" y="160020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2163" name="文本框 93186"/>
          <p:cNvSpPr txBox="1"/>
          <p:nvPr/>
        </p:nvSpPr>
        <p:spPr>
          <a:xfrm>
            <a:off x="1752601" y="1524000"/>
            <a:ext cx="852011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2164" name="文本框 93187"/>
          <p:cNvSpPr txBox="1"/>
          <p:nvPr/>
        </p:nvSpPr>
        <p:spPr>
          <a:xfrm>
            <a:off x="1905000" y="1544638"/>
            <a:ext cx="8458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2165" name="文本框 93188"/>
          <p:cNvSpPr txBox="1"/>
          <p:nvPr/>
        </p:nvSpPr>
        <p:spPr>
          <a:xfrm>
            <a:off x="2803526" y="34496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93190" name="对象 93189"/>
          <p:cNvGraphicFramePr>
            <a:graphicFrameLocks noChangeAspect="1"/>
          </p:cNvGraphicFramePr>
          <p:nvPr/>
        </p:nvGraphicFramePr>
        <p:xfrm>
          <a:off x="3505200" y="4191000"/>
          <a:ext cx="49530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2540000" imgH="1358900" progId="">
                  <p:embed/>
                </p:oleObj>
              </mc:Choice>
              <mc:Fallback>
                <p:oleObj name="" r:id="rId1" imgW="2540000" imgH="1358900" progId="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5200" y="4191000"/>
                        <a:ext cx="4953000" cy="266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7" name="文本框 93190"/>
          <p:cNvSpPr txBox="1"/>
          <p:nvPr/>
        </p:nvSpPr>
        <p:spPr>
          <a:xfrm>
            <a:off x="2106295" y="718820"/>
            <a:ext cx="6955750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设从总体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=1,…,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分别抽取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维样品如下: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3192" name="文本框 93191"/>
          <p:cNvSpPr txBox="1"/>
          <p:nvPr/>
        </p:nvSpPr>
        <p:spPr>
          <a:xfrm>
            <a:off x="2106296" y="2193290"/>
            <a:ext cx="7533005" cy="194950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令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,…,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)′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维空间的任一向量,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)=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a′X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向以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为法线的方向投影.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上述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个组中的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维数据投影后为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92169" name="内容占位符 93192"/>
          <p:cNvGraphicFramePr>
            <a:graphicFrameLocks noGrp="1" noChangeAspect="1"/>
          </p:cNvGraphicFramePr>
          <p:nvPr>
            <p:ph idx="1"/>
          </p:nvPr>
        </p:nvGraphicFramePr>
        <p:xfrm>
          <a:off x="2819400" y="1593850"/>
          <a:ext cx="59340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64922400" imgH="6096000" progId="Equation.DSMT4">
                  <p:embed/>
                </p:oleObj>
              </mc:Choice>
              <mc:Fallback>
                <p:oleObj name="Equation" r:id="rId3" imgW="64922400" imgH="60960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9400" y="1593850"/>
                        <a:ext cx="5934075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6" name="内容占位符 94209"/>
          <p:cNvGraphicFramePr>
            <a:graphicFrameLocks noGrp="1" noChangeAspect="1"/>
          </p:cNvGraphicFramePr>
          <p:nvPr>
            <p:ph sz="half" idx="1"/>
          </p:nvPr>
        </p:nvGraphicFramePr>
        <p:xfrm>
          <a:off x="3571875" y="2001838"/>
          <a:ext cx="4783138" cy="246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2195830" imgH="1129665" progId="Equation.3">
                  <p:embed/>
                </p:oleObj>
              </mc:Choice>
              <mc:Fallback>
                <p:oleObj name="" r:id="rId1" imgW="2195830" imgH="112966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1875" y="2001838"/>
                        <a:ext cx="4783138" cy="2462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1" name="内容占位符 94220"/>
          <p:cNvGraphicFramePr>
            <a:graphicFrameLocks noGrp="1" noChangeAspect="1"/>
          </p:cNvGraphicFramePr>
          <p:nvPr>
            <p:ph sz="half" idx="2"/>
          </p:nvPr>
        </p:nvGraphicFramePr>
        <p:xfrm>
          <a:off x="4640263" y="5257800"/>
          <a:ext cx="3735387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879600" imgH="431800" progId="Equation.3">
                  <p:embed/>
                </p:oleObj>
              </mc:Choice>
              <mc:Fallback>
                <p:oleObj name="" r:id="rId3" imgW="1879600" imgH="4318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0263" y="5257800"/>
                        <a:ext cx="3735387" cy="858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7" name="文本框 94210"/>
          <p:cNvSpPr txBox="1"/>
          <p:nvPr/>
        </p:nvSpPr>
        <p:spPr>
          <a:xfrm>
            <a:off x="1828800" y="1600201"/>
            <a:ext cx="853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       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3188" name="文本框 94211"/>
          <p:cNvSpPr txBox="1"/>
          <p:nvPr/>
        </p:nvSpPr>
        <p:spPr>
          <a:xfrm>
            <a:off x="1752601" y="1524000"/>
            <a:ext cx="8520113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90204" pitchFamily="34" charset="0"/>
              </a:rPr>
              <a:t>     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93189" name="文本框 94212"/>
          <p:cNvSpPr txBox="1"/>
          <p:nvPr/>
        </p:nvSpPr>
        <p:spPr>
          <a:xfrm>
            <a:off x="1905000" y="1544638"/>
            <a:ext cx="84582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宋体" pitchFamily="2" charset="-122"/>
            </a:endParaRPr>
          </a:p>
        </p:txBody>
      </p:sp>
      <p:sp>
        <p:nvSpPr>
          <p:cNvPr id="93190" name="文本框 94213"/>
          <p:cNvSpPr txBox="1"/>
          <p:nvPr/>
        </p:nvSpPr>
        <p:spPr>
          <a:xfrm>
            <a:off x="28035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3191" name="文本框 94214"/>
          <p:cNvSpPr txBox="1"/>
          <p:nvPr/>
        </p:nvSpPr>
        <p:spPr>
          <a:xfrm>
            <a:off x="2422526" y="1544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3192" name="文本框 94215"/>
          <p:cNvSpPr txBox="1"/>
          <p:nvPr/>
        </p:nvSpPr>
        <p:spPr>
          <a:xfrm>
            <a:off x="1934846" y="647065"/>
            <a:ext cx="7858125" cy="131677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每个总体的数据投影后均为</a:t>
            </a:r>
            <a:r>
              <a:rPr lang="zh-CN" altLang="en-US" sz="2800" dirty="0">
                <a:solidFill>
                  <a:schemeClr val="accent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一维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数据.对这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组一维数据进行一元方差分析，其</a:t>
            </a:r>
            <a:r>
              <a:rPr lang="zh-CN" altLang="en-US" sz="2800" dirty="0">
                <a:solidFill>
                  <a:schemeClr val="accent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组间平方和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3193" name="文本框 94216"/>
          <p:cNvSpPr txBox="1"/>
          <p:nvPr/>
        </p:nvSpPr>
        <p:spPr>
          <a:xfrm>
            <a:off x="2574926" y="56594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4218" name="文本框 94217"/>
          <p:cNvSpPr txBox="1"/>
          <p:nvPr/>
        </p:nvSpPr>
        <p:spPr>
          <a:xfrm>
            <a:off x="2151381" y="4377055"/>
            <a:ext cx="7888605" cy="131677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其中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i="1" baseline="2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(t)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分别为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的样本均值和总均值.而</a:t>
            </a:r>
            <a:r>
              <a:rPr lang="en-US" altLang="zh-CN" sz="2800" i="1" dirty="0">
                <a:solidFill>
                  <a:schemeClr val="accent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zh-CN" altLang="en-US" sz="2800" dirty="0">
                <a:solidFill>
                  <a:schemeClr val="accent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组间离差阵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4219" name="直接连接符 94218"/>
          <p:cNvSpPr/>
          <p:nvPr/>
        </p:nvSpPr>
        <p:spPr>
          <a:xfrm>
            <a:off x="2855914" y="4581525"/>
            <a:ext cx="3000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20" name="直接连接符 94219"/>
          <p:cNvSpPr/>
          <p:nvPr/>
        </p:nvSpPr>
        <p:spPr>
          <a:xfrm>
            <a:off x="3792539" y="4581525"/>
            <a:ext cx="3000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文本框 95233"/>
          <p:cNvSpPr txBox="1"/>
          <p:nvPr/>
        </p:nvSpPr>
        <p:spPr>
          <a:xfrm>
            <a:off x="1828800" y="160020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       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4211" name="文本框 95234"/>
          <p:cNvSpPr txBox="1"/>
          <p:nvPr/>
        </p:nvSpPr>
        <p:spPr>
          <a:xfrm>
            <a:off x="1752601" y="1524000"/>
            <a:ext cx="85201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90204" pitchFamily="34" charset="0"/>
              </a:rPr>
              <a:t>     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94213" name="文本框 95236"/>
          <p:cNvSpPr txBox="1"/>
          <p:nvPr/>
        </p:nvSpPr>
        <p:spPr>
          <a:xfrm>
            <a:off x="28035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4214" name="文本框 95237"/>
          <p:cNvSpPr txBox="1"/>
          <p:nvPr/>
        </p:nvSpPr>
        <p:spPr>
          <a:xfrm>
            <a:off x="2422526" y="21542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graphicFrame>
        <p:nvGraphicFramePr>
          <p:cNvPr id="95239" name="对象 95238"/>
          <p:cNvGraphicFramePr>
            <a:graphicFrameLocks noChangeAspect="1"/>
          </p:cNvGraphicFramePr>
          <p:nvPr/>
        </p:nvGraphicFramePr>
        <p:xfrm>
          <a:off x="2263776" y="1562100"/>
          <a:ext cx="7870825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5829300" imgH="1371600" progId="">
                  <p:embed/>
                </p:oleObj>
              </mc:Choice>
              <mc:Fallback>
                <p:oleObj name="" r:id="rId1" imgW="5829300" imgH="1371600" progId="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>
                        <a:lum bright="-23999" contrast="42000"/>
                      </a:blip>
                      <a:stretch>
                        <a:fillRect/>
                      </a:stretch>
                    </p:blipFill>
                    <p:spPr>
                      <a:xfrm>
                        <a:off x="2263776" y="1562100"/>
                        <a:ext cx="7870825" cy="2514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6" name="文本框 95239"/>
          <p:cNvSpPr txBox="1"/>
          <p:nvPr/>
        </p:nvSpPr>
        <p:spPr>
          <a:xfrm>
            <a:off x="2105025" y="908685"/>
            <a:ext cx="3383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合并的</a:t>
            </a:r>
            <a:r>
              <a:rPr lang="zh-CN" altLang="en-US" sz="2800" dirty="0">
                <a:solidFill>
                  <a:schemeClr val="accent5"/>
                </a:solidFill>
                <a:latin typeface="宋体" pitchFamily="2" charset="-122"/>
              </a:rPr>
              <a:t>组内平方和</a:t>
            </a:r>
            <a:r>
              <a:rPr lang="zh-CN" altLang="en-US" sz="2800" dirty="0">
                <a:latin typeface="宋体" pitchFamily="2" charset="-122"/>
              </a:rPr>
              <a:t>为</a:t>
            </a:r>
            <a:endParaRPr lang="zh-CN" altLang="en-US" sz="2800" dirty="0">
              <a:latin typeface="宋体" pitchFamily="2" charset="-122"/>
            </a:endParaRPr>
          </a:p>
        </p:txBody>
      </p:sp>
      <p:sp>
        <p:nvSpPr>
          <p:cNvPr id="95241" name="文本框 95240"/>
          <p:cNvSpPr txBox="1"/>
          <p:nvPr/>
        </p:nvSpPr>
        <p:spPr>
          <a:xfrm>
            <a:off x="1981200" y="4405948"/>
            <a:ext cx="64655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其中合并的</a:t>
            </a:r>
            <a:r>
              <a:rPr lang="zh-CN" altLang="en-US" sz="2800" dirty="0">
                <a:solidFill>
                  <a:schemeClr val="accent5"/>
                </a:solidFill>
                <a:latin typeface="宋体" pitchFamily="2" charset="-122"/>
              </a:rPr>
              <a:t>组内离差阵</a:t>
            </a:r>
            <a:r>
              <a:rPr lang="zh-CN" altLang="en-US" sz="2800" dirty="0">
                <a:latin typeface="宋体" pitchFamily="2" charset="-122"/>
              </a:rPr>
              <a:t>(或称叉积阵)</a:t>
            </a:r>
            <a:r>
              <a:rPr lang="en-US" altLang="zh-CN" sz="2800" i="1" dirty="0">
                <a:solidFill>
                  <a:schemeClr val="accent5"/>
                </a:solidFill>
                <a:latin typeface="Arial" panose="020B0604020202090204" pitchFamily="34" charset="0"/>
              </a:rPr>
              <a:t>A</a:t>
            </a:r>
            <a:r>
              <a:rPr lang="zh-CN" altLang="en-US" sz="2800" dirty="0">
                <a:latin typeface="宋体" pitchFamily="2" charset="-122"/>
              </a:rPr>
              <a:t>为</a:t>
            </a:r>
            <a:endParaRPr lang="zh-CN" altLang="en-US" sz="2800" dirty="0">
              <a:latin typeface="宋体" pitchFamily="2" charset="-122"/>
            </a:endParaRPr>
          </a:p>
        </p:txBody>
      </p:sp>
      <p:sp>
        <p:nvSpPr>
          <p:cNvPr id="94218" name="文本框 95241"/>
          <p:cNvSpPr txBox="1"/>
          <p:nvPr/>
        </p:nvSpPr>
        <p:spPr>
          <a:xfrm>
            <a:off x="3641726" y="5354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graphicFrame>
        <p:nvGraphicFramePr>
          <p:cNvPr id="95243" name="对象 95242"/>
          <p:cNvGraphicFramePr>
            <a:graphicFrameLocks noChangeAspect="1"/>
          </p:cNvGraphicFramePr>
          <p:nvPr/>
        </p:nvGraphicFramePr>
        <p:xfrm>
          <a:off x="1981200" y="5257800"/>
          <a:ext cx="8153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5118100" imgH="444500" progId="">
                  <p:embed/>
                </p:oleObj>
              </mc:Choice>
              <mc:Fallback>
                <p:oleObj name="" r:id="rId3" imgW="5118100" imgH="444500" progId="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>
                        <a:lum bright="-23999" contrast="42000"/>
                      </a:blip>
                      <a:stretch>
                        <a:fillRect/>
                      </a:stretch>
                    </p:blipFill>
                    <p:spPr>
                      <a:xfrm>
                        <a:off x="1981200" y="5257800"/>
                        <a:ext cx="81534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4" name="文本框 95243"/>
          <p:cNvSpPr txBox="1"/>
          <p:nvPr/>
        </p:nvSpPr>
        <p:spPr>
          <a:xfrm>
            <a:off x="2180591" y="1775461"/>
            <a:ext cx="595035" cy="5847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3200" b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endParaRPr lang="en-US" altLang="zh-CN" sz="3200" b="1" baseline="-20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5245" name="文本框 95244"/>
          <p:cNvSpPr txBox="1"/>
          <p:nvPr/>
        </p:nvSpPr>
        <p:spPr>
          <a:xfrm>
            <a:off x="3093403" y="3629661"/>
            <a:ext cx="1038874" cy="584775"/>
          </a:xfrm>
          <a:prstGeom prst="rect">
            <a:avLst/>
          </a:prstGeom>
          <a:solidFill>
            <a:srgbClr val="FEFEF8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′A a</a:t>
            </a:r>
            <a:endParaRPr lang="zh-CN" altLang="en-US" sz="3200" b="1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5246" name="矩形 95245"/>
          <p:cNvSpPr/>
          <p:nvPr/>
        </p:nvSpPr>
        <p:spPr>
          <a:xfrm>
            <a:off x="1905000" y="5334001"/>
            <a:ext cx="533400" cy="70675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40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endParaRPr lang="en-US" altLang="zh-CN" sz="4000" b="1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文本框 96257"/>
          <p:cNvSpPr txBox="1"/>
          <p:nvPr/>
        </p:nvSpPr>
        <p:spPr>
          <a:xfrm>
            <a:off x="1828800" y="160020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       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5235" name="文本框 96258"/>
          <p:cNvSpPr txBox="1"/>
          <p:nvPr/>
        </p:nvSpPr>
        <p:spPr>
          <a:xfrm>
            <a:off x="1752601" y="1524000"/>
            <a:ext cx="85201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90204" pitchFamily="34" charset="0"/>
              </a:rPr>
              <a:t>     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95236" name="文本框 96259"/>
          <p:cNvSpPr txBox="1"/>
          <p:nvPr/>
        </p:nvSpPr>
        <p:spPr>
          <a:xfrm>
            <a:off x="1905000" y="1544638"/>
            <a:ext cx="8458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宋体" pitchFamily="2" charset="-122"/>
            </a:endParaRPr>
          </a:p>
        </p:txBody>
      </p:sp>
      <p:sp>
        <p:nvSpPr>
          <p:cNvPr id="95237" name="文本框 96260"/>
          <p:cNvSpPr txBox="1"/>
          <p:nvPr/>
        </p:nvSpPr>
        <p:spPr>
          <a:xfrm>
            <a:off x="28035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5238" name="文本框 96261"/>
          <p:cNvSpPr txBox="1"/>
          <p:nvPr/>
        </p:nvSpPr>
        <p:spPr>
          <a:xfrm>
            <a:off x="2133600" y="812800"/>
            <a:ext cx="8229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个类的均值有显著差异,则比值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5239" name="文本框 96262"/>
          <p:cNvSpPr txBox="1"/>
          <p:nvPr/>
        </p:nvSpPr>
        <p:spPr>
          <a:xfrm>
            <a:off x="4175126" y="2840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graphicFrame>
        <p:nvGraphicFramePr>
          <p:cNvPr id="95240" name="对象 96263"/>
          <p:cNvGraphicFramePr>
            <a:graphicFrameLocks noChangeAspect="1"/>
          </p:cNvGraphicFramePr>
          <p:nvPr/>
        </p:nvGraphicFramePr>
        <p:xfrm>
          <a:off x="3859530" y="1544955"/>
          <a:ext cx="40386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1778000" imgH="673100" progId="">
                  <p:embed/>
                </p:oleObj>
              </mc:Choice>
              <mc:Fallback>
                <p:oleObj name="" r:id="rId1" imgW="1778000" imgH="673100" progId="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59530" y="1544955"/>
                        <a:ext cx="4038600" cy="137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5" name="文本框 96264"/>
          <p:cNvSpPr txBox="1"/>
          <p:nvPr/>
        </p:nvSpPr>
        <p:spPr>
          <a:xfrm>
            <a:off x="996696" y="3050541"/>
            <a:ext cx="10469880" cy="325435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应充分大.利用方差分析的思想,问题化为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求投影方向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Δ(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达极大值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,显然使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Δ(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达极大的解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不唯一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Δ(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达极大,则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是任意不为零常数)也使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Δ(·)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达极大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故对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加一约束条件，即选取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i="1" dirty="0">
                <a:solidFill>
                  <a:srgbClr val="0E0D0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dirty="0">
                <a:solidFill>
                  <a:srgbClr val="0E0D0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Aa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=1.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问题化为求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Δ(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)=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Ba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Aa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=1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条件下达极大.</a:t>
            </a:r>
            <a:endParaRPr lang="zh-CN" altLang="en-US" sz="2800" dirty="0">
              <a:solidFill>
                <a:srgbClr val="FF33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5242" name="文本框 96265"/>
          <p:cNvSpPr txBox="1"/>
          <p:nvPr/>
        </p:nvSpPr>
        <p:spPr>
          <a:xfrm>
            <a:off x="4622800" y="2298701"/>
            <a:ext cx="663964" cy="5847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Aa</a:t>
            </a:r>
            <a:endParaRPr lang="en-US" altLang="zh-CN" sz="3200" b="1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5243" name="直接连接符 96266"/>
          <p:cNvSpPr/>
          <p:nvPr/>
        </p:nvSpPr>
        <p:spPr>
          <a:xfrm>
            <a:off x="4191000" y="2286000"/>
            <a:ext cx="1143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82" name="内容占位符 97281"/>
          <p:cNvGraphicFramePr>
            <a:graphicFrameLocks noGrp="1" noChangeAspect="1"/>
          </p:cNvGraphicFramePr>
          <p:nvPr>
            <p:ph sz="half" idx="1"/>
          </p:nvPr>
        </p:nvGraphicFramePr>
        <p:xfrm>
          <a:off x="2621614" y="2668398"/>
          <a:ext cx="5937695" cy="2968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2057400" imgH="1028700" progId="Equation.3">
                  <p:embed/>
                </p:oleObj>
              </mc:Choice>
              <mc:Fallback>
                <p:oleObj name="" r:id="rId1" imgW="2057400" imgH="1028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1614" y="2668398"/>
                        <a:ext cx="5937695" cy="296884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59" name="文本框 97282"/>
          <p:cNvSpPr txBox="1"/>
          <p:nvPr/>
        </p:nvSpPr>
        <p:spPr>
          <a:xfrm>
            <a:off x="1828800" y="1600201"/>
            <a:ext cx="853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       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6260" name="文本框 97283"/>
          <p:cNvSpPr txBox="1"/>
          <p:nvPr/>
        </p:nvSpPr>
        <p:spPr>
          <a:xfrm>
            <a:off x="1752601" y="1524000"/>
            <a:ext cx="8520113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90204" pitchFamily="34" charset="0"/>
              </a:rPr>
              <a:t>     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96261" name="文本框 97284"/>
          <p:cNvSpPr txBox="1"/>
          <p:nvPr/>
        </p:nvSpPr>
        <p:spPr>
          <a:xfrm>
            <a:off x="1905000" y="1544638"/>
            <a:ext cx="84582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宋体" pitchFamily="2" charset="-122"/>
            </a:endParaRPr>
          </a:p>
        </p:txBody>
      </p:sp>
      <p:sp>
        <p:nvSpPr>
          <p:cNvPr id="97288" name="文本框 97287"/>
          <p:cNvSpPr txBox="1"/>
          <p:nvPr/>
        </p:nvSpPr>
        <p:spPr>
          <a:xfrm>
            <a:off x="2013586" y="534035"/>
            <a:ext cx="7767955" cy="194950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如果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是在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Aa</a:t>
            </a:r>
            <a:r>
              <a:rPr lang="en-US" altLang="zh-CN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=1</a:t>
            </a:r>
            <a:r>
              <a:rPr lang="zh-CN" altLang="en-US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条件下使</a:t>
            </a:r>
            <a:r>
              <a:rPr lang="en-US" altLang="zh-CN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Δ(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)=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Ba</a:t>
            </a:r>
            <a:r>
              <a:rPr lang="zh-CN" altLang="en-US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达极大的方向,则称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altLang="zh-CN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)=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X</a:t>
            </a:r>
            <a:r>
              <a:rPr lang="zh-CN" altLang="en-US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典型线性判别函数</a:t>
            </a:r>
            <a:r>
              <a:rPr lang="zh-CN" altLang="en-US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en-US" sz="2800" dirty="0">
              <a:solidFill>
                <a:srgbClr val="66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利用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Lagrange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乘数法来求条件极值问题的解.令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7289" name="左大括号 97288"/>
          <p:cNvSpPr/>
          <p:nvPr/>
        </p:nvSpPr>
        <p:spPr>
          <a:xfrm>
            <a:off x="4511146" y="3539596"/>
            <a:ext cx="215900" cy="1727200"/>
          </a:xfrm>
          <a:prstGeom prst="leftBrace">
            <a:avLst>
              <a:gd name="adj1" fmla="val 66518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内容占位符 98305"/>
          <p:cNvGraphicFramePr>
            <a:graphicFrameLocks noGrp="1" noChangeAspect="1"/>
          </p:cNvGraphicFramePr>
          <p:nvPr>
            <p:ph sz="half" idx="1"/>
          </p:nvPr>
        </p:nvGraphicFramePr>
        <p:xfrm>
          <a:off x="2652713" y="1331913"/>
          <a:ext cx="6392862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55168800" imgH="6096000" progId="Equation.DSMT4">
                  <p:embed/>
                </p:oleObj>
              </mc:Choice>
              <mc:Fallback>
                <p:oleObj name="Equation" r:id="rId1" imgW="55168800" imgH="60960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52713" y="1331913"/>
                        <a:ext cx="6392862" cy="706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4" name="文本框 98307"/>
          <p:cNvSpPr txBox="1"/>
          <p:nvPr/>
        </p:nvSpPr>
        <p:spPr>
          <a:xfrm>
            <a:off x="1045575" y="777188"/>
            <a:ext cx="6085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上式中的第一式可化为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97287" name="文本框 98310"/>
          <p:cNvSpPr txBox="1"/>
          <p:nvPr/>
        </p:nvSpPr>
        <p:spPr>
          <a:xfrm>
            <a:off x="3946521" y="1822584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8312" name="矩形 98311"/>
          <p:cNvSpPr/>
          <p:nvPr/>
        </p:nvSpPr>
        <p:spPr>
          <a:xfrm>
            <a:off x="1380061" y="1979747"/>
            <a:ext cx="10160000" cy="6568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可知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条件极值问题化为求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en-US" altLang="zh-CN" sz="2800" i="1" baseline="24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-</a:t>
            </a:r>
            <a:r>
              <a:rPr lang="en-US" altLang="zh-CN" sz="2800" baseline="24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B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的最大特征值和相应特征向量问题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98313" name="文本框 98312"/>
          <p:cNvSpPr txBox="1"/>
          <p:nvPr/>
        </p:nvSpPr>
        <p:spPr>
          <a:xfrm>
            <a:off x="1210727" y="2872505"/>
            <a:ext cx="10498667" cy="6568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设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en-US" altLang="zh-CN" sz="2800" i="1" baseline="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-</a:t>
            </a:r>
            <a:r>
              <a:rPr lang="en-US" altLang="zh-CN" sz="2800" baseline="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B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的非零特征值为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≥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≥…≥ 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i="1" baseline="-1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en-US" altLang="zh-CN" sz="2800" i="1" baseline="-3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＞0,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相应特征向量为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,…,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 </a:t>
            </a:r>
            <a:r>
              <a:rPr lang="en-US" altLang="zh-CN" sz="2800" i="1" baseline="-1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en-US" altLang="zh-CN" sz="2800" i="1" baseline="-3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99334"/>
          <p:cNvSpPr txBox="1"/>
          <p:nvPr/>
        </p:nvSpPr>
        <p:spPr>
          <a:xfrm>
            <a:off x="1380061" y="3853781"/>
            <a:ext cx="6359525" cy="5275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取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由</a:t>
            </a:r>
            <a:r>
              <a:rPr lang="en-US" altLang="zh-CN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Δ(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)=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dirty="0">
                <a:solidFill>
                  <a:srgbClr val="66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Ba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知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: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8" name="内容占位符 99335"/>
          <p:cNvGraphicFramePr>
            <a:graphicFrameLocks noChangeAspect="1"/>
          </p:cNvGraphicFramePr>
          <p:nvPr/>
        </p:nvGraphicFramePr>
        <p:xfrm>
          <a:off x="2357748" y="4420922"/>
          <a:ext cx="41751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991995" imgH="215900" progId="Equation.3">
                  <p:embed/>
                </p:oleObj>
              </mc:Choice>
              <mc:Fallback>
                <p:oleObj name="" r:id="rId3" imgW="1991995" imgH="215900" progId="Equation.3">
                  <p:embed/>
                  <p:pic>
                    <p:nvPicPr>
                      <p:cNvPr id="0" name="内容占位符 993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7748" y="4420922"/>
                        <a:ext cx="4175125" cy="452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380061" y="4984426"/>
            <a:ext cx="9956799" cy="13031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即取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时可使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Δ(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达最大,且最大值为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 Δ(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的大小衡量典型判别函数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u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)=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X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的判别效果.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0" name="直接连接符 9"/>
          <p:cNvSpPr/>
          <p:nvPr/>
        </p:nvSpPr>
        <p:spPr>
          <a:xfrm>
            <a:off x="5974073" y="4946384"/>
            <a:ext cx="647700" cy="0"/>
          </a:xfrm>
          <a:prstGeom prst="line">
            <a:avLst/>
          </a:prstGeom>
          <a:ln w="38100" cap="flat" cmpd="sng">
            <a:solidFill>
              <a:srgbClr val="070CD5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文本框 100353"/>
          <p:cNvSpPr txBox="1"/>
          <p:nvPr/>
        </p:nvSpPr>
        <p:spPr>
          <a:xfrm>
            <a:off x="1828800" y="160020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       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9331" name="文本框 100354"/>
          <p:cNvSpPr txBox="1"/>
          <p:nvPr/>
        </p:nvSpPr>
        <p:spPr>
          <a:xfrm>
            <a:off x="1752601" y="1524000"/>
            <a:ext cx="85201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90204" pitchFamily="34" charset="0"/>
              </a:rPr>
              <a:t>     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99332" name="文本框 100355"/>
          <p:cNvSpPr txBox="1"/>
          <p:nvPr/>
        </p:nvSpPr>
        <p:spPr>
          <a:xfrm>
            <a:off x="1905000" y="1544638"/>
            <a:ext cx="8458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宋体" pitchFamily="2" charset="-122"/>
            </a:endParaRPr>
          </a:p>
        </p:txBody>
      </p:sp>
      <p:sp>
        <p:nvSpPr>
          <p:cNvPr id="99333" name="文本框 100356"/>
          <p:cNvSpPr txBox="1"/>
          <p:nvPr/>
        </p:nvSpPr>
        <p:spPr>
          <a:xfrm>
            <a:off x="28035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9334" name="文本框 100357"/>
          <p:cNvSpPr txBox="1"/>
          <p:nvPr/>
        </p:nvSpPr>
        <p:spPr>
          <a:xfrm>
            <a:off x="4175126" y="2840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0359" name="文本框 100358"/>
          <p:cNvSpPr txBox="1"/>
          <p:nvPr/>
        </p:nvSpPr>
        <p:spPr>
          <a:xfrm>
            <a:off x="1662115" y="1039496"/>
            <a:ext cx="9276818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一般称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Δ(</a:t>
            </a:r>
            <a:r>
              <a:rPr lang="en-US" altLang="zh-CN" sz="2800" i="1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)=λ</a:t>
            </a:r>
            <a:r>
              <a:rPr lang="en-US" altLang="zh-CN" sz="2800" baseline="-220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为典型判别函数</a:t>
            </a:r>
            <a:r>
              <a:rPr lang="en-US" altLang="zh-CN" sz="2800" i="1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u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的判别效率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还可以定义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u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的判别能力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en-US" altLang="zh-CN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       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algn="ctr"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en-US" altLang="zh-CN" sz="2800" i="1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en-US" altLang="zh-CN" sz="2800" baseline="-220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 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</a:t>
            </a:r>
            <a:r>
              <a:rPr lang="en-US" altLang="zh-CN" sz="2800" i="1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 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/(</a:t>
            </a:r>
            <a:r>
              <a:rPr lang="en-US" altLang="zh-CN" sz="2800" i="1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</a:t>
            </a:r>
            <a:r>
              <a:rPr lang="en-US" altLang="zh-CN" sz="2800" i="1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+…+</a:t>
            </a:r>
            <a:r>
              <a:rPr lang="en-US" altLang="zh-CN" sz="2800" i="1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i="1" baseline="-160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en-US" altLang="zh-CN" sz="2800" i="1" baseline="-360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)</a:t>
            </a:r>
            <a:endParaRPr lang="en-US" altLang="zh-CN" sz="2800" dirty="0">
              <a:solidFill>
                <a:srgbClr val="FF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结论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Fisher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准则下线性判别函数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u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=a'X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的解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为特征方程| 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en-US" altLang="zh-CN" sz="2800" baseline="240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-1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B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-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λI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| =0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的最大特征根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所对应的满足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'Al</a:t>
            </a:r>
            <a:r>
              <a:rPr lang="en-US" altLang="zh-CN" sz="2800" baseline="-200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的特征向量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;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且相应的判别效率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Δ(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)=λ</a:t>
            </a:r>
            <a:r>
              <a:rPr lang="en-US" altLang="zh-CN" sz="2800" baseline="-220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.   </a:t>
            </a:r>
            <a:endParaRPr lang="en-US" altLang="zh-CN" sz="2800" dirty="0">
              <a:solidFill>
                <a:srgbClr val="0000CC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文本框 108545"/>
          <p:cNvSpPr txBox="1"/>
          <p:nvPr/>
        </p:nvSpPr>
        <p:spPr>
          <a:xfrm>
            <a:off x="1828800" y="160020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       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7523" name="文本框 108546"/>
          <p:cNvSpPr txBox="1"/>
          <p:nvPr/>
        </p:nvSpPr>
        <p:spPr>
          <a:xfrm>
            <a:off x="1752601" y="1524000"/>
            <a:ext cx="85201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90204" pitchFamily="34" charset="0"/>
              </a:rPr>
              <a:t>     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107524" name="文本框 108547"/>
          <p:cNvSpPr txBox="1"/>
          <p:nvPr/>
        </p:nvSpPr>
        <p:spPr>
          <a:xfrm>
            <a:off x="28035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7525" name="文本框 108548"/>
          <p:cNvSpPr txBox="1"/>
          <p:nvPr/>
        </p:nvSpPr>
        <p:spPr>
          <a:xfrm>
            <a:off x="4175126" y="2840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8550" name="文本框 108549"/>
          <p:cNvSpPr txBox="1"/>
          <p:nvPr/>
        </p:nvSpPr>
        <p:spPr>
          <a:xfrm>
            <a:off x="475488" y="981711"/>
            <a:ext cx="10680192" cy="45484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准则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：用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一个典型线性判别函数</a:t>
            </a:r>
            <a:endParaRPr lang="en-US" altLang="zh-CN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准则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：在有些问题中(如分类个数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较大或变量个数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较大时),仅用一个典型线性判别函数不能很好地区分各个总体,这时可用第二大特征值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对应的满足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aseline="10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Al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特征向量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建立第二个典型线性判函数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baseline="10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如还不够,还可建立第三个典型线性判别函数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en-US" altLang="zh-CN" sz="2800" baseline="10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X;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依次类推.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如果有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个非零特征根(1≤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≤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相应有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800" i="1" baseline="-24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个典型线性判别函数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altLang="zh-CN" sz="2800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(X),…,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altLang="zh-CN" sz="2800" i="1" baseline="-1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800" i="1" baseline="-3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(X).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这时相当于把原来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个变量综合成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个新变量.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7527" name="文本框 108550"/>
          <p:cNvSpPr txBox="1"/>
          <p:nvPr/>
        </p:nvSpPr>
        <p:spPr>
          <a:xfrm>
            <a:off x="3325813" y="173038"/>
            <a:ext cx="3531736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ea typeface="华文新魏" panose="02010800040101010101" pitchFamily="2" charset="-122"/>
                <a:cs typeface="Times New Roman" panose="02020503050405090304" pitchFamily="18" charset="0"/>
              </a:rPr>
              <a:t>Fisher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华文新魏" panose="02010800040101010101" pitchFamily="2" charset="-122"/>
                <a:cs typeface="Times New Roman" panose="02020503050405090304" pitchFamily="18" charset="0"/>
              </a:rPr>
              <a:t>判别准则</a:t>
            </a:r>
            <a:endParaRPr lang="en-US" altLang="zh-CN" sz="4000" dirty="0">
              <a:solidFill>
                <a:srgbClr val="FF0000"/>
              </a:solidFill>
              <a:latin typeface="Times New Roman" panose="02020503050405090304" pitchFamily="18" charset="0"/>
              <a:ea typeface="华文新魏" panose="02010800040101010101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109569"/>
          <p:cNvSpPr txBox="1"/>
          <p:nvPr/>
        </p:nvSpPr>
        <p:spPr>
          <a:xfrm>
            <a:off x="1828800" y="160020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Arial" panose="020B0604020202090204" pitchFamily="34" charset="0"/>
              </a:rPr>
              <a:t>       </a:t>
            </a: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8547" name="文本框 109570"/>
          <p:cNvSpPr txBox="1"/>
          <p:nvPr/>
        </p:nvSpPr>
        <p:spPr>
          <a:xfrm>
            <a:off x="1752601" y="1524000"/>
            <a:ext cx="85201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90204" pitchFamily="34" charset="0"/>
              </a:rPr>
              <a:t>     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  <p:sp>
        <p:nvSpPr>
          <p:cNvPr id="108548" name="文本框 109571"/>
          <p:cNvSpPr txBox="1"/>
          <p:nvPr/>
        </p:nvSpPr>
        <p:spPr>
          <a:xfrm>
            <a:off x="1905000" y="1544638"/>
            <a:ext cx="8458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宋体" pitchFamily="2" charset="-122"/>
            </a:endParaRPr>
          </a:p>
        </p:txBody>
      </p:sp>
      <p:sp>
        <p:nvSpPr>
          <p:cNvPr id="108549" name="文本框 109572"/>
          <p:cNvSpPr txBox="1"/>
          <p:nvPr/>
        </p:nvSpPr>
        <p:spPr>
          <a:xfrm>
            <a:off x="28035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8550" name="文本框 109573"/>
          <p:cNvSpPr txBox="1"/>
          <p:nvPr/>
        </p:nvSpPr>
        <p:spPr>
          <a:xfrm>
            <a:off x="4175126" y="2840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9575" name="文本框 109574"/>
          <p:cNvSpPr txBox="1"/>
          <p:nvPr/>
        </p:nvSpPr>
        <p:spPr>
          <a:xfrm>
            <a:off x="983411" y="880110"/>
            <a:ext cx="10133322" cy="51811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在实际应用中,常取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前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(1≤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≤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en-US" altLang="zh-CN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 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非零特征根,并使累计判别能力(记为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en-US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en-US" altLang="zh-CN" sz="2800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 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</a:t>
            </a:r>
            <a:r>
              <a:rPr lang="en-US" altLang="zh-CN" sz="2800" i="1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en-US" altLang="zh-CN" sz="2800" baseline="-200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en-US" altLang="zh-CN" sz="2800" i="1" baseline="-200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en-US" altLang="zh-CN" sz="2800" baseline="-200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 </a:t>
            </a:r>
            <a:r>
              <a:rPr lang="en-US" altLang="zh-CN" sz="28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=(</a:t>
            </a:r>
            <a:r>
              <a:rPr lang="en-US" altLang="zh-CN" sz="2800" i="1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 </a:t>
            </a:r>
            <a:r>
              <a:rPr lang="en-US" altLang="zh-CN" sz="28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+…+</a:t>
            </a:r>
            <a:r>
              <a:rPr lang="en-US" altLang="zh-CN" sz="2800" i="1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i="1" baseline="-160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en-US" altLang="zh-CN" sz="28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)/(</a:t>
            </a:r>
            <a:r>
              <a:rPr lang="en-US" altLang="zh-CN" sz="2800" i="1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</a:t>
            </a:r>
            <a:r>
              <a:rPr lang="en-US" altLang="zh-CN" sz="2800" i="1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baseline="-220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+…+</a:t>
            </a:r>
            <a:r>
              <a:rPr lang="en-US" altLang="zh-CN" sz="2800" i="1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λ</a:t>
            </a:r>
            <a:r>
              <a:rPr lang="en-US" altLang="zh-CN" sz="2800" i="1" baseline="-160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en-US" altLang="zh-CN" sz="2800" i="1" baseline="-360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0</a:t>
            </a:r>
            <a:r>
              <a:rPr lang="en-US" altLang="zh-CN" sz="2800" dirty="0">
                <a:solidFill>
                  <a:srgbClr val="CC33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)</a:t>
            </a:r>
            <a:endParaRPr lang="en-US" altLang="zh-CN" sz="2800" dirty="0">
              <a:solidFill>
                <a:srgbClr val="CC33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达到80%以上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(这表示用这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个新变量替代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个原变量进行判别归类损失的信息不会超过20%).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这样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维总体的判别问题化为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维的判别问题,一般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维数降低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了.</a:t>
            </a:r>
            <a:endParaRPr lang="en-US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由于特征向量线性无关,故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个新变量互不相关.然后对</a:t>
            </a:r>
            <a:r>
              <a:rPr lang="en-US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r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维数据进行判别归类(比如按距离判别准则).   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08552" name="文本框 109575"/>
          <p:cNvSpPr txBox="1"/>
          <p:nvPr/>
        </p:nvSpPr>
        <p:spPr>
          <a:xfrm>
            <a:off x="3325814" y="173038"/>
            <a:ext cx="3823483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ea typeface="华文新魏" panose="02010800040101010101" pitchFamily="2" charset="-122"/>
                <a:cs typeface="Times New Roman" panose="02020503050405090304" pitchFamily="18" charset="0"/>
              </a:rPr>
              <a:t>Fisher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ea typeface="华文新魏" panose="02010800040101010101" pitchFamily="2" charset="-122"/>
                <a:cs typeface="Times New Roman" panose="02020503050405090304" pitchFamily="18" charset="0"/>
              </a:rPr>
              <a:t>判别准则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ea typeface="华文新魏" panose="02010800040101010101" pitchFamily="2" charset="-122"/>
                <a:cs typeface="Times New Roman" panose="02020503050405090304" pitchFamily="18" charset="0"/>
              </a:rPr>
              <a:t>3</a:t>
            </a:r>
            <a:endParaRPr lang="en-US" altLang="zh-CN" sz="4000" dirty="0">
              <a:solidFill>
                <a:srgbClr val="FF0000"/>
              </a:solidFill>
              <a:latin typeface="Times New Roman" panose="02020503050405090304" pitchFamily="18" charset="0"/>
              <a:ea typeface="华文新魏" panose="02010800040101010101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4"/>
          <p:cNvSpPr>
            <a:spLocks noGrp="1" noChangeArrowheads="1"/>
          </p:cNvSpPr>
          <p:nvPr>
            <p:ph type="title"/>
          </p:nvPr>
        </p:nvSpPr>
        <p:spPr>
          <a:xfrm>
            <a:off x="2593637" y="594343"/>
            <a:ext cx="6410325" cy="936625"/>
          </a:xfrm>
          <a:noFill/>
        </p:spPr>
        <p:txBody>
          <a:bodyPr anchor="ctr"/>
          <a:lstStyle/>
          <a:p>
            <a:pPr eaLnBrk="1" hangingPunct="1"/>
            <a:r>
              <a:rPr lang="zh-CN" altLang="en-US" sz="3600" b="1" dirty="0">
                <a:solidFill>
                  <a:schemeClr val="tx1"/>
                </a:solidFill>
              </a:rPr>
              <a:t>第四节  贝叶斯判别法</a:t>
            </a:r>
            <a:endParaRPr lang="zh-CN" altLang="en-US" sz="3600" b="1" dirty="0">
              <a:solidFill>
                <a:schemeClr val="tx1"/>
              </a:solidFill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171065" y="2286000"/>
            <a:ext cx="7849870" cy="3526790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办公室新来了一个雇员小王，小王是好人还是坏人大家都在猜测。按人们主观意识，一个人是好人或坏人的概率均为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0.5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。坏人总是要做坏事，好人总是做好事，偶尔也会做一件坏事，一般好人做好事的概率为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0.9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，坏人做好事的概率为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0.2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，一天，小王做了一件好事，小王是好人的概率有多大，你现在把小王判为何种人。</a:t>
            </a:r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635696-475F-484F-8355-128BB89A9A58}" type="slidenum">
              <a:rPr lang="en-US" altLang="zh-CN"/>
            </a:fld>
            <a:endParaRPr lang="en-US" altLang="zh-CN"/>
          </a:p>
        </p:txBody>
      </p:sp>
      <p:sp>
        <p:nvSpPr>
          <p:cNvPr id="65541" name="Rectangle 10"/>
          <p:cNvSpPr>
            <a:spLocks noChangeArrowheads="1"/>
          </p:cNvSpPr>
          <p:nvPr/>
        </p:nvSpPr>
        <p:spPr bwMode="auto">
          <a:xfrm>
            <a:off x="2593341" y="1530985"/>
            <a:ext cx="3673475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Arial" panose="020B0604020202090204" pitchFamily="34" charset="0"/>
              </a:rPr>
              <a:t>一  、</a:t>
            </a:r>
            <a:r>
              <a:rPr lang="zh-CN" altLang="en-US" sz="3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最大后验准则</a:t>
            </a:r>
            <a:endParaRPr lang="zh-CN" altLang="en-US" sz="32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8643BA1-07FE-4A9F-B214-17C15880C104}" type="slidenum">
              <a:rPr lang="en-US" altLang="zh-CN"/>
            </a:fld>
            <a:endParaRPr lang="en-US" altLang="zh-CN"/>
          </a:p>
        </p:txBody>
      </p:sp>
      <p:graphicFrame>
        <p:nvGraphicFramePr>
          <p:cNvPr id="33794" name="Object 1024"/>
          <p:cNvGraphicFramePr>
            <a:graphicFrameLocks noChangeAspect="1"/>
          </p:cNvGraphicFramePr>
          <p:nvPr/>
        </p:nvGraphicFramePr>
        <p:xfrm>
          <a:off x="2362200" y="3416935"/>
          <a:ext cx="78994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189585600" imgH="35356800" progId="Equation.3">
                  <p:embed/>
                </p:oleObj>
              </mc:Choice>
              <mc:Fallback>
                <p:oleObj name="Equation" r:id="rId1" imgW="189585600" imgH="35356800" progId="Equation.3">
                  <p:embed/>
                  <p:pic>
                    <p:nvPicPr>
                      <p:cNvPr id="0" name="Object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3416935"/>
                        <a:ext cx="7899400" cy="1473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1025"/>
          <p:cNvGraphicFramePr>
            <a:graphicFrameLocks noChangeAspect="1"/>
          </p:cNvGraphicFramePr>
          <p:nvPr/>
        </p:nvGraphicFramePr>
        <p:xfrm>
          <a:off x="2362200" y="5451475"/>
          <a:ext cx="3937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94488000" imgH="19812000" progId="Equation.3">
                  <p:embed/>
                </p:oleObj>
              </mc:Choice>
              <mc:Fallback>
                <p:oleObj name="Equation" r:id="rId3" imgW="94488000" imgH="19812000" progId="Equation.3">
                  <p:embed/>
                  <p:pic>
                    <p:nvPicPr>
                      <p:cNvPr id="0" name="Object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2200" y="5451475"/>
                        <a:ext cx="39370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1026"/>
          <p:cNvGraphicFramePr>
            <a:graphicFrameLocks noChangeAspect="1"/>
          </p:cNvGraphicFramePr>
          <p:nvPr/>
        </p:nvGraphicFramePr>
        <p:xfrm>
          <a:off x="2286000" y="591820"/>
          <a:ext cx="73533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76479200" imgH="32613600" progId="Equation.3">
                  <p:embed/>
                </p:oleObj>
              </mc:Choice>
              <mc:Fallback>
                <p:oleObj name="Equation" r:id="rId5" imgW="176479200" imgH="32613600" progId="Equation.3">
                  <p:embed/>
                  <p:pic>
                    <p:nvPicPr>
                      <p:cNvPr id="0" name="Object 10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6000" y="591820"/>
                        <a:ext cx="7353300" cy="1358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1027"/>
          <p:cNvGraphicFramePr>
            <a:graphicFrameLocks noChangeAspect="1"/>
          </p:cNvGraphicFramePr>
          <p:nvPr/>
        </p:nvGraphicFramePr>
        <p:xfrm>
          <a:off x="2362200" y="2339340"/>
          <a:ext cx="3670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88087200" imgH="18592800" progId="Equation.3">
                  <p:embed/>
                </p:oleObj>
              </mc:Choice>
              <mc:Fallback>
                <p:oleObj name="Equation" r:id="rId7" imgW="88087200" imgH="18592800" progId="Equation.3">
                  <p:embed/>
                  <p:pic>
                    <p:nvPicPr>
                      <p:cNvPr id="0" name="Object 10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62200" y="2339340"/>
                        <a:ext cx="3670300" cy="77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xfrm>
            <a:off x="1727200" y="541655"/>
            <a:ext cx="8312150" cy="5327650"/>
          </a:xfrm>
        </p:spPr>
        <p:txBody>
          <a:bodyPr>
            <a:normAutofit/>
          </a:bodyPr>
          <a:lstStyle/>
          <a:p>
            <a:pPr indent="230505" algn="just">
              <a:lnSpc>
                <a:spcPct val="150000"/>
              </a:lnSpc>
              <a:buNone/>
            </a:pPr>
            <a:r>
              <a:rPr lang="en-US" altLang="zh-CN" sz="2800">
                <a:solidFill>
                  <a:schemeClr val="tx1"/>
                </a:solidFill>
              </a:rPr>
              <a:t>    </a:t>
            </a:r>
            <a:r>
              <a:rPr lang="zh-CN" altLang="en-US" sz="2800">
                <a:solidFill>
                  <a:schemeClr val="tx1"/>
                </a:solidFill>
              </a:rPr>
              <a:t>距离判别简单直观，很实用，但是距离判别的方法把总体等同看待，没有考虑到总体会以不同的概率（先验概率）出现，也没有考虑误判之后所造成的损失的差异。</a:t>
            </a:r>
            <a:endParaRPr lang="zh-CN" altLang="en-US" sz="2800">
              <a:solidFill>
                <a:schemeClr val="tx1"/>
              </a:solidFill>
            </a:endParaRPr>
          </a:p>
          <a:p>
            <a:pPr indent="230505" algn="just">
              <a:lnSpc>
                <a:spcPct val="150000"/>
              </a:lnSpc>
              <a:buNone/>
            </a:pPr>
            <a:r>
              <a:rPr lang="zh-CN" altLang="en-US" sz="2800">
                <a:solidFill>
                  <a:schemeClr val="tx1"/>
                </a:solidFill>
              </a:rPr>
              <a:t>一个好的判别方法，既要考虑到各个总体出现的先验概率，又要考虑到错判造成的损失，</a:t>
            </a:r>
            <a:r>
              <a:rPr lang="en-US" altLang="zh-CN" sz="2800" b="1">
                <a:solidFill>
                  <a:schemeClr val="tx1"/>
                </a:solidFill>
              </a:rPr>
              <a:t>Bayes</a:t>
            </a:r>
            <a:r>
              <a:rPr lang="zh-CN" altLang="en-US" sz="2800">
                <a:solidFill>
                  <a:schemeClr val="tx1"/>
                </a:solidFill>
              </a:rPr>
              <a:t>判别就具有这些优点，其判别效果更加理想，应用也更广泛。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48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8B936B-A272-45B3-9CA4-B5152C7FB70B}" type="slidenum">
              <a:rPr lang="en-US" altLang="zh-CN"/>
            </a:fld>
            <a:endParaRPr lang="en-US" altLang="zh-CN"/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auto">
          <a:xfrm>
            <a:off x="5205413" y="320516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4818" name="Object 17"/>
          <p:cNvGraphicFramePr>
            <a:graphicFrameLocks noChangeAspect="1"/>
          </p:cNvGraphicFramePr>
          <p:nvPr/>
        </p:nvGraphicFramePr>
        <p:xfrm>
          <a:off x="3761740" y="5201603"/>
          <a:ext cx="38798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92964000" imgH="21945600" progId="Equation.3">
                  <p:embed/>
                </p:oleObj>
              </mc:Choice>
              <mc:Fallback>
                <p:oleObj name="Equation" r:id="rId1" imgW="92964000" imgH="21945600" progId="Equation.3">
                  <p:embed/>
                  <p:pic>
                    <p:nvPicPr>
                      <p:cNvPr id="0" name="Object 1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61740" y="5201603"/>
                        <a:ext cx="3879850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7" name="Rectangle 11"/>
          <p:cNvSpPr>
            <a:spLocks noGrp="1" noChangeArrowheads="1"/>
          </p:cNvSpPr>
          <p:nvPr>
            <p:ph idx="1"/>
          </p:nvPr>
        </p:nvSpPr>
        <p:spPr>
          <a:xfrm>
            <a:off x="1957705" y="4252278"/>
            <a:ext cx="5562600" cy="525462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判别规则</a:t>
            </a:r>
            <a:endParaRPr lang="zh-CN" altLang="en-US" sz="2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58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1D2619F-D051-4765-9E1C-A55AF9F97809}" type="slidenum">
              <a:rPr lang="en-US" altLang="zh-CN"/>
            </a:fld>
            <a:endParaRPr lang="en-US" altLang="zh-CN"/>
          </a:p>
        </p:txBody>
      </p:sp>
      <p:sp>
        <p:nvSpPr>
          <p:cNvPr id="35855" name="Rectangle 2"/>
          <p:cNvSpPr>
            <a:spLocks noChangeArrowheads="1"/>
          </p:cNvSpPr>
          <p:nvPr/>
        </p:nvSpPr>
        <p:spPr bwMode="auto">
          <a:xfrm>
            <a:off x="1828801" y="304801"/>
            <a:ext cx="8209915" cy="2417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设有总体                    ，   具有概率密度函   数           。并且根据以往的统计分析，知道       出现的概率为     。即当样品    发生时，求它属于某类的概率。由贝叶斯公式计算后验概率，有：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35842" name="Object 3"/>
          <p:cNvGraphicFramePr>
            <a:graphicFrameLocks noChangeAspect="1"/>
          </p:cNvGraphicFramePr>
          <p:nvPr/>
        </p:nvGraphicFramePr>
        <p:xfrm>
          <a:off x="8751570" y="1066800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7924800" imgH="10363200" progId="Equation.3">
                  <p:embed/>
                </p:oleObj>
              </mc:Choice>
              <mc:Fallback>
                <p:oleObj name="Equation" r:id="rId1" imgW="7924800" imgH="103632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751570" y="1066800"/>
                        <a:ext cx="330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4"/>
          <p:cNvGraphicFramePr>
            <a:graphicFrameLocks noChangeAspect="1"/>
          </p:cNvGraphicFramePr>
          <p:nvPr/>
        </p:nvGraphicFramePr>
        <p:xfrm>
          <a:off x="2514600" y="1066800"/>
          <a:ext cx="738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7678400" imgH="10363200" progId="Equation.3">
                  <p:embed/>
                </p:oleObj>
              </mc:Choice>
              <mc:Fallback>
                <p:oleObj name="Equation" r:id="rId3" imgW="17678400" imgH="103632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4600" y="1066800"/>
                        <a:ext cx="738188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5"/>
          <p:cNvGraphicFramePr>
            <a:graphicFrameLocks noChangeAspect="1"/>
          </p:cNvGraphicFramePr>
          <p:nvPr/>
        </p:nvGraphicFramePr>
        <p:xfrm>
          <a:off x="6782435" y="539115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7924800" imgH="10363200" progId="Equation.3">
                  <p:embed/>
                </p:oleObj>
              </mc:Choice>
              <mc:Fallback>
                <p:oleObj name="Equation" r:id="rId5" imgW="7924800" imgH="103632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82435" y="539115"/>
                        <a:ext cx="330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6"/>
          <p:cNvGraphicFramePr>
            <a:graphicFrameLocks noChangeAspect="1"/>
          </p:cNvGraphicFramePr>
          <p:nvPr/>
        </p:nvGraphicFramePr>
        <p:xfrm>
          <a:off x="3429001" y="1600200"/>
          <a:ext cx="2841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6" imgW="6705600" imgH="10363200" progId="Equation.3">
                  <p:embed/>
                </p:oleObj>
              </mc:Choice>
              <mc:Fallback>
                <p:oleObj name="Equation" r:id="rId6" imgW="6705600" imgH="103632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29001" y="1600200"/>
                        <a:ext cx="28416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7"/>
          <p:cNvGraphicFramePr>
            <a:graphicFrameLocks noChangeAspect="1"/>
          </p:cNvGraphicFramePr>
          <p:nvPr/>
        </p:nvGraphicFramePr>
        <p:xfrm>
          <a:off x="5638800" y="1600200"/>
          <a:ext cx="30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8" imgW="7315200" imgH="10363200" progId="Equation.3">
                  <p:embed/>
                </p:oleObj>
              </mc:Choice>
              <mc:Fallback>
                <p:oleObj name="Equation" r:id="rId8" imgW="7315200" imgH="103632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38800" y="1600200"/>
                        <a:ext cx="304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8"/>
          <p:cNvGraphicFramePr>
            <a:graphicFrameLocks noChangeAspect="1"/>
          </p:cNvGraphicFramePr>
          <p:nvPr/>
        </p:nvGraphicFramePr>
        <p:xfrm>
          <a:off x="4191000" y="539115"/>
          <a:ext cx="220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0" imgW="53035200" imgH="10363200" progId="Equation.3">
                  <p:embed/>
                </p:oleObj>
              </mc:Choice>
              <mc:Fallback>
                <p:oleObj name="Equation" r:id="rId10" imgW="53035200" imgH="103632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91000" y="539115"/>
                        <a:ext cx="2209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10"/>
          <p:cNvGraphicFramePr>
            <a:graphicFrameLocks noChangeAspect="1"/>
          </p:cNvGraphicFramePr>
          <p:nvPr/>
        </p:nvGraphicFramePr>
        <p:xfrm>
          <a:off x="4191000" y="2722245"/>
          <a:ext cx="31051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2" imgW="74371200" imgH="22860000" progId="Equation.3">
                  <p:embed/>
                </p:oleObj>
              </mc:Choice>
              <mc:Fallback>
                <p:oleObj name="Equation" r:id="rId12" imgW="74371200" imgH="22860000" progId="Equation.3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91000" y="2722245"/>
                        <a:ext cx="310515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12"/>
          <p:cNvGraphicFramePr>
            <a:graphicFrameLocks noChangeAspect="1"/>
          </p:cNvGraphicFramePr>
          <p:nvPr/>
        </p:nvGraphicFramePr>
        <p:xfrm>
          <a:off x="3928110" y="4039235"/>
          <a:ext cx="31051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4" imgW="74371200" imgH="22860000" progId="Equation.3">
                  <p:embed/>
                </p:oleObj>
              </mc:Choice>
              <mc:Fallback>
                <p:oleObj name="Equation" r:id="rId14" imgW="74371200" imgH="22860000" progId="Equation.3">
                  <p:embed/>
                  <p:pic>
                    <p:nvPicPr>
                      <p:cNvPr id="0" name="Object 12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28110" y="4039235"/>
                        <a:ext cx="310515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3"/>
          <p:cNvGraphicFramePr>
            <a:graphicFrameLocks noChangeAspect="1"/>
          </p:cNvGraphicFramePr>
          <p:nvPr/>
        </p:nvGraphicFramePr>
        <p:xfrm>
          <a:off x="7112635" y="4038600"/>
          <a:ext cx="23050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6" imgW="55168800" imgH="22860000" progId="Equation.3">
                  <p:embed/>
                </p:oleObj>
              </mc:Choice>
              <mc:Fallback>
                <p:oleObj name="Equation" r:id="rId16" imgW="55168800" imgH="22860000" progId="Equation.3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112635" y="4038600"/>
                        <a:ext cx="230505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8" name="Rectangle 14"/>
          <p:cNvSpPr>
            <a:spLocks noChangeArrowheads="1"/>
          </p:cNvSpPr>
          <p:nvPr/>
        </p:nvSpPr>
        <p:spPr bwMode="auto">
          <a:xfrm>
            <a:off x="1905000" y="5257800"/>
            <a:ext cx="79248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则    判给    。在正态的假定下，        为正态分布的</a:t>
            </a:r>
            <a:endParaRPr lang="zh-CN" altLang="en-US" sz="2800" dirty="0">
              <a:latin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</a:rPr>
              <a:t>密度函数。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35851" name="Object 15"/>
          <p:cNvGraphicFramePr>
            <a:graphicFrameLocks noChangeAspect="1"/>
          </p:cNvGraphicFramePr>
          <p:nvPr/>
        </p:nvGraphicFramePr>
        <p:xfrm>
          <a:off x="2362200" y="5257800"/>
          <a:ext cx="30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8" imgW="7315200" imgH="10363200" progId="Equation.3">
                  <p:embed/>
                </p:oleObj>
              </mc:Choice>
              <mc:Fallback>
                <p:oleObj name="Equation" r:id="rId18" imgW="7315200" imgH="10363200" progId="Equation.3">
                  <p:embed/>
                  <p:pic>
                    <p:nvPicPr>
                      <p:cNvPr id="0" name="Object 15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62200" y="5257800"/>
                        <a:ext cx="304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16"/>
          <p:cNvGraphicFramePr>
            <a:graphicFrameLocks noChangeAspect="1"/>
          </p:cNvGraphicFramePr>
          <p:nvPr/>
        </p:nvGraphicFramePr>
        <p:xfrm>
          <a:off x="3429000" y="5334000"/>
          <a:ext cx="34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9" imgW="8229600" imgH="10363200" progId="Equation.3">
                  <p:embed/>
                </p:oleObj>
              </mc:Choice>
              <mc:Fallback>
                <p:oleObj name="Equation" r:id="rId19" imgW="8229600" imgH="10363200" progId="Equation.3">
                  <p:embed/>
                  <p:pic>
                    <p:nvPicPr>
                      <p:cNvPr id="0" name="Object 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29000" y="5334000"/>
                        <a:ext cx="342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3" name="Object 17"/>
          <p:cNvGraphicFramePr>
            <a:graphicFrameLocks noChangeAspect="1"/>
          </p:cNvGraphicFramePr>
          <p:nvPr/>
        </p:nvGraphicFramePr>
        <p:xfrm>
          <a:off x="6927056" y="5200291"/>
          <a:ext cx="738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1" imgW="17678400" imgH="10363200" progId="Equation.3">
                  <p:embed/>
                </p:oleObj>
              </mc:Choice>
              <mc:Fallback>
                <p:oleObj name="Equation" r:id="rId21" imgW="17678400" imgH="10363200" progId="Equation.3">
                  <p:embed/>
                  <p:pic>
                    <p:nvPicPr>
                      <p:cNvPr id="0" name="Object 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27056" y="5200291"/>
                        <a:ext cx="738188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2" name="Rectangle 2"/>
          <p:cNvSpPr>
            <a:spLocks noGrp="1" noChangeArrowheads="1"/>
          </p:cNvSpPr>
          <p:nvPr>
            <p:ph idx="1"/>
          </p:nvPr>
        </p:nvSpPr>
        <p:spPr>
          <a:xfrm>
            <a:off x="1851328" y="609600"/>
            <a:ext cx="7620000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 </a:t>
            </a:r>
            <a:endParaRPr lang="en-US" altLang="zh-CN"/>
          </a:p>
        </p:txBody>
      </p:sp>
      <p:sp>
        <p:nvSpPr>
          <p:cNvPr id="3687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B3D6B4F-34F6-4354-A0CC-0B5BBEA7EC27}" type="slidenum">
              <a:rPr lang="en-US" altLang="zh-CN"/>
            </a:fld>
            <a:endParaRPr lang="en-US" altLang="zh-CN"/>
          </a:p>
        </p:txBody>
      </p:sp>
      <p:graphicFrame>
        <p:nvGraphicFramePr>
          <p:cNvPr id="36866" name="Object 3"/>
          <p:cNvGraphicFramePr>
            <a:graphicFrameLocks noChangeAspect="1"/>
          </p:cNvGraphicFramePr>
          <p:nvPr/>
        </p:nvGraphicFramePr>
        <p:xfrm>
          <a:off x="2448228" y="1276350"/>
          <a:ext cx="32956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78638400" imgH="14935200" progId="Equation.3">
                  <p:embed/>
                </p:oleObj>
              </mc:Choice>
              <mc:Fallback>
                <p:oleObj name="Equation" r:id="rId1" imgW="78638400" imgH="149352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48228" y="1276350"/>
                        <a:ext cx="329565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Rectangle 4"/>
          <p:cNvSpPr>
            <a:spLocks noChangeArrowheads="1"/>
          </p:cNvSpPr>
          <p:nvPr/>
        </p:nvSpPr>
        <p:spPr bwMode="auto">
          <a:xfrm>
            <a:off x="5813728" y="1066800"/>
            <a:ext cx="265684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sz="2800">
                <a:solidFill>
                  <a:schemeClr val="tx2"/>
                </a:solidFill>
                <a:latin typeface="Times New Roman" panose="02020503050405090304" pitchFamily="18" charset="0"/>
              </a:rPr>
              <a:t>则   判给    。</a:t>
            </a:r>
            <a:endParaRPr lang="zh-CN" altLang="en-US" sz="2800">
              <a:solidFill>
                <a:schemeClr val="tx2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36867" name="Object 5"/>
          <p:cNvGraphicFramePr>
            <a:graphicFrameLocks noChangeAspect="1"/>
          </p:cNvGraphicFramePr>
          <p:nvPr/>
        </p:nvGraphicFramePr>
        <p:xfrm>
          <a:off x="6249338" y="1295400"/>
          <a:ext cx="30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7315200" imgH="10363200" progId="Equation.3">
                  <p:embed/>
                </p:oleObj>
              </mc:Choice>
              <mc:Fallback>
                <p:oleObj name="Equation" r:id="rId3" imgW="7315200" imgH="103632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9338" y="1295400"/>
                        <a:ext cx="304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6"/>
          <p:cNvGraphicFramePr>
            <a:graphicFrameLocks noChangeAspect="1"/>
          </p:cNvGraphicFramePr>
          <p:nvPr/>
        </p:nvGraphicFramePr>
        <p:xfrm>
          <a:off x="7261528" y="1295400"/>
          <a:ext cx="34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8229600" imgH="10363200" progId="Equation.3">
                  <p:embed/>
                </p:oleObj>
              </mc:Choice>
              <mc:Fallback>
                <p:oleObj name="Equation" r:id="rId5" imgW="8229600" imgH="103632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61528" y="1295400"/>
                        <a:ext cx="342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Rectangle 7"/>
          <p:cNvSpPr>
            <a:spLocks noChangeArrowheads="1"/>
          </p:cNvSpPr>
          <p:nvPr/>
        </p:nvSpPr>
        <p:spPr bwMode="auto">
          <a:xfrm>
            <a:off x="4795838" y="3205163"/>
            <a:ext cx="91440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6869" name="Object 8"/>
          <p:cNvGraphicFramePr>
            <a:graphicFrameLocks noChangeAspect="1"/>
          </p:cNvGraphicFramePr>
          <p:nvPr/>
        </p:nvGraphicFramePr>
        <p:xfrm>
          <a:off x="1661925" y="2063751"/>
          <a:ext cx="8436231" cy="1028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78943200" imgH="10668000" progId="Equation.DSMT4">
                  <p:embed/>
                </p:oleObj>
              </mc:Choice>
              <mc:Fallback>
                <p:oleObj name="Equation" r:id="rId7" imgW="78943200" imgH="106680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61925" y="2063751"/>
                        <a:ext cx="8436231" cy="10286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9"/>
          <p:cNvGraphicFramePr>
            <a:graphicFrameLocks noChangeAspect="1"/>
          </p:cNvGraphicFramePr>
          <p:nvPr/>
        </p:nvGraphicFramePr>
        <p:xfrm>
          <a:off x="1832278" y="3092450"/>
          <a:ext cx="8863348" cy="1123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86563200" imgH="10668000" progId="Equation.DSMT4">
                  <p:embed/>
                </p:oleObj>
              </mc:Choice>
              <mc:Fallback>
                <p:oleObj name="Equation" r:id="rId9" imgW="86563200" imgH="10668000" progId="Equation.DSMT4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32278" y="3092450"/>
                        <a:ext cx="8863348" cy="112352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1470328" y="4191001"/>
            <a:ext cx="8077200" cy="116596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>
                <a:latin typeface="宋体" pitchFamily="2" charset="-122"/>
              </a:rPr>
              <a:t>    </a:t>
            </a:r>
            <a:r>
              <a:rPr lang="zh-CN" altLang="en-US" sz="2800" dirty="0">
                <a:latin typeface="宋体" pitchFamily="2" charset="-122"/>
              </a:rPr>
              <a:t>上式两边</a:t>
            </a:r>
            <a:r>
              <a:rPr lang="zh-CN" altLang="en-US" sz="2800" dirty="0">
                <a:solidFill>
                  <a:schemeClr val="accent5"/>
                </a:solidFill>
                <a:latin typeface="宋体" pitchFamily="2" charset="-122"/>
              </a:rPr>
              <a:t>取对数</a:t>
            </a:r>
            <a:r>
              <a:rPr lang="zh-CN" altLang="en-US" sz="2800" dirty="0">
                <a:latin typeface="宋体" pitchFamily="2" charset="-122"/>
              </a:rPr>
              <a:t>并去掉与</a:t>
            </a:r>
            <a:r>
              <a:rPr lang="en-US" altLang="zh-CN" sz="2800" i="1" dirty="0" err="1">
                <a:latin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宋体" pitchFamily="2" charset="-122"/>
              </a:rPr>
              <a:t>无关的项，则等价的判别函数为：</a:t>
            </a:r>
            <a:r>
              <a:rPr lang="zh-CN" altLang="en-US" sz="2800" dirty="0">
                <a:latin typeface="Times New Roman" panose="02020503050405090304" pitchFamily="18" charset="0"/>
              </a:rPr>
              <a:t> 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36876" name="Rectangle 11"/>
          <p:cNvSpPr>
            <a:spLocks noChangeArrowheads="1"/>
          </p:cNvSpPr>
          <p:nvPr/>
        </p:nvSpPr>
        <p:spPr bwMode="auto">
          <a:xfrm>
            <a:off x="5291138" y="3233738"/>
            <a:ext cx="91440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5310188" y="3233738"/>
            <a:ext cx="91440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1611616" y="549276"/>
            <a:ext cx="6858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</a:rPr>
              <a:t>特别，总体服从正态分布的情形</a:t>
            </a:r>
            <a:endParaRPr lang="zh-CN" altLang="en-US" sz="2800" b="1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2712721" y="2123441"/>
            <a:ext cx="738505" cy="7245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六边形 9"/>
          <p:cNvSpPr/>
          <p:nvPr/>
        </p:nvSpPr>
        <p:spPr>
          <a:xfrm>
            <a:off x="3450591" y="2082165"/>
            <a:ext cx="1542415" cy="772160"/>
          </a:xfrm>
          <a:prstGeom prst="hexag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953636" y="1865631"/>
            <a:ext cx="3711575" cy="114490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89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70ABB5D-E264-45DB-BBAC-78088ED0433C}" type="slidenum">
              <a:rPr lang="en-US" altLang="zh-CN"/>
            </a:fld>
            <a:endParaRPr lang="en-US" altLang="zh-CN"/>
          </a:p>
        </p:txBody>
      </p:sp>
      <p:graphicFrame>
        <p:nvGraphicFramePr>
          <p:cNvPr id="37890" name="Object 1024"/>
          <p:cNvGraphicFramePr>
            <a:graphicFrameLocks noChangeAspect="1"/>
          </p:cNvGraphicFramePr>
          <p:nvPr/>
        </p:nvGraphicFramePr>
        <p:xfrm>
          <a:off x="6753226" y="2233629"/>
          <a:ext cx="1889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4572000" imgH="10058400" progId="Equation.3">
                  <p:embed/>
                </p:oleObj>
              </mc:Choice>
              <mc:Fallback>
                <p:oleObj name="Equation" r:id="rId1" imgW="4572000" imgH="10058400" progId="Equation.3">
                  <p:embed/>
                  <p:pic>
                    <p:nvPicPr>
                      <p:cNvPr id="0" name="Object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53226" y="2233629"/>
                        <a:ext cx="188913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1025"/>
          <p:cNvGraphicFramePr>
            <a:graphicFrameLocks noChangeAspect="1"/>
          </p:cNvGraphicFramePr>
          <p:nvPr/>
        </p:nvGraphicFramePr>
        <p:xfrm>
          <a:off x="2452662" y="1282692"/>
          <a:ext cx="2540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60960000" imgH="10363200" progId="Equation.3">
                  <p:embed/>
                </p:oleObj>
              </mc:Choice>
              <mc:Fallback>
                <p:oleObj name="Equation" r:id="rId3" imgW="60960000" imgH="10363200" progId="Equation.3">
                  <p:embed/>
                  <p:pic>
                    <p:nvPicPr>
                      <p:cNvPr id="0" name="Object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2662" y="1282692"/>
                        <a:ext cx="25400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8" name="Group 1030"/>
          <p:cNvGrpSpPr/>
          <p:nvPr/>
        </p:nvGrpSpPr>
        <p:grpSpPr bwMode="auto">
          <a:xfrm>
            <a:off x="2528253" y="2028840"/>
            <a:ext cx="6002338" cy="825500"/>
            <a:chOff x="643" y="864"/>
            <a:chExt cx="3781" cy="520"/>
          </a:xfrm>
          <a:solidFill>
            <a:srgbClr val="FFFF00"/>
          </a:solidFill>
        </p:grpSpPr>
        <p:graphicFrame>
          <p:nvGraphicFramePr>
            <p:cNvPr id="37895" name="Object 1029"/>
            <p:cNvGraphicFramePr>
              <a:graphicFrameLocks noChangeAspect="1"/>
            </p:cNvGraphicFramePr>
            <p:nvPr/>
          </p:nvGraphicFramePr>
          <p:xfrm>
            <a:off x="643" y="864"/>
            <a:ext cx="1661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5" imgW="63398400" imgH="19812000" progId="Equation.3">
                    <p:embed/>
                  </p:oleObj>
                </mc:Choice>
                <mc:Fallback>
                  <p:oleObj name="Equation" r:id="rId5" imgW="63398400" imgH="19812000" progId="Equation.3">
                    <p:embed/>
                    <p:pic>
                      <p:nvPicPr>
                        <p:cNvPr id="0" name="Object 10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3" y="864"/>
                          <a:ext cx="1661" cy="5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6" name="Object 1030"/>
            <p:cNvGraphicFramePr>
              <a:graphicFrameLocks noChangeAspect="1"/>
            </p:cNvGraphicFramePr>
            <p:nvPr/>
          </p:nvGraphicFramePr>
          <p:xfrm>
            <a:off x="2304" y="864"/>
            <a:ext cx="2120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7" imgW="80772000" imgH="19812000" progId="Equation.3">
                    <p:embed/>
                  </p:oleObj>
                </mc:Choice>
                <mc:Fallback>
                  <p:oleObj name="Equation" r:id="rId7" imgW="80772000" imgH="19812000" progId="Equation.3">
                    <p:embed/>
                    <p:pic>
                      <p:nvPicPr>
                        <p:cNvPr id="0" name="Object 103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04" y="864"/>
                          <a:ext cx="2120" cy="5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2465071" y="3253106"/>
            <a:ext cx="6951345" cy="677545"/>
            <a:chOff x="964" y="5851"/>
            <a:chExt cx="10947" cy="1067"/>
          </a:xfrm>
        </p:grpSpPr>
        <p:sp>
          <p:nvSpPr>
            <p:cNvPr id="12" name="Rectangle 1032"/>
            <p:cNvSpPr>
              <a:spLocks noChangeArrowheads="1"/>
            </p:cNvSpPr>
            <p:nvPr/>
          </p:nvSpPr>
          <p:spPr bwMode="auto">
            <a:xfrm>
              <a:off x="964" y="5956"/>
              <a:ext cx="10947" cy="822"/>
            </a:xfrm>
            <a:prstGeom prst="rect">
              <a:avLst/>
            </a:prstGeom>
            <a:solidFill>
              <a:srgbClr val="00B0F0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2800">
                  <a:latin typeface="Times New Roman" panose="02020503050405090304" pitchFamily="18" charset="0"/>
                </a:rPr>
                <a:t>问题变为若                              ，则判            。</a:t>
              </a:r>
              <a:endParaRPr lang="en-US" altLang="zh-CN" sz="2800">
                <a:latin typeface="Times New Roman" panose="02020503050405090304" pitchFamily="18" charset="0"/>
              </a:endParaRPr>
            </a:p>
          </p:txBody>
        </p:sp>
        <p:graphicFrame>
          <p:nvGraphicFramePr>
            <p:cNvPr id="13" name="Object 1027"/>
            <p:cNvGraphicFramePr>
              <a:graphicFrameLocks noChangeAspect="1"/>
            </p:cNvGraphicFramePr>
            <p:nvPr/>
          </p:nvGraphicFramePr>
          <p:xfrm>
            <a:off x="3865" y="5851"/>
            <a:ext cx="4328" cy="10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9" imgW="1206500" imgH="279400" progId="Equation.3">
                    <p:embed/>
                  </p:oleObj>
                </mc:Choice>
                <mc:Fallback>
                  <p:oleObj name="Equation" r:id="rId9" imgW="1206500" imgH="279400" progId="Equation.3">
                    <p:embed/>
                    <p:pic>
                      <p:nvPicPr>
                        <p:cNvPr id="0" name="Object 10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865" y="5851"/>
                          <a:ext cx="4328" cy="10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028"/>
            <p:cNvGraphicFramePr>
              <a:graphicFrameLocks noChangeAspect="1"/>
            </p:cNvGraphicFramePr>
            <p:nvPr/>
          </p:nvGraphicFramePr>
          <p:xfrm>
            <a:off x="9882" y="5956"/>
            <a:ext cx="1270" cy="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11" imgW="19202400" imgH="9448800" progId="Equation.3">
                    <p:embed/>
                  </p:oleObj>
                </mc:Choice>
                <mc:Fallback>
                  <p:oleObj name="Equation" r:id="rId11" imgW="19202400" imgH="9448800" progId="Equation.3">
                    <p:embed/>
                    <p:pic>
                      <p:nvPicPr>
                        <p:cNvPr id="0" name="Object 102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882" y="5956"/>
                          <a:ext cx="1270" cy="7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2351088" y="549276"/>
            <a:ext cx="6858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</a:rPr>
              <a:t>特别，总体服从正态分布的情形</a:t>
            </a:r>
            <a:endParaRPr lang="zh-CN" altLang="en-US" sz="2800" b="1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986531" y="4721226"/>
            <a:ext cx="738505" cy="7245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4725036" y="4511041"/>
            <a:ext cx="3711575" cy="114490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925" name="Rectangle 8"/>
          <p:cNvSpPr>
            <a:spLocks noChangeArrowheads="1"/>
          </p:cNvSpPr>
          <p:nvPr/>
        </p:nvSpPr>
        <p:spPr bwMode="auto">
          <a:xfrm>
            <a:off x="6751956" y="3989070"/>
            <a:ext cx="3405505" cy="52197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800">
                <a:latin typeface="Times New Roman" panose="02020503050405090304" pitchFamily="18" charset="0"/>
              </a:rPr>
              <a:t>则判别函数退化为</a:t>
            </a:r>
            <a:endParaRPr lang="en-US" altLang="zh-CN" sz="2800">
              <a:latin typeface="Times New Roman" panose="02020503050405090304" pitchFamily="18" charset="0"/>
            </a:endParaRPr>
          </a:p>
        </p:txBody>
      </p:sp>
      <p:grpSp>
        <p:nvGrpSpPr>
          <p:cNvPr id="38927" name="Group 33"/>
          <p:cNvGrpSpPr/>
          <p:nvPr/>
        </p:nvGrpSpPr>
        <p:grpSpPr bwMode="auto">
          <a:xfrm>
            <a:off x="3060701" y="4622800"/>
            <a:ext cx="5135563" cy="819150"/>
            <a:chOff x="480" y="816"/>
            <a:chExt cx="3235" cy="516"/>
          </a:xfrm>
        </p:grpSpPr>
        <p:graphicFrame>
          <p:nvGraphicFramePr>
            <p:cNvPr id="38921" name="Object 10"/>
            <p:cNvGraphicFramePr>
              <a:graphicFrameLocks noChangeAspect="1"/>
            </p:cNvGraphicFramePr>
            <p:nvPr/>
          </p:nvGraphicFramePr>
          <p:xfrm>
            <a:off x="480" y="960"/>
            <a:ext cx="1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3" imgW="46024800" imgH="10363200" progId="Equation.3">
                    <p:embed/>
                  </p:oleObj>
                </mc:Choice>
                <mc:Fallback>
                  <p:oleObj name="Equation" r:id="rId13" imgW="46024800" imgH="10363200" progId="Equation.3">
                    <p:embed/>
                    <p:pic>
                      <p:nvPicPr>
                        <p:cNvPr id="0" name="Object 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0" y="960"/>
                          <a:ext cx="120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2" name="Object 11"/>
            <p:cNvGraphicFramePr>
              <a:graphicFrameLocks noChangeAspect="1"/>
            </p:cNvGraphicFramePr>
            <p:nvPr/>
          </p:nvGraphicFramePr>
          <p:xfrm>
            <a:off x="1680" y="816"/>
            <a:ext cx="2035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Equation" r:id="rId15" imgW="77724000" imgH="19812000" progId="Equation.3">
                    <p:embed/>
                  </p:oleObj>
                </mc:Choice>
                <mc:Fallback>
                  <p:oleObj name="Equation" r:id="rId15" imgW="77724000" imgH="19812000" progId="Equation.3">
                    <p:embed/>
                    <p:pic>
                      <p:nvPicPr>
                        <p:cNvPr id="0" name="Object 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80" y="816"/>
                          <a:ext cx="2035" cy="5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1026"/>
          <p:cNvGraphicFramePr>
            <a:graphicFrameLocks noChangeAspect="1"/>
          </p:cNvGraphicFramePr>
          <p:nvPr/>
        </p:nvGraphicFramePr>
        <p:xfrm>
          <a:off x="5054897" y="4053887"/>
          <a:ext cx="1473470" cy="393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7" imgW="44196000" imgH="9448800" progId="Equation.3">
                  <p:embed/>
                </p:oleObj>
              </mc:Choice>
              <mc:Fallback>
                <p:oleObj name="Equation" r:id="rId17" imgW="44196000" imgH="9448800" progId="Equation.3">
                  <p:embed/>
                  <p:pic>
                    <p:nvPicPr>
                      <p:cNvPr id="0" name="Object 102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54897" y="4053887"/>
                        <a:ext cx="1473470" cy="39393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1" name="Rectangle 1036"/>
          <p:cNvSpPr>
            <a:spLocks noChangeArrowheads="1"/>
          </p:cNvSpPr>
          <p:nvPr/>
        </p:nvSpPr>
        <p:spPr bwMode="auto">
          <a:xfrm>
            <a:off x="1740535" y="3989070"/>
            <a:ext cx="4297680" cy="52197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latin typeface="宋体" pitchFamily="2" charset="-122"/>
              </a:rPr>
              <a:t>若还有协方差阵相等</a:t>
            </a:r>
            <a:r>
              <a:rPr lang="zh-CN" altLang="en-US" sz="280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endParaRPr lang="zh-CN" altLang="en-US" sz="280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938146" y="6054091"/>
            <a:ext cx="6951345" cy="677545"/>
            <a:chOff x="964" y="5851"/>
            <a:chExt cx="10947" cy="1067"/>
          </a:xfrm>
        </p:grpSpPr>
        <p:sp>
          <p:nvSpPr>
            <p:cNvPr id="24" name="Rectangle 1032"/>
            <p:cNvSpPr>
              <a:spLocks noChangeArrowheads="1"/>
            </p:cNvSpPr>
            <p:nvPr/>
          </p:nvSpPr>
          <p:spPr bwMode="auto">
            <a:xfrm>
              <a:off x="964" y="5956"/>
              <a:ext cx="10947" cy="822"/>
            </a:xfrm>
            <a:prstGeom prst="rect">
              <a:avLst/>
            </a:prstGeom>
            <a:solidFill>
              <a:srgbClr val="00B0F0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2800">
                  <a:latin typeface="Times New Roman" panose="02020503050405090304" pitchFamily="18" charset="0"/>
                </a:rPr>
                <a:t>问题变为若                              ，则判            。</a:t>
              </a:r>
              <a:endParaRPr lang="en-US" altLang="zh-CN" sz="2800">
                <a:latin typeface="Times New Roman" panose="02020503050405090304" pitchFamily="18" charset="0"/>
              </a:endParaRPr>
            </a:p>
          </p:txBody>
        </p:sp>
        <p:graphicFrame>
          <p:nvGraphicFramePr>
            <p:cNvPr id="25" name="Object 1027"/>
            <p:cNvGraphicFramePr>
              <a:graphicFrameLocks noChangeAspect="1"/>
            </p:cNvGraphicFramePr>
            <p:nvPr/>
          </p:nvGraphicFramePr>
          <p:xfrm>
            <a:off x="3865" y="5851"/>
            <a:ext cx="4328" cy="10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Equation" r:id="rId19" imgW="1206500" imgH="279400" progId="Equation.3">
                    <p:embed/>
                  </p:oleObj>
                </mc:Choice>
                <mc:Fallback>
                  <p:oleObj name="Equation" r:id="rId19" imgW="1206500" imgH="279400" progId="Equation.3">
                    <p:embed/>
                    <p:pic>
                      <p:nvPicPr>
                        <p:cNvPr id="0" name="Object 10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865" y="5851"/>
                          <a:ext cx="4328" cy="10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028"/>
            <p:cNvGraphicFramePr>
              <a:graphicFrameLocks noChangeAspect="1"/>
            </p:cNvGraphicFramePr>
            <p:nvPr/>
          </p:nvGraphicFramePr>
          <p:xfrm>
            <a:off x="9882" y="5956"/>
            <a:ext cx="1270" cy="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Equation" r:id="rId20" imgW="19202400" imgH="9448800" progId="Equation.3">
                    <p:embed/>
                  </p:oleObj>
                </mc:Choice>
                <mc:Fallback>
                  <p:oleObj name="Equation" r:id="rId20" imgW="19202400" imgH="9448800" progId="Equation.3">
                    <p:embed/>
                    <p:pic>
                      <p:nvPicPr>
                        <p:cNvPr id="0" name="Object 102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882" y="5956"/>
                          <a:ext cx="1270" cy="7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BC51C1-D7BC-4EA4-8DBB-EE75167357D4}" type="slidenum">
              <a:rPr lang="en-US" altLang="zh-CN"/>
            </a:fld>
            <a:endParaRPr lang="en-US" altLang="zh-CN"/>
          </a:p>
        </p:txBody>
      </p:sp>
      <p:sp>
        <p:nvSpPr>
          <p:cNvPr id="39948" name="Rectangle 1030"/>
          <p:cNvSpPr>
            <a:spLocks noChangeArrowheads="1"/>
          </p:cNvSpPr>
          <p:nvPr/>
        </p:nvSpPr>
        <p:spPr bwMode="auto">
          <a:xfrm>
            <a:off x="2438400" y="914400"/>
            <a:ext cx="7620000" cy="312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ct val="130000"/>
              </a:lnSpc>
            </a:pPr>
            <a:endParaRPr lang="en-US" altLang="zh-CN" sz="280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80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80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800"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800">
              <a:latin typeface="Times New Roman" panose="02020503050405090304" pitchFamily="18" charset="0"/>
            </a:endParaRPr>
          </a:p>
        </p:txBody>
      </p:sp>
      <p:sp>
        <p:nvSpPr>
          <p:cNvPr id="39949" name="Rectangle 1031"/>
          <p:cNvSpPr>
            <a:spLocks noChangeArrowheads="1"/>
          </p:cNvSpPr>
          <p:nvPr/>
        </p:nvSpPr>
        <p:spPr bwMode="auto">
          <a:xfrm>
            <a:off x="3044826" y="5583555"/>
            <a:ext cx="4937125" cy="52197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800">
                <a:latin typeface="宋体" pitchFamily="2" charset="-122"/>
              </a:rPr>
              <a:t>完全等价于距离判别法</a:t>
            </a:r>
            <a:r>
              <a:rPr lang="zh-CN" altLang="en-US" sz="2800">
                <a:latin typeface="Times New Roman" panose="02020503050405090304" pitchFamily="18" charset="0"/>
              </a:rPr>
              <a:t> 。</a:t>
            </a:r>
            <a:endParaRPr lang="zh-CN" altLang="en-US" sz="2800">
              <a:latin typeface="Times New Roman" panose="02020503050405090304" pitchFamily="18" charset="0"/>
            </a:endParaRPr>
          </a:p>
        </p:txBody>
      </p:sp>
      <p:graphicFrame>
        <p:nvGraphicFramePr>
          <p:cNvPr id="39939" name="Object 20"/>
          <p:cNvGraphicFramePr>
            <a:graphicFrameLocks noChangeAspect="1"/>
          </p:cNvGraphicFramePr>
          <p:nvPr/>
        </p:nvGraphicFramePr>
        <p:xfrm>
          <a:off x="4685666" y="1320800"/>
          <a:ext cx="220186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53035200" imgH="19812000" progId="Equation.3">
                  <p:embed/>
                </p:oleObj>
              </mc:Choice>
              <mc:Fallback>
                <p:oleObj name="Equation" r:id="rId1" imgW="53035200" imgH="19812000" progId="Equation.3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5666" y="1320800"/>
                        <a:ext cx="2201863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3" name="Rectangle 1044"/>
          <p:cNvSpPr>
            <a:spLocks noChangeArrowheads="1"/>
          </p:cNvSpPr>
          <p:nvPr/>
        </p:nvSpPr>
        <p:spPr bwMode="auto">
          <a:xfrm>
            <a:off x="1906906" y="609600"/>
            <a:ext cx="8378825" cy="52197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  <a:sym typeface="+mn-ea"/>
              </a:rPr>
              <a:t>总体服从正态分布，</a:t>
            </a:r>
            <a:r>
              <a:rPr lang="zh-CN" altLang="en-US" sz="2800">
                <a:solidFill>
                  <a:srgbClr val="FF0000"/>
                </a:solidFill>
                <a:latin typeface="宋体" pitchFamily="2" charset="-122"/>
                <a:sym typeface="+mn-ea"/>
              </a:rPr>
              <a:t>协方差阵相等</a:t>
            </a:r>
            <a:r>
              <a:rPr lang="zh-CN" altLang="en-US" sz="2800">
                <a:solidFill>
                  <a:srgbClr val="FF0000"/>
                </a:solidFill>
                <a:latin typeface="Times New Roman" panose="02020503050405090304" pitchFamily="18" charset="0"/>
              </a:rPr>
              <a:t>且先验概率相等，</a:t>
            </a:r>
            <a:endParaRPr lang="zh-CN" altLang="en-US" sz="280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53920" y="2139950"/>
            <a:ext cx="2672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/>
            <a:r>
              <a:rPr lang="zh-CN" altLang="en-US" sz="2800">
                <a:latin typeface="Times New Roman" panose="02020503050405090304" pitchFamily="18" charset="0"/>
                <a:sym typeface="+mn-ea"/>
              </a:rPr>
              <a:t>判别函数退化为</a:t>
            </a:r>
            <a:endParaRPr lang="zh-CN" altLang="en-US" sz="2800">
              <a:latin typeface="Times New Roman" panose="02020503050405090304" pitchFamily="18" charset="0"/>
              <a:sym typeface="+mn-ea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159251" y="2935606"/>
            <a:ext cx="738505" cy="7245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4897756" y="2725421"/>
            <a:ext cx="3711575" cy="114490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927" name="Group 33"/>
          <p:cNvGrpSpPr/>
          <p:nvPr/>
        </p:nvGrpSpPr>
        <p:grpSpPr bwMode="auto">
          <a:xfrm>
            <a:off x="3233421" y="2837180"/>
            <a:ext cx="5135563" cy="819150"/>
            <a:chOff x="480" y="816"/>
            <a:chExt cx="3235" cy="516"/>
          </a:xfrm>
        </p:grpSpPr>
        <p:graphicFrame>
          <p:nvGraphicFramePr>
            <p:cNvPr id="38921" name="Object 10"/>
            <p:cNvGraphicFramePr>
              <a:graphicFrameLocks noChangeAspect="1"/>
            </p:cNvGraphicFramePr>
            <p:nvPr/>
          </p:nvGraphicFramePr>
          <p:xfrm>
            <a:off x="480" y="960"/>
            <a:ext cx="1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46024800" imgH="10363200" progId="Equation.3">
                    <p:embed/>
                  </p:oleObj>
                </mc:Choice>
                <mc:Fallback>
                  <p:oleObj name="Equation" r:id="rId3" imgW="46024800" imgH="10363200" progId="Equation.3">
                    <p:embed/>
                    <p:pic>
                      <p:nvPicPr>
                        <p:cNvPr id="0" name="Object 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0" y="960"/>
                          <a:ext cx="120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2" name="Object 11"/>
            <p:cNvGraphicFramePr>
              <a:graphicFrameLocks noChangeAspect="1"/>
            </p:cNvGraphicFramePr>
            <p:nvPr/>
          </p:nvGraphicFramePr>
          <p:xfrm>
            <a:off x="1680" y="816"/>
            <a:ext cx="2035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5" imgW="77724000" imgH="19812000" progId="Equation.3">
                    <p:embed/>
                  </p:oleObj>
                </mc:Choice>
                <mc:Fallback>
                  <p:oleObj name="Equation" r:id="rId5" imgW="77724000" imgH="19812000" progId="Equation.3">
                    <p:embed/>
                    <p:pic>
                      <p:nvPicPr>
                        <p:cNvPr id="0" name="Object 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80" y="816"/>
                          <a:ext cx="2035" cy="5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椭圆 8"/>
          <p:cNvSpPr/>
          <p:nvPr/>
        </p:nvSpPr>
        <p:spPr>
          <a:xfrm>
            <a:off x="4146551" y="2853690"/>
            <a:ext cx="817245" cy="855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2503806" y="4540251"/>
            <a:ext cx="6951345" cy="677545"/>
            <a:chOff x="964" y="5851"/>
            <a:chExt cx="10947" cy="1067"/>
          </a:xfrm>
        </p:grpSpPr>
        <p:sp>
          <p:nvSpPr>
            <p:cNvPr id="24" name="Rectangle 1032"/>
            <p:cNvSpPr>
              <a:spLocks noChangeArrowheads="1"/>
            </p:cNvSpPr>
            <p:nvPr/>
          </p:nvSpPr>
          <p:spPr bwMode="auto">
            <a:xfrm>
              <a:off x="964" y="5956"/>
              <a:ext cx="10947" cy="822"/>
            </a:xfrm>
            <a:prstGeom prst="rect">
              <a:avLst/>
            </a:prstGeom>
            <a:solidFill>
              <a:srgbClr val="00B0F0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2800">
                  <a:latin typeface="Times New Roman" panose="02020503050405090304" pitchFamily="18" charset="0"/>
                </a:rPr>
                <a:t>问题变为若                              ，则判            。</a:t>
              </a:r>
              <a:endParaRPr lang="en-US" altLang="zh-CN" sz="2800">
                <a:latin typeface="Times New Roman" panose="02020503050405090304" pitchFamily="18" charset="0"/>
              </a:endParaRPr>
            </a:p>
          </p:txBody>
        </p:sp>
        <p:graphicFrame>
          <p:nvGraphicFramePr>
            <p:cNvPr id="25" name="Object 1027"/>
            <p:cNvGraphicFramePr>
              <a:graphicFrameLocks noChangeAspect="1"/>
            </p:cNvGraphicFramePr>
            <p:nvPr/>
          </p:nvGraphicFramePr>
          <p:xfrm>
            <a:off x="3865" y="5851"/>
            <a:ext cx="4328" cy="10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7" imgW="1206500" imgH="279400" progId="Equation.3">
                    <p:embed/>
                  </p:oleObj>
                </mc:Choice>
                <mc:Fallback>
                  <p:oleObj name="Equation" r:id="rId7" imgW="1206500" imgH="279400" progId="Equation.3">
                    <p:embed/>
                    <p:pic>
                      <p:nvPicPr>
                        <p:cNvPr id="0" name="Object 10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865" y="5851"/>
                          <a:ext cx="4328" cy="10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028"/>
            <p:cNvGraphicFramePr>
              <a:graphicFrameLocks noChangeAspect="1"/>
            </p:cNvGraphicFramePr>
            <p:nvPr/>
          </p:nvGraphicFramePr>
          <p:xfrm>
            <a:off x="9882" y="5956"/>
            <a:ext cx="1270" cy="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9" imgW="19202400" imgH="9448800" progId="Equation.3">
                    <p:embed/>
                  </p:oleObj>
                </mc:Choice>
                <mc:Fallback>
                  <p:oleObj name="Equation" r:id="rId9" imgW="19202400" imgH="9448800" progId="Equation.3">
                    <p:embed/>
                    <p:pic>
                      <p:nvPicPr>
                        <p:cNvPr id="0" name="Object 102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882" y="5956"/>
                          <a:ext cx="1270" cy="7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1" name="Rectangle 2"/>
          <p:cNvSpPr>
            <a:spLocks noGrp="1" noChangeArrowheads="1"/>
          </p:cNvSpPr>
          <p:nvPr>
            <p:ph type="title"/>
          </p:nvPr>
        </p:nvSpPr>
        <p:spPr>
          <a:xfrm>
            <a:off x="2593976" y="617855"/>
            <a:ext cx="6932295" cy="50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宋体" pitchFamily="2" charset="-122"/>
              </a:rPr>
              <a:t>    //</a:t>
            </a:r>
            <a:r>
              <a:rPr lang="zh-CN" altLang="en-US" sz="3200" b="1">
                <a:solidFill>
                  <a:srgbClr val="FF0000"/>
                </a:solidFill>
                <a:latin typeface="宋体" pitchFamily="2" charset="-122"/>
              </a:rPr>
              <a:t>二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、 最小平均误判代价准则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09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4DC945-DBCB-45B3-AD64-AE4A220BA6E8}" type="slidenum">
              <a:rPr lang="en-US" altLang="zh-CN"/>
            </a:fld>
            <a:endParaRPr lang="en-US" altLang="zh-CN"/>
          </a:p>
        </p:txBody>
      </p:sp>
      <p:sp>
        <p:nvSpPr>
          <p:cNvPr id="40972" name="Rectangle 18"/>
          <p:cNvSpPr>
            <a:spLocks noChangeArrowheads="1"/>
          </p:cNvSpPr>
          <p:nvPr/>
        </p:nvSpPr>
        <p:spPr bwMode="auto">
          <a:xfrm>
            <a:off x="5634038" y="3314700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" name="Group 25"/>
          <p:cNvGrpSpPr/>
          <p:nvPr/>
        </p:nvGrpSpPr>
        <p:grpSpPr bwMode="auto">
          <a:xfrm>
            <a:off x="1809720" y="1662102"/>
            <a:ext cx="8501122" cy="1773238"/>
            <a:chOff x="336" y="768"/>
            <a:chExt cx="4896" cy="1117"/>
          </a:xfrm>
        </p:grpSpPr>
        <p:sp>
          <p:nvSpPr>
            <p:cNvPr id="40979" name="Rectangle 10"/>
            <p:cNvSpPr>
              <a:spLocks noChangeArrowheads="1"/>
            </p:cNvSpPr>
            <p:nvPr/>
          </p:nvSpPr>
          <p:spPr bwMode="auto">
            <a:xfrm>
              <a:off x="336" y="768"/>
              <a:ext cx="4896" cy="111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sz="2800" dirty="0">
                  <a:latin typeface="Times New Roman" panose="02020503050405090304" pitchFamily="18" charset="0"/>
                </a:rPr>
                <a:t>          </a:t>
              </a:r>
              <a:r>
                <a:rPr lang="zh-CN" altLang="en-US" sz="2800" dirty="0">
                  <a:latin typeface="Times New Roman" panose="02020503050405090304" pitchFamily="18" charset="0"/>
                </a:rPr>
                <a:t>设有总体                 ， 具有概率密度函   数           。并且根据以往的统计分析，知道       出现的概率为     。</a:t>
              </a:r>
              <a:endParaRPr lang="zh-CN" altLang="en-US" sz="2800" dirty="0">
                <a:latin typeface="Times New Roman" panose="02020503050405090304" pitchFamily="18" charset="0"/>
              </a:endParaRPr>
            </a:p>
          </p:txBody>
        </p:sp>
        <p:graphicFrame>
          <p:nvGraphicFramePr>
            <p:cNvPr id="40964" name="Object 11"/>
            <p:cNvGraphicFramePr>
              <a:graphicFrameLocks noChangeAspect="1"/>
            </p:cNvGraphicFramePr>
            <p:nvPr/>
          </p:nvGraphicFramePr>
          <p:xfrm>
            <a:off x="4450" y="1218"/>
            <a:ext cx="20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7924800" imgH="10363200" progId="Equation.3">
                    <p:embed/>
                  </p:oleObj>
                </mc:Choice>
                <mc:Fallback>
                  <p:oleObj name="Equation" r:id="rId1" imgW="7924800" imgH="10363200" progId="Equation.3">
                    <p:embed/>
                    <p:pic>
                      <p:nvPicPr>
                        <p:cNvPr id="0" name="Object 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450" y="1218"/>
                          <a:ext cx="208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65" name="Object 12"/>
            <p:cNvGraphicFramePr>
              <a:graphicFrameLocks noChangeAspect="1"/>
            </p:cNvGraphicFramePr>
            <p:nvPr/>
          </p:nvGraphicFramePr>
          <p:xfrm>
            <a:off x="641" y="1218"/>
            <a:ext cx="46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3" imgW="17678400" imgH="10363200" progId="Equation.3">
                    <p:embed/>
                  </p:oleObj>
                </mc:Choice>
                <mc:Fallback>
                  <p:oleObj name="Equation" r:id="rId3" imgW="17678400" imgH="10363200" progId="Equation.3">
                    <p:embed/>
                    <p:pic>
                      <p:nvPicPr>
                        <p:cNvPr id="0" name="Object 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1" y="1218"/>
                          <a:ext cx="465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66" name="Object 13"/>
            <p:cNvGraphicFramePr>
              <a:graphicFrameLocks noChangeAspect="1"/>
            </p:cNvGraphicFramePr>
            <p:nvPr/>
          </p:nvGraphicFramePr>
          <p:xfrm>
            <a:off x="3498" y="864"/>
            <a:ext cx="20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5" imgW="7924800" imgH="10363200" progId="Equation.3">
                    <p:embed/>
                  </p:oleObj>
                </mc:Choice>
                <mc:Fallback>
                  <p:oleObj name="Equation" r:id="rId5" imgW="7924800" imgH="10363200" progId="Equation.3">
                    <p:embed/>
                    <p:pic>
                      <p:nvPicPr>
                        <p:cNvPr id="0" name="Object 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498" y="864"/>
                          <a:ext cx="208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67" name="Object 14"/>
            <p:cNvGraphicFramePr>
              <a:graphicFrameLocks noChangeAspect="1"/>
            </p:cNvGraphicFramePr>
            <p:nvPr/>
          </p:nvGraphicFramePr>
          <p:xfrm>
            <a:off x="1200" y="1578"/>
            <a:ext cx="17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6" imgW="6705600" imgH="10363200" progId="Equation.3">
                    <p:embed/>
                  </p:oleObj>
                </mc:Choice>
                <mc:Fallback>
                  <p:oleObj name="Equation" r:id="rId6" imgW="6705600" imgH="10363200" progId="Equation.3">
                    <p:embed/>
                    <p:pic>
                      <p:nvPicPr>
                        <p:cNvPr id="0" name="Object 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200" y="1578"/>
                          <a:ext cx="179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68" name="Object 16"/>
            <p:cNvGraphicFramePr>
              <a:graphicFrameLocks noChangeAspect="1"/>
            </p:cNvGraphicFramePr>
            <p:nvPr/>
          </p:nvGraphicFramePr>
          <p:xfrm>
            <a:off x="1872" y="864"/>
            <a:ext cx="13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8" imgW="53035200" imgH="10363200" progId="Equation.3">
                    <p:embed/>
                  </p:oleObj>
                </mc:Choice>
                <mc:Fallback>
                  <p:oleObj name="Equation" r:id="rId8" imgW="53035200" imgH="10363200" progId="Equation.3">
                    <p:embed/>
                    <p:pic>
                      <p:nvPicPr>
                        <p:cNvPr id="0" name="Object 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872" y="864"/>
                          <a:ext cx="1392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69" name="Object 17"/>
            <p:cNvGraphicFramePr>
              <a:graphicFrameLocks noChangeAspect="1"/>
            </p:cNvGraphicFramePr>
            <p:nvPr/>
          </p:nvGraphicFramePr>
          <p:xfrm>
            <a:off x="2265" y="1533"/>
            <a:ext cx="148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0" imgW="48768000" imgH="10363200" progId="Equation.3">
                    <p:embed/>
                  </p:oleObj>
                </mc:Choice>
                <mc:Fallback>
                  <p:oleObj name="Equation" r:id="rId10" imgW="48768000" imgH="10363200" progId="Equation.3">
                    <p:embed/>
                    <p:pic>
                      <p:nvPicPr>
                        <p:cNvPr id="0" name="Object 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265" y="1533"/>
                          <a:ext cx="1485" cy="31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74" name="Rectangle 21"/>
          <p:cNvSpPr>
            <a:spLocks noChangeArrowheads="1"/>
          </p:cNvSpPr>
          <p:nvPr/>
        </p:nvSpPr>
        <p:spPr bwMode="auto">
          <a:xfrm>
            <a:off x="5862638" y="3314700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975" name="Rectangle 23"/>
          <p:cNvSpPr>
            <a:spLocks noChangeArrowheads="1"/>
          </p:cNvSpPr>
          <p:nvPr/>
        </p:nvSpPr>
        <p:spPr bwMode="auto">
          <a:xfrm>
            <a:off x="5676900" y="3328988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9" name="Group 26"/>
          <p:cNvGrpSpPr/>
          <p:nvPr/>
        </p:nvGrpSpPr>
        <p:grpSpPr bwMode="auto">
          <a:xfrm>
            <a:off x="1805305" y="3489337"/>
            <a:ext cx="8688388" cy="1190625"/>
            <a:chOff x="158" y="1842"/>
            <a:chExt cx="5473" cy="750"/>
          </a:xfrm>
        </p:grpSpPr>
        <p:sp>
          <p:nvSpPr>
            <p:cNvPr id="40978" name="Rectangle 19"/>
            <p:cNvSpPr>
              <a:spLocks noChangeArrowheads="1"/>
            </p:cNvSpPr>
            <p:nvPr/>
          </p:nvSpPr>
          <p:spPr bwMode="auto">
            <a:xfrm>
              <a:off x="158" y="1842"/>
              <a:ext cx="5473" cy="7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en-US" sz="2800" dirty="0">
                  <a:latin typeface="宋体" pitchFamily="2" charset="-122"/>
                </a:rPr>
                <a:t>又</a:t>
              </a:r>
              <a:r>
                <a:rPr lang="en-US" altLang="zh-CN" sz="2800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D</a:t>
              </a:r>
              <a:r>
                <a:rPr lang="en-US" altLang="zh-CN" sz="2800" baseline="-300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1</a:t>
              </a:r>
              <a:r>
                <a:rPr lang="zh-CN" altLang="en-US" sz="2800" dirty="0">
                  <a:latin typeface="宋体" pitchFamily="2" charset="-122"/>
                </a:rPr>
                <a:t>，</a:t>
              </a:r>
              <a:r>
                <a:rPr lang="en-US" altLang="zh-CN" sz="2800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D</a:t>
              </a:r>
              <a:r>
                <a:rPr lang="en-US" altLang="zh-CN" sz="2800" baseline="-300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r>
                <a:rPr lang="zh-CN" altLang="en-US" sz="2800" dirty="0">
                  <a:latin typeface="宋体" pitchFamily="2" charset="-122"/>
                </a:rPr>
                <a:t>，┅，</a:t>
              </a:r>
              <a:r>
                <a:rPr lang="en-US" altLang="zh-CN" sz="2800" i="1" dirty="0" err="1">
                  <a:latin typeface="Times New Roman" panose="02020503050405090304" pitchFamily="18" charset="0"/>
                  <a:cs typeface="Times New Roman" panose="02020503050405090304" pitchFamily="18" charset="0"/>
                </a:rPr>
                <a:t>D</a:t>
              </a:r>
              <a:r>
                <a:rPr lang="en-US" altLang="zh-CN" sz="2800" i="1" baseline="-30000" dirty="0" err="1">
                  <a:latin typeface="Times New Roman" panose="02020503050405090304" pitchFamily="18" charset="0"/>
                  <a:cs typeface="Times New Roman" panose="02020503050405090304" pitchFamily="18" charset="0"/>
                </a:rPr>
                <a:t>k</a:t>
              </a:r>
              <a:r>
                <a:rPr lang="zh-CN" altLang="en-US" sz="2800" dirty="0">
                  <a:latin typeface="宋体" pitchFamily="2" charset="-122"/>
                </a:rPr>
                <a:t>是</a:t>
              </a:r>
              <a:r>
                <a:rPr lang="en-US" altLang="zh-CN" sz="2800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R</a:t>
              </a:r>
              <a:r>
                <a:rPr lang="en-US" altLang="zh-CN" sz="2800" i="1" baseline="300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p</a:t>
              </a:r>
              <a:r>
                <a:rPr lang="zh-CN" altLang="en-US" sz="2800" dirty="0">
                  <a:latin typeface="宋体" pitchFamily="2" charset="-122"/>
                </a:rPr>
                <a:t>的一个分划，</a:t>
              </a:r>
              <a:r>
                <a:rPr lang="zh-CN" altLang="en-US" sz="2800" dirty="0">
                  <a:solidFill>
                    <a:srgbClr val="FF0000"/>
                  </a:solidFill>
                  <a:latin typeface="宋体" pitchFamily="2" charset="-122"/>
                </a:rPr>
                <a:t>判别法则为：</a:t>
              </a:r>
              <a:endParaRPr lang="zh-CN" altLang="en-US" sz="2800" dirty="0">
                <a:solidFill>
                  <a:srgbClr val="FF0000"/>
                </a:solidFill>
                <a:latin typeface="宋体" pitchFamily="2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2800" dirty="0">
                  <a:solidFill>
                    <a:srgbClr val="FF0000"/>
                  </a:solidFill>
                  <a:latin typeface="宋体" pitchFamily="2" charset="-122"/>
                </a:rPr>
                <a:t>当样品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X</a:t>
              </a:r>
              <a:r>
                <a:rPr lang="zh-CN" altLang="en-US" sz="2800" dirty="0">
                  <a:solidFill>
                    <a:srgbClr val="FF0000"/>
                  </a:solidFill>
                  <a:latin typeface="宋体" pitchFamily="2" charset="-122"/>
                </a:rPr>
                <a:t>落入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D</a:t>
              </a:r>
              <a:r>
                <a:rPr lang="en-US" altLang="zh-CN" sz="2800" i="1" baseline="-300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i</a:t>
              </a:r>
              <a:r>
                <a:rPr lang="zh-CN" altLang="en-US" sz="2800" dirty="0">
                  <a:solidFill>
                    <a:srgbClr val="FF0000"/>
                  </a:solidFill>
                  <a:latin typeface="宋体" pitchFamily="2" charset="-122"/>
                </a:rPr>
                <a:t>时，则判</a:t>
              </a:r>
              <a:r>
                <a:rPr lang="zh-CN" altLang="en-US" sz="2800" dirty="0">
                  <a:solidFill>
                    <a:srgbClr val="FF0000"/>
                  </a:solidFill>
                  <a:latin typeface="Arial" panose="020B0604020202090204" pitchFamily="34" charset="0"/>
                </a:rPr>
                <a:t> </a:t>
              </a:r>
              <a:endParaRPr lang="zh-CN" altLang="en-US" sz="2800" dirty="0">
                <a:solidFill>
                  <a:srgbClr val="FF0000"/>
                </a:solidFill>
                <a:latin typeface="Arial" panose="020B0604020202090204" pitchFamily="34" charset="0"/>
              </a:endParaRPr>
            </a:p>
          </p:txBody>
        </p:sp>
        <p:graphicFrame>
          <p:nvGraphicFramePr>
            <p:cNvPr id="40962" name="Object 20"/>
            <p:cNvGraphicFramePr>
              <a:graphicFrameLocks noChangeAspect="1"/>
            </p:cNvGraphicFramePr>
            <p:nvPr/>
          </p:nvGraphicFramePr>
          <p:xfrm>
            <a:off x="2604" y="2319"/>
            <a:ext cx="6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Equation" r:id="rId12" imgW="23774400" imgH="10363200" progId="Equation.3">
                    <p:embed/>
                  </p:oleObj>
                </mc:Choice>
                <mc:Fallback>
                  <p:oleObj name="Equation" r:id="rId12" imgW="23774400" imgH="10363200" progId="Equation.3">
                    <p:embed/>
                    <p:pic>
                      <p:nvPicPr>
                        <p:cNvPr id="0" name="Object 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604" y="2319"/>
                          <a:ext cx="620" cy="272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63" name="Object 22"/>
            <p:cNvGraphicFramePr>
              <a:graphicFrameLocks noChangeAspect="1"/>
            </p:cNvGraphicFramePr>
            <p:nvPr/>
          </p:nvGraphicFramePr>
          <p:xfrm>
            <a:off x="3334" y="2341"/>
            <a:ext cx="1176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Equation" r:id="rId14" imgW="44805600" imgH="8839200" progId="Equation.3">
                    <p:embed/>
                  </p:oleObj>
                </mc:Choice>
                <mc:Fallback>
                  <p:oleObj name="Equation" r:id="rId14" imgW="44805600" imgH="8839200" progId="Equation.3">
                    <p:embed/>
                    <p:pic>
                      <p:nvPicPr>
                        <p:cNvPr id="0" name="Object 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334" y="2341"/>
                          <a:ext cx="1176" cy="22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7240" name="Rectangle 24"/>
          <p:cNvSpPr>
            <a:spLocks noChangeArrowheads="1"/>
          </p:cNvSpPr>
          <p:nvPr/>
        </p:nvSpPr>
        <p:spPr bwMode="auto">
          <a:xfrm>
            <a:off x="1774826" y="4897121"/>
            <a:ext cx="8679815" cy="1225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dirty="0">
                <a:solidFill>
                  <a:schemeClr val="accent5"/>
                </a:solidFill>
                <a:latin typeface="宋体" pitchFamily="2" charset="-122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关键的问题</a:t>
            </a:r>
            <a:r>
              <a:rPr lang="zh-CN" altLang="en-US" sz="2800" dirty="0">
                <a:solidFill>
                  <a:srgbClr val="1C0CF2"/>
                </a:solidFill>
                <a:latin typeface="宋体" pitchFamily="2" charset="-122"/>
              </a:rPr>
              <a:t>是寻找</a:t>
            </a:r>
            <a:r>
              <a:rPr lang="en-US" altLang="zh-CN" sz="2800" i="1" dirty="0">
                <a:solidFill>
                  <a:srgbClr val="1C0CF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baseline="-30000" dirty="0">
                <a:solidFill>
                  <a:srgbClr val="1C0CF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rgbClr val="1C0CF2"/>
                </a:solidFill>
                <a:latin typeface="宋体" pitchFamily="2" charset="-122"/>
              </a:rPr>
              <a:t>，</a:t>
            </a:r>
            <a:r>
              <a:rPr lang="en-US" altLang="zh-CN" sz="2800" i="1" dirty="0">
                <a:solidFill>
                  <a:srgbClr val="1C0CF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baseline="-30000" dirty="0">
                <a:solidFill>
                  <a:srgbClr val="1C0CF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rgbClr val="1C0CF2"/>
                </a:solidFill>
                <a:latin typeface="宋体" pitchFamily="2" charset="-122"/>
              </a:rPr>
              <a:t>，┅，</a:t>
            </a:r>
            <a:r>
              <a:rPr lang="en-US" altLang="zh-CN" sz="2800" i="1" dirty="0" err="1">
                <a:solidFill>
                  <a:srgbClr val="1C0CF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i="1" baseline="-30000" dirty="0" err="1">
                <a:solidFill>
                  <a:srgbClr val="1C0CF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rgbClr val="1C0CF2"/>
                </a:solidFill>
                <a:latin typeface="宋体" pitchFamily="2" charset="-122"/>
              </a:rPr>
              <a:t>分划，这个分划应该使平均错判率最小。</a:t>
            </a:r>
            <a:r>
              <a:rPr lang="zh-CN" altLang="en-US" sz="2800" dirty="0">
                <a:solidFill>
                  <a:srgbClr val="1C0CF2"/>
                </a:solidFill>
                <a:latin typeface="Arial" panose="020B0604020202090204" pitchFamily="34" charset="0"/>
              </a:rPr>
              <a:t> </a:t>
            </a:r>
            <a:endParaRPr lang="zh-CN" altLang="en-US" sz="2800" dirty="0">
              <a:solidFill>
                <a:srgbClr val="1C0CF2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Rectangle 3"/>
          <p:cNvSpPr>
            <a:spLocks noGrp="1" noChangeArrowheads="1"/>
          </p:cNvSpPr>
          <p:nvPr>
            <p:ph idx="1"/>
          </p:nvPr>
        </p:nvSpPr>
        <p:spPr>
          <a:xfrm>
            <a:off x="1825626" y="533401"/>
            <a:ext cx="4933315" cy="565785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0000"/>
                </a:solidFill>
                <a:latin typeface="宋体" pitchFamily="2" charset="-122"/>
              </a:rPr>
              <a:t>【</a:t>
            </a:r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</a:rPr>
              <a:t>定义</a:t>
            </a:r>
            <a:r>
              <a:rPr lang="en-US" altLang="zh-CN" sz="2800" b="1">
                <a:solidFill>
                  <a:srgbClr val="FF0000"/>
                </a:solidFill>
                <a:latin typeface="宋体" pitchFamily="2" charset="-122"/>
              </a:rPr>
              <a:t>】</a:t>
            </a:r>
            <a:r>
              <a:rPr lang="zh-CN" altLang="en-US" sz="2800" b="1">
                <a:latin typeface="宋体" pitchFamily="2" charset="-122"/>
              </a:rPr>
              <a:t>（平均错判损失）</a:t>
            </a:r>
            <a:endParaRPr lang="zh-CN" altLang="en-US" sz="28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endParaRPr lang="zh-CN" altLang="en-US" sz="28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198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36198A-152A-4FB4-A960-E87CEFCE7D6B}" type="slidenum">
              <a:rPr lang="en-US" altLang="zh-CN"/>
            </a:fld>
            <a:endParaRPr lang="en-US" altLang="zh-CN"/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1633220" y="1321436"/>
            <a:ext cx="9144000" cy="5598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表示将来自总体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i="1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的样品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错判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到总体</a:t>
            </a:r>
            <a:r>
              <a:rPr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sz="2800" i="1" baseline="-30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的条件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概率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1993" name="Rectangle 8"/>
          <p:cNvSpPr>
            <a:spLocks noChangeArrowheads="1"/>
          </p:cNvSpPr>
          <p:nvPr/>
        </p:nvSpPr>
        <p:spPr bwMode="auto">
          <a:xfrm>
            <a:off x="5938838" y="3333750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1987" name="Object 5"/>
          <p:cNvGraphicFramePr>
            <a:graphicFrameLocks noChangeAspect="1"/>
          </p:cNvGraphicFramePr>
          <p:nvPr/>
        </p:nvGraphicFramePr>
        <p:xfrm>
          <a:off x="2346325" y="2151381"/>
          <a:ext cx="50927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2222500" imgH="405765" progId="Equation.3">
                  <p:embed/>
                </p:oleObj>
              </mc:Choice>
              <mc:Fallback>
                <p:oleObj name="Equation" r:id="rId1" imgW="2222500" imgH="405765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46325" y="2151381"/>
                        <a:ext cx="5092700" cy="968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7"/>
          <p:cNvGraphicFramePr>
            <a:graphicFrameLocks noChangeAspect="1"/>
          </p:cNvGraphicFramePr>
          <p:nvPr/>
        </p:nvGraphicFramePr>
        <p:xfrm>
          <a:off x="7764780" y="2357079"/>
          <a:ext cx="66548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6154400" imgH="8839200" progId="Equation.3">
                  <p:embed/>
                </p:oleObj>
              </mc:Choice>
              <mc:Fallback>
                <p:oleObj name="Equation" r:id="rId3" imgW="16154400" imgH="88392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64780" y="2357079"/>
                        <a:ext cx="66548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3" name="Rectangle 9"/>
          <p:cNvSpPr>
            <a:spLocks noChangeArrowheads="1"/>
          </p:cNvSpPr>
          <p:nvPr/>
        </p:nvSpPr>
        <p:spPr bwMode="auto">
          <a:xfrm>
            <a:off x="1943101" y="3119755"/>
            <a:ext cx="63468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宋体" pitchFamily="2" charset="-122"/>
              </a:rPr>
              <a:t>表示相应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错判</a:t>
            </a:r>
            <a:r>
              <a:rPr lang="zh-CN" altLang="en-US" sz="2800" dirty="0">
                <a:latin typeface="宋体" pitchFamily="2" charset="-122"/>
              </a:rPr>
              <a:t>所造成的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损失</a:t>
            </a:r>
            <a:r>
              <a:rPr lang="zh-CN" altLang="en-US" sz="2800" dirty="0">
                <a:latin typeface="宋体" pitchFamily="2" charset="-122"/>
              </a:rPr>
              <a:t>。</a:t>
            </a:r>
            <a:endParaRPr lang="en-US" altLang="zh-CN" sz="2800" dirty="0">
              <a:latin typeface="Times New Roman" panose="02020503050405090304" pitchFamily="18" charset="0"/>
            </a:endParaRPr>
          </a:p>
        </p:txBody>
      </p:sp>
      <p:sp>
        <p:nvSpPr>
          <p:cNvPr id="139275" name="Rectangle 11"/>
          <p:cNvSpPr>
            <a:spLocks noChangeArrowheads="1"/>
          </p:cNvSpPr>
          <p:nvPr/>
        </p:nvSpPr>
        <p:spPr bwMode="auto">
          <a:xfrm>
            <a:off x="2042795" y="3843655"/>
            <a:ext cx="702691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>
                <a:latin typeface="宋体" pitchFamily="2" charset="-122"/>
              </a:rPr>
              <a:t>      </a:t>
            </a:r>
            <a:r>
              <a:rPr lang="zh-CN" altLang="en-US" sz="2800">
                <a:latin typeface="宋体" pitchFamily="2" charset="-122"/>
              </a:rPr>
              <a:t>则</a:t>
            </a:r>
            <a:r>
              <a:rPr lang="zh-CN" altLang="en-US" sz="2800">
                <a:solidFill>
                  <a:srgbClr val="FF0000"/>
                </a:solidFill>
                <a:latin typeface="宋体" pitchFamily="2" charset="-122"/>
              </a:rPr>
              <a:t>平均错判损失</a:t>
            </a:r>
            <a:r>
              <a:rPr lang="zh-CN" altLang="en-US" sz="2800">
                <a:latin typeface="宋体" pitchFamily="2" charset="-122"/>
              </a:rPr>
              <a:t>为：</a:t>
            </a:r>
            <a:r>
              <a:rPr lang="zh-CN" altLang="en-US" sz="2800">
                <a:latin typeface="Arial" panose="020B0604020202090204" pitchFamily="34" charset="0"/>
              </a:rPr>
              <a:t> </a:t>
            </a:r>
            <a:endParaRPr lang="zh-CN" altLang="en-US" sz="2800">
              <a:latin typeface="Times New Roman" panose="02020503050405090304" pitchFamily="18" charset="0"/>
            </a:endParaRPr>
          </a:p>
        </p:txBody>
      </p:sp>
      <p:graphicFrame>
        <p:nvGraphicFramePr>
          <p:cNvPr id="139274" name="Object 10"/>
          <p:cNvGraphicFramePr>
            <a:graphicFrameLocks noChangeAspect="1"/>
          </p:cNvGraphicFramePr>
          <p:nvPr/>
        </p:nvGraphicFramePr>
        <p:xfrm>
          <a:off x="3164840" y="4552951"/>
          <a:ext cx="478282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96012000" imgH="17983200" progId="Equation.3">
                  <p:embed/>
                </p:oleObj>
              </mc:Choice>
              <mc:Fallback>
                <p:oleObj name="Equation" r:id="rId5" imgW="96012000" imgH="17983200" progId="Equation.3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64840" y="4552951"/>
                        <a:ext cx="4782820" cy="9048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6" name="Rectangle 12"/>
          <p:cNvSpPr>
            <a:spLocks noChangeArrowheads="1"/>
          </p:cNvSpPr>
          <p:nvPr/>
        </p:nvSpPr>
        <p:spPr bwMode="auto">
          <a:xfrm>
            <a:off x="1943100" y="5457825"/>
            <a:ext cx="8305800" cy="6083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90204" pitchFamily="34" charset="0"/>
              </a:rPr>
              <a:t>使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90204" pitchFamily="34" charset="0"/>
              </a:rPr>
              <a:t>ECM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90204" pitchFamily="34" charset="0"/>
              </a:rPr>
              <a:t>最小的分划，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是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Bayes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判别分析的解。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90204" pitchFamily="34" charset="0"/>
              </a:rPr>
              <a:t> </a:t>
            </a:r>
            <a:endParaRPr lang="zh-CN" altLang="en-US" sz="28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0135" y="1096517"/>
            <a:ext cx="2423160" cy="6858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FF0000"/>
                </a:solidFill>
              </a:rPr>
              <a:t>【</a:t>
            </a:r>
            <a:r>
              <a:rPr lang="zh-CN" altLang="en-US" sz="3200" dirty="0">
                <a:solidFill>
                  <a:srgbClr val="FF0000"/>
                </a:solidFill>
              </a:rPr>
              <a:t>定理</a:t>
            </a:r>
            <a:r>
              <a:rPr lang="en-US" altLang="zh-CN" sz="3200" dirty="0">
                <a:solidFill>
                  <a:srgbClr val="FF0000"/>
                </a:solidFill>
              </a:rPr>
              <a:t>】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>
          <a:xfrm>
            <a:off x="2609850" y="1146175"/>
            <a:ext cx="7122160" cy="69723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若总体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G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G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Symbol" panose="05050102010706020507" pitchFamily="18" charset="2"/>
              </a:rPr>
              <a:t>，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G</a:t>
            </a:r>
            <a:r>
              <a:rPr lang="en-US" altLang="zh-CN" sz="2800" i="1" baseline="-25000" dirty="0" err="1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的先验概率为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4301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403289C-8456-4D96-805E-509788BBC3BD}" type="slidenum">
              <a:rPr lang="en-US" altLang="zh-CN"/>
            </a:fld>
            <a:endParaRPr lang="en-US" altLang="zh-CN"/>
          </a:p>
        </p:txBody>
      </p:sp>
      <p:graphicFrame>
        <p:nvGraphicFramePr>
          <p:cNvPr id="197640" name="Object 8"/>
          <p:cNvGraphicFramePr>
            <a:graphicFrameLocks noChangeAspect="1"/>
          </p:cNvGraphicFramePr>
          <p:nvPr/>
        </p:nvGraphicFramePr>
        <p:xfrm>
          <a:off x="4664393" y="1936750"/>
          <a:ext cx="248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59740800" imgH="10363200" progId="Equation.3">
                  <p:embed/>
                </p:oleObj>
              </mc:Choice>
              <mc:Fallback>
                <p:oleObj name="Equation" r:id="rId1" imgW="59740800" imgH="103632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64393" y="1936750"/>
                        <a:ext cx="2489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1" name="Object 9"/>
          <p:cNvGraphicFramePr>
            <a:graphicFrameLocks noChangeAspect="1"/>
          </p:cNvGraphicFramePr>
          <p:nvPr/>
        </p:nvGraphicFramePr>
        <p:xfrm>
          <a:off x="2609850" y="3783584"/>
          <a:ext cx="6286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50876000" imgH="13716000" progId="Equation.3">
                  <p:embed/>
                </p:oleObj>
              </mc:Choice>
              <mc:Fallback>
                <p:oleObj name="Equation" r:id="rId3" imgW="150876000" imgH="13716000" progId="Equation.3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09850" y="3783584"/>
                        <a:ext cx="62865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2" name="Object 10"/>
          <p:cNvGraphicFramePr>
            <a:graphicFrameLocks noChangeAspect="1"/>
          </p:cNvGraphicFramePr>
          <p:nvPr/>
        </p:nvGraphicFramePr>
        <p:xfrm>
          <a:off x="3826510" y="4758182"/>
          <a:ext cx="3327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79857600" imgH="17068800" progId="Equation.3">
                  <p:embed/>
                </p:oleObj>
              </mc:Choice>
              <mc:Fallback>
                <p:oleObj name="Equation" r:id="rId5" imgW="79857600" imgH="17068800" progId="Equation.3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26510" y="4758182"/>
                        <a:ext cx="3327400" cy="711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"/>
          <p:cNvGrpSpPr/>
          <p:nvPr/>
        </p:nvGrpSpPr>
        <p:grpSpPr bwMode="auto">
          <a:xfrm>
            <a:off x="2135188" y="2667001"/>
            <a:ext cx="8532812" cy="1368425"/>
            <a:chOff x="204" y="1661"/>
            <a:chExt cx="5375" cy="862"/>
          </a:xfrm>
        </p:grpSpPr>
        <p:sp>
          <p:nvSpPr>
            <p:cNvPr id="43020" name="Rectangle 3"/>
            <p:cNvSpPr>
              <a:spLocks noChangeArrowheads="1"/>
            </p:cNvSpPr>
            <p:nvPr/>
          </p:nvSpPr>
          <p:spPr bwMode="auto">
            <a:xfrm>
              <a:off x="204" y="1661"/>
              <a:ext cx="5375" cy="8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lnSpc>
                  <a:spcPct val="120000"/>
                </a:lnSpc>
              </a:pPr>
              <a:r>
                <a:rPr lang="zh-CN" altLang="en-US" sz="28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且相应的密度函数为       ，损失为</a:t>
              </a:r>
              <a:endPara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8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则划分的</a:t>
              </a:r>
              <a:r>
                <a:rPr lang="en-US" altLang="zh-CN" sz="28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Bayes</a:t>
              </a:r>
              <a:r>
                <a:rPr lang="zh-CN" altLang="en-US" sz="28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解为</a:t>
              </a:r>
              <a:endPara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graphicFrame>
          <p:nvGraphicFramePr>
            <p:cNvPr id="43013" name="Object 11"/>
            <p:cNvGraphicFramePr>
              <a:graphicFrameLocks noChangeAspect="1"/>
            </p:cNvGraphicFramePr>
            <p:nvPr/>
          </p:nvGraphicFramePr>
          <p:xfrm>
            <a:off x="2316" y="1728"/>
            <a:ext cx="6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7" imgW="23469600" imgH="10363200" progId="Equation.DSMT4">
                    <p:embed/>
                  </p:oleObj>
                </mc:Choice>
                <mc:Fallback>
                  <p:oleObj name="Equation" r:id="rId7" imgW="23469600" imgH="10363200" progId="Equation.DSMT4">
                    <p:embed/>
                    <p:pic>
                      <p:nvPicPr>
                        <p:cNvPr id="0" name="Object 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16" y="1728"/>
                          <a:ext cx="616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4" name="Object 12"/>
            <p:cNvGraphicFramePr>
              <a:graphicFrameLocks noChangeAspect="1"/>
            </p:cNvGraphicFramePr>
            <p:nvPr/>
          </p:nvGraphicFramePr>
          <p:xfrm>
            <a:off x="3953" y="1741"/>
            <a:ext cx="78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9" imgW="29870400" imgH="10058400" progId="Equation.3">
                    <p:embed/>
                  </p:oleObj>
                </mc:Choice>
                <mc:Fallback>
                  <p:oleObj name="Equation" r:id="rId9" imgW="29870400" imgH="10058400" progId="Equation.3">
                    <p:embed/>
                    <p:pic>
                      <p:nvPicPr>
                        <p:cNvPr id="0" name="Object 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53" y="1741"/>
                          <a:ext cx="784" cy="2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9" name="Text Box 7"/>
          <p:cNvSpPr txBox="1">
            <a:spLocks noChangeArrowheads="1"/>
          </p:cNvSpPr>
          <p:nvPr/>
        </p:nvSpPr>
        <p:spPr bwMode="auto">
          <a:xfrm>
            <a:off x="2133600" y="4294632"/>
            <a:ext cx="10668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式中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/>
          <p:nvPr/>
        </p:nvSpPr>
        <p:spPr>
          <a:xfrm>
            <a:off x="3336926" y="2840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1926590" y="2339341"/>
          <a:ext cx="8026400" cy="1684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6350000" imgH="1244600" progId="">
                  <p:embed/>
                </p:oleObj>
              </mc:Choice>
              <mc:Fallback>
                <p:oleObj name="" r:id="rId1" imgW="6350000" imgH="1244600" progId="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2">
                        <a:lum bright="-23999" contrast="62000"/>
                      </a:blip>
                      <a:stretch>
                        <a:fillRect/>
                      </a:stretch>
                    </p:blipFill>
                    <p:spPr>
                      <a:xfrm>
                        <a:off x="1926590" y="2339341"/>
                        <a:ext cx="8026400" cy="168401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4" name="Text Box 4"/>
          <p:cNvSpPr txBox="1"/>
          <p:nvPr/>
        </p:nvSpPr>
        <p:spPr>
          <a:xfrm>
            <a:off x="1752600" y="700406"/>
            <a:ext cx="8686800" cy="130317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推论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当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错判损失都相等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(当</a:t>
            </a:r>
            <a:r>
              <a:rPr lang="en-US" altLang="zh-CN" sz="28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不等于</a:t>
            </a:r>
            <a:r>
              <a:rPr lang="en-US" altLang="zh-CN" sz="28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j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时, </a:t>
            </a:r>
            <a:r>
              <a:rPr lang="en-US" altLang="zh-CN" sz="28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en-US" altLang="zh-CN" sz="28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|</a:t>
            </a:r>
            <a:r>
              <a:rPr lang="en-US" altLang="zh-CN" sz="28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j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)=1),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根据</a:t>
            </a:r>
            <a:r>
              <a:rPr lang="en-US" altLang="zh-CN" sz="28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</a:t>
            </a:r>
            <a:r>
              <a:rPr lang="en-US" altLang="zh-CN" sz="2800" b="1" i="1" baseline="-2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j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en-US" altLang="zh-CN" sz="28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X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的公式,即得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Bayes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判别的解</a:t>
            </a:r>
            <a:r>
              <a:rPr lang="en-US" altLang="zh-CN" sz="28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</a:t>
            </a:r>
            <a:r>
              <a:rPr lang="en-US" altLang="zh-CN" sz="2800" b="1" baseline="3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={</a:t>
            </a:r>
            <a:r>
              <a:rPr lang="en-US" altLang="zh-CN" sz="28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</a:t>
            </a:r>
            <a:r>
              <a:rPr lang="en-US" altLang="zh-CN" sz="2800" b="1" baseline="34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*</a:t>
            </a:r>
            <a:r>
              <a:rPr lang="en-US" altLang="zh-CN" sz="2800" b="1" baseline="-2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,…,</a:t>
            </a:r>
            <a:r>
              <a:rPr lang="en-US" altLang="zh-CN" sz="28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</a:t>
            </a:r>
            <a:r>
              <a:rPr lang="en-US" altLang="zh-CN" sz="2800" b="1" baseline="30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*</a:t>
            </a:r>
            <a:r>
              <a:rPr lang="en-US" altLang="zh-CN" sz="2800" b="1" i="1" baseline="-24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}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为</a:t>
            </a:r>
            <a:endParaRPr lang="zh-CN" altLang="en-US" sz="28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72709" name="Text Box 5"/>
          <p:cNvSpPr txBox="1"/>
          <p:nvPr/>
        </p:nvSpPr>
        <p:spPr>
          <a:xfrm>
            <a:off x="1752600" y="4732338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Arial" panose="020B0604020202090204" pitchFamily="34" charset="0"/>
                <a:ea typeface="宋体" pitchFamily="2" charset="-122"/>
              </a:rPr>
              <a:t>其实</a:t>
            </a:r>
            <a:endParaRPr lang="zh-CN" altLang="en-US" sz="2800" b="1" dirty="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72710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2973017" y="4712656"/>
          <a:ext cx="5928171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453130" imgH="431800" progId="Equation.3">
                  <p:embed/>
                </p:oleObj>
              </mc:Choice>
              <mc:Fallback>
                <p:oleObj name="" r:id="rId3" imgW="3453130" imgH="4318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3017" y="4712656"/>
                        <a:ext cx="5928171" cy="7413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3048000" y="5888869"/>
          <a:ext cx="609600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880235" imgH="228600" progId="Equation.3">
                  <p:embed/>
                </p:oleObj>
              </mc:Choice>
              <mc:Fallback>
                <p:oleObj name="" r:id="rId5" imgW="1880235" imgH="2286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8000" y="5888869"/>
                        <a:ext cx="6096000" cy="741362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1825308" y="831534"/>
            <a:ext cx="8540750" cy="1512887"/>
          </a:xfrm>
        </p:spPr>
        <p:txBody>
          <a:bodyPr>
            <a:noAutofit/>
          </a:bodyPr>
          <a:lstStyle/>
          <a:p>
            <a:pPr indent="230505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含义是：当抽取了一个未知总体的样品值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，要判别它属于那个总体，只要先计算出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个按先验概率加权的误判平均损失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40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39A179C-6F76-4456-9326-32B521F573A1}" type="slidenum">
              <a:rPr lang="en-US" altLang="zh-CN"/>
            </a:fld>
            <a:endParaRPr lang="en-US" altLang="zh-CN"/>
          </a:p>
        </p:txBody>
      </p:sp>
      <p:graphicFrame>
        <p:nvGraphicFramePr>
          <p:cNvPr id="144388" name="Object 4"/>
          <p:cNvGraphicFramePr>
            <a:graphicFrameLocks noChangeAspect="1"/>
          </p:cNvGraphicFramePr>
          <p:nvPr/>
        </p:nvGraphicFramePr>
        <p:xfrm>
          <a:off x="5390198" y="2344420"/>
          <a:ext cx="3327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79857600" imgH="17068800" progId="Equation.3">
                  <p:embed/>
                </p:oleObj>
              </mc:Choice>
              <mc:Fallback>
                <p:oleObj name="Equation" r:id="rId1" imgW="79857600" imgH="170688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0198" y="2344420"/>
                        <a:ext cx="3327400" cy="711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89" name="Rectangle 5"/>
          <p:cNvSpPr>
            <a:spLocks noChangeArrowheads="1"/>
          </p:cNvSpPr>
          <p:nvPr/>
        </p:nvSpPr>
        <p:spPr bwMode="auto">
          <a:xfrm>
            <a:off x="1876508" y="5033176"/>
            <a:ext cx="879149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为了直观说明，作为例子，我们讨论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=2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的情形。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4390" name="Rectangle 6"/>
          <p:cNvSpPr>
            <a:spLocks noChangeArrowheads="1"/>
          </p:cNvSpPr>
          <p:nvPr/>
        </p:nvSpPr>
        <p:spPr bwMode="auto">
          <a:xfrm>
            <a:off x="1774825" y="3284538"/>
            <a:ext cx="8642350" cy="1284006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chemeClr val="folHlink"/>
              </a:buClr>
              <a:buSzPct val="85000"/>
            </a:pPr>
            <a:r>
              <a:rPr lang="en-US" altLang="zh-CN" sz="2800" dirty="0">
                <a:latin typeface="宋体" pitchFamily="2" charset="-122"/>
              </a:rPr>
              <a:t>    </a:t>
            </a:r>
            <a:r>
              <a:rPr lang="zh-CN" altLang="en-US" sz="2800" dirty="0">
                <a:latin typeface="宋体" pitchFamily="2" charset="-122"/>
              </a:rPr>
              <a:t>然后比较其大小，选取其中最小的，则判定样品属于该总体。</a:t>
            </a:r>
            <a:endParaRPr lang="en-US" altLang="zh-CN" sz="2800" dirty="0">
              <a:latin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6" name="Rectangle 3"/>
          <p:cNvSpPr>
            <a:spLocks noGrp="1" noChangeArrowheads="1"/>
          </p:cNvSpPr>
          <p:nvPr>
            <p:ph idx="1"/>
          </p:nvPr>
        </p:nvSpPr>
        <p:spPr>
          <a:xfrm>
            <a:off x="1825625" y="381000"/>
            <a:ext cx="8540750" cy="61722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宋体" pitchFamily="2" charset="-122"/>
              </a:rPr>
              <a:t>    </a:t>
            </a:r>
            <a:endParaRPr lang="en-US" altLang="zh-CN"/>
          </a:p>
        </p:txBody>
      </p:sp>
      <p:sp>
        <p:nvSpPr>
          <p:cNvPr id="4506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35A7F7-BCE0-4184-B9B4-9FF429965E55}" type="slidenum">
              <a:rPr lang="en-US" altLang="zh-CN"/>
            </a:fld>
            <a:endParaRPr lang="en-US" altLang="zh-CN"/>
          </a:p>
        </p:txBody>
      </p:sp>
      <p:sp>
        <p:nvSpPr>
          <p:cNvPr id="45067" name="Rectangle 5"/>
          <p:cNvSpPr>
            <a:spLocks noChangeArrowheads="1"/>
          </p:cNvSpPr>
          <p:nvPr/>
        </p:nvSpPr>
        <p:spPr bwMode="auto">
          <a:xfrm>
            <a:off x="4972050" y="322421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68640" name="Object 0"/>
          <p:cNvGraphicFramePr>
            <a:graphicFrameLocks noChangeAspect="1"/>
          </p:cNvGraphicFramePr>
          <p:nvPr/>
        </p:nvGraphicFramePr>
        <p:xfrm>
          <a:off x="2424113" y="1663383"/>
          <a:ext cx="58801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141122400" imgH="20421600" progId="Equation.DSMT4">
                  <p:embed/>
                </p:oleObj>
              </mc:Choice>
              <mc:Fallback>
                <p:oleObj name="Equation" r:id="rId1" imgW="141122400" imgH="20421600" progId="Equation.DSMT4">
                  <p:embed/>
                  <p:pic>
                    <p:nvPicPr>
                      <p:cNvPr id="0" name="Object 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24113" y="1663383"/>
                        <a:ext cx="5880100" cy="857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8" name="Rectangle 7"/>
          <p:cNvSpPr>
            <a:spLocks noChangeArrowheads="1"/>
          </p:cNvSpPr>
          <p:nvPr/>
        </p:nvSpPr>
        <p:spPr bwMode="auto">
          <a:xfrm>
            <a:off x="5414963" y="322421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68641" name="Object 1"/>
          <p:cNvGraphicFramePr>
            <a:graphicFrameLocks noChangeAspect="1"/>
          </p:cNvGraphicFramePr>
          <p:nvPr/>
        </p:nvGraphicFramePr>
        <p:xfrm>
          <a:off x="2424113" y="3045143"/>
          <a:ext cx="5954712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43256000" imgH="15544800" progId="Equation.3">
                  <p:embed/>
                </p:oleObj>
              </mc:Choice>
              <mc:Fallback>
                <p:oleObj name="Equation" r:id="rId3" imgW="143256000" imgH="15544800" progId="Equation.3">
                  <p:embed/>
                  <p:pic>
                    <p:nvPicPr>
                      <p:cNvPr id="0" name="Object 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4113" y="3045143"/>
                        <a:ext cx="5954712" cy="6524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Rectangle 13"/>
          <p:cNvSpPr>
            <a:spLocks noChangeArrowheads="1"/>
          </p:cNvSpPr>
          <p:nvPr/>
        </p:nvSpPr>
        <p:spPr bwMode="auto">
          <a:xfrm>
            <a:off x="5124450" y="322421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5060" name="Object 2"/>
          <p:cNvGraphicFramePr>
            <a:graphicFrameLocks noChangeAspect="1"/>
          </p:cNvGraphicFramePr>
          <p:nvPr/>
        </p:nvGraphicFramePr>
        <p:xfrm>
          <a:off x="6215063" y="3949700"/>
          <a:ext cx="1905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4572000" imgH="7924800" progId="Equation.DSMT4">
                  <p:embed/>
                </p:oleObj>
              </mc:Choice>
              <mc:Fallback>
                <p:oleObj name="Equation" r:id="rId5" imgW="4572000" imgH="79248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15063" y="3949700"/>
                        <a:ext cx="190500" cy="331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0" name="Rectangle 16"/>
          <p:cNvSpPr>
            <a:spLocks noChangeArrowheads="1"/>
          </p:cNvSpPr>
          <p:nvPr/>
        </p:nvSpPr>
        <p:spPr bwMode="auto">
          <a:xfrm>
            <a:off x="4843463" y="322421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5061" name="Object 3"/>
          <p:cNvGraphicFramePr>
            <a:graphicFrameLocks noChangeAspect="1"/>
          </p:cNvGraphicFramePr>
          <p:nvPr/>
        </p:nvGraphicFramePr>
        <p:xfrm>
          <a:off x="2962275" y="4986338"/>
          <a:ext cx="1905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4572000" imgH="7924800" progId="Equation.DSMT4">
                  <p:embed/>
                </p:oleObj>
              </mc:Choice>
              <mc:Fallback>
                <p:oleObj name="Equation" r:id="rId7" imgW="4572000" imgH="79248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62275" y="4986338"/>
                        <a:ext cx="190500" cy="3349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44" name="Object 4"/>
          <p:cNvGraphicFramePr>
            <a:graphicFrameLocks noChangeAspect="1"/>
          </p:cNvGraphicFramePr>
          <p:nvPr/>
        </p:nvGraphicFramePr>
        <p:xfrm>
          <a:off x="2495550" y="5445126"/>
          <a:ext cx="7005638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8" imgW="167944800" imgH="20421600" progId="Equation.DSMT4">
                  <p:embed/>
                </p:oleObj>
              </mc:Choice>
              <mc:Fallback>
                <p:oleObj name="Equation" r:id="rId8" imgW="167944800" imgH="204216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95550" y="5445126"/>
                        <a:ext cx="7005638" cy="855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45" name="Object 5"/>
          <p:cNvGraphicFramePr>
            <a:graphicFrameLocks noChangeAspect="1"/>
          </p:cNvGraphicFramePr>
          <p:nvPr/>
        </p:nvGraphicFramePr>
        <p:xfrm>
          <a:off x="2495550" y="981075"/>
          <a:ext cx="850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0" imgW="20421600" imgH="7620000" progId="Equation.DSMT4">
                  <p:embed/>
                </p:oleObj>
              </mc:Choice>
              <mc:Fallback>
                <p:oleObj name="Equation" r:id="rId10" imgW="20421600" imgH="76200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95550" y="981075"/>
                        <a:ext cx="8509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71" name="Group 4"/>
          <p:cNvGrpSpPr/>
          <p:nvPr/>
        </p:nvGrpSpPr>
        <p:grpSpPr bwMode="auto">
          <a:xfrm>
            <a:off x="2495550" y="4149725"/>
            <a:ext cx="7442200" cy="857250"/>
            <a:chOff x="612" y="2614"/>
            <a:chExt cx="4688" cy="540"/>
          </a:xfrm>
        </p:grpSpPr>
        <p:graphicFrame>
          <p:nvGraphicFramePr>
            <p:cNvPr id="45064" name="Object 6"/>
            <p:cNvGraphicFramePr>
              <a:graphicFrameLocks noChangeAspect="1"/>
            </p:cNvGraphicFramePr>
            <p:nvPr/>
          </p:nvGraphicFramePr>
          <p:xfrm>
            <a:off x="612" y="2614"/>
            <a:ext cx="4688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2" imgW="178612800" imgH="20421600" progId="Equation.DSMT4">
                    <p:embed/>
                  </p:oleObj>
                </mc:Choice>
                <mc:Fallback>
                  <p:oleObj name="Equation" r:id="rId12" imgW="178612800" imgH="20421600" progId="Equation.DSMT4">
                    <p:embed/>
                    <p:pic>
                      <p:nvPicPr>
                        <p:cNvPr id="0" name="Object 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12" y="2614"/>
                          <a:ext cx="4688" cy="5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2" name="Line 3"/>
            <p:cNvSpPr>
              <a:spLocks noChangeShapeType="1"/>
            </p:cNvSpPr>
            <p:nvPr/>
          </p:nvSpPr>
          <p:spPr bwMode="auto">
            <a:xfrm>
              <a:off x="1927" y="2840"/>
              <a:ext cx="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98066" y="746125"/>
            <a:ext cx="6872605" cy="1503680"/>
          </a:xfrm>
        </p:spPr>
        <p:txBody>
          <a:bodyPr>
            <a:no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由此可见，要使</a:t>
            </a:r>
            <a:r>
              <a:rPr lang="en-US" altLang="zh-CN" sz="28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ECM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最小，被积函数必须在</a:t>
            </a:r>
            <a:r>
              <a:rPr lang="en-US" altLang="zh-CN" sz="28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800" baseline="-30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是负数，则有分划</a:t>
            </a:r>
            <a:endParaRPr lang="zh-CN" altLang="en-US" sz="2800">
              <a:solidFill>
                <a:schemeClr val="tx1"/>
              </a:solidFill>
              <a:latin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608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E8B22B-A6A8-44D5-9201-D065C0BFBE97}" type="slidenum">
              <a:rPr lang="en-US" altLang="zh-CN"/>
            </a:fld>
            <a:endParaRPr lang="en-US" altLang="zh-CN"/>
          </a:p>
        </p:txBody>
      </p:sp>
      <p:graphicFrame>
        <p:nvGraphicFramePr>
          <p:cNvPr id="142340" name="Object 4"/>
          <p:cNvGraphicFramePr>
            <a:graphicFrameLocks noChangeAspect="1"/>
          </p:cNvGraphicFramePr>
          <p:nvPr/>
        </p:nvGraphicFramePr>
        <p:xfrm>
          <a:off x="2424114" y="2636839"/>
          <a:ext cx="61801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148132800" imgH="10058400" progId="Equation.3">
                  <p:embed/>
                </p:oleObj>
              </mc:Choice>
              <mc:Fallback>
                <p:oleObj name="Equation" r:id="rId1" imgW="148132800" imgH="100584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24114" y="2636839"/>
                        <a:ext cx="6180137" cy="422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9" name="Rectangle 7"/>
          <p:cNvSpPr>
            <a:spLocks noChangeArrowheads="1"/>
          </p:cNvSpPr>
          <p:nvPr/>
        </p:nvSpPr>
        <p:spPr bwMode="auto">
          <a:xfrm>
            <a:off x="1524000" y="3124200"/>
            <a:ext cx="91440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/>
            <a:r>
              <a:rPr lang="en-US" altLang="zh-CN" sz="10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endParaRPr lang="en-US" altLang="zh-CN" sz="1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0" hangingPunct="0"/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46090" name="Rectangle 9"/>
          <p:cNvSpPr>
            <a:spLocks noChangeArrowheads="1"/>
          </p:cNvSpPr>
          <p:nvPr/>
        </p:nvSpPr>
        <p:spPr bwMode="auto">
          <a:xfrm>
            <a:off x="4991100" y="331946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5567363" y="331946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092" name="Rectangle 13"/>
          <p:cNvSpPr>
            <a:spLocks noChangeArrowheads="1"/>
          </p:cNvSpPr>
          <p:nvPr/>
        </p:nvSpPr>
        <p:spPr bwMode="auto">
          <a:xfrm>
            <a:off x="5329238" y="331946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42351" name="Object 15"/>
          <p:cNvGraphicFramePr>
            <a:graphicFrameLocks noChangeAspect="1"/>
          </p:cNvGraphicFramePr>
          <p:nvPr/>
        </p:nvGraphicFramePr>
        <p:xfrm>
          <a:off x="2566988" y="3429001"/>
          <a:ext cx="48577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16433600" imgH="10058400" progId="Equation.3">
                  <p:embed/>
                </p:oleObj>
              </mc:Choice>
              <mc:Fallback>
                <p:oleObj name="Equation" r:id="rId3" imgW="116433600" imgH="10058400" progId="Equation.3">
                  <p:embed/>
                  <p:pic>
                    <p:nvPicPr>
                      <p:cNvPr id="0" name="Object 1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3429001"/>
                        <a:ext cx="4857750" cy="422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0"/>
          <p:cNvGraphicFramePr>
            <a:graphicFrameLocks noChangeAspect="1"/>
          </p:cNvGraphicFramePr>
          <p:nvPr/>
        </p:nvGraphicFramePr>
        <p:xfrm>
          <a:off x="2640013" y="4221163"/>
          <a:ext cx="47371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13690400" imgH="10058400" progId="Equation.3">
                  <p:embed/>
                </p:oleObj>
              </mc:Choice>
              <mc:Fallback>
                <p:oleObj name="Equation" r:id="rId5" imgW="113690400" imgH="10058400" progId="Equation.3">
                  <p:embed/>
                  <p:pic>
                    <p:nvPicPr>
                      <p:cNvPr id="0" name="Object 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40013" y="4221163"/>
                        <a:ext cx="4737100" cy="425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1"/>
          <p:cNvGraphicFramePr>
            <a:graphicFrameLocks noChangeAspect="1"/>
          </p:cNvGraphicFramePr>
          <p:nvPr/>
        </p:nvGraphicFramePr>
        <p:xfrm>
          <a:off x="2411413" y="5118100"/>
          <a:ext cx="22161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53035200" imgH="10058400" progId="Equation.3">
                  <p:embed/>
                </p:oleObj>
              </mc:Choice>
              <mc:Fallback>
                <p:oleObj name="Equation" r:id="rId7" imgW="53035200" imgH="10058400" progId="Equation.3">
                  <p:embed/>
                  <p:pic>
                    <p:nvPicPr>
                      <p:cNvPr id="0" name="Object 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1413" y="5118100"/>
                        <a:ext cx="2216150" cy="425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2"/>
          <p:cNvGraphicFramePr>
            <a:graphicFrameLocks noChangeAspect="1"/>
          </p:cNvGraphicFramePr>
          <p:nvPr/>
        </p:nvGraphicFramePr>
        <p:xfrm>
          <a:off x="5002213" y="5118100"/>
          <a:ext cx="32956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79248000" imgH="10058400" progId="Equation.3">
                  <p:embed/>
                </p:oleObj>
              </mc:Choice>
              <mc:Fallback>
                <p:oleObj name="Equation" r:id="rId9" imgW="79248000" imgH="10058400" progId="Equation.3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2213" y="5118100"/>
                        <a:ext cx="3295650" cy="425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8351B2-A260-41BC-9915-36B8740C29C7}" type="slidenum">
              <a:rPr lang="en-US" altLang="zh-CN"/>
            </a:fld>
            <a:endParaRPr lang="en-US" altLang="zh-CN"/>
          </a:p>
        </p:txBody>
      </p:sp>
      <p:sp>
        <p:nvSpPr>
          <p:cNvPr id="47108" name="Rectangle 5"/>
          <p:cNvSpPr>
            <a:spLocks noChangeArrowheads="1"/>
          </p:cNvSpPr>
          <p:nvPr/>
        </p:nvSpPr>
        <p:spPr bwMode="auto">
          <a:xfrm>
            <a:off x="2905760" y="1755775"/>
            <a:ext cx="496316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Bayes</a:t>
            </a:r>
            <a:r>
              <a:rPr lang="zh-CN" altLang="en-US" sz="2800" dirty="0">
                <a:latin typeface="宋体" pitchFamily="2" charset="-122"/>
              </a:rPr>
              <a:t>判别准则为：</a:t>
            </a:r>
            <a:endParaRPr lang="en-US" altLang="zh-CN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47106" name="Object 0"/>
          <p:cNvGraphicFramePr>
            <a:graphicFrameLocks noChangeAspect="1"/>
          </p:cNvGraphicFramePr>
          <p:nvPr/>
        </p:nvGraphicFramePr>
        <p:xfrm>
          <a:off x="3721400" y="2985133"/>
          <a:ext cx="3332162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80162400" imgH="38404800" progId="Equation.3">
                  <p:embed/>
                </p:oleObj>
              </mc:Choice>
              <mc:Fallback>
                <p:oleObj name="Equation" r:id="rId1" imgW="80162400" imgH="38404800" progId="Equation.3">
                  <p:embed/>
                  <p:pic>
                    <p:nvPicPr>
                      <p:cNvPr id="0" name="Object 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21400" y="2985133"/>
                        <a:ext cx="3332162" cy="159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8" name="Rectangle 2"/>
          <p:cNvSpPr>
            <a:spLocks noGrp="1" noChangeArrowheads="1"/>
          </p:cNvSpPr>
          <p:nvPr>
            <p:ph type="title"/>
          </p:nvPr>
        </p:nvSpPr>
        <p:spPr>
          <a:xfrm>
            <a:off x="2126615" y="459106"/>
            <a:ext cx="1673860" cy="799465"/>
          </a:xfrm>
        </p:spPr>
        <p:txBody>
          <a:bodyPr/>
          <a:lstStyle/>
          <a:p>
            <a:pPr eaLnBrk="1" hangingPunct="1"/>
            <a:r>
              <a:rPr lang="zh-CN" altLang="en-US" sz="2800"/>
              <a:t>特别</a:t>
            </a:r>
            <a:endParaRPr lang="zh-CN" altLang="en-US" sz="2800"/>
          </a:p>
        </p:txBody>
      </p:sp>
      <p:sp>
        <p:nvSpPr>
          <p:cNvPr id="4813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CCA0B0-1CB9-481B-B181-F587A759DDE3}" type="slidenum">
              <a:rPr lang="en-US" altLang="zh-CN"/>
            </a:fld>
            <a:endParaRPr lang="en-US" altLang="zh-CN"/>
          </a:p>
        </p:txBody>
      </p:sp>
      <p:graphicFrame>
        <p:nvGraphicFramePr>
          <p:cNvPr id="48130" name="Object 3"/>
          <p:cNvGraphicFramePr>
            <a:graphicFrameLocks noChangeAspect="1"/>
          </p:cNvGraphicFramePr>
          <p:nvPr/>
        </p:nvGraphicFramePr>
        <p:xfrm>
          <a:off x="3143250" y="1341438"/>
          <a:ext cx="3327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79857600" imgH="17068800" progId="Equation.3">
                  <p:embed/>
                </p:oleObj>
              </mc:Choice>
              <mc:Fallback>
                <p:oleObj name="Equation" r:id="rId1" imgW="79857600" imgH="17068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43250" y="1341438"/>
                        <a:ext cx="3327400" cy="711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4"/>
          <p:cNvGraphicFramePr>
            <a:graphicFrameLocks noChangeAspect="1"/>
          </p:cNvGraphicFramePr>
          <p:nvPr/>
        </p:nvGraphicFramePr>
        <p:xfrm>
          <a:off x="3670300" y="293370"/>
          <a:ext cx="2882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69189600" imgH="23164800" progId="Equation.3">
                  <p:embed/>
                </p:oleObj>
              </mc:Choice>
              <mc:Fallback>
                <p:oleObj name="Equation" r:id="rId3" imgW="69189600" imgH="231648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70300" y="293370"/>
                        <a:ext cx="28829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5"/>
          <p:cNvGraphicFramePr>
            <a:graphicFrameLocks noChangeAspect="1"/>
          </p:cNvGraphicFramePr>
          <p:nvPr/>
        </p:nvGraphicFramePr>
        <p:xfrm>
          <a:off x="2927350" y="2276475"/>
          <a:ext cx="5600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34416800" imgH="23164800" progId="Equation.DSMT4">
                  <p:embed/>
                </p:oleObj>
              </mc:Choice>
              <mc:Fallback>
                <p:oleObj name="Equation" r:id="rId5" imgW="134416800" imgH="231648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7350" y="2276475"/>
                        <a:ext cx="56007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6"/>
          <p:cNvGraphicFramePr>
            <a:graphicFrameLocks noChangeAspect="1"/>
          </p:cNvGraphicFramePr>
          <p:nvPr/>
        </p:nvGraphicFramePr>
        <p:xfrm>
          <a:off x="2927350" y="3500438"/>
          <a:ext cx="4368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04851200" imgH="17068800" progId="Equation.3">
                  <p:embed/>
                </p:oleObj>
              </mc:Choice>
              <mc:Fallback>
                <p:oleObj name="Equation" r:id="rId7" imgW="104851200" imgH="170688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7350" y="3500438"/>
                        <a:ext cx="4368800" cy="711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7"/>
          <p:cNvGraphicFramePr>
            <a:graphicFrameLocks noChangeAspect="1"/>
          </p:cNvGraphicFramePr>
          <p:nvPr/>
        </p:nvGraphicFramePr>
        <p:xfrm>
          <a:off x="7319963" y="3644900"/>
          <a:ext cx="227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54559200" imgH="11277600" progId="Equation.DSMT4">
                  <p:embed/>
                </p:oleObj>
              </mc:Choice>
              <mc:Fallback>
                <p:oleObj name="Equation" r:id="rId9" imgW="54559200" imgH="112776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19963" y="3644900"/>
                        <a:ext cx="22733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8"/>
          <p:cNvGraphicFramePr>
            <a:graphicFrameLocks noChangeAspect="1"/>
          </p:cNvGraphicFramePr>
          <p:nvPr/>
        </p:nvGraphicFramePr>
        <p:xfrm>
          <a:off x="2566988" y="4724400"/>
          <a:ext cx="306546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1" imgW="73152000" imgH="14935200" progId="Equation.3">
                  <p:embed/>
                </p:oleObj>
              </mc:Choice>
              <mc:Fallback>
                <p:oleObj name="Equation" r:id="rId11" imgW="73152000" imgH="149352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66988" y="4724400"/>
                        <a:ext cx="3065462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9" name="Rectangle 14"/>
          <p:cNvSpPr>
            <a:spLocks noChangeArrowheads="1"/>
          </p:cNvSpPr>
          <p:nvPr/>
        </p:nvSpPr>
        <p:spPr bwMode="auto">
          <a:xfrm>
            <a:off x="2855913" y="5516563"/>
            <a:ext cx="5148262" cy="863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sz="2800">
                <a:latin typeface="Times New Roman" panose="02020503050405090304" pitchFamily="18" charset="0"/>
              </a:rPr>
              <a:t>与标准</a:t>
            </a:r>
            <a:r>
              <a:rPr lang="en-US" altLang="zh-CN" sz="2800">
                <a:latin typeface="Times New Roman" panose="02020503050405090304" pitchFamily="18" charset="0"/>
              </a:rPr>
              <a:t>Bayes</a:t>
            </a:r>
            <a:r>
              <a:rPr lang="zh-CN" altLang="en-US" sz="2800">
                <a:latin typeface="Times New Roman" panose="02020503050405090304" pitchFamily="18" charset="0"/>
              </a:rPr>
              <a:t>判别等价</a:t>
            </a:r>
            <a:endParaRPr lang="zh-CN" altLang="en-US" sz="2800">
              <a:latin typeface="Times New Roman" panose="02020503050405090304" pitchFamily="18" charset="0"/>
            </a:endParaRPr>
          </a:p>
        </p:txBody>
      </p:sp>
      <p:graphicFrame>
        <p:nvGraphicFramePr>
          <p:cNvPr id="48136" name="Object 2"/>
          <p:cNvGraphicFramePr>
            <a:graphicFrameLocks noChangeAspect="1"/>
          </p:cNvGraphicFramePr>
          <p:nvPr/>
        </p:nvGraphicFramePr>
        <p:xfrm>
          <a:off x="5951538" y="4724400"/>
          <a:ext cx="86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20726400" imgH="10363200" progId="Equation.DSMT4">
                  <p:embed/>
                </p:oleObj>
              </mc:Choice>
              <mc:Fallback>
                <p:oleObj name="Equation" r:id="rId13" imgW="20726400" imgH="103632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51538" y="4724400"/>
                        <a:ext cx="863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R="3810" indent="2679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判别分析方法</a:t>
            </a:r>
            <a:r>
              <a:rPr lang="zh-CN" altLang="en-US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是按</a:t>
            </a: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已知所属组的样本</a:t>
            </a:r>
            <a:r>
              <a:rPr lang="zh-CN" altLang="en-US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确定</a:t>
            </a: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判别函数，制定判别规则，然后再判断每一个新样品应属于哪一</a:t>
            </a:r>
            <a:r>
              <a:rPr lang="zh-CN" altLang="en-US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类</a:t>
            </a: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zh-CN" altLang="zh-CN" sz="2400" b="1" kern="1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R="3810" indent="2679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常用的判别方法有</a:t>
            </a:r>
            <a:r>
              <a:rPr lang="en-US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Fisher</a:t>
            </a: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判别、距离判别、贝叶斯判别等，每个方法根据其出发点不同各有其特点。</a:t>
            </a:r>
            <a:endParaRPr lang="zh-CN" altLang="zh-CN" sz="2400" b="1" kern="1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R="3810" indent="2679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Fisher</a:t>
            </a:r>
            <a:r>
              <a:rPr lang="zh-CN" altLang="en-US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类</a:t>
            </a: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判别对判别变量的分布类型并无要求，而</a:t>
            </a:r>
            <a:r>
              <a:rPr lang="en-US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Bayes</a:t>
            </a:r>
            <a:r>
              <a:rPr lang="zh-CN" altLang="en-US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类</a:t>
            </a: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判别要变量的分布类型。因此，</a:t>
            </a:r>
            <a:r>
              <a:rPr lang="en-US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Fisher</a:t>
            </a:r>
            <a:r>
              <a:rPr lang="zh-CN" altLang="en-US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类</a:t>
            </a: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判别较</a:t>
            </a:r>
            <a:r>
              <a:rPr lang="en-US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Bayes</a:t>
            </a:r>
            <a:r>
              <a:rPr lang="zh-CN" altLang="en-US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类</a:t>
            </a: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判别简单一些。</a:t>
            </a:r>
            <a:endParaRPr lang="zh-CN" altLang="zh-CN" sz="2400" b="1" kern="1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R="3810" indent="2679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当两个总体时，若它们的协方差矩阵相同，则距离判别和</a:t>
            </a:r>
            <a:r>
              <a:rPr lang="en-US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Fisher</a:t>
            </a: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判别等价。当变量服从正态分布时，它们还和</a:t>
            </a:r>
            <a:r>
              <a:rPr lang="en-US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Bayes</a:t>
            </a:r>
            <a:r>
              <a:rPr lang="zh-CN" altLang="zh-CN" sz="24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判别等价。</a:t>
            </a:r>
            <a:endParaRPr lang="zh-CN" altLang="zh-CN" sz="2400" b="1" kern="1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3.xml><?xml version="1.0" encoding="utf-8"?>
<p:tagLst xmlns:p="http://schemas.openxmlformats.org/presentationml/2006/main">
  <p:tag name="KSO_WM_TEMPLATE_CATEGORY" val="custom"/>
  <p:tag name="KSO_WM_TEMPLATE_INDEX" val="20182222"/>
  <p:tag name="KSO_WM_TAG_VERSION" val="1.0"/>
  <p:tag name="KSO_WM_TEMPLATE_THUMBS_INDEX" val="1、9、12、16、22、25、30、31、"/>
  <p:tag name="KSO_WM_BEAUTIFY_FLAG" val="#wm#"/>
</p:tagLst>
</file>

<file path=ppt/theme/theme1.xml><?xml version="1.0" encoding="utf-8"?>
<a:theme xmlns:a="http://schemas.openxmlformats.org/drawingml/2006/main" name="自定义设计方案">
  <a:themeElements>
    <a:clrScheme name="自定义 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5B9BD5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6903</Words>
  <Application>WPS 文字</Application>
  <PresentationFormat>宽屏</PresentationFormat>
  <Paragraphs>584</Paragraphs>
  <Slides>56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128</vt:i4>
      </vt:variant>
      <vt:variant>
        <vt:lpstr>幻灯片标题</vt:lpstr>
      </vt:variant>
      <vt:variant>
        <vt:i4>56</vt:i4>
      </vt:variant>
    </vt:vector>
  </HeadingPairs>
  <TitlesOfParts>
    <vt:vector size="207" baseType="lpstr">
      <vt:lpstr>Arial</vt:lpstr>
      <vt:lpstr>宋体</vt:lpstr>
      <vt:lpstr>Wingdings</vt:lpstr>
      <vt:lpstr>微软雅黑</vt:lpstr>
      <vt:lpstr>Segoe UI</vt:lpstr>
      <vt:lpstr>汉仪书宋二KW</vt:lpstr>
      <vt:lpstr>Times New Roman</vt:lpstr>
      <vt:lpstr>黑体</vt:lpstr>
      <vt:lpstr>汉仪中黑KW</vt:lpstr>
      <vt:lpstr>华文新魏</vt:lpstr>
      <vt:lpstr>宋体-简</vt:lpstr>
      <vt:lpstr>汉仪旗黑</vt:lpstr>
      <vt:lpstr>宋体</vt:lpstr>
      <vt:lpstr>Arial Unicode MS</vt:lpstr>
      <vt:lpstr>Calibri</vt:lpstr>
      <vt:lpstr>Helvetica Neue</vt:lpstr>
      <vt:lpstr>Symbol</vt:lpstr>
      <vt:lpstr>Kingsoft Sign</vt:lpstr>
      <vt:lpstr>Century Gothic</vt:lpstr>
      <vt:lpstr>苹方-简</vt:lpstr>
      <vt:lpstr>Wingdings 2</vt:lpstr>
      <vt:lpstr>黑体</vt:lpstr>
      <vt:lpstr>自定义设计方案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判别分析举例</vt:lpstr>
      <vt:lpstr>二、判别分析的种类</vt:lpstr>
      <vt:lpstr>第二节   距离判别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第四节  贝叶斯判别法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//二、 最小平均误判代价准则</vt:lpstr>
      <vt:lpstr>PowerPoint 演示文稿</vt:lpstr>
      <vt:lpstr>【定理】</vt:lpstr>
      <vt:lpstr>PowerPoint 演示文稿</vt:lpstr>
      <vt:lpstr>PowerPoint 演示文稿</vt:lpstr>
      <vt:lpstr>PowerPoint 演示文稿</vt:lpstr>
      <vt:lpstr>    由此可见，要使ECM最小，被积函数必须在D1是负数，则有分划</vt:lpstr>
      <vt:lpstr>PowerPoint 演示文稿</vt:lpstr>
      <vt:lpstr>特别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6HGBYM2</dc:creator>
  <cp:lastModifiedBy>233</cp:lastModifiedBy>
  <cp:revision>125</cp:revision>
  <dcterms:created xsi:type="dcterms:W3CDTF">2024-11-11T07:46:43Z</dcterms:created>
  <dcterms:modified xsi:type="dcterms:W3CDTF">2024-11-11T07:46:43Z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C741B90804C6C9E062B63167D5E4A652_42</vt:lpwstr>
  </property>
</Properties>
</file>