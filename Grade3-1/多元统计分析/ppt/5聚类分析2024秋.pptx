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66" r:id="rId3"/>
    <p:sldId id="705" r:id="rId4"/>
    <p:sldId id="706" r:id="rId5"/>
    <p:sldId id="707" r:id="rId6"/>
    <p:sldId id="708" r:id="rId8"/>
    <p:sldId id="709" r:id="rId9"/>
    <p:sldId id="710" r:id="rId10"/>
    <p:sldId id="711" r:id="rId11"/>
    <p:sldId id="712" r:id="rId12"/>
    <p:sldId id="713" r:id="rId13"/>
    <p:sldId id="714" r:id="rId14"/>
    <p:sldId id="715" r:id="rId15"/>
    <p:sldId id="716" r:id="rId16"/>
    <p:sldId id="717" r:id="rId17"/>
    <p:sldId id="718" r:id="rId18"/>
    <p:sldId id="719" r:id="rId19"/>
    <p:sldId id="720" r:id="rId20"/>
    <p:sldId id="721" r:id="rId21"/>
    <p:sldId id="722" r:id="rId22"/>
    <p:sldId id="723" r:id="rId23"/>
    <p:sldId id="724" r:id="rId24"/>
    <p:sldId id="725" r:id="rId25"/>
    <p:sldId id="726" r:id="rId26"/>
    <p:sldId id="727" r:id="rId27"/>
    <p:sldId id="728" r:id="rId28"/>
    <p:sldId id="729" r:id="rId29"/>
    <p:sldId id="730" r:id="rId30"/>
    <p:sldId id="731" r:id="rId31"/>
    <p:sldId id="732" r:id="rId32"/>
    <p:sldId id="733" r:id="rId33"/>
    <p:sldId id="734" r:id="rId34"/>
    <p:sldId id="735" r:id="rId35"/>
    <p:sldId id="736" r:id="rId36"/>
    <p:sldId id="737" r:id="rId37"/>
    <p:sldId id="738" r:id="rId38"/>
    <p:sldId id="739" r:id="rId39"/>
    <p:sldId id="740" r:id="rId40"/>
    <p:sldId id="741" r:id="rId41"/>
    <p:sldId id="742" r:id="rId42"/>
    <p:sldId id="743" r:id="rId43"/>
    <p:sldId id="396" r:id="rId44"/>
    <p:sldId id="606" r:id="rId45"/>
    <p:sldId id="607" r:id="rId46"/>
    <p:sldId id="610" r:id="rId47"/>
    <p:sldId id="608" r:id="rId48"/>
    <p:sldId id="609" r:id="rId49"/>
    <p:sldId id="611" r:id="rId50"/>
    <p:sldId id="612" r:id="rId51"/>
    <p:sldId id="613" r:id="rId52"/>
    <p:sldId id="614" r:id="rId53"/>
    <p:sldId id="615" r:id="rId54"/>
    <p:sldId id="616" r:id="rId55"/>
    <p:sldId id="617" r:id="rId56"/>
    <p:sldId id="618" r:id="rId57"/>
    <p:sldId id="619" r:id="rId58"/>
    <p:sldId id="620" r:id="rId59"/>
    <p:sldId id="621" r:id="rId60"/>
    <p:sldId id="622" r:id="rId61"/>
    <p:sldId id="623" r:id="rId62"/>
    <p:sldId id="624" r:id="rId63"/>
    <p:sldId id="625" r:id="rId64"/>
    <p:sldId id="626" r:id="rId65"/>
    <p:sldId id="627" r:id="rId66"/>
    <p:sldId id="628" r:id="rId67"/>
    <p:sldId id="629" r:id="rId68"/>
    <p:sldId id="630" r:id="rId69"/>
    <p:sldId id="631" r:id="rId70"/>
    <p:sldId id="633" r:id="rId71"/>
    <p:sldId id="635" r:id="rId72"/>
    <p:sldId id="636" r:id="rId73"/>
    <p:sldId id="637" r:id="rId74"/>
    <p:sldId id="638" r:id="rId75"/>
    <p:sldId id="639" r:id="rId76"/>
    <p:sldId id="640" r:id="rId77"/>
    <p:sldId id="641" r:id="rId78"/>
    <p:sldId id="642" r:id="rId79"/>
    <p:sldId id="643" r:id="rId80"/>
    <p:sldId id="644" r:id="rId81"/>
    <p:sldId id="645" r:id="rId82"/>
    <p:sldId id="939" r:id="rId83"/>
    <p:sldId id="646" r:id="rId84"/>
    <p:sldId id="647" r:id="rId85"/>
    <p:sldId id="648" r:id="rId86"/>
    <p:sldId id="649" r:id="rId87"/>
    <p:sldId id="650" r:id="rId88"/>
    <p:sldId id="651" r:id="rId89"/>
    <p:sldId id="652" r:id="rId90"/>
    <p:sldId id="653" r:id="rId91"/>
    <p:sldId id="654" r:id="rId92"/>
    <p:sldId id="655" r:id="rId93"/>
    <p:sldId id="656" r:id="rId94"/>
    <p:sldId id="657" r:id="rId95"/>
    <p:sldId id="658" r:id="rId96"/>
    <p:sldId id="659" r:id="rId97"/>
    <p:sldId id="660" r:id="rId98"/>
    <p:sldId id="661" r:id="rId99"/>
    <p:sldId id="662" r:id="rId100"/>
    <p:sldId id="663" r:id="rId101"/>
    <p:sldId id="664" r:id="rId102"/>
    <p:sldId id="665" r:id="rId103"/>
    <p:sldId id="666" r:id="rId104"/>
    <p:sldId id="667" r:id="rId105"/>
    <p:sldId id="668" r:id="rId106"/>
    <p:sldId id="940" r:id="rId107"/>
    <p:sldId id="941" r:id="rId108"/>
    <p:sldId id="844" r:id="rId109"/>
    <p:sldId id="845" r:id="rId110"/>
    <p:sldId id="846" r:id="rId111"/>
    <p:sldId id="847" r:id="rId112"/>
    <p:sldId id="848" r:id="rId113"/>
    <p:sldId id="878" r:id="rId114"/>
    <p:sldId id="879" r:id="rId115"/>
    <p:sldId id="851" r:id="rId116"/>
    <p:sldId id="852" r:id="rId117"/>
    <p:sldId id="880" r:id="rId118"/>
    <p:sldId id="854" r:id="rId119"/>
    <p:sldId id="855" r:id="rId120"/>
    <p:sldId id="856" r:id="rId121"/>
    <p:sldId id="857" r:id="rId122"/>
    <p:sldId id="858" r:id="rId123"/>
    <p:sldId id="859" r:id="rId124"/>
    <p:sldId id="860" r:id="rId125"/>
    <p:sldId id="861" r:id="rId126"/>
    <p:sldId id="862" r:id="rId127"/>
    <p:sldId id="863" r:id="rId128"/>
    <p:sldId id="867" r:id="rId129"/>
    <p:sldId id="868" r:id="rId130"/>
    <p:sldId id="869" r:id="rId131"/>
    <p:sldId id="870" r:id="rId132"/>
    <p:sldId id="871" r:id="rId133"/>
    <p:sldId id="872" r:id="rId134"/>
    <p:sldId id="873" r:id="rId135"/>
    <p:sldId id="874" r:id="rId136"/>
    <p:sldId id="864" r:id="rId137"/>
    <p:sldId id="865" r:id="rId138"/>
    <p:sldId id="866" r:id="rId139"/>
    <p:sldId id="875" r:id="rId140"/>
    <p:sldId id="942" r:id="rId14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0305" autoAdjust="0"/>
  </p:normalViewPr>
  <p:slideViewPr>
    <p:cSldViewPr snapToGrid="0">
      <p:cViewPr varScale="1">
        <p:scale>
          <a:sx n="59" d="100"/>
          <a:sy n="59" d="100"/>
        </p:scale>
        <p:origin x="7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4" Type="http://schemas.openxmlformats.org/officeDocument/2006/relationships/tableStyles" Target="tableStyles.xml"/><Relationship Id="rId143" Type="http://schemas.openxmlformats.org/officeDocument/2006/relationships/viewProps" Target="viewProps.xml"/><Relationship Id="rId142" Type="http://schemas.openxmlformats.org/officeDocument/2006/relationships/presProps" Target="presProps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6.wmf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png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36.vml.rels><?xml version="1.0" encoding="UTF-8" standalone="yes"?>
<Relationships xmlns="http://schemas.openxmlformats.org/package/2006/relationships"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png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image" Target="../media/image83.png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png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59.vml.rels><?xml version="1.0" encoding="UTF-8" standalone="yes"?>
<Relationships xmlns="http://schemas.openxmlformats.org/package/2006/relationships"><Relationship Id="rId4" Type="http://schemas.openxmlformats.org/officeDocument/2006/relationships/image" Target="../media/image95.wmf"/><Relationship Id="rId3" Type="http://schemas.openxmlformats.org/officeDocument/2006/relationships/image" Target="../media/image94.png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drawings/_rels/vmlDrawing6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1.png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6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6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6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7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7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7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8.wmf"/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w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7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e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8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Times New Roman" panose="02020503050405090304" pitchFamily="18" charset="0"/>
              </a:rPr>
              <a:t>分别取</a:t>
            </a:r>
            <a:r>
              <a:rPr lang="en-US" altLang="zh-CN" sz="1200" dirty="0">
                <a:latin typeface="Times New Roman" panose="02020503050405090304" pitchFamily="18" charset="0"/>
              </a:rPr>
              <a:t>1</a:t>
            </a:r>
            <a:r>
              <a:rPr lang="zh-CN" altLang="en-US" sz="1200" dirty="0">
                <a:latin typeface="Times New Roman" panose="02020503050405090304" pitchFamily="18" charset="0"/>
              </a:rPr>
              <a:t>，</a:t>
            </a:r>
            <a:r>
              <a:rPr lang="en-US" altLang="zh-CN" sz="1200" dirty="0">
                <a:latin typeface="Times New Roman" panose="02020503050405090304" pitchFamily="18" charset="0"/>
              </a:rPr>
              <a:t>4</a:t>
            </a:r>
            <a:r>
              <a:rPr lang="zh-CN" altLang="en-US" sz="1200" dirty="0">
                <a:latin typeface="Times New Roman" panose="02020503050405090304" pitchFamily="18" charset="0"/>
              </a:rPr>
              <a:t>与</a:t>
            </a:r>
            <a:r>
              <a:rPr lang="en-US" altLang="zh-CN" sz="1200" dirty="0">
                <a:latin typeface="Times New Roman" panose="02020503050405090304" pitchFamily="18" charset="0"/>
              </a:rPr>
              <a:t>1</a:t>
            </a:r>
            <a:r>
              <a:rPr lang="zh-CN" altLang="en-US" sz="1200" dirty="0">
                <a:latin typeface="Times New Roman" panose="02020503050405090304" pitchFamily="18" charset="0"/>
              </a:rPr>
              <a:t>，</a:t>
            </a:r>
            <a:r>
              <a:rPr lang="en-US" altLang="zh-CN" sz="1200" dirty="0">
                <a:latin typeface="Times New Roman" panose="02020503050405090304" pitchFamily="18" charset="0"/>
              </a:rPr>
              <a:t>11</a:t>
            </a:r>
            <a:r>
              <a:rPr lang="zh-CN" altLang="en-US" sz="1200" dirty="0">
                <a:latin typeface="Times New Roman" panose="02020503050405090304" pitchFamily="18" charset="0"/>
              </a:rPr>
              <a:t>的类内离差平方和为</a:t>
            </a:r>
            <a:endParaRPr lang="en-US" altLang="zh-CN" sz="1200" dirty="0">
              <a:latin typeface="Times New Roman" panose="02020503050405090304" pitchFamily="18" charset="0"/>
            </a:endParaRPr>
          </a:p>
          <a:p>
            <a:r>
              <a:rPr lang="en-US" altLang="zh-CN" sz="1200" dirty="0">
                <a:latin typeface="Times New Roman" panose="02020503050405090304" pitchFamily="18" charset="0"/>
              </a:rPr>
              <a:t>0+2.75^2+1.75^2+0.25^2+4.25^2=115/4</a:t>
            </a:r>
            <a:endParaRPr lang="en-US" altLang="zh-CN" sz="1200" dirty="0">
              <a:latin typeface="Times New Roman" panose="02020503050405090304" pitchFamily="18" charset="0"/>
            </a:endParaRPr>
          </a:p>
          <a:p>
            <a:r>
              <a:rPr lang="en-US" altLang="zh-CN" dirty="0"/>
              <a:t>(7/3)^2+(2/3)^2+(5/3)^2+4+4=50/3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11286047" y="5948624"/>
            <a:ext cx="884255" cy="909376"/>
          </a:xfrm>
          <a:custGeom>
            <a:avLst/>
            <a:gdLst>
              <a:gd name="connsiteX0" fmla="*/ 346668 w 884255"/>
              <a:gd name="connsiteY0" fmla="*/ 0 h 909376"/>
              <a:gd name="connsiteX1" fmla="*/ 884255 w 884255"/>
              <a:gd name="connsiteY1" fmla="*/ 537587 h 909376"/>
              <a:gd name="connsiteX2" fmla="*/ 792444 w 884255"/>
              <a:gd name="connsiteY2" fmla="*/ 838157 h 909376"/>
              <a:gd name="connsiteX3" fmla="*/ 733683 w 884255"/>
              <a:gd name="connsiteY3" fmla="*/ 909376 h 909376"/>
              <a:gd name="connsiteX4" fmla="*/ 0 w 884255"/>
              <a:gd name="connsiteY4" fmla="*/ 909376 h 909376"/>
              <a:gd name="connsiteX5" fmla="*/ 0 w 884255"/>
              <a:gd name="connsiteY5" fmla="*/ 129846 h 909376"/>
              <a:gd name="connsiteX6" fmla="*/ 46098 w 884255"/>
              <a:gd name="connsiteY6" fmla="*/ 91812 h 909376"/>
              <a:gd name="connsiteX7" fmla="*/ 346668 w 884255"/>
              <a:gd name="connsiteY7" fmla="*/ 0 h 90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4255" h="909376">
                <a:moveTo>
                  <a:pt x="346668" y="0"/>
                </a:moveTo>
                <a:cubicBezTo>
                  <a:pt x="643569" y="0"/>
                  <a:pt x="884255" y="240686"/>
                  <a:pt x="884255" y="537587"/>
                </a:cubicBezTo>
                <a:cubicBezTo>
                  <a:pt x="884255" y="648925"/>
                  <a:pt x="850409" y="752358"/>
                  <a:pt x="792444" y="838157"/>
                </a:cubicBezTo>
                <a:lnTo>
                  <a:pt x="733683" y="909376"/>
                </a:lnTo>
                <a:lnTo>
                  <a:pt x="0" y="909376"/>
                </a:lnTo>
                <a:lnTo>
                  <a:pt x="0" y="129846"/>
                </a:lnTo>
                <a:lnTo>
                  <a:pt x="46098" y="91812"/>
                </a:lnTo>
                <a:cubicBezTo>
                  <a:pt x="131897" y="33847"/>
                  <a:pt x="235330" y="0"/>
                  <a:pt x="3466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65100" dist="38100" dir="2700000" algn="tl" rotWithShape="0">
              <a:srgbClr val="2B579A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10200090" y="5551714"/>
            <a:ext cx="1306287" cy="1306286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11286047" y="5084467"/>
            <a:ext cx="63304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 flipH="1">
            <a:off x="8941166" y="594862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9172527" y="4877188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8887483" y="5502246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10716845" y="5326364"/>
            <a:ext cx="225351" cy="22535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1682959" y="4262913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9909794" y="4488264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9899377" y="539224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336061"/>
            <a:ext cx="9144000" cy="120032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8465"/>
            <a:ext cx="9144000" cy="53553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1087573" y="1247412"/>
            <a:ext cx="66502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205154" y="256009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215431" y="1328679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2097125" y="663705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725877" y="1804831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1237742" y="31469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25877" y="1041698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1131651" y="66370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065127" y="1899138"/>
            <a:ext cx="2471896" cy="2471896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1406771" y="2240783"/>
            <a:ext cx="1788607" cy="17886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37023" y="3155182"/>
            <a:ext cx="6450480" cy="0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570805" y="5051810"/>
            <a:ext cx="221064" cy="2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椭圆 10"/>
          <p:cNvSpPr/>
          <p:nvPr/>
        </p:nvSpPr>
        <p:spPr>
          <a:xfrm>
            <a:off x="1577694" y="4557767"/>
            <a:ext cx="309823" cy="3098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椭圆 11"/>
          <p:cNvSpPr/>
          <p:nvPr/>
        </p:nvSpPr>
        <p:spPr>
          <a:xfrm>
            <a:off x="1848999" y="6108561"/>
            <a:ext cx="221064" cy="2210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/>
        </p:nvSpPr>
        <p:spPr>
          <a:xfrm>
            <a:off x="2791869" y="5716676"/>
            <a:ext cx="147376" cy="1473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/>
        </p:nvSpPr>
        <p:spPr>
          <a:xfrm>
            <a:off x="2359791" y="4068746"/>
            <a:ext cx="147376" cy="1473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11331" y="2149466"/>
            <a:ext cx="6223772" cy="97872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11331" y="3231383"/>
            <a:ext cx="6220880" cy="53553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15022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5889" y="2302403"/>
            <a:ext cx="10515600" cy="1569660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96603" y="365125"/>
            <a:ext cx="95719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9445668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3.xml"/><Relationship Id="rId17" Type="http://schemas.openxmlformats.org/officeDocument/2006/relationships/tags" Target="../tags/tag2.xml"/><Relationship Id="rId16" Type="http://schemas.openxmlformats.org/officeDocument/2006/relationships/tags" Target="../tags/tag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10800000">
            <a:off x="46587" y="5707287"/>
            <a:ext cx="1430939" cy="1085390"/>
            <a:chOff x="46587" y="5707287"/>
            <a:chExt cx="1430938" cy="1085390"/>
          </a:xfrm>
        </p:grpSpPr>
        <p:sp>
          <p:nvSpPr>
            <p:cNvPr id="8" name="椭圆 7"/>
            <p:cNvSpPr/>
            <p:nvPr/>
          </p:nvSpPr>
          <p:spPr>
            <a:xfrm>
              <a:off x="649487" y="6446845"/>
              <a:ext cx="345832" cy="345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>
              <a:off x="966734" y="5707287"/>
              <a:ext cx="510791" cy="510791"/>
            </a:xfrm>
            <a:prstGeom prst="ellipse">
              <a:avLst/>
            </a:pr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/>
            <p:nvPr/>
          </p:nvSpPr>
          <p:spPr>
            <a:xfrm>
              <a:off x="46587" y="6234989"/>
              <a:ext cx="221063" cy="2210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7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61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png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png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png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png"/><Relationship Id="rId1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png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2.png"/><Relationship Id="rId1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png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png"/><Relationship Id="rId1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1" Type="http://schemas.openxmlformats.org/officeDocument/2006/relationships/oleObject" Target="../embeddings/oleObject1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oleObject" Target="../embeddings/oleObject18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oleObject" Target="../embeddings/oleObject20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1" Type="http://schemas.openxmlformats.org/officeDocument/2006/relationships/oleObject" Target="../embeddings/oleObject21.bin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6.xml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png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3.png"/><Relationship Id="rId1" Type="http://schemas.openxmlformats.org/officeDocument/2006/relationships/oleObject" Target="../embeddings/oleObject22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1" Type="http://schemas.openxmlformats.org/officeDocument/2006/relationships/oleObject" Target="../embeddings/oleObject25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oleObject" Target="../embeddings/oleObject26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oleObject" Target="../embeddings/oleObject27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1" Type="http://schemas.openxmlformats.org/officeDocument/2006/relationships/oleObject" Target="../embeddings/oleObject28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oleObject" Target="../embeddings/oleObject29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2.png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1.png"/><Relationship Id="rId1" Type="http://schemas.openxmlformats.org/officeDocument/2006/relationships/oleObject" Target="../embeddings/oleObject3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4.png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3.png"/><Relationship Id="rId1" Type="http://schemas.openxmlformats.org/officeDocument/2006/relationships/oleObject" Target="../embeddings/oleObject3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7.png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6.png"/><Relationship Id="rId1" Type="http://schemas.openxmlformats.org/officeDocument/2006/relationships/oleObject" Target="../embeddings/oleObject35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0.png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9.png"/><Relationship Id="rId1" Type="http://schemas.openxmlformats.org/officeDocument/2006/relationships/oleObject" Target="../embeddings/oleObject38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1" Type="http://schemas.openxmlformats.org/officeDocument/2006/relationships/oleObject" Target="../embeddings/oleObject40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1" Type="http://schemas.openxmlformats.org/officeDocument/2006/relationships/oleObject" Target="../embeddings/oleObject41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1" Type="http://schemas.openxmlformats.org/officeDocument/2006/relationships/oleObject" Target="../embeddings/oleObject42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oleObject" Target="../embeddings/oleObject43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1" Type="http://schemas.openxmlformats.org/officeDocument/2006/relationships/oleObject" Target="../embeddings/oleObject44.bin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1" Type="http://schemas.openxmlformats.org/officeDocument/2006/relationships/oleObject" Target="../embeddings/oleObject45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7.png"/><Relationship Id="rId1" Type="http://schemas.openxmlformats.org/officeDocument/2006/relationships/oleObject" Target="../embeddings/oleObject46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47.bin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49.bin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2.e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50.bin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2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5.wmf"/><Relationship Id="rId1" Type="http://schemas.openxmlformats.org/officeDocument/2006/relationships/oleObject" Target="../embeddings/oleObject54.bin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6.wmf"/><Relationship Id="rId1" Type="http://schemas.openxmlformats.org/officeDocument/2006/relationships/oleObject" Target="../embeddings/oleObject55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0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7.wmf"/><Relationship Id="rId10" Type="http://schemas.openxmlformats.org/officeDocument/2006/relationships/vmlDrawing" Target="../drawings/vmlDrawing36.vml"/><Relationship Id="rId1" Type="http://schemas.openxmlformats.org/officeDocument/2006/relationships/oleObject" Target="../embeddings/oleObject56.bin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60.bin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2.wmf"/><Relationship Id="rId1" Type="http://schemas.openxmlformats.org/officeDocument/2006/relationships/oleObject" Target="../embeddings/oleObject61.bin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62.bin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emf"/><Relationship Id="rId1" Type="http://schemas.openxmlformats.org/officeDocument/2006/relationships/oleObject" Target="../embeddings/oleObject63.bin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wmf"/><Relationship Id="rId1" Type="http://schemas.openxmlformats.org/officeDocument/2006/relationships/oleObject" Target="../embeddings/oleObject64.bin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66.wmf"/><Relationship Id="rId1" Type="http://schemas.openxmlformats.org/officeDocument/2006/relationships/oleObject" Target="../embeddings/oleObject65.bin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3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9.wmf"/><Relationship Id="rId2" Type="http://schemas.openxmlformats.org/officeDocument/2006/relationships/oleObject" Target="../embeddings/oleObject67.bin"/><Relationship Id="rId1" Type="http://schemas.openxmlformats.org/officeDocument/2006/relationships/image" Target="../media/image68.png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70.wmf"/><Relationship Id="rId1" Type="http://schemas.openxmlformats.org/officeDocument/2006/relationships/oleObject" Target="../embeddings/oleObject68.bin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wmf"/><Relationship Id="rId1" Type="http://schemas.openxmlformats.org/officeDocument/2006/relationships/oleObject" Target="../embeddings/oleObject70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6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4.wmf"/><Relationship Id="rId1" Type="http://schemas.openxmlformats.org/officeDocument/2006/relationships/oleObject" Target="../embeddings/oleObject71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7.v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79.wmf"/><Relationship Id="rId6" Type="http://schemas.openxmlformats.org/officeDocument/2006/relationships/oleObject" Target="../embeddings/oleObject75.bin"/><Relationship Id="rId5" Type="http://schemas.openxmlformats.org/officeDocument/2006/relationships/image" Target="../media/image78.png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6.wmf"/><Relationship Id="rId1" Type="http://schemas.openxmlformats.org/officeDocument/2006/relationships/oleObject" Target="../embeddings/oleObject73.bin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0.wmf"/><Relationship Id="rId1" Type="http://schemas.openxmlformats.org/officeDocument/2006/relationships/oleObject" Target="../embeddings/oleObject76.bin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1.wmf"/><Relationship Id="rId1" Type="http://schemas.openxmlformats.org/officeDocument/2006/relationships/oleObject" Target="../embeddings/oleObject77.bin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1" Type="http://schemas.openxmlformats.org/officeDocument/2006/relationships/oleObject" Target="../embeddings/oleObject78.bin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png"/><Relationship Id="rId3" Type="http://schemas.openxmlformats.org/officeDocument/2006/relationships/oleObject" Target="../embeddings/oleObject80.bin"/><Relationship Id="rId2" Type="http://schemas.openxmlformats.org/officeDocument/2006/relationships/image" Target="../media/image83.png"/><Relationship Id="rId1" Type="http://schemas.openxmlformats.org/officeDocument/2006/relationships/oleObject" Target="../embeddings/oleObject79.bin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4.wmf"/><Relationship Id="rId1" Type="http://schemas.openxmlformats.org/officeDocument/2006/relationships/oleObject" Target="../embeddings/oleObject81.bin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1" Type="http://schemas.openxmlformats.org/officeDocument/2006/relationships/oleObject" Target="../embeddings/oleObject82.bin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6.wmf"/><Relationship Id="rId1" Type="http://schemas.openxmlformats.org/officeDocument/2006/relationships/oleObject" Target="../embeddings/oleObject83.bin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1.png"/><Relationship Id="rId1" Type="http://schemas.openxmlformats.org/officeDocument/2006/relationships/oleObject" Target="../embeddings/oleObject84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7.wmf"/><Relationship Id="rId1" Type="http://schemas.openxmlformats.org/officeDocument/2006/relationships/oleObject" Target="../embeddings/oleObject85.bin"/></Relationships>
</file>

<file path=ppt/slides/_rels/slide9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9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86.bin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1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90.wmf"/><Relationship Id="rId1" Type="http://schemas.openxmlformats.org/officeDocument/2006/relationships/oleObject" Target="../embeddings/oleObject88.bin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4.png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92.wmf"/><Relationship Id="rId10" Type="http://schemas.openxmlformats.org/officeDocument/2006/relationships/vmlDrawing" Target="../drawings/vmlDrawing59.vml"/><Relationship Id="rId1" Type="http://schemas.openxmlformats.org/officeDocument/2006/relationships/oleObject" Target="../embeddings/oleObject90.bin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6.wmf"/><Relationship Id="rId1" Type="http://schemas.openxmlformats.org/officeDocument/2006/relationships/oleObject" Target="../embeddings/oleObject94.bin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1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8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7.wmf"/><Relationship Id="rId1" Type="http://schemas.openxmlformats.org/officeDocument/2006/relationships/oleObject" Target="../embeddings/oleObject95.bin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9.wmf"/><Relationship Id="rId1" Type="http://schemas.openxmlformats.org/officeDocument/2006/relationships/oleObject" Target="../embeddings/oleObject97.bin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wmf"/><Relationship Id="rId1" Type="http://schemas.openxmlformats.org/officeDocument/2006/relationships/oleObject" Target="../embeddings/oleObject98.bin"/></Relationships>
</file>

<file path=ppt/slides/_rels/slide10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2.png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101.png"/><Relationship Id="rId1" Type="http://schemas.openxmlformats.org/officeDocument/2006/relationships/oleObject" Target="../embeddings/oleObject99.bin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108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105.wmf"/><Relationship Id="rId16" Type="http://schemas.openxmlformats.org/officeDocument/2006/relationships/vmlDrawing" Target="../drawings/vmlDrawing65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1.png"/><Relationship Id="rId13" Type="http://schemas.openxmlformats.org/officeDocument/2006/relationships/oleObject" Target="../embeddings/oleObject107.bin"/><Relationship Id="rId12" Type="http://schemas.openxmlformats.org/officeDocument/2006/relationships/image" Target="../media/image110.w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109.wmf"/><Relationship Id="rId1" Type="http://schemas.openxmlformats.org/officeDocument/2006/relationships/oleObject" Target="../embeddings/oleObject101.bin"/></Relationships>
</file>

<file path=ppt/slides/_rels/slide1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6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12.wmf"/><Relationship Id="rId1" Type="http://schemas.openxmlformats.org/officeDocument/2006/relationships/oleObject" Target="../embeddings/oleObject108.bin"/></Relationships>
</file>

<file path=ppt/slides/_rels/slide1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6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14.wmf"/><Relationship Id="rId1" Type="http://schemas.openxmlformats.org/officeDocument/2006/relationships/oleObject" Target="../embeddings/oleObject110.bin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12.bin"/></Relationships>
</file>

<file path=ppt/slides/_rels/slide1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18.wmf"/><Relationship Id="rId14" Type="http://schemas.openxmlformats.org/officeDocument/2006/relationships/vmlDrawing" Target="../drawings/vmlDrawing6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14.bin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24.wmf"/><Relationship Id="rId10" Type="http://schemas.openxmlformats.org/officeDocument/2006/relationships/vmlDrawing" Target="../drawings/vmlDrawing70.vml"/><Relationship Id="rId1" Type="http://schemas.openxmlformats.org/officeDocument/2006/relationships/oleObject" Target="../embeddings/oleObject120.bin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24.bin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29.wmf"/><Relationship Id="rId1" Type="http://schemas.openxmlformats.org/officeDocument/2006/relationships/oleObject" Target="../embeddings/oleObject125.bin"/></Relationships>
</file>

<file path=ppt/slides/_rels/slide1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32.wmf"/><Relationship Id="rId1" Type="http://schemas.openxmlformats.org/officeDocument/2006/relationships/oleObject" Target="../embeddings/oleObject128.bin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34.wmf"/><Relationship Id="rId12" Type="http://schemas.openxmlformats.org/officeDocument/2006/relationships/vmlDrawing" Target="../drawings/vmlDrawing7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38.wmf"/><Relationship Id="rId1" Type="http://schemas.openxmlformats.org/officeDocument/2006/relationships/oleObject" Target="../embeddings/oleObject130.bin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9.wmf"/><Relationship Id="rId1" Type="http://schemas.openxmlformats.org/officeDocument/2006/relationships/oleObject" Target="../embeddings/oleObject135.bin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1.png"/><Relationship Id="rId2" Type="http://schemas.openxmlformats.org/officeDocument/2006/relationships/image" Target="../media/image140.wmf"/><Relationship Id="rId1" Type="http://schemas.openxmlformats.org/officeDocument/2006/relationships/oleObject" Target="../embeddings/oleObject136.bin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7.v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42.wmf"/><Relationship Id="rId1" Type="http://schemas.openxmlformats.org/officeDocument/2006/relationships/oleObject" Target="../embeddings/oleObject137.bin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8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6.wmf"/><Relationship Id="rId3" Type="http://schemas.openxmlformats.org/officeDocument/2006/relationships/oleObject" Target="../embeddings/oleObject141.bin"/><Relationship Id="rId2" Type="http://schemas.openxmlformats.org/officeDocument/2006/relationships/image" Target="../media/image145.wmf"/><Relationship Id="rId1" Type="http://schemas.openxmlformats.org/officeDocument/2006/relationships/oleObject" Target="../embeddings/oleObject140.bin"/></Relationships>
</file>

<file path=ppt/slides/_rels/slide1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7.emf"/><Relationship Id="rId1" Type="http://schemas.openxmlformats.org/officeDocument/2006/relationships/oleObject" Target="../embeddings/oleObject142.bin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44.bin"/><Relationship Id="rId2" Type="http://schemas.openxmlformats.org/officeDocument/2006/relationships/image" Target="../media/image148.wmf"/><Relationship Id="rId1" Type="http://schemas.openxmlformats.org/officeDocument/2006/relationships/oleObject" Target="../embeddings/oleObject143.bin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51.wmf"/><Relationship Id="rId1" Type="http://schemas.openxmlformats.org/officeDocument/2006/relationships/oleObject" Target="../embeddings/oleObject146.bin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2.v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54.wmf"/><Relationship Id="rId1" Type="http://schemas.openxmlformats.org/officeDocument/2006/relationships/oleObject" Target="../embeddings/oleObject149.bin"/></Relationships>
</file>

<file path=ppt/slides/_rels/slide1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image" Target="../media/image157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/>
          </p:cNvSpPr>
          <p:nvPr>
            <p:ph type="ctrTitle"/>
          </p:nvPr>
        </p:nvSpPr>
        <p:spPr>
          <a:xfrm>
            <a:off x="2514600" y="914400"/>
            <a:ext cx="7162800" cy="1167063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kumimoji="1" lang="zh-CN" altLang="en-US" b="1" dirty="0">
                <a:latin typeface="宋体" pitchFamily="2" charset="-122"/>
                <a:ea typeface="+mj-ea"/>
                <a:cs typeface="+mj-cs"/>
              </a:rPr>
              <a:t>第</a:t>
            </a:r>
            <a:r>
              <a:rPr kumimoji="1" lang="zh-CN" altLang="en-US" dirty="0">
                <a:latin typeface="宋体" pitchFamily="2" charset="-122"/>
              </a:rPr>
              <a:t>五</a:t>
            </a:r>
            <a:r>
              <a:rPr kumimoji="1" lang="zh-CN" altLang="en-US" b="1" dirty="0">
                <a:latin typeface="宋体" pitchFamily="2" charset="-122"/>
                <a:ea typeface="+mj-ea"/>
                <a:cs typeface="+mj-cs"/>
              </a:rPr>
              <a:t>章 聚类分析</a:t>
            </a:r>
            <a:endParaRPr kumimoji="1" lang="zh-CN" altLang="en-US" b="1" dirty="0">
              <a:latin typeface="宋体" pitchFamily="2" charset="-122"/>
              <a:ea typeface="+mj-ea"/>
              <a:cs typeface="+mj-cs"/>
            </a:endParaRPr>
          </a:p>
        </p:txBody>
      </p:sp>
      <p:sp>
        <p:nvSpPr>
          <p:cNvPr id="81922" name="Rectangle 16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solidFill>
                  <a:schemeClr val="bg2"/>
                </a:solidFill>
              </a:rPr>
            </a:fld>
            <a:endParaRPr lang="en-US" altLang="zh-CN" sz="1400" dirty="0">
              <a:solidFill>
                <a:schemeClr val="bg2"/>
              </a:solidFill>
            </a:endParaRPr>
          </a:p>
        </p:txBody>
      </p:sp>
      <p:sp>
        <p:nvSpPr>
          <p:cNvPr id="2" name="Text Box 1027"/>
          <p:cNvSpPr txBox="1"/>
          <p:nvPr/>
        </p:nvSpPr>
        <p:spPr>
          <a:xfrm>
            <a:off x="1936373" y="2273975"/>
            <a:ext cx="609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Tahoma" panose="020B0604030504040204" pitchFamily="34" charset="0"/>
              </a:rPr>
              <a:t>课程内容</a:t>
            </a:r>
            <a:endParaRPr lang="zh-CN" altLang="en-US" sz="3600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" name="Rectangle 1028"/>
          <p:cNvSpPr/>
          <p:nvPr/>
        </p:nvSpPr>
        <p:spPr>
          <a:xfrm>
            <a:off x="1899861" y="2956176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聚类分析的基本思想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相似性度量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系统聚类法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动态聚类</a:t>
            </a:r>
            <a:endParaRPr lang="en-US" altLang="zh-CN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Tahoma" panose="020B0604030504040204" pitchFamily="34" charset="0"/>
              </a:rPr>
              <a:t>//</a:t>
            </a:r>
            <a:r>
              <a:rPr lang="zh-CN" altLang="en-US" sz="3200" dirty="0">
                <a:latin typeface="Tahoma" panose="020B0604030504040204" pitchFamily="34" charset="0"/>
              </a:rPr>
              <a:t>有序样品的聚类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en-US" altLang="zh-CN" sz="3200" dirty="0">
              <a:latin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13233" y="2420471"/>
            <a:ext cx="3442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作业：</a:t>
            </a:r>
            <a:r>
              <a:rPr lang="en-US" altLang="zh-CN" sz="2400" dirty="0"/>
              <a:t>6-2</a:t>
            </a:r>
            <a:r>
              <a:rPr lang="zh-CN" altLang="en-US" sz="2400" dirty="0"/>
              <a:t>，</a:t>
            </a:r>
            <a:r>
              <a:rPr lang="en-US" altLang="zh-CN" sz="2400" dirty="0"/>
              <a:t>6-3</a:t>
            </a:r>
            <a:r>
              <a:rPr lang="zh-CN" altLang="en-US" sz="2400" dirty="0"/>
              <a:t>，</a:t>
            </a:r>
            <a:r>
              <a:rPr lang="en-US" altLang="zh-CN" sz="2400" dirty="0"/>
              <a:t>6-6</a:t>
            </a:r>
            <a:r>
              <a:rPr lang="zh-CN" altLang="en-US" sz="2400" dirty="0"/>
              <a:t>，</a:t>
            </a:r>
            <a:r>
              <a:rPr lang="en-US" altLang="zh-CN" sz="2400" dirty="0"/>
              <a:t>6-7</a:t>
            </a:r>
            <a:r>
              <a:rPr lang="zh-CN" altLang="en-US" sz="2400" dirty="0"/>
              <a:t>，</a:t>
            </a:r>
            <a:r>
              <a:rPr lang="en-US" altLang="zh-CN" sz="2400" dirty="0"/>
              <a:t>6-10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/>
          <p:nvPr/>
        </p:nvSpPr>
        <p:spPr>
          <a:xfrm>
            <a:off x="1145943" y="782715"/>
            <a:ext cx="10160436" cy="45348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聚类分析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又称群分析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它是研究对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样品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指标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分类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的一种多元统计方法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所谓的“类”，通俗地说就是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相似元素的集合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聚类分析是按照观测样品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取值的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相似程度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，对观测样品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进行分类，使在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同一类内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的观测样品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相似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不同类间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的观测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不相似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什么是分类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?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它只不过是将一个观测对象指定到某一类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组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/>
          <p:nvPr/>
        </p:nvSpPr>
        <p:spPr>
          <a:xfrm>
            <a:off x="1035170" y="613410"/>
            <a:ext cx="10291313" cy="50082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分类的问题可以分成两种</a:t>
            </a:r>
            <a:r>
              <a:rPr lang="zh-CN" altLang="zh-CN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zh-CN" altLang="zh-CN" sz="24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一种是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聚类分析。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事先不知道研究的问题应分为几类，更不知道观测到的个体的具体分类情况。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聚类分析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所要解决的问题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是：需要通过对观测数据所进行的分析处理，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选定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一种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度量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个体接近程度的量，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确定分类数目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建立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一种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分类方法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，并按亲近程度对观测对象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给出合理的分类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。这种问题在实际中大量存在</a:t>
            </a:r>
            <a:endParaRPr lang="zh-CN" altLang="zh-CN" sz="24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另一种是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判别分析。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对当前所研究的问题已知它的类别数目，且知道各类的特征</a:t>
            </a:r>
            <a:r>
              <a:rPr lang="zh-CN" altLang="zh-CN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如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分布规律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，或知道来自各类的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训练样本</a:t>
            </a:r>
            <a:r>
              <a:rPr lang="zh-CN" altLang="zh-CN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。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判别分析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所要解决的问题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是：要将另一些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未知类别的个体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正确归属于</a:t>
            </a:r>
            <a:r>
              <a:rPr lang="zh-CN" altLang="en-US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其中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+mn-ea"/>
              </a:rPr>
              <a:t>某一类</a:t>
            </a:r>
            <a:endParaRPr lang="zh-CN" altLang="zh-CN" sz="24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/>
          <p:nvPr/>
        </p:nvSpPr>
        <p:spPr>
          <a:xfrm>
            <a:off x="983411" y="1389110"/>
            <a:ext cx="10144664" cy="45348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聚类分析是实用多元统计分析的一个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新的分支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，正处于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发展阶段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理论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上还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很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完善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由于聚类分析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能够解决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许多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实际问题，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很受人们的重视，特别是和其他方法联合起来使用往往效果更好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例如对一批观测对象先用聚类分析进行分类，然后用判别分析的方法建立判别准则，用以对新的观测对象判别归类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7170" name="Rectangle 4"/>
          <p:cNvSpPr>
            <a:spLocks noGrp="1"/>
          </p:cNvSpPr>
          <p:nvPr>
            <p:ph type="title"/>
          </p:nvPr>
        </p:nvSpPr>
        <p:spPr>
          <a:xfrm>
            <a:off x="1523922" y="622347"/>
            <a:ext cx="5859463" cy="766763"/>
          </a:xfrm>
          <a:noFill/>
          <a:ln>
            <a:noFill/>
          </a:ln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第一节 聚类分析的方法</a:t>
            </a:r>
            <a:endParaRPr lang="zh-CN" altLang="en-US" sz="4000" b="1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/>
          <p:nvPr/>
        </p:nvSpPr>
        <p:spPr>
          <a:xfrm>
            <a:off x="1302589" y="453517"/>
            <a:ext cx="10403456" cy="582749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聚类分析的方法可分为以下几种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(1)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系统聚类法：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开始每个对象自成一类，然后每次将最相似的两类合并，合并后重新计算新类与其他类的距离或相近性测度。这一过程一直继续直到所有对象归为一类为止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(2)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调优法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动态聚类法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：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k-means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(3)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最优分割法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有序样品聚类法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(4)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模糊聚类法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(5)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图论聚类法 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(6)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聚类预报法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/>
          <p:nvPr/>
        </p:nvSpPr>
        <p:spPr>
          <a:xfrm>
            <a:off x="1328469" y="845185"/>
            <a:ext cx="10161916" cy="51811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聚类分析根据分类对象的不同分为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型和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型两大类：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型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是对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指标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进行分类处理，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型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是对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样品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进行分类处理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型聚类分析的目的有以下方面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zh-CN" altLang="zh-CN" sz="2800" dirty="0">
              <a:solidFill>
                <a:srgbClr val="0070C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①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了解变量间及变量组合间的亲疏关系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②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进行分类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③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根据分类结果及它们之间的关系，在每一类中选择有代表性的变量作为典型变量，利用少数几个典型变量进一步作分析计算，如进行回归分析或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型聚类分析等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9218" name="Text Box 4"/>
          <p:cNvSpPr txBox="1"/>
          <p:nvPr/>
        </p:nvSpPr>
        <p:spPr>
          <a:xfrm>
            <a:off x="4371976" y="145098"/>
            <a:ext cx="3775393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聚类分析的目的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/>
          <p:nvPr/>
        </p:nvSpPr>
        <p:spPr>
          <a:xfrm>
            <a:off x="1905001" y="1524001"/>
            <a:ext cx="8397875" cy="38885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对样品进行分类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用不同的分类方法通常会得到不同的分类结果.对任何观测数据都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没有唯一“正确的”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的分类方法.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实际应用中,常采用不同的分类方法,对数据进行分析计算,以便对分类提供意见,并由实际工作者决定所需要的分类数及分类情况.</a:t>
            </a:r>
            <a:endParaRPr lang="zh-CN" altLang="en-US" sz="2800" dirty="0">
              <a:solidFill>
                <a:srgbClr val="0099FF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2323720" y="816115"/>
            <a:ext cx="4687502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Q</a:t>
            </a:r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型聚类分析的目的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3"/>
          <p:cNvSpPr txBox="1"/>
          <p:nvPr/>
        </p:nvSpPr>
        <p:spPr>
          <a:xfrm>
            <a:off x="2259014" y="1844675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1266" name="Text Box 4"/>
          <p:cNvSpPr txBox="1"/>
          <p:nvPr/>
        </p:nvSpPr>
        <p:spPr>
          <a:xfrm>
            <a:off x="2116139" y="1720850"/>
            <a:ext cx="8156575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1267" name="Text Box 5"/>
          <p:cNvSpPr txBox="1"/>
          <p:nvPr/>
        </p:nvSpPr>
        <p:spPr>
          <a:xfrm>
            <a:off x="1509886" y="2521050"/>
            <a:ext cx="9290386" cy="138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如何描述样品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/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变量之间亲疏相似程度？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800" b="0" i="0" u="none" strike="noStrike" baseline="0" dirty="0">
                <a:solidFill>
                  <a:srgbClr val="FF0000"/>
                </a:solidFill>
                <a:latin typeface="Times New Roman" panose="02020503050405090304" pitchFamily="18" charset="0"/>
              </a:rPr>
              <a:t>Q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型聚类：距离（马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氏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距离，闵氏距离，兰氏距离）</a:t>
            </a:r>
            <a:endParaRPr lang="zh-CN" altLang="en-US" sz="2800" b="0" i="0" u="none" strike="noStrike" baseline="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800" b="0" i="0" u="none" strike="noStrike" baseline="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</a:rPr>
              <a:t>R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型聚类：相似系数（相似系数，夹角余弦）</a:t>
            </a:r>
            <a:endParaRPr lang="en-US" altLang="zh-CN" sz="2800" dirty="0">
              <a:solidFill>
                <a:srgbClr val="0070C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1268" name="Text Box 6"/>
          <p:cNvSpPr txBox="1"/>
          <p:nvPr/>
        </p:nvSpPr>
        <p:spPr>
          <a:xfrm>
            <a:off x="3716812" y="746761"/>
            <a:ext cx="5456943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第二节 距离与相似系数</a:t>
            </a:r>
            <a:endParaRPr lang="zh-CN" altLang="en-US" sz="4000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/>
          <p:nvPr/>
        </p:nvSpPr>
        <p:spPr>
          <a:xfrm>
            <a:off x="1509522" y="3754312"/>
            <a:ext cx="8534400" cy="32465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定量变量就是我们通常所说的数值型变量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例如长度、重量、产量、人口、温度等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它们是由测量或计数、统计所得到的量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这类变量具有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数值特征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称为定量变量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endParaRPr lang="zh-CN" altLang="zh-CN" sz="2800" dirty="0">
              <a:solidFill>
                <a:schemeClr val="accent1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4"/>
          <p:cNvSpPr txBox="1"/>
          <p:nvPr/>
        </p:nvSpPr>
        <p:spPr>
          <a:xfrm>
            <a:off x="1920686" y="2457323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292" name="Text Box 5"/>
          <p:cNvSpPr txBox="1"/>
          <p:nvPr/>
        </p:nvSpPr>
        <p:spPr>
          <a:xfrm>
            <a:off x="1509523" y="2262062"/>
            <a:ext cx="8569325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根据变量取值的不同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变量可分为两大类：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定量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定性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属性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09522" y="1534073"/>
            <a:ext cx="8750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不同类型的变量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在定义距离或相似性测度时有很大差异</a:t>
            </a:r>
            <a:endParaRPr lang="zh-CN" altLang="en-US" sz="2800" dirty="0"/>
          </a:p>
        </p:txBody>
      </p:sp>
      <p:sp>
        <p:nvSpPr>
          <p:cNvPr id="5" name="Text Box 4"/>
          <p:cNvSpPr txBox="1"/>
          <p:nvPr/>
        </p:nvSpPr>
        <p:spPr>
          <a:xfrm>
            <a:off x="1920686" y="441546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变量类型</a:t>
            </a:r>
            <a:endParaRPr lang="zh-CN" altLang="en-US" sz="4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/>
          <p:nvPr/>
        </p:nvSpPr>
        <p:spPr>
          <a:xfrm>
            <a:off x="1812926" y="798830"/>
            <a:ext cx="8729345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定性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属性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变量只有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性质上的差异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例如天气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阴、晴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性别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男、女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产品质量分为 上 中 下三个等级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这些变量都是 属性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定性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属性变量又分为名义变量和有序变量二种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6633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1)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有序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其值有明确的逻辑次序，但各个值之间的距离并不清楚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(2)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名义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其值之间无逻辑次序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可按任何次序排序编码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例如性别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职业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地区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,…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都是名义变量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Text Box 4"/>
          <p:cNvSpPr txBox="1"/>
          <p:nvPr/>
        </p:nvSpPr>
        <p:spPr>
          <a:xfrm>
            <a:off x="4383088" y="98425"/>
            <a:ext cx="3624710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定性</a:t>
            </a:r>
            <a:r>
              <a:rPr lang="zh-CN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属性</a:t>
            </a:r>
            <a:r>
              <a:rPr lang="zh-CN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</a:t>
            </a:r>
            <a:endParaRPr lang="zh-CN" altLang="en-US" sz="4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/>
          <p:nvPr/>
        </p:nvSpPr>
        <p:spPr>
          <a:xfrm>
            <a:off x="1502410" y="825501"/>
            <a:ext cx="8936990" cy="130317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设有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个样品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每个样品测得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项指标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得观测数据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通常将数据列成以下表格的形式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4339" name="Text Box 4"/>
          <p:cNvSpPr txBox="1"/>
          <p:nvPr/>
        </p:nvSpPr>
        <p:spPr>
          <a:xfrm>
            <a:off x="3946526" y="3678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1665288" y="2378075"/>
          <a:ext cx="61722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445000" imgH="3225800" progId="">
                  <p:embed/>
                </p:oleObj>
              </mc:Choice>
              <mc:Fallback>
                <p:oleObj name="" r:id="rId1" imgW="4445000" imgH="32258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>
                        <a:lum bright="-26001" contrast="41999"/>
                      </a:blip>
                      <a:stretch>
                        <a:fillRect/>
                      </a:stretch>
                    </p:blipFill>
                    <p:spPr>
                      <a:xfrm>
                        <a:off x="1665288" y="2378075"/>
                        <a:ext cx="6172200" cy="381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6"/>
          <p:cNvSpPr txBox="1"/>
          <p:nvPr/>
        </p:nvSpPr>
        <p:spPr>
          <a:xfrm>
            <a:off x="8518526" y="3221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7924800" y="3367088"/>
          <a:ext cx="2667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997200" imgH="812800" progId="">
                  <p:embed/>
                </p:oleObj>
              </mc:Choice>
              <mc:Fallback>
                <p:oleObj name="" r:id="rId3" imgW="2997200" imgH="812800" progId="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24800" y="3367088"/>
                        <a:ext cx="26670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/>
          <p:cNvSpPr txBox="1"/>
          <p:nvPr/>
        </p:nvSpPr>
        <p:spPr>
          <a:xfrm>
            <a:off x="83661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8077200" y="2662238"/>
          <a:ext cx="2209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1778000" imgH="635000" progId="">
                  <p:embed/>
                </p:oleObj>
              </mc:Choice>
              <mc:Fallback>
                <p:oleObj name="" r:id="rId5" imgW="1778000" imgH="635000" progId="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77200" y="2662238"/>
                        <a:ext cx="22098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"/>
          <p:cNvSpPr txBox="1"/>
          <p:nvPr/>
        </p:nvSpPr>
        <p:spPr>
          <a:xfrm>
            <a:off x="8061326" y="5354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8077200" y="5410200"/>
          <a:ext cx="2362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7" imgW="1930400" imgH="381000" progId="">
                  <p:embed/>
                </p:oleObj>
              </mc:Choice>
              <mc:Fallback>
                <p:oleObj name="" r:id="rId7" imgW="1930400" imgH="381000" progId="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77200" y="5410200"/>
                        <a:ext cx="23622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2"/>
          <p:cNvSpPr txBox="1"/>
          <p:nvPr/>
        </p:nvSpPr>
        <p:spPr>
          <a:xfrm>
            <a:off x="3969831" y="123825"/>
            <a:ext cx="4801314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一、数据的变换方法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031163" y="4643438"/>
          <a:ext cx="24161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32918400" imgH="6705600" progId="Equation.DSMT4">
                  <p:embed/>
                </p:oleObj>
              </mc:Choice>
              <mc:Fallback>
                <p:oleObj name="Equation" r:id="rId9" imgW="32918400" imgH="67056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31163" y="4643438"/>
                        <a:ext cx="2416175" cy="49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1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635500" y="1195388"/>
          <a:ext cx="5827713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60930" imgH="254000" progId="Equation.3">
                  <p:embed/>
                </p:oleObj>
              </mc:Choice>
              <mc:Fallback>
                <p:oleObj name="" r:id="rId1" imgW="2360930" imgH="2540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35500" y="1195388"/>
                        <a:ext cx="5827713" cy="627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/>
          <p:cNvSpPr txBox="1"/>
          <p:nvPr/>
        </p:nvSpPr>
        <p:spPr>
          <a:xfrm>
            <a:off x="1613218" y="855345"/>
            <a:ext cx="8686800" cy="59080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1.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中心化变换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变换后数据的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均值为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，而协差阵不变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2.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标准化变换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变换后的数据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每个变量的</a:t>
            </a:r>
            <a:r>
              <a:rPr lang="zh-CN" altLang="en-US" sz="2800" u="sng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样本均值为</a:t>
            </a:r>
            <a:r>
              <a:rPr lang="zh-CN" altLang="zh-CN" sz="2800" u="sng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0,</a:t>
            </a:r>
            <a:r>
              <a:rPr lang="zh-CN" altLang="en-US" sz="2800" u="sng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标准差为</a:t>
            </a:r>
            <a:r>
              <a:rPr lang="zh-CN" altLang="zh-CN" sz="2800" u="sng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而且标准化变换后的数据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{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1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*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}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与变量的量纲无关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3.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极差标准化变换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变换后的数据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每个变量的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样本均值为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0,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极差为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变换后的数据也是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无量纲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4403726" y="162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5365" name="Text Box 6"/>
          <p:cNvSpPr txBox="1"/>
          <p:nvPr/>
        </p:nvSpPr>
        <p:spPr>
          <a:xfrm>
            <a:off x="46323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4587875" y="2306638"/>
          <a:ext cx="5410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860800" imgH="901700" progId="">
                  <p:embed/>
                </p:oleObj>
              </mc:Choice>
              <mc:Fallback>
                <p:oleObj name="" r:id="rId3" imgW="3860800" imgH="901700" progId="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7875" y="2306638"/>
                        <a:ext cx="54102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/>
          <p:cNvSpPr txBox="1"/>
          <p:nvPr/>
        </p:nvSpPr>
        <p:spPr>
          <a:xfrm>
            <a:off x="5318126" y="5202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5368" name="Text Box 9"/>
          <p:cNvSpPr txBox="1"/>
          <p:nvPr/>
        </p:nvSpPr>
        <p:spPr>
          <a:xfrm>
            <a:off x="2384425" y="3802063"/>
            <a:ext cx="18415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5124120" y="4659255"/>
          <a:ext cx="4602977" cy="894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3835400" imgH="914400" progId="">
                  <p:embed/>
                </p:oleObj>
              </mc:Choice>
              <mc:Fallback>
                <p:oleObj name="" r:id="rId5" imgW="3835400" imgH="914400" progId="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24120" y="4659255"/>
                        <a:ext cx="4602977" cy="8945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1"/>
          <p:cNvSpPr txBox="1"/>
          <p:nvPr/>
        </p:nvSpPr>
        <p:spPr>
          <a:xfrm>
            <a:off x="4153092" y="153670"/>
            <a:ext cx="5229317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一、数据的变换方法   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/>
          <p:nvPr/>
        </p:nvSpPr>
        <p:spPr>
          <a:xfrm>
            <a:off x="1979613" y="1185229"/>
            <a:ext cx="8305800" cy="461581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4.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极差正规化变换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规格化变换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变换后的数据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0≤ </a:t>
            </a:r>
            <a:r>
              <a:rPr lang="zh-CN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120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*</a:t>
            </a:r>
            <a:r>
              <a:rPr lang="zh-CN" altLang="zh-CN" sz="2800" i="1" baseline="-220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≤1;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极差为</a:t>
            </a:r>
            <a:r>
              <a:rPr lang="zh-CN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也是无量纲的量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5.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对数变换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它可将具有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指数特征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的数据结构化为线性数据结构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6386" name="Text Box 4"/>
          <p:cNvSpPr txBox="1"/>
          <p:nvPr/>
        </p:nvSpPr>
        <p:spPr>
          <a:xfrm>
            <a:off x="3717926" y="323627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3489325" y="1941195"/>
          <a:ext cx="5943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356100" imgH="914400" progId="">
                  <p:embed/>
                </p:oleObj>
              </mc:Choice>
              <mc:Fallback>
                <p:oleObj name="" r:id="rId1" imgW="4356100" imgH="9144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9325" y="1941195"/>
                        <a:ext cx="5943600" cy="129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6"/>
          <p:cNvSpPr txBox="1"/>
          <p:nvPr/>
        </p:nvSpPr>
        <p:spPr>
          <a:xfrm>
            <a:off x="4098926" y="437927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4098925" y="3810635"/>
          <a:ext cx="5334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733800" imgH="850900" progId="">
                  <p:embed/>
                </p:oleObj>
              </mc:Choice>
              <mc:Fallback>
                <p:oleObj name="" r:id="rId3" imgW="3733800" imgH="850900" progId="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98925" y="3810635"/>
                        <a:ext cx="5334000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8"/>
          <p:cNvSpPr txBox="1"/>
          <p:nvPr/>
        </p:nvSpPr>
        <p:spPr>
          <a:xfrm>
            <a:off x="4180143" y="123825"/>
            <a:ext cx="4801314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一、数据的变换方法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/>
          <p:nvPr/>
        </p:nvSpPr>
        <p:spPr>
          <a:xfrm>
            <a:off x="1907541" y="1209359"/>
            <a:ext cx="8626475" cy="461581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描述样品间的亲疏程度最常用的是距离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个样品看成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维空间中的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用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表示样品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之间的距离，要求：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①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≥0,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对一切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i,j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=0 &lt;==&gt;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 X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②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对一切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i,j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③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≤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ik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 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对一切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i,j,k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三角不等式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7412" name="AutoShape 4"/>
          <p:cNvSpPr/>
          <p:nvPr/>
        </p:nvSpPr>
        <p:spPr>
          <a:xfrm>
            <a:off x="8534400" y="3505200"/>
            <a:ext cx="1752600" cy="1600200"/>
          </a:xfrm>
          <a:prstGeom prst="rtTriangl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7413" name="Text Box 5"/>
          <p:cNvSpPr txBox="1"/>
          <p:nvPr/>
        </p:nvSpPr>
        <p:spPr>
          <a:xfrm>
            <a:off x="8213725" y="4994275"/>
            <a:ext cx="526106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  <a:ea typeface="宋体" pitchFamily="2" charset="-122"/>
              </a:rPr>
              <a:t>X</a:t>
            </a:r>
            <a:r>
              <a:rPr lang="zh-CN" altLang="zh-CN" b="1" i="1" baseline="-20000" dirty="0">
                <a:latin typeface="Arial" panose="020B0604020202090204" pitchFamily="34" charset="0"/>
                <a:ea typeface="宋体" pitchFamily="2" charset="-122"/>
              </a:rPr>
              <a:t>(k)</a:t>
            </a:r>
            <a:endParaRPr lang="zh-CN" altLang="zh-CN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7414" name="Text Box 6"/>
          <p:cNvSpPr txBox="1"/>
          <p:nvPr/>
        </p:nvSpPr>
        <p:spPr>
          <a:xfrm>
            <a:off x="8305800" y="3048000"/>
            <a:ext cx="484428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  <a:ea typeface="宋体" pitchFamily="2" charset="-122"/>
              </a:rPr>
              <a:t>X</a:t>
            </a:r>
            <a:r>
              <a:rPr lang="zh-CN" altLang="zh-CN" b="1" i="1" baseline="-20000" dirty="0">
                <a:latin typeface="Arial" panose="020B0604020202090204" pitchFamily="34" charset="0"/>
                <a:ea typeface="宋体" pitchFamily="2" charset="-122"/>
              </a:rPr>
              <a:t>(i)</a:t>
            </a:r>
            <a:endParaRPr lang="zh-CN" altLang="zh-CN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7415" name="Text Box 7"/>
          <p:cNvSpPr txBox="1"/>
          <p:nvPr/>
        </p:nvSpPr>
        <p:spPr>
          <a:xfrm>
            <a:off x="10086975" y="5181600"/>
            <a:ext cx="484428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  <a:ea typeface="宋体" pitchFamily="2" charset="-122"/>
              </a:rPr>
              <a:t>X</a:t>
            </a:r>
            <a:r>
              <a:rPr lang="zh-CN" altLang="zh-CN" b="1" i="1" baseline="-20000" dirty="0">
                <a:latin typeface="Arial" panose="020B0604020202090204" pitchFamily="34" charset="0"/>
                <a:ea typeface="宋体" pitchFamily="2" charset="-122"/>
              </a:rPr>
              <a:t>(j)</a:t>
            </a:r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" name="Text Box 8"/>
          <p:cNvSpPr txBox="1"/>
          <p:nvPr/>
        </p:nvSpPr>
        <p:spPr>
          <a:xfrm>
            <a:off x="3907766" y="316865"/>
            <a:ext cx="4431887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二、样品间的距离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/>
          <p:cNvSpPr txBox="1"/>
          <p:nvPr/>
        </p:nvSpPr>
        <p:spPr>
          <a:xfrm>
            <a:off x="1828800" y="1647825"/>
            <a:ext cx="8610600" cy="28931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1.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闵科夫斯基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(Minkowski)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距离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spcBef>
                <a:spcPct val="50000"/>
              </a:spcBef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spcBef>
                <a:spcPct val="50000"/>
              </a:spcBef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时的一阶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Minkowski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度量就称为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绝对值距离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/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曼哈顿距离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8434" name="Text Box 4"/>
          <p:cNvSpPr txBox="1"/>
          <p:nvPr/>
        </p:nvSpPr>
        <p:spPr>
          <a:xfrm>
            <a:off x="2651126" y="2459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438400" y="2277923"/>
          <a:ext cx="7543800" cy="1151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384800" imgH="698500" progId="">
                  <p:embed/>
                </p:oleObj>
              </mc:Choice>
              <mc:Fallback>
                <p:oleObj name="" r:id="rId1" imgW="5384800" imgH="6985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2277923"/>
                        <a:ext cx="7543800" cy="115107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6"/>
          <p:cNvSpPr txBox="1"/>
          <p:nvPr/>
        </p:nvSpPr>
        <p:spPr>
          <a:xfrm>
            <a:off x="3108326" y="3602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1774826" y="4739184"/>
          <a:ext cx="8550275" cy="1217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092700" imgH="660400" progId="">
                  <p:embed/>
                </p:oleObj>
              </mc:Choice>
              <mc:Fallback>
                <p:oleObj name="" r:id="rId3" imgW="5092700" imgH="660400" progId="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4826" y="4739184"/>
                        <a:ext cx="8550275" cy="121711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8"/>
          <p:cNvSpPr txBox="1"/>
          <p:nvPr/>
        </p:nvSpPr>
        <p:spPr>
          <a:xfrm>
            <a:off x="2651126" y="5354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Text Box 9"/>
          <p:cNvSpPr txBox="1"/>
          <p:nvPr/>
        </p:nvSpPr>
        <p:spPr>
          <a:xfrm>
            <a:off x="3940175" y="5810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样品间的距离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/>
          <p:cNvSpPr txBox="1"/>
          <p:nvPr/>
        </p:nvSpPr>
        <p:spPr>
          <a:xfrm>
            <a:off x="1897381" y="4267200"/>
            <a:ext cx="87356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zh-CN" altLang="zh-CN" sz="24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∞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时的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Minkowski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度量称为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切比雪夫距离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9458" name="Text Box 4"/>
          <p:cNvSpPr txBox="1"/>
          <p:nvPr/>
        </p:nvSpPr>
        <p:spPr>
          <a:xfrm>
            <a:off x="2651126" y="2459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3108326" y="3602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9460" name="Text Box 6"/>
          <p:cNvSpPr txBox="1"/>
          <p:nvPr/>
        </p:nvSpPr>
        <p:spPr>
          <a:xfrm>
            <a:off x="2651126" y="5354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9461" name="Text Box 7"/>
          <p:cNvSpPr txBox="1"/>
          <p:nvPr/>
        </p:nvSpPr>
        <p:spPr>
          <a:xfrm>
            <a:off x="2803526" y="1468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2135190" y="2598262"/>
          <a:ext cx="8208962" cy="1229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295900" imgH="736600" progId="">
                  <p:embed/>
                </p:oleObj>
              </mc:Choice>
              <mc:Fallback>
                <p:oleObj name="" r:id="rId1" imgW="5295900" imgH="736600" progId="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5190" y="2598262"/>
                        <a:ext cx="8208962" cy="1229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9"/>
          <p:cNvSpPr txBox="1"/>
          <p:nvPr/>
        </p:nvSpPr>
        <p:spPr>
          <a:xfrm>
            <a:off x="3032126" y="3906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" name="Text Box 10"/>
          <p:cNvSpPr txBox="1"/>
          <p:nvPr/>
        </p:nvSpPr>
        <p:spPr>
          <a:xfrm>
            <a:off x="3565526" y="5202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2135190" y="5197476"/>
          <a:ext cx="81597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5448300" imgH="533400" progId="">
                  <p:embed/>
                </p:oleObj>
              </mc:Choice>
              <mc:Fallback>
                <p:oleObj name="" r:id="rId3" imgW="5448300" imgH="533400" progId="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190" y="5197476"/>
                        <a:ext cx="8159750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Text Box 12"/>
          <p:cNvSpPr txBox="1"/>
          <p:nvPr/>
        </p:nvSpPr>
        <p:spPr>
          <a:xfrm>
            <a:off x="1897064" y="1346201"/>
            <a:ext cx="8397875" cy="122999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=2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时的二阶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Minkowski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度量称为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欧氏距离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欧氏距离是聚类分析中用得最广泛的距离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endParaRPr lang="zh-CN" altLang="zh-CN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5" name="Text Box 11"/>
          <p:cNvSpPr txBox="1"/>
          <p:nvPr/>
        </p:nvSpPr>
        <p:spPr>
          <a:xfrm>
            <a:off x="4357370" y="372746"/>
            <a:ext cx="221742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闵氏距离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2651126" y="2459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0482" name="Text Box 4"/>
          <p:cNvSpPr txBox="1"/>
          <p:nvPr/>
        </p:nvSpPr>
        <p:spPr>
          <a:xfrm>
            <a:off x="3108326" y="3602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0483" name="Text Box 5"/>
          <p:cNvSpPr txBox="1"/>
          <p:nvPr/>
        </p:nvSpPr>
        <p:spPr>
          <a:xfrm>
            <a:off x="2651126" y="5354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0484" name="Text Box 6"/>
          <p:cNvSpPr txBox="1"/>
          <p:nvPr/>
        </p:nvSpPr>
        <p:spPr>
          <a:xfrm>
            <a:off x="2803526" y="1468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0485" name="Text Box 7"/>
          <p:cNvSpPr txBox="1"/>
          <p:nvPr/>
        </p:nvSpPr>
        <p:spPr>
          <a:xfrm>
            <a:off x="3032126" y="3906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0486" name="Text Box 8"/>
          <p:cNvSpPr txBox="1"/>
          <p:nvPr/>
        </p:nvSpPr>
        <p:spPr>
          <a:xfrm>
            <a:off x="3565526" y="5202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0489" name="Text Box 9"/>
          <p:cNvSpPr txBox="1"/>
          <p:nvPr/>
        </p:nvSpPr>
        <p:spPr>
          <a:xfrm>
            <a:off x="1786891" y="767081"/>
            <a:ext cx="878522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缺点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:(1)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与各变量的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量纲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有关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(2)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没有考虑指标间的相关性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(3)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没有考虑各变量方差的不同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如欧氏距离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方差大的变量在距离中的作用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贡献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就会大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这是不合适的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合理的方法就是对各变量加权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如用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1/s</a:t>
            </a:r>
            <a:r>
              <a:rPr lang="zh-CN" altLang="zh-CN" sz="2800" baseline="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作为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权数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可得出“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统计距离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”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1"/>
          <p:cNvSpPr txBox="1"/>
          <p:nvPr/>
        </p:nvSpPr>
        <p:spPr>
          <a:xfrm>
            <a:off x="4413250" y="150496"/>
            <a:ext cx="221742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闵氏距离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803525" y="4765041"/>
          <a:ext cx="6257290" cy="1637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807835" imgH="1762125" progId="Equation.DSMT4">
                  <p:embed/>
                </p:oleObj>
              </mc:Choice>
              <mc:Fallback>
                <p:oleObj name="" r:id="rId1" imgW="6807835" imgH="1762125" progId="Equation.DSMT4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3525" y="4765041"/>
                        <a:ext cx="6257290" cy="1637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3"/>
          <p:cNvSpPr txBox="1"/>
          <p:nvPr/>
        </p:nvSpPr>
        <p:spPr>
          <a:xfrm>
            <a:off x="1828800" y="1676401"/>
            <a:ext cx="8534400" cy="5847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latin typeface="Arial" panose="020B0604020202090204" pitchFamily="34" charset="0"/>
                <a:ea typeface="宋体" pitchFamily="2" charset="-122"/>
              </a:rPr>
              <a:t>   </a:t>
            </a:r>
            <a:endParaRPr lang="zh-CN" altLang="zh-CN" sz="40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506" name="Text Box 4"/>
          <p:cNvSpPr txBox="1"/>
          <p:nvPr/>
        </p:nvSpPr>
        <p:spPr>
          <a:xfrm>
            <a:off x="3032126" y="2535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507" name="Text Box 5"/>
          <p:cNvSpPr txBox="1"/>
          <p:nvPr/>
        </p:nvSpPr>
        <p:spPr>
          <a:xfrm>
            <a:off x="1905000" y="1431925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个样品计算两两间的距离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en-US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后,可排成矩阵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endParaRPr lang="zh-CN" altLang="en-US" sz="2800" i="1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1508" name="Text Box 6"/>
          <p:cNvSpPr txBox="1"/>
          <p:nvPr/>
        </p:nvSpPr>
        <p:spPr>
          <a:xfrm>
            <a:off x="3962400" y="2514600"/>
            <a:ext cx="4332288" cy="20942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2800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        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11 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12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….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1</a:t>
            </a:r>
            <a:r>
              <a:rPr lang="zh-CN" altLang="zh-CN" sz="2800" i="1" baseline="-24000" dirty="0">
                <a:latin typeface="Arial" panose="020B0604020202090204" pitchFamily="34" charset="0"/>
                <a:ea typeface="宋体" pitchFamily="2" charset="-122"/>
              </a:rPr>
              <a:t>n</a:t>
            </a:r>
            <a:endParaRPr lang="zh-CN" altLang="zh-CN" sz="2800" dirty="0">
              <a:latin typeface="Arial" panose="020B0604020202090204" pitchFamily="34" charset="0"/>
              <a:ea typeface="宋体" pitchFamily="2" charset="-122"/>
            </a:endParaRPr>
          </a:p>
          <a:p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      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21 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22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….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2</a:t>
            </a:r>
            <a:r>
              <a:rPr lang="zh-CN" altLang="zh-CN" sz="2800" i="1" baseline="-24000" dirty="0">
                <a:latin typeface="Arial" panose="020B0604020202090204" pitchFamily="34" charset="0"/>
                <a:ea typeface="宋体" pitchFamily="2" charset="-122"/>
              </a:rPr>
              <a:t>n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</a:t>
            </a:r>
            <a:endParaRPr lang="zh-CN" altLang="zh-CN" sz="2800" dirty="0">
              <a:latin typeface="Arial" panose="020B0604020202090204" pitchFamily="34" charset="0"/>
              <a:ea typeface="宋体" pitchFamily="2" charset="-122"/>
            </a:endParaRPr>
          </a:p>
          <a:p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 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=      ……………….</a:t>
            </a:r>
            <a:endParaRPr lang="zh-CN" altLang="zh-CN" sz="2800" dirty="0">
              <a:latin typeface="Arial" panose="020B0604020202090204" pitchFamily="34" charset="0"/>
              <a:ea typeface="宋体" pitchFamily="2" charset="-122"/>
            </a:endParaRPr>
          </a:p>
          <a:p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          d</a:t>
            </a:r>
            <a:r>
              <a:rPr lang="zh-CN" altLang="zh-CN" sz="2800" i="1" baseline="-24000" dirty="0">
                <a:latin typeface="Arial" panose="020B0604020202090204" pitchFamily="34" charset="0"/>
                <a:ea typeface="宋体" pitchFamily="2" charset="-122"/>
              </a:rPr>
              <a:t>n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1 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i="1" baseline="-24000" dirty="0">
                <a:latin typeface="Arial" panose="020B0604020202090204" pitchFamily="34" charset="0"/>
                <a:ea typeface="宋体" pitchFamily="2" charset="-122"/>
              </a:rPr>
              <a:t>n</a:t>
            </a:r>
            <a:r>
              <a:rPr lang="zh-CN" altLang="zh-CN" sz="2800" baseline="-24000" dirty="0">
                <a:latin typeface="Arial" panose="020B0604020202090204" pitchFamily="34" charset="0"/>
                <a:ea typeface="宋体" pitchFamily="2" charset="-122"/>
              </a:rPr>
              <a:t>2</a:t>
            </a:r>
            <a:r>
              <a:rPr lang="zh-CN" altLang="zh-CN" sz="2800" dirty="0">
                <a:latin typeface="Arial" panose="020B0604020202090204" pitchFamily="34" charset="0"/>
                <a:ea typeface="宋体" pitchFamily="2" charset="-122"/>
              </a:rPr>
              <a:t>  ….  </a:t>
            </a:r>
            <a:r>
              <a:rPr lang="zh-CN" altLang="zh-CN" sz="2800" i="1" dirty="0">
                <a:latin typeface="Arial" panose="020B0604020202090204" pitchFamily="34" charset="0"/>
                <a:ea typeface="宋体" pitchFamily="2" charset="-122"/>
              </a:rPr>
              <a:t>d</a:t>
            </a:r>
            <a:r>
              <a:rPr lang="zh-CN" altLang="zh-CN" sz="2800" i="1" baseline="-24000" dirty="0">
                <a:latin typeface="Arial" panose="020B0604020202090204" pitchFamily="34" charset="0"/>
                <a:ea typeface="宋体" pitchFamily="2" charset="-122"/>
              </a:rPr>
              <a:t>nn</a:t>
            </a:r>
            <a:endParaRPr lang="zh-CN" altLang="zh-CN" sz="2800" i="1" baseline="-24000" dirty="0">
              <a:latin typeface="Arial" panose="020B0604020202090204" pitchFamily="34" charset="0"/>
              <a:ea typeface="宋体" pitchFamily="2" charset="-122"/>
            </a:endParaRPr>
          </a:p>
          <a:p>
            <a:endParaRPr lang="zh-CN" altLang="zh-CN" sz="2800" i="1" baseline="-24000" dirty="0">
              <a:solidFill>
                <a:srgbClr val="FF33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509" name="AutoShape 7"/>
          <p:cNvSpPr/>
          <p:nvPr/>
        </p:nvSpPr>
        <p:spPr>
          <a:xfrm>
            <a:off x="4800600" y="2743200"/>
            <a:ext cx="152400" cy="1752600"/>
          </a:xfrm>
          <a:prstGeom prst="leftBracket">
            <a:avLst>
              <a:gd name="adj" fmla="val 95833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510" name="AutoShape 8"/>
          <p:cNvSpPr/>
          <p:nvPr/>
        </p:nvSpPr>
        <p:spPr>
          <a:xfrm>
            <a:off x="7620000" y="2743200"/>
            <a:ext cx="76200" cy="1752600"/>
          </a:xfrm>
          <a:prstGeom prst="rightBracket">
            <a:avLst>
              <a:gd name="adj" fmla="val 191666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511" name="Text Box 9"/>
          <p:cNvSpPr txBox="1"/>
          <p:nvPr/>
        </p:nvSpPr>
        <p:spPr>
          <a:xfrm>
            <a:off x="7696201" y="4191000"/>
            <a:ext cx="1063625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n</a:t>
            </a:r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×</a:t>
            </a:r>
            <a:r>
              <a:rPr lang="zh-CN" altLang="zh-CN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n</a:t>
            </a:r>
            <a:endParaRPr lang="zh-CN" altLang="zh-CN" b="1" i="1" dirty="0">
              <a:solidFill>
                <a:srgbClr val="FF33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514" name="Text Box 10"/>
          <p:cNvSpPr txBox="1"/>
          <p:nvPr/>
        </p:nvSpPr>
        <p:spPr>
          <a:xfrm>
            <a:off x="1905000" y="4648201"/>
            <a:ext cx="8382000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值越小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表示两个样品越接近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值越大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表示两个样品越不相近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1513" name="Text Box 11"/>
          <p:cNvSpPr txBox="1"/>
          <p:nvPr/>
        </p:nvSpPr>
        <p:spPr>
          <a:xfrm>
            <a:off x="3962400" y="40068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样品间的距离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/>
          <p:nvPr/>
        </p:nvSpPr>
        <p:spPr>
          <a:xfrm>
            <a:off x="1828800" y="147320"/>
            <a:ext cx="8534400" cy="65544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2.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兰氏距离(要求</a:t>
            </a:r>
            <a:r>
              <a:rPr lang="zh-CN" altLang="en-US" sz="2800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i="1" baseline="-240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&gt;0)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这是由Lance和Williams最早提出的,故称为兰氏距离.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优点：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1，这是一个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无量纲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的量.克服了闵氏距离与各指标的量纲有关的缺点.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2，兰氏距离对大的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奇异值不敏感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,这样使得它特别适合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高度偏倚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的数据.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缺点：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兰氏距离也没有考虑变量间的相关性.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2530" name="Text Box 4"/>
          <p:cNvSpPr txBox="1"/>
          <p:nvPr/>
        </p:nvSpPr>
        <p:spPr>
          <a:xfrm>
            <a:off x="3032126" y="2535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3215958" y="2044459"/>
          <a:ext cx="6769100" cy="1165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295900" imgH="825500" progId="">
                  <p:embed/>
                </p:oleObj>
              </mc:Choice>
              <mc:Fallback>
                <p:oleObj name="" r:id="rId1" imgW="5295900" imgH="8255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5958" y="2044459"/>
                        <a:ext cx="6769100" cy="116578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3"/>
          <p:cNvSpPr txBox="1"/>
          <p:nvPr/>
        </p:nvSpPr>
        <p:spPr>
          <a:xfrm>
            <a:off x="1927860" y="631825"/>
            <a:ext cx="69494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3.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马氏距离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(Mahalanobis)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3554" name="Text Box 4"/>
          <p:cNvSpPr txBox="1"/>
          <p:nvPr/>
        </p:nvSpPr>
        <p:spPr>
          <a:xfrm>
            <a:off x="2422526" y="2459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739265" y="1517970"/>
          <a:ext cx="8713788" cy="202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892800" imgH="1358900" progId="">
                  <p:embed/>
                </p:oleObj>
              </mc:Choice>
              <mc:Fallback>
                <p:oleObj name="" r:id="rId1" imgW="5892800" imgH="13589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9265" y="1517970"/>
                        <a:ext cx="8713788" cy="2027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6"/>
          <p:cNvSpPr txBox="1"/>
          <p:nvPr/>
        </p:nvSpPr>
        <p:spPr>
          <a:xfrm>
            <a:off x="2422526" y="3956051"/>
            <a:ext cx="657161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马氏距离优点：</a:t>
            </a:r>
            <a:endParaRPr lang="zh-CN" altLang="en-US" sz="2800" dirty="0">
              <a:solidFill>
                <a:srgbClr val="0000CC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1，排除了变量间相关性的干扰；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2，不受各项指标量纲的影响；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3，对线性变换具有不变性.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/>
          <p:nvPr/>
        </p:nvSpPr>
        <p:spPr>
          <a:xfrm>
            <a:off x="1790700" y="925831"/>
            <a:ext cx="8610600" cy="52622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马氏距离虽然有这些优点,但是在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聚类分析处理之前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,如果用全部数据计算均值和协差阵来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求马氏距离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效果不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是很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好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比较合理的办法是用各个类的样本来计算各自的协差阵,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同一类样品间的马氏距离应当用这一类的协差阵来计算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,但类的形成都要依赖于样品间的距离,而样品间合理的马氏距离又依赖于类,这就形成了一个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恶性循环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,因此在实际聚类分析中,马氏距离也不是理想的距离.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4578" name="Text Box 4"/>
          <p:cNvSpPr txBox="1"/>
          <p:nvPr/>
        </p:nvSpPr>
        <p:spPr>
          <a:xfrm>
            <a:off x="2422526" y="2459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3996055" y="2254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样品间的距离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3"/>
          <p:cNvSpPr txBox="1"/>
          <p:nvPr/>
        </p:nvSpPr>
        <p:spPr>
          <a:xfrm>
            <a:off x="1790700" y="505460"/>
            <a:ext cx="8610600" cy="194950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//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4.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斜交空间距离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在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维空间中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为使具有相关性变量的谱系结构不发生变形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采用斜交空间距离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即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5602" name="Text Box 4"/>
          <p:cNvSpPr txBox="1"/>
          <p:nvPr/>
        </p:nvSpPr>
        <p:spPr>
          <a:xfrm>
            <a:off x="2651126" y="2535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5603" name="Text Box 5"/>
          <p:cNvSpPr txBox="1"/>
          <p:nvPr/>
        </p:nvSpPr>
        <p:spPr>
          <a:xfrm>
            <a:off x="4098926" y="4135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2247583" y="2634933"/>
          <a:ext cx="76962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575300" imgH="1206500" progId="">
                  <p:embed/>
                </p:oleObj>
              </mc:Choice>
              <mc:Fallback>
                <p:oleObj name="" r:id="rId1" imgW="5575300" imgH="12065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47583" y="2634933"/>
                        <a:ext cx="7696200" cy="158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7"/>
          <p:cNvSpPr txBox="1"/>
          <p:nvPr/>
        </p:nvSpPr>
        <p:spPr>
          <a:xfrm>
            <a:off x="1790700" y="4135756"/>
            <a:ext cx="8839200" cy="26765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在数据标准化处理下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kl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之间的相关系数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5.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相似系数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样品间的亲疏程度除了用距离描述外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也可用相似系数来表示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参见以下“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变量间的相似系数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”的定义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/>
          <p:nvPr/>
        </p:nvSpPr>
        <p:spPr>
          <a:xfrm>
            <a:off x="1671955" y="868999"/>
            <a:ext cx="8458200" cy="461581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lang="zh-CN" altLang="zh-CN" sz="2800" dirty="0">
                <a:solidFill>
                  <a:srgbClr val="FF33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</a:t>
            </a:r>
            <a:r>
              <a:rPr lang="zh-CN" altLang="en-US" sz="2800" dirty="0">
                <a:solidFill>
                  <a:srgbClr val="FF33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定性变量样品间的距离或相似系数</a:t>
            </a:r>
            <a:endParaRPr lang="zh-CN" altLang="en-US" sz="2800" dirty="0">
              <a:solidFill>
                <a:srgbClr val="FF33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在数量化理论中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常把定性变量叫做</a:t>
            </a:r>
            <a:r>
              <a:rPr lang="zh-CN" altLang="en-US" sz="2800" dirty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而把定性变量的各种不同取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叫做</a:t>
            </a:r>
            <a:r>
              <a:rPr lang="zh-CN" altLang="en-US" sz="2800" dirty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例如性别是项目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而男或女是这个项目的类目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;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体形也是一个项目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而适中、胖、瘦、壮等是这个项目的类目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性别只能取男或女中一类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不能兼取；而体形可以是适中且壮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即兼取两类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3"/>
          <p:cNvSpPr txBox="1"/>
          <p:nvPr/>
        </p:nvSpPr>
        <p:spPr>
          <a:xfrm>
            <a:off x="1992630" y="823914"/>
            <a:ext cx="8458200" cy="26765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设样品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的第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个项目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=1,2,…,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的取值为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,1),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,2),…,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) 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=1,2,…,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),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其中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为样品的个数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为项目的个数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是第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个项目的类目数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1992313" y="3429000"/>
          <a:ext cx="79248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832600" imgH="1511300" progId="">
                  <p:embed/>
                </p:oleObj>
              </mc:Choice>
              <mc:Fallback>
                <p:oleObj name="" r:id="rId1" imgW="6832600" imgH="15113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23999" contrast="41999"/>
                      </a:blip>
                      <a:stretch>
                        <a:fillRect/>
                      </a:stretch>
                    </p:blipFill>
                    <p:spPr>
                      <a:xfrm>
                        <a:off x="1992313" y="3429000"/>
                        <a:ext cx="7924800" cy="190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/>
          <p:nvPr/>
        </p:nvSpPr>
        <p:spPr>
          <a:xfrm>
            <a:off x="1821181" y="5528945"/>
            <a:ext cx="8550275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并称</a:t>
            </a:r>
            <a:r>
              <a:rPr lang="zh-CN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b="1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(</a:t>
            </a:r>
            <a:r>
              <a:rPr lang="zh-CN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为第</a:t>
            </a:r>
            <a:r>
              <a:rPr lang="zh-CN" altLang="zh-CN" sz="2800" b="1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项目之</a:t>
            </a:r>
            <a:r>
              <a:rPr lang="zh-CN" altLang="zh-CN" sz="2800" b="1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类目在第</a:t>
            </a:r>
            <a:r>
              <a:rPr lang="zh-CN" altLang="zh-CN" sz="2800" b="1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个样品中的反应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6"/>
          <p:cNvSpPr txBox="1"/>
          <p:nvPr/>
        </p:nvSpPr>
        <p:spPr>
          <a:xfrm>
            <a:off x="2311401" y="95251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/>
          <p:nvPr/>
        </p:nvSpPr>
        <p:spPr>
          <a:xfrm>
            <a:off x="1774825" y="3857626"/>
            <a:ext cx="8458200" cy="26765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设两个样品为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若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则称这两个样品在第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个项目的第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类目上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1-1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配对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若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则称这两个样品在第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个项目之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类目上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0-0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配对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若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≠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则称为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不配对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 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867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114550" y="857250"/>
          <a:ext cx="7777163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048500" imgH="2578100" progId="">
                  <p:embed/>
                </p:oleObj>
              </mc:Choice>
              <mc:Fallback>
                <p:oleObj name="" r:id="rId1" imgW="7048500" imgH="25781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14550" y="857250"/>
                        <a:ext cx="7777163" cy="284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5"/>
          <p:cNvSpPr txBox="1"/>
          <p:nvPr/>
        </p:nvSpPr>
        <p:spPr>
          <a:xfrm>
            <a:off x="2311401" y="95251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/>
          <p:cNvSpPr txBox="1"/>
          <p:nvPr/>
        </p:nvSpPr>
        <p:spPr>
          <a:xfrm>
            <a:off x="1866901" y="1724026"/>
            <a:ext cx="9235295" cy="3888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记：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在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个项目的所有类目中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1-1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配对的总数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0-0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配对的总数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为不配对总数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显然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总类目数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+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+…+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6.2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给出两个样品的取“值”情况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显然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=3,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=7,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=4.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项目数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=4,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总类目数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=14.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9698" name="Text Box 4"/>
          <p:cNvSpPr txBox="1"/>
          <p:nvPr/>
        </p:nvSpPr>
        <p:spPr>
          <a:xfrm>
            <a:off x="2311401" y="95251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5"/>
          <p:cNvSpPr txBox="1"/>
          <p:nvPr/>
        </p:nvSpPr>
        <p:spPr>
          <a:xfrm>
            <a:off x="1919289" y="1700213"/>
            <a:ext cx="8474075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(1)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两个样品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间的距离定义为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30722" name="Object 6"/>
          <p:cNvGraphicFramePr>
            <a:graphicFrameLocks noChangeAspect="1"/>
          </p:cNvGraphicFramePr>
          <p:nvPr/>
        </p:nvGraphicFramePr>
        <p:xfrm>
          <a:off x="3935413" y="2636838"/>
          <a:ext cx="3352800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24100" imgH="800100" progId="">
                  <p:embed/>
                </p:oleObj>
              </mc:Choice>
              <mc:Fallback>
                <p:oleObj name="" r:id="rId1" imgW="2324100" imgH="8001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>
                        <a:lum bright="-23999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935413" y="2636838"/>
                        <a:ext cx="3352800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7"/>
          <p:cNvSpPr txBox="1"/>
          <p:nvPr/>
        </p:nvSpPr>
        <p:spPr>
          <a:xfrm>
            <a:off x="2042796" y="4117976"/>
            <a:ext cx="7577455" cy="130317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即不配对的类目数在有反应的类目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包括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1-1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配对和不配对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数中的比例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0724" name="Text Box 8"/>
          <p:cNvSpPr txBox="1"/>
          <p:nvPr/>
        </p:nvSpPr>
        <p:spPr>
          <a:xfrm>
            <a:off x="2311401" y="95251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3"/>
          <p:cNvSpPr txBox="1"/>
          <p:nvPr/>
        </p:nvSpPr>
        <p:spPr>
          <a:xfrm>
            <a:off x="1828800" y="1543050"/>
            <a:ext cx="8458200" cy="128400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当项目只能取可能类目中的一类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不能兼取的情况下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两样品的距离定义为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1746" name="Object 4"/>
          <p:cNvGraphicFramePr>
            <a:graphicFrameLocks noChangeAspect="1"/>
          </p:cNvGraphicFramePr>
          <p:nvPr/>
        </p:nvGraphicFramePr>
        <p:xfrm>
          <a:off x="5520691" y="2310131"/>
          <a:ext cx="2416175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638300" imgH="774700" progId="">
                  <p:embed/>
                </p:oleObj>
              </mc:Choice>
              <mc:Fallback>
                <p:oleObj name="" r:id="rId1" imgW="1638300" imgH="7747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22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520691" y="2310131"/>
                        <a:ext cx="2416175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5"/>
          <p:cNvSpPr txBox="1"/>
          <p:nvPr/>
        </p:nvSpPr>
        <p:spPr>
          <a:xfrm>
            <a:off x="1774825" y="3716338"/>
            <a:ext cx="8675688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其中</a:t>
            </a:r>
            <a:r>
              <a:rPr lang="zh-CN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*</a:t>
            </a:r>
            <a:r>
              <a:rPr lang="zh-CN" altLang="zh-CN" sz="2800" baseline="-200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是不配对的项目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个数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r>
              <a:rPr lang="zh-CN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表示项目总个数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 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1750" name="Text Box 6"/>
          <p:cNvSpPr txBox="1"/>
          <p:nvPr/>
        </p:nvSpPr>
        <p:spPr>
          <a:xfrm>
            <a:off x="1884045" y="4563110"/>
            <a:ext cx="845820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类似于欧氏距离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还可以定义不配对的总数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2819400" y="5410200"/>
          <a:ext cx="64770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092700" imgH="889000" progId="">
                  <p:embed/>
                </p:oleObj>
              </mc:Choice>
              <mc:Fallback>
                <p:oleObj name="" r:id="rId3" imgW="5092700" imgH="889000" progId="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>
                        <a:lum bright="-29999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5410200"/>
                        <a:ext cx="6477000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8"/>
          <p:cNvSpPr txBox="1"/>
          <p:nvPr/>
        </p:nvSpPr>
        <p:spPr>
          <a:xfrm>
            <a:off x="2293621" y="568326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857500" y="5456555"/>
          <a:ext cx="64770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5092700" imgH="889000" progId="">
                  <p:embed/>
                </p:oleObj>
              </mc:Choice>
              <mc:Fallback>
                <p:oleObj name="" r:id="rId5" imgW="5092700" imgH="889000" progId="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>
                        <a:lum bright="-29999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857500" y="5456555"/>
                        <a:ext cx="6477000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3"/>
          <p:cNvSpPr txBox="1"/>
          <p:nvPr/>
        </p:nvSpPr>
        <p:spPr>
          <a:xfrm>
            <a:off x="1752600" y="1320801"/>
            <a:ext cx="8686800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(2)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样品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间的相似性度量由表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6.3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给出几种定义方法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这种相似性度量也称为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匹配系数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1927861" y="2899410"/>
          <a:ext cx="8355013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356600" imgH="2971800" progId="">
                  <p:embed/>
                </p:oleObj>
              </mc:Choice>
              <mc:Fallback>
                <p:oleObj name="" r:id="rId1" imgW="8356600" imgH="29718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23999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27861" y="2899410"/>
                        <a:ext cx="8355013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5"/>
          <p:cNvSpPr txBox="1"/>
          <p:nvPr/>
        </p:nvSpPr>
        <p:spPr>
          <a:xfrm>
            <a:off x="2325371" y="373381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3"/>
          <p:cNvSpPr txBox="1"/>
          <p:nvPr/>
        </p:nvSpPr>
        <p:spPr>
          <a:xfrm>
            <a:off x="1828800" y="1543050"/>
            <a:ext cx="86868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  <a:ea typeface="宋体" pitchFamily="2" charset="-122"/>
              </a:rPr>
              <a:t>    </a:t>
            </a:r>
            <a:endParaRPr lang="zh-CN" altLang="zh-CN" sz="32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33794" name="Object 4"/>
          <p:cNvGraphicFramePr>
            <a:graphicFrameLocks noChangeAspect="1"/>
          </p:cNvGraphicFramePr>
          <p:nvPr/>
        </p:nvGraphicFramePr>
        <p:xfrm>
          <a:off x="1905000" y="1600200"/>
          <a:ext cx="85344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191500" imgH="3225800" progId="">
                  <p:embed/>
                </p:oleObj>
              </mc:Choice>
              <mc:Fallback>
                <p:oleObj name="" r:id="rId1" imgW="8191500" imgH="32258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22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1600200"/>
                        <a:ext cx="8534400" cy="426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Text Box 5"/>
          <p:cNvSpPr txBox="1"/>
          <p:nvPr/>
        </p:nvSpPr>
        <p:spPr>
          <a:xfrm>
            <a:off x="7086600" y="2590800"/>
            <a:ext cx="3493264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2800" b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(</a:t>
            </a:r>
            <a:r>
              <a:rPr lang="zh-CN" altLang="zh-CN" sz="2800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p</a:t>
            </a:r>
            <a:r>
              <a:rPr lang="zh-CN" altLang="zh-CN" sz="2800" b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+</a:t>
            </a:r>
            <a:r>
              <a:rPr lang="zh-CN" altLang="zh-CN" sz="2800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m</a:t>
            </a:r>
            <a:r>
              <a:rPr lang="zh-CN" altLang="zh-CN" sz="2800" b="1" baseline="-16000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2</a:t>
            </a:r>
            <a:r>
              <a:rPr lang="zh-CN" altLang="zh-CN" sz="2800" b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=2</a:t>
            </a:r>
            <a:r>
              <a:rPr lang="zh-CN" altLang="zh-CN" sz="2800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m</a:t>
            </a:r>
            <a:r>
              <a:rPr lang="zh-CN" altLang="zh-CN" sz="2800" b="1" baseline="-16000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2</a:t>
            </a:r>
            <a:r>
              <a:rPr lang="zh-CN" altLang="zh-CN" sz="2800" b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+</a:t>
            </a:r>
            <a:r>
              <a:rPr lang="zh-CN" altLang="zh-CN" sz="2800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m</a:t>
            </a:r>
            <a:r>
              <a:rPr lang="zh-CN" altLang="zh-CN" sz="2800" b="1" baseline="-16000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1</a:t>
            </a:r>
            <a:r>
              <a:rPr lang="zh-CN" altLang="zh-CN" sz="2800" b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+</a:t>
            </a:r>
            <a:r>
              <a:rPr lang="zh-CN" altLang="zh-CN" sz="2800" b="1" i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m</a:t>
            </a:r>
            <a:r>
              <a:rPr lang="zh-CN" altLang="zh-CN" sz="2800" b="1" baseline="-16000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0</a:t>
            </a:r>
            <a:r>
              <a:rPr lang="zh-CN" altLang="zh-CN" sz="2800" b="1" dirty="0">
                <a:solidFill>
                  <a:srgbClr val="FF3300"/>
                </a:solidFill>
                <a:latin typeface="Arial" panose="020B0604020202090204" pitchFamily="34" charset="0"/>
                <a:ea typeface="宋体" pitchFamily="2" charset="-122"/>
              </a:rPr>
              <a:t>)</a:t>
            </a:r>
            <a:endParaRPr lang="zh-CN" altLang="zh-CN" sz="2800" b="1" dirty="0">
              <a:solidFill>
                <a:srgbClr val="FF33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3796" name="Text Box 6"/>
          <p:cNvSpPr txBox="1"/>
          <p:nvPr/>
        </p:nvSpPr>
        <p:spPr>
          <a:xfrm>
            <a:off x="2408556" y="387351"/>
            <a:ext cx="7109639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定性变量样品间的距离或相似系数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/>
          <p:nvPr/>
        </p:nvSpPr>
        <p:spPr>
          <a:xfrm>
            <a:off x="1790700" y="1315721"/>
            <a:ext cx="8610600" cy="52622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在对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变量进行分类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通常采用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相似系数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来表示变量之间的亲疏程度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设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间的相似系数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一般要求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①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=±1&lt;==&gt;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≠0,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常数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② |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|≤1,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对一切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i,j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成立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③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对一切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i,j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成立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|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|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越接近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则表示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的关系越密切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 |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|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越接近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两者关系越疏远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4818" name="Text Box 4"/>
          <p:cNvSpPr txBox="1"/>
          <p:nvPr/>
        </p:nvSpPr>
        <p:spPr>
          <a:xfrm>
            <a:off x="2371725" y="123825"/>
            <a:ext cx="6978192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三、变量间的相似系数和距离</a:t>
            </a:r>
            <a:endParaRPr lang="zh-CN" altLang="en-US" sz="4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/>
          <p:nvPr/>
        </p:nvSpPr>
        <p:spPr>
          <a:xfrm>
            <a:off x="1790700" y="1352551"/>
            <a:ext cx="8610600" cy="52622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  <a:spcBef>
                <a:spcPct val="50000"/>
              </a:spcBef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1.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夹角余弦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次观测值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看成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维空间的向量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夹角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α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的余弦称为两向量的相似系数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记为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(1),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i=j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夹角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α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=0,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(1)=1,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说明两向量完全相似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正交时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α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=90,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(1)=0,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说明两变量不相关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5842" name="Text Box 4"/>
          <p:cNvSpPr txBox="1"/>
          <p:nvPr/>
        </p:nvSpPr>
        <p:spPr>
          <a:xfrm>
            <a:off x="2727326" y="3602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2895283" y="3485833"/>
          <a:ext cx="64008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470400" imgH="1536700" progId="">
                  <p:embed/>
                </p:oleObj>
              </mc:Choice>
              <mc:Fallback>
                <p:oleObj name="" r:id="rId1" imgW="4470400" imgH="15367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283" y="3485833"/>
                        <a:ext cx="6400800" cy="167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6"/>
          <p:cNvSpPr txBox="1"/>
          <p:nvPr/>
        </p:nvSpPr>
        <p:spPr>
          <a:xfrm>
            <a:off x="2580640" y="652145"/>
            <a:ext cx="5952270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变量间的相似系数和距离</a:t>
            </a:r>
            <a:endParaRPr lang="zh-CN" altLang="en-US" sz="4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3"/>
          <p:cNvSpPr txBox="1"/>
          <p:nvPr/>
        </p:nvSpPr>
        <p:spPr>
          <a:xfrm>
            <a:off x="1790700" y="823914"/>
            <a:ext cx="8610600" cy="26765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  <a:spcBef>
                <a:spcPct val="50000"/>
              </a:spcBef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2.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相关系数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相关系数就是对数据作中心化或标准化处理后的夹角余弦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的相关系数常用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在这里我们记为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(2),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即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6866" name="Text Box 4"/>
          <p:cNvSpPr txBox="1"/>
          <p:nvPr/>
        </p:nvSpPr>
        <p:spPr>
          <a:xfrm>
            <a:off x="3794126" y="3830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2371725" y="3352800"/>
          <a:ext cx="7010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864100" imgH="1879600" progId="">
                  <p:embed/>
                </p:oleObj>
              </mc:Choice>
              <mc:Fallback>
                <p:oleObj name="" r:id="rId1" imgW="4864100" imgH="18796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1725" y="3352800"/>
                        <a:ext cx="7010400" cy="198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6"/>
          <p:cNvSpPr txBox="1"/>
          <p:nvPr/>
        </p:nvSpPr>
        <p:spPr>
          <a:xfrm>
            <a:off x="1591946" y="5686425"/>
            <a:ext cx="9271635" cy="65684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i=j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(2)=1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表示两变量线性相关 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一般情况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,|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(2)|≤1.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7"/>
          <p:cNvSpPr txBox="1"/>
          <p:nvPr/>
        </p:nvSpPr>
        <p:spPr>
          <a:xfrm>
            <a:off x="2371725" y="123825"/>
            <a:ext cx="5952270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变量间的相似系数和距离</a:t>
            </a:r>
            <a:endParaRPr lang="zh-CN" altLang="en-US" sz="4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/>
          <p:nvPr/>
        </p:nvSpPr>
        <p:spPr>
          <a:xfrm>
            <a:off x="1854200" y="824230"/>
            <a:ext cx="8782170" cy="5908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  <a:spcBef>
                <a:spcPct val="50000"/>
              </a:spcBef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3.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变量间的距离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(1)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利用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相似系数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来定义变量间的距离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令 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=1-|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|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 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3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=1-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C</a:t>
            </a:r>
            <a:r>
              <a:rPr lang="zh-CN" altLang="zh-CN" sz="2800" i="1" baseline="3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i,j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=1,2,…,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(2)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利用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样本协差阵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来定义距离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marL="2691130" indent="-2691130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设样本协差阵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S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s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&gt;0,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间的距离可定义为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  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s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ii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+ s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jj 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s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(3)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把变量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次观测值看成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维空间的点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在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维空间中按“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样品间的距离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”中介绍的方法类似可定义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个变量间的种种距离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7890" name="Text Box 4"/>
          <p:cNvSpPr txBox="1"/>
          <p:nvPr/>
        </p:nvSpPr>
        <p:spPr>
          <a:xfrm>
            <a:off x="2371725" y="123825"/>
            <a:ext cx="5952270" cy="707886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变量间的相似系数和距离</a:t>
            </a:r>
            <a:endParaRPr lang="zh-CN" altLang="en-US" sz="4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Text Box 4"/>
          <p:cNvSpPr txBox="1"/>
          <p:nvPr/>
        </p:nvSpPr>
        <p:spPr>
          <a:xfrm>
            <a:off x="1811656" y="1639889"/>
            <a:ext cx="8569325" cy="39693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4.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定性变量间的相似系数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是定性变量时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也可以定义多种相似系数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设变量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种取值记为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或称项目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有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个类目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); 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种取值记为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t</a:t>
            </a:r>
            <a:r>
              <a:rPr lang="zh-CN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t</a:t>
            </a:r>
            <a:r>
              <a:rPr lang="zh-CN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t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q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个样品中两个定性变量的实际观察数列成表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6.4,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其中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zh-CN" sz="2800" i="1" baseline="-3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kl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表示在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个样品中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取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且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取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t</a:t>
            </a:r>
            <a:r>
              <a:rPr lang="zh-CN" altLang="zh-CN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的频数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通常称表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6.4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列联表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329691" y="1543049"/>
          <a:ext cx="9532620" cy="4777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Image" r:id="rId1" imgW="7569200" imgH="3479800" progId="Photoshop.Image.6">
                  <p:embed/>
                </p:oleObj>
              </mc:Choice>
              <mc:Fallback>
                <p:oleObj name="Image" r:id="rId1" imgW="7569200" imgH="3479800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34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691" y="1543049"/>
                        <a:ext cx="9532620" cy="47777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7" name="Text Box 3"/>
          <p:cNvSpPr txBox="1"/>
          <p:nvPr/>
        </p:nvSpPr>
        <p:spPr>
          <a:xfrm>
            <a:off x="1828800" y="1543050"/>
            <a:ext cx="86868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  <a:ea typeface="宋体" pitchFamily="2" charset="-122"/>
              </a:rPr>
              <a:t>    </a:t>
            </a:r>
            <a:endParaRPr lang="zh-CN" altLang="zh-CN" sz="32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9939" name="Text Box 5"/>
          <p:cNvSpPr txBox="1"/>
          <p:nvPr/>
        </p:nvSpPr>
        <p:spPr>
          <a:xfrm>
            <a:off x="2891155" y="447041"/>
            <a:ext cx="526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定性变量间的相似系数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0" y="1543050"/>
            <a:ext cx="9532620" cy="47777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1" name="Object 4"/>
          <p:cNvGraphicFramePr>
            <a:graphicFrameLocks noChangeAspect="1"/>
          </p:cNvGraphicFramePr>
          <p:nvPr/>
        </p:nvGraphicFramePr>
        <p:xfrm>
          <a:off x="3048000" y="2438401"/>
          <a:ext cx="63246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495800" imgH="927100" progId="">
                  <p:embed/>
                </p:oleObj>
              </mc:Choice>
              <mc:Fallback>
                <p:oleObj name="" r:id="rId1" imgW="4495800" imgH="9271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28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048000" y="2438401"/>
                        <a:ext cx="6324600" cy="130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3733800" y="4800601"/>
          <a:ext cx="4343400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035300" imgH="1117600" progId="">
                  <p:embed/>
                </p:oleObj>
              </mc:Choice>
              <mc:Fallback>
                <p:oleObj name="" r:id="rId3" imgW="3035300" imgH="11176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>
                        <a:lum bright="-20001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4800601"/>
                        <a:ext cx="4343400" cy="159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Text Box 6"/>
          <p:cNvSpPr txBox="1"/>
          <p:nvPr/>
        </p:nvSpPr>
        <p:spPr>
          <a:xfrm>
            <a:off x="1622455" y="1471675"/>
            <a:ext cx="9175689" cy="65684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</a:rPr>
              <a:t>利用列联表对两定性变量独立性的检验中常用到的统计量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</a:endParaRPr>
          </a:p>
        </p:txBody>
      </p:sp>
      <p:sp>
        <p:nvSpPr>
          <p:cNvPr id="40967" name="Text Box 7"/>
          <p:cNvSpPr txBox="1"/>
          <p:nvPr/>
        </p:nvSpPr>
        <p:spPr>
          <a:xfrm>
            <a:off x="1668462" y="3743326"/>
            <a:ext cx="8474075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建立在卡方统计量基础上的相似系数有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（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） 联列系数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" name="Text Box 8"/>
          <p:cNvSpPr txBox="1"/>
          <p:nvPr/>
        </p:nvSpPr>
        <p:spPr>
          <a:xfrm>
            <a:off x="2960370" y="404496"/>
            <a:ext cx="526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定性变量间的相似系数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2590800" y="2133600"/>
          <a:ext cx="6629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156200" imgH="1066800" progId="">
                  <p:embed/>
                </p:oleObj>
              </mc:Choice>
              <mc:Fallback>
                <p:oleObj name="" r:id="rId1" imgW="5156200" imgH="10668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2133600"/>
                        <a:ext cx="6629400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2590800" y="3505200"/>
          <a:ext cx="6781800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080000" imgH="1028700" progId="">
                  <p:embed/>
                </p:oleObj>
              </mc:Choice>
              <mc:Fallback>
                <p:oleObj name="" r:id="rId3" imgW="5080000" imgH="10287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3505200"/>
                        <a:ext cx="6781800" cy="1373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2590800" y="4953000"/>
          <a:ext cx="70104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4927600" imgH="977900" progId="">
                  <p:embed/>
                </p:oleObj>
              </mc:Choice>
              <mc:Fallback>
                <p:oleObj name="" r:id="rId5" imgW="4927600" imgH="9779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4953000"/>
                        <a:ext cx="7010400" cy="1390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/>
          <p:cNvSpPr txBox="1"/>
          <p:nvPr/>
        </p:nvSpPr>
        <p:spPr>
          <a:xfrm>
            <a:off x="2119314" y="1156335"/>
            <a:ext cx="6918325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（</a:t>
            </a:r>
            <a:r>
              <a:rPr lang="zh-CN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）连关系数（有三种）</a:t>
            </a:r>
            <a:endParaRPr lang="zh-CN" altLang="en-US" sz="2800" b="1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5" name="Text Box 8"/>
          <p:cNvSpPr txBox="1"/>
          <p:nvPr/>
        </p:nvSpPr>
        <p:spPr>
          <a:xfrm>
            <a:off x="2946400" y="57151"/>
            <a:ext cx="526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定性变量间的相似系数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3"/>
          <p:cNvSpPr txBox="1"/>
          <p:nvPr/>
        </p:nvSpPr>
        <p:spPr>
          <a:xfrm>
            <a:off x="1981200" y="1628775"/>
            <a:ext cx="86868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  <a:ea typeface="宋体" pitchFamily="2" charset="-122"/>
              </a:rPr>
              <a:t>    </a:t>
            </a:r>
            <a:endParaRPr lang="zh-CN" altLang="zh-CN" sz="32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638300" y="1597343"/>
          <a:ext cx="7200900" cy="229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969000" imgH="2184400" progId="">
                  <p:embed/>
                </p:oleObj>
              </mc:Choice>
              <mc:Fallback>
                <p:oleObj name="" r:id="rId1" imgW="5969000" imgH="21844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8300" y="1597343"/>
                        <a:ext cx="7200900" cy="229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2063750" y="5013326"/>
          <a:ext cx="78486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362700" imgH="889000" progId="">
                  <p:embed/>
                </p:oleObj>
              </mc:Choice>
              <mc:Fallback>
                <p:oleObj name="" r:id="rId3" imgW="6362700" imgH="8890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750" y="5013326"/>
                        <a:ext cx="7848600" cy="124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/>
          <p:nvPr/>
        </p:nvSpPr>
        <p:spPr>
          <a:xfrm>
            <a:off x="1839914" y="1109663"/>
            <a:ext cx="8512175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如果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只取二个值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不妨记为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1),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则列联表化为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43015" name="Text Box 7"/>
          <p:cNvSpPr txBox="1"/>
          <p:nvPr/>
        </p:nvSpPr>
        <p:spPr>
          <a:xfrm>
            <a:off x="1949450" y="3887789"/>
            <a:ext cx="8077200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这时常用的相似系数有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（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） 点相关系数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8839200" y="2192655"/>
          <a:ext cx="1602740" cy="2783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471170" imgH="992505" progId="Equation.3">
                  <p:embed/>
                </p:oleObj>
              </mc:Choice>
              <mc:Fallback>
                <p:oleObj name="" r:id="rId5" imgW="471170" imgH="992505" progId="Equation.3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39200" y="2192655"/>
                        <a:ext cx="1602740" cy="27838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0"/>
          <p:cNvSpPr/>
          <p:nvPr/>
        </p:nvSpPr>
        <p:spPr>
          <a:xfrm>
            <a:off x="8839200" y="2743200"/>
            <a:ext cx="144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17" name="Line 11"/>
          <p:cNvSpPr/>
          <p:nvPr/>
        </p:nvSpPr>
        <p:spPr>
          <a:xfrm>
            <a:off x="9551988" y="2060575"/>
            <a:ext cx="0" cy="304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19" name="Text Box 13"/>
          <p:cNvSpPr txBox="1"/>
          <p:nvPr/>
        </p:nvSpPr>
        <p:spPr>
          <a:xfrm>
            <a:off x="2946400" y="57151"/>
            <a:ext cx="526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定性变量间的相似系数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3"/>
          <p:cNvSpPr txBox="1"/>
          <p:nvPr/>
        </p:nvSpPr>
        <p:spPr>
          <a:xfrm>
            <a:off x="1828800" y="1600200"/>
            <a:ext cx="86868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  <a:ea typeface="宋体" pitchFamily="2" charset="-122"/>
              </a:rPr>
              <a:t>    </a:t>
            </a:r>
            <a:endParaRPr lang="zh-CN" altLang="zh-CN" sz="32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2105660" y="2266316"/>
          <a:ext cx="73914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626100" imgH="723900" progId="">
                  <p:embed/>
                </p:oleObj>
              </mc:Choice>
              <mc:Fallback>
                <p:oleObj name="" r:id="rId1" imgW="5626100" imgH="7239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5660" y="2266316"/>
                        <a:ext cx="7391400" cy="950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2105660" y="4702175"/>
          <a:ext cx="8229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680200" imgH="927100" progId="">
                  <p:embed/>
                </p:oleObj>
              </mc:Choice>
              <mc:Fallback>
                <p:oleObj name="" r:id="rId3" imgW="6680200" imgH="9271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5660" y="4702175"/>
                        <a:ext cx="82296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/>
          <p:cNvSpPr txBox="1"/>
          <p:nvPr/>
        </p:nvSpPr>
        <p:spPr>
          <a:xfrm>
            <a:off x="1638300" y="758826"/>
            <a:ext cx="8915400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点相关系数是与定量变量的相关系数相对应的统计量。</a:t>
            </a:r>
            <a:endParaRPr lang="zh-CN" altLang="en-US" sz="2800" b="1" dirty="0">
              <a:solidFill>
                <a:srgbClr val="0066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（</a:t>
            </a:r>
            <a:r>
              <a:rPr lang="zh-CN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4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） 四分相关系数</a:t>
            </a:r>
            <a:endParaRPr lang="zh-CN" altLang="en-US" sz="2800" b="1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44039" name="Text Box 7"/>
          <p:cNvSpPr txBox="1"/>
          <p:nvPr/>
        </p:nvSpPr>
        <p:spPr>
          <a:xfrm>
            <a:off x="1812925" y="3848101"/>
            <a:ext cx="8243888" cy="9531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（</a:t>
            </a:r>
            <a:r>
              <a:rPr lang="zh-CN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）</a:t>
            </a:r>
            <a:r>
              <a:rPr lang="zh-CN" altLang="en-US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夹角余弦</a:t>
            </a:r>
            <a:endParaRPr lang="zh-CN" altLang="en-US" sz="2800" b="1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3" name="Text Box 10"/>
          <p:cNvSpPr txBox="1"/>
          <p:nvPr/>
        </p:nvSpPr>
        <p:spPr>
          <a:xfrm>
            <a:off x="2946400" y="57151"/>
            <a:ext cx="526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定性变量间的相似系数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  <a:cs typeface="+mn-cs"/>
              </a:rPr>
              <a:t>第三节 系统聚类法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98308" name="Rectangle 1027"/>
          <p:cNvSpPr>
            <a:spLocks noGrp="1"/>
          </p:cNvSpPr>
          <p:nvPr>
            <p:ph type="body" sz="half" idx="1"/>
          </p:nvPr>
        </p:nvSpPr>
        <p:spPr>
          <a:xfrm>
            <a:off x="1823814" y="2017713"/>
            <a:ext cx="7351712" cy="41148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zh-CN" altLang="en-US" sz="2800" dirty="0"/>
              <a:t>基本思想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系统聚类分析的方法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类的含义及特征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基于类间距离的系统聚类法</a:t>
            </a:r>
            <a:r>
              <a:rPr lang="zh-CN" altLang="en-US" sz="2800" dirty="0"/>
              <a:t> 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系统聚类法的基本性质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98306" name="灯片编号占位符 7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/>
          <p:nvPr/>
        </p:nvSpPr>
        <p:spPr>
          <a:xfrm>
            <a:off x="1015072" y="1085029"/>
            <a:ext cx="9369972" cy="51811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每个样品测得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项指标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首先定义样品间的距离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或相似系数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类与类之间的距离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系统聚类方法的基本思想是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一开始将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个样品各自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自成一类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这时类间的距离与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样品间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距离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是等价的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然后将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距离最近的两类合并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并计算新类与其他类的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类间距离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再按最小距离并类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这样每次缩小一类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直到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所有的样品都成一类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为止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这个并类过程可以用谱系聚类图形象地表达出来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6084" name="Text Box 4"/>
          <p:cNvSpPr txBox="1"/>
          <p:nvPr/>
        </p:nvSpPr>
        <p:spPr>
          <a:xfrm>
            <a:off x="3042921" y="267018"/>
            <a:ext cx="6340197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一、系统聚类法的基本思想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 Box 3"/>
          <p:cNvSpPr txBox="1"/>
          <p:nvPr/>
        </p:nvSpPr>
        <p:spPr>
          <a:xfrm>
            <a:off x="1024758" y="1590040"/>
            <a:ext cx="9892862" cy="38885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系统聚类法的基本步骤如下：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数据变换:可以使用上节介绍的方法对数据进行变换.数据变换目的是为了便于比较、计算上的方便或改变数据的结构.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选择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度量样品间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距离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的定义(如欧氏距离)及度量类间距离的定义(如最短距离法,见下面“系统聚类分析的方法”中的介绍).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① 计算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个样品(个体)两两间的距离,得初始的距离矩阵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7109" name="Text Box 5"/>
          <p:cNvSpPr txBox="1"/>
          <p:nvPr/>
        </p:nvSpPr>
        <p:spPr>
          <a:xfrm>
            <a:off x="2653973" y="481615"/>
            <a:ext cx="5314275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系统聚类法的基本步骤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/>
          <p:cNvSpPr txBox="1"/>
          <p:nvPr/>
        </p:nvSpPr>
        <p:spPr>
          <a:xfrm>
            <a:off x="1779905" y="932181"/>
            <a:ext cx="8382000" cy="4615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.3.1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个产品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每个产品测得一项质量指标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其值如下：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1, 2, 4.5, 6, 8 .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试对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个产品按质量指标进行分类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解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设样品间的距离取为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欧氏距离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类间的距离取为类间的最短距离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根据上面介绍的步骤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计算如下：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①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计算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两两间的距离，得初始的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类间距离矩阵</a:t>
            </a:r>
            <a:r>
              <a:rPr lang="zh-CN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zh-CN" sz="28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/>
          <p:cNvSpPr txBox="1"/>
          <p:nvPr/>
        </p:nvSpPr>
        <p:spPr>
          <a:xfrm>
            <a:off x="874983" y="1445830"/>
            <a:ext cx="10988566" cy="45348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②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一开始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第一步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=1)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个样品各自构成一类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得类的个数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k=n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个类：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(t)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 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此时类间的距离就是样品间的距离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对步骤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执行并类过程的步骤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③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④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③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步骤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得到的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i-</a:t>
            </a:r>
            <a:r>
              <a:rPr lang="zh-CN" altLang="zh-CN" sz="2800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每次合并类间距离最小的两类为一新类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减少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类，即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k=n-i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+1.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④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计算新类与其他类的距离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得新的距离矩阵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.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重复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③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④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步，直到类的总个数为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时止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8132" name="Text Box 4"/>
          <p:cNvSpPr txBox="1"/>
          <p:nvPr/>
        </p:nvSpPr>
        <p:spPr>
          <a:xfrm>
            <a:off x="2606676" y="647153"/>
            <a:ext cx="5314275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系统聚类法的基本步骤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"/>
          <p:cNvSpPr txBox="1"/>
          <p:nvPr/>
        </p:nvSpPr>
        <p:spPr>
          <a:xfrm>
            <a:off x="1751330" y="988060"/>
            <a:ext cx="8534400" cy="13013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Arial" panose="020B0604020202090204" pitchFamily="34" charset="0"/>
              </a:rPr>
              <a:t>   ⑤ </a:t>
            </a:r>
            <a:r>
              <a:rPr lang="zh-CN" altLang="en-US" sz="2800" dirty="0">
                <a:latin typeface="Arial" panose="020B0604020202090204" pitchFamily="34" charset="0"/>
              </a:rPr>
              <a:t>画谱系聚类图；</a:t>
            </a:r>
            <a:endParaRPr lang="zh-CN" altLang="en-US" sz="2800" dirty="0">
              <a:latin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Arial" panose="020B0604020202090204" pitchFamily="34" charset="0"/>
              </a:rPr>
              <a:t>    ⑥ </a:t>
            </a:r>
            <a:r>
              <a:rPr lang="zh-CN" altLang="en-US" sz="2800" dirty="0">
                <a:latin typeface="Arial" panose="020B0604020202090204" pitchFamily="34" charset="0"/>
              </a:rPr>
              <a:t>决定分类的个数及各类的成员</a:t>
            </a:r>
            <a:r>
              <a:rPr lang="zh-CN" altLang="zh-CN" sz="2800" dirty="0">
                <a:latin typeface="Arial" panose="020B0604020202090204" pitchFamily="34" charset="0"/>
              </a:rPr>
              <a:t>.</a:t>
            </a:r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49156" name="Text Box 4"/>
          <p:cNvSpPr txBox="1"/>
          <p:nvPr/>
        </p:nvSpPr>
        <p:spPr>
          <a:xfrm>
            <a:off x="2193926" y="3068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1981200" y="2667000"/>
          <a:ext cx="70104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086600" imgH="4775200" progId="">
                  <p:embed/>
                </p:oleObj>
              </mc:Choice>
              <mc:Fallback>
                <p:oleObj name="" r:id="rId1" imgW="7086600" imgH="47752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2667000"/>
                        <a:ext cx="7010400" cy="388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Line 6"/>
          <p:cNvSpPr/>
          <p:nvPr/>
        </p:nvSpPr>
        <p:spPr>
          <a:xfrm flipV="1">
            <a:off x="6743700" y="2636838"/>
            <a:ext cx="0" cy="3200400"/>
          </a:xfrm>
          <a:prstGeom prst="line">
            <a:avLst/>
          </a:prstGeom>
          <a:ln w="28575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3" name="Line 7"/>
          <p:cNvSpPr/>
          <p:nvPr/>
        </p:nvSpPr>
        <p:spPr>
          <a:xfrm flipV="1">
            <a:off x="5664200" y="2636838"/>
            <a:ext cx="0" cy="327660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4" name="Line 8"/>
          <p:cNvSpPr/>
          <p:nvPr/>
        </p:nvSpPr>
        <p:spPr>
          <a:xfrm flipV="1">
            <a:off x="4572000" y="2590800"/>
            <a:ext cx="0" cy="32766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5" name="Text Box 9"/>
          <p:cNvSpPr txBox="1"/>
          <p:nvPr/>
        </p:nvSpPr>
        <p:spPr>
          <a:xfrm>
            <a:off x="8001001" y="2743201"/>
            <a:ext cx="1838965" cy="646331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latin typeface="Arial" panose="020B0604020202090204" pitchFamily="34" charset="0"/>
              </a:rPr>
              <a:t>当临界值</a:t>
            </a:r>
            <a:r>
              <a:rPr lang="zh-CN" altLang="zh-CN" b="1" i="1" dirty="0">
                <a:solidFill>
                  <a:srgbClr val="800000"/>
                </a:solidFill>
                <a:latin typeface="Arial" panose="020B0604020202090204" pitchFamily="34" charset="0"/>
              </a:rPr>
              <a:t>d</a:t>
            </a:r>
            <a:r>
              <a:rPr lang="zh-CN" altLang="zh-CN" b="1" dirty="0">
                <a:solidFill>
                  <a:srgbClr val="800000"/>
                </a:solidFill>
                <a:latin typeface="Arial" panose="020B0604020202090204" pitchFamily="34" charset="0"/>
              </a:rPr>
              <a:t>=2.01</a:t>
            </a:r>
            <a:endParaRPr lang="zh-CN" altLang="zh-CN" b="1" dirty="0">
              <a:solidFill>
                <a:srgbClr val="800000"/>
              </a:solidFill>
              <a:latin typeface="Arial" panose="020B0604020202090204" pitchFamily="34" charset="0"/>
            </a:endParaRPr>
          </a:p>
          <a:p>
            <a:r>
              <a:rPr lang="zh-CN" altLang="en-US" b="1" dirty="0">
                <a:solidFill>
                  <a:srgbClr val="800000"/>
                </a:solidFill>
                <a:latin typeface="Arial" panose="020B0604020202090204" pitchFamily="34" charset="0"/>
              </a:rPr>
              <a:t>应分为两类</a:t>
            </a:r>
            <a:endParaRPr lang="zh-CN" altLang="en-US" b="1" dirty="0">
              <a:solidFill>
                <a:srgbClr val="800000"/>
              </a:solidFill>
              <a:latin typeface="Arial" panose="020B0604020202090204" pitchFamily="34" charset="0"/>
            </a:endParaRPr>
          </a:p>
        </p:txBody>
      </p:sp>
      <p:sp>
        <p:nvSpPr>
          <p:cNvPr id="50186" name="Text Box 10"/>
          <p:cNvSpPr txBox="1"/>
          <p:nvPr/>
        </p:nvSpPr>
        <p:spPr>
          <a:xfrm>
            <a:off x="8077201" y="3733801"/>
            <a:ext cx="1838965" cy="646331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9933"/>
                </a:solidFill>
                <a:latin typeface="Arial" panose="020B0604020202090204" pitchFamily="34" charset="0"/>
              </a:rPr>
              <a:t>当临界值</a:t>
            </a:r>
            <a:r>
              <a:rPr lang="zh-CN" altLang="zh-CN" b="1" i="1" dirty="0">
                <a:solidFill>
                  <a:srgbClr val="FF9933"/>
                </a:solidFill>
                <a:latin typeface="Arial" panose="020B0604020202090204" pitchFamily="34" charset="0"/>
              </a:rPr>
              <a:t>d</a:t>
            </a:r>
            <a:r>
              <a:rPr lang="zh-CN" altLang="zh-CN" b="1" dirty="0">
                <a:solidFill>
                  <a:srgbClr val="FF9933"/>
                </a:solidFill>
                <a:latin typeface="Arial" panose="020B0604020202090204" pitchFamily="34" charset="0"/>
              </a:rPr>
              <a:t>=1.51</a:t>
            </a:r>
            <a:endParaRPr lang="zh-CN" altLang="zh-CN" b="1" dirty="0">
              <a:solidFill>
                <a:srgbClr val="FF9933"/>
              </a:solidFill>
              <a:latin typeface="Arial" panose="020B0604020202090204" pitchFamily="34" charset="0"/>
            </a:endParaRPr>
          </a:p>
          <a:p>
            <a:r>
              <a:rPr lang="zh-CN" altLang="en-US" b="1" dirty="0">
                <a:solidFill>
                  <a:srgbClr val="FF9933"/>
                </a:solidFill>
                <a:latin typeface="Arial" panose="020B0604020202090204" pitchFamily="34" charset="0"/>
              </a:rPr>
              <a:t>应分为三类</a:t>
            </a:r>
            <a:endParaRPr lang="zh-CN" altLang="en-US" b="1" dirty="0">
              <a:solidFill>
                <a:srgbClr val="FF9933"/>
              </a:solidFill>
              <a:latin typeface="Arial" panose="020B0604020202090204" pitchFamily="34" charset="0"/>
            </a:endParaRPr>
          </a:p>
        </p:txBody>
      </p:sp>
      <p:sp>
        <p:nvSpPr>
          <p:cNvPr id="50187" name="Text Box 11"/>
          <p:cNvSpPr txBox="1"/>
          <p:nvPr/>
        </p:nvSpPr>
        <p:spPr>
          <a:xfrm>
            <a:off x="8077201" y="4724401"/>
            <a:ext cx="1838965" cy="646331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Arial" panose="020B0604020202090204" pitchFamily="34" charset="0"/>
              </a:rPr>
              <a:t>当临界值</a:t>
            </a:r>
            <a:r>
              <a:rPr lang="zh-CN" altLang="zh-CN" b="1" i="1" dirty="0">
                <a:solidFill>
                  <a:schemeClr val="accent2"/>
                </a:solidFill>
                <a:latin typeface="Arial" panose="020B0604020202090204" pitchFamily="34" charset="0"/>
              </a:rPr>
              <a:t>d</a:t>
            </a:r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=1.01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  <a:p>
            <a:r>
              <a:rPr lang="zh-CN" altLang="en-US" b="1" dirty="0">
                <a:solidFill>
                  <a:schemeClr val="accent2"/>
                </a:solidFill>
                <a:latin typeface="Arial" panose="020B0604020202090204" pitchFamily="34" charset="0"/>
              </a:rPr>
              <a:t>应分为四类</a:t>
            </a:r>
            <a:endParaRPr lang="zh-CN" altLang="en-US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49164" name="Text Box 12"/>
          <p:cNvSpPr txBox="1"/>
          <p:nvPr/>
        </p:nvSpPr>
        <p:spPr>
          <a:xfrm>
            <a:off x="2606676" y="111125"/>
            <a:ext cx="5314275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系统聚类法的基本步骤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bldLvl="0" animBg="1"/>
      <p:bldP spid="50186" grpId="0" bldLvl="0" animBg="1"/>
      <p:bldP spid="50187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/>
          <p:cNvSpPr txBox="1"/>
          <p:nvPr/>
        </p:nvSpPr>
        <p:spPr>
          <a:xfrm>
            <a:off x="1752600" y="16002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1752600" y="1524000"/>
          <a:ext cx="81534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435600" imgH="2006600" progId="">
                  <p:embed/>
                </p:oleObj>
              </mc:Choice>
              <mc:Fallback>
                <p:oleObj name="" r:id="rId1" imgW="5435600" imgH="20066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524000"/>
                        <a:ext cx="8153400" cy="259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/>
          <p:cNvSpPr txBox="1"/>
          <p:nvPr/>
        </p:nvSpPr>
        <p:spPr>
          <a:xfrm>
            <a:off x="1981200" y="5334000"/>
            <a:ext cx="8343900" cy="13013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②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一开始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个样品各自构成一类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个类：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 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=1,…,5),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类的个数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=5.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206" name="AutoShape 6"/>
          <p:cNvSpPr/>
          <p:nvPr/>
        </p:nvSpPr>
        <p:spPr>
          <a:xfrm>
            <a:off x="3886200" y="2133600"/>
            <a:ext cx="5562600" cy="1828800"/>
          </a:xfrm>
          <a:prstGeom prst="bracketPair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1207" name="Text Box 7"/>
          <p:cNvSpPr txBox="1"/>
          <p:nvPr/>
        </p:nvSpPr>
        <p:spPr>
          <a:xfrm>
            <a:off x="9448800" y="2644775"/>
            <a:ext cx="11382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latin typeface="Arial" panose="020B0604020202090204" pitchFamily="34" charset="0"/>
              </a:rPr>
              <a:t>= </a:t>
            </a:r>
            <a:r>
              <a:rPr lang="zh-CN" altLang="zh-CN" sz="3200" b="1" i="1" dirty="0">
                <a:latin typeface="Arial" panose="020B0604020202090204" pitchFamily="34" charset="0"/>
              </a:rPr>
              <a:t>D</a:t>
            </a:r>
            <a:r>
              <a:rPr lang="zh-CN" altLang="zh-CN" sz="3200" b="1" baseline="30000" dirty="0">
                <a:latin typeface="Arial" panose="020B0604020202090204" pitchFamily="34" charset="0"/>
              </a:rPr>
              <a:t>(1)</a:t>
            </a:r>
            <a:r>
              <a:rPr lang="zh-CN" altLang="zh-CN" sz="3200" b="1" dirty="0">
                <a:latin typeface="Arial" panose="020B0604020202090204" pitchFamily="34" charset="0"/>
              </a:rPr>
              <a:t>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1208" name="Line 8"/>
          <p:cNvSpPr/>
          <p:nvPr/>
        </p:nvSpPr>
        <p:spPr>
          <a:xfrm>
            <a:off x="2133600" y="4572000"/>
            <a:ext cx="80010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09" name="Line 9"/>
          <p:cNvSpPr/>
          <p:nvPr/>
        </p:nvSpPr>
        <p:spPr>
          <a:xfrm>
            <a:off x="26670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0" name="Line 10"/>
          <p:cNvSpPr/>
          <p:nvPr/>
        </p:nvSpPr>
        <p:spPr>
          <a:xfrm>
            <a:off x="33528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1" name="Line 11"/>
          <p:cNvSpPr/>
          <p:nvPr/>
        </p:nvSpPr>
        <p:spPr>
          <a:xfrm>
            <a:off x="53340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2" name="Line 12"/>
          <p:cNvSpPr/>
          <p:nvPr/>
        </p:nvSpPr>
        <p:spPr>
          <a:xfrm>
            <a:off x="64770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3" name="Line 13"/>
          <p:cNvSpPr/>
          <p:nvPr/>
        </p:nvSpPr>
        <p:spPr>
          <a:xfrm>
            <a:off x="83820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4" name="Text Box 14"/>
          <p:cNvSpPr txBox="1"/>
          <p:nvPr/>
        </p:nvSpPr>
        <p:spPr>
          <a:xfrm>
            <a:off x="2498725" y="461327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1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51215" name="Text Box 15"/>
          <p:cNvSpPr txBox="1"/>
          <p:nvPr/>
        </p:nvSpPr>
        <p:spPr>
          <a:xfrm>
            <a:off x="3200400" y="4648200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2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51216" name="Text Box 16"/>
          <p:cNvSpPr txBox="1"/>
          <p:nvPr/>
        </p:nvSpPr>
        <p:spPr>
          <a:xfrm>
            <a:off x="5089526" y="4613275"/>
            <a:ext cx="505267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4.5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51217" name="Text Box 17"/>
          <p:cNvSpPr txBox="1"/>
          <p:nvPr/>
        </p:nvSpPr>
        <p:spPr>
          <a:xfrm>
            <a:off x="6308725" y="461327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6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51218" name="Text Box 18"/>
          <p:cNvSpPr txBox="1"/>
          <p:nvPr/>
        </p:nvSpPr>
        <p:spPr>
          <a:xfrm>
            <a:off x="8213725" y="461327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8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51219" name="Text Box 19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5986" y="2577658"/>
            <a:ext cx="344214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endParaRPr lang="en-US" altLang="zh-CN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/>
          <p:cNvSpPr txBox="1"/>
          <p:nvPr/>
        </p:nvSpPr>
        <p:spPr>
          <a:xfrm>
            <a:off x="1752600" y="16002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1790700" y="918846"/>
            <a:ext cx="834390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③ 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zh-CN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32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可知距离为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时最小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首先合并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为一新类，记为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CL4={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；此时类的总个数</a:t>
            </a:r>
            <a:r>
              <a:rPr lang="zh-CN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减少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变为</a:t>
            </a:r>
            <a:r>
              <a:rPr lang="zh-CN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=4,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故把此步得到的新类记为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CL4.</a:t>
            </a:r>
            <a:endParaRPr lang="zh-CN" altLang="zh-CN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zh-CN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④ 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按最短距离法计算新类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CL4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与其他类的距离，得新的距离矩阵</a:t>
            </a:r>
            <a:r>
              <a:rPr lang="zh-CN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32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2229" name="Text Box 5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/>
          <p:cNvSpPr txBox="1"/>
          <p:nvPr/>
        </p:nvSpPr>
        <p:spPr>
          <a:xfrm>
            <a:off x="1752600" y="16002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1905001" y="1600200"/>
            <a:ext cx="83978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3253" name="Text Box 5"/>
          <p:cNvSpPr txBox="1"/>
          <p:nvPr/>
        </p:nvSpPr>
        <p:spPr>
          <a:xfrm>
            <a:off x="3260726" y="3221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2362200" y="1600200"/>
          <a:ext cx="6781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203700" imgH="1587500" progId="">
                  <p:embed/>
                </p:oleObj>
              </mc:Choice>
              <mc:Fallback>
                <p:oleObj name="" r:id="rId1" imgW="4203700" imgH="15875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1600200"/>
                        <a:ext cx="6781800" cy="251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Text Box 7"/>
          <p:cNvSpPr txBox="1"/>
          <p:nvPr/>
        </p:nvSpPr>
        <p:spPr>
          <a:xfrm>
            <a:off x="1905001" y="5243831"/>
            <a:ext cx="824547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=4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重复并类过程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3256" name="AutoShape 8"/>
          <p:cNvSpPr/>
          <p:nvPr/>
        </p:nvSpPr>
        <p:spPr>
          <a:xfrm>
            <a:off x="4191000" y="2286000"/>
            <a:ext cx="4648200" cy="1752600"/>
          </a:xfrm>
          <a:prstGeom prst="bracketPair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3257" name="Text Box 9"/>
          <p:cNvSpPr txBox="1"/>
          <p:nvPr/>
        </p:nvSpPr>
        <p:spPr>
          <a:xfrm>
            <a:off x="8839200" y="2819400"/>
            <a:ext cx="10366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latin typeface="Arial" panose="020B0604020202090204" pitchFamily="34" charset="0"/>
              </a:rPr>
              <a:t>= </a:t>
            </a:r>
            <a:r>
              <a:rPr lang="zh-CN" altLang="zh-CN" sz="3200" b="1" i="1" dirty="0">
                <a:latin typeface="Arial" panose="020B0604020202090204" pitchFamily="34" charset="0"/>
              </a:rPr>
              <a:t>D</a:t>
            </a:r>
            <a:r>
              <a:rPr lang="zh-CN" altLang="zh-CN" sz="3200" b="1" baseline="30000" dirty="0">
                <a:latin typeface="Arial" panose="020B0604020202090204" pitchFamily="34" charset="0"/>
              </a:rPr>
              <a:t>(2)</a:t>
            </a:r>
            <a:endParaRPr lang="zh-CN" altLang="zh-CN" sz="3200" b="1" baseline="30000" dirty="0">
              <a:latin typeface="Arial" panose="020B0604020202090204" pitchFamily="34" charset="0"/>
            </a:endParaRPr>
          </a:p>
        </p:txBody>
      </p:sp>
      <p:sp>
        <p:nvSpPr>
          <p:cNvPr id="53258" name="Line 10"/>
          <p:cNvSpPr/>
          <p:nvPr/>
        </p:nvSpPr>
        <p:spPr>
          <a:xfrm>
            <a:off x="2057400" y="4572000"/>
            <a:ext cx="81534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9" name="Line 11"/>
          <p:cNvSpPr/>
          <p:nvPr/>
        </p:nvSpPr>
        <p:spPr>
          <a:xfrm>
            <a:off x="26670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0" name="Line 12"/>
          <p:cNvSpPr/>
          <p:nvPr/>
        </p:nvSpPr>
        <p:spPr>
          <a:xfrm>
            <a:off x="32766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1" name="Line 13"/>
          <p:cNvSpPr/>
          <p:nvPr/>
        </p:nvSpPr>
        <p:spPr>
          <a:xfrm>
            <a:off x="52578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2" name="Line 14"/>
          <p:cNvSpPr/>
          <p:nvPr/>
        </p:nvSpPr>
        <p:spPr>
          <a:xfrm>
            <a:off x="63246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3" name="Line 15"/>
          <p:cNvSpPr/>
          <p:nvPr/>
        </p:nvSpPr>
        <p:spPr>
          <a:xfrm>
            <a:off x="8077200" y="4419600"/>
            <a:ext cx="0" cy="304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4" name="Text Box 16"/>
          <p:cNvSpPr txBox="1"/>
          <p:nvPr/>
        </p:nvSpPr>
        <p:spPr>
          <a:xfrm>
            <a:off x="2498725" y="468947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1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53265" name="Text Box 17"/>
          <p:cNvSpPr txBox="1"/>
          <p:nvPr/>
        </p:nvSpPr>
        <p:spPr>
          <a:xfrm>
            <a:off x="3108325" y="4689476"/>
            <a:ext cx="312906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2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  <a:p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53266" name="Text Box 18"/>
          <p:cNvSpPr txBox="1"/>
          <p:nvPr/>
        </p:nvSpPr>
        <p:spPr>
          <a:xfrm>
            <a:off x="5013326" y="4689476"/>
            <a:ext cx="505267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4.5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  <a:p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53267" name="Text Box 19"/>
          <p:cNvSpPr txBox="1"/>
          <p:nvPr/>
        </p:nvSpPr>
        <p:spPr>
          <a:xfrm>
            <a:off x="6172200" y="4648201"/>
            <a:ext cx="312906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6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  <a:p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53268" name="Text Box 20"/>
          <p:cNvSpPr txBox="1"/>
          <p:nvPr/>
        </p:nvSpPr>
        <p:spPr>
          <a:xfrm>
            <a:off x="7924800" y="4648200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8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53269" name="Oval 21"/>
          <p:cNvSpPr/>
          <p:nvPr/>
        </p:nvSpPr>
        <p:spPr>
          <a:xfrm>
            <a:off x="2362200" y="4191000"/>
            <a:ext cx="1295400" cy="914400"/>
          </a:xfrm>
          <a:prstGeom prst="ellipse">
            <a:avLst/>
          </a:prstGeom>
          <a:noFill/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3270" name="Text Box 22"/>
          <p:cNvSpPr txBox="1"/>
          <p:nvPr/>
        </p:nvSpPr>
        <p:spPr>
          <a:xfrm>
            <a:off x="3429001" y="4038600"/>
            <a:ext cx="620683" cy="369332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tx2"/>
                </a:solidFill>
                <a:latin typeface="Arial" panose="020B0604020202090204" pitchFamily="34" charset="0"/>
              </a:rPr>
              <a:t>CL4</a:t>
            </a:r>
            <a:endParaRPr lang="zh-CN" altLang="zh-CN" b="1" dirty="0">
              <a:solidFill>
                <a:schemeClr val="tx2"/>
              </a:solidFill>
              <a:latin typeface="Arial" panose="020B0604020202090204" pitchFamily="34" charset="0"/>
            </a:endParaRPr>
          </a:p>
        </p:txBody>
      </p:sp>
      <p:sp>
        <p:nvSpPr>
          <p:cNvPr id="53271" name="Text Box 23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 Box 3"/>
          <p:cNvSpPr txBox="1"/>
          <p:nvPr/>
        </p:nvSpPr>
        <p:spPr>
          <a:xfrm>
            <a:off x="1752600" y="16002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5300" name="Text Box 4"/>
          <p:cNvSpPr txBox="1"/>
          <p:nvPr/>
        </p:nvSpPr>
        <p:spPr>
          <a:xfrm>
            <a:off x="1724025" y="918846"/>
            <a:ext cx="8435975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⑤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可知距离为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时最小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故合并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为一新类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CL3={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减少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=3,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故把此步得到的新类记为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CL3.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⑥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按最短距离法计算新类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得新的距离矩阵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4277" name="Text Box 5"/>
          <p:cNvSpPr txBox="1"/>
          <p:nvPr/>
        </p:nvSpPr>
        <p:spPr>
          <a:xfrm>
            <a:off x="3413126" y="4897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3352800" y="4572000"/>
          <a:ext cx="51054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327400" imgH="1358900" progId="">
                  <p:embed/>
                </p:oleObj>
              </mc:Choice>
              <mc:Fallback>
                <p:oleObj name="" r:id="rId1" imgW="3327400" imgH="13589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4572000"/>
                        <a:ext cx="5105400" cy="205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/>
          <p:nvPr/>
        </p:nvSpPr>
        <p:spPr>
          <a:xfrm>
            <a:off x="8382000" y="5486400"/>
            <a:ext cx="10366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latin typeface="Arial" panose="020B0604020202090204" pitchFamily="34" charset="0"/>
              </a:rPr>
              <a:t>= </a:t>
            </a:r>
            <a:r>
              <a:rPr lang="zh-CN" altLang="zh-CN" sz="3200" b="1" i="1" dirty="0">
                <a:latin typeface="Arial" panose="020B0604020202090204" pitchFamily="34" charset="0"/>
              </a:rPr>
              <a:t>D</a:t>
            </a:r>
            <a:r>
              <a:rPr lang="zh-CN" altLang="zh-CN" sz="3200" b="1" baseline="30000" dirty="0">
                <a:latin typeface="Arial" panose="020B0604020202090204" pitchFamily="34" charset="0"/>
              </a:rPr>
              <a:t>(3)</a:t>
            </a:r>
            <a:endParaRPr lang="zh-CN" altLang="zh-CN" sz="3200" b="1" baseline="30000" dirty="0">
              <a:latin typeface="Arial" panose="020B0604020202090204" pitchFamily="34" charset="0"/>
            </a:endParaRPr>
          </a:p>
        </p:txBody>
      </p:sp>
      <p:sp>
        <p:nvSpPr>
          <p:cNvPr id="55304" name="AutoShape 8"/>
          <p:cNvSpPr/>
          <p:nvPr/>
        </p:nvSpPr>
        <p:spPr>
          <a:xfrm>
            <a:off x="5159375" y="5157788"/>
            <a:ext cx="3124200" cy="1524000"/>
          </a:xfrm>
          <a:prstGeom prst="bracketPair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4281" name="Text Box 9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/>
      <p:bldP spid="55304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Text Box 3"/>
          <p:cNvSpPr txBox="1"/>
          <p:nvPr/>
        </p:nvSpPr>
        <p:spPr>
          <a:xfrm>
            <a:off x="1752600" y="16002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6324" name="Text Box 4"/>
          <p:cNvSpPr txBox="1"/>
          <p:nvPr/>
        </p:nvSpPr>
        <p:spPr>
          <a:xfrm>
            <a:off x="1838036" y="1108364"/>
            <a:ext cx="8532785" cy="392083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重复并类过程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⑦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可知，应合并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为一新类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CL2={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减少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故把此步得到的新类为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CL2.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⑧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按最短距离法计算新类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得新的距离矩阵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5301" name="Text Box 5"/>
          <p:cNvSpPr txBox="1"/>
          <p:nvPr/>
        </p:nvSpPr>
        <p:spPr>
          <a:xfrm>
            <a:off x="4479926" y="5659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3962400" y="5029200"/>
          <a:ext cx="48768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467100" imgH="1003300" progId="">
                  <p:embed/>
                </p:oleObj>
              </mc:Choice>
              <mc:Fallback>
                <p:oleObj name="" r:id="rId1" imgW="3467100" imgH="10033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2400" y="5029200"/>
                        <a:ext cx="48768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Text Box 7"/>
          <p:cNvSpPr txBox="1"/>
          <p:nvPr/>
        </p:nvSpPr>
        <p:spPr>
          <a:xfrm>
            <a:off x="8534400" y="5715000"/>
            <a:ext cx="10366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latin typeface="Arial" panose="020B0604020202090204" pitchFamily="34" charset="0"/>
              </a:rPr>
              <a:t>= </a:t>
            </a:r>
            <a:r>
              <a:rPr lang="zh-CN" altLang="zh-CN" sz="3200" b="1" i="1" dirty="0">
                <a:latin typeface="Arial" panose="020B0604020202090204" pitchFamily="34" charset="0"/>
              </a:rPr>
              <a:t>D</a:t>
            </a:r>
            <a:r>
              <a:rPr lang="zh-CN" altLang="zh-CN" sz="3200" b="1" baseline="30000" dirty="0">
                <a:latin typeface="Arial" panose="020B0604020202090204" pitchFamily="34" charset="0"/>
              </a:rPr>
              <a:t>(4)</a:t>
            </a:r>
            <a:endParaRPr lang="zh-CN" altLang="zh-CN" sz="3200" b="1" baseline="30000" dirty="0">
              <a:latin typeface="Arial" panose="020B0604020202090204" pitchFamily="34" charset="0"/>
            </a:endParaRPr>
          </a:p>
        </p:txBody>
      </p:sp>
      <p:sp>
        <p:nvSpPr>
          <p:cNvPr id="56328" name="AutoShape 8"/>
          <p:cNvSpPr/>
          <p:nvPr/>
        </p:nvSpPr>
        <p:spPr>
          <a:xfrm>
            <a:off x="6456363" y="5661025"/>
            <a:ext cx="2057400" cy="838200"/>
          </a:xfrm>
          <a:prstGeom prst="bracketPair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5305" name="Text Box 9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7" grpId="0"/>
      <p:bldP spid="56328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3"/>
          <p:cNvSpPr txBox="1"/>
          <p:nvPr/>
        </p:nvSpPr>
        <p:spPr>
          <a:xfrm>
            <a:off x="1807845" y="849631"/>
            <a:ext cx="838200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重复并类过程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⑨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可知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最后应合并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CL4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为一新类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CL1={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};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此时类的总个数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故把此步得到的新类为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CL1.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⑩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此时所有样品全并成一类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得新的距离矩阵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324" name="Text Box 4"/>
          <p:cNvSpPr txBox="1"/>
          <p:nvPr/>
        </p:nvSpPr>
        <p:spPr>
          <a:xfrm>
            <a:off x="4403726" y="4973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3505200" y="5029200"/>
          <a:ext cx="37338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08200" imgH="812800" progId="">
                  <p:embed/>
                </p:oleObj>
              </mc:Choice>
              <mc:Fallback>
                <p:oleObj name="" r:id="rId1" imgW="2108200" imgH="812800" progId="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5029200"/>
                        <a:ext cx="3733800" cy="144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/>
          <p:cNvSpPr txBox="1"/>
          <p:nvPr/>
        </p:nvSpPr>
        <p:spPr>
          <a:xfrm>
            <a:off x="7010400" y="5791200"/>
            <a:ext cx="10366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latin typeface="Arial" panose="020B0604020202090204" pitchFamily="34" charset="0"/>
              </a:rPr>
              <a:t>= </a:t>
            </a:r>
            <a:r>
              <a:rPr lang="zh-CN" altLang="zh-CN" sz="3200" b="1" i="1" dirty="0">
                <a:latin typeface="Arial" panose="020B0604020202090204" pitchFamily="34" charset="0"/>
              </a:rPr>
              <a:t>D</a:t>
            </a:r>
            <a:r>
              <a:rPr lang="zh-CN" altLang="zh-CN" sz="3200" b="1" baseline="30000" dirty="0">
                <a:latin typeface="Arial" panose="020B0604020202090204" pitchFamily="34" charset="0"/>
              </a:rPr>
              <a:t>(5)</a:t>
            </a:r>
            <a:endParaRPr lang="zh-CN" altLang="zh-CN" sz="3200" b="1" baseline="30000" dirty="0">
              <a:latin typeface="Arial" panose="020B0604020202090204" pitchFamily="34" charset="0"/>
            </a:endParaRPr>
          </a:p>
        </p:txBody>
      </p:sp>
      <p:sp>
        <p:nvSpPr>
          <p:cNvPr id="57351" name="AutoShape 7"/>
          <p:cNvSpPr/>
          <p:nvPr/>
        </p:nvSpPr>
        <p:spPr>
          <a:xfrm>
            <a:off x="6248400" y="5791200"/>
            <a:ext cx="609600" cy="533400"/>
          </a:xfrm>
          <a:prstGeom prst="bracketPair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6328" name="Text Box 8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/>
      <p:bldP spid="57351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3"/>
          <p:cNvSpPr txBox="1"/>
          <p:nvPr/>
        </p:nvSpPr>
        <p:spPr>
          <a:xfrm>
            <a:off x="1752600" y="16002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     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7348" name="Text Box 4"/>
          <p:cNvSpPr txBox="1"/>
          <p:nvPr/>
        </p:nvSpPr>
        <p:spPr>
          <a:xfrm>
            <a:off x="1828800" y="1717675"/>
            <a:ext cx="8610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600" b="1" dirty="0">
                <a:latin typeface="Arial" panose="020B0604020202090204" pitchFamily="34" charset="0"/>
              </a:rPr>
              <a:t>  </a:t>
            </a:r>
            <a:endParaRPr lang="zh-CN" altLang="zh-CN" sz="3600" b="1" dirty="0">
              <a:latin typeface="Arial" panose="020B0604020202090204" pitchFamily="34" charset="0"/>
            </a:endParaRPr>
          </a:p>
        </p:txBody>
      </p:sp>
      <p:sp>
        <p:nvSpPr>
          <p:cNvPr id="57349" name="Text Box 5"/>
          <p:cNvSpPr txBox="1"/>
          <p:nvPr/>
        </p:nvSpPr>
        <p:spPr>
          <a:xfrm>
            <a:off x="2879726" y="1925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1752600" y="1981200"/>
          <a:ext cx="83058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969500" imgH="5219700" progId="">
                  <p:embed/>
                </p:oleObj>
              </mc:Choice>
              <mc:Fallback>
                <p:oleObj name="" r:id="rId1" imgW="9969500" imgH="52197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>
                        <a:lum bright="-23999" contrast="42000"/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1981200"/>
                        <a:ext cx="8305800" cy="487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/>
          <p:nvPr/>
        </p:nvSpPr>
        <p:spPr>
          <a:xfrm>
            <a:off x="2879725" y="975995"/>
            <a:ext cx="5161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根据并类过程绘制的谱系聚类图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57352" name="Text Box 8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Line 4"/>
          <p:cNvSpPr/>
          <p:nvPr/>
        </p:nvSpPr>
        <p:spPr>
          <a:xfrm>
            <a:off x="1981200" y="4267200"/>
            <a:ext cx="8458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3" name="Line 5"/>
          <p:cNvSpPr/>
          <p:nvPr/>
        </p:nvSpPr>
        <p:spPr>
          <a:xfrm>
            <a:off x="2819400" y="4114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4" name="Text Box 6"/>
          <p:cNvSpPr txBox="1"/>
          <p:nvPr/>
        </p:nvSpPr>
        <p:spPr>
          <a:xfrm>
            <a:off x="2667000" y="4343400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90204" pitchFamily="34" charset="0"/>
              </a:rPr>
              <a:t>1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8375" name="Line 7"/>
          <p:cNvSpPr/>
          <p:nvPr/>
        </p:nvSpPr>
        <p:spPr>
          <a:xfrm flipV="1">
            <a:off x="9448800" y="40386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6" name="Text Box 8"/>
          <p:cNvSpPr txBox="1"/>
          <p:nvPr/>
        </p:nvSpPr>
        <p:spPr>
          <a:xfrm>
            <a:off x="9296400" y="4343400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90204" pitchFamily="34" charset="0"/>
              </a:rPr>
              <a:t>8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8377" name="Line 9"/>
          <p:cNvSpPr/>
          <p:nvPr/>
        </p:nvSpPr>
        <p:spPr>
          <a:xfrm flipV="1">
            <a:off x="3733800" y="4114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8" name="Line 10"/>
          <p:cNvSpPr/>
          <p:nvPr/>
        </p:nvSpPr>
        <p:spPr>
          <a:xfrm flipV="1">
            <a:off x="6096000" y="4114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9" name="Line 11"/>
          <p:cNvSpPr/>
          <p:nvPr/>
        </p:nvSpPr>
        <p:spPr>
          <a:xfrm flipV="1">
            <a:off x="7315200" y="4114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80" name="Text Box 12"/>
          <p:cNvSpPr txBox="1"/>
          <p:nvPr/>
        </p:nvSpPr>
        <p:spPr>
          <a:xfrm>
            <a:off x="3581400" y="4343400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90204" pitchFamily="34" charset="0"/>
              </a:rPr>
              <a:t>2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8381" name="Text Box 13"/>
          <p:cNvSpPr txBox="1"/>
          <p:nvPr/>
        </p:nvSpPr>
        <p:spPr>
          <a:xfrm>
            <a:off x="5867401" y="4343400"/>
            <a:ext cx="505267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90204" pitchFamily="34" charset="0"/>
              </a:rPr>
              <a:t>4.5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8382" name="Text Box 14"/>
          <p:cNvSpPr txBox="1"/>
          <p:nvPr/>
        </p:nvSpPr>
        <p:spPr>
          <a:xfrm>
            <a:off x="7162800" y="4343400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90204" pitchFamily="34" charset="0"/>
              </a:rPr>
              <a:t>6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9407" name="AutoShape 15"/>
          <p:cNvSpPr/>
          <p:nvPr/>
        </p:nvSpPr>
        <p:spPr>
          <a:xfrm>
            <a:off x="2640013" y="3573463"/>
            <a:ext cx="1524000" cy="129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9408" name="Oval 16"/>
          <p:cNvSpPr/>
          <p:nvPr/>
        </p:nvSpPr>
        <p:spPr>
          <a:xfrm>
            <a:off x="5591175" y="3644900"/>
            <a:ext cx="2057400" cy="1295400"/>
          </a:xfrm>
          <a:prstGeom prst="ellipse">
            <a:avLst/>
          </a:prstGeom>
          <a:noFill/>
          <a:ln w="38100" cap="flat" cmpd="sng">
            <a:solidFill>
              <a:srgbClr val="3399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59409" name="Oval 17"/>
          <p:cNvSpPr/>
          <p:nvPr/>
        </p:nvSpPr>
        <p:spPr>
          <a:xfrm>
            <a:off x="5410200" y="2971800"/>
            <a:ext cx="4495800" cy="2590800"/>
          </a:xfrm>
          <a:prstGeom prst="ellipse">
            <a:avLst/>
          </a:prstGeom>
          <a:noFill/>
          <a:ln w="571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9410" name="Oval 18"/>
          <p:cNvSpPr/>
          <p:nvPr/>
        </p:nvSpPr>
        <p:spPr>
          <a:xfrm>
            <a:off x="2362200" y="2362200"/>
            <a:ext cx="7620000" cy="3810000"/>
          </a:xfrm>
          <a:prstGeom prst="ellipse">
            <a:avLst/>
          </a:prstGeom>
          <a:noFill/>
          <a:ln w="762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8387" name="Text Box 19"/>
          <p:cNvSpPr txBox="1"/>
          <p:nvPr/>
        </p:nvSpPr>
        <p:spPr>
          <a:xfrm>
            <a:off x="2197100" y="1237615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并类的直观过程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59412" name="Text Box 20"/>
          <p:cNvSpPr txBox="1"/>
          <p:nvPr/>
        </p:nvSpPr>
        <p:spPr>
          <a:xfrm>
            <a:off x="3657601" y="3124201"/>
            <a:ext cx="71045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①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9413" name="Text Box 21"/>
          <p:cNvSpPr txBox="1"/>
          <p:nvPr/>
        </p:nvSpPr>
        <p:spPr>
          <a:xfrm>
            <a:off x="7162801" y="3505201"/>
            <a:ext cx="71045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 ②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9414" name="Text Box 22"/>
          <p:cNvSpPr txBox="1"/>
          <p:nvPr/>
        </p:nvSpPr>
        <p:spPr>
          <a:xfrm>
            <a:off x="6537326" y="2506664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③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9415" name="Text Box 23"/>
          <p:cNvSpPr txBox="1"/>
          <p:nvPr/>
        </p:nvSpPr>
        <p:spPr>
          <a:xfrm>
            <a:off x="8382001" y="2286000"/>
            <a:ext cx="5937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dirty="0">
                <a:latin typeface="Arial" panose="020B0604020202090204" pitchFamily="34" charset="0"/>
              </a:rPr>
              <a:t>④</a:t>
            </a:r>
            <a:endParaRPr lang="zh-CN" altLang="zh-CN" sz="3200" b="1" dirty="0">
              <a:latin typeface="Arial" panose="020B0604020202090204" pitchFamily="34" charset="0"/>
            </a:endParaRPr>
          </a:p>
        </p:txBody>
      </p:sp>
      <p:sp>
        <p:nvSpPr>
          <p:cNvPr id="58392" name="Text Box 24"/>
          <p:cNvSpPr txBox="1"/>
          <p:nvPr/>
        </p:nvSpPr>
        <p:spPr>
          <a:xfrm>
            <a:off x="2743201" y="3657601"/>
            <a:ext cx="793807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i="1" dirty="0">
                <a:latin typeface="Arial" panose="020B0604020202090204" pitchFamily="34" charset="0"/>
              </a:rPr>
              <a:t>X</a:t>
            </a:r>
            <a:r>
              <a:rPr lang="zh-CN" altLang="zh-CN" sz="3200" b="1" baseline="-20000" dirty="0">
                <a:latin typeface="Arial" panose="020B0604020202090204" pitchFamily="34" charset="0"/>
              </a:rPr>
              <a:t>(1)</a:t>
            </a:r>
            <a:endParaRPr lang="zh-CN" altLang="zh-CN" sz="3200" b="1" baseline="-20000" dirty="0">
              <a:latin typeface="Arial" panose="020B0604020202090204" pitchFamily="34" charset="0"/>
            </a:endParaRPr>
          </a:p>
        </p:txBody>
      </p:sp>
      <p:sp>
        <p:nvSpPr>
          <p:cNvPr id="58393" name="Text Box 25"/>
          <p:cNvSpPr txBox="1"/>
          <p:nvPr/>
        </p:nvSpPr>
        <p:spPr>
          <a:xfrm>
            <a:off x="3505201" y="3657601"/>
            <a:ext cx="793807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i="1" dirty="0">
                <a:latin typeface="Arial" panose="020B0604020202090204" pitchFamily="34" charset="0"/>
              </a:rPr>
              <a:t>X</a:t>
            </a:r>
            <a:r>
              <a:rPr lang="zh-CN" altLang="zh-CN" sz="3200" b="1" baseline="-20000" dirty="0">
                <a:latin typeface="Arial" panose="020B0604020202090204" pitchFamily="34" charset="0"/>
              </a:rPr>
              <a:t>(2)</a:t>
            </a:r>
            <a:endParaRPr lang="zh-CN" altLang="zh-CN" sz="3200" b="1" baseline="-20000" dirty="0">
              <a:latin typeface="Arial" panose="020B0604020202090204" pitchFamily="34" charset="0"/>
            </a:endParaRPr>
          </a:p>
        </p:txBody>
      </p:sp>
      <p:sp>
        <p:nvSpPr>
          <p:cNvPr id="58394" name="Text Box 26"/>
          <p:cNvSpPr txBox="1"/>
          <p:nvPr/>
        </p:nvSpPr>
        <p:spPr>
          <a:xfrm>
            <a:off x="5867401" y="3657601"/>
            <a:ext cx="793807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i="1" dirty="0">
                <a:latin typeface="Arial" panose="020B0604020202090204" pitchFamily="34" charset="0"/>
              </a:rPr>
              <a:t>X</a:t>
            </a:r>
            <a:r>
              <a:rPr lang="zh-CN" altLang="zh-CN" sz="3200" b="1" baseline="-20000" dirty="0">
                <a:latin typeface="Arial" panose="020B0604020202090204" pitchFamily="34" charset="0"/>
              </a:rPr>
              <a:t>(3)</a:t>
            </a:r>
            <a:endParaRPr lang="zh-CN" altLang="zh-CN" sz="3200" b="1" baseline="-20000" dirty="0">
              <a:latin typeface="Arial" panose="020B0604020202090204" pitchFamily="34" charset="0"/>
            </a:endParaRPr>
          </a:p>
        </p:txBody>
      </p:sp>
      <p:sp>
        <p:nvSpPr>
          <p:cNvPr id="58395" name="Text Box 27"/>
          <p:cNvSpPr txBox="1"/>
          <p:nvPr/>
        </p:nvSpPr>
        <p:spPr>
          <a:xfrm>
            <a:off x="6934201" y="3733801"/>
            <a:ext cx="793807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i="1" dirty="0">
                <a:latin typeface="Arial" panose="020B0604020202090204" pitchFamily="34" charset="0"/>
              </a:rPr>
              <a:t>X</a:t>
            </a:r>
            <a:r>
              <a:rPr lang="zh-CN" altLang="zh-CN" sz="3200" b="1" baseline="-20000" dirty="0">
                <a:latin typeface="Arial" panose="020B0604020202090204" pitchFamily="34" charset="0"/>
              </a:rPr>
              <a:t>(4)</a:t>
            </a:r>
            <a:endParaRPr lang="zh-CN" altLang="zh-CN" sz="3200" b="1" baseline="-20000" dirty="0">
              <a:latin typeface="Arial" panose="020B0604020202090204" pitchFamily="34" charset="0"/>
            </a:endParaRPr>
          </a:p>
        </p:txBody>
      </p:sp>
      <p:sp>
        <p:nvSpPr>
          <p:cNvPr id="58396" name="Text Box 28"/>
          <p:cNvSpPr txBox="1"/>
          <p:nvPr/>
        </p:nvSpPr>
        <p:spPr>
          <a:xfrm>
            <a:off x="9144001" y="3581401"/>
            <a:ext cx="793807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i="1" dirty="0">
                <a:latin typeface="Arial" panose="020B0604020202090204" pitchFamily="34" charset="0"/>
              </a:rPr>
              <a:t>X</a:t>
            </a:r>
            <a:r>
              <a:rPr lang="zh-CN" altLang="zh-CN" sz="3200" b="1" baseline="-20000" dirty="0">
                <a:latin typeface="Arial" panose="020B0604020202090204" pitchFamily="34" charset="0"/>
              </a:rPr>
              <a:t>(5)</a:t>
            </a:r>
            <a:endParaRPr lang="zh-CN" altLang="zh-CN" sz="3200" b="1" baseline="-20000" dirty="0">
              <a:latin typeface="Arial" panose="020B0604020202090204" pitchFamily="34" charset="0"/>
            </a:endParaRPr>
          </a:p>
        </p:txBody>
      </p:sp>
      <p:sp>
        <p:nvSpPr>
          <p:cNvPr id="58397" name="Text Box 29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7" grpId="0" bldLvl="0" animBg="1"/>
      <p:bldP spid="59408" grpId="0" bldLvl="0" animBg="1"/>
      <p:bldP spid="59409" grpId="0" bldLvl="0" animBg="1"/>
      <p:bldP spid="59410" grpId="0" bldLvl="0" animBg="1"/>
      <p:bldP spid="59412" grpId="0"/>
      <p:bldP spid="59413" grpId="0"/>
      <p:bldP spid="59414" grpId="0"/>
      <p:bldP spid="594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Text Box 4"/>
          <p:cNvSpPr txBox="1"/>
          <p:nvPr/>
        </p:nvSpPr>
        <p:spPr>
          <a:xfrm>
            <a:off x="1638300" y="1036956"/>
            <a:ext cx="891540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根据谱系聚类图可得到分类的结果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若分为两类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则分为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 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若分为三类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则分为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};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若分为四类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则分为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},{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{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若分为五类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则分为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},{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},{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},{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{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4630738" y="52388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应用简例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/>
          <p:cNvSpPr txBox="1"/>
          <p:nvPr/>
        </p:nvSpPr>
        <p:spPr>
          <a:xfrm>
            <a:off x="1943100" y="1255396"/>
            <a:ext cx="8382000" cy="194764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系统聚类法的聚类原则决定于样品间的距离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(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或相似系数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)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及类间距离的定义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,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类间距离的不同定义就产生了不同的系统聚类分析方法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.</a:t>
            </a:r>
            <a:endParaRPr lang="zh-CN" altLang="zh-CN" sz="2800" dirty="0">
              <a:solidFill>
                <a:srgbClr val="800000"/>
              </a:solidFill>
              <a:latin typeface="Arial" panose="020B0604020202090204" pitchFamily="34" charset="0"/>
            </a:endParaRPr>
          </a:p>
        </p:txBody>
      </p:sp>
      <p:sp>
        <p:nvSpPr>
          <p:cNvPr id="61444" name="Text Box 4"/>
          <p:cNvSpPr txBox="1"/>
          <p:nvPr/>
        </p:nvSpPr>
        <p:spPr>
          <a:xfrm>
            <a:off x="1828800" y="3276601"/>
            <a:ext cx="8610600" cy="19495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几个记号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zh-CN" altLang="zh-CN" sz="2800" i="1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20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表示样品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之间的距离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zh-CN" altLang="zh-CN" sz="2800" i="1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0421" name="Text Box 5"/>
          <p:cNvSpPr txBox="1"/>
          <p:nvPr/>
        </p:nvSpPr>
        <p:spPr>
          <a:xfrm>
            <a:off x="2897517" y="404265"/>
            <a:ext cx="5827236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二、系统聚类分析的方法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/>
          <p:nvPr/>
        </p:nvSpPr>
        <p:spPr>
          <a:xfrm>
            <a:off x="1752600" y="803276"/>
            <a:ext cx="8534400" cy="19476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最短距离法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(SINgle linkage)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类与类之间的距离定义为两类中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最近样品之间的距离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即类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之间的距离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定义为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1444" name="Text Box 4"/>
          <p:cNvSpPr txBox="1"/>
          <p:nvPr/>
        </p:nvSpPr>
        <p:spPr>
          <a:xfrm>
            <a:off x="3260726" y="32210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61446" name="Text Box 6"/>
          <p:cNvSpPr txBox="1"/>
          <p:nvPr/>
        </p:nvSpPr>
        <p:spPr>
          <a:xfrm>
            <a:off x="2727326" y="3906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61448" name="Text Box 8"/>
          <p:cNvSpPr txBox="1"/>
          <p:nvPr/>
        </p:nvSpPr>
        <p:spPr>
          <a:xfrm>
            <a:off x="2057401" y="4938713"/>
            <a:ext cx="8016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62473" name="Text Box 9"/>
          <p:cNvSpPr txBox="1"/>
          <p:nvPr/>
        </p:nvSpPr>
        <p:spPr>
          <a:xfrm>
            <a:off x="1778479" y="4671078"/>
            <a:ext cx="8736014" cy="19476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比如:当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={1,2},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={4.5,6}时,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D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=4.5-2=2.5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(即最近两样品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=4.5之间的距离)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1450" name="Text Box 10"/>
          <p:cNvSpPr txBox="1"/>
          <p:nvPr/>
        </p:nvSpPr>
        <p:spPr>
          <a:xfrm>
            <a:off x="2208213" y="163514"/>
            <a:ext cx="693330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最短距离法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228473" y="2867664"/>
          <a:ext cx="2592520" cy="78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4079200" imgH="7315200" progId="Equation.DSMT4">
                  <p:embed/>
                </p:oleObj>
              </mc:Choice>
              <mc:Fallback>
                <p:oleObj name="Equation" r:id="rId1" imgW="24079200" imgH="73152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28473" y="2867664"/>
                        <a:ext cx="2592520" cy="787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259810" y="3685783"/>
          <a:ext cx="4561183" cy="97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27127200" imgH="5791200" progId="Equation.DSMT4">
                  <p:embed/>
                </p:oleObj>
              </mc:Choice>
              <mc:Fallback>
                <p:oleObj name="Equation" r:id="rId3" imgW="27127200" imgH="5791200" progId="Equation.DSMT4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9810" y="3685783"/>
                        <a:ext cx="4561183" cy="974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/>
          <p:nvPr/>
        </p:nvSpPr>
        <p:spPr>
          <a:xfrm>
            <a:off x="2574926" y="162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63493" name="Text Box 5"/>
          <p:cNvSpPr txBox="1"/>
          <p:nvPr/>
        </p:nvSpPr>
        <p:spPr>
          <a:xfrm>
            <a:off x="1619886" y="5285741"/>
            <a:ext cx="8474075" cy="7425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.3.1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中类间距离就是使用最短距离法定义的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2470" name="Text Box 6"/>
          <p:cNvSpPr txBox="1"/>
          <p:nvPr/>
        </p:nvSpPr>
        <p:spPr>
          <a:xfrm>
            <a:off x="1828800" y="1157288"/>
            <a:ext cx="7651454" cy="13013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当某步类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按最短距离法计算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新类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的类间距离，递推公式为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2471" name="Text Box 7"/>
          <p:cNvSpPr txBox="1"/>
          <p:nvPr/>
        </p:nvSpPr>
        <p:spPr>
          <a:xfrm>
            <a:off x="2208213" y="163514"/>
            <a:ext cx="693330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最短距离法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35063" y="2732896"/>
          <a:ext cx="5176994" cy="2011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3340000" imgH="20726400" progId="Equation.DSMT4">
                  <p:embed/>
                </p:oleObj>
              </mc:Choice>
              <mc:Fallback>
                <p:oleObj name="Equation" r:id="rId1" imgW="53340000" imgH="20726400" progId="Equation.DSMT4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5063" y="2732896"/>
                        <a:ext cx="5176994" cy="2011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3783701" y="2838168"/>
          <a:ext cx="4913524" cy="205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43100" imgH="812800" progId="Equation.3">
                  <p:embed/>
                </p:oleObj>
              </mc:Choice>
              <mc:Fallback>
                <p:oleObj name="" r:id="rId1" imgW="1943100" imgH="8128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83701" y="2838168"/>
                        <a:ext cx="4913524" cy="2055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009955" y="5165745"/>
          <a:ext cx="7004649" cy="1153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032635" imgH="342900" progId="Equation.3">
                  <p:embed/>
                </p:oleObj>
              </mc:Choice>
              <mc:Fallback>
                <p:oleObj name="" r:id="rId3" imgW="2032635" imgH="3429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66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09955" y="5165745"/>
                        <a:ext cx="7004649" cy="115321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4"/>
          <p:cNvSpPr txBox="1"/>
          <p:nvPr/>
        </p:nvSpPr>
        <p:spPr>
          <a:xfrm>
            <a:off x="2574926" y="162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63493" name="Text Box 5"/>
          <p:cNvSpPr txBox="1"/>
          <p:nvPr/>
        </p:nvSpPr>
        <p:spPr>
          <a:xfrm>
            <a:off x="1655764" y="1159194"/>
            <a:ext cx="8664575" cy="19495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如第一步类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CL4)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按最短距离法计算新类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=3,4,5)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的类间距离，按递推公式计算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4519" name="Rectangle 7"/>
          <p:cNvSpPr/>
          <p:nvPr/>
        </p:nvSpPr>
        <p:spPr>
          <a:xfrm>
            <a:off x="6240463" y="2865626"/>
            <a:ext cx="2303462" cy="914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64520" name="Text Box 8"/>
          <p:cNvSpPr txBox="1"/>
          <p:nvPr/>
        </p:nvSpPr>
        <p:spPr>
          <a:xfrm>
            <a:off x="2396808" y="3512373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由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64521" name="Text Box 9"/>
          <p:cNvSpPr txBox="1"/>
          <p:nvPr/>
        </p:nvSpPr>
        <p:spPr>
          <a:xfrm>
            <a:off x="1827213" y="4632513"/>
            <a:ext cx="16049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6600FF"/>
                </a:solidFill>
                <a:latin typeface="Arial" panose="020B0604020202090204" pitchFamily="34" charset="0"/>
              </a:rPr>
              <a:t>可得</a:t>
            </a:r>
            <a:endParaRPr lang="zh-CN" altLang="en-US" sz="2800" dirty="0">
              <a:solidFill>
                <a:srgbClr val="6600FF"/>
              </a:solidFill>
              <a:latin typeface="Arial" panose="020B0604020202090204" pitchFamily="34" charset="0"/>
            </a:endParaRPr>
          </a:p>
        </p:txBody>
      </p:sp>
      <p:sp>
        <p:nvSpPr>
          <p:cNvPr id="63498" name="Text Box 10"/>
          <p:cNvSpPr txBox="1"/>
          <p:nvPr/>
        </p:nvSpPr>
        <p:spPr>
          <a:xfrm>
            <a:off x="2208213" y="310161"/>
            <a:ext cx="693330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最短距离法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3"/>
          <p:cNvSpPr txBox="1"/>
          <p:nvPr/>
        </p:nvSpPr>
        <p:spPr>
          <a:xfrm>
            <a:off x="1847850" y="734061"/>
            <a:ext cx="8763000" cy="19476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最长距离法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(COMplete method)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类与类之间的距离定义为两类中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最远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样品之间的距离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即类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之间的距离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定义为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4516" name="Text Box 4"/>
          <p:cNvSpPr txBox="1"/>
          <p:nvPr/>
        </p:nvSpPr>
        <p:spPr>
          <a:xfrm>
            <a:off x="3794126" y="3301554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65542" name="Text Box 6"/>
          <p:cNvSpPr txBox="1"/>
          <p:nvPr/>
        </p:nvSpPr>
        <p:spPr>
          <a:xfrm>
            <a:off x="1847851" y="4166741"/>
            <a:ext cx="8569325" cy="13013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按最长距离法计算新类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的类间距离也有类似的递推公式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4519" name="Text Box 7"/>
          <p:cNvSpPr txBox="1"/>
          <p:nvPr/>
        </p:nvSpPr>
        <p:spPr>
          <a:xfrm>
            <a:off x="3641726" y="5358954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65545" name="Text Box 9"/>
          <p:cNvSpPr txBox="1"/>
          <p:nvPr/>
        </p:nvSpPr>
        <p:spPr>
          <a:xfrm>
            <a:off x="1847851" y="3644454"/>
            <a:ext cx="80168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比如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={1,2},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={4.5,6}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=6-1=5 .</a:t>
            </a:r>
            <a:endParaRPr lang="zh-CN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4522" name="Text Box 10"/>
          <p:cNvSpPr txBox="1"/>
          <p:nvPr/>
        </p:nvSpPr>
        <p:spPr>
          <a:xfrm>
            <a:off x="2293303" y="94299"/>
            <a:ext cx="693330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系统聚类分析的方法--最长距离法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872481" y="2859603"/>
          <a:ext cx="2105302" cy="66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4079200" imgH="7620000" progId="Equation.DSMT4">
                  <p:embed/>
                </p:oleObj>
              </mc:Choice>
              <mc:Fallback>
                <p:oleObj name="Equation" r:id="rId1" imgW="24079200" imgH="76200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72481" y="2859603"/>
                        <a:ext cx="2105302" cy="66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883188" y="5620563"/>
          <a:ext cx="4350979" cy="523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48158400" imgH="5791200" progId="Equation.DSMT4">
                  <p:embed/>
                </p:oleObj>
              </mc:Choice>
              <mc:Fallback>
                <p:oleObj name="Equation" r:id="rId3" imgW="48158400" imgH="57912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3188" y="5620563"/>
                        <a:ext cx="4350979" cy="523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3"/>
          <p:cNvSpPr txBox="1"/>
          <p:nvPr/>
        </p:nvSpPr>
        <p:spPr>
          <a:xfrm>
            <a:off x="1911985" y="974725"/>
            <a:ext cx="8534400" cy="3107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中间距离法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(MEDian method)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如果类与类之间的距离既不采用两类间的最近距离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也不采用最远的距离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而是采用介于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两者间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这种方法称为中间距离法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5540" name="AutoShape 4"/>
          <p:cNvSpPr/>
          <p:nvPr/>
        </p:nvSpPr>
        <p:spPr>
          <a:xfrm>
            <a:off x="3352800" y="3886200"/>
            <a:ext cx="1371600" cy="914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zh-CN" b="1" i="1" dirty="0">
                <a:latin typeface="Arial" panose="020B0604020202090204" pitchFamily="34" charset="0"/>
              </a:rPr>
              <a:t>         </a:t>
            </a:r>
            <a:endParaRPr lang="zh-CN" altLang="zh-CN" b="1" dirty="0">
              <a:latin typeface="Arial" panose="020B0604020202090204" pitchFamily="34" charset="0"/>
            </a:endParaRPr>
          </a:p>
        </p:txBody>
      </p:sp>
      <p:sp>
        <p:nvSpPr>
          <p:cNvPr id="65541" name="Oval 5"/>
          <p:cNvSpPr/>
          <p:nvPr/>
        </p:nvSpPr>
        <p:spPr>
          <a:xfrm>
            <a:off x="3276600" y="5334000"/>
            <a:ext cx="1524000" cy="11430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zh-CN" b="1" i="1" dirty="0">
                <a:latin typeface="Arial" panose="020B0604020202090204" pitchFamily="34" charset="0"/>
              </a:rPr>
              <a:t>        G</a:t>
            </a:r>
            <a:r>
              <a:rPr lang="zh-CN" altLang="zh-CN" b="1" i="1" baseline="-22000" dirty="0">
                <a:latin typeface="Arial" panose="020B0604020202090204" pitchFamily="34" charset="0"/>
              </a:rPr>
              <a:t>q</a:t>
            </a:r>
            <a:endParaRPr lang="zh-CN" altLang="zh-CN" b="1" i="1" baseline="-22000" dirty="0">
              <a:latin typeface="Arial" panose="020B0604020202090204" pitchFamily="34" charset="0"/>
            </a:endParaRPr>
          </a:p>
        </p:txBody>
      </p:sp>
      <p:sp>
        <p:nvSpPr>
          <p:cNvPr id="65542" name="Text Box 6"/>
          <p:cNvSpPr txBox="1"/>
          <p:nvPr/>
        </p:nvSpPr>
        <p:spPr>
          <a:xfrm>
            <a:off x="2640013" y="4149726"/>
            <a:ext cx="609462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3200" b="1" i="1" dirty="0">
                <a:latin typeface="Arial" panose="020B0604020202090204" pitchFamily="34" charset="0"/>
              </a:rPr>
              <a:t>G</a:t>
            </a:r>
            <a:r>
              <a:rPr lang="zh-CN" altLang="zh-CN" sz="3200" b="1" i="1" baseline="-8000" dirty="0">
                <a:latin typeface="Arial" panose="020B0604020202090204" pitchFamily="34" charset="0"/>
              </a:rPr>
              <a:t>r</a:t>
            </a:r>
            <a:endParaRPr lang="zh-CN" altLang="zh-CN" sz="3200" b="1" i="1" dirty="0">
              <a:latin typeface="Arial" panose="020B0604020202090204" pitchFamily="34" charset="0"/>
            </a:endParaRPr>
          </a:p>
        </p:txBody>
      </p:sp>
      <p:sp>
        <p:nvSpPr>
          <p:cNvPr id="65543" name="Oval 7"/>
          <p:cNvSpPr/>
          <p:nvPr/>
        </p:nvSpPr>
        <p:spPr>
          <a:xfrm>
            <a:off x="7467600" y="3505200"/>
            <a:ext cx="914400" cy="15240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zh-CN" b="1" i="1" dirty="0">
                <a:latin typeface="Arial" panose="020B0604020202090204" pitchFamily="34" charset="0"/>
              </a:rPr>
              <a:t>      G</a:t>
            </a:r>
            <a:r>
              <a:rPr lang="zh-CN" altLang="zh-CN" b="1" i="1" baseline="-16000" dirty="0">
                <a:latin typeface="Arial" panose="020B0604020202090204" pitchFamily="34" charset="0"/>
              </a:rPr>
              <a:t>k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65544" name="Line 8"/>
          <p:cNvSpPr/>
          <p:nvPr/>
        </p:nvSpPr>
        <p:spPr>
          <a:xfrm flipV="1">
            <a:off x="3962400" y="4343400"/>
            <a:ext cx="3962400" cy="0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45" name="Line 9"/>
          <p:cNvSpPr/>
          <p:nvPr/>
        </p:nvSpPr>
        <p:spPr>
          <a:xfrm flipV="1">
            <a:off x="3935413" y="4365626"/>
            <a:ext cx="3960812" cy="1584325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46" name="Line 10"/>
          <p:cNvSpPr/>
          <p:nvPr/>
        </p:nvSpPr>
        <p:spPr>
          <a:xfrm flipV="1">
            <a:off x="3962400" y="4343400"/>
            <a:ext cx="3962400" cy="8382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47" name="Text Box 11"/>
          <p:cNvSpPr txBox="1"/>
          <p:nvPr/>
        </p:nvSpPr>
        <p:spPr>
          <a:xfrm>
            <a:off x="5087939" y="3860800"/>
            <a:ext cx="1944687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</a:rPr>
              <a:t>D</a:t>
            </a:r>
            <a:r>
              <a:rPr lang="zh-CN" altLang="zh-CN" b="1" i="1" baseline="-14000" dirty="0">
                <a:latin typeface="Arial" panose="020B0604020202090204" pitchFamily="34" charset="0"/>
              </a:rPr>
              <a:t>rk</a:t>
            </a:r>
            <a:r>
              <a:rPr lang="zh-CN" altLang="zh-CN" b="1" dirty="0">
                <a:latin typeface="Arial" panose="020B0604020202090204" pitchFamily="34" charset="0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短</a:t>
            </a:r>
            <a:r>
              <a:rPr lang="zh-CN" altLang="zh-CN" b="1" dirty="0">
                <a:latin typeface="Arial" panose="020B0604020202090204" pitchFamily="34" charset="0"/>
              </a:rPr>
              <a:t>)=</a:t>
            </a:r>
            <a:r>
              <a:rPr lang="zh-CN" altLang="zh-CN" b="1" i="1" dirty="0">
                <a:latin typeface="Arial" panose="020B0604020202090204" pitchFamily="34" charset="0"/>
              </a:rPr>
              <a:t>D</a:t>
            </a:r>
            <a:r>
              <a:rPr lang="zh-CN" altLang="zh-CN" b="1" i="1" baseline="-14000" dirty="0">
                <a:latin typeface="Arial" panose="020B0604020202090204" pitchFamily="34" charset="0"/>
              </a:rPr>
              <a:t>pk</a:t>
            </a:r>
            <a:endParaRPr lang="zh-CN" altLang="zh-CN" b="1" dirty="0">
              <a:latin typeface="Arial" panose="020B0604020202090204" pitchFamily="34" charset="0"/>
            </a:endParaRPr>
          </a:p>
        </p:txBody>
      </p:sp>
      <p:sp>
        <p:nvSpPr>
          <p:cNvPr id="65548" name="Text Box 12"/>
          <p:cNvSpPr txBox="1"/>
          <p:nvPr/>
        </p:nvSpPr>
        <p:spPr>
          <a:xfrm>
            <a:off x="5546725" y="5146675"/>
            <a:ext cx="2133600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</a:rPr>
              <a:t>D</a:t>
            </a:r>
            <a:r>
              <a:rPr lang="zh-CN" altLang="zh-CN" b="1" i="1" baseline="-14000" dirty="0">
                <a:latin typeface="Arial" panose="020B0604020202090204" pitchFamily="34" charset="0"/>
              </a:rPr>
              <a:t>rk</a:t>
            </a:r>
            <a:r>
              <a:rPr lang="zh-CN" altLang="zh-CN" b="1" dirty="0">
                <a:latin typeface="Arial" panose="020B0604020202090204" pitchFamily="34" charset="0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长</a:t>
            </a:r>
            <a:r>
              <a:rPr lang="zh-CN" altLang="zh-CN" b="1" dirty="0">
                <a:latin typeface="Arial" panose="020B0604020202090204" pitchFamily="34" charset="0"/>
              </a:rPr>
              <a:t>)=</a:t>
            </a:r>
            <a:r>
              <a:rPr lang="zh-CN" altLang="zh-CN" b="1" i="1" dirty="0">
                <a:latin typeface="Arial" panose="020B0604020202090204" pitchFamily="34" charset="0"/>
              </a:rPr>
              <a:t>D</a:t>
            </a:r>
            <a:r>
              <a:rPr lang="zh-CN" altLang="zh-CN" b="1" i="1" baseline="-14000" dirty="0">
                <a:latin typeface="Arial" panose="020B0604020202090204" pitchFamily="34" charset="0"/>
              </a:rPr>
              <a:t>qk</a:t>
            </a:r>
            <a:endParaRPr lang="zh-CN" altLang="zh-CN" b="1" i="1" baseline="-14000" dirty="0">
              <a:latin typeface="Arial" panose="020B0604020202090204" pitchFamily="34" charset="0"/>
            </a:endParaRPr>
          </a:p>
        </p:txBody>
      </p:sp>
      <p:sp>
        <p:nvSpPr>
          <p:cNvPr id="65549" name="Text Box 13"/>
          <p:cNvSpPr txBox="1"/>
          <p:nvPr/>
        </p:nvSpPr>
        <p:spPr>
          <a:xfrm>
            <a:off x="4800601" y="4419600"/>
            <a:ext cx="907621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i="1" dirty="0">
                <a:solidFill>
                  <a:srgbClr val="FF3300"/>
                </a:solidFill>
                <a:latin typeface="Arial" panose="020B0604020202090204" pitchFamily="34" charset="0"/>
              </a:rPr>
              <a:t>D</a:t>
            </a:r>
            <a:r>
              <a:rPr lang="zh-CN" altLang="zh-CN" b="1" i="1" baseline="-14000" dirty="0">
                <a:solidFill>
                  <a:srgbClr val="FF3300"/>
                </a:solidFill>
                <a:latin typeface="Arial" panose="020B0604020202090204" pitchFamily="34" charset="0"/>
              </a:rPr>
              <a:t>rk</a:t>
            </a:r>
            <a:r>
              <a:rPr lang="zh-CN" altLang="zh-CN" b="1" dirty="0">
                <a:solidFill>
                  <a:srgbClr val="FF3300"/>
                </a:solidFill>
                <a:latin typeface="Arial" panose="020B0604020202090204" pitchFamily="34" charset="0"/>
              </a:rPr>
              <a:t>(</a:t>
            </a:r>
            <a:r>
              <a:rPr lang="zh-CN" altLang="en-US" sz="2000" b="1" dirty="0">
                <a:solidFill>
                  <a:srgbClr val="FF3300"/>
                </a:solidFill>
                <a:latin typeface="宋体" pitchFamily="2" charset="-122"/>
              </a:rPr>
              <a:t>中</a:t>
            </a:r>
            <a:r>
              <a:rPr lang="zh-CN" altLang="zh-CN" b="1" dirty="0">
                <a:solidFill>
                  <a:srgbClr val="FF3300"/>
                </a:solidFill>
                <a:latin typeface="Arial" panose="020B0604020202090204" pitchFamily="34" charset="0"/>
              </a:rPr>
              <a:t>)</a:t>
            </a:r>
            <a:endParaRPr lang="zh-CN" altLang="zh-CN" b="1" dirty="0">
              <a:latin typeface="Arial" panose="020B0604020202090204" pitchFamily="34" charset="0"/>
            </a:endParaRPr>
          </a:p>
        </p:txBody>
      </p:sp>
      <p:sp>
        <p:nvSpPr>
          <p:cNvPr id="65550" name="Line 14"/>
          <p:cNvSpPr/>
          <p:nvPr/>
        </p:nvSpPr>
        <p:spPr>
          <a:xfrm flipV="1">
            <a:off x="3962400" y="4343400"/>
            <a:ext cx="0" cy="1600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51" name="Text Box 15"/>
          <p:cNvSpPr txBox="1"/>
          <p:nvPr/>
        </p:nvSpPr>
        <p:spPr>
          <a:xfrm>
            <a:off x="3505200" y="3886200"/>
            <a:ext cx="458780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</a:rPr>
              <a:t>G</a:t>
            </a:r>
            <a:r>
              <a:rPr lang="zh-CN" altLang="zh-CN" b="1" i="1" baseline="-20000" dirty="0">
                <a:latin typeface="Arial" panose="020B0604020202090204" pitchFamily="34" charset="0"/>
              </a:rPr>
              <a:t>p</a:t>
            </a:r>
            <a:endParaRPr lang="zh-CN" altLang="zh-CN" b="1" i="1" baseline="-20000" dirty="0">
              <a:latin typeface="Arial" panose="020B0604020202090204" pitchFamily="34" charset="0"/>
            </a:endParaRPr>
          </a:p>
        </p:txBody>
      </p:sp>
      <p:sp>
        <p:nvSpPr>
          <p:cNvPr id="65552" name="AutoShape 16"/>
          <p:cNvSpPr/>
          <p:nvPr/>
        </p:nvSpPr>
        <p:spPr>
          <a:xfrm>
            <a:off x="3200400" y="3733800"/>
            <a:ext cx="1676400" cy="2819400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5553" name="Text Box 17"/>
          <p:cNvSpPr txBox="1"/>
          <p:nvPr/>
        </p:nvSpPr>
        <p:spPr>
          <a:xfrm>
            <a:off x="2209801" y="5638800"/>
            <a:ext cx="540533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i="1" dirty="0">
                <a:latin typeface="Arial" panose="020B0604020202090204" pitchFamily="34" charset="0"/>
              </a:rPr>
              <a:t>D</a:t>
            </a:r>
            <a:r>
              <a:rPr lang="zh-CN" altLang="zh-CN" b="1" i="1" baseline="-14000" dirty="0">
                <a:latin typeface="Arial" panose="020B0604020202090204" pitchFamily="34" charset="0"/>
              </a:rPr>
              <a:t>pq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65554" name="Line 18"/>
          <p:cNvSpPr/>
          <p:nvPr/>
        </p:nvSpPr>
        <p:spPr>
          <a:xfrm flipH="1">
            <a:off x="2743200" y="4953000"/>
            <a:ext cx="12192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55" name="Text Box 19"/>
          <p:cNvSpPr txBox="1"/>
          <p:nvPr/>
        </p:nvSpPr>
        <p:spPr>
          <a:xfrm>
            <a:off x="2208213" y="163514"/>
            <a:ext cx="693330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系统聚类分析的方法--中间距离法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3"/>
          <p:cNvSpPr txBox="1"/>
          <p:nvPr/>
        </p:nvSpPr>
        <p:spPr>
          <a:xfrm>
            <a:off x="3032126" y="1925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66565" name="Text Box 5"/>
          <p:cNvSpPr txBox="1"/>
          <p:nvPr/>
        </p:nvSpPr>
        <p:spPr>
          <a:xfrm>
            <a:off x="1819275" y="1229878"/>
            <a:ext cx="8229600" cy="13031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当某步类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后,按中间距离法 计算新类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的类间距离，递推公式为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7590" name="Text Box 6"/>
          <p:cNvSpPr txBox="1"/>
          <p:nvPr/>
        </p:nvSpPr>
        <p:spPr>
          <a:xfrm>
            <a:off x="1819275" y="3887748"/>
            <a:ext cx="8804910" cy="13031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β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=-1/4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由初等几何知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就是上面三角形的中线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如果用最长距离法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rk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qk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用最短距离法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rk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pk 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6567" name="Text Box 7"/>
          <p:cNvSpPr txBox="1"/>
          <p:nvPr/>
        </p:nvSpPr>
        <p:spPr>
          <a:xfrm>
            <a:off x="2208213" y="163514"/>
            <a:ext cx="693330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系统聚类分析的方法--中间距离法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819275" y="2771140"/>
          <a:ext cx="8785225" cy="878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94488000" imgH="9448800" progId="Equation.DSMT4">
                  <p:embed/>
                </p:oleObj>
              </mc:Choice>
              <mc:Fallback>
                <p:oleObj name="Equation" r:id="rId1" imgW="94488000" imgH="94488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19275" y="2771140"/>
                        <a:ext cx="8785225" cy="878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ext Box 3"/>
          <p:cNvSpPr txBox="1"/>
          <p:nvPr/>
        </p:nvSpPr>
        <p:spPr>
          <a:xfrm>
            <a:off x="1774825" y="4606925"/>
            <a:ext cx="8458200" cy="13013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设某一步将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合并成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它们所包含的样品个数分别为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重心分别为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7588" name="Text Box 4"/>
          <p:cNvSpPr txBox="1"/>
          <p:nvPr/>
        </p:nvSpPr>
        <p:spPr>
          <a:xfrm>
            <a:off x="2879726" y="5659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67590" name="Text Box 6"/>
          <p:cNvSpPr txBox="1"/>
          <p:nvPr/>
        </p:nvSpPr>
        <p:spPr>
          <a:xfrm>
            <a:off x="1774826" y="802959"/>
            <a:ext cx="8640763" cy="3322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重心法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(CENtroid method)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在定义类与类之间距离时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考虑每一类中所包含的样品个数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将两类间的距离定义为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两类重心间的距离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这种聚类方法称为重心法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对样品分类而言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每一类的重心就是属于该类样品的均值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615" name="Text Box 7"/>
          <p:cNvSpPr txBox="1"/>
          <p:nvPr/>
        </p:nvSpPr>
        <p:spPr>
          <a:xfrm>
            <a:off x="1791760" y="4106372"/>
            <a:ext cx="86407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比如:当</a:t>
            </a:r>
            <a:r>
              <a:rPr lang="zh-CN" altLang="en-US" sz="24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400" b="1" baseline="-200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={1,2},</a:t>
            </a:r>
            <a:r>
              <a:rPr lang="zh-CN" altLang="en-US" sz="24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400" b="1" baseline="-200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={4.5,6}时,</a:t>
            </a:r>
            <a:r>
              <a:rPr lang="zh-CN" altLang="en-US" sz="2400" b="1" i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D</a:t>
            </a:r>
            <a:r>
              <a:rPr lang="zh-CN" altLang="en-US" sz="2400" b="1" baseline="-200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12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=5.25-1.5=3.75 </a:t>
            </a:r>
            <a:endParaRPr lang="zh-CN" altLang="en-US" sz="2400" b="1" dirty="0">
              <a:solidFill>
                <a:schemeClr val="accent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7592" name="Text Box 8"/>
          <p:cNvSpPr txBox="1"/>
          <p:nvPr/>
        </p:nvSpPr>
        <p:spPr>
          <a:xfrm>
            <a:off x="2208214" y="163514"/>
            <a:ext cx="600997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系统聚类分析的方法--重心法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845604" y="5430837"/>
          <a:ext cx="2238675" cy="49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4688800" imgH="5486400" progId="Equation.DSMT4">
                  <p:embed/>
                </p:oleObj>
              </mc:Choice>
              <mc:Fallback>
                <p:oleObj name="Equation" r:id="rId1" imgW="24688800" imgH="54864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45604" y="5430837"/>
                        <a:ext cx="2238675" cy="497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ext Box 3"/>
          <p:cNvSpPr txBox="1"/>
          <p:nvPr/>
        </p:nvSpPr>
        <p:spPr>
          <a:xfrm>
            <a:off x="2270126" y="1417003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612" name="Text Box 4"/>
          <p:cNvSpPr txBox="1"/>
          <p:nvPr/>
        </p:nvSpPr>
        <p:spPr>
          <a:xfrm>
            <a:off x="3870326" y="3855403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614" name="Text Box 6"/>
          <p:cNvSpPr txBox="1"/>
          <p:nvPr/>
        </p:nvSpPr>
        <p:spPr>
          <a:xfrm>
            <a:off x="1905000" y="1472565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</a:rPr>
              <a:t>显然有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69639" name="Text Box 7"/>
          <p:cNvSpPr txBox="1"/>
          <p:nvPr/>
        </p:nvSpPr>
        <p:spPr>
          <a:xfrm>
            <a:off x="1828801" y="2068946"/>
            <a:ext cx="8401049" cy="953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设某一类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≠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)的重心为         ,它与新类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的距离是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616" name="Text Box 8"/>
          <p:cNvSpPr txBox="1"/>
          <p:nvPr/>
        </p:nvSpPr>
        <p:spPr>
          <a:xfrm>
            <a:off x="7070726" y="3474403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618" name="Text Box 10"/>
          <p:cNvSpPr txBox="1"/>
          <p:nvPr/>
        </p:nvSpPr>
        <p:spPr>
          <a:xfrm>
            <a:off x="3222625" y="5326063"/>
            <a:ext cx="1841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9643" name="Text Box 11"/>
          <p:cNvSpPr txBox="1"/>
          <p:nvPr/>
        </p:nvSpPr>
        <p:spPr>
          <a:xfrm>
            <a:off x="1847850" y="3364865"/>
            <a:ext cx="6316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如果样品间的距离定义为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欧氏距离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,则有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69644" name="Object 12"/>
          <p:cNvGraphicFramePr>
            <a:graphicFrameLocks noChangeAspect="1"/>
          </p:cNvGraphicFramePr>
          <p:nvPr/>
        </p:nvGraphicFramePr>
        <p:xfrm>
          <a:off x="1692276" y="4107162"/>
          <a:ext cx="7977936" cy="193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741930" imgH="711200" progId="Equation.3">
                  <p:embed/>
                </p:oleObj>
              </mc:Choice>
              <mc:Fallback>
                <p:oleObj name="" r:id="rId1" imgW="2741930" imgH="711200" progId="Equation.3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6" y="4107162"/>
                        <a:ext cx="7977936" cy="1939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3"/>
          <p:cNvGraphicFramePr>
            <a:graphicFrameLocks noGrp="1" noChangeAspect="1"/>
          </p:cNvGraphicFramePr>
          <p:nvPr>
            <p:ph idx="1"/>
          </p:nvPr>
        </p:nvGraphicFramePr>
        <p:xfrm>
          <a:off x="3438525" y="1208088"/>
          <a:ext cx="41116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0538400" imgH="10363200" progId="Equation.DSMT4">
                  <p:embed/>
                </p:oleObj>
              </mc:Choice>
              <mc:Fallback>
                <p:oleObj name="Equation" r:id="rId3" imgW="40538400" imgH="103632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8525" y="1208088"/>
                        <a:ext cx="4111625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2" name="Text Box 14"/>
          <p:cNvSpPr txBox="1"/>
          <p:nvPr/>
        </p:nvSpPr>
        <p:spPr>
          <a:xfrm>
            <a:off x="2208214" y="163514"/>
            <a:ext cx="600997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系统聚类分析的方法--重心法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173517" y="2091988"/>
          <a:ext cx="675857" cy="422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315200" imgH="4572000" progId="Equation.DSMT4">
                  <p:embed/>
                </p:oleObj>
              </mc:Choice>
              <mc:Fallback>
                <p:oleObj name="Equation" r:id="rId5" imgW="7315200" imgH="45720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3517" y="2091988"/>
                        <a:ext cx="675857" cy="422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51414" y="2698733"/>
          <a:ext cx="2797960" cy="565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28651200" imgH="5791200" progId="Equation.DSMT4">
                  <p:embed/>
                </p:oleObj>
              </mc:Choice>
              <mc:Fallback>
                <p:oleObj name="Equation" r:id="rId7" imgW="28651200" imgH="5791200" progId="Equation.DSMT4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51414" y="2698733"/>
                        <a:ext cx="2797960" cy="565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1846264" y="1295400"/>
          <a:ext cx="8821737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318000" imgH="2197100" progId="Equation.3">
                  <p:embed/>
                </p:oleObj>
              </mc:Choice>
              <mc:Fallback>
                <p:oleObj name="" r:id="rId1" imgW="4318000" imgH="21971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6264" y="1295400"/>
                        <a:ext cx="8821737" cy="502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Line 4"/>
          <p:cNvSpPr/>
          <p:nvPr/>
        </p:nvSpPr>
        <p:spPr>
          <a:xfrm>
            <a:off x="5486400" y="3352800"/>
            <a:ext cx="16764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61" name="Line 5"/>
          <p:cNvSpPr/>
          <p:nvPr/>
        </p:nvSpPr>
        <p:spPr>
          <a:xfrm>
            <a:off x="7391400" y="5257800"/>
            <a:ext cx="32766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62" name="Line 6"/>
          <p:cNvSpPr/>
          <p:nvPr/>
        </p:nvSpPr>
        <p:spPr>
          <a:xfrm>
            <a:off x="5486400" y="4267200"/>
            <a:ext cx="16764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63" name="Line 7"/>
          <p:cNvSpPr/>
          <p:nvPr/>
        </p:nvSpPr>
        <p:spPr>
          <a:xfrm>
            <a:off x="5334000" y="6324600"/>
            <a:ext cx="31242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40" name="Text Box 8"/>
          <p:cNvSpPr txBox="1"/>
          <p:nvPr/>
        </p:nvSpPr>
        <p:spPr>
          <a:xfrm>
            <a:off x="2208214" y="163514"/>
            <a:ext cx="600997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系统聚类分析的方法--重心法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1878330" y="1252855"/>
          <a:ext cx="86106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946400" imgH="1752600" progId="Equation.3">
                  <p:embed/>
                </p:oleObj>
              </mc:Choice>
              <mc:Fallback>
                <p:oleObj name="" r:id="rId1" imgW="2946400" imgH="17526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8330" y="1252855"/>
                        <a:ext cx="8610600" cy="449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Line 5"/>
          <p:cNvSpPr/>
          <p:nvPr/>
        </p:nvSpPr>
        <p:spPr>
          <a:xfrm>
            <a:off x="2711451" y="2636838"/>
            <a:ext cx="1584325" cy="0"/>
          </a:xfrm>
          <a:prstGeom prst="line">
            <a:avLst/>
          </a:prstGeom>
          <a:ln w="38100" cap="flat" cmpd="sng">
            <a:solidFill>
              <a:srgbClr val="CC00FF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86" name="Line 6"/>
          <p:cNvSpPr/>
          <p:nvPr/>
        </p:nvSpPr>
        <p:spPr>
          <a:xfrm>
            <a:off x="6311901" y="2636838"/>
            <a:ext cx="1584325" cy="0"/>
          </a:xfrm>
          <a:prstGeom prst="line">
            <a:avLst/>
          </a:prstGeom>
          <a:ln w="38100" cap="flat" cmpd="sng">
            <a:solidFill>
              <a:srgbClr val="CC00FF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87" name="Line 7"/>
          <p:cNvSpPr/>
          <p:nvPr/>
        </p:nvSpPr>
        <p:spPr>
          <a:xfrm>
            <a:off x="2782889" y="5949950"/>
            <a:ext cx="1296987" cy="0"/>
          </a:xfrm>
          <a:prstGeom prst="line">
            <a:avLst/>
          </a:prstGeom>
          <a:ln w="38100" cap="flat" cmpd="sng">
            <a:solidFill>
              <a:srgbClr val="CC00FF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88" name="Line 8"/>
          <p:cNvSpPr/>
          <p:nvPr/>
        </p:nvSpPr>
        <p:spPr>
          <a:xfrm>
            <a:off x="4583114" y="2708275"/>
            <a:ext cx="1368425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89" name="Line 9"/>
          <p:cNvSpPr/>
          <p:nvPr/>
        </p:nvSpPr>
        <p:spPr>
          <a:xfrm>
            <a:off x="8328026" y="2708275"/>
            <a:ext cx="1368425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90" name="Line 10"/>
          <p:cNvSpPr/>
          <p:nvPr/>
        </p:nvSpPr>
        <p:spPr>
          <a:xfrm>
            <a:off x="4295776" y="5949950"/>
            <a:ext cx="1368425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91" name="Line 11"/>
          <p:cNvSpPr/>
          <p:nvPr/>
        </p:nvSpPr>
        <p:spPr>
          <a:xfrm>
            <a:off x="4295776" y="3500438"/>
            <a:ext cx="2232025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92" name="Line 12"/>
          <p:cNvSpPr/>
          <p:nvPr/>
        </p:nvSpPr>
        <p:spPr>
          <a:xfrm>
            <a:off x="6024563" y="5949950"/>
            <a:ext cx="1655762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93" name="Line 13"/>
          <p:cNvSpPr/>
          <p:nvPr/>
        </p:nvSpPr>
        <p:spPr>
          <a:xfrm>
            <a:off x="4224339" y="4581525"/>
            <a:ext cx="2232025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70" name="Text Box 14"/>
          <p:cNvSpPr txBox="1"/>
          <p:nvPr/>
        </p:nvSpPr>
        <p:spPr>
          <a:xfrm>
            <a:off x="2208214" y="163514"/>
            <a:ext cx="600997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系统聚类分析的方法--重心法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Text Box 3"/>
          <p:cNvSpPr txBox="1"/>
          <p:nvPr/>
        </p:nvSpPr>
        <p:spPr>
          <a:xfrm>
            <a:off x="1302589" y="960155"/>
            <a:ext cx="9747849" cy="25958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类平均法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(AVErage linkage)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重心法虽有较好的代表性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但并未充分利用各个样品的信息。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宋体" pitchFamily="2" charset="-122"/>
              </a:rPr>
              <a:t>类平均法把类与类之间的距离定义为</a:t>
            </a:r>
            <a:r>
              <a:rPr lang="zh-CN" altLang="en-US" sz="2800" dirty="0">
                <a:solidFill>
                  <a:srgbClr val="0000CC"/>
                </a:solidFill>
                <a:latin typeface="宋体" pitchFamily="2" charset="-122"/>
              </a:rPr>
              <a:t>两类样品两两之间的平均平方距离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即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1691" name="Text Box 11"/>
          <p:cNvSpPr txBox="1"/>
          <p:nvPr/>
        </p:nvSpPr>
        <p:spPr>
          <a:xfrm>
            <a:off x="2208214" y="163514"/>
            <a:ext cx="647164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系统聚类分析的方法--类平均法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Text Box 5"/>
          <p:cNvSpPr txBox="1"/>
          <p:nvPr/>
        </p:nvSpPr>
        <p:spPr>
          <a:xfrm>
            <a:off x="3565526" y="5049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4" name="Text Box 6"/>
          <p:cNvSpPr txBox="1"/>
          <p:nvPr/>
        </p:nvSpPr>
        <p:spPr>
          <a:xfrm>
            <a:off x="3260726" y="5811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5" name="Text Box 7"/>
          <p:cNvSpPr txBox="1"/>
          <p:nvPr/>
        </p:nvSpPr>
        <p:spPr>
          <a:xfrm>
            <a:off x="1593749" y="3911580"/>
            <a:ext cx="8526462" cy="259583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比如:当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={1,2},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={4.5,6}时,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[(4.5-1)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+(4.5-2)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+(6-1)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+(6-2)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]/4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= [12.25+6.25+25+16]/4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= 59.5/4 = 14.875   或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3.85681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4190206" y="2768600"/>
          <a:ext cx="381158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23975" imgH="458470" progId="Equation.3">
                  <p:embed/>
                </p:oleObj>
              </mc:Choice>
              <mc:Fallback>
                <p:oleObj name="" r:id="rId1" imgW="1323975" imgH="458470" progId="Equation.3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0206" y="2768600"/>
                        <a:ext cx="3811588" cy="132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/>
          <p:nvPr/>
        </p:nvSpPr>
        <p:spPr>
          <a:xfrm>
            <a:off x="3184526" y="2840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3732" name="Text Box 4"/>
          <p:cNvSpPr txBox="1"/>
          <p:nvPr/>
        </p:nvSpPr>
        <p:spPr>
          <a:xfrm>
            <a:off x="3565526" y="5049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3733" name="Text Box 5"/>
          <p:cNvSpPr txBox="1"/>
          <p:nvPr/>
        </p:nvSpPr>
        <p:spPr>
          <a:xfrm>
            <a:off x="3260726" y="5811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3734" name="Text Box 6"/>
          <p:cNvSpPr txBox="1"/>
          <p:nvPr/>
        </p:nvSpPr>
        <p:spPr>
          <a:xfrm>
            <a:off x="1806516" y="1154927"/>
            <a:ext cx="8578966" cy="19674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设某一步将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合并成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它们所包含的样品个数分别为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的类间距离的递推公式为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3736" name="Text Box 8"/>
          <p:cNvSpPr txBox="1"/>
          <p:nvPr/>
        </p:nvSpPr>
        <p:spPr>
          <a:xfrm>
            <a:off x="2208214" y="163514"/>
            <a:ext cx="647164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系统聚类分析的方法--类平均法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46579" y="2959616"/>
          <a:ext cx="7326313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7325995" imgH="3695700" progId="Equation.DSMT4">
                  <p:embed/>
                </p:oleObj>
              </mc:Choice>
              <mc:Fallback>
                <p:oleObj name="Equation" r:id="rId1" imgW="7325995" imgH="36957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46579" y="2959616"/>
                        <a:ext cx="7326313" cy="369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Box 3"/>
          <p:cNvSpPr txBox="1"/>
          <p:nvPr/>
        </p:nvSpPr>
        <p:spPr>
          <a:xfrm>
            <a:off x="1830705" y="997586"/>
            <a:ext cx="845820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可变类平均法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(FLExible beta method)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类平均法的类间距离递推公式中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间的距离没有反映进去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有人建议将合并后新类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的距离公式改为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5780" name="Text Box 4"/>
          <p:cNvSpPr txBox="1"/>
          <p:nvPr/>
        </p:nvSpPr>
        <p:spPr>
          <a:xfrm>
            <a:off x="4098926" y="3983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6805" name="Text Box 5"/>
          <p:cNvSpPr txBox="1"/>
          <p:nvPr/>
        </p:nvSpPr>
        <p:spPr>
          <a:xfrm>
            <a:off x="1752600" y="5029200"/>
            <a:ext cx="8534400" cy="13031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β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是可变参数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一般取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β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&lt;1.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可变类平均法是由类平均法和中间距离法适当推广得到的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5782" name="Text Box 6"/>
          <p:cNvSpPr txBox="1"/>
          <p:nvPr/>
        </p:nvSpPr>
        <p:spPr>
          <a:xfrm>
            <a:off x="30321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76807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774825" y="3648075"/>
          <a:ext cx="856932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238500" imgH="457200" progId="Equation.3">
                  <p:embed/>
                </p:oleObj>
              </mc:Choice>
              <mc:Fallback>
                <p:oleObj name="" r:id="rId1" imgW="3238500" imgH="4572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4825" y="3648075"/>
                        <a:ext cx="8569325" cy="1209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4" name="Text Box 8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系统聚类分析的方法--可变类平均法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282507" y="3255745"/>
          <a:ext cx="748347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678430" imgH="393700" progId="Equation.3">
                  <p:embed/>
                </p:oleObj>
              </mc:Choice>
              <mc:Fallback>
                <p:oleObj name="" r:id="rId1" imgW="2678430" imgH="3937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2507" y="3255745"/>
                        <a:ext cx="7483475" cy="1100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4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3143250" y="5157788"/>
          <a:ext cx="65532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942465" imgH="254000" progId="Equation.3">
                  <p:embed/>
                </p:oleObj>
              </mc:Choice>
              <mc:Fallback>
                <p:oleObj name="" r:id="rId3" imgW="1942465" imgH="254000" progId="Equation.3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0" y="5157788"/>
                        <a:ext cx="6553200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7829" name="Text Box 5"/>
          <p:cNvSpPr txBox="1"/>
          <p:nvPr/>
        </p:nvSpPr>
        <p:spPr>
          <a:xfrm>
            <a:off x="1795145" y="1102679"/>
            <a:ext cx="8458200" cy="194950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7.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可变法及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McQuitty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相似分析法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(MCQ)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可变法把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的类间距离的递推公式定义为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β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&lt;1)     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6806" name="Text Box 6"/>
          <p:cNvSpPr txBox="1"/>
          <p:nvPr/>
        </p:nvSpPr>
        <p:spPr>
          <a:xfrm>
            <a:off x="2803526" y="3373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6807" name="Text Box 7"/>
          <p:cNvSpPr txBox="1"/>
          <p:nvPr/>
        </p:nvSpPr>
        <p:spPr>
          <a:xfrm>
            <a:off x="2574926" y="3525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7832" name="Text Box 8"/>
          <p:cNvSpPr txBox="1"/>
          <p:nvPr/>
        </p:nvSpPr>
        <p:spPr>
          <a:xfrm>
            <a:off x="1752600" y="4572000"/>
            <a:ext cx="8458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cluster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过程中使用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β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时的递推公式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7833" name="Text Box 9"/>
          <p:cNvSpPr txBox="1"/>
          <p:nvPr/>
        </p:nvSpPr>
        <p:spPr>
          <a:xfrm>
            <a:off x="1752601" y="6035675"/>
            <a:ext cx="73755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并把此方法称为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McQuitty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相似分析法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6811" name="Text Box 11"/>
          <p:cNvSpPr txBox="1"/>
          <p:nvPr/>
        </p:nvSpPr>
        <p:spPr>
          <a:xfrm>
            <a:off x="2208213" y="163514"/>
            <a:ext cx="8065028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可变法及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MCQ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8851" name="Text Box 3"/>
              <p:cNvSpPr txBox="1"/>
              <p:nvPr/>
            </p:nvSpPr>
            <p:spPr>
              <a:xfrm>
                <a:off x="630621" y="803276"/>
                <a:ext cx="10350062" cy="47808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zh-CN" sz="2800" dirty="0">
                    <a:solidFill>
                      <a:srgbClr val="FF33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8. </a:t>
                </a:r>
                <a:r>
                  <a:rPr lang="zh-CN" altLang="en-US" sz="2800" dirty="0">
                    <a:solidFill>
                      <a:srgbClr val="FF33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离差平方和法</a:t>
                </a:r>
                <a:r>
                  <a:rPr lang="zh-CN" altLang="zh-CN" sz="2800" dirty="0">
                    <a:solidFill>
                      <a:srgbClr val="FF33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(WARD)</a:t>
                </a:r>
                <a:endParaRPr lang="zh-CN" altLang="zh-CN" sz="2800" dirty="0">
                  <a:solidFill>
                    <a:srgbClr val="FF33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  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离差平方和法是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Ward(1936)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提出的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也称为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Ward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法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.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它基于方差分析思想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如果类分得正确 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则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同类样品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之间的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离差平方和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应当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较小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不同类样品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之间的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离差平方和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应当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较大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.</a:t>
                </a:r>
                <a:endPara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  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假定已将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n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个样品分为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k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类，记为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G</a:t>
                </a:r>
                <a:r>
                  <a:rPr lang="en-US" altLang="zh-CN" sz="2800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2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,…,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k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n</a:t>
                </a:r>
                <a:r>
                  <a:rPr lang="en-US" altLang="zh-CN" sz="2800" i="1" baseline="-250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表示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类样品个数，</a:t>
                </a:r>
                <a:r>
                  <a:rPr lang="zh-CN" alt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zh-CN" altLang="en-US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表示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的重心，</a:t>
                </a:r>
                <a:r>
                  <a:rPr lang="zh-CN" alt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zh-CN" altLang="en-US" sz="2800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中第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i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个样品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i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=1,2,…,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n</a:t>
                </a:r>
                <a:r>
                  <a:rPr lang="en-US" altLang="zh-CN" sz="2800" i="1" baseline="-250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)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，则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中样品的离差平方和为</a:t>
                </a:r>
                <a:endParaRPr lang="zh-CN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7885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21" y="803276"/>
                <a:ext cx="10350062" cy="4780861"/>
              </a:xfrm>
              <a:prstGeom prst="rect">
                <a:avLst/>
              </a:prstGeom>
              <a:blipFill rotWithShape="1">
                <a:blip r:embed="rId1"/>
                <a:stretch>
                  <a:fillRect l="-1" r="3" b="-58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28" name="Text Box 4"/>
          <p:cNvSpPr txBox="1"/>
          <p:nvPr/>
        </p:nvSpPr>
        <p:spPr>
          <a:xfrm>
            <a:off x="3336926" y="4592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7830" name="Text Box 6"/>
          <p:cNvSpPr txBox="1"/>
          <p:nvPr/>
        </p:nvSpPr>
        <p:spPr>
          <a:xfrm>
            <a:off x="2208214" y="163513"/>
            <a:ext cx="733361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3279058" y="5584137"/>
          <a:ext cx="4785004" cy="104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2" imgW="49072800" imgH="10668000" progId="Equation.DSMT4">
                  <p:embed/>
                </p:oleObj>
              </mc:Choice>
              <mc:Fallback>
                <p:oleObj name="Equation" r:id="rId2" imgW="49072800" imgH="106680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9058" y="5584137"/>
                        <a:ext cx="4785004" cy="1040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/>
          <p:nvPr/>
        </p:nvSpPr>
        <p:spPr>
          <a:xfrm>
            <a:off x="2727326" y="162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8855" name="Text Box 7"/>
          <p:cNvSpPr txBox="1"/>
          <p:nvPr/>
        </p:nvSpPr>
        <p:spPr>
          <a:xfrm>
            <a:off x="3794126" y="4821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79880" name="Text Box 8"/>
          <p:cNvSpPr txBox="1"/>
          <p:nvPr/>
        </p:nvSpPr>
        <p:spPr>
          <a:xfrm>
            <a:off x="1981200" y="3481388"/>
            <a:ext cx="3916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个类的总离差平方和为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9881" name="Text Box 9"/>
          <p:cNvSpPr txBox="1"/>
          <p:nvPr/>
        </p:nvSpPr>
        <p:spPr>
          <a:xfrm>
            <a:off x="1905001" y="5538788"/>
            <a:ext cx="63861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固定时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要选择使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达到极小的分类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79884" name="Object 12"/>
          <p:cNvGraphicFramePr>
            <a:graphicFrameLocks noGrp="1" noChangeAspect="1"/>
          </p:cNvGraphicFramePr>
          <p:nvPr>
            <p:ph idx="1"/>
          </p:nvPr>
        </p:nvGraphicFramePr>
        <p:xfrm>
          <a:off x="3576638" y="4168775"/>
          <a:ext cx="587533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4617600" imgH="10668000" progId="Equation.DSMT4">
                  <p:embed/>
                </p:oleObj>
              </mc:Choice>
              <mc:Fallback>
                <p:oleObj name="Equation" r:id="rId1" imgW="64617600" imgH="106680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6638" y="4168775"/>
                        <a:ext cx="5875337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1" name="Text Box 13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2819691" y="1387312"/>
          <a:ext cx="4785004" cy="104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49072800" imgH="10668000" progId="Equation.DSMT4">
                  <p:embed/>
                </p:oleObj>
              </mc:Choice>
              <mc:Fallback>
                <p:oleObj name="Equation" r:id="rId3" imgW="49072800" imgH="106680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691" y="1387312"/>
                        <a:ext cx="4785004" cy="1040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8"/>
              <p:cNvSpPr txBox="1"/>
              <p:nvPr/>
            </p:nvSpPr>
            <p:spPr>
              <a:xfrm>
                <a:off x="1981200" y="2550032"/>
                <a:ext cx="6099170" cy="6872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sz="280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zh-CN" altLang="en-US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为</a:t>
                </a:r>
                <a:r>
                  <a:rPr lang="en-US" altLang="zh-CN" sz="28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m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维向量，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W</a:t>
                </a:r>
                <a:r>
                  <a:rPr lang="en-US" altLang="zh-CN" sz="2800" i="1" baseline="-250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为一数值</a:t>
                </a:r>
                <a:endPara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550032"/>
                <a:ext cx="6099170" cy="687239"/>
              </a:xfrm>
              <a:prstGeom prst="rect">
                <a:avLst/>
              </a:prstGeom>
              <a:blipFill rotWithShape="1">
                <a:blip r:embed="rId5"/>
                <a:stretch>
                  <a:fillRect t="-74" r="10" b="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3"/>
          <p:cNvSpPr txBox="1"/>
          <p:nvPr/>
        </p:nvSpPr>
        <p:spPr>
          <a:xfrm>
            <a:off x="1790700" y="1140461"/>
            <a:ext cx="861060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Ward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法的基本思想是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先将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个样品各自成一类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=0,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然后每次将其中某两类合并为一类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因每缩小一类离差平方和就要增加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每次选择使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增加最小的两类进行合并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直至所有样品为一类为止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Ward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法把两类合并后增加的离差平方和看成类间的平方距离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即把类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的平方距离定义为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9876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80901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856177" y="5226046"/>
          <a:ext cx="4099045" cy="778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36040" imgH="254635" progId="Equation.3">
                  <p:embed/>
                </p:oleObj>
              </mc:Choice>
              <mc:Fallback>
                <p:oleObj name="" r:id="rId1" imgW="1336040" imgH="254635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6177" y="5226046"/>
                        <a:ext cx="4099045" cy="77891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8" name="Text Box 6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0900" name="Text Box 4"/>
          <p:cNvSpPr txBox="1"/>
          <p:nvPr/>
        </p:nvSpPr>
        <p:spPr>
          <a:xfrm>
            <a:off x="1981200" y="4038601"/>
            <a:ext cx="8229600" cy="38055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宋体" pitchFamily="2" charset="-122"/>
              </a:rPr>
              <a:t>    </a:t>
            </a:r>
            <a:endParaRPr lang="zh-CN" altLang="zh-CN" dirty="0">
              <a:latin typeface="宋体" pitchFamily="2" charset="-122"/>
            </a:endParaRPr>
          </a:p>
        </p:txBody>
      </p:sp>
      <p:sp>
        <p:nvSpPr>
          <p:cNvPr id="81925" name="Text Box 5"/>
          <p:cNvSpPr txBox="1"/>
          <p:nvPr/>
        </p:nvSpPr>
        <p:spPr>
          <a:xfrm>
            <a:off x="1790700" y="803276"/>
            <a:ext cx="8194040" cy="61004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比如:当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={1,2},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={4.5,6}时,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W</a:t>
            </a:r>
            <a:r>
              <a:rPr lang="zh-CN" altLang="en-US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(1-1.5)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+(2-1.5)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0.25+0.25=0.5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W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(4.5-5.25)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+(6-5.25)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endParaRPr lang="zh-CN" altLang="en-US" sz="2800" baseline="2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= 0.5625+0.5625 = 1.125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 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={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}={1,2,4.5,6} ( 均值=3.375)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W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=(1-3.375)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+(2-3.375)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(4.5-3.375)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+(6-3.375)</a:t>
            </a:r>
            <a:r>
              <a:rPr lang="zh-CN" altLang="en-US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endParaRPr lang="zh-CN" altLang="en-US" sz="2800" baseline="2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= 15.5865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 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-(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= 15.5865-(0.5+1.125) = 13.9615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ts val="426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 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3.7365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0902" name="Text Box 6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708275" y="2060575"/>
          <a:ext cx="6199188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49500" imgH="1282700" progId="Equation.3">
                  <p:embed/>
                </p:oleObj>
              </mc:Choice>
              <mc:Fallback>
                <p:oleObj name="" r:id="rId1" imgW="2349500" imgH="12827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8275" y="2060575"/>
                        <a:ext cx="6199188" cy="338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847850" y="5300663"/>
          <a:ext cx="64087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120900" imgH="431800" progId="Equation.3">
                  <p:embed/>
                </p:oleObj>
              </mc:Choice>
              <mc:Fallback>
                <p:oleObj name="" r:id="rId3" imgW="2120900" imgH="4318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850" y="5300663"/>
                        <a:ext cx="6408738" cy="130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1925" name="Text Box 5"/>
          <p:cNvSpPr txBox="1"/>
          <p:nvPr/>
        </p:nvSpPr>
        <p:spPr>
          <a:xfrm>
            <a:off x="1847850" y="1111250"/>
            <a:ext cx="85169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下面来推导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i="1" baseline="-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的公式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利用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的定义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1927" name="Text Box 7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174979" y="3639205"/>
          <a:ext cx="2728540" cy="1231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954405" imgH="458470" progId="Equation.DSMT4">
                  <p:embed/>
                </p:oleObj>
              </mc:Choice>
              <mc:Fallback>
                <p:oleObj name="Equation" r:id="rId1" imgW="954405" imgH="45847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74979" y="3639205"/>
                        <a:ext cx="2728540" cy="123102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2640013" y="1844675"/>
          <a:ext cx="7416800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376170" imgH="457200" progId="Equation.DSMT4">
                  <p:embed/>
                </p:oleObj>
              </mc:Choice>
              <mc:Fallback>
                <p:oleObj name="Equation" r:id="rId3" imgW="2376170" imgH="4572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0013" y="1844675"/>
                        <a:ext cx="7416800" cy="1427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Text Box 4"/>
          <p:cNvSpPr txBox="1"/>
          <p:nvPr/>
        </p:nvSpPr>
        <p:spPr>
          <a:xfrm>
            <a:off x="1965325" y="1516063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经整理可得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82949" name="Text Box 5"/>
          <p:cNvSpPr txBox="1"/>
          <p:nvPr/>
        </p:nvSpPr>
        <p:spPr>
          <a:xfrm>
            <a:off x="2346326" y="25352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82950" name="Text Box 6"/>
          <p:cNvSpPr txBox="1"/>
          <p:nvPr/>
        </p:nvSpPr>
        <p:spPr>
          <a:xfrm>
            <a:off x="2803526" y="3906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83975" name="Text Box 7"/>
          <p:cNvSpPr txBox="1"/>
          <p:nvPr/>
        </p:nvSpPr>
        <p:spPr>
          <a:xfrm>
            <a:off x="1905000" y="3124200"/>
            <a:ext cx="6761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当样品间距离采用欧氏距离时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上式可表为</a:t>
            </a:r>
            <a:endParaRPr lang="zh-CN" altLang="en-US" sz="2800" dirty="0">
              <a:latin typeface="宋体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76" name="Text Box 8"/>
              <p:cNvSpPr txBox="1"/>
              <p:nvPr/>
            </p:nvSpPr>
            <p:spPr>
              <a:xfrm>
                <a:off x="1820862" y="5165689"/>
                <a:ext cx="8858640" cy="9959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  <m:sup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en-US" sz="2800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p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</a:t>
                </a:r>
                <a:r>
                  <a:rPr lang="en-US" altLang="zh-CN" sz="2800" i="1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G</a:t>
                </a:r>
                <a:r>
                  <a:rPr lang="en-US" altLang="zh-CN" sz="2800" i="1" baseline="-250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q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的重心                     的平方距离，这表明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Ward</a:t>
                </a:r>
                <a:r>
                  <a:rPr lang="zh-CN" altLang="en-US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法定义的类间距离与重心法只相差一个常数倍</a:t>
                </a:r>
                <a:r>
                  <a:rPr lang="zh-CN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.</a:t>
                </a:r>
                <a:endParaRPr lang="zh-CN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839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862" y="5165689"/>
                <a:ext cx="8858640" cy="995978"/>
              </a:xfrm>
              <a:prstGeom prst="rect">
                <a:avLst/>
              </a:prstGeom>
              <a:blipFill rotWithShape="1">
                <a:blip r:embed="rId5"/>
                <a:stretch>
                  <a:fillRect l="-4" t="-60" r="1" b="2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53" name="Text Box 9"/>
          <p:cNvSpPr txBox="1"/>
          <p:nvPr/>
        </p:nvSpPr>
        <p:spPr>
          <a:xfrm>
            <a:off x="3184526" y="4624274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82956" name="Text Box 12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19199" y="5206862"/>
          <a:ext cx="2014537" cy="45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6" imgW="17068800" imgH="5181600" progId="Equation.DSMT4">
                  <p:embed/>
                </p:oleObj>
              </mc:Choice>
              <mc:Fallback>
                <p:oleObj name="Equation" r:id="rId6" imgW="17068800" imgH="51816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19199" y="5206862"/>
                        <a:ext cx="2014537" cy="456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3"/>
          <p:cNvSpPr txBox="1"/>
          <p:nvPr/>
        </p:nvSpPr>
        <p:spPr>
          <a:xfrm>
            <a:off x="3184526" y="5430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83973" name="Text Box 5"/>
          <p:cNvSpPr txBox="1"/>
          <p:nvPr/>
        </p:nvSpPr>
        <p:spPr>
          <a:xfrm>
            <a:off x="1866900" y="1189355"/>
            <a:ext cx="8458200" cy="13031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的距离有如下递推公式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4998" name="Text Box 6"/>
          <p:cNvSpPr txBox="1"/>
          <p:nvPr/>
        </p:nvSpPr>
        <p:spPr>
          <a:xfrm>
            <a:off x="1905000" y="4343400"/>
            <a:ext cx="8229600" cy="128400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在实际应用中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离差平方和法应用比较广泛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分类效果较好</a:t>
            </a:r>
            <a:r>
              <a:rPr lang="zh-CN" altLang="zh-CN" sz="2800" dirty="0">
                <a:latin typeface="宋体" pitchFamily="2" charset="-122"/>
              </a:rPr>
              <a:t>.</a:t>
            </a:r>
            <a:r>
              <a:rPr lang="zh-CN" altLang="en-US" sz="2800" dirty="0">
                <a:latin typeface="宋体" pitchFamily="2" charset="-122"/>
              </a:rPr>
              <a:t>但它要求样品间距离必须采用欧氏距离</a:t>
            </a:r>
            <a:r>
              <a:rPr lang="zh-CN" altLang="zh-CN" sz="2800" dirty="0">
                <a:latin typeface="宋体" pitchFamily="2" charset="-122"/>
              </a:rPr>
              <a:t>.</a:t>
            </a:r>
            <a:endParaRPr lang="zh-CN" altLang="zh-CN" sz="2800" dirty="0">
              <a:latin typeface="宋体" pitchFamily="2" charset="-122"/>
            </a:endParaRPr>
          </a:p>
        </p:txBody>
      </p:sp>
      <p:sp>
        <p:nvSpPr>
          <p:cNvPr id="83976" name="Text Box 8"/>
          <p:cNvSpPr txBox="1"/>
          <p:nvPr/>
        </p:nvSpPr>
        <p:spPr>
          <a:xfrm>
            <a:off x="2208214" y="163514"/>
            <a:ext cx="739497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系统聚类分析的方法--离差平方和法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905000" y="2743200"/>
          <a:ext cx="8115294" cy="1371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4922400" imgH="10972800" progId="Equation.DSMT4">
                  <p:embed/>
                </p:oleObj>
              </mc:Choice>
              <mc:Fallback>
                <p:oleObj name="Equation" r:id="rId1" imgW="64922400" imgH="109728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2743200"/>
                        <a:ext cx="8115294" cy="1371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4996" name="Text Box 4"/>
          <p:cNvSpPr txBox="1"/>
          <p:nvPr/>
        </p:nvSpPr>
        <p:spPr>
          <a:xfrm>
            <a:off x="1893455" y="914400"/>
            <a:ext cx="8347191" cy="335915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以上介绍的八种方法聚类的步骤完全一样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所不同的是类与类之间的距离有不同的定义方法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因而得到不同的递推公式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Lance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Williams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1967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年首先给出了统一公式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新类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1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的平方距离为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4997" name="Text Box 5"/>
          <p:cNvSpPr txBox="1"/>
          <p:nvPr/>
        </p:nvSpPr>
        <p:spPr>
          <a:xfrm>
            <a:off x="2498726" y="4135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4999" name="Text Box 7"/>
          <p:cNvSpPr txBox="1"/>
          <p:nvPr/>
        </p:nvSpPr>
        <p:spPr>
          <a:xfrm>
            <a:off x="1828800" y="5195888"/>
            <a:ext cx="8534400" cy="13031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α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α</a:t>
            </a:r>
            <a:r>
              <a:rPr lang="zh-CN" altLang="zh-CN" sz="2800" i="1" baseline="-1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β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γ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是参数，不同的系统聚类方法有不同的取值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5000" name="Text Box 8"/>
          <p:cNvSpPr txBox="1"/>
          <p:nvPr/>
        </p:nvSpPr>
        <p:spPr>
          <a:xfrm>
            <a:off x="3368675" y="176214"/>
            <a:ext cx="526297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三、系统聚类分法的统一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090462" y="4243620"/>
          <a:ext cx="7778751" cy="834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2484000" imgH="6705600" progId="Equation.DSMT4">
                  <p:embed/>
                </p:oleObj>
              </mc:Choice>
              <mc:Fallback>
                <p:oleObj name="Equation" r:id="rId1" imgW="62484000" imgH="67056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0462" y="4243620"/>
                        <a:ext cx="7778751" cy="834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6019" name="Text Box 3"/>
          <p:cNvSpPr txBox="1"/>
          <p:nvPr/>
        </p:nvSpPr>
        <p:spPr>
          <a:xfrm>
            <a:off x="2498726" y="4135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1537970" y="815974"/>
          <a:ext cx="9116060" cy="6042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295900" imgH="4343400" progId="">
                  <p:embed/>
                </p:oleObj>
              </mc:Choice>
              <mc:Fallback>
                <p:oleObj name="" r:id="rId1" imgW="5295900" imgH="43434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23999" contrast="42000"/>
                      </a:blip>
                      <a:stretch>
                        <a:fillRect/>
                      </a:stretch>
                    </p:blipFill>
                    <p:spPr>
                      <a:xfrm>
                        <a:off x="1537970" y="815974"/>
                        <a:ext cx="9116060" cy="604202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1" name="Text Box 5"/>
          <p:cNvSpPr txBox="1"/>
          <p:nvPr/>
        </p:nvSpPr>
        <p:spPr>
          <a:xfrm>
            <a:off x="3368675" y="176214"/>
            <a:ext cx="526297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三、系统聚类分法的统一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6"/>
          <p:cNvSpPr>
            <a:spLocks noGrp="1"/>
          </p:cNvSpPr>
          <p:nvPr>
            <p:ph type="title"/>
          </p:nvPr>
        </p:nvSpPr>
        <p:spPr>
          <a:xfrm>
            <a:off x="1105377" y="636200"/>
            <a:ext cx="10390716" cy="11430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  <a:cs typeface="+mn-cs"/>
              </a:rPr>
              <a:t>第四节 系统聚类法的性质及类的确定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" name="Rectangle 1027"/>
          <p:cNvSpPr txBox="1"/>
          <p:nvPr/>
        </p:nvSpPr>
        <p:spPr>
          <a:xfrm>
            <a:off x="1823814" y="2708693"/>
            <a:ext cx="7351712" cy="342381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/>
              <a:t>不同聚类方法可能得到不同的聚类结果，如何</a:t>
            </a:r>
            <a:r>
              <a:rPr lang="zh-CN" altLang="en-US" sz="2800" dirty="0">
                <a:solidFill>
                  <a:srgbClr val="FF0000"/>
                </a:solidFill>
              </a:rPr>
              <a:t>选择</a:t>
            </a:r>
            <a:r>
              <a:rPr lang="zh-CN" altLang="en-US" sz="2800" dirty="0"/>
              <a:t>一个合适的</a:t>
            </a:r>
            <a:r>
              <a:rPr lang="zh-CN" altLang="en-US" sz="2800" dirty="0">
                <a:solidFill>
                  <a:srgbClr val="FF0000"/>
                </a:solidFill>
              </a:rPr>
              <a:t>聚类结果</a:t>
            </a:r>
            <a:r>
              <a:rPr lang="zh-CN" altLang="en-US" sz="2800" dirty="0"/>
              <a:t>？应该</a:t>
            </a:r>
            <a:r>
              <a:rPr lang="zh-CN" altLang="en-US" sz="2800" dirty="0">
                <a:solidFill>
                  <a:srgbClr val="FF0000"/>
                </a:solidFill>
              </a:rPr>
              <a:t>分成几类</a:t>
            </a:r>
            <a:r>
              <a:rPr lang="zh-CN" altLang="en-US" sz="2800" dirty="0"/>
              <a:t>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8068" name="Text Box 4"/>
          <p:cNvSpPr txBox="1"/>
          <p:nvPr/>
        </p:nvSpPr>
        <p:spPr>
          <a:xfrm>
            <a:off x="1136074" y="495300"/>
            <a:ext cx="10196944" cy="51811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单调性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表示系统聚类法中第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次并类时的距离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一个系统聚类法若能保证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{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16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=1,2 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-1}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单调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则称它具有单调性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.3.1,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用最短距离时有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=1.5,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=2, 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=2.5.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满足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并类距离有单调性符合系统聚类法的基本思想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可以证明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最短距离法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最长距离法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类平均法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可变类平均法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离差平方和法都具有单调性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只有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重心法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中间距离法不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具有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单调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性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7045" name="Text Box 5"/>
          <p:cNvSpPr txBox="1"/>
          <p:nvPr/>
        </p:nvSpPr>
        <p:spPr>
          <a:xfrm>
            <a:off x="2895600" y="44450"/>
            <a:ext cx="6853158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一、系统聚类方法</a:t>
            </a:r>
            <a:r>
              <a:rPr lang="zh-CN" altLang="en-US" sz="4000" b="1" dirty="0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的简单性质</a:t>
            </a:r>
            <a:endParaRPr lang="zh-CN" altLang="en-US" sz="4000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89092" name="Text Box 4"/>
          <p:cNvSpPr txBox="1"/>
          <p:nvPr/>
        </p:nvSpPr>
        <p:spPr>
          <a:xfrm>
            <a:off x="1842770" y="1244919"/>
            <a:ext cx="8686800" cy="398083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空间的浓缩与扩张</a:t>
            </a:r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.3.1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来说明该性质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比较最短距离法和最长距离法的并类过程及相应的距离阵可以看出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每一步都有：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1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短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长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  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对一切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这种性质称为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最长距离法比最短距离法扩张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或称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最短距离法比最长距离法浓缩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1752600" y="1057911"/>
            <a:ext cx="8686800" cy="5262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 </a:t>
            </a:r>
            <a:r>
              <a:rPr lang="zh-CN" altLang="en-US" sz="2800" dirty="0">
                <a:latin typeface="宋体" pitchFamily="2" charset="-122"/>
              </a:rPr>
              <a:t>对前面介绍的系统聚类方法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有如下结论</a:t>
            </a:r>
            <a:r>
              <a:rPr lang="zh-CN" altLang="zh-CN" sz="2800" dirty="0">
                <a:latin typeface="宋体" pitchFamily="2" charset="-122"/>
              </a:rPr>
              <a:t>:</a:t>
            </a:r>
            <a:r>
              <a:rPr lang="zh-CN" altLang="en-US" sz="2800" dirty="0">
                <a:solidFill>
                  <a:srgbClr val="6600FF"/>
                </a:solidFill>
                <a:latin typeface="宋体" pitchFamily="2" charset="-122"/>
              </a:rPr>
              <a:t>类平均法</a:t>
            </a:r>
            <a:r>
              <a:rPr lang="zh-CN" altLang="zh-CN" sz="2800" dirty="0">
                <a:latin typeface="宋体" pitchFamily="2" charset="-122"/>
              </a:rPr>
              <a:t>(</a:t>
            </a:r>
            <a:r>
              <a:rPr lang="zh-CN" altLang="en-US" sz="2800" dirty="0">
                <a:latin typeface="宋体" pitchFamily="2" charset="-122"/>
              </a:rPr>
              <a:t>或中间距离法</a:t>
            </a:r>
            <a:r>
              <a:rPr lang="zh-CN" altLang="zh-CN" sz="2800" dirty="0">
                <a:latin typeface="宋体" pitchFamily="2" charset="-122"/>
              </a:rPr>
              <a:t>)</a:t>
            </a:r>
            <a:r>
              <a:rPr lang="zh-CN" altLang="en-US" sz="2800" dirty="0">
                <a:latin typeface="宋体" pitchFamily="2" charset="-122"/>
              </a:rPr>
              <a:t>比最短距离法扩张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而且比最长距离法浓缩</a:t>
            </a:r>
            <a:r>
              <a:rPr lang="zh-CN" altLang="zh-CN" sz="2800" dirty="0">
                <a:latin typeface="宋体" pitchFamily="2" charset="-122"/>
              </a:rPr>
              <a:t>;</a:t>
            </a:r>
            <a:r>
              <a:rPr lang="zh-CN" altLang="en-US" sz="2800" dirty="0">
                <a:solidFill>
                  <a:srgbClr val="6600FF"/>
                </a:solidFill>
                <a:latin typeface="宋体" pitchFamily="2" charset="-122"/>
              </a:rPr>
              <a:t>类平均法</a:t>
            </a:r>
            <a:r>
              <a:rPr lang="zh-CN" altLang="en-US" sz="2800" dirty="0">
                <a:latin typeface="宋体" pitchFamily="2" charset="-122"/>
              </a:rPr>
              <a:t>比重心法扩张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而且比离差平方和法浓缩</a:t>
            </a:r>
            <a:r>
              <a:rPr lang="zh-CN" altLang="zh-CN" sz="2800" dirty="0">
                <a:latin typeface="宋体" pitchFamily="2" charset="-122"/>
              </a:rPr>
              <a:t>.</a:t>
            </a:r>
            <a:r>
              <a:rPr lang="zh-CN" altLang="en-US" sz="2800" dirty="0">
                <a:latin typeface="宋体" pitchFamily="2" charset="-122"/>
              </a:rPr>
              <a:t>太浓缩的方法不够灵敏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太扩张的方法当样品容量大时容易失真</a:t>
            </a:r>
            <a:r>
              <a:rPr lang="zh-CN" altLang="zh-CN" sz="2800" dirty="0">
                <a:latin typeface="宋体" pitchFamily="2" charset="-122"/>
              </a:rPr>
              <a:t>.</a:t>
            </a:r>
            <a:endParaRPr lang="zh-CN" altLang="zh-CN" sz="2800" dirty="0">
              <a:latin typeface="宋体" pitchFamily="2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 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类平均法比较适中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,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相对于其他方法不太浓缩也不太扩张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, 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而且具有单调性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.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因而是一种应用广泛、聚类效果较好的方法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.</a:t>
            </a:r>
            <a:endParaRPr lang="zh-CN" altLang="zh-CN" sz="2800" dirty="0">
              <a:solidFill>
                <a:srgbClr val="800000"/>
              </a:solidFill>
              <a:latin typeface="宋体" pitchFamily="2" charset="-122"/>
            </a:endParaRPr>
          </a:p>
        </p:txBody>
      </p:sp>
      <p:sp>
        <p:nvSpPr>
          <p:cNvPr id="89093" name="Text Box 5"/>
          <p:cNvSpPr txBox="1"/>
          <p:nvPr/>
        </p:nvSpPr>
        <p:spPr>
          <a:xfrm>
            <a:off x="1644770" y="537844"/>
            <a:ext cx="418576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系统聚类方法的比较</a:t>
            </a:r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1790700" y="1004571"/>
            <a:ext cx="8610600" cy="2676525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聚类分析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的目的是对样品或变量进行分类，但至今对什么是类还没有给出定义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在实际应用中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不同领域里类的含义是不尽相同的，要给出一个严格的统一定义是不容易的。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Rao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1977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 曾给三种定义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1141" name="Text Box 5"/>
          <p:cNvSpPr txBox="1"/>
          <p:nvPr/>
        </p:nvSpPr>
        <p:spPr>
          <a:xfrm>
            <a:off x="1790700" y="3616009"/>
            <a:ext cx="8610600" cy="2676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5.4.1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设阈值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是给定的正数，若集合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中任二个元素的距离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都满足：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i,j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∈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对于阈值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组成一个类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0118" name="Text Box 6"/>
          <p:cNvSpPr txBox="1"/>
          <p:nvPr/>
        </p:nvSpPr>
        <p:spPr>
          <a:xfrm>
            <a:off x="4152901" y="123825"/>
            <a:ext cx="3377848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 二、类的定义</a:t>
            </a:r>
            <a:endParaRPr lang="zh-CN" altLang="en-US" sz="4000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9114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919288" y="1628775"/>
          <a:ext cx="5040312" cy="314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153400" imgH="5092700" progId="">
                  <p:embed/>
                </p:oleObj>
              </mc:Choice>
              <mc:Fallback>
                <p:oleObj name="" r:id="rId1" imgW="8153400" imgH="5092700" progId="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>
                        <a:lum bright="-16000" contrast="52000"/>
                      </a:blip>
                      <a:stretch>
                        <a:fillRect/>
                      </a:stretch>
                    </p:blipFill>
                    <p:spPr>
                      <a:xfrm>
                        <a:off x="1919288" y="1628775"/>
                        <a:ext cx="5040312" cy="314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1" name="Line 5"/>
          <p:cNvSpPr/>
          <p:nvPr/>
        </p:nvSpPr>
        <p:spPr>
          <a:xfrm>
            <a:off x="4583113" y="1700213"/>
            <a:ext cx="0" cy="2952750"/>
          </a:xfrm>
          <a:prstGeom prst="line">
            <a:avLst/>
          </a:prstGeom>
          <a:ln w="38100" cap="rnd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2" name="Text Box 6"/>
          <p:cNvSpPr txBox="1"/>
          <p:nvPr/>
        </p:nvSpPr>
        <p:spPr>
          <a:xfrm>
            <a:off x="4583114" y="1557338"/>
            <a:ext cx="909223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T=3.51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92167" name="Text Box 7"/>
          <p:cNvSpPr txBox="1"/>
          <p:nvPr/>
        </p:nvSpPr>
        <p:spPr>
          <a:xfrm>
            <a:off x="7104064" y="1628776"/>
            <a:ext cx="3563937" cy="2369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如最长距离法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给定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=3.51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,5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个样品分为两类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这时两个类中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每一类里任二个样品的距离</a:t>
            </a:r>
            <a:r>
              <a:rPr lang="zh-CN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400" i="1" baseline="-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故最长距离法符合定义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5.4.1</a:t>
            </a:r>
            <a:r>
              <a:rPr lang="zh-CN" altLang="zh-CN" sz="24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400" dirty="0">
              <a:solidFill>
                <a:schemeClr val="accent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168" name="Text Box 8"/>
          <p:cNvSpPr txBox="1"/>
          <p:nvPr/>
        </p:nvSpPr>
        <p:spPr>
          <a:xfrm>
            <a:off x="2063750" y="5589589"/>
            <a:ext cx="8085138" cy="70675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若用最短距离法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.3.1):</a:t>
            </a:r>
            <a:r>
              <a: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给定</a:t>
            </a:r>
            <a:r>
              <a:rPr lang="zh-CN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=2.01</a:t>
            </a:r>
            <a:r>
              <a: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,5</a:t>
            </a:r>
            <a:r>
              <a: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个样品分为两类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这时一类里存在二个样品的距离不满足</a:t>
            </a:r>
            <a:r>
              <a:rPr lang="zh-CN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0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0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1145" name="Line 9"/>
          <p:cNvSpPr/>
          <p:nvPr/>
        </p:nvSpPr>
        <p:spPr>
          <a:xfrm>
            <a:off x="1992313" y="5013325"/>
            <a:ext cx="84248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6" name="Line 10"/>
          <p:cNvSpPr/>
          <p:nvPr/>
        </p:nvSpPr>
        <p:spPr>
          <a:xfrm>
            <a:off x="2424113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7" name="Line 11"/>
          <p:cNvSpPr/>
          <p:nvPr/>
        </p:nvSpPr>
        <p:spPr>
          <a:xfrm>
            <a:off x="314325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8" name="Line 12"/>
          <p:cNvSpPr/>
          <p:nvPr/>
        </p:nvSpPr>
        <p:spPr>
          <a:xfrm>
            <a:off x="501650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9" name="Line 13"/>
          <p:cNvSpPr/>
          <p:nvPr/>
        </p:nvSpPr>
        <p:spPr>
          <a:xfrm>
            <a:off x="609600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0" name="Line 14"/>
          <p:cNvSpPr/>
          <p:nvPr/>
        </p:nvSpPr>
        <p:spPr>
          <a:xfrm>
            <a:off x="7967663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1" name="Text Box 15"/>
          <p:cNvSpPr txBox="1"/>
          <p:nvPr/>
        </p:nvSpPr>
        <p:spPr>
          <a:xfrm>
            <a:off x="2279650" y="4941888"/>
            <a:ext cx="452438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1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1152" name="Text Box 16"/>
          <p:cNvSpPr txBox="1"/>
          <p:nvPr/>
        </p:nvSpPr>
        <p:spPr>
          <a:xfrm>
            <a:off x="2927350" y="4941888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2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1153" name="Text Box 17"/>
          <p:cNvSpPr txBox="1"/>
          <p:nvPr/>
        </p:nvSpPr>
        <p:spPr>
          <a:xfrm>
            <a:off x="4872038" y="4941888"/>
            <a:ext cx="565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4.5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1154" name="Text Box 18"/>
          <p:cNvSpPr txBox="1"/>
          <p:nvPr/>
        </p:nvSpPr>
        <p:spPr>
          <a:xfrm>
            <a:off x="5951538" y="501332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6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1155" name="Text Box 19"/>
          <p:cNvSpPr txBox="1"/>
          <p:nvPr/>
        </p:nvSpPr>
        <p:spPr>
          <a:xfrm>
            <a:off x="7751763" y="4941888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8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1156" name="Oval 20"/>
          <p:cNvSpPr/>
          <p:nvPr/>
        </p:nvSpPr>
        <p:spPr>
          <a:xfrm>
            <a:off x="2208213" y="4652964"/>
            <a:ext cx="1223962" cy="77152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1157" name="Oval 21"/>
          <p:cNvSpPr/>
          <p:nvPr/>
        </p:nvSpPr>
        <p:spPr>
          <a:xfrm>
            <a:off x="4656138" y="4652963"/>
            <a:ext cx="3960812" cy="7921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1158" name="Text Box 22"/>
          <p:cNvSpPr txBox="1"/>
          <p:nvPr/>
        </p:nvSpPr>
        <p:spPr>
          <a:xfrm>
            <a:off x="3071814" y="2349500"/>
            <a:ext cx="2276585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latin typeface="Arial" panose="020B0604020202090204" pitchFamily="34" charset="0"/>
              </a:rPr>
              <a:t>最长距离法的谱系图</a:t>
            </a:r>
            <a:endParaRPr lang="zh-CN" altLang="en-US" b="1" dirty="0">
              <a:solidFill>
                <a:srgbClr val="800000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52216" y="0"/>
          <a:ext cx="4308822" cy="2529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9969500" imgH="5219700" progId="">
                  <p:embed/>
                </p:oleObj>
              </mc:Choice>
              <mc:Fallback>
                <p:oleObj name="" r:id="rId3" imgW="9969500" imgH="5219700" progId="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>
                        <a:lum bright="-23999" contrast="42000"/>
                      </a:blip>
                      <a:stretch>
                        <a:fillRect/>
                      </a:stretch>
                    </p:blipFill>
                    <p:spPr>
                      <a:xfrm>
                        <a:off x="52216" y="0"/>
                        <a:ext cx="4308822" cy="25299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2164" name="Text Box 4"/>
          <p:cNvSpPr txBox="1"/>
          <p:nvPr/>
        </p:nvSpPr>
        <p:spPr>
          <a:xfrm>
            <a:off x="1790700" y="1272541"/>
            <a:ext cx="8610600" cy="4615815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5.4.2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设阈值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是给定的正数,如果集合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中每个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∈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,都满足：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是集合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中元素的个数,则称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对于阈值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组成一个类.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3545840" y="3035936"/>
          <a:ext cx="4493260" cy="1417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29005" imgH="432435" progId="Equation.DSMT4">
                  <p:embed/>
                </p:oleObj>
              </mc:Choice>
              <mc:Fallback>
                <p:oleObj name="" r:id="rId1" imgW="929005" imgH="432435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5840" y="3035936"/>
                        <a:ext cx="4493260" cy="1417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4212" name="Text Box 4"/>
          <p:cNvSpPr txBox="1"/>
          <p:nvPr/>
        </p:nvSpPr>
        <p:spPr>
          <a:xfrm>
            <a:off x="8377382" y="1557339"/>
            <a:ext cx="2290618" cy="2030096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如类平均法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给定</a:t>
            </a:r>
            <a:r>
              <a:rPr lang="zh-CN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=2.86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,5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个样品分为两类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这时每一类里任一个样品与其它样品的平均距离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故类平均法符合定义</a:t>
            </a:r>
            <a:r>
              <a:rPr lang="en-US" altLang="zh-CN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.2.</a:t>
            </a:r>
            <a:endParaRPr lang="zh-CN" altLang="zh-CN" dirty="0">
              <a:solidFill>
                <a:schemeClr val="accent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4213" name="Text Box 5"/>
          <p:cNvSpPr txBox="1"/>
          <p:nvPr/>
        </p:nvSpPr>
        <p:spPr>
          <a:xfrm>
            <a:off x="1847851" y="5589588"/>
            <a:ext cx="8424863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若用最短距离法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.3.1):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给定</a:t>
            </a:r>
            <a:r>
              <a:rPr lang="zh-CN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=2.01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,5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个样品分为两类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这时每一类里任一个样品与其它样品的平均距离不满足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3190" name="Line 6"/>
          <p:cNvSpPr/>
          <p:nvPr/>
        </p:nvSpPr>
        <p:spPr>
          <a:xfrm>
            <a:off x="1992313" y="5013325"/>
            <a:ext cx="84248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1" name="Line 7"/>
          <p:cNvSpPr/>
          <p:nvPr/>
        </p:nvSpPr>
        <p:spPr>
          <a:xfrm>
            <a:off x="2424113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2" name="Line 8"/>
          <p:cNvSpPr/>
          <p:nvPr/>
        </p:nvSpPr>
        <p:spPr>
          <a:xfrm>
            <a:off x="314325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3" name="Line 9"/>
          <p:cNvSpPr/>
          <p:nvPr/>
        </p:nvSpPr>
        <p:spPr>
          <a:xfrm>
            <a:off x="501650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4" name="Line 10"/>
          <p:cNvSpPr/>
          <p:nvPr/>
        </p:nvSpPr>
        <p:spPr>
          <a:xfrm>
            <a:off x="609600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5" name="Line 11"/>
          <p:cNvSpPr/>
          <p:nvPr/>
        </p:nvSpPr>
        <p:spPr>
          <a:xfrm>
            <a:off x="7967663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6" name="Text Box 12"/>
          <p:cNvSpPr txBox="1"/>
          <p:nvPr/>
        </p:nvSpPr>
        <p:spPr>
          <a:xfrm>
            <a:off x="2279650" y="4941888"/>
            <a:ext cx="452438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1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3197" name="Text Box 13"/>
          <p:cNvSpPr txBox="1"/>
          <p:nvPr/>
        </p:nvSpPr>
        <p:spPr>
          <a:xfrm>
            <a:off x="2927350" y="4941888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2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3198" name="Text Box 14"/>
          <p:cNvSpPr txBox="1"/>
          <p:nvPr/>
        </p:nvSpPr>
        <p:spPr>
          <a:xfrm>
            <a:off x="4872038" y="4941888"/>
            <a:ext cx="565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4.5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3199" name="Text Box 15"/>
          <p:cNvSpPr txBox="1"/>
          <p:nvPr/>
        </p:nvSpPr>
        <p:spPr>
          <a:xfrm>
            <a:off x="5951538" y="501332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6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3200" name="Text Box 16"/>
          <p:cNvSpPr txBox="1"/>
          <p:nvPr/>
        </p:nvSpPr>
        <p:spPr>
          <a:xfrm>
            <a:off x="7751763" y="4941888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8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3201" name="Oval 17"/>
          <p:cNvSpPr/>
          <p:nvPr/>
        </p:nvSpPr>
        <p:spPr>
          <a:xfrm>
            <a:off x="2208213" y="4652964"/>
            <a:ext cx="1223962" cy="77152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3202" name="Oval 18"/>
          <p:cNvSpPr/>
          <p:nvPr/>
        </p:nvSpPr>
        <p:spPr>
          <a:xfrm>
            <a:off x="4656138" y="4652963"/>
            <a:ext cx="3960812" cy="7921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graphicFrame>
        <p:nvGraphicFramePr>
          <p:cNvPr id="93203" name="Object 19"/>
          <p:cNvGraphicFramePr>
            <a:graphicFrameLocks noGrp="1" noChangeAspect="1"/>
          </p:cNvGraphicFramePr>
          <p:nvPr>
            <p:ph idx="1"/>
          </p:nvPr>
        </p:nvGraphicFramePr>
        <p:xfrm>
          <a:off x="2176463" y="1557338"/>
          <a:ext cx="5175250" cy="302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128000" imgH="4749800" progId="">
                  <p:embed/>
                </p:oleObj>
              </mc:Choice>
              <mc:Fallback>
                <p:oleObj name="" r:id="rId1" imgW="8128000" imgH="4749800" progId="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2">
                        <a:lum bright="-20001" contrast="30000"/>
                      </a:blip>
                      <a:stretch>
                        <a:fillRect/>
                      </a:stretch>
                    </p:blipFill>
                    <p:spPr>
                      <a:xfrm>
                        <a:off x="2176463" y="1557338"/>
                        <a:ext cx="5175250" cy="3024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4" name="Line 20"/>
          <p:cNvSpPr/>
          <p:nvPr/>
        </p:nvSpPr>
        <p:spPr>
          <a:xfrm>
            <a:off x="5375275" y="1700213"/>
            <a:ext cx="0" cy="2736850"/>
          </a:xfrm>
          <a:prstGeom prst="line">
            <a:avLst/>
          </a:prstGeom>
          <a:ln w="28575" cap="rnd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205" name="Text Box 21"/>
          <p:cNvSpPr txBox="1"/>
          <p:nvPr/>
        </p:nvSpPr>
        <p:spPr>
          <a:xfrm>
            <a:off x="5427664" y="1504950"/>
            <a:ext cx="909223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i="1" dirty="0">
                <a:solidFill>
                  <a:srgbClr val="FF3300"/>
                </a:solidFill>
                <a:latin typeface="Arial" panose="020B0604020202090204" pitchFamily="34" charset="0"/>
              </a:rPr>
              <a:t>T</a:t>
            </a:r>
            <a:r>
              <a:rPr lang="zh-CN" altLang="zh-CN" b="1" dirty="0">
                <a:solidFill>
                  <a:srgbClr val="FF3300"/>
                </a:solidFill>
                <a:latin typeface="Arial" panose="020B0604020202090204" pitchFamily="34" charset="0"/>
              </a:rPr>
              <a:t>=2.86</a:t>
            </a:r>
            <a:endParaRPr lang="zh-CN" altLang="zh-CN" b="1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3206" name="Text Box 22"/>
          <p:cNvSpPr txBox="1"/>
          <p:nvPr/>
        </p:nvSpPr>
        <p:spPr>
          <a:xfrm>
            <a:off x="3359151" y="2276475"/>
            <a:ext cx="2044149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latin typeface="Arial" panose="020B0604020202090204" pitchFamily="34" charset="0"/>
              </a:rPr>
              <a:t>类平均法的谱系图</a:t>
            </a:r>
            <a:endParaRPr lang="zh-CN" altLang="en-US" b="1" dirty="0">
              <a:solidFill>
                <a:srgbClr val="80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4213" name="Text Box 5"/>
          <p:cNvSpPr txBox="1"/>
          <p:nvPr/>
        </p:nvSpPr>
        <p:spPr>
          <a:xfrm>
            <a:off x="1654810" y="1377951"/>
            <a:ext cx="8610600" cy="4615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5.4.3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设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&gt;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)是两个给定的正数,如果集合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中两两元素距离的平均满足：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是集合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中元素的个数,则称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对于阈值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T,H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组成一个类.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2019300" y="2941956"/>
          <a:ext cx="815340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36800" imgH="431800" progId="Equation.DSMT4">
                  <p:embed/>
                </p:oleObj>
              </mc:Choice>
              <mc:Fallback>
                <p:oleObj name="" r:id="rId1" imgW="2336800" imgH="4318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9300" y="2941956"/>
                        <a:ext cx="8153400" cy="165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/>
          <p:nvPr/>
        </p:nvSpPr>
        <p:spPr>
          <a:xfrm>
            <a:off x="3184526" y="5430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Arial" panose="020B0604020202090204" pitchFamily="34" charset="0"/>
            </a:endParaRPr>
          </a:p>
        </p:txBody>
      </p:sp>
      <p:sp>
        <p:nvSpPr>
          <p:cNvPr id="96260" name="Text Box 4"/>
          <p:cNvSpPr txBox="1"/>
          <p:nvPr/>
        </p:nvSpPr>
        <p:spPr>
          <a:xfrm>
            <a:off x="1782618" y="1782619"/>
            <a:ext cx="8754890" cy="26836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5.4.4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是给定的正数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若对集合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中任一个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∈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一定存在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∈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使得这二个元素的距离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满足：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∈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对于阈值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组成一个类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237" name="Text Box 5"/>
          <p:cNvSpPr txBox="1"/>
          <p:nvPr/>
        </p:nvSpPr>
        <p:spPr>
          <a:xfrm>
            <a:off x="1897062" y="1006793"/>
            <a:ext cx="8397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类似地还可以给出以下二个定义</a:t>
            </a:r>
            <a:r>
              <a:rPr lang="zh-CN" altLang="zh-CN" sz="2800" dirty="0">
                <a:latin typeface="宋体" pitchFamily="2" charset="-122"/>
              </a:rPr>
              <a:t>.</a:t>
            </a:r>
            <a:endParaRPr lang="zh-CN" altLang="zh-CN" sz="2800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6262" name="Text Box 6"/>
          <p:cNvSpPr txBox="1"/>
          <p:nvPr/>
        </p:nvSpPr>
        <p:spPr>
          <a:xfrm>
            <a:off x="1774825" y="4569144"/>
            <a:ext cx="8642350" cy="19476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如最短距离法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.3.1):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给定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=2.01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个样品分为两类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这时每一类里的任一个样品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都存在另一样品使其距离满足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故最短距离法符合定义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.4.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7285" name="Text Box 5"/>
          <p:cNvSpPr txBox="1"/>
          <p:nvPr/>
        </p:nvSpPr>
        <p:spPr>
          <a:xfrm>
            <a:off x="1752600" y="1600201"/>
            <a:ext cx="8610600" cy="2676525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5.4.5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设阈值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是给定的正数,将集合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任意分为二类: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,这两类之间的距离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)满足：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)≤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,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则称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对于阈值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组成一个类.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8308" name="Text Box 4"/>
          <p:cNvSpPr txBox="1"/>
          <p:nvPr/>
        </p:nvSpPr>
        <p:spPr>
          <a:xfrm>
            <a:off x="7584758" y="1331278"/>
            <a:ext cx="3097212" cy="3538220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如最短距离法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给定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=2.01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个样品分为两类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显然把每一类再任分为两类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则两类间的距离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故最短距离法符合定义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.5.</a:t>
            </a:r>
            <a:endParaRPr lang="zh-CN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8309" name="Text Box 5"/>
          <p:cNvSpPr txBox="1"/>
          <p:nvPr/>
        </p:nvSpPr>
        <p:spPr>
          <a:xfrm>
            <a:off x="1819563" y="5661892"/>
            <a:ext cx="8597611" cy="465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其实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以上定义的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8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种类间距离都符合定义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.5.</a:t>
            </a:r>
            <a:endParaRPr lang="zh-CN" altLang="zh-CN" sz="24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7286" name="Line 6"/>
          <p:cNvSpPr/>
          <p:nvPr/>
        </p:nvSpPr>
        <p:spPr>
          <a:xfrm>
            <a:off x="1992313" y="5013325"/>
            <a:ext cx="84248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287" name="Line 7"/>
          <p:cNvSpPr/>
          <p:nvPr/>
        </p:nvSpPr>
        <p:spPr>
          <a:xfrm>
            <a:off x="2424113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288" name="Line 8"/>
          <p:cNvSpPr/>
          <p:nvPr/>
        </p:nvSpPr>
        <p:spPr>
          <a:xfrm>
            <a:off x="314325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289" name="Line 9"/>
          <p:cNvSpPr/>
          <p:nvPr/>
        </p:nvSpPr>
        <p:spPr>
          <a:xfrm>
            <a:off x="501650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290" name="Line 10"/>
          <p:cNvSpPr/>
          <p:nvPr/>
        </p:nvSpPr>
        <p:spPr>
          <a:xfrm>
            <a:off x="6096000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291" name="Line 11"/>
          <p:cNvSpPr/>
          <p:nvPr/>
        </p:nvSpPr>
        <p:spPr>
          <a:xfrm>
            <a:off x="7967663" y="4941889"/>
            <a:ext cx="0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292" name="Text Box 12"/>
          <p:cNvSpPr txBox="1"/>
          <p:nvPr/>
        </p:nvSpPr>
        <p:spPr>
          <a:xfrm>
            <a:off x="2279650" y="4941888"/>
            <a:ext cx="452438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1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7293" name="Text Box 13"/>
          <p:cNvSpPr txBox="1"/>
          <p:nvPr/>
        </p:nvSpPr>
        <p:spPr>
          <a:xfrm>
            <a:off x="2927350" y="4941888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2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7294" name="Text Box 14"/>
          <p:cNvSpPr txBox="1"/>
          <p:nvPr/>
        </p:nvSpPr>
        <p:spPr>
          <a:xfrm>
            <a:off x="4872038" y="4941888"/>
            <a:ext cx="565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4.5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7295" name="Text Box 15"/>
          <p:cNvSpPr txBox="1"/>
          <p:nvPr/>
        </p:nvSpPr>
        <p:spPr>
          <a:xfrm>
            <a:off x="5951538" y="5013325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6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7296" name="Text Box 16"/>
          <p:cNvSpPr txBox="1"/>
          <p:nvPr/>
        </p:nvSpPr>
        <p:spPr>
          <a:xfrm>
            <a:off x="7751763" y="4941888"/>
            <a:ext cx="312906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3300"/>
                </a:solidFill>
                <a:latin typeface="Arial" panose="020B0604020202090204" pitchFamily="34" charset="0"/>
              </a:rPr>
              <a:t>8</a:t>
            </a:r>
            <a:endParaRPr lang="zh-CN" altLang="zh-CN" dirty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sp>
        <p:nvSpPr>
          <p:cNvPr id="97297" name="Oval 17"/>
          <p:cNvSpPr/>
          <p:nvPr/>
        </p:nvSpPr>
        <p:spPr>
          <a:xfrm>
            <a:off x="2208213" y="4652964"/>
            <a:ext cx="1223962" cy="77152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7298" name="Oval 18"/>
          <p:cNvSpPr/>
          <p:nvPr/>
        </p:nvSpPr>
        <p:spPr>
          <a:xfrm>
            <a:off x="4656138" y="4652963"/>
            <a:ext cx="3960812" cy="7921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graphicFrame>
        <p:nvGraphicFramePr>
          <p:cNvPr id="97299" name="Object 19"/>
          <p:cNvGraphicFramePr>
            <a:graphicFrameLocks noGrp="1" noChangeAspect="1"/>
          </p:cNvGraphicFramePr>
          <p:nvPr>
            <p:ph sz="half" idx="1"/>
          </p:nvPr>
        </p:nvGraphicFramePr>
        <p:xfrm>
          <a:off x="2314575" y="1557338"/>
          <a:ext cx="4535488" cy="305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086600" imgH="4775200" progId="">
                  <p:embed/>
                </p:oleObj>
              </mc:Choice>
              <mc:Fallback>
                <p:oleObj name="" r:id="rId1" imgW="7086600" imgH="4775200" progId="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4575" y="1557338"/>
                        <a:ext cx="4535488" cy="305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00" name="Line 20"/>
          <p:cNvSpPr/>
          <p:nvPr/>
        </p:nvSpPr>
        <p:spPr>
          <a:xfrm>
            <a:off x="5591175" y="1628775"/>
            <a:ext cx="0" cy="2592388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301" name="Text Box 21"/>
          <p:cNvSpPr txBox="1"/>
          <p:nvPr/>
        </p:nvSpPr>
        <p:spPr>
          <a:xfrm>
            <a:off x="5519739" y="1557338"/>
            <a:ext cx="909223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i="1" dirty="0">
                <a:solidFill>
                  <a:schemeClr val="accent2"/>
                </a:solidFill>
                <a:latin typeface="Arial" panose="020B0604020202090204" pitchFamily="34" charset="0"/>
              </a:rPr>
              <a:t>T</a:t>
            </a:r>
            <a:r>
              <a:rPr lang="zh-CN" altLang="zh-CN" b="1" dirty="0">
                <a:solidFill>
                  <a:schemeClr val="accent2"/>
                </a:solidFill>
                <a:latin typeface="Arial" panose="020B0604020202090204" pitchFamily="34" charset="0"/>
              </a:rPr>
              <a:t>=2.01</a:t>
            </a:r>
            <a:endParaRPr lang="zh-CN" altLang="zh-CN" b="1" dirty="0">
              <a:solidFill>
                <a:schemeClr val="accent2"/>
              </a:solidFill>
              <a:latin typeface="Arial" panose="020B0604020202090204" pitchFamily="34" charset="0"/>
            </a:endParaRPr>
          </a:p>
        </p:txBody>
      </p:sp>
      <p:sp>
        <p:nvSpPr>
          <p:cNvPr id="97302" name="Rectangle 22"/>
          <p:cNvSpPr/>
          <p:nvPr/>
        </p:nvSpPr>
        <p:spPr>
          <a:xfrm>
            <a:off x="2711451" y="2276475"/>
            <a:ext cx="2276585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latin typeface="Arial" panose="020B0604020202090204" pitchFamily="34" charset="0"/>
              </a:rPr>
              <a:t>最短距离法的谱系图</a:t>
            </a:r>
            <a:endParaRPr lang="zh-CN" altLang="en-US" b="1" dirty="0">
              <a:solidFill>
                <a:srgbClr val="80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99332" name="Text Box 4"/>
          <p:cNvSpPr txBox="1"/>
          <p:nvPr/>
        </p:nvSpPr>
        <p:spPr>
          <a:xfrm>
            <a:off x="1790700" y="825500"/>
            <a:ext cx="8790940" cy="5908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solidFill>
                  <a:srgbClr val="CC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在系统聚类的方法中，我们重点介绍了类与类之间的</a:t>
            </a:r>
            <a:r>
              <a:rPr lang="zh-CN" altLang="zh-CN" sz="2800" dirty="0">
                <a:solidFill>
                  <a:srgbClr val="CC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</a:t>
            </a:r>
            <a:r>
              <a:rPr lang="zh-CN" altLang="en-US" sz="2800" dirty="0">
                <a:solidFill>
                  <a:srgbClr val="CC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种距离及统一的递推公式</a:t>
            </a:r>
            <a:r>
              <a:rPr lang="zh-CN" altLang="zh-CN" sz="2800" dirty="0">
                <a:solidFill>
                  <a:srgbClr val="CC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CC66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类的定义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.5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可用于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种类间距离的任一种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8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.1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可用于最长距离法；</a:t>
            </a:r>
            <a:endParaRPr lang="zh-CN" altLang="en-US" sz="2800" dirty="0">
              <a:solidFill>
                <a:srgbClr val="8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.4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可用于最短距离法；</a:t>
            </a:r>
            <a:endParaRPr lang="zh-CN" altLang="en-US" sz="2800" dirty="0">
              <a:solidFill>
                <a:srgbClr val="8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.2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可用于类平均法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8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容易看出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以上前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种定义中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要求是最高的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凡是符合它的类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一定也是符合后三种定义的类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此外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凡是符合定义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的类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也一定是符合后二种定义的类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Text Box 3"/>
          <p:cNvSpPr txBox="1"/>
          <p:nvPr/>
        </p:nvSpPr>
        <p:spPr>
          <a:xfrm>
            <a:off x="1828800" y="1698626"/>
            <a:ext cx="8610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包含的样品记为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,其中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=1,2,…,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维总体的样品.可以从不同角度来刻画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的特征,常用的特征有以下三种: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均值（重心）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9332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4803775" y="4800600"/>
          <a:ext cx="327025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2555200" imgH="10363200" progId="Equation.DSMT4">
                  <p:embed/>
                </p:oleObj>
              </mc:Choice>
              <mc:Fallback>
                <p:oleObj name="Equation" r:id="rId1" imgW="22555200" imgH="103632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3775" y="4800600"/>
                        <a:ext cx="3270250" cy="1500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4" name="Text Box 6"/>
          <p:cNvSpPr txBox="1"/>
          <p:nvPr/>
        </p:nvSpPr>
        <p:spPr>
          <a:xfrm>
            <a:off x="4141009" y="557212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三、类的特征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101380" name="Object 4"/>
          <p:cNvGraphicFramePr>
            <a:graphicFrameLocks noChangeAspect="1"/>
          </p:cNvGraphicFramePr>
          <p:nvPr/>
        </p:nvGraphicFramePr>
        <p:xfrm>
          <a:off x="2794958" y="2665390"/>
          <a:ext cx="6241728" cy="1359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43100" imgH="431800" progId="Equation.DSMT4">
                  <p:embed/>
                </p:oleObj>
              </mc:Choice>
              <mc:Fallback>
                <p:oleObj name="" r:id="rId1" imgW="1943100" imgH="4318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4958" y="2665390"/>
                        <a:ext cx="6241728" cy="135923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3184526" y="4156710"/>
          <a:ext cx="36671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827405" imgH="394335" progId="Equation.DSMT4">
                  <p:embed/>
                </p:oleObj>
              </mc:Choice>
              <mc:Fallback>
                <p:oleObj name="" r:id="rId3" imgW="827405" imgH="394335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4526" y="4156710"/>
                        <a:ext cx="3667125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8" name="Text Box 6"/>
          <p:cNvSpPr txBox="1"/>
          <p:nvPr/>
        </p:nvSpPr>
        <p:spPr>
          <a:xfrm>
            <a:off x="1812926" y="1600200"/>
            <a:ext cx="8245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2 .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样本离差阵及样本协差阵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2404" name="Text Box 4"/>
          <p:cNvSpPr txBox="1"/>
          <p:nvPr/>
        </p:nvSpPr>
        <p:spPr>
          <a:xfrm>
            <a:off x="1911985" y="1560513"/>
            <a:ext cx="8599488" cy="13013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类的直径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的直径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常用的直径有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02405" name="Object 5"/>
          <p:cNvGraphicFramePr>
            <a:graphicFrameLocks noChangeAspect="1"/>
          </p:cNvGraphicFramePr>
          <p:nvPr/>
        </p:nvGraphicFramePr>
        <p:xfrm>
          <a:off x="2587924" y="3189330"/>
          <a:ext cx="7013275" cy="151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93900" imgH="431800" progId="Equation.DSMT4">
                  <p:embed/>
                </p:oleObj>
              </mc:Choice>
              <mc:Fallback>
                <p:oleObj name="" r:id="rId1" imgW="1993900" imgH="431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7924" y="3189330"/>
                        <a:ext cx="7013275" cy="151284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6"/>
          <p:cNvGraphicFramePr>
            <a:graphicFrameLocks noChangeAspect="1"/>
          </p:cNvGraphicFramePr>
          <p:nvPr/>
        </p:nvGraphicFramePr>
        <p:xfrm>
          <a:off x="2803585" y="4779453"/>
          <a:ext cx="3963927" cy="1321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16305" imgH="356235" progId="Equation.DSMT4">
                  <p:embed/>
                </p:oleObj>
              </mc:Choice>
              <mc:Fallback>
                <p:oleObj name="" r:id="rId3" imgW="916305" imgH="356235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3585" y="4779453"/>
                        <a:ext cx="3963927" cy="132130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2405" name="Text Box 5"/>
          <p:cNvSpPr txBox="1"/>
          <p:nvPr/>
        </p:nvSpPr>
        <p:spPr>
          <a:xfrm>
            <a:off x="1790700" y="1085216"/>
            <a:ext cx="8610600" cy="1930337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 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聚类分析中，类的个数如何确定的问题是一个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十分困难</a:t>
            </a:r>
            <a:r>
              <a:rPr lang="zh-CN" altLang="en-US" sz="2800" dirty="0">
                <a:solidFill>
                  <a:srgbClr val="800000"/>
                </a:solidFill>
                <a:latin typeface="宋体" pitchFamily="2" charset="-122"/>
              </a:rPr>
              <a:t>的问题，人们至今仍未找到令人满意的方法；但这又是一个不可回避的问题</a:t>
            </a:r>
            <a:r>
              <a:rPr lang="zh-CN" altLang="zh-CN" sz="2800" dirty="0">
                <a:solidFill>
                  <a:srgbClr val="800000"/>
                </a:solidFill>
                <a:latin typeface="宋体" pitchFamily="2" charset="-122"/>
              </a:rPr>
              <a:t>.</a:t>
            </a:r>
            <a:endParaRPr lang="zh-CN" altLang="zh-CN" sz="2800" dirty="0">
              <a:solidFill>
                <a:srgbClr val="800000"/>
              </a:solidFill>
              <a:latin typeface="宋体" pitchFamily="2" charset="-122"/>
            </a:endParaRPr>
          </a:p>
        </p:txBody>
      </p:sp>
      <p:sp>
        <p:nvSpPr>
          <p:cNvPr id="103430" name="Text Box 6"/>
          <p:cNvSpPr txBox="1"/>
          <p:nvPr/>
        </p:nvSpPr>
        <p:spPr>
          <a:xfrm>
            <a:off x="1790701" y="2984819"/>
            <a:ext cx="8385175" cy="37534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 </a:t>
            </a:r>
            <a:r>
              <a:rPr lang="zh-CN" altLang="en-US" sz="2800" dirty="0">
                <a:latin typeface="宋体" pitchFamily="2" charset="-122"/>
              </a:rPr>
              <a:t>迄今为止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虽给出了类的定义，只是从不同的角度直观地叙述了</a:t>
            </a:r>
            <a:r>
              <a:rPr lang="zh-CN" altLang="en-US" sz="2800" dirty="0">
                <a:latin typeface="Arial" panose="020B0604020202090204" pitchFamily="34" charset="0"/>
              </a:rPr>
              <a:t>“</a:t>
            </a:r>
            <a:r>
              <a:rPr lang="zh-CN" altLang="en-US" sz="2800" dirty="0">
                <a:latin typeface="宋体" pitchFamily="2" charset="-122"/>
              </a:rPr>
              <a:t>类</a:t>
            </a:r>
            <a:r>
              <a:rPr lang="zh-CN" altLang="en-US" sz="2800" dirty="0">
                <a:latin typeface="Arial" panose="020B0604020202090204" pitchFamily="34" charset="0"/>
              </a:rPr>
              <a:t>”</a:t>
            </a:r>
            <a:r>
              <a:rPr lang="zh-CN" altLang="en-US" sz="2800" dirty="0">
                <a:latin typeface="宋体" pitchFamily="2" charset="-122"/>
              </a:rPr>
              <a:t>的概念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并未给出严格的统一定义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但要对各种不同形式的类给予统一的定义是比较困难的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zh-CN" sz="2800" dirty="0">
                <a:latin typeface="Arial" panose="020B0604020202090204" pitchFamily="34" charset="0"/>
              </a:rPr>
              <a:t>“</a:t>
            </a:r>
            <a:r>
              <a:rPr lang="zh-CN" altLang="en-US" sz="2800" dirty="0">
                <a:latin typeface="宋体" pitchFamily="2" charset="-122"/>
              </a:rPr>
              <a:t>类</a:t>
            </a:r>
            <a:r>
              <a:rPr lang="zh-CN" altLang="en-US" sz="2800" dirty="0">
                <a:latin typeface="Arial" panose="020B0604020202090204" pitchFamily="34" charset="0"/>
              </a:rPr>
              <a:t>”</a:t>
            </a:r>
            <a:r>
              <a:rPr lang="zh-CN" altLang="en-US" sz="2800" dirty="0">
                <a:latin typeface="宋体" pitchFamily="2" charset="-122"/>
              </a:rPr>
              <a:t>的概念是一个模糊的概念</a:t>
            </a:r>
            <a:r>
              <a:rPr lang="zh-CN" altLang="zh-CN" sz="2800" dirty="0">
                <a:latin typeface="宋体" pitchFamily="2" charset="-122"/>
              </a:rPr>
              <a:t>.</a:t>
            </a:r>
            <a:r>
              <a:rPr lang="zh-CN" altLang="en-US" sz="2800" dirty="0">
                <a:latin typeface="宋体" pitchFamily="2" charset="-122"/>
              </a:rPr>
              <a:t>因此在实际应用中</a:t>
            </a:r>
            <a:r>
              <a:rPr lang="zh-CN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人们并不完全从类的定义来确定类</a:t>
            </a:r>
            <a:r>
              <a:rPr lang="zh-CN" altLang="zh-CN" sz="2800" dirty="0">
                <a:latin typeface="宋体" pitchFamily="2" charset="-122"/>
              </a:rPr>
              <a:t>.</a:t>
            </a:r>
            <a:endParaRPr lang="zh-CN" altLang="zh-CN" sz="2800" dirty="0">
              <a:latin typeface="宋体" pitchFamily="2" charset="-122"/>
            </a:endParaRPr>
          </a:p>
          <a:p>
            <a:endParaRPr lang="zh-CN" altLang="zh-CN" sz="2800" dirty="0">
              <a:latin typeface="宋体" pitchFamily="2" charset="-122"/>
            </a:endParaRPr>
          </a:p>
        </p:txBody>
      </p:sp>
      <p:sp>
        <p:nvSpPr>
          <p:cNvPr id="102407" name="Text Box 7"/>
          <p:cNvSpPr txBox="1"/>
          <p:nvPr/>
        </p:nvSpPr>
        <p:spPr>
          <a:xfrm>
            <a:off x="3987564" y="66675"/>
            <a:ext cx="4288353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四、类个数的确定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4452" name="Text Box 4"/>
          <p:cNvSpPr txBox="1"/>
          <p:nvPr/>
        </p:nvSpPr>
        <p:spPr>
          <a:xfrm>
            <a:off x="1765936" y="1196976"/>
            <a:ext cx="8659813" cy="453681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</a:rPr>
              <a:t>确定类个数的几种常见方法：</a:t>
            </a:r>
            <a:endParaRPr lang="zh-CN" altLang="en-US" sz="2800" dirty="0">
              <a:solidFill>
                <a:srgbClr val="FF3300"/>
              </a:solidFill>
              <a:latin typeface="宋体" pitchFamily="2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1.</a:t>
            </a:r>
            <a:r>
              <a:rPr lang="zh-CN" altLang="en-US" sz="2800" dirty="0">
                <a:latin typeface="宋体" pitchFamily="2" charset="-122"/>
              </a:rPr>
              <a:t>由适当的阈值确定</a:t>
            </a:r>
            <a:endParaRPr lang="zh-CN" altLang="en-US" sz="2800" dirty="0">
              <a:latin typeface="宋体" pitchFamily="2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Arial" panose="020B0604020202090204" pitchFamily="34" charset="0"/>
              </a:rPr>
              <a:t>       由</a:t>
            </a:r>
            <a:r>
              <a:rPr lang="zh-CN" altLang="en-US" sz="2800" dirty="0">
                <a:latin typeface="宋体" pitchFamily="2" charset="-122"/>
              </a:rPr>
              <a:t>谱系聚类图</a:t>
            </a:r>
            <a:r>
              <a:rPr lang="zh-CN" altLang="en-US" sz="2800" dirty="0">
                <a:latin typeface="Arial" panose="020B0604020202090204" pitchFamily="34" charset="0"/>
              </a:rPr>
              <a:t>及临界值</a:t>
            </a:r>
            <a:r>
              <a:rPr lang="zh-CN" altLang="zh-CN" sz="2800" dirty="0">
                <a:latin typeface="Arial" panose="020B0604020202090204" pitchFamily="34" charset="0"/>
              </a:rPr>
              <a:t>,</a:t>
            </a:r>
            <a:r>
              <a:rPr lang="zh-CN" altLang="en-US" sz="2800" dirty="0">
                <a:latin typeface="Arial" panose="020B0604020202090204" pitchFamily="34" charset="0"/>
              </a:rPr>
              <a:t>即可给出分类结果</a:t>
            </a:r>
            <a:r>
              <a:rPr lang="zh-CN" altLang="zh-CN" sz="2800" dirty="0">
                <a:latin typeface="Arial" panose="020B0604020202090204" pitchFamily="34" charset="0"/>
              </a:rPr>
              <a:t>.</a:t>
            </a:r>
            <a:endParaRPr lang="zh-CN" altLang="zh-CN" sz="2800" dirty="0">
              <a:latin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2.</a:t>
            </a:r>
            <a:r>
              <a:rPr lang="zh-CN" altLang="en-US" sz="2800" dirty="0">
                <a:latin typeface="宋体" pitchFamily="2" charset="-122"/>
              </a:rPr>
              <a:t>根据数据点的散布图直观地确定类的个数</a:t>
            </a:r>
            <a:endParaRPr lang="zh-CN" altLang="en-US" sz="2800" dirty="0">
              <a:latin typeface="宋体" pitchFamily="2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宋体" pitchFamily="2" charset="-122"/>
              </a:rPr>
              <a:t>  3.</a:t>
            </a:r>
            <a:r>
              <a:rPr lang="zh-CN" altLang="en-US" sz="2800" dirty="0">
                <a:latin typeface="宋体" pitchFamily="2" charset="-122"/>
              </a:rPr>
              <a:t>根据统计量确定分类个数</a:t>
            </a:r>
            <a:endParaRPr lang="zh-CN" altLang="en-US" sz="2800" dirty="0">
              <a:latin typeface="宋体" pitchFamily="2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宋体" pitchFamily="2" charset="-122"/>
              </a:rPr>
              <a:t>  </a:t>
            </a:r>
            <a:r>
              <a:rPr lang="zh-CN" altLang="zh-CN" sz="2800" dirty="0">
                <a:latin typeface="宋体" pitchFamily="2" charset="-122"/>
              </a:rPr>
              <a:t>4.</a:t>
            </a:r>
            <a:r>
              <a:rPr lang="zh-CN" altLang="en-US" sz="2800" dirty="0">
                <a:latin typeface="宋体" pitchFamily="2" charset="-122"/>
              </a:rPr>
              <a:t>根据谱系图确定分类个数的准则</a:t>
            </a:r>
            <a:endParaRPr lang="zh-CN" altLang="en-US" sz="2800" dirty="0">
              <a:latin typeface="宋体" pitchFamily="2" charset="-122"/>
            </a:endParaRPr>
          </a:p>
          <a:p>
            <a:pPr fontAlgn="auto">
              <a:lnSpc>
                <a:spcPct val="150000"/>
              </a:lnSpc>
            </a:pPr>
            <a:endParaRPr lang="zh-CN" altLang="zh-CN" sz="2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Text Box 4"/>
          <p:cNvSpPr txBox="1"/>
          <p:nvPr/>
        </p:nvSpPr>
        <p:spPr>
          <a:xfrm>
            <a:off x="1828800" y="551423"/>
            <a:ext cx="83058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用于确定分类个数的统计量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假定已将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,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类的样品个数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+…+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的重心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中第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表示所有样品的重心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中样品的离差平方和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所有样品的总离差平方和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可以分解为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05474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346326" y="2570406"/>
          <a:ext cx="7207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81305" imgH="255905" progId="Equation.3">
                  <p:embed/>
                </p:oleObj>
              </mc:Choice>
              <mc:Fallback>
                <p:oleObj name="" r:id="rId1" imgW="281305" imgH="255905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46326" y="2570406"/>
                        <a:ext cx="720725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5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2887160" y="4305850"/>
          <a:ext cx="5595937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943735" imgH="685800" progId="Equation.3">
                  <p:embed/>
                </p:oleObj>
              </mc:Choice>
              <mc:Fallback>
                <p:oleObj name="" r:id="rId3" imgW="1943735" imgH="685800" progId="Equation.3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7160" y="4305850"/>
                        <a:ext cx="5595937" cy="197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3" name="Text Box 5"/>
          <p:cNvSpPr txBox="1"/>
          <p:nvPr/>
        </p:nvSpPr>
        <p:spPr>
          <a:xfrm>
            <a:off x="4327526" y="513898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4454" name="Text Box 6"/>
          <p:cNvSpPr txBox="1"/>
          <p:nvPr/>
        </p:nvSpPr>
        <p:spPr>
          <a:xfrm>
            <a:off x="4479926" y="605338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4455" name="Text Box 7"/>
          <p:cNvSpPr txBox="1"/>
          <p:nvPr/>
        </p:nvSpPr>
        <p:spPr>
          <a:xfrm>
            <a:off x="7010401" y="5270742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7560398" y="2592761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79400" imgH="317500" progId="">
                  <p:embed/>
                </p:oleObj>
              </mc:Choice>
              <mc:Fallback>
                <p:oleObj name="" r:id="rId5" imgW="279400" imgH="317500" progId="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0398" y="2592761"/>
                        <a:ext cx="533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7" name="Text Box 9"/>
          <p:cNvSpPr txBox="1"/>
          <p:nvPr/>
        </p:nvSpPr>
        <p:spPr>
          <a:xfrm>
            <a:off x="2346326" y="506278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5482" name="Line 10"/>
          <p:cNvSpPr/>
          <p:nvPr/>
        </p:nvSpPr>
        <p:spPr>
          <a:xfrm>
            <a:off x="7560398" y="2014780"/>
            <a:ext cx="2889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483" name="Text Box 11"/>
          <p:cNvSpPr txBox="1"/>
          <p:nvPr/>
        </p:nvSpPr>
        <p:spPr>
          <a:xfrm>
            <a:off x="5638800" y="5575542"/>
            <a:ext cx="130356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Arial" panose="020B0604020202090204" pitchFamily="34" charset="0"/>
              </a:rPr>
              <a:t>其中    </a:t>
            </a:r>
            <a:endParaRPr lang="zh-CN" altLang="en-US" sz="2800" b="1" dirty="0">
              <a:latin typeface="Arial" panose="020B0604020202090204" pitchFamily="34" charset="0"/>
            </a:endParaRPr>
          </a:p>
        </p:txBody>
      </p:sp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6705600" y="5270743"/>
          <a:ext cx="22860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674370" imgH="432435" progId="Equation.3">
                  <p:embed/>
                </p:oleObj>
              </mc:Choice>
              <mc:Fallback>
                <p:oleObj name="" r:id="rId7" imgW="674370" imgH="432435" progId="Equation.3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05600" y="5270743"/>
                        <a:ext cx="2286000" cy="1166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257187" y="6235638"/>
            <a:ext cx="207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类内偏差平方和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50716" y="6249543"/>
            <a:ext cx="207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类间偏差平方和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5476" name="Text Box 4"/>
          <p:cNvSpPr txBox="1"/>
          <p:nvPr/>
        </p:nvSpPr>
        <p:spPr>
          <a:xfrm>
            <a:off x="2117726" y="1468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5477" name="Text Box 5"/>
          <p:cNvSpPr txBox="1"/>
          <p:nvPr/>
        </p:nvSpPr>
        <p:spPr>
          <a:xfrm>
            <a:off x="34131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5478" name="Text Box 6"/>
          <p:cNvSpPr txBox="1"/>
          <p:nvPr/>
        </p:nvSpPr>
        <p:spPr>
          <a:xfrm>
            <a:off x="25749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5479" name="Text Box 7"/>
          <p:cNvSpPr txBox="1"/>
          <p:nvPr/>
        </p:nvSpPr>
        <p:spPr>
          <a:xfrm>
            <a:off x="2117726" y="4668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6504" name="Text Box 8"/>
          <p:cNvSpPr txBox="1"/>
          <p:nvPr/>
        </p:nvSpPr>
        <p:spPr>
          <a:xfrm>
            <a:off x="1828800" y="3581401"/>
            <a:ext cx="8458200" cy="194764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的定义 可知 ,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值越大，也就是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越小，表示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个类内离差平方和之和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在总离差平方和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中占的比例越小,这说明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个类区分得越开.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5481" name="Text Box 9"/>
          <p:cNvSpPr txBox="1"/>
          <p:nvPr/>
        </p:nvSpPr>
        <p:spPr>
          <a:xfrm>
            <a:off x="57753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5482" name="Text Box 10"/>
          <p:cNvSpPr txBox="1"/>
          <p:nvPr/>
        </p:nvSpPr>
        <p:spPr>
          <a:xfrm>
            <a:off x="2209800" y="1544638"/>
            <a:ext cx="2217274" cy="99719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2800" i="1" baseline="-26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2800" baseline="24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统计量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zh-CN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05483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4124481" y="2339459"/>
          <a:ext cx="3486420" cy="1238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107440" imgH="394335" progId="Equation.3">
                  <p:embed/>
                </p:oleObj>
              </mc:Choice>
              <mc:Fallback>
                <p:oleObj name="" r:id="rId1" imgW="1107440" imgH="394335" progId="Equation.3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4481" y="2339459"/>
                        <a:ext cx="3486420" cy="123859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6500" name="Text Box 4"/>
          <p:cNvSpPr txBox="1"/>
          <p:nvPr/>
        </p:nvSpPr>
        <p:spPr>
          <a:xfrm>
            <a:off x="1828800" y="1621155"/>
            <a:ext cx="8458200" cy="58631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zh-CN" sz="3200" b="1" dirty="0">
                <a:latin typeface="宋体" pitchFamily="2" charset="-122"/>
              </a:rPr>
              <a:t>   </a:t>
            </a:r>
            <a:endParaRPr lang="zh-CN" altLang="zh-CN" sz="3200" b="1" dirty="0">
              <a:latin typeface="宋体" pitchFamily="2" charset="-122"/>
            </a:endParaRPr>
          </a:p>
        </p:txBody>
      </p:sp>
      <p:sp>
        <p:nvSpPr>
          <p:cNvPr id="106501" name="Text Box 5"/>
          <p:cNvSpPr txBox="1"/>
          <p:nvPr/>
        </p:nvSpPr>
        <p:spPr>
          <a:xfrm>
            <a:off x="2117726" y="1468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6502" name="Text Box 6"/>
          <p:cNvSpPr txBox="1"/>
          <p:nvPr/>
        </p:nvSpPr>
        <p:spPr>
          <a:xfrm>
            <a:off x="34131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6503" name="Text Box 7"/>
          <p:cNvSpPr txBox="1"/>
          <p:nvPr/>
        </p:nvSpPr>
        <p:spPr>
          <a:xfrm>
            <a:off x="25749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6504" name="Text Box 8"/>
          <p:cNvSpPr txBox="1"/>
          <p:nvPr/>
        </p:nvSpPr>
        <p:spPr>
          <a:xfrm>
            <a:off x="2117726" y="4668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6505" name="Text Box 9"/>
          <p:cNvSpPr txBox="1"/>
          <p:nvPr/>
        </p:nvSpPr>
        <p:spPr>
          <a:xfrm>
            <a:off x="1905000" y="5638800"/>
            <a:ext cx="845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宋体" pitchFamily="2" charset="-122"/>
              </a:rPr>
              <a:t> </a:t>
            </a:r>
            <a:endParaRPr lang="zh-CN" altLang="zh-CN" dirty="0">
              <a:latin typeface="宋体" pitchFamily="2" charset="-122"/>
            </a:endParaRPr>
          </a:p>
        </p:txBody>
      </p:sp>
      <p:sp>
        <p:nvSpPr>
          <p:cNvPr id="106506" name="Text Box 10"/>
          <p:cNvSpPr txBox="1"/>
          <p:nvPr/>
        </p:nvSpPr>
        <p:spPr>
          <a:xfrm>
            <a:off x="57753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31" name="Text Box 11"/>
          <p:cNvSpPr txBox="1"/>
          <p:nvPr/>
        </p:nvSpPr>
        <p:spPr>
          <a:xfrm>
            <a:off x="1071411" y="654050"/>
            <a:ext cx="9599353" cy="5908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统计量可用于评价合并为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个类时的聚类效果.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越大,聚类效果越好.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的值总是在0和1之间，而且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的值总是随着分类个数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的减少而变小.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如果用户希望通过分析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值来确定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个样品应分为几类最合适，应该看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值的变化.假定分为4类时的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=0.797,而下一次合并后分为3类时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下降较多,比如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=0.402,下降了0.395(=0.797-0.402).这时通过分析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统计量可得出，分为4个类是较合适的.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/>
          <p:cNvSpPr txBox="1"/>
          <p:nvPr/>
        </p:nvSpPr>
        <p:spPr>
          <a:xfrm>
            <a:off x="2770460" y="51634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24" name="Text Box 4"/>
          <p:cNvSpPr txBox="1"/>
          <p:nvPr/>
        </p:nvSpPr>
        <p:spPr>
          <a:xfrm>
            <a:off x="1703660" y="12010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25" name="Text Box 5"/>
          <p:cNvSpPr txBox="1"/>
          <p:nvPr/>
        </p:nvSpPr>
        <p:spPr>
          <a:xfrm>
            <a:off x="2999060" y="37918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26" name="Text Box 6"/>
          <p:cNvSpPr txBox="1"/>
          <p:nvPr/>
        </p:nvSpPr>
        <p:spPr>
          <a:xfrm>
            <a:off x="2160860" y="40966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27" name="Text Box 7"/>
          <p:cNvSpPr txBox="1"/>
          <p:nvPr/>
        </p:nvSpPr>
        <p:spPr>
          <a:xfrm>
            <a:off x="1703660" y="44014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28" name="Text Box 8"/>
          <p:cNvSpPr txBox="1"/>
          <p:nvPr/>
        </p:nvSpPr>
        <p:spPr>
          <a:xfrm>
            <a:off x="1490934" y="5371382"/>
            <a:ext cx="845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宋体" pitchFamily="2" charset="-122"/>
              </a:rPr>
              <a:t> </a:t>
            </a:r>
            <a:endParaRPr lang="zh-CN" altLang="zh-CN" dirty="0">
              <a:latin typeface="宋体" pitchFamily="2" charset="-122"/>
            </a:endParaRPr>
          </a:p>
        </p:txBody>
      </p:sp>
      <p:sp>
        <p:nvSpPr>
          <p:cNvPr id="107529" name="Text Box 9"/>
          <p:cNvSpPr txBox="1"/>
          <p:nvPr/>
        </p:nvSpPr>
        <p:spPr>
          <a:xfrm>
            <a:off x="5361260" y="37918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30" name="Text Box 10"/>
          <p:cNvSpPr txBox="1"/>
          <p:nvPr/>
        </p:nvSpPr>
        <p:spPr>
          <a:xfrm>
            <a:off x="3227660" y="20392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31" name="Text Box 11"/>
          <p:cNvSpPr txBox="1"/>
          <p:nvPr/>
        </p:nvSpPr>
        <p:spPr>
          <a:xfrm>
            <a:off x="3456260" y="18868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32" name="Text Box 12"/>
          <p:cNvSpPr txBox="1"/>
          <p:nvPr/>
        </p:nvSpPr>
        <p:spPr>
          <a:xfrm>
            <a:off x="2084660" y="226782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7533" name="Text Box 13"/>
          <p:cNvSpPr txBox="1"/>
          <p:nvPr/>
        </p:nvSpPr>
        <p:spPr>
          <a:xfrm>
            <a:off x="1452834" y="499663"/>
            <a:ext cx="8382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半偏</a:t>
            </a:r>
            <a:r>
              <a:rPr lang="zh-CN" altLang="zh-CN" sz="32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zh-CN" sz="3600" i="1" baseline="-24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zh-CN" sz="3200" baseline="24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统计量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8558" name="Text Box 14"/>
          <p:cNvSpPr txBox="1"/>
          <p:nvPr/>
        </p:nvSpPr>
        <p:spPr>
          <a:xfrm>
            <a:off x="1414734" y="1887138"/>
            <a:ext cx="8610600" cy="45348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                                      ，表示合并类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为新类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后类内离差平方和的增值.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该统计量用于评价合并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和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的效果.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根据以上定义，半偏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的值是上一步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k+</a:t>
            </a:r>
            <a:r>
              <a:rPr lang="zh-CN" altLang="en-US" sz="2800" baseline="-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与该步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的差值，故查看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变化的大小可以得到半偏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zh-CN" altLang="en-US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baseline="24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某步半偏</a:t>
            </a:r>
            <a:r>
              <a:rPr lang="zh-CN" altLang="en-US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zh-CN" altLang="en-US" sz="2800" i="1" baseline="-24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baseline="24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的值越大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说明上一次合并为</a:t>
            </a:r>
            <a:r>
              <a:rPr lang="zh-CN" altLang="en-US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+1类后的效果好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.该统计量用于评价一次合并的效果.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07535" name="Object 15"/>
          <p:cNvGraphicFramePr>
            <a:graphicFrameLocks noChangeAspect="1"/>
          </p:cNvGraphicFramePr>
          <p:nvPr/>
        </p:nvGraphicFramePr>
        <p:xfrm>
          <a:off x="2835546" y="1220308"/>
          <a:ext cx="56165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2367200" imgH="5791200" progId="Equation.DSMT4">
                  <p:embed/>
                </p:oleObj>
              </mc:Choice>
              <mc:Fallback>
                <p:oleObj name="Equation" r:id="rId1" imgW="42367200" imgH="57912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5546" y="1220308"/>
                        <a:ext cx="5616575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6" name="Object 16"/>
          <p:cNvGraphicFramePr>
            <a:graphicFrameLocks noChangeAspect="1"/>
          </p:cNvGraphicFramePr>
          <p:nvPr/>
        </p:nvGraphicFramePr>
        <p:xfrm>
          <a:off x="2268809" y="2039220"/>
          <a:ext cx="3276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400810" imgH="229235" progId="Equation.3">
                  <p:embed/>
                </p:oleObj>
              </mc:Choice>
              <mc:Fallback>
                <p:oleObj name="Equation" r:id="rId3" imgW="1400810" imgH="229235" progId="Equation.3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8809" y="2039220"/>
                        <a:ext cx="327660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/>
          <p:nvPr/>
        </p:nvSpPr>
        <p:spPr>
          <a:xfrm>
            <a:off x="3184526" y="52324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48" name="Text Box 4"/>
          <p:cNvSpPr txBox="1"/>
          <p:nvPr/>
        </p:nvSpPr>
        <p:spPr>
          <a:xfrm>
            <a:off x="2117726" y="12700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49" name="Text Box 5"/>
          <p:cNvSpPr txBox="1"/>
          <p:nvPr/>
        </p:nvSpPr>
        <p:spPr>
          <a:xfrm>
            <a:off x="3413126" y="38608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0" name="Text Box 6"/>
          <p:cNvSpPr txBox="1"/>
          <p:nvPr/>
        </p:nvSpPr>
        <p:spPr>
          <a:xfrm>
            <a:off x="2574926" y="41656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1" name="Text Box 7"/>
          <p:cNvSpPr txBox="1"/>
          <p:nvPr/>
        </p:nvSpPr>
        <p:spPr>
          <a:xfrm>
            <a:off x="2117726" y="44704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2" name="Text Box 8"/>
          <p:cNvSpPr txBox="1"/>
          <p:nvPr/>
        </p:nvSpPr>
        <p:spPr>
          <a:xfrm>
            <a:off x="1905000" y="5440396"/>
            <a:ext cx="845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宋体" pitchFamily="2" charset="-122"/>
              </a:rPr>
              <a:t> </a:t>
            </a:r>
            <a:endParaRPr lang="zh-CN" altLang="zh-CN" dirty="0">
              <a:latin typeface="宋体" pitchFamily="2" charset="-122"/>
            </a:endParaRPr>
          </a:p>
        </p:txBody>
      </p:sp>
      <p:sp>
        <p:nvSpPr>
          <p:cNvPr id="108553" name="Text Box 9"/>
          <p:cNvSpPr txBox="1"/>
          <p:nvPr/>
        </p:nvSpPr>
        <p:spPr>
          <a:xfrm>
            <a:off x="5775326" y="38608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4" name="Text Box 10"/>
          <p:cNvSpPr txBox="1"/>
          <p:nvPr/>
        </p:nvSpPr>
        <p:spPr>
          <a:xfrm>
            <a:off x="3641726" y="21082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5" name="Text Box 11"/>
          <p:cNvSpPr txBox="1"/>
          <p:nvPr/>
        </p:nvSpPr>
        <p:spPr>
          <a:xfrm>
            <a:off x="3870326" y="19558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6" name="Text Box 12"/>
          <p:cNvSpPr txBox="1"/>
          <p:nvPr/>
        </p:nvSpPr>
        <p:spPr>
          <a:xfrm>
            <a:off x="2498726" y="233683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8557" name="Text Box 13"/>
          <p:cNvSpPr txBox="1"/>
          <p:nvPr/>
        </p:nvSpPr>
        <p:spPr>
          <a:xfrm>
            <a:off x="1828801" y="1468471"/>
            <a:ext cx="8321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伪</a:t>
            </a:r>
            <a:r>
              <a:rPr lang="zh-CN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统计量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9582" name="Text Box 14"/>
          <p:cNvSpPr txBox="1"/>
          <p:nvPr/>
        </p:nvSpPr>
        <p:spPr>
          <a:xfrm>
            <a:off x="1904999" y="3556034"/>
            <a:ext cx="8541589" cy="3107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该统计量用于评价分为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个类聚类效果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伪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值越大表示这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个样品可显著地分为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伪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统计量可以作为确定类个数的有用指标，但并不具有像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统计量的分布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08559" name="Object 15"/>
          <p:cNvGraphicFramePr>
            <a:graphicFrameLocks noChangeAspect="1"/>
          </p:cNvGraphicFramePr>
          <p:nvPr/>
        </p:nvGraphicFramePr>
        <p:xfrm>
          <a:off x="2438400" y="2011397"/>
          <a:ext cx="716280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97100" imgH="431800" progId="Equation.3">
                  <p:embed/>
                </p:oleObj>
              </mc:Choice>
              <mc:Fallback>
                <p:oleObj name="" r:id="rId1" imgW="2197100" imgH="431800" progId="Equation.3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2011397"/>
                        <a:ext cx="7162800" cy="1408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Text Box 3"/>
          <p:cNvSpPr txBox="1"/>
          <p:nvPr/>
        </p:nvSpPr>
        <p:spPr>
          <a:xfrm>
            <a:off x="3184526" y="5430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9572" name="Text Box 4"/>
          <p:cNvSpPr txBox="1"/>
          <p:nvPr/>
        </p:nvSpPr>
        <p:spPr>
          <a:xfrm>
            <a:off x="2133601" y="1447800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9573" name="Text Box 5"/>
          <p:cNvSpPr txBox="1"/>
          <p:nvPr/>
        </p:nvSpPr>
        <p:spPr>
          <a:xfrm>
            <a:off x="34131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9574" name="Text Box 6"/>
          <p:cNvSpPr txBox="1"/>
          <p:nvPr/>
        </p:nvSpPr>
        <p:spPr>
          <a:xfrm>
            <a:off x="25749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9575" name="Text Box 7"/>
          <p:cNvSpPr txBox="1"/>
          <p:nvPr/>
        </p:nvSpPr>
        <p:spPr>
          <a:xfrm>
            <a:off x="2117726" y="4668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9576" name="Text Box 8"/>
          <p:cNvSpPr txBox="1"/>
          <p:nvPr/>
        </p:nvSpPr>
        <p:spPr>
          <a:xfrm>
            <a:off x="1905000" y="5638800"/>
            <a:ext cx="845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宋体" pitchFamily="2" charset="-122"/>
              </a:rPr>
              <a:t> </a:t>
            </a:r>
            <a:endParaRPr lang="zh-CN" altLang="zh-CN" dirty="0">
              <a:latin typeface="宋体" pitchFamily="2" charset="-122"/>
            </a:endParaRPr>
          </a:p>
        </p:txBody>
      </p:sp>
      <p:sp>
        <p:nvSpPr>
          <p:cNvPr id="109577" name="Text Box 9"/>
          <p:cNvSpPr txBox="1"/>
          <p:nvPr/>
        </p:nvSpPr>
        <p:spPr>
          <a:xfrm>
            <a:off x="5775326" y="4059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109578" name="Text Box 10"/>
          <p:cNvSpPr txBox="1"/>
          <p:nvPr/>
        </p:nvSpPr>
        <p:spPr>
          <a:xfrm>
            <a:off x="1933575" y="767080"/>
            <a:ext cx="37211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伪</a:t>
            </a:r>
            <a:r>
              <a:rPr lang="zh-CN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200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统计量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0603" name="Text Box 11"/>
          <p:cNvSpPr txBox="1"/>
          <p:nvPr/>
        </p:nvSpPr>
        <p:spPr>
          <a:xfrm>
            <a:off x="1808481" y="1980566"/>
            <a:ext cx="9362727" cy="4615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该统计量用以评价此步合并类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的效果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由伪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统计量的定义知该值大表示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合并为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后类内离差平方和的增量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zh-CN" sz="2800" i="1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相对于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两类的类内离差平方和大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这表明上一次被合并的两个类是很分开的，也就是上一次聚类的效果是好的</a:t>
            </a:r>
            <a:r>
              <a:rPr lang="zh-CN" altLang="zh-CN" sz="2800" dirty="0">
                <a:solidFill>
                  <a:srgbClr val="8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solidFill>
                <a:srgbClr val="8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伪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统计量可以作为确定类个数的有用指标，但并不具有像随机变量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那样的分布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09581" name="Object 13"/>
          <p:cNvGraphicFramePr>
            <a:graphicFrameLocks noGrp="1" noChangeAspect="1"/>
          </p:cNvGraphicFramePr>
          <p:nvPr>
            <p:ph idx="1"/>
          </p:nvPr>
        </p:nvGraphicFramePr>
        <p:xfrm>
          <a:off x="4846638" y="803275"/>
          <a:ext cx="468153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43735" imgH="457200" progId="Equation.3">
                  <p:embed/>
                </p:oleObj>
              </mc:Choice>
              <mc:Fallback>
                <p:oleObj name="" r:id="rId1" imgW="1943735" imgH="457200" progId="Equation.3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46638" y="803275"/>
                        <a:ext cx="4681537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29184" y="228600"/>
            <a:ext cx="8915400" cy="9144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zh-CN" altLang="zh-CN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应用例子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 flipV="1">
            <a:off x="228600" y="1258888"/>
            <a:ext cx="10799064" cy="365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55725" y="16970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65125" y="1335088"/>
            <a:ext cx="8550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latin typeface="宋体" pitchFamily="2" charset="-122"/>
              </a:rPr>
              <a:t> 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35557" y="3376486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zh-CN" altLang="zh-CN">
              <a:solidFill>
                <a:schemeClr val="tx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999744" y="2517648"/>
          <a:ext cx="7620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Image" r:id="rId1" imgW="6781800" imgH="2019300" progId="Photoshop.Image.6">
                  <p:embed/>
                </p:oleObj>
              </mc:Choice>
              <mc:Fallback>
                <p:oleObj name="Image" r:id="rId1" imgW="6781800" imgH="2019300" progId="Photoshop.Image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744" y="2517648"/>
                        <a:ext cx="7620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754757" y="5814886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zh-CN" altLang="zh-CN">
              <a:solidFill>
                <a:schemeClr val="tx1"/>
              </a:solidFill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018032" y="4194048"/>
          <a:ext cx="76200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Image" r:id="rId3" imgW="6769100" imgH="3238500" progId="Photoshop.Image.6">
                  <p:embed/>
                </p:oleObj>
              </mc:Choice>
              <mc:Fallback>
                <p:oleObj name="Image" r:id="rId3" imgW="6769100" imgH="3238500" progId="Photoshop.Image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032" y="4194048"/>
                        <a:ext cx="76200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50838" y="1219200"/>
            <a:ext cx="1067682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lang="zh-CN" altLang="en-US" sz="3200" b="1" dirty="0">
                <a:latin typeface="宋体" pitchFamily="2" charset="-122"/>
              </a:rPr>
              <a:t>例</a:t>
            </a:r>
            <a:r>
              <a:rPr lang="en-US" altLang="zh-CN" sz="3200" b="1" dirty="0">
                <a:latin typeface="宋体" pitchFamily="2" charset="-122"/>
              </a:rPr>
              <a:t>5.4.1</a:t>
            </a:r>
            <a:r>
              <a:rPr lang="en-US" altLang="en-US" dirty="0">
                <a:solidFill>
                  <a:schemeClr val="tx1"/>
                </a:solidFill>
                <a:latin typeface="Arial" panose="020B0604020202090204" pitchFamily="34" charset="0"/>
              </a:rPr>
              <a:t>  </a:t>
            </a:r>
            <a:r>
              <a:rPr lang="en-US" altLang="en-US" sz="2400" b="1" dirty="0" err="1">
                <a:solidFill>
                  <a:schemeClr val="tx1"/>
                </a:solidFill>
                <a:latin typeface="Arial" panose="020B0604020202090204" pitchFamily="34" charset="0"/>
              </a:rPr>
              <a:t>下表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是我国</a:t>
            </a:r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16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个地区农民</a:t>
            </a:r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1982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年支出情况的抽样调查资料</a:t>
            </a:r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,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每个地区都调查了反映每人平均生活消费支出情况的六个指标</a:t>
            </a:r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.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试利用调查资料对</a:t>
            </a:r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16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个地区进行分类</a:t>
            </a:r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.</a:t>
            </a:r>
            <a:endParaRPr lang="en-US" altLang="zh-CN" sz="2400" b="1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05306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类平均法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6310"/>
            <a:ext cx="10515600" cy="53224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import 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numpy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as np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matplotlib import 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pyplot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as 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plt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scipy.cluster.hierarchy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import dendrogram, linkage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data=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np.array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([[190.33,43.77,9.73,60.54,49.01,9.04],[135.2,36.4,10.47,44.16,36.49,3.94],[95.21,22.83,9.3,22.44,22.81,2.8],[104.78,25.11,6.4,9.89,18.17,3.25],[128.41,27.63,8.94,12.58,23.99,3.27],[145.68,32.83,17.79,27.29,39.09,3.47]])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 = linkage(data, "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average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")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array([[ 2.        ,  3.        , 16.86499036,  2.        ],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[ 1.        ,  5.        , 21.62719353,  2.        ],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[ 4.        ,  6.        , 29.86681339,  3.        ],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[ 7.        ,  8.        , 45.16536626,  5.        ],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[ 0.        ,  9.        , 83.18352559,  6.        ]])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fig, ax = 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plt.subplots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figsize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=(8,8))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dendrogram(z, </a:t>
            </a: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leaf_font_size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=14)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altLang="zh-CN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plt.show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()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852806"/>
            <a:ext cx="5955792" cy="37819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357243"/>
            <a:ext cx="6263277" cy="160877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文本框 6"/>
          <p:cNvSpPr txBox="1"/>
          <p:nvPr/>
        </p:nvSpPr>
        <p:spPr>
          <a:xfrm>
            <a:off x="5858947" y="357242"/>
            <a:ext cx="27401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single</a:t>
            </a:r>
            <a:r>
              <a:rPr lang="zh-CN" altLang="en-US" dirty="0"/>
              <a:t>        最短距离法</a:t>
            </a:r>
            <a:endParaRPr lang="en-US" altLang="zh-CN" dirty="0"/>
          </a:p>
          <a:p>
            <a:r>
              <a:rPr lang="zh-CN" altLang="en-US" dirty="0"/>
              <a:t>complete   最长距离法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average     类平均法</a:t>
            </a:r>
            <a:r>
              <a:rPr lang="zh-CN" altLang="en-US" dirty="0"/>
              <a:t>weighted加权平均距离法</a:t>
            </a:r>
            <a:endParaRPr lang="en-US" altLang="zh-CN" dirty="0"/>
          </a:p>
          <a:p>
            <a:r>
              <a:rPr lang="zh-CN" altLang="en-US" dirty="0"/>
              <a:t>centroid  重心法</a:t>
            </a:r>
            <a:endParaRPr lang="en-US" altLang="zh-CN" dirty="0"/>
          </a:p>
          <a:p>
            <a:r>
              <a:rPr lang="zh-CN" altLang="en-US" dirty="0"/>
              <a:t>median   中间距离法ward       离差平方和法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/>
          </p:cNvSpPr>
          <p:nvPr>
            <p:ph type="title"/>
          </p:nvPr>
        </p:nvSpPr>
        <p:spPr>
          <a:xfrm>
            <a:off x="3527425" y="1906"/>
            <a:ext cx="5137150" cy="899795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  <a:cs typeface="+mn-cs"/>
              </a:rPr>
              <a:t>第五节 动态聚类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11620" name="Rectangle 3"/>
          <p:cNvSpPr>
            <a:spLocks noGrp="1"/>
          </p:cNvSpPr>
          <p:nvPr>
            <p:ph idx="1"/>
          </p:nvPr>
        </p:nvSpPr>
        <p:spPr>
          <a:xfrm>
            <a:off x="1078302" y="901701"/>
            <a:ext cx="9903124" cy="5819775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algn="just" fontAlgn="auto"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系统聚类法缺陷：当样品的个数很大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如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≥100)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时，系统聚类法的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计算量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非常大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的，将占据大量的计算机内存空间和较多的计算时间，甚至会因计算机内存或计算时间的限制而无法进行。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为了改进上述缺点，一个自然的想法去先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粗略地分一下类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，然后按某种最优原则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进行修正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，直到将类分得比较合理时为止。基于这种思想就产生了动态聚类法，也称逐步聚类法。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116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  <p:transition>
    <p:rand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3"/>
          <p:cNvSpPr>
            <a:spLocks noGrp="1"/>
          </p:cNvSpPr>
          <p:nvPr>
            <p:ph idx="1"/>
          </p:nvPr>
        </p:nvSpPr>
        <p:spPr>
          <a:xfrm>
            <a:off x="1489196" y="1764031"/>
            <a:ext cx="8725535" cy="526288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动态聚类法解决的问题：假如有多个样本点，要把它们分成类，使得每一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类内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的元素都是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聚合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的，并且类与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类之间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还能很好地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区分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开。动态聚类法适用于大型数据。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动态聚类法有许多种，这里介绍一种比较流行的动态聚类法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均值法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，它是一种快速聚类法，其结果简单易懂，对计算机的性能要求不高，因而应用广泛。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77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6739" name="Rectangle 3"/>
          <p:cNvSpPr/>
          <p:nvPr/>
        </p:nvSpPr>
        <p:spPr>
          <a:xfrm>
            <a:off x="1731646" y="928969"/>
            <a:ext cx="8695055" cy="493340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00050" algn="just">
              <a:lnSpc>
                <a:spcPct val="14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K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均值法的基本原理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00050" eaLnBrk="0" hangingPunct="0">
              <a:lnSpc>
                <a:spcPct val="14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）先按某种规则选择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个样本作为初始凝聚点；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00050" eaLnBrk="0" hangingPunct="0">
              <a:lnSpc>
                <a:spcPct val="14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）对除凝聚点之外的所有样本逐个分类，将每个样本归入离他最近的凝聚点那个类（通常采用欧式距离），直至所有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样本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都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归类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。类的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凝聚点更新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为这一类的均值；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00050" eaLnBrk="0" hangingPunct="0">
              <a:lnSpc>
                <a:spcPct val="14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）重复步骤（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），直至分类较合理，所有的样本都不能再分配为止。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1216" name="Rectangle 32"/>
          <p:cNvSpPr/>
          <p:nvPr/>
        </p:nvSpPr>
        <p:spPr>
          <a:xfrm>
            <a:off x="2438400" y="1981200"/>
            <a:ext cx="649288" cy="26289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lstStyle/>
          <a:p>
            <a:pPr algn="ctr" eaLnBrk="0" hangingPunct="0"/>
            <a:r>
              <a:rPr lang="zh-CN" altLang="en-US" sz="2800" dirty="0">
                <a:latin typeface="Times New Roman" panose="02020503050405090304" pitchFamily="18" charset="0"/>
              </a:rPr>
              <a:t>选择凝聚点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21217" name="Line 33"/>
          <p:cNvSpPr/>
          <p:nvPr/>
        </p:nvSpPr>
        <p:spPr>
          <a:xfrm>
            <a:off x="3124200" y="3276600"/>
            <a:ext cx="7620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218" name="Rectangle 34"/>
          <p:cNvSpPr/>
          <p:nvPr/>
        </p:nvSpPr>
        <p:spPr>
          <a:xfrm>
            <a:off x="3962400" y="2133600"/>
            <a:ext cx="533400" cy="2438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lstStyle/>
          <a:p>
            <a:pPr algn="ctr" eaLnBrk="0" hangingPunct="0"/>
            <a:r>
              <a:rPr lang="zh-CN" altLang="en-US" sz="2800" dirty="0">
                <a:latin typeface="Times New Roman" panose="02020503050405090304" pitchFamily="18" charset="0"/>
              </a:rPr>
              <a:t>分         类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21219" name="Line 35"/>
          <p:cNvSpPr/>
          <p:nvPr/>
        </p:nvSpPr>
        <p:spPr>
          <a:xfrm>
            <a:off x="4648200" y="3276600"/>
            <a:ext cx="12192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220" name="Rectangle 36"/>
          <p:cNvSpPr/>
          <p:nvPr/>
        </p:nvSpPr>
        <p:spPr>
          <a:xfrm>
            <a:off x="3962400" y="4724400"/>
            <a:ext cx="685800" cy="1676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lstStyle/>
          <a:p>
            <a:pPr algn="just" eaLnBrk="0" hangingPunct="0"/>
            <a:r>
              <a:rPr lang="zh-CN" altLang="en-US" sz="2800" dirty="0">
                <a:latin typeface="Times New Roman" panose="02020503050405090304" pitchFamily="18" charset="0"/>
              </a:rPr>
              <a:t>修改分类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21224" name="AutoShape 40"/>
          <p:cNvSpPr/>
          <p:nvPr/>
        </p:nvSpPr>
        <p:spPr>
          <a:xfrm>
            <a:off x="5943600" y="914400"/>
            <a:ext cx="1219200" cy="4572000"/>
          </a:xfrm>
          <a:prstGeom prst="diamond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lstStyle/>
          <a:p>
            <a:pPr algn="ctr" eaLnBrk="0" hangingPunct="0"/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分类是否合理</a:t>
            </a:r>
            <a:endParaRPr lang="zh-CN" altLang="en-US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sp>
        <p:nvSpPr>
          <p:cNvPr id="221225" name="Line 41"/>
          <p:cNvSpPr/>
          <p:nvPr/>
        </p:nvSpPr>
        <p:spPr>
          <a:xfrm>
            <a:off x="6553200" y="914400"/>
            <a:ext cx="19050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226" name="Line 42"/>
          <p:cNvSpPr/>
          <p:nvPr/>
        </p:nvSpPr>
        <p:spPr>
          <a:xfrm>
            <a:off x="8458200" y="914400"/>
            <a:ext cx="0" cy="7620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227" name="Rectangle 43"/>
          <p:cNvSpPr/>
          <p:nvPr/>
        </p:nvSpPr>
        <p:spPr>
          <a:xfrm>
            <a:off x="8112125" y="1916113"/>
            <a:ext cx="762000" cy="25908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lstStyle/>
          <a:p>
            <a:pPr algn="ctr" eaLnBrk="0" hangingPunct="0"/>
            <a:r>
              <a:rPr lang="zh-CN" altLang="en-US" sz="2800" dirty="0">
                <a:latin typeface="Times New Roman" panose="02020503050405090304" pitchFamily="18" charset="0"/>
              </a:rPr>
              <a:t>分类结束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21230" name="Rectangle 46"/>
          <p:cNvSpPr/>
          <p:nvPr/>
        </p:nvSpPr>
        <p:spPr>
          <a:xfrm>
            <a:off x="6934200" y="1066800"/>
            <a:ext cx="10668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800" dirty="0">
                <a:latin typeface="Lucida Console" panose="020B0609040504020204" pitchFamily="49" charset="0"/>
              </a:rPr>
              <a:t>Yes</a:t>
            </a:r>
            <a:endParaRPr lang="en-US" altLang="zh-CN" sz="2800" dirty="0">
              <a:latin typeface="Lucida Console" panose="020B0609040504020204" pitchFamily="49" charset="0"/>
            </a:endParaRPr>
          </a:p>
        </p:txBody>
      </p:sp>
      <p:sp>
        <p:nvSpPr>
          <p:cNvPr id="221231" name="Line 47"/>
          <p:cNvSpPr/>
          <p:nvPr/>
        </p:nvSpPr>
        <p:spPr>
          <a:xfrm flipH="1">
            <a:off x="4724400" y="5486400"/>
            <a:ext cx="1828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232" name="Rectangle 48"/>
          <p:cNvSpPr/>
          <p:nvPr/>
        </p:nvSpPr>
        <p:spPr>
          <a:xfrm>
            <a:off x="5181600" y="5791200"/>
            <a:ext cx="1066800" cy="533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800" dirty="0">
                <a:latin typeface="Lucida Console" panose="020B0609040504020204" pitchFamily="49" charset="0"/>
              </a:rPr>
              <a:t>No</a:t>
            </a:r>
            <a:endParaRPr lang="en-US" altLang="zh-CN" sz="2800" dirty="0">
              <a:latin typeface="Lucida Console" panose="020B0609040504020204" pitchFamily="49" charset="0"/>
            </a:endParaRPr>
          </a:p>
        </p:txBody>
      </p:sp>
      <p:sp>
        <p:nvSpPr>
          <p:cNvPr id="221234" name="Line 50"/>
          <p:cNvSpPr/>
          <p:nvPr/>
        </p:nvSpPr>
        <p:spPr>
          <a:xfrm flipV="1">
            <a:off x="2667000" y="4648200"/>
            <a:ext cx="0" cy="838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235" name="Line 51"/>
          <p:cNvSpPr/>
          <p:nvPr/>
        </p:nvSpPr>
        <p:spPr>
          <a:xfrm>
            <a:off x="2667000" y="5486400"/>
            <a:ext cx="1219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7" name="Rectangle 3"/>
          <p:cNvSpPr>
            <a:spLocks noGrp="1"/>
          </p:cNvSpPr>
          <p:nvPr>
            <p:ph idx="1"/>
          </p:nvPr>
        </p:nvSpPr>
        <p:spPr>
          <a:xfrm>
            <a:off x="120390" y="902890"/>
            <a:ext cx="10188176" cy="41910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一个简单例子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5.5.1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把图中的点分成两类。快速聚类的步骤：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、随机选取两个点      和       作为聚核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、对于任何点</a:t>
            </a:r>
            <a:r>
              <a:rPr lang="en-US" altLang="zh-CN" sz="32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32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，计算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、若                        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则将</a:t>
            </a:r>
            <a:r>
              <a:rPr lang="en-US" altLang="zh-CN" sz="32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32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划为第一类，否则划给第二类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04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0429" name="Rectangle 21"/>
          <p:cNvSpPr/>
          <p:nvPr/>
        </p:nvSpPr>
        <p:spPr>
          <a:xfrm>
            <a:off x="500327" y="4248513"/>
            <a:ext cx="9532193" cy="11523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</a:tabLst>
            </a:pPr>
            <a:r>
              <a:rPr lang="en-US" altLang="zh-CN" sz="2800" dirty="0">
                <a:latin typeface="Times New Roman" panose="02020503050405090304" pitchFamily="18" charset="0"/>
              </a:rPr>
              <a:t>4</a:t>
            </a:r>
            <a:r>
              <a:rPr lang="zh-CN" altLang="en-US" sz="2800" dirty="0">
                <a:latin typeface="Times New Roman" panose="02020503050405090304" pitchFamily="18" charset="0"/>
              </a:rPr>
              <a:t>、分别计算两个类的重心，则得       和     ，以其为新的聚核，对空间中的点进行重新分类，得到新分类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3634894" y="2209683"/>
          <a:ext cx="547370" cy="68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08965" imgH="541020" progId="Equation.KSEE3">
                  <p:embed/>
                </p:oleObj>
              </mc:Choice>
              <mc:Fallback>
                <p:oleObj name="" r:id="rId1" imgW="608965" imgH="541020" progId="Equation.KSEE3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4894" y="2209683"/>
                        <a:ext cx="547370" cy="689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396895" y="2209683"/>
          <a:ext cx="654685" cy="68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27075" imgH="588645" progId="Equation.KSEE3">
                  <p:embed/>
                </p:oleObj>
              </mc:Choice>
              <mc:Fallback>
                <p:oleObj name="" r:id="rId3" imgW="727075" imgH="588645" progId="Equation.KSEE3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96895" y="2209683"/>
                        <a:ext cx="654685" cy="689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283439" y="2982744"/>
          <a:ext cx="367474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3658870" imgH="654050" progId="Equation.KSEE3">
                  <p:embed/>
                </p:oleObj>
              </mc:Choice>
              <mc:Fallback>
                <p:oleObj name="" r:id="rId5" imgW="3658870" imgH="654050" progId="Equation.KSEE3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3439" y="2982744"/>
                        <a:ext cx="3674745" cy="591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1423351" y="3782673"/>
          <a:ext cx="2536166" cy="574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32918400" imgH="5791200" progId="Equation.DSMT4">
                  <p:embed/>
                </p:oleObj>
              </mc:Choice>
              <mc:Fallback>
                <p:oleObj name="Equation" r:id="rId7" imgW="32918400" imgH="5791200" progId="Equation.DSMT4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23351" y="3782673"/>
                        <a:ext cx="2536166" cy="574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/>
          <p:nvPr/>
        </p:nvGraphicFramePr>
        <p:xfrm>
          <a:off x="6864193" y="4248512"/>
          <a:ext cx="637226" cy="675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9" imgW="701040" imgH="686435" progId="Equation.KSEE3">
                  <p:embed/>
                </p:oleObj>
              </mc:Choice>
              <mc:Fallback>
                <p:oleObj name="" r:id="rId9" imgW="701040" imgH="686435" progId="Equation.KSEE3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4193" y="4248512"/>
                        <a:ext cx="637226" cy="675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5904592" y="4248513"/>
          <a:ext cx="556593" cy="675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1" imgW="254000" imgH="228600" progId="Equation.KSEE3">
                  <p:embed/>
                </p:oleObj>
              </mc:Choice>
              <mc:Fallback>
                <p:oleObj name="" r:id="rId11" imgW="254000" imgH="228600" progId="Equation.KSEE3">
                  <p:embed/>
                  <p:pic>
                    <p:nvPicPr>
                      <p:cNvPr id="0" name="对象 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04592" y="4248513"/>
                        <a:ext cx="556593" cy="675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0"/>
          <p:cNvGraphicFramePr/>
          <p:nvPr/>
        </p:nvGraphicFramePr>
        <p:xfrm>
          <a:off x="7860563" y="1145637"/>
          <a:ext cx="3253592" cy="1934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BMP 图像" r:id="rId13" imgW="2371725" imgH="1257300" progId="Paint.Picture">
                  <p:embed/>
                </p:oleObj>
              </mc:Choice>
              <mc:Fallback>
                <p:oleObj name="BMP 图像" r:id="rId13" imgW="2371725" imgH="1257300" progId="Paint.Picture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60563" y="1145637"/>
                        <a:ext cx="3253592" cy="193429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8500770" y="2111135"/>
            <a:ext cx="675518" cy="443353"/>
            <a:chOff x="8500770" y="2111135"/>
            <a:chExt cx="675518" cy="443353"/>
          </a:xfrm>
        </p:grpSpPr>
        <p:sp>
          <p:nvSpPr>
            <p:cNvPr id="13" name="Oval 16"/>
            <p:cNvSpPr/>
            <p:nvPr/>
          </p:nvSpPr>
          <p:spPr>
            <a:xfrm>
              <a:off x="8926012" y="2111135"/>
              <a:ext cx="250276" cy="309711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4" name="Oval 17"/>
            <p:cNvSpPr/>
            <p:nvPr/>
          </p:nvSpPr>
          <p:spPr>
            <a:xfrm>
              <a:off x="8500770" y="2244777"/>
              <a:ext cx="250276" cy="309711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309990" y="1315187"/>
            <a:ext cx="2853709" cy="1954244"/>
            <a:chOff x="8309990" y="1315187"/>
            <a:chExt cx="2853709" cy="1954244"/>
          </a:xfrm>
        </p:grpSpPr>
        <p:sp>
          <p:nvSpPr>
            <p:cNvPr id="15" name="Oval 35"/>
            <p:cNvSpPr/>
            <p:nvPr/>
          </p:nvSpPr>
          <p:spPr>
            <a:xfrm rot="2927195">
              <a:off x="7793112" y="2222914"/>
              <a:ext cx="1563395" cy="529639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" name="Oval 36"/>
            <p:cNvSpPr/>
            <p:nvPr/>
          </p:nvSpPr>
          <p:spPr>
            <a:xfrm rot="1956265">
              <a:off x="8508606" y="1315187"/>
              <a:ext cx="2655093" cy="159189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515153" y="1804748"/>
            <a:ext cx="1354923" cy="764124"/>
            <a:chOff x="8515153" y="1804748"/>
            <a:chExt cx="1354923" cy="764124"/>
          </a:xfrm>
        </p:grpSpPr>
        <p:sp>
          <p:nvSpPr>
            <p:cNvPr id="23" name="Oval 16"/>
            <p:cNvSpPr/>
            <p:nvPr/>
          </p:nvSpPr>
          <p:spPr>
            <a:xfrm>
              <a:off x="9619800" y="1804748"/>
              <a:ext cx="250276" cy="309711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4" name="Oval 17"/>
            <p:cNvSpPr/>
            <p:nvPr/>
          </p:nvSpPr>
          <p:spPr>
            <a:xfrm>
              <a:off x="8515153" y="2259161"/>
              <a:ext cx="250276" cy="309711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886600" y="1415483"/>
            <a:ext cx="2991321" cy="1650594"/>
            <a:chOff x="7886600" y="1415483"/>
            <a:chExt cx="2991321" cy="1650594"/>
          </a:xfrm>
        </p:grpSpPr>
        <p:sp>
          <p:nvSpPr>
            <p:cNvPr id="26" name="Oval 9"/>
            <p:cNvSpPr/>
            <p:nvPr/>
          </p:nvSpPr>
          <p:spPr>
            <a:xfrm>
              <a:off x="7886600" y="1582267"/>
              <a:ext cx="1428495" cy="148381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7" name="Oval 10"/>
            <p:cNvSpPr/>
            <p:nvPr/>
          </p:nvSpPr>
          <p:spPr>
            <a:xfrm>
              <a:off x="9449426" y="1415483"/>
              <a:ext cx="1428495" cy="148381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0" name="Rectangle 9"/>
          <p:cNvSpPr/>
          <p:nvPr/>
        </p:nvSpPr>
        <p:spPr>
          <a:xfrm>
            <a:off x="2293621" y="777876"/>
            <a:ext cx="7867650" cy="11523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5.5.2</a:t>
            </a:r>
            <a:r>
              <a:rPr lang="zh-CN" altLang="en-US" sz="2800" dirty="0">
                <a:latin typeface="Times New Roman" panose="02020503050405090304" pitchFamily="18" charset="0"/>
              </a:rPr>
              <a:t>  已知</a:t>
            </a:r>
            <a:r>
              <a:rPr lang="en-US" altLang="zh-CN" sz="2800" dirty="0">
                <a:latin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</a:rPr>
              <a:t>个样品的观测值为：</a:t>
            </a:r>
            <a:r>
              <a:rPr lang="en-US" altLang="zh-CN" sz="2800" dirty="0">
                <a:latin typeface="Times New Roman" panose="02020503050405090304" pitchFamily="18" charset="0"/>
              </a:rPr>
              <a:t>1,4,5,7,11</a:t>
            </a:r>
            <a:r>
              <a:rPr lang="zh-CN" altLang="en-US" sz="2800" dirty="0">
                <a:latin typeface="Times New Roman" panose="02020503050405090304" pitchFamily="18" charset="0"/>
              </a:rPr>
              <a:t>。试用</a:t>
            </a:r>
            <a:r>
              <a:rPr lang="en-US" altLang="zh-CN" sz="2800" dirty="0"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</a:rPr>
              <a:t>均值法分为两类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</a:rPr>
              <a:t>凝聚点分别取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4</a:t>
            </a:r>
            <a:r>
              <a:rPr lang="zh-CN" altLang="en-US" sz="2800" dirty="0">
                <a:latin typeface="Times New Roman" panose="02020503050405090304" pitchFamily="18" charset="0"/>
              </a:rPr>
              <a:t>与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11)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" name="Rectangle 9"/>
          <p:cNvSpPr/>
          <p:nvPr/>
        </p:nvSpPr>
        <p:spPr>
          <a:xfrm>
            <a:off x="2283461" y="2237106"/>
            <a:ext cx="7624445" cy="5922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解：（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）选凝聚点：随机选取</a:t>
            </a:r>
            <a:r>
              <a:rPr lang="en-US" altLang="zh-CN" sz="2800" dirty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sym typeface="+mn-ea"/>
              </a:rPr>
              <a:t>和</a:t>
            </a:r>
            <a:r>
              <a:rPr lang="en-US" altLang="zh-CN" sz="2800" dirty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2</a:t>
            </a:r>
            <a:endParaRPr lang="en-US" altLang="zh-CN" sz="2800" baseline="-25000" dirty="0">
              <a:latin typeface="Times New Roman" panose="02020503050405090304" pitchFamily="18" charset="0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2423161" y="2823846"/>
            <a:ext cx="7624445" cy="11331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</a:rPr>
              <a:t>）确定初始分类：按最小距离原则进行分类，结果为</a:t>
            </a:r>
            <a:endParaRPr lang="zh-CN" altLang="en-US" sz="2800" baseline="-25000" dirty="0">
              <a:latin typeface="Times New Roman" panose="02020503050405090304" pitchFamily="18" charset="0"/>
            </a:endParaRPr>
          </a:p>
        </p:txBody>
      </p:sp>
      <p:sp>
        <p:nvSpPr>
          <p:cNvPr id="4" name="Rectangle 9"/>
          <p:cNvSpPr/>
          <p:nvPr/>
        </p:nvSpPr>
        <p:spPr>
          <a:xfrm>
            <a:off x="2536826" y="4218940"/>
            <a:ext cx="7624445" cy="17703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</a:rPr>
              <a:t>）修改分类：先计算各类重心分别为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和</a:t>
            </a:r>
            <a:r>
              <a:rPr lang="en-US" altLang="zh-CN" sz="2800" dirty="0">
                <a:latin typeface="Times New Roman" panose="02020503050405090304" pitchFamily="18" charset="0"/>
              </a:rPr>
              <a:t>6.75</a:t>
            </a:r>
            <a:r>
              <a:rPr lang="zh-CN" altLang="en-US" sz="2800" dirty="0">
                <a:latin typeface="Times New Roman" panose="02020503050405090304" pitchFamily="18" charset="0"/>
              </a:rPr>
              <a:t>，再以它们为新凝聚点，按最小距离分类，结果不变。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54806" y="3425190"/>
          <a:ext cx="494093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55800" imgH="241300" progId="Equation.KSEE3">
                  <p:embed/>
                </p:oleObj>
              </mc:Choice>
              <mc:Fallback>
                <p:oleObj name="" r:id="rId1" imgW="1955800" imgH="241300" progId="Equation.KSEE3">
                  <p:embed/>
                  <p:pic>
                    <p:nvPicPr>
                      <p:cNvPr id="0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54806" y="3425190"/>
                        <a:ext cx="494093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76066" y="5379720"/>
          <a:ext cx="487743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930400" imgH="241300" progId="Equation.KSEE3">
                  <p:embed/>
                </p:oleObj>
              </mc:Choice>
              <mc:Fallback>
                <p:oleObj name="" r:id="rId3" imgW="1930400" imgH="241300" progId="Equation.KSEE3">
                  <p:embed/>
                  <p:pic>
                    <p:nvPicPr>
                      <p:cNvPr id="0" name="对象 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6066" y="5379720"/>
                        <a:ext cx="487743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2283461" y="2237106"/>
            <a:ext cx="7624445" cy="5922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解：（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）选凝聚点：随机选取</a:t>
            </a:r>
            <a:r>
              <a:rPr lang="en-US" altLang="zh-CN" sz="2800" dirty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sym typeface="+mn-ea"/>
              </a:rPr>
              <a:t>和</a:t>
            </a:r>
            <a:r>
              <a:rPr lang="en-US" altLang="zh-CN" sz="2800" dirty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5</a:t>
            </a:r>
            <a:endParaRPr lang="en-US" altLang="zh-CN" sz="2800" baseline="-25000" dirty="0">
              <a:latin typeface="Times New Roman" panose="02020503050405090304" pitchFamily="18" charset="0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2423161" y="2823846"/>
            <a:ext cx="7624445" cy="11331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</a:rPr>
              <a:t>）确定初始分类：按最小距离原则进行分类，结果为</a:t>
            </a:r>
            <a:endParaRPr lang="zh-CN" altLang="en-US" sz="2800" baseline="-25000" dirty="0">
              <a:latin typeface="Times New Roman" panose="02020503050405090304" pitchFamily="18" charset="0"/>
            </a:endParaRPr>
          </a:p>
        </p:txBody>
      </p:sp>
      <p:sp>
        <p:nvSpPr>
          <p:cNvPr id="4" name="Rectangle 9"/>
          <p:cNvSpPr/>
          <p:nvPr/>
        </p:nvSpPr>
        <p:spPr>
          <a:xfrm>
            <a:off x="2536826" y="4218940"/>
            <a:ext cx="7624445" cy="17703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</a:rPr>
              <a:t>）修改分类：先计算各类重心分别为</a:t>
            </a:r>
            <a:r>
              <a:rPr lang="en-US" altLang="zh-CN" sz="2800" dirty="0">
                <a:latin typeface="Times New Roman" panose="02020503050405090304" pitchFamily="18" charset="0"/>
              </a:rPr>
              <a:t>3.3</a:t>
            </a:r>
            <a:r>
              <a:rPr lang="zh-CN" altLang="en-US" sz="2800" dirty="0">
                <a:latin typeface="Times New Roman" panose="02020503050405090304" pitchFamily="18" charset="0"/>
              </a:rPr>
              <a:t>和</a:t>
            </a:r>
            <a:r>
              <a:rPr lang="en-US" altLang="zh-CN" sz="2800" dirty="0">
                <a:latin typeface="Times New Roman" panose="02020503050405090304" pitchFamily="18" charset="0"/>
              </a:rPr>
              <a:t>9</a:t>
            </a:r>
            <a:r>
              <a:rPr lang="zh-CN" altLang="en-US" sz="2800" dirty="0">
                <a:latin typeface="Times New Roman" panose="02020503050405090304" pitchFamily="18" charset="0"/>
              </a:rPr>
              <a:t>，再以它们为新凝聚点，按最小距离分类，结果不变。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74161" y="3425190"/>
          <a:ext cx="51022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19300" imgH="241300" progId="Equation.KSEE3">
                  <p:embed/>
                </p:oleObj>
              </mc:Choice>
              <mc:Fallback>
                <p:oleObj name="" r:id="rId1" imgW="2019300" imgH="241300" progId="Equation.KSEE3">
                  <p:embed/>
                  <p:pic>
                    <p:nvPicPr>
                      <p:cNvPr id="0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4161" y="3425190"/>
                        <a:ext cx="510222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97871" y="5379720"/>
          <a:ext cx="50387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1993900" imgH="241300" progId="Equation.DSMT4">
                  <p:embed/>
                </p:oleObj>
              </mc:Choice>
              <mc:Fallback>
                <p:oleObj name="Equation" r:id="rId3" imgW="1993900" imgH="2413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97871" y="5379720"/>
                        <a:ext cx="503872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9"/>
          <p:cNvSpPr/>
          <p:nvPr/>
        </p:nvSpPr>
        <p:spPr>
          <a:xfrm>
            <a:off x="2293621" y="777876"/>
            <a:ext cx="7867650" cy="11523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5.5.2</a:t>
            </a:r>
            <a:r>
              <a:rPr lang="zh-CN" altLang="en-US" sz="2800" dirty="0">
                <a:latin typeface="Times New Roman" panose="02020503050405090304" pitchFamily="18" charset="0"/>
              </a:rPr>
              <a:t>  已知</a:t>
            </a:r>
            <a:r>
              <a:rPr lang="en-US" altLang="zh-CN" sz="2800" dirty="0">
                <a:latin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</a:rPr>
              <a:t>个样品的观测值为：</a:t>
            </a:r>
            <a:r>
              <a:rPr lang="en-US" altLang="zh-CN" sz="2800" dirty="0">
                <a:latin typeface="Times New Roman" panose="02020503050405090304" pitchFamily="18" charset="0"/>
              </a:rPr>
              <a:t>1,4,5,7,11</a:t>
            </a:r>
            <a:r>
              <a:rPr lang="zh-CN" altLang="en-US" sz="2800" dirty="0">
                <a:latin typeface="Times New Roman" panose="02020503050405090304" pitchFamily="18" charset="0"/>
              </a:rPr>
              <a:t>。试用</a:t>
            </a:r>
            <a:r>
              <a:rPr lang="en-US" altLang="zh-CN" sz="2800" dirty="0"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</a:rPr>
              <a:t>均值法分为两类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</a:rPr>
              <a:t>凝聚点分别取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4</a:t>
            </a:r>
            <a:r>
              <a:rPr lang="zh-CN" altLang="en-US" sz="2800" dirty="0">
                <a:latin typeface="Times New Roman" panose="02020503050405090304" pitchFamily="18" charset="0"/>
              </a:rPr>
              <a:t>与</a:t>
            </a:r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11)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/>
          </p:cNvSpPr>
          <p:nvPr>
            <p:ph type="title"/>
          </p:nvPr>
        </p:nvSpPr>
        <p:spPr>
          <a:xfrm>
            <a:off x="2217420" y="374015"/>
            <a:ext cx="4342130" cy="85725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  <a:cs typeface="+mn-cs"/>
              </a:rPr>
              <a:t>二、选择凝聚点</a:t>
            </a:r>
            <a:endParaRPr lang="zh-CN" altLang="en-US" sz="36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66595" name="Rectangle 3"/>
          <p:cNvSpPr>
            <a:spLocks noGrp="1"/>
          </p:cNvSpPr>
          <p:nvPr>
            <p:ph idx="1"/>
          </p:nvPr>
        </p:nvSpPr>
        <p:spPr>
          <a:xfrm>
            <a:off x="1674496" y="1231265"/>
            <a:ext cx="8842375" cy="5181600"/>
          </a:xfrm>
        </p:spPr>
        <p:txBody>
          <a:bodyPr vert="horz" wrap="square" lIns="91440" tIns="45720" rIns="91440" bIns="45720" rtlCol="0" anchor="t">
            <a:normAutofit fontScale="92500" lnSpcReduction="20000"/>
          </a:bodyPr>
          <a:lstStyle/>
          <a:p>
            <a:pPr marL="0" indent="0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凝聚点的不同选择，对算法性能有较大影响。通常选择凝聚点的方法有：  </a:t>
            </a:r>
            <a:endParaRPr lang="zh-CN" altLang="en-US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随机法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人为法：人为选择，需要经验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重心法：将数据分为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类，计算每一类的重心，就将这些重心作为凝聚点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人为地选择一正数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，首先以所有样品的均值作为第一凝聚点。然后依次考察每个样品，若某样品与已选定的凝聚点的距 离均大于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，该样品作为新的凝聚点，否则考察下一个样品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latin typeface="Arial" panose="020B0604020202090204" pitchFamily="34" charset="0"/>
              </a:rPr>
              <a:t>密度法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36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4691" name="Rectangle 1026"/>
          <p:cNvSpPr/>
          <p:nvPr/>
        </p:nvSpPr>
        <p:spPr>
          <a:xfrm>
            <a:off x="548641" y="326375"/>
            <a:ext cx="10662698" cy="672055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密度法选择凝聚点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ct val="50000"/>
              </a:spcBef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密度：以某个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正数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为半径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，以每个样品为球心，落在这个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球内的样品数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不包括作为球心的样品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ct val="50000"/>
              </a:spcBef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首先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选择密度最大的样品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作为第一凝聚点，并且人为地确定一个正数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一般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＞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，常取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＝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ct val="50000"/>
              </a:spcBef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然后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选出次大密度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的样品点，若它与第一个凝聚点的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距离大于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，则将其作为第二个凝聚点；否则舍去，再选密度次于它的样品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ct val="50000"/>
              </a:spcBef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这样，按密度大小依次考查，直至全部样品考查完毕为止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ct val="50000"/>
              </a:spcBef>
              <a:buFont typeface="Arial" panose="020B0604020202090204" pitchFamily="34" charset="0"/>
              <a:buChar char="•"/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要取得合适，太大了使凝聚点个数太少，太小使凝聚点数太多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0" name="Rectangle 9"/>
          <p:cNvSpPr/>
          <p:nvPr/>
        </p:nvSpPr>
        <p:spPr>
          <a:xfrm>
            <a:off x="2145666" y="707391"/>
            <a:ext cx="7762875" cy="15741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例</a:t>
            </a:r>
            <a:r>
              <a:rPr lang="en-US" altLang="zh-CN" sz="2800" dirty="0">
                <a:latin typeface="Times New Roman" panose="02020503050405090304" pitchFamily="18" charset="0"/>
              </a:rPr>
              <a:t>5.5.3</a:t>
            </a:r>
            <a:r>
              <a:rPr lang="zh-CN" altLang="en-US" sz="2800" dirty="0">
                <a:latin typeface="Times New Roman" panose="02020503050405090304" pitchFamily="18" charset="0"/>
              </a:rPr>
              <a:t>  已知</a:t>
            </a:r>
            <a:r>
              <a:rPr lang="en-US" altLang="zh-CN" sz="2800" dirty="0">
                <a:latin typeface="Times New Roman" panose="02020503050405090304" pitchFamily="18" charset="0"/>
              </a:rPr>
              <a:t>5</a:t>
            </a:r>
            <a:r>
              <a:rPr lang="zh-CN" altLang="en-US" sz="2800" dirty="0">
                <a:latin typeface="Times New Roman" panose="02020503050405090304" pitchFamily="18" charset="0"/>
              </a:rPr>
              <a:t>个样品的观测值为：</a:t>
            </a:r>
            <a:r>
              <a:rPr lang="en-US" altLang="zh-CN" sz="2800" dirty="0">
                <a:latin typeface="Times New Roman" panose="02020503050405090304" pitchFamily="18" charset="0"/>
              </a:rPr>
              <a:t>1, 4, 5, 7, 11</a:t>
            </a:r>
            <a:r>
              <a:rPr lang="zh-CN" altLang="en-US" sz="2800" dirty="0">
                <a:latin typeface="Times New Roman" panose="02020503050405090304" pitchFamily="18" charset="0"/>
              </a:rPr>
              <a:t>。试用</a:t>
            </a:r>
            <a:r>
              <a:rPr lang="en-US" altLang="zh-CN" sz="2800" dirty="0"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</a:rPr>
              <a:t>均值法分为</a:t>
            </a:r>
            <a:r>
              <a:rPr lang="en-US" altLang="zh-CN" sz="2800" dirty="0">
                <a:latin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</a:rPr>
              <a:t>类。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写出聚类过程。</a:t>
            </a:r>
            <a:endParaRPr lang="zh-CN" altLang="en-US" sz="2800" baseline="-250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eaLnBrk="0" hangingPunct="0">
              <a:lnSpc>
                <a:spcPct val="130000"/>
              </a:lnSpc>
            </a:pPr>
            <a:endParaRPr lang="zh-CN" altLang="en-US" sz="2800" baseline="-250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Rectangle 9"/>
          <p:cNvSpPr/>
          <p:nvPr/>
        </p:nvSpPr>
        <p:spPr>
          <a:xfrm>
            <a:off x="2007236" y="1955166"/>
            <a:ext cx="7624445" cy="5922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解：（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）密度法选凝聚点：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=3.5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endParaRPr lang="zh-CN" altLang="en-US" sz="28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2146301" y="3423921"/>
            <a:ext cx="8016875" cy="11331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）确定初始分类：按最小距离原则进行分类，结果为</a:t>
            </a:r>
            <a:endParaRPr lang="zh-CN" altLang="en-US" sz="28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Rectangle 9"/>
          <p:cNvSpPr/>
          <p:nvPr/>
        </p:nvSpPr>
        <p:spPr>
          <a:xfrm>
            <a:off x="2145666" y="4819015"/>
            <a:ext cx="8119745" cy="11523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）修改分类：先计算各类重心分别为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再以它们为新凝聚点，按最小距离分类，结果不变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40811" y="4025265"/>
          <a:ext cx="657669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602865" imgH="241300" progId="Equation.KSEE3">
                  <p:embed/>
                </p:oleObj>
              </mc:Choice>
              <mc:Fallback>
                <p:oleObj name="" r:id="rId1" imgW="2602865" imgH="241300" progId="Equation.KSEE3">
                  <p:embed/>
                  <p:pic>
                    <p:nvPicPr>
                      <p:cNvPr id="0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40811" y="4025265"/>
                        <a:ext cx="657669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4273420" y="2575248"/>
          <a:ext cx="5550666" cy="74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111"/>
                <a:gridCol w="925111"/>
                <a:gridCol w="925111"/>
                <a:gridCol w="925111"/>
                <a:gridCol w="925111"/>
                <a:gridCol w="925111"/>
              </a:tblGrid>
              <a:tr h="3709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baseline="-25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zh-CN" altLang="en-US" baseline="-25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</a:t>
                      </a:r>
                      <a:endParaRPr lang="zh-CN" altLang="en-US" baseline="-25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4</a:t>
                      </a:r>
                      <a:endParaRPr lang="zh-CN" altLang="en-US" baseline="-25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</a:t>
                      </a:r>
                      <a:endParaRPr lang="zh-CN" altLang="en-US" baseline="-25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</a:tr>
              <a:tr h="370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密度</a:t>
                      </a:r>
                      <a:endParaRPr lang="zh-CN" altLang="en-US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56318" y="5979795"/>
          <a:ext cx="645033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2552700" imgH="241300" progId="Equation.KSEE3">
                  <p:embed/>
                </p:oleObj>
              </mc:Choice>
              <mc:Fallback>
                <p:oleObj name="" r:id="rId3" imgW="2552700" imgH="241300" progId="Equation.KSEE3">
                  <p:embed/>
                  <p:pic>
                    <p:nvPicPr>
                      <p:cNvPr id="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6318" y="5979795"/>
                        <a:ext cx="645033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412480" y="1959497"/>
            <a:ext cx="4236415" cy="59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选得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1,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5</a:t>
            </a:r>
            <a:endParaRPr lang="zh-CN" altLang="en-US" sz="28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3498" name="Rectangle 2"/>
          <p:cNvSpPr/>
          <p:nvPr/>
        </p:nvSpPr>
        <p:spPr>
          <a:xfrm>
            <a:off x="1524000" y="228601"/>
            <a:ext cx="914400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</a:rPr>
              <a:t>  </a:t>
            </a:r>
            <a:r>
              <a:rPr lang="zh-CN" altLang="en-US" sz="2800" b="1" dirty="0">
                <a:latin typeface="Times New Roman" panose="02020503050405090304" pitchFamily="18" charset="0"/>
              </a:rPr>
              <a:t>三、衡量聚类结果的合理性指标和算法终止的标准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algn="just" eaLnBrk="0" hangingPunct="0"/>
            <a:r>
              <a:rPr lang="zh-CN" altLang="en-US" sz="2800" dirty="0">
                <a:latin typeface="Times New Roman" panose="02020503050405090304" pitchFamily="18" charset="0"/>
              </a:rPr>
              <a:t> 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63499" name="Rectangle 3"/>
          <p:cNvSpPr/>
          <p:nvPr/>
        </p:nvSpPr>
        <p:spPr>
          <a:xfrm>
            <a:off x="1905000" y="990601"/>
            <a:ext cx="8382000" cy="56889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  </a:t>
            </a:r>
            <a:r>
              <a:rPr lang="zh-CN" altLang="en-US" sz="2800" b="1" dirty="0">
                <a:latin typeface="Times New Roman" panose="02020503050405090304" pitchFamily="18" charset="0"/>
                <a:ea typeface="华文新魏" panose="02010800040101010101" pitchFamily="2" charset="-122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</a:rPr>
              <a:t>设       表示在第</a:t>
            </a:r>
            <a:r>
              <a:rPr lang="en-US" altLang="zh-CN" sz="2800" i="1" dirty="0">
                <a:latin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</a:rPr>
              <a:t>次聚类后得到的第</a:t>
            </a:r>
            <a:r>
              <a:rPr lang="en-US" altLang="zh-CN" sz="2800" i="1" dirty="0">
                <a:latin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</a:rPr>
              <a:t>类集合，                       ，     为第</a:t>
            </a:r>
            <a:r>
              <a:rPr lang="en-US" altLang="zh-CN" sz="2800" i="1" dirty="0">
                <a:latin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</a:rPr>
              <a:t>次聚类所使用的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聚核</a:t>
            </a:r>
            <a:r>
              <a:rPr lang="zh-CN" altLang="en-US" sz="2800" dirty="0">
                <a:latin typeface="Times New Roman" panose="02020503050405090304" pitchFamily="18" charset="0"/>
              </a:rPr>
              <a:t>。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800" b="1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503050405090304" pitchFamily="18" charset="0"/>
              </a:rPr>
              <a:t>定义</a:t>
            </a:r>
            <a:endParaRPr lang="zh-CN" altLang="en-US" sz="2800" b="1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        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若分类不合理时，</a:t>
            </a:r>
            <a:r>
              <a:rPr lang="en-US" altLang="zh-CN" sz="2800" i="1" dirty="0" err="1">
                <a:latin typeface="Times New Roman" panose="02020503050405090304" pitchFamily="18" charset="0"/>
              </a:rPr>
              <a:t>u</a:t>
            </a:r>
            <a:r>
              <a:rPr lang="en-US" altLang="zh-CN" sz="2800" i="1" baseline="-25000" dirty="0" err="1">
                <a:latin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</a:rPr>
              <a:t>会很大，随着分类的进行，逐渐下降，并趋于稳定。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63500" name="Rectangle 5"/>
          <p:cNvSpPr/>
          <p:nvPr/>
        </p:nvSpPr>
        <p:spPr>
          <a:xfrm>
            <a:off x="5995988" y="33099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63490" name="Object 1024"/>
          <p:cNvGraphicFramePr/>
          <p:nvPr/>
        </p:nvGraphicFramePr>
        <p:xfrm>
          <a:off x="3765963" y="1050182"/>
          <a:ext cx="530225" cy="58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876800" imgH="5791200" progId="Equation.DSMT4">
                  <p:embed/>
                </p:oleObj>
              </mc:Choice>
              <mc:Fallback>
                <p:oleObj name="Equation" r:id="rId1" imgW="4876800" imgH="5791200" progId="Equation.DSMT4">
                  <p:embed/>
                  <p:pic>
                    <p:nvPicPr>
                      <p:cNvPr id="0" name="Object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65963" y="1050182"/>
                        <a:ext cx="530225" cy="5867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1" name="Rectangle 7"/>
          <p:cNvSpPr/>
          <p:nvPr/>
        </p:nvSpPr>
        <p:spPr>
          <a:xfrm>
            <a:off x="6034088" y="335756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3502" name="Rectangle 9"/>
          <p:cNvSpPr/>
          <p:nvPr/>
        </p:nvSpPr>
        <p:spPr>
          <a:xfrm>
            <a:off x="6053138" y="33480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3503" name="Rectangle 11"/>
          <p:cNvSpPr/>
          <p:nvPr/>
        </p:nvSpPr>
        <p:spPr>
          <a:xfrm>
            <a:off x="5662613" y="3333750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63491" name="Object 1025"/>
          <p:cNvGraphicFramePr/>
          <p:nvPr/>
        </p:nvGraphicFramePr>
        <p:xfrm>
          <a:off x="2667000" y="1752600"/>
          <a:ext cx="18732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866900" imgH="368300" progId="Equation.3">
                  <p:embed/>
                </p:oleObj>
              </mc:Choice>
              <mc:Fallback>
                <p:oleObj name="" r:id="rId3" imgW="1866900" imgH="368300" progId="Equation.3">
                  <p:embed/>
                  <p:pic>
                    <p:nvPicPr>
                      <p:cNvPr id="0" name="Object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1752600"/>
                        <a:ext cx="187325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4" name="Rectangle 13"/>
          <p:cNvSpPr/>
          <p:nvPr/>
        </p:nvSpPr>
        <p:spPr>
          <a:xfrm>
            <a:off x="5967413" y="33099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63492" name="Object 1026"/>
          <p:cNvGraphicFramePr/>
          <p:nvPr/>
        </p:nvGraphicFramePr>
        <p:xfrm>
          <a:off x="4921250" y="1649359"/>
          <a:ext cx="514350" cy="499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4876800" imgH="5791200" progId="Equation.DSMT4">
                  <p:embed/>
                </p:oleObj>
              </mc:Choice>
              <mc:Fallback>
                <p:oleObj name="Equation" r:id="rId5" imgW="4876800" imgH="5791200" progId="Equation.DSMT4">
                  <p:embed/>
                  <p:pic>
                    <p:nvPicPr>
                      <p:cNvPr id="0" name="Object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1250" y="1649359"/>
                        <a:ext cx="514350" cy="49942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1027"/>
          <p:cNvGraphicFramePr/>
          <p:nvPr/>
        </p:nvGraphicFramePr>
        <p:xfrm>
          <a:off x="3395663" y="2205038"/>
          <a:ext cx="3814762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30175200" imgH="11277600" progId="Equation.DSMT4">
                  <p:embed/>
                </p:oleObj>
              </mc:Choice>
              <mc:Fallback>
                <p:oleObj name="Equation" r:id="rId7" imgW="30175200" imgH="11277600" progId="Equation.DSMT4">
                  <p:embed/>
                  <p:pic>
                    <p:nvPicPr>
                      <p:cNvPr id="0" name="Object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95663" y="2205038"/>
                        <a:ext cx="3814762" cy="1293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5" name="Rectangle 18"/>
          <p:cNvSpPr/>
          <p:nvPr/>
        </p:nvSpPr>
        <p:spPr>
          <a:xfrm>
            <a:off x="5434013" y="3200400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63495" name="Object 1029"/>
          <p:cNvGraphicFramePr/>
          <p:nvPr/>
        </p:nvGraphicFramePr>
        <p:xfrm>
          <a:off x="3067050" y="3481388"/>
          <a:ext cx="56102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97536000" imgH="23164800" progId="Equation.DSMT4">
                  <p:embed/>
                </p:oleObj>
              </mc:Choice>
              <mc:Fallback>
                <p:oleObj name="Equation" r:id="rId9" imgW="97536000" imgH="23164800" progId="Equation.DSMT4">
                  <p:embed/>
                  <p:pic>
                    <p:nvPicPr>
                      <p:cNvPr id="0" name="Object 102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67050" y="3481388"/>
                        <a:ext cx="5610225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1030"/>
          <p:cNvGraphicFramePr/>
          <p:nvPr/>
        </p:nvGraphicFramePr>
        <p:xfrm>
          <a:off x="3094038" y="4760913"/>
          <a:ext cx="31130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74676000" imgH="10668000" progId="Equation.DSMT4">
                  <p:embed/>
                </p:oleObj>
              </mc:Choice>
              <mc:Fallback>
                <p:oleObj name="Equation" r:id="rId11" imgW="74676000" imgH="10668000" progId="Equation.DSMT4">
                  <p:embed/>
                  <p:pic>
                    <p:nvPicPr>
                      <p:cNvPr id="0" name="Object 10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94038" y="4760913"/>
                        <a:ext cx="3113087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519" name="Rectangle 8"/>
          <p:cNvSpPr/>
          <p:nvPr/>
        </p:nvSpPr>
        <p:spPr>
          <a:xfrm>
            <a:off x="1524000" y="838200"/>
            <a:ext cx="9144000" cy="2330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09575" algn="just" defTabSz="0">
              <a:lnSpc>
                <a:spcPct val="130000"/>
              </a:lnSpc>
              <a:tabLst>
                <a:tab pos="2933700" algn="l"/>
                <a:tab pos="4343400" algn="l"/>
              </a:tabLst>
            </a:pPr>
            <a:r>
              <a:rPr lang="zh-CN" altLang="en-US" sz="2800" b="1" dirty="0">
                <a:latin typeface="Times New Roman" panose="02020503050405090304" pitchFamily="18" charset="0"/>
                <a:ea typeface="华文新魏" panose="02010800040101010101" pitchFamily="2" charset="-122"/>
              </a:rPr>
              <a:t>定义    </a:t>
            </a:r>
            <a:r>
              <a:rPr lang="zh-CN" altLang="en-US" sz="2800" dirty="0">
                <a:latin typeface="Times New Roman" panose="02020503050405090304" pitchFamily="18" charset="0"/>
              </a:rPr>
              <a:t>第</a:t>
            </a:r>
            <a:r>
              <a:rPr lang="en-US" altLang="zh-CN" sz="2800" i="1" dirty="0">
                <a:latin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</a:rPr>
              <a:t>类中所有元素与其重心的距离的平方和</a:t>
            </a:r>
            <a:r>
              <a:rPr lang="en-US" altLang="zh-CN" sz="2800" dirty="0">
                <a:latin typeface="Times New Roman" panose="02020503050405090304" pitchFamily="18" charset="0"/>
              </a:rPr>
              <a:t>: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indent="409575" algn="just" defTabSz="0" eaLnBrk="0" hangingPunct="0">
              <a:lnSpc>
                <a:spcPct val="130000"/>
              </a:lnSpc>
              <a:tabLst>
                <a:tab pos="2933700" algn="l"/>
                <a:tab pos="4343400" algn="l"/>
              </a:tabLst>
            </a:pPr>
            <a:r>
              <a:rPr lang="en-US" altLang="zh-CN" sz="2800" dirty="0">
                <a:latin typeface="Times New Roman" panose="02020503050405090304" pitchFamily="18" charset="0"/>
              </a:rPr>
              <a:t>      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indent="409575" algn="just" defTabSz="0" eaLnBrk="0" hangingPunct="0">
              <a:lnSpc>
                <a:spcPct val="130000"/>
              </a:lnSpc>
              <a:tabLst>
                <a:tab pos="2933700" algn="l"/>
                <a:tab pos="4343400" algn="l"/>
              </a:tabLst>
            </a:pPr>
            <a:endParaRPr lang="en-US" altLang="zh-CN" sz="2800" dirty="0">
              <a:latin typeface="Times New Roman" panose="02020503050405090304" pitchFamily="18" charset="0"/>
            </a:endParaRPr>
          </a:p>
          <a:p>
            <a:pPr indent="409575" defTabSz="0" eaLnBrk="0" hangingPunct="0">
              <a:lnSpc>
                <a:spcPct val="130000"/>
              </a:lnSpc>
              <a:tabLst>
                <a:tab pos="2933700" algn="l"/>
                <a:tab pos="4343400" algn="l"/>
              </a:tabLst>
            </a:pPr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64520" name="Rectangle 9"/>
          <p:cNvSpPr/>
          <p:nvPr/>
        </p:nvSpPr>
        <p:spPr>
          <a:xfrm>
            <a:off x="2161224" y="5525771"/>
            <a:ext cx="5318125" cy="592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latin typeface="Times New Roman" panose="02020503050405090304" pitchFamily="18" charset="0"/>
              </a:rPr>
              <a:t>是事前给定的一个充分小量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64521" name="Rectangle 11"/>
          <p:cNvSpPr/>
          <p:nvPr/>
        </p:nvSpPr>
        <p:spPr>
          <a:xfrm>
            <a:off x="1851026" y="3789364"/>
            <a:ext cx="8816975" cy="592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为所有</a:t>
            </a:r>
            <a:r>
              <a:rPr lang="en-US" altLang="zh-CN" sz="2800" i="1" dirty="0"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</a:rPr>
              <a:t>个类中所有元素与其重心的距离的平方和。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64522" name="Rectangle 14"/>
          <p:cNvSpPr/>
          <p:nvPr/>
        </p:nvSpPr>
        <p:spPr>
          <a:xfrm>
            <a:off x="1919288" y="4652963"/>
            <a:ext cx="3740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</a:rPr>
              <a:t>定义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算法终止的标准</a:t>
            </a:r>
            <a:r>
              <a:rPr lang="zh-CN" altLang="en-US" sz="2800" dirty="0">
                <a:latin typeface="Times New Roman" panose="02020503050405090304" pitchFamily="18" charset="0"/>
              </a:rPr>
              <a:t>是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5659438" y="4437381"/>
          <a:ext cx="1978491" cy="108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1336000" imgH="11277600" progId="Equation.DSMT4">
                  <p:embed/>
                </p:oleObj>
              </mc:Choice>
              <mc:Fallback>
                <p:oleObj name="Equation" r:id="rId1" imgW="21336000" imgH="112776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59438" y="4437381"/>
                        <a:ext cx="1978491" cy="1088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3013075" y="1598613"/>
          <a:ext cx="471487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8404800" imgH="11277600" progId="Equation.DSMT4">
                  <p:embed/>
                </p:oleObj>
              </mc:Choice>
              <mc:Fallback>
                <p:oleObj name="Equation" r:id="rId3" imgW="38404800" imgH="112776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3075" y="1598613"/>
                        <a:ext cx="4714875" cy="1157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1027"/>
          <p:cNvGraphicFramePr/>
          <p:nvPr/>
        </p:nvGraphicFramePr>
        <p:xfrm>
          <a:off x="3230563" y="2600325"/>
          <a:ext cx="3760787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30175200" imgH="11277600" progId="Equation.DSMT4">
                  <p:embed/>
                </p:oleObj>
              </mc:Choice>
              <mc:Fallback>
                <p:oleObj name="Equation" r:id="rId5" imgW="30175200" imgH="11277600" progId="Equation.DSMT4">
                  <p:embed/>
                  <p:pic>
                    <p:nvPicPr>
                      <p:cNvPr id="0" name="Object 10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0563" y="2600325"/>
                        <a:ext cx="3760787" cy="1328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6906408" y="2664872"/>
          <a:ext cx="2528105" cy="113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23164800" imgH="10363200" progId="Equation.DSMT4">
                  <p:embed/>
                </p:oleObj>
              </mc:Choice>
              <mc:Fallback>
                <p:oleObj name="Equation" r:id="rId7" imgW="23164800" imgH="103632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06408" y="2664872"/>
                        <a:ext cx="2528105" cy="1133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9" name="Rectangle 2"/>
          <p:cNvSpPr/>
          <p:nvPr/>
        </p:nvSpPr>
        <p:spPr>
          <a:xfrm>
            <a:off x="2837815" y="755015"/>
            <a:ext cx="5882640" cy="70788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第六节 有序样品的聚类 </a:t>
            </a:r>
            <a:endParaRPr lang="zh-CN" altLang="en-US" sz="40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sp>
        <p:nvSpPr>
          <p:cNvPr id="65550" name="Rectangle 3"/>
          <p:cNvSpPr/>
          <p:nvPr/>
        </p:nvSpPr>
        <p:spPr>
          <a:xfrm>
            <a:off x="1850390" y="1714463"/>
            <a:ext cx="5882640" cy="52322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 defTabSz="0"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2800" b="1" dirty="0">
                <a:latin typeface="Times New Roman" panose="02020503050405090304" pitchFamily="18" charset="0"/>
              </a:rPr>
              <a:t>     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华文新魏" panose="02010800040101010101" pitchFamily="2" charset="-122"/>
              </a:rPr>
              <a:t>一、功能范畴与数据类型</a:t>
            </a:r>
            <a:endParaRPr lang="en-US" altLang="zh-CN" sz="2800" b="1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  <p:sp>
        <p:nvSpPr>
          <p:cNvPr id="65551" name="Rectangle 4"/>
          <p:cNvSpPr/>
          <p:nvPr/>
        </p:nvSpPr>
        <p:spPr>
          <a:xfrm>
            <a:off x="2223135" y="2528571"/>
            <a:ext cx="7414260" cy="28898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2800" dirty="0">
                <a:latin typeface="Times New Roman" panose="02020503050405090304" pitchFamily="18" charset="0"/>
              </a:rPr>
              <a:t>        </a:t>
            </a:r>
            <a:r>
              <a:rPr lang="zh-CN" altLang="en-US" sz="2800" dirty="0">
                <a:latin typeface="Times New Roman" panose="02020503050405090304" pitchFamily="18" charset="0"/>
              </a:rPr>
              <a:t>有序样本聚类法又称为最优分段法。该方法是由费希尔在</a:t>
            </a:r>
            <a:r>
              <a:rPr lang="en-US" altLang="zh-CN" sz="2800" dirty="0">
                <a:latin typeface="Times New Roman" panose="02020503050405090304" pitchFamily="18" charset="0"/>
              </a:rPr>
              <a:t>1958</a:t>
            </a:r>
            <a:r>
              <a:rPr lang="zh-CN" altLang="en-US" sz="2800" dirty="0">
                <a:latin typeface="Times New Roman" panose="02020503050405090304" pitchFamily="18" charset="0"/>
              </a:rPr>
              <a:t>年提出的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2800" dirty="0">
                <a:latin typeface="Times New Roman" panose="02020503050405090304" pitchFamily="18" charset="0"/>
              </a:rPr>
              <a:t>        </a:t>
            </a:r>
            <a:r>
              <a:rPr lang="zh-CN" altLang="en-US" sz="2800" dirty="0">
                <a:latin typeface="Times New Roman" panose="02020503050405090304" pitchFamily="18" charset="0"/>
              </a:rPr>
              <a:t>它主要适用于样本由一个变量描述的情况。或者将多变量综合成为一个变量来分析。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defTabSz="0" eaLnBrk="0" hangingPunct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endParaRPr lang="en-US" altLang="zh-CN" sz="2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9811" name="Line 2"/>
          <p:cNvSpPr/>
          <p:nvPr/>
        </p:nvSpPr>
        <p:spPr>
          <a:xfrm>
            <a:off x="2724150" y="47323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12" name="Line 3"/>
          <p:cNvSpPr/>
          <p:nvPr/>
        </p:nvSpPr>
        <p:spPr>
          <a:xfrm>
            <a:off x="2724150" y="47323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13" name="Line 4"/>
          <p:cNvSpPr/>
          <p:nvPr/>
        </p:nvSpPr>
        <p:spPr>
          <a:xfrm>
            <a:off x="2790825" y="47323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14" name="Rectangle 5"/>
          <p:cNvSpPr/>
          <p:nvPr/>
        </p:nvSpPr>
        <p:spPr>
          <a:xfrm>
            <a:off x="1524000" y="3048000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15" name="Rectangle 6"/>
          <p:cNvSpPr/>
          <p:nvPr/>
        </p:nvSpPr>
        <p:spPr>
          <a:xfrm>
            <a:off x="1366225" y="200026"/>
            <a:ext cx="8835052" cy="388414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2800" dirty="0">
                <a:latin typeface="Times New Roman" panose="02020503050405090304" pitchFamily="18" charset="0"/>
              </a:rPr>
              <a:t>       </a:t>
            </a:r>
            <a:r>
              <a:rPr lang="zh-CN" altLang="en-US" sz="2800" dirty="0">
                <a:latin typeface="Times New Roman" panose="02020503050405090304" pitchFamily="18" charset="0"/>
              </a:rPr>
              <a:t>有序样本聚类法常常被用于系统的评估问题，主要是对样本点进行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分类划级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zh-CN" altLang="en-US" sz="2800" dirty="0">
                <a:latin typeface="Times New Roman" panose="02020503050405090304" pitchFamily="18" charset="0"/>
              </a:rPr>
              <a:t>       例如，十二个地区的经济发展指数，排列出来以后，需要划分他们的等级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zh-CN" altLang="en-US" sz="2800" dirty="0">
                <a:latin typeface="Times New Roman" panose="02020503050405090304" pitchFamily="18" charset="0"/>
              </a:rPr>
              <a:t>       一种方法是按照行政命令，规定三个经济发达地区，四个中等发达地区，三个一般地区，两个发展较差地区。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defTabSz="0" eaLnBrk="0" hangingPunct="0">
              <a:tabLst>
                <a:tab pos="2933700" algn="l"/>
                <a:tab pos="4343400" algn="l"/>
                <a:tab pos="4533900" algn="l"/>
              </a:tabLst>
            </a:pPr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119816" name="Line 7"/>
          <p:cNvSpPr/>
          <p:nvPr/>
        </p:nvSpPr>
        <p:spPr>
          <a:xfrm>
            <a:off x="2724150" y="47323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17" name="Line 8"/>
          <p:cNvSpPr/>
          <p:nvPr/>
        </p:nvSpPr>
        <p:spPr>
          <a:xfrm>
            <a:off x="2724150" y="47323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18" name="Line 9"/>
          <p:cNvSpPr/>
          <p:nvPr/>
        </p:nvSpPr>
        <p:spPr>
          <a:xfrm>
            <a:off x="2790825" y="4732338"/>
            <a:ext cx="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19" name="Rectangle 10"/>
          <p:cNvSpPr/>
          <p:nvPr/>
        </p:nvSpPr>
        <p:spPr>
          <a:xfrm>
            <a:off x="1605916" y="3048000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0" name="Line 11"/>
          <p:cNvSpPr/>
          <p:nvPr/>
        </p:nvSpPr>
        <p:spPr>
          <a:xfrm>
            <a:off x="3110865" y="3878580"/>
            <a:ext cx="413385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21" name="AutoShape 12"/>
          <p:cNvSpPr/>
          <p:nvPr/>
        </p:nvSpPr>
        <p:spPr>
          <a:xfrm>
            <a:off x="3510916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2" name="AutoShape 13"/>
          <p:cNvSpPr/>
          <p:nvPr/>
        </p:nvSpPr>
        <p:spPr>
          <a:xfrm>
            <a:off x="3777616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3" name="AutoShape 14"/>
          <p:cNvSpPr/>
          <p:nvPr/>
        </p:nvSpPr>
        <p:spPr>
          <a:xfrm>
            <a:off x="3977641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4" name="AutoShape 15"/>
          <p:cNvSpPr/>
          <p:nvPr/>
        </p:nvSpPr>
        <p:spPr>
          <a:xfrm>
            <a:off x="4244341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5" name="AutoShape 16"/>
          <p:cNvSpPr/>
          <p:nvPr/>
        </p:nvSpPr>
        <p:spPr>
          <a:xfrm>
            <a:off x="4577716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6" name="AutoShape 17"/>
          <p:cNvSpPr/>
          <p:nvPr/>
        </p:nvSpPr>
        <p:spPr>
          <a:xfrm>
            <a:off x="4777741" y="3878581"/>
            <a:ext cx="66675" cy="98425"/>
          </a:xfrm>
          <a:prstGeom prst="star4">
            <a:avLst>
              <a:gd name="adj" fmla="val 12500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7" name="AutoShape 18"/>
          <p:cNvSpPr/>
          <p:nvPr/>
        </p:nvSpPr>
        <p:spPr>
          <a:xfrm>
            <a:off x="5111116" y="3878581"/>
            <a:ext cx="66675" cy="98425"/>
          </a:xfrm>
          <a:prstGeom prst="star4">
            <a:avLst>
              <a:gd name="adj" fmla="val 12500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8" name="AutoShape 19"/>
          <p:cNvSpPr/>
          <p:nvPr/>
        </p:nvSpPr>
        <p:spPr>
          <a:xfrm>
            <a:off x="5311141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29" name="Line 20"/>
          <p:cNvSpPr/>
          <p:nvPr/>
        </p:nvSpPr>
        <p:spPr>
          <a:xfrm>
            <a:off x="3910965" y="3681731"/>
            <a:ext cx="0" cy="59372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30" name="Line 21"/>
          <p:cNvSpPr/>
          <p:nvPr/>
        </p:nvSpPr>
        <p:spPr>
          <a:xfrm>
            <a:off x="4711065" y="3681731"/>
            <a:ext cx="0" cy="59372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31" name="AutoShape 22"/>
          <p:cNvSpPr/>
          <p:nvPr/>
        </p:nvSpPr>
        <p:spPr>
          <a:xfrm>
            <a:off x="5844541" y="3878581"/>
            <a:ext cx="66675" cy="98425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zh-CN" dirty="0">
              <a:solidFill>
                <a:srgbClr val="FFFF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19832" name="AutoShape 23"/>
          <p:cNvSpPr/>
          <p:nvPr/>
        </p:nvSpPr>
        <p:spPr>
          <a:xfrm>
            <a:off x="5615940" y="3840480"/>
            <a:ext cx="228600" cy="152400"/>
          </a:xfrm>
          <a:prstGeom prst="star4">
            <a:avLst>
              <a:gd name="adj" fmla="val 12500"/>
            </a:avLst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33" name="Line 24"/>
          <p:cNvSpPr/>
          <p:nvPr/>
        </p:nvSpPr>
        <p:spPr>
          <a:xfrm>
            <a:off x="5844540" y="3688081"/>
            <a:ext cx="0" cy="59372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34" name="AutoShape 25"/>
          <p:cNvSpPr/>
          <p:nvPr/>
        </p:nvSpPr>
        <p:spPr>
          <a:xfrm>
            <a:off x="5977891" y="3878581"/>
            <a:ext cx="66675" cy="98425"/>
          </a:xfrm>
          <a:prstGeom prst="star4">
            <a:avLst>
              <a:gd name="adj" fmla="val 12500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35" name="AutoShape 26"/>
          <p:cNvSpPr/>
          <p:nvPr/>
        </p:nvSpPr>
        <p:spPr>
          <a:xfrm>
            <a:off x="6177916" y="3878581"/>
            <a:ext cx="66675" cy="98425"/>
          </a:xfrm>
          <a:prstGeom prst="star4">
            <a:avLst>
              <a:gd name="adj" fmla="val 12500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9836" name="Rectangle 27"/>
          <p:cNvSpPr/>
          <p:nvPr/>
        </p:nvSpPr>
        <p:spPr>
          <a:xfrm>
            <a:off x="1414001" y="4277360"/>
            <a:ext cx="8934852" cy="194950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 defTabSz="0">
              <a:lnSpc>
                <a:spcPct val="15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zh-CN" altLang="en-US" sz="2800" dirty="0">
                <a:latin typeface="Times New Roman" panose="02020503050405090304" pitchFamily="18" charset="0"/>
              </a:rPr>
              <a:t>        这种行政上的规定往往是不客观、不合理的。合理的分类应该把发展情况最近似的地区划入同一类。这就是有序样本聚类的基本思路。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/>
          </p:cNvSpPr>
          <p:nvPr>
            <p:ph idx="1"/>
          </p:nvPr>
        </p:nvSpPr>
        <p:spPr>
          <a:xfrm>
            <a:off x="1896746" y="1232536"/>
            <a:ext cx="8142605" cy="30829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</a:t>
            </a:r>
            <a:r>
              <a:rPr lang="zh-CN" altLang="en-US" sz="2800" dirty="0">
                <a:solidFill>
                  <a:schemeClr val="tx1"/>
                </a:solidFill>
              </a:rPr>
              <a:t>系统聚类开始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个样品各自自成一类，然后逐步并类，直至所有的样品被聚为一类为止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</a:t>
            </a:r>
            <a:r>
              <a:rPr lang="zh-CN" altLang="en-US" sz="2800" dirty="0">
                <a:solidFill>
                  <a:schemeClr val="tx1"/>
                </a:solidFill>
              </a:rPr>
              <a:t>有序聚类则相反，开始所有的样品为一类，然后分为二类、三类等，直到分成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类。每次分类都要求产生的离差平方和的减</a:t>
            </a:r>
            <a:r>
              <a:rPr lang="zh-CN" altLang="en-US" sz="2800">
                <a:solidFill>
                  <a:schemeClr val="tx1"/>
                </a:solidFill>
              </a:rPr>
              <a:t>量最大。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87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91105" y="441960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（一）有序样品的分类数目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1725430" y="1137037"/>
            <a:ext cx="9217716" cy="524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设将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个有序样品分为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类时，一切可能的分法有        种。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91105" y="186309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（二）最优分割法</a:t>
            </a:r>
            <a:endParaRPr lang="zh-CN" altLang="en-US" sz="2800" dirty="0"/>
          </a:p>
        </p:txBody>
      </p:sp>
      <p:sp>
        <p:nvSpPr>
          <p:cNvPr id="351240" name="Rectangle 8"/>
          <p:cNvSpPr/>
          <p:nvPr/>
        </p:nvSpPr>
        <p:spPr>
          <a:xfrm>
            <a:off x="1892413" y="2401294"/>
            <a:ext cx="8248705" cy="298287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当样品数量不是太大时，可用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Fisher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最优分割法进行分类。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设有序样品依次为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。他们可以是从小到大排列，也可以是按时间的先后排列。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维向量。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204961" y="1064261"/>
          <a:ext cx="813435" cy="67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92100" imgH="241300" progId="Equation.KSEE3">
                  <p:embed/>
                </p:oleObj>
              </mc:Choice>
              <mc:Fallback>
                <p:oleObj name="" r:id="rId1" imgW="292100" imgH="241300" progId="Equation.KSEE3">
                  <p:embed/>
                  <p:pic>
                    <p:nvPicPr>
                      <p:cNvPr id="0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04961" y="1064261"/>
                        <a:ext cx="813435" cy="672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/>
          </p:cNvSpPr>
          <p:nvPr>
            <p:ph type="title"/>
          </p:nvPr>
        </p:nvSpPr>
        <p:spPr>
          <a:xfrm>
            <a:off x="2387601" y="469265"/>
            <a:ext cx="4938395" cy="69342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最优分割法的计算步骤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51235" name="Rectangle 3"/>
          <p:cNvSpPr>
            <a:spLocks noGrp="1"/>
          </p:cNvSpPr>
          <p:nvPr>
            <p:ph idx="1"/>
          </p:nvPr>
        </p:nvSpPr>
        <p:spPr>
          <a:xfrm>
            <a:off x="2266122" y="1423283"/>
            <a:ext cx="8527608" cy="221495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、定义类的直径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设某类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中包含的样品有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None/>
            </a:pPr>
            <a:endParaRPr lang="zh-CN" altLang="en-US" sz="2800" baseline="-25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758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599040" name="Object 0"/>
          <p:cNvGraphicFramePr/>
          <p:nvPr/>
        </p:nvGraphicFramePr>
        <p:xfrm>
          <a:off x="2740025" y="2767013"/>
          <a:ext cx="54943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1511200" imgH="6705600" progId="Equation.DSMT4">
                  <p:embed/>
                </p:oleObj>
              </mc:Choice>
              <mc:Fallback>
                <p:oleObj name="Equation" r:id="rId1" imgW="51511200" imgH="6705600" progId="Equation.DSMT4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0025" y="2767013"/>
                        <a:ext cx="5494338" cy="871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7" name="Rectangle 5"/>
          <p:cNvSpPr>
            <a:spLocks noRot="1"/>
          </p:cNvSpPr>
          <p:nvPr/>
        </p:nvSpPr>
        <p:spPr>
          <a:xfrm>
            <a:off x="2252981" y="3726815"/>
            <a:ext cx="4646295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US" altLang="zh-CN" sz="2800" dirty="0">
                <a:latin typeface="Arial" panose="020B0604020202090204" pitchFamily="34" charset="0"/>
              </a:rPr>
              <a:t>     </a:t>
            </a:r>
            <a:r>
              <a:rPr lang="zh-CN" altLang="en-US" sz="2800" dirty="0">
                <a:latin typeface="Arial" panose="020B0604020202090204" pitchFamily="34" charset="0"/>
              </a:rPr>
              <a:t>则该类的均值向量为</a:t>
            </a:r>
            <a:endParaRPr lang="zh-CN" altLang="en-US" sz="2800" dirty="0">
              <a:latin typeface="Arial" panose="020B0604020202090204" pitchFamily="34" charset="0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</a:pPr>
            <a:endParaRPr lang="zh-CN" altLang="en-US" sz="2800" baseline="-25000" dirty="0">
              <a:latin typeface="Arial" panose="020B0604020202090204" pitchFamily="34" charset="0"/>
            </a:endParaRPr>
          </a:p>
        </p:txBody>
      </p:sp>
      <p:graphicFrame>
        <p:nvGraphicFramePr>
          <p:cNvPr id="599041" name="Object 1"/>
          <p:cNvGraphicFramePr/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90500" imgH="419100" progId="Equation.3">
                  <p:embed/>
                </p:oleObj>
              </mc:Choice>
              <mc:Fallback>
                <p:oleObj name="" r:id="rId3" imgW="190500" imgH="419100" progId="Equation.3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9042" name="Object 2"/>
          <p:cNvGraphicFramePr/>
          <p:nvPr/>
        </p:nvGraphicFramePr>
        <p:xfrm>
          <a:off x="3525838" y="4651375"/>
          <a:ext cx="34417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1394400" imgH="10363200" progId="Equation.DSMT4">
                  <p:embed/>
                </p:oleObj>
              </mc:Choice>
              <mc:Fallback>
                <p:oleObj name="Equation" r:id="rId5" imgW="31394400" imgH="103632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25838" y="4651375"/>
                        <a:ext cx="3441700" cy="106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Rectangle 3"/>
          <p:cNvSpPr>
            <a:spLocks noGrp="1"/>
          </p:cNvSpPr>
          <p:nvPr>
            <p:ph idx="1"/>
          </p:nvPr>
        </p:nvSpPr>
        <p:spPr>
          <a:xfrm>
            <a:off x="1774825" y="836931"/>
            <a:ext cx="8540750" cy="6953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i,j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表示这一类的直径，常用的直径有欧氏距离：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61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600064" name="Object 0"/>
          <p:cNvGraphicFramePr/>
          <p:nvPr/>
        </p:nvGraphicFramePr>
        <p:xfrm>
          <a:off x="3127375" y="1547813"/>
          <a:ext cx="497046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2425600" imgH="10363200" progId="Equation.DSMT4">
                  <p:embed/>
                </p:oleObj>
              </mc:Choice>
              <mc:Fallback>
                <p:oleObj name="Equation" r:id="rId1" imgW="52425600" imgH="10363200" progId="Equation.DSMT4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7375" y="1547813"/>
                        <a:ext cx="4970463" cy="1096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5" name="Rectangle 5"/>
          <p:cNvSpPr>
            <a:spLocks noRot="1"/>
          </p:cNvSpPr>
          <p:nvPr/>
        </p:nvSpPr>
        <p:spPr>
          <a:xfrm>
            <a:off x="2204085" y="2832100"/>
            <a:ext cx="655193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zh-CN" altLang="en-US" sz="2800" dirty="0">
                <a:latin typeface="Arial" panose="020B0604020202090204" pitchFamily="34" charset="0"/>
              </a:rPr>
              <a:t>当是单变量的时，也可以定义直径为：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graphicFrame>
        <p:nvGraphicFramePr>
          <p:cNvPr id="600065" name="Object 1"/>
          <p:cNvGraphicFramePr/>
          <p:nvPr/>
        </p:nvGraphicFramePr>
        <p:xfrm>
          <a:off x="3179763" y="3824288"/>
          <a:ext cx="611663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9436000" imgH="10363200" progId="Equation.DSMT4">
                  <p:embed/>
                </p:oleObj>
              </mc:Choice>
              <mc:Fallback>
                <p:oleObj name="Equation" r:id="rId3" imgW="59436000" imgH="10363200" progId="Equation.DSMT4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9763" y="3824288"/>
                        <a:ext cx="6116637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/>
          </p:cNvSpPr>
          <p:nvPr>
            <p:ph type="title"/>
          </p:nvPr>
        </p:nvSpPr>
        <p:spPr>
          <a:xfrm>
            <a:off x="2258060" y="367666"/>
            <a:ext cx="5539740" cy="823595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en-US" altLang="zh-CN" sz="2800" dirty="0">
                <a:solidFill>
                  <a:srgbClr val="FF0066"/>
                </a:solidFill>
              </a:rPr>
              <a:t>2</a:t>
            </a:r>
            <a:r>
              <a:rPr lang="zh-CN" altLang="en-US" sz="2800" dirty="0">
                <a:solidFill>
                  <a:srgbClr val="FF0066"/>
                </a:solidFill>
              </a:rPr>
              <a:t>、定义分类的损失函数</a:t>
            </a:r>
            <a:endParaRPr lang="zh-CN" altLang="en-US" sz="2800" dirty="0">
              <a:solidFill>
                <a:srgbClr val="FF0066"/>
              </a:solidFill>
            </a:endParaRPr>
          </a:p>
        </p:txBody>
      </p:sp>
      <p:sp>
        <p:nvSpPr>
          <p:cNvPr id="359427" name="Rectangle 3"/>
          <p:cNvSpPr>
            <a:spLocks noGrp="1"/>
          </p:cNvSpPr>
          <p:nvPr>
            <p:ph idx="1"/>
          </p:nvPr>
        </p:nvSpPr>
        <p:spPr>
          <a:xfrm>
            <a:off x="2127250" y="1323975"/>
            <a:ext cx="8540750" cy="93345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表示将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个有序的样品分为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类的某种分法：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963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601088" name="Object 0"/>
          <p:cNvGraphicFramePr/>
          <p:nvPr/>
        </p:nvGraphicFramePr>
        <p:xfrm>
          <a:off x="3803650" y="2408555"/>
          <a:ext cx="3390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389630" imgH="482600" progId="Equation.DSMT4">
                  <p:embed/>
                </p:oleObj>
              </mc:Choice>
              <mc:Fallback>
                <p:oleObj name="" r:id="rId1" imgW="3389630" imgH="482600" progId="Equation.DSMT4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03650" y="2408555"/>
                        <a:ext cx="33909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089" name="Object 1"/>
          <p:cNvGraphicFramePr/>
          <p:nvPr/>
        </p:nvGraphicFramePr>
        <p:xfrm>
          <a:off x="3778250" y="3024505"/>
          <a:ext cx="349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91230" imgH="482600" progId="Equation.DSMT4">
                  <p:embed/>
                </p:oleObj>
              </mc:Choice>
              <mc:Fallback>
                <p:oleObj name="" r:id="rId3" imgW="3491230" imgH="482600" progId="Equation.DSMT4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8250" y="3024505"/>
                        <a:ext cx="34925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090" name="Object 2"/>
          <p:cNvGraphicFramePr/>
          <p:nvPr/>
        </p:nvGraphicFramePr>
        <p:xfrm>
          <a:off x="4038600" y="3735705"/>
          <a:ext cx="165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651000" imgH="419100" progId="Equation.3">
                  <p:embed/>
                </p:oleObj>
              </mc:Choice>
              <mc:Fallback>
                <p:oleObj name="" r:id="rId5" imgW="1651000" imgH="4191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8600" y="3735705"/>
                        <a:ext cx="16510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091" name="Object 3"/>
          <p:cNvGraphicFramePr/>
          <p:nvPr/>
        </p:nvGraphicFramePr>
        <p:xfrm>
          <a:off x="3924300" y="4243705"/>
          <a:ext cx="297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2970530" imgH="482600" progId="Equation.DSMT4">
                  <p:embed/>
                </p:oleObj>
              </mc:Choice>
              <mc:Fallback>
                <p:oleObj name="" r:id="rId7" imgW="2970530" imgH="4826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4300" y="4243705"/>
                        <a:ext cx="29718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32" name="Rectangle 8"/>
          <p:cNvSpPr/>
          <p:nvPr/>
        </p:nvSpPr>
        <p:spPr>
          <a:xfrm>
            <a:off x="1524000" y="5029201"/>
            <a:ext cx="9144000" cy="115672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2800" dirty="0">
                <a:latin typeface="Times New Roman" panose="02020503050405090304" pitchFamily="18" charset="0"/>
              </a:rPr>
              <a:t>         </a:t>
            </a:r>
            <a:r>
              <a:rPr lang="zh-CN" altLang="en-US" sz="2800" dirty="0">
                <a:latin typeface="Times New Roman" panose="02020503050405090304" pitchFamily="18" charset="0"/>
              </a:rPr>
              <a:t>定义这种分类法的损失函数为：各类的直径之和。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defTabSz="0" eaLnBrk="0" hangingPunct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endParaRPr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601092" name="Object 4"/>
          <p:cNvGraphicFramePr/>
          <p:nvPr/>
        </p:nvGraphicFramePr>
        <p:xfrm>
          <a:off x="4075113" y="5770563"/>
          <a:ext cx="39671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41148000" imgH="10363200" progId="Equation.DSMT4">
                  <p:embed/>
                </p:oleObj>
              </mc:Choice>
              <mc:Fallback>
                <p:oleObj name="Equation" r:id="rId9" imgW="41148000" imgH="103632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75113" y="5770563"/>
                        <a:ext cx="3967162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/>
          </p:cNvSpPr>
          <p:nvPr>
            <p:ph idx="1"/>
          </p:nvPr>
        </p:nvSpPr>
        <p:spPr>
          <a:xfrm>
            <a:off x="1982471" y="911225"/>
            <a:ext cx="8056245" cy="208788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zh-CN" altLang="en-US" sz="2800" dirty="0">
                <a:solidFill>
                  <a:schemeClr val="tx1"/>
                </a:solidFill>
              </a:rPr>
              <a:t>由损失函数的构造可以看出，损失函数是各类的</a:t>
            </a:r>
            <a:r>
              <a:rPr lang="zh-CN" altLang="en-US" sz="2800" dirty="0">
                <a:solidFill>
                  <a:srgbClr val="FF0000"/>
                </a:solidFill>
              </a:rPr>
              <a:t>直径</a:t>
            </a:r>
            <a:r>
              <a:rPr lang="en-US" altLang="zh-CN" sz="2800" dirty="0">
                <a:solidFill>
                  <a:srgbClr val="FF0000"/>
                </a:solidFill>
              </a:rPr>
              <a:t>/</a:t>
            </a:r>
            <a:r>
              <a:rPr lang="zh-CN" altLang="en-US" sz="2800" dirty="0">
                <a:solidFill>
                  <a:srgbClr val="FF0000"/>
                </a:solidFill>
              </a:rPr>
              <a:t>类内平方</a:t>
            </a:r>
            <a:r>
              <a:rPr lang="zh-CN" altLang="en-US" sz="2800" dirty="0">
                <a:solidFill>
                  <a:schemeClr val="tx1"/>
                </a:solidFill>
              </a:rPr>
              <a:t>之和。如果分类不好，则各类的直径之和大，否则比较小。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208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0836" name="Rectangle 4"/>
          <p:cNvSpPr/>
          <p:nvPr/>
        </p:nvSpPr>
        <p:spPr>
          <a:xfrm>
            <a:off x="1982470" y="2999105"/>
            <a:ext cx="8199120" cy="233045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固定时，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)]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越小表示各类的离差平方和越小，分类是合理的。因此要寻找一种分法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，使分类损失函数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)]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达到最小。记该分法为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4378" name="Rectangle 10"/>
          <p:cNvSpPr/>
          <p:nvPr/>
        </p:nvSpPr>
        <p:spPr>
          <a:xfrm>
            <a:off x="2289176" y="523876"/>
            <a:ext cx="6109335" cy="66364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 3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、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503050405090304" pitchFamily="18" charset="0"/>
              </a:rPr>
              <a:t>L</a:t>
            </a:r>
            <a:r>
              <a:rPr lang="en-US" altLang="zh-CN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[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(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503050405090304" pitchFamily="18" charset="0"/>
              </a:rPr>
              <a:t>n</a:t>
            </a:r>
            <a:r>
              <a:rPr lang="en-US" altLang="zh-CN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,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503050405090304" pitchFamily="18" charset="0"/>
              </a:rPr>
              <a:t>k</a:t>
            </a:r>
            <a:r>
              <a:rPr lang="en-US" altLang="zh-CN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)]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503050405090304" pitchFamily="18" charset="0"/>
              </a:rPr>
              <a:t>的递推公式</a:t>
            </a:r>
            <a:endParaRPr lang="zh-CN" altLang="en-US" sz="3200" dirty="0">
              <a:solidFill>
                <a:srgbClr val="FF0066"/>
              </a:solidFill>
              <a:latin typeface="Times New Roman" panose="02020503050405090304" pitchFamily="18" charset="0"/>
            </a:endParaRPr>
          </a:p>
        </p:txBody>
      </p:sp>
      <p:sp>
        <p:nvSpPr>
          <p:cNvPr id="314382" name="Rectangle 14"/>
          <p:cNvSpPr/>
          <p:nvPr/>
        </p:nvSpPr>
        <p:spPr>
          <a:xfrm>
            <a:off x="2125014" y="3522372"/>
            <a:ext cx="7667322" cy="171252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 defTabSz="0">
              <a:lnSpc>
                <a:spcPct val="130000"/>
              </a:lnSpc>
              <a:tabLst>
                <a:tab pos="2933700" algn="l"/>
                <a:tab pos="4343400" algn="l"/>
                <a:tab pos="4533900" algn="l"/>
              </a:tabLst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以上的两个公式的含义是，如果要找到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个类的最优分割，应建立在将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＝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+1,</a:t>
            </a:r>
            <a:r>
              <a:rPr lang="en-US" altLang="zh-CN" sz="2800" dirty="0"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个样品分为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类的最优分割的基础上。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73730" name="Object 1024"/>
          <p:cNvGraphicFramePr/>
          <p:nvPr/>
        </p:nvGraphicFramePr>
        <p:xfrm>
          <a:off x="2353456" y="1701384"/>
          <a:ext cx="6257144" cy="149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8275200" imgH="15240000" progId="Equation.DSMT4">
                  <p:embed/>
                </p:oleObj>
              </mc:Choice>
              <mc:Fallback>
                <p:oleObj name="Equation" r:id="rId1" imgW="68275200" imgH="15240000" progId="Equation.DSMT4">
                  <p:embed/>
                  <p:pic>
                    <p:nvPicPr>
                      <p:cNvPr id="0" name="Object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3456" y="1701384"/>
                        <a:ext cx="6257144" cy="149901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1027"/>
          <p:cNvSpPr>
            <a:spLocks noGrp="1"/>
          </p:cNvSpPr>
          <p:nvPr>
            <p:ph idx="1"/>
          </p:nvPr>
        </p:nvSpPr>
        <p:spPr>
          <a:xfrm>
            <a:off x="1825625" y="533401"/>
            <a:ext cx="8540750" cy="556577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5.5.4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：分析儿童的生长期。有如下的资料是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1-11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岁的男孩平均每年的增重：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问男孩的发育可分为几个阶段。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18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121860" name="表格 121859"/>
          <p:cNvGraphicFramePr/>
          <p:nvPr/>
        </p:nvGraphicFramePr>
        <p:xfrm>
          <a:off x="1851025" y="2284731"/>
          <a:ext cx="8515350" cy="1697355"/>
        </p:xfrm>
        <a:graphic>
          <a:graphicData uri="http://schemas.openxmlformats.org/drawingml/2006/table">
            <a:tbl>
              <a:tblPr/>
              <a:tblGrid>
                <a:gridCol w="857250"/>
                <a:gridCol w="694055"/>
                <a:gridCol w="697865"/>
                <a:gridCol w="695960"/>
                <a:gridCol w="696595"/>
                <a:gridCol w="695960"/>
                <a:gridCol w="696595"/>
                <a:gridCol w="695960"/>
                <a:gridCol w="696595"/>
                <a:gridCol w="694690"/>
                <a:gridCol w="699135"/>
                <a:gridCol w="694690"/>
              </a:tblGrid>
              <a:tr h="50863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年龄</a:t>
                      </a:r>
                      <a:endParaRPr lang="zh-CN" altLang="en-US" sz="20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4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6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7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8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9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11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87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增加重量（公斤）</a:t>
                      </a:r>
                      <a:endParaRPr lang="zh-CN" altLang="en-US" sz="1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9.3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1.8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1.9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1.7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1.5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1.3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1.4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2.0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1.9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2.3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2.1</a:t>
                      </a:r>
                      <a:endParaRPr lang="en-US" altLang="zh-CN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1027"/>
          <p:cNvSpPr>
            <a:spLocks noGrp="1"/>
          </p:cNvSpPr>
          <p:nvPr>
            <p:ph idx="1"/>
          </p:nvPr>
        </p:nvSpPr>
        <p:spPr>
          <a:xfrm>
            <a:off x="1825625" y="533401"/>
            <a:ext cx="8540750" cy="556577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fontAlgn="auto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第一步：计算直径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{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)}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第二步：计算最小分类损失函数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)]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，先计算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,2)]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=3,...,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；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，依次计算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)]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=4,...,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=3,...,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-1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第三步：确定分类个数；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事先确定，或者根据损失函数对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的变化趋势图选择。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第四步：写出最优分类。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18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74755" name="Object 1025"/>
          <p:cNvGraphicFramePr/>
          <p:nvPr/>
        </p:nvGraphicFramePr>
        <p:xfrm>
          <a:off x="5231765" y="896620"/>
          <a:ext cx="96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64565" imgH="393700" progId="Equation.DSMT4">
                  <p:embed/>
                </p:oleObj>
              </mc:Choice>
              <mc:Fallback>
                <p:oleObj name="" r:id="rId1" imgW="964565" imgH="393700" progId="Equation.DSMT4">
                  <p:embed/>
                  <p:pic>
                    <p:nvPicPr>
                      <p:cNvPr id="0" name="Object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31765" y="896620"/>
                        <a:ext cx="965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 descr="}`4S%YR]TUXXVJ(M2TQ096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320" y="1659890"/>
            <a:ext cx="8849360" cy="39420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75780" name="Object 2"/>
          <p:cNvGraphicFramePr>
            <a:graphicFrameLocks noGrp="1"/>
          </p:cNvGraphicFramePr>
          <p:nvPr>
            <p:ph sz="quarter" idx="13"/>
          </p:nvPr>
        </p:nvGraphicFramePr>
        <p:xfrm>
          <a:off x="2657215" y="3958814"/>
          <a:ext cx="7302500" cy="323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13000" imgH="1117600" progId="Equation.3">
                  <p:embed/>
                </p:oleObj>
              </mc:Choice>
              <mc:Fallback>
                <p:oleObj name="" r:id="rId1" imgW="2413000" imgH="11176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7215" y="3958814"/>
                        <a:ext cx="7302500" cy="32369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" name="Object 0"/>
          <p:cNvGraphicFramePr/>
          <p:nvPr/>
        </p:nvGraphicFramePr>
        <p:xfrm>
          <a:off x="2279650" y="908050"/>
          <a:ext cx="642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426200" imgH="457200" progId="Equation.DSMT4">
                  <p:embed/>
                </p:oleObj>
              </mc:Choice>
              <mc:Fallback>
                <p:oleObj name="" r:id="rId3" imgW="6426200" imgH="457200" progId="Equation.DSMT4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9650" y="908050"/>
                        <a:ext cx="64262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9" name="Object 1"/>
          <p:cNvGraphicFramePr/>
          <p:nvPr/>
        </p:nvGraphicFramePr>
        <p:xfrm>
          <a:off x="2272983" y="1868170"/>
          <a:ext cx="764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7645400" imgH="914400" progId="Equation.DSMT4">
                  <p:embed/>
                </p:oleObj>
              </mc:Choice>
              <mc:Fallback>
                <p:oleObj name="" r:id="rId5" imgW="7645400" imgH="914400" progId="Equation.DSMT4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2983" y="1868170"/>
                        <a:ext cx="7645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Text Box 6"/>
          <p:cNvSpPr txBox="1"/>
          <p:nvPr/>
        </p:nvSpPr>
        <p:spPr>
          <a:xfrm>
            <a:off x="2279650" y="3179608"/>
            <a:ext cx="72009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5.55=(9.3+1.8)/2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883" name="Rectangle 575"/>
          <p:cNvSpPr/>
          <p:nvPr/>
        </p:nvSpPr>
        <p:spPr>
          <a:xfrm>
            <a:off x="1524000" y="6686550"/>
            <a:ext cx="9144000" cy="5232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endParaRPr lang="en-US" altLang="zh-CN" sz="1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hangingPunct="0"/>
            <a:endParaRPr lang="en-US" altLang="zh-CN" dirty="0">
              <a:latin typeface="Times New Roman" panose="02020503050405090304" pitchFamily="18" charset="0"/>
            </a:endParaRPr>
          </a:p>
        </p:txBody>
      </p:sp>
      <p:graphicFrame>
        <p:nvGraphicFramePr>
          <p:cNvPr id="122884" name="表格 122883"/>
          <p:cNvGraphicFramePr/>
          <p:nvPr/>
        </p:nvGraphicFramePr>
        <p:xfrm>
          <a:off x="1524000" y="836614"/>
          <a:ext cx="9144000" cy="5616575"/>
        </p:xfrm>
        <a:graphic>
          <a:graphicData uri="http://schemas.openxmlformats.org/drawingml/2006/table">
            <a:tbl>
              <a:tblPr/>
              <a:tblGrid>
                <a:gridCol w="611188"/>
                <a:gridCol w="936625"/>
                <a:gridCol w="976312"/>
                <a:gridCol w="866775"/>
                <a:gridCol w="958850"/>
                <a:gridCol w="958850"/>
                <a:gridCol w="958850"/>
                <a:gridCol w="958850"/>
                <a:gridCol w="958850"/>
                <a:gridCol w="958850"/>
              </a:tblGrid>
              <a:tr h="511175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n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k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</a:tr>
              <a:tr h="5111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9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503050405090304" pitchFamily="18" charset="0"/>
                        </a:rPr>
                        <a:t>0.02/2</a:t>
                      </a:r>
                      <a:endParaRPr lang="en-US" altLang="zh-CN" sz="1600" dirty="0">
                        <a:solidFill>
                          <a:schemeClr val="tx2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0.088/2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0.020/5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0.232/2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0.040/5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0.02/6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FC3F04"/>
                          </a:solidFill>
                          <a:latin typeface="Times New Roman" panose="02020503050405090304" pitchFamily="18" charset="0"/>
                        </a:rPr>
                        <a:t>0.280/2</a:t>
                      </a:r>
                      <a:endParaRPr lang="en-US" altLang="zh-CN" sz="1600" dirty="0">
                        <a:solidFill>
                          <a:srgbClr val="FC3F04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503050405090304" pitchFamily="18" charset="0"/>
                        </a:rPr>
                        <a:t>0.040/5</a:t>
                      </a:r>
                      <a:endParaRPr lang="en-US" altLang="zh-CN" sz="1600" dirty="0">
                        <a:solidFill>
                          <a:schemeClr val="tx2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0.025/6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0.417/2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0.280/8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0.040/8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0.025/8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9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0.469/2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0.285/8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0.045/8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0.030/8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0.015/8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0.802/2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0.367/8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0.127/8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0.045/10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0.030/10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0.015/10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Times New Roman" panose="02020503050405090304" pitchFamily="18" charset="0"/>
                        </a:rPr>
                        <a:t>10</a:t>
                      </a:r>
                      <a:endParaRPr lang="en-US" altLang="zh-CN" sz="1600" dirty="0">
                        <a:solidFill>
                          <a:srgbClr val="FF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11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0.909/2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2000" b="1" dirty="0">
                          <a:solidFill>
                            <a:srgbClr val="FC3F04"/>
                          </a:solidFill>
                          <a:latin typeface="Times New Roman" panose="02020503050405090304" pitchFamily="18" charset="0"/>
                        </a:rPr>
                        <a:t>0.368/8</a:t>
                      </a:r>
                      <a:endParaRPr lang="en-US" altLang="zh-CN" sz="2000" dirty="0">
                        <a:solidFill>
                          <a:srgbClr val="FC3F04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503050405090304" pitchFamily="18" charset="0"/>
                        </a:rPr>
                        <a:t>0.128/8</a:t>
                      </a:r>
                      <a:endParaRPr lang="en-US" altLang="zh-CN" sz="1600" b="1" dirty="0">
                        <a:solidFill>
                          <a:schemeClr val="tx2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0.065/10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0.045/11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0.030/11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0.015/11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0.010/11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0.005/11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3009" name="Rectangle 973"/>
          <p:cNvSpPr/>
          <p:nvPr/>
        </p:nvSpPr>
        <p:spPr>
          <a:xfrm>
            <a:off x="4295776" y="111126"/>
            <a:ext cx="3871913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ctr"/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最小损失函数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)]</a:t>
            </a:r>
            <a:endParaRPr lang="en-US" altLang="zh-CN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0"/>
          <p:cNvGraphicFramePr>
            <a:graphicFrameLocks noGrp="1"/>
          </p:cNvGraphicFramePr>
          <p:nvPr>
            <p:ph sz="half" idx="1"/>
          </p:nvPr>
        </p:nvGraphicFramePr>
        <p:xfrm>
          <a:off x="2139950" y="514350"/>
          <a:ext cx="7194550" cy="257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11730" imgH="862965" progId="Equation.3">
                  <p:embed/>
                </p:oleObj>
              </mc:Choice>
              <mc:Fallback>
                <p:oleObj name="" r:id="rId1" imgW="2411730" imgH="862965" progId="Equation.3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9950" y="514350"/>
                        <a:ext cx="7194550" cy="25765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" name="Object 1"/>
          <p:cNvGraphicFramePr>
            <a:graphicFrameLocks noGrp="1"/>
          </p:cNvGraphicFramePr>
          <p:nvPr>
            <p:ph sz="half" idx="2"/>
          </p:nvPr>
        </p:nvGraphicFramePr>
        <p:xfrm>
          <a:off x="2136775" y="3486150"/>
          <a:ext cx="8207375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78530" imgH="635000" progId="Equation.3">
                  <p:embed/>
                </p:oleObj>
              </mc:Choice>
              <mc:Fallback>
                <p:oleObj name="" r:id="rId3" imgW="3478530" imgH="635000" progId="Equation.3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6775" y="3486150"/>
                        <a:ext cx="8207375" cy="1498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6805" name="Text Box 9"/>
          <p:cNvSpPr txBox="1"/>
          <p:nvPr/>
        </p:nvSpPr>
        <p:spPr>
          <a:xfrm>
            <a:off x="2219326" y="5273676"/>
            <a:ext cx="46501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ahoma" panose="020B0604030504040204" pitchFamily="34" charset="0"/>
              </a:rPr>
              <a:t>/</a:t>
            </a:r>
            <a:r>
              <a:rPr lang="zh-CN" altLang="en-US" sz="2400" dirty="0">
                <a:latin typeface="Tahoma" panose="020B0604030504040204" pitchFamily="34" charset="0"/>
              </a:rPr>
              <a:t>下数字为最优分割处的序号</a:t>
            </a:r>
            <a:r>
              <a:rPr lang="en-US" altLang="zh-CN" sz="2400" dirty="0">
                <a:latin typeface="Tahoma" panose="020B0604030504040204" pitchFamily="34" charset="0"/>
              </a:rPr>
              <a:t>.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3" name="Text Box 9"/>
          <p:cNvSpPr txBox="1"/>
          <p:nvPr/>
        </p:nvSpPr>
        <p:spPr>
          <a:xfrm>
            <a:off x="4528186" y="2631441"/>
            <a:ext cx="46501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试写出求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(7,3))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的过程。</a:t>
            </a:r>
            <a:endParaRPr lang="zh-CN" altLang="en-US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9"/>
          <p:cNvSpPr txBox="1"/>
          <p:nvPr/>
        </p:nvSpPr>
        <p:spPr>
          <a:xfrm>
            <a:off x="4139566" y="4443731"/>
            <a:ext cx="603948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试由分类直径表和最小分类损失函数值表，写出分成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类的最终分类结果</a:t>
            </a:r>
            <a:endParaRPr lang="zh-CN" altLang="en-US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77826" name="Object 0"/>
          <p:cNvGraphicFramePr/>
          <p:nvPr/>
        </p:nvGraphicFramePr>
        <p:xfrm>
          <a:off x="2245360" y="317500"/>
          <a:ext cx="7272338" cy="529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648075" imgH="2657475" progId="Excel.Chart.8">
                  <p:embed/>
                </p:oleObj>
              </mc:Choice>
              <mc:Fallback>
                <p:oleObj name="" r:id="rId1" imgW="3648075" imgH="2657475" progId="Excel.Chart.8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45360" y="317500"/>
                        <a:ext cx="7272338" cy="5297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Rectangle 5"/>
          <p:cNvSpPr/>
          <p:nvPr/>
        </p:nvSpPr>
        <p:spPr>
          <a:xfrm>
            <a:off x="4583113" y="2060575"/>
            <a:ext cx="263245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最小损失函数</a:t>
            </a:r>
            <a:r>
              <a:rPr lang="en-US" altLang="zh-CN" b="1" dirty="0">
                <a:solidFill>
                  <a:srgbClr val="000000"/>
                </a:solidFill>
                <a:latin typeface="Tahoma" panose="020B0604030504040204" pitchFamily="34" charset="0"/>
              </a:rPr>
              <a:t>L[p(n,k)]</a:t>
            </a:r>
            <a:endParaRPr lang="en-US" altLang="zh-CN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7829" name="Text Box 6"/>
          <p:cNvSpPr txBox="1"/>
          <p:nvPr/>
        </p:nvSpPr>
        <p:spPr>
          <a:xfrm>
            <a:off x="9409113" y="5157788"/>
            <a:ext cx="6477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k</a:t>
            </a:r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/>
          </p:cNvSpPr>
          <p:nvPr>
            <p:ph type="title"/>
          </p:nvPr>
        </p:nvSpPr>
        <p:spPr>
          <a:xfrm>
            <a:off x="908416" y="1319530"/>
            <a:ext cx="8229600" cy="13716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若分类数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是已知的，求分类法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，使它在损失函数意义下达到最小，其求法如下：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0451" name="Rectangle 3"/>
          <p:cNvSpPr>
            <a:spLocks noGrp="1"/>
          </p:cNvSpPr>
          <p:nvPr>
            <p:ph idx="1"/>
          </p:nvPr>
        </p:nvSpPr>
        <p:spPr>
          <a:xfrm>
            <a:off x="1006842" y="2691131"/>
            <a:ext cx="7515225" cy="75247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buNone/>
            </a:pPr>
            <a:r>
              <a:rPr lang="zh-CN" altLang="en-US" sz="2800" dirty="0">
                <a:solidFill>
                  <a:srgbClr val="FF0066"/>
                </a:solidFill>
              </a:rPr>
              <a:t>首先，</a:t>
            </a:r>
            <a:r>
              <a:rPr lang="zh-CN" altLang="en-US" sz="2800" dirty="0">
                <a:solidFill>
                  <a:schemeClr val="tx1"/>
                </a:solidFill>
              </a:rPr>
              <a:t>找出分点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，使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70661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588616" y="6356351"/>
            <a:ext cx="2743200" cy="365125"/>
          </a:xfrm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602112" name="Object 0"/>
          <p:cNvGraphicFramePr/>
          <p:nvPr/>
        </p:nvGraphicFramePr>
        <p:xfrm>
          <a:off x="1708516" y="4584700"/>
          <a:ext cx="5972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43256000" imgH="10363200" progId="Equation.DSMT4">
                  <p:embed/>
                </p:oleObj>
              </mc:Choice>
              <mc:Fallback>
                <p:oleObj name="Equation" r:id="rId1" imgW="143256000" imgH="10363200" progId="Equation.DSMT4">
                  <p:embed/>
                  <p:pic>
                    <p:nvPicPr>
                      <p:cNvPr id="0" name="Object 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8516" y="4584700"/>
                        <a:ext cx="59721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0455" name="Rectangle 7"/>
          <p:cNvSpPr>
            <a:spLocks noRot="1"/>
          </p:cNvSpPr>
          <p:nvPr/>
        </p:nvSpPr>
        <p:spPr>
          <a:xfrm>
            <a:off x="1037956" y="5354956"/>
            <a:ext cx="2531110" cy="5746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zh-CN" altLang="en-US" sz="2800" dirty="0">
                <a:latin typeface="Arial" panose="020B0604020202090204" pitchFamily="34" charset="0"/>
              </a:rPr>
              <a:t>于是得第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Arial" panose="020B0604020202090204" pitchFamily="34" charset="0"/>
              </a:rPr>
              <a:t>类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graphicFrame>
        <p:nvGraphicFramePr>
          <p:cNvPr id="602113" name="Object 1"/>
          <p:cNvGraphicFramePr/>
          <p:nvPr/>
        </p:nvGraphicFramePr>
        <p:xfrm>
          <a:off x="3568749" y="5497513"/>
          <a:ext cx="290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907030" imgH="431800" progId="Equation.3">
                  <p:embed/>
                </p:oleObj>
              </mc:Choice>
              <mc:Fallback>
                <p:oleObj name="" r:id="rId3" imgW="2907030" imgH="431800" progId="Equation.3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8749" y="5497513"/>
                        <a:ext cx="2908300" cy="4318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5" name="Rectangle 14"/>
          <p:cNvSpPr/>
          <p:nvPr/>
        </p:nvSpPr>
        <p:spPr>
          <a:xfrm>
            <a:off x="1305291" y="653415"/>
            <a:ext cx="2898550" cy="52322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66"/>
                </a:solidFill>
                <a:latin typeface="Arial" panose="020B0604020202090204" pitchFamily="34" charset="0"/>
              </a:rPr>
              <a:t>4</a:t>
            </a:r>
            <a:r>
              <a:rPr lang="zh-CN" altLang="en-US" sz="2800" dirty="0">
                <a:solidFill>
                  <a:srgbClr val="FF0066"/>
                </a:solidFill>
                <a:latin typeface="Arial" panose="020B0604020202090204" pitchFamily="34" charset="0"/>
              </a:rPr>
              <a:t>、最优解的求法</a:t>
            </a:r>
            <a:endParaRPr lang="zh-CN" altLang="en-US" sz="2800" dirty="0">
              <a:solidFill>
                <a:srgbClr val="FF0066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70660" name="Object 2"/>
          <p:cNvGraphicFramePr/>
          <p:nvPr/>
        </p:nvGraphicFramePr>
        <p:xfrm>
          <a:off x="1903779" y="3644900"/>
          <a:ext cx="5553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33197600" imgH="11582400" progId="Equation.DSMT4">
                  <p:embed/>
                </p:oleObj>
              </mc:Choice>
              <mc:Fallback>
                <p:oleObj name="Equation" r:id="rId5" imgW="133197600" imgH="115824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3779" y="3644900"/>
                        <a:ext cx="55530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5163671" y="451575"/>
          <a:ext cx="6461758" cy="3936705"/>
        </p:xfrm>
        <a:graphic>
          <a:graphicData uri="http://schemas.openxmlformats.org/drawingml/2006/table">
            <a:tbl>
              <a:tblPr/>
              <a:tblGrid>
                <a:gridCol w="431906"/>
                <a:gridCol w="661882"/>
                <a:gridCol w="689927"/>
                <a:gridCol w="612521"/>
                <a:gridCol w="677587"/>
                <a:gridCol w="677587"/>
                <a:gridCol w="677587"/>
                <a:gridCol w="677587"/>
                <a:gridCol w="677587"/>
                <a:gridCol w="677587"/>
              </a:tblGrid>
              <a:tr h="358287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n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k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</a:tr>
              <a:tr h="358287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3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4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7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9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606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3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4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chemeClr val="tx2"/>
                          </a:solidFill>
                          <a:latin typeface="Times New Roman" panose="02020503050405090304" pitchFamily="18" charset="0"/>
                        </a:rPr>
                        <a:t>0.02/2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0.005/4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0.088/2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0.020/5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0.232/2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0.040/5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0.02/6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7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FC3F04"/>
                          </a:solidFill>
                          <a:latin typeface="Times New Roman" panose="02020503050405090304" pitchFamily="18" charset="0"/>
                        </a:rPr>
                        <a:t>0.280/2</a:t>
                      </a:r>
                      <a:endParaRPr lang="en-US" altLang="zh-CN" sz="1400" dirty="0">
                        <a:solidFill>
                          <a:srgbClr val="FC3F04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chemeClr val="tx2"/>
                          </a:solidFill>
                          <a:latin typeface="Times New Roman" panose="02020503050405090304" pitchFamily="18" charset="0"/>
                        </a:rPr>
                        <a:t>0.040/5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0.025/6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0.417/2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0.280/8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0.040/8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0.025/8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606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9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0.469/2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0.285/8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0.045/8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0.030/8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0.015/8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0.802/2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0.367/8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0.127/8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0.045/10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0.030/10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0.015/10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" panose="02020503050405090304" pitchFamily="18" charset="0"/>
                        </a:rPr>
                        <a:t>10</a:t>
                      </a:r>
                      <a:endParaRPr lang="en-US" altLang="zh-CN" sz="1400" dirty="0">
                        <a:solidFill>
                          <a:srgbClr val="FF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　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11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t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0.909/2</a:t>
                      </a:r>
                      <a:endParaRPr lang="en-US" altLang="zh-CN" sz="1400" b="1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FC3F04"/>
                          </a:solidFill>
                          <a:latin typeface="Times New Roman" panose="02020503050405090304" pitchFamily="18" charset="0"/>
                        </a:rPr>
                        <a:t>0.368/8</a:t>
                      </a:r>
                      <a:endParaRPr lang="en-US" altLang="zh-CN" sz="1400" dirty="0">
                        <a:solidFill>
                          <a:srgbClr val="FC3F04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chemeClr val="tx2"/>
                          </a:solidFill>
                          <a:latin typeface="Times New Roman" panose="02020503050405090304" pitchFamily="18" charset="0"/>
                        </a:rPr>
                        <a:t>0.128/8</a:t>
                      </a:r>
                      <a:endParaRPr lang="en-US" altLang="zh-CN" sz="1400" b="1" dirty="0">
                        <a:solidFill>
                          <a:schemeClr val="tx2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0.065/10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0.045/11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0.030/11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0.015/11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0.010/11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ctr" hangingPunct="1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503050405090304" pitchFamily="18" charset="0"/>
                        </a:rPr>
                        <a:t>0.005/11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93572" name="Rectangle 4"/>
          <p:cNvSpPr>
            <a:spLocks noRot="1"/>
          </p:cNvSpPr>
          <p:nvPr/>
        </p:nvSpPr>
        <p:spPr>
          <a:xfrm>
            <a:off x="2072005" y="807085"/>
            <a:ext cx="4799330" cy="75819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zh-CN" altLang="en-US" sz="2800" dirty="0">
                <a:solidFill>
                  <a:srgbClr val="FF006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接下来，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找出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，使它满足</a:t>
            </a:r>
            <a:endParaRPr lang="zh-CN" altLang="en-US" sz="28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93573" name="Rectangle 5"/>
          <p:cNvSpPr/>
          <p:nvPr/>
        </p:nvSpPr>
        <p:spPr>
          <a:xfrm>
            <a:off x="2060620" y="4526924"/>
            <a:ext cx="2690323" cy="52322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于是得第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603136" name="Object 1024"/>
          <p:cNvGraphicFramePr/>
          <p:nvPr/>
        </p:nvGraphicFramePr>
        <p:xfrm>
          <a:off x="4898390" y="4536440"/>
          <a:ext cx="400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998595" imgH="431800" progId="Equation.3">
                  <p:embed/>
                </p:oleObj>
              </mc:Choice>
              <mc:Fallback>
                <p:oleObj name="" r:id="rId1" imgW="3998595" imgH="431800" progId="Equation.3">
                  <p:embed/>
                  <p:pic>
                    <p:nvPicPr>
                      <p:cNvPr id="0" name="Object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98390" y="4536440"/>
                        <a:ext cx="4000500" cy="4318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1025"/>
          <p:cNvGraphicFramePr/>
          <p:nvPr/>
        </p:nvGraphicFramePr>
        <p:xfrm>
          <a:off x="2076450" y="1916113"/>
          <a:ext cx="72310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73431200" imgH="11582400" progId="Equation.DSMT4">
                  <p:embed/>
                </p:oleObj>
              </mc:Choice>
              <mc:Fallback>
                <p:oleObj name="Equation" r:id="rId3" imgW="173431200" imgH="11582400" progId="Equation.DSMT4">
                  <p:embed/>
                  <p:pic>
                    <p:nvPicPr>
                      <p:cNvPr id="0" name="Object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6450" y="1916113"/>
                        <a:ext cx="7231063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38" name="Object 1026"/>
          <p:cNvGraphicFramePr/>
          <p:nvPr/>
        </p:nvGraphicFramePr>
        <p:xfrm>
          <a:off x="1665288" y="3295650"/>
          <a:ext cx="796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91109600" imgH="10363200" progId="Equation.DSMT4">
                  <p:embed/>
                </p:oleObj>
              </mc:Choice>
              <mc:Fallback>
                <p:oleObj name="Equation" r:id="rId5" imgW="191109600" imgH="10363200" progId="Equation.DSMT4">
                  <p:embed/>
                  <p:pic>
                    <p:nvPicPr>
                      <p:cNvPr id="0" name="Object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5288" y="3295650"/>
                        <a:ext cx="7962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72707" name="Object 9"/>
          <p:cNvGraphicFramePr>
            <a:graphicFrameLocks noGrp="1"/>
          </p:cNvGraphicFramePr>
          <p:nvPr>
            <p:ph sz="quarter" idx="13"/>
          </p:nvPr>
        </p:nvGraphicFramePr>
        <p:xfrm>
          <a:off x="2381250" y="1895475"/>
          <a:ext cx="72517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85623200" imgH="11582400" progId="Equation.DSMT4">
                  <p:embed/>
                </p:oleObj>
              </mc:Choice>
              <mc:Fallback>
                <p:oleObj name="Equation" r:id="rId1" imgW="185623200" imgH="115824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250" y="1895475"/>
                        <a:ext cx="7251700" cy="4524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596" name="Rectangle 4"/>
          <p:cNvSpPr>
            <a:spLocks noRot="1"/>
          </p:cNvSpPr>
          <p:nvPr/>
        </p:nvSpPr>
        <p:spPr>
          <a:xfrm>
            <a:off x="2189408" y="650383"/>
            <a:ext cx="4829247" cy="80313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再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然后，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找出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，使它满足</a:t>
            </a:r>
            <a:endParaRPr lang="zh-CN" altLang="en-US" sz="28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94597" name="Rectangle 5"/>
          <p:cNvSpPr/>
          <p:nvPr/>
        </p:nvSpPr>
        <p:spPr>
          <a:xfrm>
            <a:off x="1919288" y="3789363"/>
            <a:ext cx="2678938" cy="52322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于是得第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494598" name="Object 6"/>
          <p:cNvGraphicFramePr/>
          <p:nvPr/>
        </p:nvGraphicFramePr>
        <p:xfrm>
          <a:off x="4872038" y="3860800"/>
          <a:ext cx="4419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4417695" imgH="482600" progId="Equation.DSMT4">
                  <p:embed/>
                </p:oleObj>
              </mc:Choice>
              <mc:Fallback>
                <p:oleObj name="" r:id="rId3" imgW="4417695" imgH="482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2038" y="3860800"/>
                        <a:ext cx="4419600" cy="4826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Rectangle 8"/>
          <p:cNvSpPr/>
          <p:nvPr/>
        </p:nvSpPr>
        <p:spPr>
          <a:xfrm>
            <a:off x="2060621" y="4462530"/>
            <a:ext cx="7893006" cy="134728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类推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。一直可以得到所有类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，这就是所求得最优解。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72708" name="Object 14"/>
          <p:cNvGraphicFramePr/>
          <p:nvPr/>
        </p:nvGraphicFramePr>
        <p:xfrm>
          <a:off x="2111375" y="2890838"/>
          <a:ext cx="812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95072000" imgH="10363200" progId="Equation.DSMT4">
                  <p:embed/>
                </p:oleObj>
              </mc:Choice>
              <mc:Fallback>
                <p:oleObj name="Equation" r:id="rId5" imgW="195072000" imgH="103632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1375" y="2890838"/>
                        <a:ext cx="8128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9" name="组合 8"/>
          <p:cNvGrpSpPr/>
          <p:nvPr/>
        </p:nvGrpSpPr>
        <p:grpSpPr>
          <a:xfrm>
            <a:off x="3512185" y="1474435"/>
            <a:ext cx="4650740" cy="4168775"/>
            <a:chOff x="3512185" y="915036"/>
            <a:chExt cx="4650740" cy="4168775"/>
          </a:xfrm>
        </p:grpSpPr>
        <p:grpSp>
          <p:nvGrpSpPr>
            <p:cNvPr id="6" name="组合 5"/>
            <p:cNvGrpSpPr/>
            <p:nvPr/>
          </p:nvGrpSpPr>
          <p:grpSpPr>
            <a:xfrm>
              <a:off x="3512185" y="915036"/>
              <a:ext cx="4650740" cy="4168775"/>
              <a:chOff x="3512185" y="915036"/>
              <a:chExt cx="4650740" cy="4168775"/>
            </a:xfrm>
          </p:grpSpPr>
          <p:pic>
            <p:nvPicPr>
              <p:cNvPr id="2" name="图片 1" descr="DAXXT%@O]9V6N{Y6J53DD(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512185" y="915036"/>
                <a:ext cx="4650740" cy="4168775"/>
              </a:xfrm>
              <a:prstGeom prst="rect">
                <a:avLst/>
              </a:prstGeom>
            </p:spPr>
          </p:pic>
          <p:sp>
            <p:nvSpPr>
              <p:cNvPr id="3" name="文本框 2"/>
              <p:cNvSpPr txBox="1"/>
              <p:nvPr/>
            </p:nvSpPr>
            <p:spPr>
              <a:xfrm flipH="1">
                <a:off x="5217456" y="4604270"/>
                <a:ext cx="72000" cy="252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800" dirty="0"/>
                  <a:t>,</a:t>
                </a:r>
                <a:endParaRPr lang="zh-CN" altLang="en-US" sz="2800" dirty="0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 flipH="1">
                <a:off x="6714564" y="4616819"/>
                <a:ext cx="72000" cy="288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800" dirty="0"/>
                  <a:t>-</a:t>
                </a:r>
                <a:endParaRPr lang="zh-CN" altLang="en-US" sz="2800" dirty="0"/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1150" y="1796527"/>
              <a:ext cx="552810" cy="24636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9658" y="1785768"/>
              <a:ext cx="145577" cy="246361"/>
            </a:xfrm>
            <a:prstGeom prst="rect">
              <a:avLst/>
            </a:prstGeom>
          </p:spPr>
        </p:pic>
      </p:grpSp>
      <p:sp>
        <p:nvSpPr>
          <p:cNvPr id="10" name="Rectangle 1027"/>
          <p:cNvSpPr txBox="1"/>
          <p:nvPr/>
        </p:nvSpPr>
        <p:spPr>
          <a:xfrm>
            <a:off x="749861" y="361280"/>
            <a:ext cx="8540750" cy="10810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Arial" panose="020B0604020202090204" pitchFamily="34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90000"/>
              </a:lnSpc>
              <a:buFont typeface="Arial" panose="020B0604020202090204" pitchFamily="34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上例的分类结果为：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1700138" y="1445123"/>
            <a:ext cx="6013096" cy="29484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聚类分析的基本思想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距离与相似系数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系统聚类法</a:t>
            </a:r>
            <a:endParaRPr lang="zh-CN" altLang="en-US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ahoma" panose="020B0604030504040204" pitchFamily="34" charset="0"/>
              </a:rPr>
              <a:t>动态聚类</a:t>
            </a:r>
            <a:endParaRPr lang="en-US" altLang="zh-CN" sz="3200" dirty="0">
              <a:latin typeface="Tahom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Tahoma" panose="020B0604030504040204" pitchFamily="34" charset="0"/>
              </a:rPr>
              <a:t>//</a:t>
            </a:r>
            <a:r>
              <a:rPr lang="zh-CN" altLang="en-US" sz="3200" dirty="0">
                <a:latin typeface="Tahoma" panose="020B0604030504040204" pitchFamily="34" charset="0"/>
              </a:rPr>
              <a:t>有序样品的聚类</a:t>
            </a:r>
            <a:endParaRPr lang="zh-CN" altLang="en-US" sz="3200" dirty="0">
              <a:latin typeface="Tahoma" panose="020B0604030504040204" pitchFamily="34" charset="0"/>
            </a:endParaRPr>
          </a:p>
        </p:txBody>
      </p:sp>
      <p:sp>
        <p:nvSpPr>
          <p:cNvPr id="3" name="Text Box 7"/>
          <p:cNvSpPr txBox="1"/>
          <p:nvPr/>
        </p:nvSpPr>
        <p:spPr>
          <a:xfrm>
            <a:off x="1891862" y="558204"/>
            <a:ext cx="4868082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小结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3.xml><?xml version="1.0" encoding="utf-8"?>
<p:tagLst xmlns:p="http://schemas.openxmlformats.org/presentationml/2006/main">
  <p:tag name="KSO_WM_TEMPLATE_CATEGORY" val="custom"/>
  <p:tag name="KSO_WM_TEMPLATE_INDEX" val="20182222"/>
  <p:tag name="KSO_WM_TAG_VERSION" val="1.0"/>
  <p:tag name="KSO_WM_TEMPLATE_THUMBS_INDEX" val="1、9、12、16、22、25、30、31、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自定义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5B9BD5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18856</Words>
  <Application>WPS 文字</Application>
  <PresentationFormat>宽屏</PresentationFormat>
  <Paragraphs>1677</Paragraphs>
  <Slides>138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104</vt:i4>
      </vt:variant>
      <vt:variant>
        <vt:lpstr>幻灯片标题</vt:lpstr>
      </vt:variant>
      <vt:variant>
        <vt:i4>138</vt:i4>
      </vt:variant>
    </vt:vector>
  </HeadingPairs>
  <TitlesOfParts>
    <vt:vector size="267" baseType="lpstr">
      <vt:lpstr>Arial</vt:lpstr>
      <vt:lpstr>宋体</vt:lpstr>
      <vt:lpstr>Wingdings</vt:lpstr>
      <vt:lpstr>微软雅黑</vt:lpstr>
      <vt:lpstr>Segoe UI</vt:lpstr>
      <vt:lpstr>Tahoma</vt:lpstr>
      <vt:lpstr>汉仪书宋二KW</vt:lpstr>
      <vt:lpstr>Times New Roman</vt:lpstr>
      <vt:lpstr>黑体</vt:lpstr>
      <vt:lpstr>汉仪中黑KW</vt:lpstr>
      <vt:lpstr>华文新魏</vt:lpstr>
      <vt:lpstr>汉仪旗黑</vt:lpstr>
      <vt:lpstr>宋体</vt:lpstr>
      <vt:lpstr>Arial Unicode MS</vt:lpstr>
      <vt:lpstr>Calibri</vt:lpstr>
      <vt:lpstr>Helvetica Neue</vt:lpstr>
      <vt:lpstr>宋体-简</vt:lpstr>
      <vt:lpstr>Cambria Math</vt:lpstr>
      <vt:lpstr>Kingsoft Math</vt:lpstr>
      <vt:lpstr>Lucida Console</vt:lpstr>
      <vt:lpstr>苹方-简</vt:lpstr>
      <vt:lpstr>Symbol</vt:lpstr>
      <vt:lpstr>Kingsoft Sign</vt:lpstr>
      <vt:lpstr>黑体</vt:lpstr>
      <vt:lpstr>自定义设计方案</vt:lpstr>
      <vt:lpstr>Photoshop.Image.6</vt:lpstr>
      <vt:lpstr>Equation.KSEE3</vt:lpstr>
      <vt:lpstr>Equation.KSEE3</vt:lpstr>
      <vt:lpstr>Equation.KSEE3</vt:lpstr>
      <vt:lpstr>Equation.DSMT4</vt:lpstr>
      <vt:lpstr>Equation.KSEE3</vt:lpstr>
      <vt:lpstr>Equation.KSEE3</vt:lpstr>
      <vt:lpstr>Paint.Picture</vt:lpstr>
      <vt:lpstr>Equation.KSEE3</vt:lpstr>
      <vt:lpstr>Equation.KSEE3</vt:lpstr>
      <vt:lpstr>Equation.KSEE3</vt:lpstr>
      <vt:lpstr>Equation.DSMT4</vt:lpstr>
      <vt:lpstr>Equation.KSEE3</vt:lpstr>
      <vt:lpstr>Equation.KSEE3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Excel.Chart.8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Photoshop.Image.6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Photoshop.Image.6</vt:lpstr>
      <vt:lpstr>第五章 聚类分析</vt:lpstr>
      <vt:lpstr>PowerPoint 演示文稿</vt:lpstr>
      <vt:lpstr>PowerPoint 演示文稿</vt:lpstr>
      <vt:lpstr>第一节 聚类分析的方法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第三节 系统聚类法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第四节 系统聚类法的性质及类的确定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应用例子</vt:lpstr>
      <vt:lpstr>类平均法</vt:lpstr>
      <vt:lpstr>第五节 动态聚类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二、选择凝聚点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最优分割法的计算步骤</vt:lpstr>
      <vt:lpstr>PowerPoint 演示文稿</vt:lpstr>
      <vt:lpstr>2、定义分类的损失函数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若分类数k是已知的，求分类法p(n,k)，使它在损失函数意义下达到最小，其求法如下：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6HGBYM2</dc:creator>
  <cp:lastModifiedBy>233</cp:lastModifiedBy>
  <cp:revision>174</cp:revision>
  <dcterms:created xsi:type="dcterms:W3CDTF">2024-11-08T06:31:19Z</dcterms:created>
  <dcterms:modified xsi:type="dcterms:W3CDTF">2024-11-08T06:31:19Z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348E89506646103C2027206721C52CE0_42</vt:lpwstr>
  </property>
</Properties>
</file>