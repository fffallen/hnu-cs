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8"/>
  </p:notesMasterIdLst>
  <p:sldIdLst>
    <p:sldId id="284" r:id="rId3"/>
    <p:sldId id="347" r:id="rId4"/>
    <p:sldId id="348" r:id="rId5"/>
    <p:sldId id="349" r:id="rId6"/>
    <p:sldId id="350" r:id="rId7"/>
    <p:sldId id="459" r:id="rId8"/>
    <p:sldId id="703" r:id="rId9"/>
    <p:sldId id="727" r:id="rId10"/>
    <p:sldId id="728" r:id="rId11"/>
    <p:sldId id="731" r:id="rId12"/>
    <p:sldId id="732" r:id="rId13"/>
    <p:sldId id="740" r:id="rId14"/>
    <p:sldId id="770" r:id="rId15"/>
    <p:sldId id="741" r:id="rId16"/>
    <p:sldId id="733" r:id="rId17"/>
    <p:sldId id="734" r:id="rId18"/>
    <p:sldId id="735" r:id="rId19"/>
    <p:sldId id="771" r:id="rId20"/>
    <p:sldId id="772" r:id="rId21"/>
    <p:sldId id="773" r:id="rId22"/>
    <p:sldId id="736" r:id="rId23"/>
    <p:sldId id="781" r:id="rId24"/>
    <p:sldId id="782" r:id="rId25"/>
    <p:sldId id="777" r:id="rId26"/>
    <p:sldId id="737" r:id="rId27"/>
    <p:sldId id="738" r:id="rId28"/>
    <p:sldId id="739" r:id="rId29"/>
    <p:sldId id="743" r:id="rId30"/>
    <p:sldId id="783" r:id="rId31"/>
    <p:sldId id="744" r:id="rId32"/>
    <p:sldId id="768" r:id="rId33"/>
    <p:sldId id="767" r:id="rId34"/>
    <p:sldId id="745" r:id="rId35"/>
    <p:sldId id="746" r:id="rId36"/>
    <p:sldId id="747" r:id="rId37"/>
    <p:sldId id="778" r:id="rId38"/>
    <p:sldId id="748" r:id="rId39"/>
    <p:sldId id="749" r:id="rId40"/>
    <p:sldId id="750" r:id="rId41"/>
    <p:sldId id="751" r:id="rId42"/>
    <p:sldId id="752" r:id="rId43"/>
    <p:sldId id="780" r:id="rId44"/>
    <p:sldId id="779" r:id="rId45"/>
    <p:sldId id="351" r:id="rId46"/>
    <p:sldId id="352" r:id="rId47"/>
    <p:sldId id="353" r:id="rId48"/>
    <p:sldId id="354" r:id="rId49"/>
    <p:sldId id="355" r:id="rId50"/>
    <p:sldId id="356" r:id="rId51"/>
    <p:sldId id="457" r:id="rId52"/>
    <p:sldId id="358" r:id="rId53"/>
    <p:sldId id="456" r:id="rId54"/>
    <p:sldId id="359" r:id="rId55"/>
    <p:sldId id="360" r:id="rId56"/>
    <p:sldId id="408" r:id="rId57"/>
    <p:sldId id="540" r:id="rId58"/>
    <p:sldId id="560" r:id="rId59"/>
    <p:sldId id="561" r:id="rId60"/>
    <p:sldId id="562" r:id="rId61"/>
    <p:sldId id="563" r:id="rId62"/>
    <p:sldId id="362" r:id="rId63"/>
    <p:sldId id="363" r:id="rId64"/>
    <p:sldId id="361" r:id="rId65"/>
    <p:sldId id="785" r:id="rId66"/>
    <p:sldId id="414" r:id="rId67"/>
    <p:sldId id="415" r:id="rId68"/>
    <p:sldId id="787" r:id="rId69"/>
    <p:sldId id="786" r:id="rId70"/>
    <p:sldId id="364" r:id="rId71"/>
    <p:sldId id="365" r:id="rId72"/>
    <p:sldId id="366" r:id="rId73"/>
    <p:sldId id="367" r:id="rId74"/>
    <p:sldId id="368" r:id="rId75"/>
    <p:sldId id="789" r:id="rId76"/>
    <p:sldId id="790" r:id="rId77"/>
    <p:sldId id="369" r:id="rId78"/>
    <p:sldId id="371" r:id="rId79"/>
    <p:sldId id="372" r:id="rId80"/>
    <p:sldId id="373" r:id="rId81"/>
    <p:sldId id="374" r:id="rId82"/>
    <p:sldId id="375" r:id="rId83"/>
    <p:sldId id="376" r:id="rId84"/>
    <p:sldId id="659" r:id="rId85"/>
    <p:sldId id="377" r:id="rId86"/>
    <p:sldId id="788" r:id="rId87"/>
  </p:sldIdLst>
  <p:sldSz cx="12192000" cy="6858000"/>
  <p:notesSz cx="7103745" cy="10234295"/>
  <p:custDataLst>
    <p:tags r:id="rId9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33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74" d="100"/>
          <a:sy n="74" d="100"/>
        </p:scale>
        <p:origin x="15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2" Type="http://schemas.openxmlformats.org/officeDocument/2006/relationships/tags" Target="tags/tag4.xml"/><Relationship Id="rId91" Type="http://schemas.openxmlformats.org/officeDocument/2006/relationships/tableStyles" Target="tableStyles.xml"/><Relationship Id="rId90" Type="http://schemas.openxmlformats.org/officeDocument/2006/relationships/viewProps" Target="viewProps.xml"/><Relationship Id="rId9" Type="http://schemas.openxmlformats.org/officeDocument/2006/relationships/slide" Target="slides/slide7.xml"/><Relationship Id="rId89" Type="http://schemas.openxmlformats.org/officeDocument/2006/relationships/presProps" Target="presProps.xml"/><Relationship Id="rId88" Type="http://schemas.openxmlformats.org/officeDocument/2006/relationships/notesMaster" Target="notesMasters/notesMaster1.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image" Target="../media/image6.e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image" Target="../media/image11.e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emf"/><Relationship Id="rId1" Type="http://schemas.openxmlformats.org/officeDocument/2006/relationships/image" Target="../media/image14.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image" Target="../media/image17.emf"/></Relationships>
</file>

<file path=ppt/drawings/_rels/vmlDrawing6.vml.rels><?xml version="1.0" encoding="UTF-8" standalone="yes"?>
<Relationships xmlns="http://schemas.openxmlformats.org/package/2006/relationships"><Relationship Id="rId4" Type="http://schemas.openxmlformats.org/officeDocument/2006/relationships/image" Target="../media/image22.emf"/><Relationship Id="rId3" Type="http://schemas.openxmlformats.org/officeDocument/2006/relationships/image" Target="../media/image21.emf"/><Relationship Id="rId2" Type="http://schemas.openxmlformats.org/officeDocument/2006/relationships/image" Target="../media/image20.emf"/><Relationship Id="rId1" Type="http://schemas.openxmlformats.org/officeDocument/2006/relationships/image" Target="../media/image19.emf"/></Relationships>
</file>

<file path=ppt/drawings/_rels/vmlDrawing7.vml.rels><?xml version="1.0" encoding="UTF-8" standalone="yes"?>
<Relationships xmlns="http://schemas.openxmlformats.org/package/2006/relationships"><Relationship Id="rId5" Type="http://schemas.openxmlformats.org/officeDocument/2006/relationships/image" Target="../media/image27.emf"/><Relationship Id="rId4" Type="http://schemas.openxmlformats.org/officeDocument/2006/relationships/image" Target="../media/image26.emf"/><Relationship Id="rId3" Type="http://schemas.openxmlformats.org/officeDocument/2006/relationships/image" Target="../media/image25.emf"/><Relationship Id="rId2" Type="http://schemas.openxmlformats.org/officeDocument/2006/relationships/image" Target="../media/image24.emf"/><Relationship Id="rId1" Type="http://schemas.openxmlformats.org/officeDocument/2006/relationships/image" Target="../media/image23.emf"/></Relationships>
</file>

<file path=ppt/drawings/_rels/vmlDrawing8.vml.rels><?xml version="1.0" encoding="UTF-8" standalone="yes"?>
<Relationships xmlns="http://schemas.openxmlformats.org/package/2006/relationships"><Relationship Id="rId4" Type="http://schemas.openxmlformats.org/officeDocument/2006/relationships/image" Target="../media/image31.emf"/><Relationship Id="rId3" Type="http://schemas.openxmlformats.org/officeDocument/2006/relationships/image" Target="../media/image30.emf"/><Relationship Id="rId2" Type="http://schemas.openxmlformats.org/officeDocument/2006/relationships/image" Target="../media/image29.emf"/><Relationship Id="rId1" Type="http://schemas.openxmlformats.org/officeDocument/2006/relationships/image" Target="../media/image28.emf"/></Relationships>
</file>

<file path=ppt/drawings/_rels/vmlDrawing9.vml.rels><?xml version="1.0" encoding="UTF-8" standalone="yes"?>
<Relationships xmlns="http://schemas.openxmlformats.org/package/2006/relationships"><Relationship Id="rId4" Type="http://schemas.openxmlformats.org/officeDocument/2006/relationships/image" Target="../media/image35.emf"/><Relationship Id="rId3" Type="http://schemas.openxmlformats.org/officeDocument/2006/relationships/image" Target="../media/image34.emf"/><Relationship Id="rId2" Type="http://schemas.openxmlformats.org/officeDocument/2006/relationships/image" Target="../media/image33.emf"/><Relationship Id="rId1" Type="http://schemas.openxmlformats.org/officeDocument/2006/relationships/image" Target="../media/image32.e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image" Target="../media/image37.emf"/><Relationship Id="rId1" Type="http://schemas.openxmlformats.org/officeDocument/2006/relationships/image" Target="../media/image36.e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image" Target="../media/image39.wmf"/></Relationships>
</file>

<file path=ppt/drawings/_rels/vmlDrawing12.vml.rels><?xml version="1.0" encoding="UTF-8" standalone="yes"?>
<Relationships xmlns="http://schemas.openxmlformats.org/package/2006/relationships"><Relationship Id="rId9" Type="http://schemas.openxmlformats.org/officeDocument/2006/relationships/image" Target="../media/image49.emf"/><Relationship Id="rId8" Type="http://schemas.openxmlformats.org/officeDocument/2006/relationships/image" Target="../media/image48.emf"/><Relationship Id="rId7" Type="http://schemas.openxmlformats.org/officeDocument/2006/relationships/image" Target="../media/image47.emf"/><Relationship Id="rId6" Type="http://schemas.openxmlformats.org/officeDocument/2006/relationships/image" Target="../media/image46.emf"/><Relationship Id="rId5" Type="http://schemas.openxmlformats.org/officeDocument/2006/relationships/image" Target="../media/image45.emf"/><Relationship Id="rId4" Type="http://schemas.openxmlformats.org/officeDocument/2006/relationships/image" Target="../media/image44.wmf"/><Relationship Id="rId3" Type="http://schemas.openxmlformats.org/officeDocument/2006/relationships/image" Target="../media/image43.emf"/><Relationship Id="rId2" Type="http://schemas.openxmlformats.org/officeDocument/2006/relationships/image" Target="../media/image42.emf"/><Relationship Id="rId10" Type="http://schemas.openxmlformats.org/officeDocument/2006/relationships/image" Target="../media/image50.emf"/><Relationship Id="rId1" Type="http://schemas.openxmlformats.org/officeDocument/2006/relationships/image" Target="../media/image41.emf"/></Relationships>
</file>

<file path=ppt/drawings/_rels/vmlDrawing13.vml.rels><?xml version="1.0" encoding="UTF-8" standalone="yes"?>
<Relationships xmlns="http://schemas.openxmlformats.org/package/2006/relationships"><Relationship Id="rId6" Type="http://schemas.openxmlformats.org/officeDocument/2006/relationships/image" Target="../media/image56.wmf"/><Relationship Id="rId5" Type="http://schemas.openxmlformats.org/officeDocument/2006/relationships/image" Target="../media/image55.emf"/><Relationship Id="rId4" Type="http://schemas.openxmlformats.org/officeDocument/2006/relationships/image" Target="../media/image54.emf"/><Relationship Id="rId3" Type="http://schemas.openxmlformats.org/officeDocument/2006/relationships/image" Target="../media/image53.emf"/><Relationship Id="rId2" Type="http://schemas.openxmlformats.org/officeDocument/2006/relationships/image" Target="../media/image52.emf"/><Relationship Id="rId1" Type="http://schemas.openxmlformats.org/officeDocument/2006/relationships/image" Target="../media/image51.emf"/></Relationships>
</file>

<file path=ppt/drawings/_rels/vmlDrawing14.vml.rels><?xml version="1.0" encoding="UTF-8" standalone="yes"?>
<Relationships xmlns="http://schemas.openxmlformats.org/package/2006/relationships"><Relationship Id="rId5" Type="http://schemas.openxmlformats.org/officeDocument/2006/relationships/image" Target="../media/image61.emf"/><Relationship Id="rId4" Type="http://schemas.openxmlformats.org/officeDocument/2006/relationships/image" Target="../media/image60.emf"/><Relationship Id="rId3" Type="http://schemas.openxmlformats.org/officeDocument/2006/relationships/image" Target="../media/image59.emf"/><Relationship Id="rId2" Type="http://schemas.openxmlformats.org/officeDocument/2006/relationships/image" Target="../media/image58.emf"/><Relationship Id="rId1" Type="http://schemas.openxmlformats.org/officeDocument/2006/relationships/image" Target="../media/image57.emf"/></Relationships>
</file>

<file path=ppt/drawings/_rels/vmlDrawing15.vml.rels><?xml version="1.0" encoding="UTF-8" standalone="yes"?>
<Relationships xmlns="http://schemas.openxmlformats.org/package/2006/relationships"><Relationship Id="rId4" Type="http://schemas.openxmlformats.org/officeDocument/2006/relationships/image" Target="../media/image65.wmf"/><Relationship Id="rId3" Type="http://schemas.openxmlformats.org/officeDocument/2006/relationships/image" Target="../media/image64.emf"/><Relationship Id="rId2" Type="http://schemas.openxmlformats.org/officeDocument/2006/relationships/image" Target="../media/image63.emf"/><Relationship Id="rId1" Type="http://schemas.openxmlformats.org/officeDocument/2006/relationships/image" Target="../media/image62.emf"/></Relationships>
</file>

<file path=ppt/drawings/_rels/vmlDrawing16.vml.rels><?xml version="1.0" encoding="UTF-8" standalone="yes"?>
<Relationships xmlns="http://schemas.openxmlformats.org/package/2006/relationships"><Relationship Id="rId5" Type="http://schemas.openxmlformats.org/officeDocument/2006/relationships/image" Target="../media/image70.emf"/><Relationship Id="rId4" Type="http://schemas.openxmlformats.org/officeDocument/2006/relationships/image" Target="../media/image69.emf"/><Relationship Id="rId3" Type="http://schemas.openxmlformats.org/officeDocument/2006/relationships/image" Target="../media/image68.emf"/><Relationship Id="rId2" Type="http://schemas.openxmlformats.org/officeDocument/2006/relationships/image" Target="../media/image67.emf"/><Relationship Id="rId1" Type="http://schemas.openxmlformats.org/officeDocument/2006/relationships/image" Target="../media/image66.emf"/></Relationships>
</file>

<file path=ppt/drawings/_rels/vmlDrawing17.vml.rels><?xml version="1.0" encoding="UTF-8" standalone="yes"?>
<Relationships xmlns="http://schemas.openxmlformats.org/package/2006/relationships"><Relationship Id="rId6" Type="http://schemas.openxmlformats.org/officeDocument/2006/relationships/image" Target="../media/image76.emf"/><Relationship Id="rId5" Type="http://schemas.openxmlformats.org/officeDocument/2006/relationships/image" Target="../media/image75.emf"/><Relationship Id="rId4" Type="http://schemas.openxmlformats.org/officeDocument/2006/relationships/image" Target="../media/image74.emf"/><Relationship Id="rId3" Type="http://schemas.openxmlformats.org/officeDocument/2006/relationships/image" Target="../media/image73.emf"/><Relationship Id="rId2" Type="http://schemas.openxmlformats.org/officeDocument/2006/relationships/image" Target="../media/image72.emf"/><Relationship Id="rId1" Type="http://schemas.openxmlformats.org/officeDocument/2006/relationships/image" Target="../media/image71.emf"/></Relationships>
</file>

<file path=ppt/drawings/_rels/vmlDrawing18.vml.rels><?xml version="1.0" encoding="UTF-8" standalone="yes"?>
<Relationships xmlns="http://schemas.openxmlformats.org/package/2006/relationships"><Relationship Id="rId5" Type="http://schemas.openxmlformats.org/officeDocument/2006/relationships/image" Target="../media/image81.emf"/><Relationship Id="rId4" Type="http://schemas.openxmlformats.org/officeDocument/2006/relationships/image" Target="../media/image80.emf"/><Relationship Id="rId3" Type="http://schemas.openxmlformats.org/officeDocument/2006/relationships/image" Target="../media/image79.emf"/><Relationship Id="rId2" Type="http://schemas.openxmlformats.org/officeDocument/2006/relationships/image" Target="../media/image78.wmf"/><Relationship Id="rId1" Type="http://schemas.openxmlformats.org/officeDocument/2006/relationships/image" Target="../media/image77.emf"/></Relationships>
</file>

<file path=ppt/drawings/_rels/vmlDrawing19.vml.rels><?xml version="1.0" encoding="UTF-8" standalone="yes"?>
<Relationships xmlns="http://schemas.openxmlformats.org/package/2006/relationships"><Relationship Id="rId6" Type="http://schemas.openxmlformats.org/officeDocument/2006/relationships/image" Target="../media/image87.wmf"/><Relationship Id="rId5" Type="http://schemas.openxmlformats.org/officeDocument/2006/relationships/image" Target="../media/image86.wmf"/><Relationship Id="rId4" Type="http://schemas.openxmlformats.org/officeDocument/2006/relationships/image" Target="../media/image85.wmf"/><Relationship Id="rId3" Type="http://schemas.openxmlformats.org/officeDocument/2006/relationships/image" Target="../media/image84.wmf"/><Relationship Id="rId2" Type="http://schemas.openxmlformats.org/officeDocument/2006/relationships/image" Target="../media/image83.wmf"/><Relationship Id="rId1" Type="http://schemas.openxmlformats.org/officeDocument/2006/relationships/image" Target="../media/image82.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90.emf"/><Relationship Id="rId2" Type="http://schemas.openxmlformats.org/officeDocument/2006/relationships/image" Target="../media/image89.emf"/><Relationship Id="rId1" Type="http://schemas.openxmlformats.org/officeDocument/2006/relationships/image" Target="../media/image88.emf"/></Relationships>
</file>

<file path=ppt/drawings/_rels/vmlDrawing21.vml.rels><?xml version="1.0" encoding="UTF-8" standalone="yes"?>
<Relationships xmlns="http://schemas.openxmlformats.org/package/2006/relationships"><Relationship Id="rId5" Type="http://schemas.openxmlformats.org/officeDocument/2006/relationships/image" Target="../media/image95.emf"/><Relationship Id="rId4" Type="http://schemas.openxmlformats.org/officeDocument/2006/relationships/image" Target="../media/image94.emf"/><Relationship Id="rId3" Type="http://schemas.openxmlformats.org/officeDocument/2006/relationships/image" Target="../media/image93.emf"/><Relationship Id="rId2" Type="http://schemas.openxmlformats.org/officeDocument/2006/relationships/image" Target="../media/image92.emf"/><Relationship Id="rId1" Type="http://schemas.openxmlformats.org/officeDocument/2006/relationships/image" Target="../media/image91.e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99.emf"/><Relationship Id="rId2" Type="http://schemas.openxmlformats.org/officeDocument/2006/relationships/image" Target="../media/image98.emf"/><Relationship Id="rId1" Type="http://schemas.openxmlformats.org/officeDocument/2006/relationships/image" Target="../media/image96.e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102.emf"/><Relationship Id="rId2" Type="http://schemas.openxmlformats.org/officeDocument/2006/relationships/image" Target="../media/image101.wmf"/><Relationship Id="rId1" Type="http://schemas.openxmlformats.org/officeDocument/2006/relationships/image" Target="../media/image100.emf"/></Relationships>
</file>

<file path=ppt/drawings/_rels/vmlDrawing24.vml.rels><?xml version="1.0" encoding="UTF-8" standalone="yes"?>
<Relationships xmlns="http://schemas.openxmlformats.org/package/2006/relationships"><Relationship Id="rId5" Type="http://schemas.openxmlformats.org/officeDocument/2006/relationships/image" Target="../media/image107.wmf"/><Relationship Id="rId4" Type="http://schemas.openxmlformats.org/officeDocument/2006/relationships/image" Target="../media/image106.emf"/><Relationship Id="rId3" Type="http://schemas.openxmlformats.org/officeDocument/2006/relationships/image" Target="../media/image105.emf"/><Relationship Id="rId2" Type="http://schemas.openxmlformats.org/officeDocument/2006/relationships/image" Target="../media/image104.emf"/><Relationship Id="rId1" Type="http://schemas.openxmlformats.org/officeDocument/2006/relationships/image" Target="../media/image103.e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111.emf"/><Relationship Id="rId2" Type="http://schemas.openxmlformats.org/officeDocument/2006/relationships/image" Target="../media/image110.emf"/><Relationship Id="rId1" Type="http://schemas.openxmlformats.org/officeDocument/2006/relationships/image" Target="../media/image109.emf"/></Relationships>
</file>

<file path=ppt/drawings/_rels/vmlDrawing26.vml.rels><?xml version="1.0" encoding="UTF-8" standalone="yes"?>
<Relationships xmlns="http://schemas.openxmlformats.org/package/2006/relationships"><Relationship Id="rId2" Type="http://schemas.openxmlformats.org/officeDocument/2006/relationships/image" Target="../media/image113.wmf"/><Relationship Id="rId1" Type="http://schemas.openxmlformats.org/officeDocument/2006/relationships/image" Target="../media/image112.emf"/></Relationships>
</file>

<file path=ppt/drawings/_rels/vmlDrawing27.vml.rels><?xml version="1.0" encoding="UTF-8" standalone="yes"?>
<Relationships xmlns="http://schemas.openxmlformats.org/package/2006/relationships"><Relationship Id="rId9" Type="http://schemas.openxmlformats.org/officeDocument/2006/relationships/image" Target="../media/image122.wmf"/><Relationship Id="rId8" Type="http://schemas.openxmlformats.org/officeDocument/2006/relationships/image" Target="../media/image121.emf"/><Relationship Id="rId7" Type="http://schemas.openxmlformats.org/officeDocument/2006/relationships/image" Target="../media/image120.wmf"/><Relationship Id="rId6" Type="http://schemas.openxmlformats.org/officeDocument/2006/relationships/image" Target="../media/image119.emf"/><Relationship Id="rId5" Type="http://schemas.openxmlformats.org/officeDocument/2006/relationships/image" Target="../media/image118.emf"/><Relationship Id="rId4" Type="http://schemas.openxmlformats.org/officeDocument/2006/relationships/image" Target="../media/image117.wmf"/><Relationship Id="rId3" Type="http://schemas.openxmlformats.org/officeDocument/2006/relationships/image" Target="../media/image116.wmf"/><Relationship Id="rId2" Type="http://schemas.openxmlformats.org/officeDocument/2006/relationships/image" Target="../media/image115.wmf"/><Relationship Id="rId1" Type="http://schemas.openxmlformats.org/officeDocument/2006/relationships/image" Target="../media/image114.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123.e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126.emf"/><Relationship Id="rId2" Type="http://schemas.openxmlformats.org/officeDocument/2006/relationships/image" Target="../media/image125.emf"/><Relationship Id="rId1" Type="http://schemas.openxmlformats.org/officeDocument/2006/relationships/image" Target="../media/image124.emf"/></Relationships>
</file>

<file path=ppt/drawings/_rels/vmlDrawing30.vml.rels><?xml version="1.0" encoding="UTF-8" standalone="yes"?>
<Relationships xmlns="http://schemas.openxmlformats.org/package/2006/relationships"><Relationship Id="rId5" Type="http://schemas.openxmlformats.org/officeDocument/2006/relationships/image" Target="../media/image131.emf"/><Relationship Id="rId4" Type="http://schemas.openxmlformats.org/officeDocument/2006/relationships/image" Target="../media/image130.emf"/><Relationship Id="rId3" Type="http://schemas.openxmlformats.org/officeDocument/2006/relationships/image" Target="../media/image129.emf"/><Relationship Id="rId2" Type="http://schemas.openxmlformats.org/officeDocument/2006/relationships/image" Target="../media/image128.emf"/><Relationship Id="rId1" Type="http://schemas.openxmlformats.org/officeDocument/2006/relationships/image" Target="../media/image127.emf"/></Relationships>
</file>

<file path=ppt/drawings/_rels/vmlDrawing31.vml.rels><?xml version="1.0" encoding="UTF-8" standalone="yes"?>
<Relationships xmlns="http://schemas.openxmlformats.org/package/2006/relationships"><Relationship Id="rId5" Type="http://schemas.openxmlformats.org/officeDocument/2006/relationships/image" Target="../media/image136.wmf"/><Relationship Id="rId4" Type="http://schemas.openxmlformats.org/officeDocument/2006/relationships/image" Target="../media/image135.emf"/><Relationship Id="rId3" Type="http://schemas.openxmlformats.org/officeDocument/2006/relationships/image" Target="../media/image134.emf"/><Relationship Id="rId2" Type="http://schemas.openxmlformats.org/officeDocument/2006/relationships/image" Target="../media/image133.emf"/><Relationship Id="rId1" Type="http://schemas.openxmlformats.org/officeDocument/2006/relationships/image" Target="../media/image132.emf"/></Relationships>
</file>

<file path=ppt/drawings/_rels/vmlDrawing32.vml.rels><?xml version="1.0" encoding="UTF-8" standalone="yes"?>
<Relationships xmlns="http://schemas.openxmlformats.org/package/2006/relationships"><Relationship Id="rId5" Type="http://schemas.openxmlformats.org/officeDocument/2006/relationships/image" Target="../media/image141.emf"/><Relationship Id="rId4" Type="http://schemas.openxmlformats.org/officeDocument/2006/relationships/image" Target="../media/image140.emf"/><Relationship Id="rId3" Type="http://schemas.openxmlformats.org/officeDocument/2006/relationships/image" Target="../media/image139.emf"/><Relationship Id="rId2" Type="http://schemas.openxmlformats.org/officeDocument/2006/relationships/image" Target="../media/image138.emf"/><Relationship Id="rId1" Type="http://schemas.openxmlformats.org/officeDocument/2006/relationships/image" Target="../media/image137.emf"/></Relationships>
</file>

<file path=ppt/drawings/_rels/vmlDrawing33.vml.rels><?xml version="1.0" encoding="UTF-8" standalone="yes"?>
<Relationships xmlns="http://schemas.openxmlformats.org/package/2006/relationships"><Relationship Id="rId6" Type="http://schemas.openxmlformats.org/officeDocument/2006/relationships/image" Target="../media/image147.emf"/><Relationship Id="rId5" Type="http://schemas.openxmlformats.org/officeDocument/2006/relationships/image" Target="../media/image146.emf"/><Relationship Id="rId4" Type="http://schemas.openxmlformats.org/officeDocument/2006/relationships/image" Target="../media/image145.emf"/><Relationship Id="rId3" Type="http://schemas.openxmlformats.org/officeDocument/2006/relationships/image" Target="../media/image144.wmf"/><Relationship Id="rId2" Type="http://schemas.openxmlformats.org/officeDocument/2006/relationships/image" Target="../media/image143.emf"/><Relationship Id="rId1" Type="http://schemas.openxmlformats.org/officeDocument/2006/relationships/image" Target="../media/image142.emf"/></Relationships>
</file>

<file path=ppt/drawings/_rels/vmlDrawing34.vml.rels><?xml version="1.0" encoding="UTF-8" standalone="yes"?>
<Relationships xmlns="http://schemas.openxmlformats.org/package/2006/relationships"><Relationship Id="rId7" Type="http://schemas.openxmlformats.org/officeDocument/2006/relationships/image" Target="../media/image155.wmf"/><Relationship Id="rId6" Type="http://schemas.openxmlformats.org/officeDocument/2006/relationships/image" Target="../media/image154.emf"/><Relationship Id="rId5" Type="http://schemas.openxmlformats.org/officeDocument/2006/relationships/image" Target="../media/image153.wmf"/><Relationship Id="rId4" Type="http://schemas.openxmlformats.org/officeDocument/2006/relationships/image" Target="../media/image152.wmf"/><Relationship Id="rId3" Type="http://schemas.openxmlformats.org/officeDocument/2006/relationships/image" Target="../media/image151.wmf"/><Relationship Id="rId2" Type="http://schemas.openxmlformats.org/officeDocument/2006/relationships/image" Target="../media/image150.wmf"/><Relationship Id="rId1" Type="http://schemas.openxmlformats.org/officeDocument/2006/relationships/image" Target="../media/image149.w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156.wmf"/></Relationships>
</file>

<file path=ppt/drawings/_rels/vmlDrawing36.vml.rels><?xml version="1.0" encoding="UTF-8" standalone="yes"?>
<Relationships xmlns="http://schemas.openxmlformats.org/package/2006/relationships"><Relationship Id="rId2" Type="http://schemas.openxmlformats.org/officeDocument/2006/relationships/image" Target="../media/image158.wmf"/><Relationship Id="rId1" Type="http://schemas.openxmlformats.org/officeDocument/2006/relationships/image" Target="../media/image157.wmf"/></Relationships>
</file>

<file path=ppt/drawings/_rels/vmlDrawing37.vml.rels><?xml version="1.0" encoding="UTF-8" standalone="yes"?>
<Relationships xmlns="http://schemas.openxmlformats.org/package/2006/relationships"><Relationship Id="rId2" Type="http://schemas.openxmlformats.org/officeDocument/2006/relationships/image" Target="../media/image160.wmf"/><Relationship Id="rId1" Type="http://schemas.openxmlformats.org/officeDocument/2006/relationships/image" Target="../media/image159.wmf"/></Relationships>
</file>

<file path=ppt/drawings/_rels/vmlDrawing38.vml.rels><?xml version="1.0" encoding="UTF-8" standalone="yes"?>
<Relationships xmlns="http://schemas.openxmlformats.org/package/2006/relationships"><Relationship Id="rId2" Type="http://schemas.openxmlformats.org/officeDocument/2006/relationships/image" Target="../media/image162.wmf"/><Relationship Id="rId1" Type="http://schemas.openxmlformats.org/officeDocument/2006/relationships/image" Target="../media/image161.w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163.w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164.wmf"/></Relationships>
</file>

<file path=ppt/drawings/_rels/vmlDrawing41.vml.rels><?xml version="1.0" encoding="UTF-8" standalone="yes"?>
<Relationships xmlns="http://schemas.openxmlformats.org/package/2006/relationships"><Relationship Id="rId5" Type="http://schemas.openxmlformats.org/officeDocument/2006/relationships/image" Target="../media/image169.wmf"/><Relationship Id="rId4" Type="http://schemas.openxmlformats.org/officeDocument/2006/relationships/image" Target="../media/image168.wmf"/><Relationship Id="rId3" Type="http://schemas.openxmlformats.org/officeDocument/2006/relationships/image" Target="../media/image167.wmf"/><Relationship Id="rId2" Type="http://schemas.openxmlformats.org/officeDocument/2006/relationships/image" Target="../media/image166.wmf"/><Relationship Id="rId1" Type="http://schemas.openxmlformats.org/officeDocument/2006/relationships/image" Target="../media/image165.wmf"/></Relationships>
</file>

<file path=ppt/drawings/_rels/vmlDrawing42.vml.rels><?xml version="1.0" encoding="UTF-8" standalone="yes"?>
<Relationships xmlns="http://schemas.openxmlformats.org/package/2006/relationships"><Relationship Id="rId5" Type="http://schemas.openxmlformats.org/officeDocument/2006/relationships/image" Target="../media/image175.wmf"/><Relationship Id="rId4" Type="http://schemas.openxmlformats.org/officeDocument/2006/relationships/image" Target="../media/image174.wmf"/><Relationship Id="rId3" Type="http://schemas.openxmlformats.org/officeDocument/2006/relationships/image" Target="../media/image173.wmf"/><Relationship Id="rId2" Type="http://schemas.openxmlformats.org/officeDocument/2006/relationships/image" Target="../media/image172.wmf"/><Relationship Id="rId1" Type="http://schemas.openxmlformats.org/officeDocument/2006/relationships/image" Target="../media/image171.wmf"/></Relationships>
</file>

<file path=ppt/drawings/_rels/vmlDrawing43.vml.rels><?xml version="1.0" encoding="UTF-8" standalone="yes"?>
<Relationships xmlns="http://schemas.openxmlformats.org/package/2006/relationships"><Relationship Id="rId3" Type="http://schemas.openxmlformats.org/officeDocument/2006/relationships/image" Target="../media/image178.wmf"/><Relationship Id="rId2" Type="http://schemas.openxmlformats.org/officeDocument/2006/relationships/image" Target="../media/image177.wmf"/><Relationship Id="rId1" Type="http://schemas.openxmlformats.org/officeDocument/2006/relationships/image" Target="../media/image176.wmf"/></Relationships>
</file>

<file path=ppt/drawings/_rels/vmlDrawing44.vml.rels><?xml version="1.0" encoding="UTF-8" standalone="yes"?>
<Relationships xmlns="http://schemas.openxmlformats.org/package/2006/relationships"><Relationship Id="rId4" Type="http://schemas.openxmlformats.org/officeDocument/2006/relationships/image" Target="../media/image182.wmf"/><Relationship Id="rId3" Type="http://schemas.openxmlformats.org/officeDocument/2006/relationships/image" Target="../media/image181.wmf"/><Relationship Id="rId2" Type="http://schemas.openxmlformats.org/officeDocument/2006/relationships/image" Target="../media/image180.wmf"/><Relationship Id="rId1" Type="http://schemas.openxmlformats.org/officeDocument/2006/relationships/image" Target="../media/image179.wmf"/></Relationships>
</file>

<file path=ppt/drawings/_rels/vmlDrawing45.vml.rels><?xml version="1.0" encoding="UTF-8" standalone="yes"?>
<Relationships xmlns="http://schemas.openxmlformats.org/package/2006/relationships"><Relationship Id="rId2" Type="http://schemas.openxmlformats.org/officeDocument/2006/relationships/image" Target="../media/image184.wmf"/><Relationship Id="rId1" Type="http://schemas.openxmlformats.org/officeDocument/2006/relationships/image" Target="../media/image183.wmf"/></Relationships>
</file>

<file path=ppt/drawings/_rels/vmlDrawing46.vml.rels><?xml version="1.0" encoding="UTF-8" standalone="yes"?>
<Relationships xmlns="http://schemas.openxmlformats.org/package/2006/relationships"><Relationship Id="rId2" Type="http://schemas.openxmlformats.org/officeDocument/2006/relationships/image" Target="../media/image186.wmf"/><Relationship Id="rId1" Type="http://schemas.openxmlformats.org/officeDocument/2006/relationships/image" Target="../media/image185.wmf"/></Relationships>
</file>

<file path=ppt/drawings/_rels/vmlDrawing47.vml.rels><?xml version="1.0" encoding="UTF-8" standalone="yes"?>
<Relationships xmlns="http://schemas.openxmlformats.org/package/2006/relationships"><Relationship Id="rId2" Type="http://schemas.openxmlformats.org/officeDocument/2006/relationships/image" Target="../media/image188.wmf"/><Relationship Id="rId1" Type="http://schemas.openxmlformats.org/officeDocument/2006/relationships/image" Target="../media/image187.wmf"/></Relationships>
</file>

<file path=ppt/drawings/_rels/vmlDrawing48.vml.rels><?xml version="1.0" encoding="UTF-8" standalone="yes"?>
<Relationships xmlns="http://schemas.openxmlformats.org/package/2006/relationships"><Relationship Id="rId3" Type="http://schemas.openxmlformats.org/officeDocument/2006/relationships/image" Target="../media/image191.wmf"/><Relationship Id="rId2" Type="http://schemas.openxmlformats.org/officeDocument/2006/relationships/image" Target="../media/image190.wmf"/><Relationship Id="rId1" Type="http://schemas.openxmlformats.org/officeDocument/2006/relationships/image" Target="../media/image189.wmf"/></Relationships>
</file>

<file path=ppt/drawings/_rels/vmlDrawing49.vml.rels><?xml version="1.0" encoding="UTF-8" standalone="yes"?>
<Relationships xmlns="http://schemas.openxmlformats.org/package/2006/relationships"><Relationship Id="rId3" Type="http://schemas.openxmlformats.org/officeDocument/2006/relationships/image" Target="../media/image194.wmf"/><Relationship Id="rId2" Type="http://schemas.openxmlformats.org/officeDocument/2006/relationships/image" Target="../media/image193.wmf"/><Relationship Id="rId1" Type="http://schemas.openxmlformats.org/officeDocument/2006/relationships/image" Target="../media/image192.wmf"/></Relationships>
</file>

<file path=ppt/drawings/_rels/vmlDrawing50.vml.rels><?xml version="1.0" encoding="UTF-8" standalone="yes"?>
<Relationships xmlns="http://schemas.openxmlformats.org/package/2006/relationships"><Relationship Id="rId1" Type="http://schemas.openxmlformats.org/officeDocument/2006/relationships/image" Target="../media/image195.wmf"/></Relationships>
</file>

<file path=ppt/drawings/_rels/vmlDrawing51.vml.rels><?xml version="1.0" encoding="UTF-8" standalone="yes"?>
<Relationships xmlns="http://schemas.openxmlformats.org/package/2006/relationships"><Relationship Id="rId6" Type="http://schemas.openxmlformats.org/officeDocument/2006/relationships/image" Target="../media/image202.wmf"/><Relationship Id="rId5" Type="http://schemas.openxmlformats.org/officeDocument/2006/relationships/image" Target="../media/image201.wmf"/><Relationship Id="rId4" Type="http://schemas.openxmlformats.org/officeDocument/2006/relationships/image" Target="../media/image200.wmf"/><Relationship Id="rId3" Type="http://schemas.openxmlformats.org/officeDocument/2006/relationships/image" Target="../media/image199.wmf"/><Relationship Id="rId2" Type="http://schemas.openxmlformats.org/officeDocument/2006/relationships/image" Target="../media/image198.wmf"/><Relationship Id="rId1" Type="http://schemas.openxmlformats.org/officeDocument/2006/relationships/image" Target="../media/image196.wmf"/></Relationships>
</file>

<file path=ppt/drawings/_rels/vmlDrawing52.vml.rels><?xml version="1.0" encoding="UTF-8" standalone="yes"?>
<Relationships xmlns="http://schemas.openxmlformats.org/package/2006/relationships"><Relationship Id="rId4" Type="http://schemas.openxmlformats.org/officeDocument/2006/relationships/image" Target="../media/image206.wmf"/><Relationship Id="rId3" Type="http://schemas.openxmlformats.org/officeDocument/2006/relationships/image" Target="../media/image205.wmf"/><Relationship Id="rId2" Type="http://schemas.openxmlformats.org/officeDocument/2006/relationships/image" Target="../media/image204.wmf"/><Relationship Id="rId1" Type="http://schemas.openxmlformats.org/officeDocument/2006/relationships/image" Target="../media/image203.wmf"/></Relationships>
</file>

<file path=ppt/drawings/_rels/vmlDrawing53.vml.rels><?xml version="1.0" encoding="UTF-8" standalone="yes"?>
<Relationships xmlns="http://schemas.openxmlformats.org/package/2006/relationships"><Relationship Id="rId4" Type="http://schemas.openxmlformats.org/officeDocument/2006/relationships/image" Target="../media/image210.wmf"/><Relationship Id="rId3" Type="http://schemas.openxmlformats.org/officeDocument/2006/relationships/image" Target="../media/image209.wmf"/><Relationship Id="rId2" Type="http://schemas.openxmlformats.org/officeDocument/2006/relationships/image" Target="../media/image208.wmf"/><Relationship Id="rId1" Type="http://schemas.openxmlformats.org/officeDocument/2006/relationships/image" Target="../media/image207.wmf"/></Relationships>
</file>

<file path=ppt/drawings/_rels/vmlDrawing54.vml.rels><?xml version="1.0" encoding="UTF-8" standalone="yes"?>
<Relationships xmlns="http://schemas.openxmlformats.org/package/2006/relationships"><Relationship Id="rId4" Type="http://schemas.openxmlformats.org/officeDocument/2006/relationships/image" Target="../media/image216.wmf"/><Relationship Id="rId3" Type="http://schemas.openxmlformats.org/officeDocument/2006/relationships/image" Target="../media/image215.wmf"/><Relationship Id="rId2" Type="http://schemas.openxmlformats.org/officeDocument/2006/relationships/image" Target="../media/image214.wmf"/><Relationship Id="rId1" Type="http://schemas.openxmlformats.org/officeDocument/2006/relationships/image" Target="../media/image213.wmf"/></Relationships>
</file>

<file path=ppt/drawings/_rels/vmlDrawing55.vml.rels><?xml version="1.0" encoding="UTF-8" standalone="yes"?>
<Relationships xmlns="http://schemas.openxmlformats.org/package/2006/relationships"><Relationship Id="rId1" Type="http://schemas.openxmlformats.org/officeDocument/2006/relationships/image" Target="../media/image217.wmf"/></Relationships>
</file>

<file path=ppt/drawings/_rels/vmlDrawing56.vml.rels><?xml version="1.0" encoding="UTF-8" standalone="yes"?>
<Relationships xmlns="http://schemas.openxmlformats.org/package/2006/relationships"><Relationship Id="rId5" Type="http://schemas.openxmlformats.org/officeDocument/2006/relationships/image" Target="../media/image222.wmf"/><Relationship Id="rId4" Type="http://schemas.openxmlformats.org/officeDocument/2006/relationships/image" Target="../media/image221.wmf"/><Relationship Id="rId3" Type="http://schemas.openxmlformats.org/officeDocument/2006/relationships/image" Target="../media/image220.wmf"/><Relationship Id="rId2" Type="http://schemas.openxmlformats.org/officeDocument/2006/relationships/image" Target="../media/image219.wmf"/><Relationship Id="rId1" Type="http://schemas.openxmlformats.org/officeDocument/2006/relationships/image" Target="../media/image218.wmf"/></Relationships>
</file>

<file path=ppt/drawings/_rels/vmlDrawing57.vml.rels><?xml version="1.0" encoding="UTF-8" standalone="yes"?>
<Relationships xmlns="http://schemas.openxmlformats.org/package/2006/relationships"><Relationship Id="rId1" Type="http://schemas.openxmlformats.org/officeDocument/2006/relationships/image" Target="../media/image224.wmf"/></Relationships>
</file>

<file path=ppt/drawings/_rels/vmlDrawing58.vml.rels><?xml version="1.0" encoding="UTF-8" standalone="yes"?>
<Relationships xmlns="http://schemas.openxmlformats.org/package/2006/relationships"><Relationship Id="rId2" Type="http://schemas.openxmlformats.org/officeDocument/2006/relationships/image" Target="../media/image226.wmf"/><Relationship Id="rId1" Type="http://schemas.openxmlformats.org/officeDocument/2006/relationships/image" Target="../media/image22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3812" y="0"/>
            <a:ext cx="3078290" cy="513492"/>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38863"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0375" y="4925254"/>
            <a:ext cx="5682996" cy="4029754"/>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0804"/>
            <a:ext cx="3078290" cy="513491"/>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3812" y="9720804"/>
            <a:ext cx="3078290" cy="513491"/>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8" name="任意多边形: 形状 7"/>
          <p:cNvSpPr/>
          <p:nvPr/>
        </p:nvSpPr>
        <p:spPr>
          <a:xfrm flipH="1">
            <a:off x="11286047" y="5948624"/>
            <a:ext cx="884255" cy="909376"/>
          </a:xfrm>
          <a:custGeom>
            <a:avLst/>
            <a:gdLst>
              <a:gd name="connsiteX0" fmla="*/ 346668 w 884255"/>
              <a:gd name="connsiteY0" fmla="*/ 0 h 909376"/>
              <a:gd name="connsiteX1" fmla="*/ 884255 w 884255"/>
              <a:gd name="connsiteY1" fmla="*/ 537587 h 909376"/>
              <a:gd name="connsiteX2" fmla="*/ 792444 w 884255"/>
              <a:gd name="connsiteY2" fmla="*/ 838157 h 909376"/>
              <a:gd name="connsiteX3" fmla="*/ 733683 w 884255"/>
              <a:gd name="connsiteY3" fmla="*/ 909376 h 909376"/>
              <a:gd name="connsiteX4" fmla="*/ 0 w 884255"/>
              <a:gd name="connsiteY4" fmla="*/ 909376 h 909376"/>
              <a:gd name="connsiteX5" fmla="*/ 0 w 884255"/>
              <a:gd name="connsiteY5" fmla="*/ 129846 h 909376"/>
              <a:gd name="connsiteX6" fmla="*/ 46098 w 884255"/>
              <a:gd name="connsiteY6" fmla="*/ 91812 h 909376"/>
              <a:gd name="connsiteX7" fmla="*/ 346668 w 884255"/>
              <a:gd name="connsiteY7" fmla="*/ 0 h 909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4255" h="909376">
                <a:moveTo>
                  <a:pt x="346668" y="0"/>
                </a:moveTo>
                <a:cubicBezTo>
                  <a:pt x="643569" y="0"/>
                  <a:pt x="884255" y="240686"/>
                  <a:pt x="884255" y="537587"/>
                </a:cubicBezTo>
                <a:cubicBezTo>
                  <a:pt x="884255" y="648925"/>
                  <a:pt x="850409" y="752358"/>
                  <a:pt x="792444" y="838157"/>
                </a:cubicBezTo>
                <a:lnTo>
                  <a:pt x="733683" y="909376"/>
                </a:lnTo>
                <a:lnTo>
                  <a:pt x="0" y="909376"/>
                </a:lnTo>
                <a:lnTo>
                  <a:pt x="0" y="129846"/>
                </a:lnTo>
                <a:lnTo>
                  <a:pt x="46098" y="91812"/>
                </a:lnTo>
                <a:cubicBezTo>
                  <a:pt x="131897" y="33847"/>
                  <a:pt x="235330" y="0"/>
                  <a:pt x="346668" y="0"/>
                </a:cubicBezTo>
                <a:close/>
              </a:path>
            </a:pathLst>
          </a:custGeom>
          <a:solidFill>
            <a:schemeClr val="accent1"/>
          </a:solidFill>
          <a:ln>
            <a:noFill/>
          </a:ln>
          <a:effectLst>
            <a:outerShdw blurRad="165100" dist="38100" dir="2700000" algn="tl" rotWithShape="0">
              <a:srgbClr val="2B579A">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350" dirty="0">
              <a:latin typeface="Arial" panose="020B0604020202090204" pitchFamily="34" charset="0"/>
              <a:ea typeface="微软雅黑" panose="020B0503020204020204" charset="-122"/>
            </a:endParaRPr>
          </a:p>
        </p:txBody>
      </p:sp>
      <p:sp>
        <p:nvSpPr>
          <p:cNvPr id="9" name="椭圆 8"/>
          <p:cNvSpPr/>
          <p:nvPr/>
        </p:nvSpPr>
        <p:spPr>
          <a:xfrm flipH="1">
            <a:off x="10200090" y="5551714"/>
            <a:ext cx="1306287" cy="1306286"/>
          </a:xfrm>
          <a:prstGeom prst="ellipse">
            <a:avLst/>
          </a:prstGeom>
          <a:solidFill>
            <a:schemeClr val="accent1">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Arial" panose="020B0604020202090204" pitchFamily="34" charset="0"/>
              <a:ea typeface="微软雅黑" panose="020B0503020204020204" charset="-122"/>
            </a:endParaRPr>
          </a:p>
        </p:txBody>
      </p:sp>
      <p:sp>
        <p:nvSpPr>
          <p:cNvPr id="10" name="椭圆 9"/>
          <p:cNvSpPr/>
          <p:nvPr/>
        </p:nvSpPr>
        <p:spPr>
          <a:xfrm flipH="1">
            <a:off x="11286047" y="5084467"/>
            <a:ext cx="633047" cy="633047"/>
          </a:xfrm>
          <a:prstGeom prst="ellipse">
            <a:avLst/>
          </a:prstGeom>
          <a:solidFill>
            <a:schemeClr val="accent1">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Arial" panose="020B0604020202090204" pitchFamily="34" charset="0"/>
              <a:ea typeface="微软雅黑" panose="020B0503020204020204" charset="-122"/>
            </a:endParaRPr>
          </a:p>
        </p:txBody>
      </p:sp>
      <p:sp>
        <p:nvSpPr>
          <p:cNvPr id="11" name="椭圆 10"/>
          <p:cNvSpPr/>
          <p:nvPr/>
        </p:nvSpPr>
        <p:spPr>
          <a:xfrm flipH="1">
            <a:off x="8941166" y="5948624"/>
            <a:ext cx="808156" cy="80815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Arial" panose="020B0604020202090204" pitchFamily="34" charset="0"/>
              <a:ea typeface="微软雅黑" panose="020B0503020204020204" charset="-122"/>
            </a:endParaRPr>
          </a:p>
        </p:txBody>
      </p:sp>
      <p:sp>
        <p:nvSpPr>
          <p:cNvPr id="12" name="椭圆 11"/>
          <p:cNvSpPr/>
          <p:nvPr/>
        </p:nvSpPr>
        <p:spPr>
          <a:xfrm flipH="1">
            <a:off x="9172527" y="4877188"/>
            <a:ext cx="633047" cy="63304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Arial" panose="020B0604020202090204" pitchFamily="34" charset="0"/>
              <a:ea typeface="微软雅黑" panose="020B0503020204020204" charset="-122"/>
            </a:endParaRPr>
          </a:p>
        </p:txBody>
      </p:sp>
      <p:sp>
        <p:nvSpPr>
          <p:cNvPr id="13" name="椭圆 12"/>
          <p:cNvSpPr/>
          <p:nvPr/>
        </p:nvSpPr>
        <p:spPr>
          <a:xfrm flipH="1">
            <a:off x="8887483" y="5502246"/>
            <a:ext cx="225351" cy="225351"/>
          </a:xfrm>
          <a:prstGeom prst="ellipse">
            <a:avLst/>
          </a:prstGeom>
          <a:solidFill>
            <a:schemeClr val="accent1">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Arial" panose="020B0604020202090204" pitchFamily="34" charset="0"/>
              <a:ea typeface="微软雅黑" panose="020B0503020204020204" charset="-122"/>
            </a:endParaRPr>
          </a:p>
        </p:txBody>
      </p:sp>
      <p:sp>
        <p:nvSpPr>
          <p:cNvPr id="14" name="椭圆 13"/>
          <p:cNvSpPr/>
          <p:nvPr/>
        </p:nvSpPr>
        <p:spPr>
          <a:xfrm flipH="1">
            <a:off x="10716845" y="5326364"/>
            <a:ext cx="225351" cy="225351"/>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Arial" panose="020B0604020202090204" pitchFamily="34" charset="0"/>
              <a:ea typeface="微软雅黑" panose="020B0503020204020204" charset="-122"/>
            </a:endParaRPr>
          </a:p>
        </p:txBody>
      </p:sp>
      <p:sp>
        <p:nvSpPr>
          <p:cNvPr id="15" name="椭圆 14"/>
          <p:cNvSpPr/>
          <p:nvPr/>
        </p:nvSpPr>
        <p:spPr>
          <a:xfrm flipH="1">
            <a:off x="11682959" y="4262913"/>
            <a:ext cx="225351" cy="22535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Arial" panose="020B0604020202090204" pitchFamily="34" charset="0"/>
              <a:ea typeface="微软雅黑" panose="020B0503020204020204" charset="-122"/>
            </a:endParaRPr>
          </a:p>
        </p:txBody>
      </p:sp>
      <p:sp>
        <p:nvSpPr>
          <p:cNvPr id="16" name="椭圆 15"/>
          <p:cNvSpPr/>
          <p:nvPr/>
        </p:nvSpPr>
        <p:spPr>
          <a:xfrm flipH="1">
            <a:off x="9909794" y="4488264"/>
            <a:ext cx="225351" cy="225351"/>
          </a:xfrm>
          <a:prstGeom prst="ellipse">
            <a:avLst/>
          </a:prstGeom>
          <a:solidFill>
            <a:schemeClr val="accent1">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Arial" panose="020B0604020202090204" pitchFamily="34" charset="0"/>
              <a:ea typeface="微软雅黑" panose="020B0503020204020204" charset="-122"/>
            </a:endParaRPr>
          </a:p>
        </p:txBody>
      </p:sp>
      <p:sp>
        <p:nvSpPr>
          <p:cNvPr id="17" name="椭圆 16"/>
          <p:cNvSpPr/>
          <p:nvPr/>
        </p:nvSpPr>
        <p:spPr>
          <a:xfrm flipH="1">
            <a:off x="9899377" y="5392247"/>
            <a:ext cx="225351" cy="225351"/>
          </a:xfrm>
          <a:prstGeom prst="ellipse">
            <a:avLst/>
          </a:prstGeom>
          <a:solidFill>
            <a:schemeClr val="accent1">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Arial" panose="020B0604020202090204" pitchFamily="34" charset="0"/>
              <a:ea typeface="微软雅黑" panose="020B0503020204020204" charset="-122"/>
            </a:endParaRPr>
          </a:p>
        </p:txBody>
      </p:sp>
      <p:sp>
        <p:nvSpPr>
          <p:cNvPr id="2" name="标题 1"/>
          <p:cNvSpPr>
            <a:spLocks noGrp="1"/>
          </p:cNvSpPr>
          <p:nvPr>
            <p:ph type="ctrTitle" hasCustomPrompt="1"/>
          </p:nvPr>
        </p:nvSpPr>
        <p:spPr>
          <a:xfrm>
            <a:off x="1524000" y="2336061"/>
            <a:ext cx="9144000" cy="1200329"/>
          </a:xfrm>
        </p:spPr>
        <p:txBody>
          <a:bodyPr anchor="b">
            <a:normAutofit/>
          </a:bodyPr>
          <a:lstStyle>
            <a:lvl1pPr algn="ctr">
              <a:defRPr sz="6000" b="1">
                <a:solidFill>
                  <a:schemeClr val="tx1">
                    <a:lumMod val="75000"/>
                    <a:lumOff val="25000"/>
                  </a:schemeClr>
                </a:solidFill>
              </a:defRPr>
            </a:lvl1pPr>
          </a:lstStyle>
          <a:p>
            <a:r>
              <a:rPr lang="zh-CN" altLang="en-US" dirty="0"/>
              <a:t>单击此处编辑标题</a:t>
            </a:r>
            <a:endParaRPr lang="zh-CN" altLang="en-US" dirty="0"/>
          </a:p>
        </p:txBody>
      </p:sp>
      <p:sp>
        <p:nvSpPr>
          <p:cNvPr id="3" name="副标题 2"/>
          <p:cNvSpPr>
            <a:spLocks noGrp="1"/>
          </p:cNvSpPr>
          <p:nvPr>
            <p:ph type="subTitle" idx="1"/>
          </p:nvPr>
        </p:nvSpPr>
        <p:spPr>
          <a:xfrm>
            <a:off x="1524000" y="3628465"/>
            <a:ext cx="9144000" cy="535531"/>
          </a:xfrm>
        </p:spPr>
        <p:txBody>
          <a:bodyPr>
            <a:normAutofit/>
          </a:bodyPr>
          <a:lstStyle>
            <a:lvl1pPr marL="0" indent="0" algn="ctr">
              <a:buNone/>
              <a:defRPr sz="24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4" name="日期占位符 3"/>
          <p:cNvSpPr>
            <a:spLocks noGrp="1"/>
          </p:cNvSpPr>
          <p:nvPr>
            <p:ph type="dt" sz="half" idx="10"/>
          </p:nvPr>
        </p:nvSpPr>
        <p:spPr/>
        <p:txBody>
          <a:bodyPr/>
          <a:lstStyle/>
          <a:p>
            <a:fld id="{A6D4A088-84C6-4E25-8974-50052BF70A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5F6551D-C697-47F0-8D0F-B52E4434774B}" type="slidenum">
              <a:rPr lang="zh-CN" altLang="en-US" smtClean="0"/>
            </a:fld>
            <a:endParaRPr lang="zh-CN" altLang="en-US"/>
          </a:p>
        </p:txBody>
      </p:sp>
      <p:sp>
        <p:nvSpPr>
          <p:cNvPr id="23" name="椭圆 22"/>
          <p:cNvSpPr/>
          <p:nvPr/>
        </p:nvSpPr>
        <p:spPr>
          <a:xfrm flipH="1">
            <a:off x="1087573" y="1247412"/>
            <a:ext cx="665027" cy="633047"/>
          </a:xfrm>
          <a:prstGeom prst="ellipse">
            <a:avLst/>
          </a:prstGeom>
          <a:solidFill>
            <a:schemeClr val="accent1">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Arial" panose="020B0604020202090204" pitchFamily="34" charset="0"/>
              <a:ea typeface="微软雅黑" panose="020B0503020204020204" charset="-122"/>
            </a:endParaRPr>
          </a:p>
        </p:txBody>
      </p:sp>
      <p:sp>
        <p:nvSpPr>
          <p:cNvPr id="24" name="椭圆 23"/>
          <p:cNvSpPr/>
          <p:nvPr/>
        </p:nvSpPr>
        <p:spPr>
          <a:xfrm flipH="1">
            <a:off x="205154" y="256009"/>
            <a:ext cx="633047" cy="63304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Arial" panose="020B0604020202090204" pitchFamily="34" charset="0"/>
              <a:ea typeface="微软雅黑" panose="020B0503020204020204" charset="-122"/>
            </a:endParaRPr>
          </a:p>
        </p:txBody>
      </p:sp>
      <p:sp>
        <p:nvSpPr>
          <p:cNvPr id="25" name="椭圆 24"/>
          <p:cNvSpPr/>
          <p:nvPr/>
        </p:nvSpPr>
        <p:spPr>
          <a:xfrm flipH="1">
            <a:off x="215431" y="1328679"/>
            <a:ext cx="225351" cy="225351"/>
          </a:xfrm>
          <a:prstGeom prst="ellipse">
            <a:avLst/>
          </a:prstGeom>
          <a:solidFill>
            <a:schemeClr val="accent1">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Arial" panose="020B0604020202090204" pitchFamily="34" charset="0"/>
              <a:ea typeface="微软雅黑" panose="020B0503020204020204" charset="-122"/>
            </a:endParaRPr>
          </a:p>
        </p:txBody>
      </p:sp>
      <p:sp>
        <p:nvSpPr>
          <p:cNvPr id="26" name="椭圆 25"/>
          <p:cNvSpPr/>
          <p:nvPr/>
        </p:nvSpPr>
        <p:spPr>
          <a:xfrm flipH="1">
            <a:off x="2097125" y="663705"/>
            <a:ext cx="225351" cy="22535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Arial" panose="020B0604020202090204" pitchFamily="34" charset="0"/>
              <a:ea typeface="微软雅黑" panose="020B0503020204020204" charset="-122"/>
            </a:endParaRPr>
          </a:p>
        </p:txBody>
      </p:sp>
      <p:sp>
        <p:nvSpPr>
          <p:cNvPr id="27" name="椭圆 26"/>
          <p:cNvSpPr/>
          <p:nvPr/>
        </p:nvSpPr>
        <p:spPr>
          <a:xfrm flipH="1">
            <a:off x="725877" y="1804831"/>
            <a:ext cx="225351" cy="22535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Arial" panose="020B0604020202090204" pitchFamily="34" charset="0"/>
              <a:ea typeface="微软雅黑" panose="020B0503020204020204" charset="-122"/>
            </a:endParaRPr>
          </a:p>
        </p:txBody>
      </p:sp>
      <p:sp>
        <p:nvSpPr>
          <p:cNvPr id="28" name="椭圆 27"/>
          <p:cNvSpPr/>
          <p:nvPr/>
        </p:nvSpPr>
        <p:spPr>
          <a:xfrm flipH="1">
            <a:off x="1237742" y="314697"/>
            <a:ext cx="225351" cy="225351"/>
          </a:xfrm>
          <a:prstGeom prst="ellipse">
            <a:avLst/>
          </a:prstGeom>
          <a:solidFill>
            <a:schemeClr val="accent1">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Arial" panose="020B0604020202090204" pitchFamily="34" charset="0"/>
              <a:ea typeface="微软雅黑" panose="020B0503020204020204" charset="-122"/>
            </a:endParaRPr>
          </a:p>
        </p:txBody>
      </p:sp>
      <p:sp>
        <p:nvSpPr>
          <p:cNvPr id="29" name="椭圆 28"/>
          <p:cNvSpPr/>
          <p:nvPr/>
        </p:nvSpPr>
        <p:spPr>
          <a:xfrm flipH="1">
            <a:off x="725877" y="1041698"/>
            <a:ext cx="225351" cy="225351"/>
          </a:xfrm>
          <a:prstGeom prst="ellipse">
            <a:avLst/>
          </a:prstGeom>
          <a:solidFill>
            <a:schemeClr val="accent1">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Arial" panose="020B0604020202090204" pitchFamily="34" charset="0"/>
              <a:ea typeface="微软雅黑" panose="020B0503020204020204" charset="-122"/>
            </a:endParaRPr>
          </a:p>
        </p:txBody>
      </p:sp>
      <p:sp>
        <p:nvSpPr>
          <p:cNvPr id="30" name="椭圆 29"/>
          <p:cNvSpPr/>
          <p:nvPr/>
        </p:nvSpPr>
        <p:spPr>
          <a:xfrm flipH="1">
            <a:off x="1131651" y="663704"/>
            <a:ext cx="808156" cy="80815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Arial" panose="020B0604020202090204" pitchFamily="34" charset="0"/>
              <a:ea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a:lvl1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A6D4A088-84C6-4E25-8974-50052BF70A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5F6551D-C697-47F0-8D0F-B52E4434774B}"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sp>
        <p:nvSpPr>
          <p:cNvPr id="7" name="椭圆 6"/>
          <p:cNvSpPr/>
          <p:nvPr/>
        </p:nvSpPr>
        <p:spPr>
          <a:xfrm>
            <a:off x="1065127" y="1899138"/>
            <a:ext cx="2471896" cy="2471896"/>
          </a:xfrm>
          <a:prstGeom prst="ellipse">
            <a:avLst/>
          </a:prstGeom>
          <a:solidFill>
            <a:schemeClr val="accent1">
              <a:lumMod val="60000"/>
              <a:lumOff val="40000"/>
              <a:alpha val="79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椭圆 7"/>
          <p:cNvSpPr/>
          <p:nvPr/>
        </p:nvSpPr>
        <p:spPr>
          <a:xfrm>
            <a:off x="1406771" y="2240783"/>
            <a:ext cx="1788607" cy="178860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950" dirty="0">
              <a:latin typeface="Segoe UI" panose="020B0502040204020203" pitchFamily="34" charset="0"/>
              <a:cs typeface="Segoe UI" panose="020B0502040204020203" pitchFamily="34" charset="0"/>
            </a:endParaRPr>
          </a:p>
        </p:txBody>
      </p:sp>
      <p:cxnSp>
        <p:nvCxnSpPr>
          <p:cNvPr id="9" name="直接连接符 8"/>
          <p:cNvCxnSpPr/>
          <p:nvPr/>
        </p:nvCxnSpPr>
        <p:spPr>
          <a:xfrm>
            <a:off x="3537023" y="3155182"/>
            <a:ext cx="6450480" cy="0"/>
          </a:xfrm>
          <a:prstGeom prst="line">
            <a:avLst/>
          </a:prstGeom>
          <a:ln w="15875">
            <a:solidFill>
              <a:schemeClr val="accent1"/>
            </a:solidFill>
            <a:tailEnd type="oval"/>
          </a:ln>
        </p:spPr>
        <p:style>
          <a:lnRef idx="1">
            <a:schemeClr val="accent1"/>
          </a:lnRef>
          <a:fillRef idx="0">
            <a:schemeClr val="accent1"/>
          </a:fillRef>
          <a:effectRef idx="0">
            <a:schemeClr val="accent1"/>
          </a:effectRef>
          <a:fontRef idx="minor">
            <a:schemeClr val="tx1"/>
          </a:fontRef>
        </p:style>
      </p:cxnSp>
      <p:sp>
        <p:nvSpPr>
          <p:cNvPr id="10" name="椭圆 9"/>
          <p:cNvSpPr/>
          <p:nvPr/>
        </p:nvSpPr>
        <p:spPr>
          <a:xfrm>
            <a:off x="2570805" y="5051810"/>
            <a:ext cx="221064" cy="22106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1" name="椭圆 10"/>
          <p:cNvSpPr/>
          <p:nvPr/>
        </p:nvSpPr>
        <p:spPr>
          <a:xfrm>
            <a:off x="1577694" y="4557767"/>
            <a:ext cx="309823" cy="309823"/>
          </a:xfrm>
          <a:prstGeom prst="ellipse">
            <a:avLst/>
          </a:prstGeom>
          <a:solidFill>
            <a:schemeClr val="accent1"/>
          </a:solidFill>
          <a:ln>
            <a:noFill/>
          </a:ln>
          <a:effectLst>
            <a:outerShdw blurRad="76200" dist="38100" dir="2700000" algn="tl" rotWithShape="0">
              <a:srgbClr val="2B579A">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椭圆 11"/>
          <p:cNvSpPr/>
          <p:nvPr/>
        </p:nvSpPr>
        <p:spPr>
          <a:xfrm>
            <a:off x="1848999" y="6108561"/>
            <a:ext cx="221064" cy="221064"/>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椭圆 12"/>
          <p:cNvSpPr/>
          <p:nvPr/>
        </p:nvSpPr>
        <p:spPr>
          <a:xfrm>
            <a:off x="2791869" y="5716676"/>
            <a:ext cx="147376" cy="147376"/>
          </a:xfrm>
          <a:prstGeom prst="ellipse">
            <a:avLst/>
          </a:prstGeom>
          <a:solidFill>
            <a:schemeClr val="accent1">
              <a:lumMod val="60000"/>
              <a:lumOff val="40000"/>
            </a:schemeClr>
          </a:solidFill>
          <a:ln>
            <a:noFill/>
          </a:ln>
          <a:effectLst>
            <a:outerShdw blurRad="76200" dist="38100" dir="2700000" algn="tl" rotWithShape="0">
              <a:srgbClr val="2B579A">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椭圆 13"/>
          <p:cNvSpPr/>
          <p:nvPr/>
        </p:nvSpPr>
        <p:spPr>
          <a:xfrm>
            <a:off x="2359791" y="4068746"/>
            <a:ext cx="147376" cy="14737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 name="标题 1"/>
          <p:cNvSpPr>
            <a:spLocks noGrp="1"/>
          </p:cNvSpPr>
          <p:nvPr>
            <p:ph type="title" hasCustomPrompt="1"/>
          </p:nvPr>
        </p:nvSpPr>
        <p:spPr>
          <a:xfrm>
            <a:off x="3611331" y="2149466"/>
            <a:ext cx="6223772" cy="978729"/>
          </a:xfrm>
        </p:spPr>
        <p:txBody>
          <a:bodyPr anchor="b">
            <a:normAutofit/>
          </a:bodyPr>
          <a:lstStyle>
            <a:lvl1pPr>
              <a:defRPr sz="4800">
                <a:solidFill>
                  <a:schemeClr val="tx1">
                    <a:lumMod val="75000"/>
                    <a:lumOff val="25000"/>
                  </a:schemeClr>
                </a:solidFill>
              </a:defRPr>
            </a:lvl1pPr>
          </a:lstStyle>
          <a:p>
            <a:r>
              <a:rPr lang="zh-CN" altLang="en-US" dirty="0"/>
              <a:t>单击此处编辑标题</a:t>
            </a:r>
            <a:endParaRPr lang="zh-CN" altLang="en-US" dirty="0"/>
          </a:p>
        </p:txBody>
      </p:sp>
      <p:sp>
        <p:nvSpPr>
          <p:cNvPr id="3" name="文本占位符 2"/>
          <p:cNvSpPr>
            <a:spLocks noGrp="1"/>
          </p:cNvSpPr>
          <p:nvPr>
            <p:ph type="body" idx="1"/>
          </p:nvPr>
        </p:nvSpPr>
        <p:spPr>
          <a:xfrm>
            <a:off x="3611331" y="3231383"/>
            <a:ext cx="6220880" cy="535531"/>
          </a:xfrm>
        </p:spPr>
        <p:txBody>
          <a:bodyPr>
            <a:normAutofit/>
          </a:bodyPr>
          <a:lstStyle>
            <a:lvl1pPr marL="0" indent="0">
              <a:buNone/>
              <a:defRPr sz="240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p>
            <a:fld id="{A6D4A088-84C6-4E25-8974-50052BF70A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5F6551D-C697-47F0-8D0F-B52E4434774B}"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lvl1pPr>
              <a:defRPr/>
            </a:lvl1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6172200" y="1825625"/>
            <a:ext cx="5181600" cy="4351338"/>
          </a:xfrm>
        </p:spPr>
        <p:txBody>
          <a:bodyPr/>
          <a:lstStyle>
            <a:lvl1pPr>
              <a:defRPr/>
            </a:lvl1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A6D4A088-84C6-4E25-8974-50052BF70A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5F6551D-C697-47F0-8D0F-B52E4434774B}"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15022"/>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839788" y="2505075"/>
            <a:ext cx="5157787" cy="3684588"/>
          </a:xfrm>
        </p:spPr>
        <p:txBody>
          <a:bodyPr/>
          <a:lstStyle>
            <a:lvl1pPr>
              <a:defRPr/>
            </a:lvl1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6172201" y="2505075"/>
            <a:ext cx="5183188" cy="3684588"/>
          </a:xfrm>
        </p:spPr>
        <p:txBody>
          <a:bodyPr/>
          <a:lstStyle>
            <a:lvl1pPr>
              <a:defRPr/>
            </a:lvl1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lstStyle/>
          <a:p>
            <a:fld id="{A6D4A088-84C6-4E25-8974-50052BF70A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15F6551D-C697-47F0-8D0F-B52E4434774B}"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showMasterSp="0">
  <p:cSld name="仅标题">
    <p:spTree>
      <p:nvGrpSpPr>
        <p:cNvPr id="1" name=""/>
        <p:cNvGrpSpPr/>
        <p:nvPr/>
      </p:nvGrpSpPr>
      <p:grpSpPr>
        <a:xfrm>
          <a:off x="0" y="0"/>
          <a:ext cx="0" cy="0"/>
          <a:chOff x="0" y="0"/>
          <a:chExt cx="0" cy="0"/>
        </a:xfrm>
      </p:grpSpPr>
      <p:grpSp>
        <p:nvGrpSpPr>
          <p:cNvPr id="6" name="组合 5"/>
          <p:cNvGrpSpPr/>
          <p:nvPr/>
        </p:nvGrpSpPr>
        <p:grpSpPr>
          <a:xfrm>
            <a:off x="1533823" y="1"/>
            <a:ext cx="9145467" cy="1154099"/>
            <a:chOff x="1533823" y="0"/>
            <a:chExt cx="9145467" cy="1154099"/>
          </a:xfrm>
        </p:grpSpPr>
        <p:sp>
          <p:nvSpPr>
            <p:cNvPr id="7" name="任意多边形: 形状 6"/>
            <p:cNvSpPr/>
            <p:nvPr/>
          </p:nvSpPr>
          <p:spPr>
            <a:xfrm flipV="1">
              <a:off x="3133630" y="0"/>
              <a:ext cx="1328050" cy="1049462"/>
            </a:xfrm>
            <a:custGeom>
              <a:avLst/>
              <a:gdLst>
                <a:gd name="connsiteX0" fmla="*/ 125100 w 1328050"/>
                <a:gd name="connsiteY0" fmla="*/ 1049462 h 1049462"/>
                <a:gd name="connsiteX1" fmla="*/ 1202951 w 1328050"/>
                <a:gd name="connsiteY1" fmla="*/ 1049462 h 1049462"/>
                <a:gd name="connsiteX2" fmla="*/ 1214645 w 1328050"/>
                <a:gd name="connsiteY2" fmla="*/ 1035288 h 1049462"/>
                <a:gd name="connsiteX3" fmla="*/ 1328050 w 1328050"/>
                <a:gd name="connsiteY3" fmla="*/ 664025 h 1049462"/>
                <a:gd name="connsiteX4" fmla="*/ 664025 w 1328050"/>
                <a:gd name="connsiteY4" fmla="*/ 0 h 1049462"/>
                <a:gd name="connsiteX5" fmla="*/ 0 w 1328050"/>
                <a:gd name="connsiteY5" fmla="*/ 664025 h 1049462"/>
                <a:gd name="connsiteX6" fmla="*/ 113405 w 1328050"/>
                <a:gd name="connsiteY6" fmla="*/ 1035288 h 1049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28050" h="1049462">
                  <a:moveTo>
                    <a:pt x="125100" y="1049462"/>
                  </a:moveTo>
                  <a:lnTo>
                    <a:pt x="1202951" y="1049462"/>
                  </a:lnTo>
                  <a:lnTo>
                    <a:pt x="1214645" y="1035288"/>
                  </a:lnTo>
                  <a:cubicBezTo>
                    <a:pt x="1286243" y="929309"/>
                    <a:pt x="1328050" y="801549"/>
                    <a:pt x="1328050" y="664025"/>
                  </a:cubicBezTo>
                  <a:cubicBezTo>
                    <a:pt x="1328050" y="297294"/>
                    <a:pt x="1030756" y="0"/>
                    <a:pt x="664025" y="0"/>
                  </a:cubicBezTo>
                  <a:cubicBezTo>
                    <a:pt x="297294" y="0"/>
                    <a:pt x="0" y="297294"/>
                    <a:pt x="0" y="664025"/>
                  </a:cubicBezTo>
                  <a:cubicBezTo>
                    <a:pt x="0" y="801549"/>
                    <a:pt x="41807" y="929309"/>
                    <a:pt x="113405" y="1035288"/>
                  </a:cubicBezTo>
                  <a:close/>
                </a:path>
              </a:pathLst>
            </a:custGeom>
            <a:solidFill>
              <a:schemeClr val="accent1">
                <a:lumMod val="60000"/>
                <a:lumOff val="40000"/>
              </a:schemeClr>
            </a:solidFill>
            <a:ln>
              <a:noFill/>
            </a:ln>
            <a:effectLst>
              <a:outerShdw blurRad="1143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350"/>
            </a:p>
          </p:txBody>
        </p:sp>
        <p:sp>
          <p:nvSpPr>
            <p:cNvPr id="8" name="任意多边形: 形状 7"/>
            <p:cNvSpPr/>
            <p:nvPr/>
          </p:nvSpPr>
          <p:spPr>
            <a:xfrm flipV="1">
              <a:off x="4771823" y="0"/>
              <a:ext cx="777822" cy="459209"/>
            </a:xfrm>
            <a:custGeom>
              <a:avLst/>
              <a:gdLst>
                <a:gd name="connsiteX0" fmla="*/ 14193 w 777822"/>
                <a:gd name="connsiteY0" fmla="*/ 459209 h 459209"/>
                <a:gd name="connsiteX1" fmla="*/ 763630 w 777822"/>
                <a:gd name="connsiteY1" fmla="*/ 459209 h 459209"/>
                <a:gd name="connsiteX2" fmla="*/ 777822 w 777822"/>
                <a:gd name="connsiteY2" fmla="*/ 388911 h 459209"/>
                <a:gd name="connsiteX3" fmla="*/ 388911 w 777822"/>
                <a:gd name="connsiteY3" fmla="*/ 0 h 459209"/>
                <a:gd name="connsiteX4" fmla="*/ 0 w 777822"/>
                <a:gd name="connsiteY4" fmla="*/ 388911 h 459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7822" h="459209">
                  <a:moveTo>
                    <a:pt x="14193" y="459209"/>
                  </a:moveTo>
                  <a:lnTo>
                    <a:pt x="763630" y="459209"/>
                  </a:lnTo>
                  <a:lnTo>
                    <a:pt x="777822" y="388911"/>
                  </a:lnTo>
                  <a:cubicBezTo>
                    <a:pt x="777822" y="174121"/>
                    <a:pt x="603701" y="0"/>
                    <a:pt x="388911" y="0"/>
                  </a:cubicBezTo>
                  <a:cubicBezTo>
                    <a:pt x="174121" y="0"/>
                    <a:pt x="0" y="174121"/>
                    <a:pt x="0" y="388911"/>
                  </a:cubicBezTo>
                  <a:close/>
                </a:path>
              </a:pathLst>
            </a:custGeom>
            <a:solidFill>
              <a:schemeClr val="accent1"/>
            </a:solidFill>
            <a:ln>
              <a:noFill/>
            </a:ln>
            <a:effectLst>
              <a:outerShdw blurRad="2286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350"/>
            </a:p>
          </p:txBody>
        </p:sp>
        <p:sp>
          <p:nvSpPr>
            <p:cNvPr id="9" name="椭圆 8"/>
            <p:cNvSpPr/>
            <p:nvPr/>
          </p:nvSpPr>
          <p:spPr>
            <a:xfrm flipV="1">
              <a:off x="5834776" y="271636"/>
              <a:ext cx="777826" cy="77782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任意多边形: 形状 9"/>
            <p:cNvSpPr/>
            <p:nvPr/>
          </p:nvSpPr>
          <p:spPr>
            <a:xfrm flipV="1">
              <a:off x="7112798" y="0"/>
              <a:ext cx="887872" cy="629286"/>
            </a:xfrm>
            <a:custGeom>
              <a:avLst/>
              <a:gdLst>
                <a:gd name="connsiteX0" fmla="*/ 41699 w 887872"/>
                <a:gd name="connsiteY0" fmla="*/ 629286 h 629286"/>
                <a:gd name="connsiteX1" fmla="*/ 846174 w 887872"/>
                <a:gd name="connsiteY1" fmla="*/ 629286 h 629286"/>
                <a:gd name="connsiteX2" fmla="*/ 852986 w 887872"/>
                <a:gd name="connsiteY2" fmla="*/ 616736 h 629286"/>
                <a:gd name="connsiteX3" fmla="*/ 887872 w 887872"/>
                <a:gd name="connsiteY3" fmla="*/ 443936 h 629286"/>
                <a:gd name="connsiteX4" fmla="*/ 443936 w 887872"/>
                <a:gd name="connsiteY4" fmla="*/ 0 h 629286"/>
                <a:gd name="connsiteX5" fmla="*/ 0 w 887872"/>
                <a:gd name="connsiteY5" fmla="*/ 443936 h 629286"/>
                <a:gd name="connsiteX6" fmla="*/ 34887 w 887872"/>
                <a:gd name="connsiteY6" fmla="*/ 616736 h 629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7872" h="629286">
                  <a:moveTo>
                    <a:pt x="41699" y="629286"/>
                  </a:moveTo>
                  <a:lnTo>
                    <a:pt x="846174" y="629286"/>
                  </a:lnTo>
                  <a:lnTo>
                    <a:pt x="852986" y="616736"/>
                  </a:lnTo>
                  <a:cubicBezTo>
                    <a:pt x="875450" y="563624"/>
                    <a:pt x="887872" y="505231"/>
                    <a:pt x="887872" y="443936"/>
                  </a:cubicBezTo>
                  <a:cubicBezTo>
                    <a:pt x="887872" y="198757"/>
                    <a:pt x="689115" y="0"/>
                    <a:pt x="443936" y="0"/>
                  </a:cubicBezTo>
                  <a:cubicBezTo>
                    <a:pt x="198757" y="0"/>
                    <a:pt x="0" y="198757"/>
                    <a:pt x="0" y="443936"/>
                  </a:cubicBezTo>
                  <a:cubicBezTo>
                    <a:pt x="0" y="505231"/>
                    <a:pt x="12423" y="563624"/>
                    <a:pt x="34887" y="61673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350"/>
            </a:p>
          </p:txBody>
        </p:sp>
        <p:sp>
          <p:nvSpPr>
            <p:cNvPr id="11" name="任意多边形: 形状 10"/>
            <p:cNvSpPr/>
            <p:nvPr/>
          </p:nvSpPr>
          <p:spPr>
            <a:xfrm flipV="1">
              <a:off x="8333916" y="1"/>
              <a:ext cx="1450608" cy="1143677"/>
            </a:xfrm>
            <a:custGeom>
              <a:avLst/>
              <a:gdLst>
                <a:gd name="connsiteX0" fmla="*/ 134472 w 1450608"/>
                <a:gd name="connsiteY0" fmla="*/ 1143677 h 1143677"/>
                <a:gd name="connsiteX1" fmla="*/ 1316136 w 1450608"/>
                <a:gd name="connsiteY1" fmla="*/ 1143677 h 1143677"/>
                <a:gd name="connsiteX2" fmla="*/ 1326737 w 1450608"/>
                <a:gd name="connsiteY2" fmla="*/ 1130828 h 1143677"/>
                <a:gd name="connsiteX3" fmla="*/ 1450608 w 1450608"/>
                <a:gd name="connsiteY3" fmla="*/ 725304 h 1143677"/>
                <a:gd name="connsiteX4" fmla="*/ 725304 w 1450608"/>
                <a:gd name="connsiteY4" fmla="*/ 0 h 1143677"/>
                <a:gd name="connsiteX5" fmla="*/ 0 w 1450608"/>
                <a:gd name="connsiteY5" fmla="*/ 725304 h 1143677"/>
                <a:gd name="connsiteX6" fmla="*/ 123871 w 1450608"/>
                <a:gd name="connsiteY6" fmla="*/ 1130828 h 1143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50608" h="1143677">
                  <a:moveTo>
                    <a:pt x="134472" y="1143677"/>
                  </a:moveTo>
                  <a:lnTo>
                    <a:pt x="1316136" y="1143677"/>
                  </a:lnTo>
                  <a:lnTo>
                    <a:pt x="1326737" y="1130828"/>
                  </a:lnTo>
                  <a:cubicBezTo>
                    <a:pt x="1404943" y="1015069"/>
                    <a:pt x="1450608" y="875519"/>
                    <a:pt x="1450608" y="725304"/>
                  </a:cubicBezTo>
                  <a:cubicBezTo>
                    <a:pt x="1450608" y="324730"/>
                    <a:pt x="1125878" y="0"/>
                    <a:pt x="725304" y="0"/>
                  </a:cubicBezTo>
                  <a:cubicBezTo>
                    <a:pt x="324730" y="0"/>
                    <a:pt x="0" y="324730"/>
                    <a:pt x="0" y="725304"/>
                  </a:cubicBezTo>
                  <a:cubicBezTo>
                    <a:pt x="0" y="875519"/>
                    <a:pt x="45665" y="1015069"/>
                    <a:pt x="123871" y="1130828"/>
                  </a:cubicBezTo>
                  <a:close/>
                </a:path>
              </a:pathLst>
            </a:custGeom>
            <a:solidFill>
              <a:schemeClr val="accent1">
                <a:lumMod val="75000"/>
                <a:alpha val="72000"/>
              </a:schemeClr>
            </a:solidFill>
            <a:ln>
              <a:noFill/>
            </a:ln>
            <a:effectLst>
              <a:outerShdw blurRad="1905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350"/>
            </a:p>
          </p:txBody>
        </p:sp>
        <p:sp>
          <p:nvSpPr>
            <p:cNvPr id="12" name="椭圆 11"/>
            <p:cNvSpPr/>
            <p:nvPr/>
          </p:nvSpPr>
          <p:spPr>
            <a:xfrm flipV="1">
              <a:off x="2286980" y="511738"/>
              <a:ext cx="561520" cy="561520"/>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任意多边形: 形状 12"/>
            <p:cNvSpPr/>
            <p:nvPr/>
          </p:nvSpPr>
          <p:spPr>
            <a:xfrm flipV="1">
              <a:off x="1533823" y="0"/>
              <a:ext cx="786976" cy="418373"/>
            </a:xfrm>
            <a:custGeom>
              <a:avLst/>
              <a:gdLst>
                <a:gd name="connsiteX0" fmla="*/ 2509 w 786976"/>
                <a:gd name="connsiteY0" fmla="*/ 418373 h 418373"/>
                <a:gd name="connsiteX1" fmla="*/ 784468 w 786976"/>
                <a:gd name="connsiteY1" fmla="*/ 418373 h 418373"/>
                <a:gd name="connsiteX2" fmla="*/ 786976 w 786976"/>
                <a:gd name="connsiteY2" fmla="*/ 393488 h 418373"/>
                <a:gd name="connsiteX3" fmla="*/ 393488 w 786976"/>
                <a:gd name="connsiteY3" fmla="*/ 0 h 418373"/>
                <a:gd name="connsiteX4" fmla="*/ 0 w 786976"/>
                <a:gd name="connsiteY4" fmla="*/ 393488 h 418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6976" h="418373">
                  <a:moveTo>
                    <a:pt x="2509" y="418373"/>
                  </a:moveTo>
                  <a:lnTo>
                    <a:pt x="784468" y="418373"/>
                  </a:lnTo>
                  <a:lnTo>
                    <a:pt x="786976" y="393488"/>
                  </a:lnTo>
                  <a:cubicBezTo>
                    <a:pt x="786976" y="176171"/>
                    <a:pt x="610805" y="0"/>
                    <a:pt x="393488" y="0"/>
                  </a:cubicBezTo>
                  <a:cubicBezTo>
                    <a:pt x="176171" y="0"/>
                    <a:pt x="0" y="176171"/>
                    <a:pt x="0" y="393488"/>
                  </a:cubicBezTo>
                  <a:close/>
                </a:path>
              </a:pathLst>
            </a:custGeom>
            <a:solidFill>
              <a:schemeClr val="accent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350"/>
            </a:p>
          </p:txBody>
        </p:sp>
        <p:sp>
          <p:nvSpPr>
            <p:cNvPr id="14" name="椭圆 13"/>
            <p:cNvSpPr/>
            <p:nvPr/>
          </p:nvSpPr>
          <p:spPr>
            <a:xfrm flipV="1">
              <a:off x="10117770" y="483400"/>
              <a:ext cx="561520" cy="561520"/>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椭圆 14"/>
            <p:cNvSpPr/>
            <p:nvPr/>
          </p:nvSpPr>
          <p:spPr>
            <a:xfrm flipV="1">
              <a:off x="6819661" y="779752"/>
              <a:ext cx="374347" cy="374347"/>
            </a:xfrm>
            <a:prstGeom prst="ellipse">
              <a:avLst/>
            </a:prstGeom>
            <a:solidFill>
              <a:schemeClr val="accent1">
                <a:lumMod val="40000"/>
                <a:lumOff val="6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grpSp>
        <p:nvGrpSpPr>
          <p:cNvPr id="16" name="组合 15"/>
          <p:cNvGrpSpPr/>
          <p:nvPr/>
        </p:nvGrpSpPr>
        <p:grpSpPr>
          <a:xfrm flipV="1">
            <a:off x="1533823" y="5695274"/>
            <a:ext cx="9145467" cy="1154099"/>
            <a:chOff x="1533823" y="0"/>
            <a:chExt cx="9145467" cy="1154099"/>
          </a:xfrm>
        </p:grpSpPr>
        <p:sp>
          <p:nvSpPr>
            <p:cNvPr id="17" name="任意多边形: 形状 16"/>
            <p:cNvSpPr/>
            <p:nvPr/>
          </p:nvSpPr>
          <p:spPr>
            <a:xfrm flipV="1">
              <a:off x="3133630" y="0"/>
              <a:ext cx="1328050" cy="1049462"/>
            </a:xfrm>
            <a:custGeom>
              <a:avLst/>
              <a:gdLst>
                <a:gd name="connsiteX0" fmla="*/ 125100 w 1328050"/>
                <a:gd name="connsiteY0" fmla="*/ 1049462 h 1049462"/>
                <a:gd name="connsiteX1" fmla="*/ 1202951 w 1328050"/>
                <a:gd name="connsiteY1" fmla="*/ 1049462 h 1049462"/>
                <a:gd name="connsiteX2" fmla="*/ 1214645 w 1328050"/>
                <a:gd name="connsiteY2" fmla="*/ 1035288 h 1049462"/>
                <a:gd name="connsiteX3" fmla="*/ 1328050 w 1328050"/>
                <a:gd name="connsiteY3" fmla="*/ 664025 h 1049462"/>
                <a:gd name="connsiteX4" fmla="*/ 664025 w 1328050"/>
                <a:gd name="connsiteY4" fmla="*/ 0 h 1049462"/>
                <a:gd name="connsiteX5" fmla="*/ 0 w 1328050"/>
                <a:gd name="connsiteY5" fmla="*/ 664025 h 1049462"/>
                <a:gd name="connsiteX6" fmla="*/ 113405 w 1328050"/>
                <a:gd name="connsiteY6" fmla="*/ 1035288 h 1049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28050" h="1049462">
                  <a:moveTo>
                    <a:pt x="125100" y="1049462"/>
                  </a:moveTo>
                  <a:lnTo>
                    <a:pt x="1202951" y="1049462"/>
                  </a:lnTo>
                  <a:lnTo>
                    <a:pt x="1214645" y="1035288"/>
                  </a:lnTo>
                  <a:cubicBezTo>
                    <a:pt x="1286243" y="929309"/>
                    <a:pt x="1328050" y="801549"/>
                    <a:pt x="1328050" y="664025"/>
                  </a:cubicBezTo>
                  <a:cubicBezTo>
                    <a:pt x="1328050" y="297294"/>
                    <a:pt x="1030756" y="0"/>
                    <a:pt x="664025" y="0"/>
                  </a:cubicBezTo>
                  <a:cubicBezTo>
                    <a:pt x="297294" y="0"/>
                    <a:pt x="0" y="297294"/>
                    <a:pt x="0" y="664025"/>
                  </a:cubicBezTo>
                  <a:cubicBezTo>
                    <a:pt x="0" y="801549"/>
                    <a:pt x="41807" y="929309"/>
                    <a:pt x="113405" y="1035288"/>
                  </a:cubicBezTo>
                  <a:close/>
                </a:path>
              </a:pathLst>
            </a:custGeom>
            <a:solidFill>
              <a:schemeClr val="accent1">
                <a:lumMod val="60000"/>
                <a:lumOff val="40000"/>
              </a:schemeClr>
            </a:solidFill>
            <a:ln>
              <a:noFill/>
            </a:ln>
            <a:effectLst>
              <a:outerShdw blurRad="1143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350"/>
            </a:p>
          </p:txBody>
        </p:sp>
        <p:sp>
          <p:nvSpPr>
            <p:cNvPr id="18" name="任意多边形: 形状 17"/>
            <p:cNvSpPr/>
            <p:nvPr/>
          </p:nvSpPr>
          <p:spPr>
            <a:xfrm flipV="1">
              <a:off x="4771823" y="0"/>
              <a:ext cx="777822" cy="459209"/>
            </a:xfrm>
            <a:custGeom>
              <a:avLst/>
              <a:gdLst>
                <a:gd name="connsiteX0" fmla="*/ 14193 w 777822"/>
                <a:gd name="connsiteY0" fmla="*/ 459209 h 459209"/>
                <a:gd name="connsiteX1" fmla="*/ 763630 w 777822"/>
                <a:gd name="connsiteY1" fmla="*/ 459209 h 459209"/>
                <a:gd name="connsiteX2" fmla="*/ 777822 w 777822"/>
                <a:gd name="connsiteY2" fmla="*/ 388911 h 459209"/>
                <a:gd name="connsiteX3" fmla="*/ 388911 w 777822"/>
                <a:gd name="connsiteY3" fmla="*/ 0 h 459209"/>
                <a:gd name="connsiteX4" fmla="*/ 0 w 777822"/>
                <a:gd name="connsiteY4" fmla="*/ 388911 h 459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7822" h="459209">
                  <a:moveTo>
                    <a:pt x="14193" y="459209"/>
                  </a:moveTo>
                  <a:lnTo>
                    <a:pt x="763630" y="459209"/>
                  </a:lnTo>
                  <a:lnTo>
                    <a:pt x="777822" y="388911"/>
                  </a:lnTo>
                  <a:cubicBezTo>
                    <a:pt x="777822" y="174121"/>
                    <a:pt x="603701" y="0"/>
                    <a:pt x="388911" y="0"/>
                  </a:cubicBezTo>
                  <a:cubicBezTo>
                    <a:pt x="174121" y="0"/>
                    <a:pt x="0" y="174121"/>
                    <a:pt x="0" y="388911"/>
                  </a:cubicBezTo>
                  <a:close/>
                </a:path>
              </a:pathLst>
            </a:custGeom>
            <a:solidFill>
              <a:schemeClr val="accent1"/>
            </a:solidFill>
            <a:ln>
              <a:noFill/>
            </a:ln>
            <a:effectLst>
              <a:outerShdw blurRad="2286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350"/>
            </a:p>
          </p:txBody>
        </p:sp>
        <p:sp>
          <p:nvSpPr>
            <p:cNvPr id="19" name="椭圆 18"/>
            <p:cNvSpPr/>
            <p:nvPr/>
          </p:nvSpPr>
          <p:spPr>
            <a:xfrm flipV="1">
              <a:off x="5834776" y="271636"/>
              <a:ext cx="777826" cy="77782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0" name="任意多边形: 形状 19"/>
            <p:cNvSpPr/>
            <p:nvPr/>
          </p:nvSpPr>
          <p:spPr>
            <a:xfrm flipV="1">
              <a:off x="7112798" y="0"/>
              <a:ext cx="887872" cy="629286"/>
            </a:xfrm>
            <a:custGeom>
              <a:avLst/>
              <a:gdLst>
                <a:gd name="connsiteX0" fmla="*/ 41699 w 887872"/>
                <a:gd name="connsiteY0" fmla="*/ 629286 h 629286"/>
                <a:gd name="connsiteX1" fmla="*/ 846174 w 887872"/>
                <a:gd name="connsiteY1" fmla="*/ 629286 h 629286"/>
                <a:gd name="connsiteX2" fmla="*/ 852986 w 887872"/>
                <a:gd name="connsiteY2" fmla="*/ 616736 h 629286"/>
                <a:gd name="connsiteX3" fmla="*/ 887872 w 887872"/>
                <a:gd name="connsiteY3" fmla="*/ 443936 h 629286"/>
                <a:gd name="connsiteX4" fmla="*/ 443936 w 887872"/>
                <a:gd name="connsiteY4" fmla="*/ 0 h 629286"/>
                <a:gd name="connsiteX5" fmla="*/ 0 w 887872"/>
                <a:gd name="connsiteY5" fmla="*/ 443936 h 629286"/>
                <a:gd name="connsiteX6" fmla="*/ 34887 w 887872"/>
                <a:gd name="connsiteY6" fmla="*/ 616736 h 629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7872" h="629286">
                  <a:moveTo>
                    <a:pt x="41699" y="629286"/>
                  </a:moveTo>
                  <a:lnTo>
                    <a:pt x="846174" y="629286"/>
                  </a:lnTo>
                  <a:lnTo>
                    <a:pt x="852986" y="616736"/>
                  </a:lnTo>
                  <a:cubicBezTo>
                    <a:pt x="875450" y="563624"/>
                    <a:pt x="887872" y="505231"/>
                    <a:pt x="887872" y="443936"/>
                  </a:cubicBezTo>
                  <a:cubicBezTo>
                    <a:pt x="887872" y="198757"/>
                    <a:pt x="689115" y="0"/>
                    <a:pt x="443936" y="0"/>
                  </a:cubicBezTo>
                  <a:cubicBezTo>
                    <a:pt x="198757" y="0"/>
                    <a:pt x="0" y="198757"/>
                    <a:pt x="0" y="443936"/>
                  </a:cubicBezTo>
                  <a:cubicBezTo>
                    <a:pt x="0" y="505231"/>
                    <a:pt x="12423" y="563624"/>
                    <a:pt x="34887" y="61673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350"/>
            </a:p>
          </p:txBody>
        </p:sp>
        <p:sp>
          <p:nvSpPr>
            <p:cNvPr id="21" name="任意多边形: 形状 20"/>
            <p:cNvSpPr/>
            <p:nvPr/>
          </p:nvSpPr>
          <p:spPr>
            <a:xfrm flipV="1">
              <a:off x="8333916" y="1"/>
              <a:ext cx="1450608" cy="1143677"/>
            </a:xfrm>
            <a:custGeom>
              <a:avLst/>
              <a:gdLst>
                <a:gd name="connsiteX0" fmla="*/ 134472 w 1450608"/>
                <a:gd name="connsiteY0" fmla="*/ 1143677 h 1143677"/>
                <a:gd name="connsiteX1" fmla="*/ 1316136 w 1450608"/>
                <a:gd name="connsiteY1" fmla="*/ 1143677 h 1143677"/>
                <a:gd name="connsiteX2" fmla="*/ 1326737 w 1450608"/>
                <a:gd name="connsiteY2" fmla="*/ 1130828 h 1143677"/>
                <a:gd name="connsiteX3" fmla="*/ 1450608 w 1450608"/>
                <a:gd name="connsiteY3" fmla="*/ 725304 h 1143677"/>
                <a:gd name="connsiteX4" fmla="*/ 725304 w 1450608"/>
                <a:gd name="connsiteY4" fmla="*/ 0 h 1143677"/>
                <a:gd name="connsiteX5" fmla="*/ 0 w 1450608"/>
                <a:gd name="connsiteY5" fmla="*/ 725304 h 1143677"/>
                <a:gd name="connsiteX6" fmla="*/ 123871 w 1450608"/>
                <a:gd name="connsiteY6" fmla="*/ 1130828 h 1143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50608" h="1143677">
                  <a:moveTo>
                    <a:pt x="134472" y="1143677"/>
                  </a:moveTo>
                  <a:lnTo>
                    <a:pt x="1316136" y="1143677"/>
                  </a:lnTo>
                  <a:lnTo>
                    <a:pt x="1326737" y="1130828"/>
                  </a:lnTo>
                  <a:cubicBezTo>
                    <a:pt x="1404943" y="1015069"/>
                    <a:pt x="1450608" y="875519"/>
                    <a:pt x="1450608" y="725304"/>
                  </a:cubicBezTo>
                  <a:cubicBezTo>
                    <a:pt x="1450608" y="324730"/>
                    <a:pt x="1125878" y="0"/>
                    <a:pt x="725304" y="0"/>
                  </a:cubicBezTo>
                  <a:cubicBezTo>
                    <a:pt x="324730" y="0"/>
                    <a:pt x="0" y="324730"/>
                    <a:pt x="0" y="725304"/>
                  </a:cubicBezTo>
                  <a:cubicBezTo>
                    <a:pt x="0" y="875519"/>
                    <a:pt x="45665" y="1015069"/>
                    <a:pt x="123871" y="1130828"/>
                  </a:cubicBezTo>
                  <a:close/>
                </a:path>
              </a:pathLst>
            </a:custGeom>
            <a:solidFill>
              <a:schemeClr val="accent1">
                <a:lumMod val="75000"/>
                <a:alpha val="72000"/>
              </a:schemeClr>
            </a:solidFill>
            <a:ln>
              <a:noFill/>
            </a:ln>
            <a:effectLst>
              <a:outerShdw blurRad="1905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350"/>
            </a:p>
          </p:txBody>
        </p:sp>
        <p:sp>
          <p:nvSpPr>
            <p:cNvPr id="22" name="椭圆 21"/>
            <p:cNvSpPr/>
            <p:nvPr/>
          </p:nvSpPr>
          <p:spPr>
            <a:xfrm flipV="1">
              <a:off x="2286980" y="511738"/>
              <a:ext cx="561520" cy="561520"/>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3" name="任意多边形: 形状 22"/>
            <p:cNvSpPr/>
            <p:nvPr/>
          </p:nvSpPr>
          <p:spPr>
            <a:xfrm flipV="1">
              <a:off x="1533823" y="0"/>
              <a:ext cx="786976" cy="418373"/>
            </a:xfrm>
            <a:custGeom>
              <a:avLst/>
              <a:gdLst>
                <a:gd name="connsiteX0" fmla="*/ 2509 w 786976"/>
                <a:gd name="connsiteY0" fmla="*/ 418373 h 418373"/>
                <a:gd name="connsiteX1" fmla="*/ 784468 w 786976"/>
                <a:gd name="connsiteY1" fmla="*/ 418373 h 418373"/>
                <a:gd name="connsiteX2" fmla="*/ 786976 w 786976"/>
                <a:gd name="connsiteY2" fmla="*/ 393488 h 418373"/>
                <a:gd name="connsiteX3" fmla="*/ 393488 w 786976"/>
                <a:gd name="connsiteY3" fmla="*/ 0 h 418373"/>
                <a:gd name="connsiteX4" fmla="*/ 0 w 786976"/>
                <a:gd name="connsiteY4" fmla="*/ 393488 h 418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6976" h="418373">
                  <a:moveTo>
                    <a:pt x="2509" y="418373"/>
                  </a:moveTo>
                  <a:lnTo>
                    <a:pt x="784468" y="418373"/>
                  </a:lnTo>
                  <a:lnTo>
                    <a:pt x="786976" y="393488"/>
                  </a:lnTo>
                  <a:cubicBezTo>
                    <a:pt x="786976" y="176171"/>
                    <a:pt x="610805" y="0"/>
                    <a:pt x="393488" y="0"/>
                  </a:cubicBezTo>
                  <a:cubicBezTo>
                    <a:pt x="176171" y="0"/>
                    <a:pt x="0" y="176171"/>
                    <a:pt x="0" y="393488"/>
                  </a:cubicBezTo>
                  <a:close/>
                </a:path>
              </a:pathLst>
            </a:custGeom>
            <a:solidFill>
              <a:schemeClr val="accent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350"/>
            </a:p>
          </p:txBody>
        </p:sp>
        <p:sp>
          <p:nvSpPr>
            <p:cNvPr id="24" name="椭圆 23"/>
            <p:cNvSpPr/>
            <p:nvPr/>
          </p:nvSpPr>
          <p:spPr>
            <a:xfrm flipV="1">
              <a:off x="10117770" y="483400"/>
              <a:ext cx="561520" cy="561520"/>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5" name="椭圆 24"/>
            <p:cNvSpPr/>
            <p:nvPr/>
          </p:nvSpPr>
          <p:spPr>
            <a:xfrm flipV="1">
              <a:off x="6819661" y="779752"/>
              <a:ext cx="374347" cy="374347"/>
            </a:xfrm>
            <a:prstGeom prst="ellipse">
              <a:avLst/>
            </a:prstGeom>
            <a:solidFill>
              <a:schemeClr val="accent1">
                <a:lumMod val="40000"/>
                <a:lumOff val="6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2" name="标题 1"/>
          <p:cNvSpPr>
            <a:spLocks noGrp="1"/>
          </p:cNvSpPr>
          <p:nvPr>
            <p:ph type="title" hasCustomPrompt="1"/>
          </p:nvPr>
        </p:nvSpPr>
        <p:spPr>
          <a:xfrm>
            <a:off x="965889" y="2302403"/>
            <a:ext cx="10515600" cy="1569660"/>
          </a:xfrm>
        </p:spPr>
        <p:txBody>
          <a:bodyPr>
            <a:normAutofit/>
          </a:bodyPr>
          <a:lstStyle>
            <a:lvl1pPr algn="ctr">
              <a:defRPr sz="8000"/>
            </a:lvl1pPr>
          </a:lstStyle>
          <a:p>
            <a:r>
              <a:rPr lang="zh-CN" altLang="en-US"/>
              <a:t>单击此处编辑标题</a:t>
            </a:r>
            <a:endParaRPr lang="zh-CN" altLang="en-US"/>
          </a:p>
        </p:txBody>
      </p:sp>
      <p:sp>
        <p:nvSpPr>
          <p:cNvPr id="3" name="日期占位符 2"/>
          <p:cNvSpPr>
            <a:spLocks noGrp="1"/>
          </p:cNvSpPr>
          <p:nvPr>
            <p:ph type="dt" sz="half" idx="10"/>
          </p:nvPr>
        </p:nvSpPr>
        <p:spPr/>
        <p:txBody>
          <a:bodyPr/>
          <a:lstStyle/>
          <a:p>
            <a:fld id="{A6D4A088-84C6-4E25-8974-50052BF70A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5F6551D-C697-47F0-8D0F-B52E4434774B}"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6D4A088-84C6-4E25-8974-50052BF70A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15F6551D-C697-47F0-8D0F-B52E4434774B}"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7" y="457200"/>
            <a:ext cx="4165200" cy="1600200"/>
          </a:xfrm>
        </p:spPr>
        <p:txBody>
          <a:bodyPr anchor="t" anchorCtr="0">
            <a:normAutofit/>
          </a:bodyPr>
          <a:lstStyle>
            <a:lvl1pPr>
              <a:defRPr sz="3600"/>
            </a:lvl1pPr>
          </a:lstStyle>
          <a:p>
            <a:r>
              <a:rPr lang="zh-CN" altLang="en-US" dirty="0"/>
              <a:t>单击此处编辑母版标题样式</a:t>
            </a:r>
            <a:endParaRPr lang="zh-CN" altLang="en-US" dirty="0"/>
          </a:p>
        </p:txBody>
      </p:sp>
      <p:sp>
        <p:nvSpPr>
          <p:cNvPr id="3" name="图片占位符 2"/>
          <p:cNvSpPr>
            <a:spLocks noGrp="1" noChangeAspect="1"/>
          </p:cNvSpPr>
          <p:nvPr>
            <p:ph type="pic" idx="1"/>
          </p:nvPr>
        </p:nvSpPr>
        <p:spPr>
          <a:xfrm>
            <a:off x="5184000" y="457200"/>
            <a:ext cx="6170400" cy="54036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839787" y="2057400"/>
            <a:ext cx="4165200" cy="3811588"/>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10396603" y="365125"/>
            <a:ext cx="957197" cy="5811838"/>
          </a:xfrm>
        </p:spPr>
        <p:txBody>
          <a:bodyPr vert="eaVert">
            <a:normAutofit/>
          </a:bodyPr>
          <a:lstStyle>
            <a:lvl1pPr>
              <a:defRPr sz="3600"/>
            </a:lvl1p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1" y="365125"/>
            <a:ext cx="9445668" cy="5811838"/>
          </a:xfrm>
        </p:spPr>
        <p:txBody>
          <a:bodyPr vert="eaVert"/>
          <a:lstStyle>
            <a:lvl1pPr>
              <a:defRPr/>
            </a:lvl1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A6D4A088-84C6-4E25-8974-50052BF70A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5F6551D-C697-47F0-8D0F-B52E4434774B}"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4"/>
            <a:ext cx="10515600" cy="555897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cSld name="1_内容">
    <p:spTree>
      <p:nvGrpSpPr>
        <p:cNvPr id="1" name=""/>
        <p:cNvGrpSpPr/>
        <p:nvPr/>
      </p:nvGrpSpPr>
      <p:grpSpPr>
        <a:xfrm>
          <a:off x="0" y="0"/>
          <a:ext cx="0" cy="0"/>
          <a:chOff x="0" y="0"/>
          <a:chExt cx="0" cy="0"/>
        </a:xfrm>
      </p:grpSpPr>
      <p:sp>
        <p:nvSpPr>
          <p:cNvPr id="2" name="内容占位符 1"/>
          <p:cNvSpPr>
            <a:spLocks noGrp="1"/>
          </p:cNvSpPr>
          <p:nvPr>
            <p:ph/>
          </p:nvPr>
        </p:nvSpPr>
        <p:spPr>
          <a:xfrm>
            <a:off x="914400" y="609600"/>
            <a:ext cx="10363200" cy="5486400"/>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20E1A007-26DC-4A06-97F1-C7A75F2C1DA5}" type="slidenum">
              <a:rPr lang="en-US" altLang="zh-CN"/>
            </a:fld>
            <a:endParaRPr lang="en-US" altLang="zh-CN"/>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914400" y="1981200"/>
            <a:ext cx="5080000" cy="4114800"/>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quarter" idx="2"/>
          </p:nvPr>
        </p:nvSpPr>
        <p:spPr>
          <a:xfrm>
            <a:off x="6197600" y="1981200"/>
            <a:ext cx="5080000" cy="1981200"/>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内容占位符 4"/>
          <p:cNvSpPr>
            <a:spLocks noGrp="1"/>
          </p:cNvSpPr>
          <p:nvPr>
            <p:ph sz="quarter" idx="3"/>
          </p:nvPr>
        </p:nvSpPr>
        <p:spPr>
          <a:xfrm>
            <a:off x="6197600" y="4114800"/>
            <a:ext cx="5080000" cy="1981200"/>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Rectangle 4"/>
          <p:cNvSpPr>
            <a:spLocks noGrp="1" noChangeArrowheads="1"/>
          </p:cNvSpPr>
          <p:nvPr>
            <p:ph type="dt" sz="half" idx="10"/>
          </p:nvPr>
        </p:nvSpPr>
        <p:spPr/>
        <p:txBody>
          <a:bodyPr/>
          <a:lstStyle>
            <a:lvl1pPr>
              <a:defRPr/>
            </a:lvl1pPr>
          </a:lstStyle>
          <a:p>
            <a:pPr>
              <a:defRPr/>
            </a:pPr>
            <a:endParaRPr lang="en-US" altLang="zh-CN"/>
          </a:p>
        </p:txBody>
      </p:sp>
      <p:sp>
        <p:nvSpPr>
          <p:cNvPr id="7" name="Rectangle 5"/>
          <p:cNvSpPr>
            <a:spLocks noGrp="1" noChangeArrowheads="1"/>
          </p:cNvSpPr>
          <p:nvPr>
            <p:ph type="ftr" sz="quarter" idx="11"/>
          </p:nvPr>
        </p:nvSpPr>
        <p:spPr/>
        <p:txBody>
          <a:bodyPr/>
          <a:lstStyle>
            <a:lvl1pPr>
              <a:defRPr/>
            </a:lvl1pPr>
          </a:lstStyle>
          <a:p>
            <a:pPr>
              <a:defRPr/>
            </a:pPr>
            <a:endParaRPr lang="en-US" altLang="zh-CN"/>
          </a:p>
        </p:txBody>
      </p:sp>
      <p:sp>
        <p:nvSpPr>
          <p:cNvPr id="8" name="Rectangle 6"/>
          <p:cNvSpPr>
            <a:spLocks noGrp="1" noChangeArrowheads="1"/>
          </p:cNvSpPr>
          <p:nvPr>
            <p:ph type="sldNum" sz="quarter" idx="12"/>
          </p:nvPr>
        </p:nvSpPr>
        <p:spPr/>
        <p:txBody>
          <a:bodyPr/>
          <a:lstStyle>
            <a:lvl1pPr>
              <a:defRPr/>
            </a:lvl1pPr>
          </a:lstStyle>
          <a:p>
            <a:pPr>
              <a:defRPr/>
            </a:pPr>
            <a:fld id="{708414A5-1FF1-431F-A706-886A6C5FEE26}" type="slidenum">
              <a:rPr lang="en-US" altLang="zh-CN"/>
            </a:fld>
            <a:endParaRPr lang="en-US" altLang="zh-CN"/>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914400" y="1981200"/>
            <a:ext cx="5080000" cy="4114800"/>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7600" y="1981200"/>
            <a:ext cx="5080000" cy="4114800"/>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46D43B46-0E68-4204-9422-278C72471F25}" type="slidenum">
              <a:rPr lang="en-US" altLang="zh-CN"/>
            </a:fld>
            <a:endParaRPr lang="en-US" altLang="zh-CN"/>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3.xml"/><Relationship Id="rId16" Type="http://schemas.openxmlformats.org/officeDocument/2006/relationships/tags" Target="../tags/tag2.xml"/><Relationship Id="rId15" Type="http://schemas.openxmlformats.org/officeDocument/2006/relationships/tags" Target="../tags/tag1.xml"/><Relationship Id="rId14" Type="http://schemas.openxmlformats.org/officeDocument/2006/relationships/image" Target="../media/image1.pn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4">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grpSp>
        <p:nvGrpSpPr>
          <p:cNvPr id="7" name="组合 6"/>
          <p:cNvGrpSpPr/>
          <p:nvPr/>
        </p:nvGrpSpPr>
        <p:grpSpPr>
          <a:xfrm rot="10800000">
            <a:off x="46587" y="5707287"/>
            <a:ext cx="1430939" cy="1085390"/>
            <a:chOff x="46587" y="5707287"/>
            <a:chExt cx="1430938" cy="1085390"/>
          </a:xfrm>
        </p:grpSpPr>
        <p:sp>
          <p:nvSpPr>
            <p:cNvPr id="8" name="椭圆 7"/>
            <p:cNvSpPr/>
            <p:nvPr/>
          </p:nvSpPr>
          <p:spPr>
            <a:xfrm>
              <a:off x="649487" y="6446845"/>
              <a:ext cx="345832" cy="34583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椭圆 8"/>
            <p:cNvSpPr/>
            <p:nvPr/>
          </p:nvSpPr>
          <p:spPr>
            <a:xfrm>
              <a:off x="966734" y="5707287"/>
              <a:ext cx="510791" cy="510791"/>
            </a:xfrm>
            <a:prstGeom prst="ellipse">
              <a:avLst/>
            </a:prstGeom>
            <a:solidFill>
              <a:schemeClr val="accent1">
                <a:lumMod val="75000"/>
                <a:alpha val="65000"/>
              </a:schemeClr>
            </a:solidFill>
            <a:ln>
              <a:noFill/>
            </a:ln>
            <a:effectLst>
              <a:outerShdw blurRad="76200" dist="38100" dir="2700000" algn="tl" rotWithShape="0">
                <a:srgbClr val="2B579A">
                  <a:alpha val="5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椭圆 9"/>
            <p:cNvSpPr/>
            <p:nvPr/>
          </p:nvSpPr>
          <p:spPr>
            <a:xfrm>
              <a:off x="46587" y="6234989"/>
              <a:ext cx="221063" cy="221063"/>
            </a:xfrm>
            <a:prstGeom prst="ellipse">
              <a:avLst/>
            </a:prstGeom>
            <a:solidFill>
              <a:schemeClr val="accent1">
                <a:lumMod val="40000"/>
                <a:lumOff val="60000"/>
                <a:alpha val="75000"/>
              </a:schemeClr>
            </a:solidFill>
            <a:ln>
              <a:noFill/>
            </a:ln>
            <a:effectLst>
              <a:outerShdw blurRad="76200" dist="38100" dir="2700000" algn="tl" rotWithShape="0">
                <a:srgbClr val="2B579A">
                  <a:alpha val="6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2" name="标题占位符 1"/>
          <p:cNvSpPr>
            <a:spLocks noGrp="1"/>
          </p:cNvSpPr>
          <p:nvPr>
            <p:ph type="title"/>
            <p:custDataLst>
              <p:tags r:id="rId15"/>
            </p:custDataLst>
          </p:nvPr>
        </p:nvSpPr>
        <p:spPr>
          <a:xfrm>
            <a:off x="838200" y="365126"/>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6"/>
            </p:custDataLst>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1"/>
            <a:ext cx="2743200" cy="365125"/>
          </a:xfrm>
          <a:prstGeom prst="rect">
            <a:avLst/>
          </a:prstGeom>
        </p:spPr>
        <p:txBody>
          <a:bodyPr vert="horz" lIns="91440" tIns="45720" rIns="91440" bIns="45720" rtlCol="0" anchor="ctr">
            <a:normAutofit/>
          </a:bodyPr>
          <a:lstStyle>
            <a:lvl1pPr algn="l">
              <a:lnSpc>
                <a:spcPct val="120000"/>
              </a:lnSpc>
              <a:defRPr sz="1200">
                <a:solidFill>
                  <a:schemeClr val="bg1">
                    <a:lumMod val="50000"/>
                  </a:schemeClr>
                </a:solidFill>
              </a:defRPr>
            </a:lvl1pPr>
          </a:lstStyle>
          <a:p>
            <a:fld id="{A6D4A088-84C6-4E25-8974-50052BF70A30}" type="datetimeFigureOut">
              <a:rPr lang="zh-CN" altLang="en-US" smtClean="0"/>
            </a:fld>
            <a:endParaRPr lang="zh-CN" altLang="en-US"/>
          </a:p>
        </p:txBody>
      </p:sp>
      <p:sp>
        <p:nvSpPr>
          <p:cNvPr id="5" name="页脚占位符 4"/>
          <p:cNvSpPr>
            <a:spLocks noGrp="1"/>
          </p:cNvSpPr>
          <p:nvPr>
            <p:ph type="ftr" sz="quarter" idx="3"/>
          </p:nvPr>
        </p:nvSpPr>
        <p:spPr>
          <a:xfrm>
            <a:off x="4038600" y="6356351"/>
            <a:ext cx="4114800" cy="365125"/>
          </a:xfrm>
          <a:prstGeom prst="rect">
            <a:avLst/>
          </a:prstGeom>
        </p:spPr>
        <p:txBody>
          <a:bodyPr vert="horz" lIns="91440" tIns="45720" rIns="91440" bIns="45720" rtlCol="0" anchor="ctr">
            <a:normAutofit/>
          </a:bodyPr>
          <a:lstStyle>
            <a:lvl1pPr algn="ctr">
              <a:lnSpc>
                <a:spcPct val="120000"/>
              </a:lnSpc>
              <a:defRPr sz="1200">
                <a:solidFill>
                  <a:schemeClr val="bg1">
                    <a:lumMod val="50000"/>
                  </a:schemeClr>
                </a:solidFill>
              </a:defRPr>
            </a:lvl1pPr>
          </a:lstStyle>
          <a:p>
            <a:endParaRPr lang="zh-CN" altLang="en-US"/>
          </a:p>
        </p:txBody>
      </p:sp>
      <p:sp>
        <p:nvSpPr>
          <p:cNvPr id="6" name="灯片编号占位符 5"/>
          <p:cNvSpPr>
            <a:spLocks noGrp="1"/>
          </p:cNvSpPr>
          <p:nvPr>
            <p:ph type="sldNum" sz="quarter" idx="4"/>
          </p:nvPr>
        </p:nvSpPr>
        <p:spPr>
          <a:xfrm>
            <a:off x="8610600" y="6356351"/>
            <a:ext cx="2743200" cy="365125"/>
          </a:xfrm>
          <a:prstGeom prst="rect">
            <a:avLst/>
          </a:prstGeom>
        </p:spPr>
        <p:txBody>
          <a:bodyPr vert="horz" lIns="91440" tIns="45720" rIns="91440" bIns="45720" rtlCol="0" anchor="ctr">
            <a:normAutofit/>
          </a:bodyPr>
          <a:lstStyle>
            <a:lvl1pPr algn="r">
              <a:lnSpc>
                <a:spcPct val="120000"/>
              </a:lnSpc>
              <a:defRPr sz="1200">
                <a:solidFill>
                  <a:schemeClr val="bg1">
                    <a:lumMod val="50000"/>
                  </a:schemeClr>
                </a:solidFill>
              </a:defRPr>
            </a:lvl1pPr>
          </a:lstStyle>
          <a:p>
            <a:fld id="{15F6551D-C697-47F0-8D0F-B52E4434774B}" type="slidenum">
              <a:rPr lang="zh-CN" altLang="en-US" smtClean="0"/>
            </a:fld>
            <a:endParaRPr lang="zh-CN" altLang="en-US"/>
          </a:p>
        </p:txBody>
      </p:sp>
      <p:sp>
        <p:nvSpPr>
          <p:cNvPr id="11" name="KSO_TEMPLATE" hidden="1"/>
          <p:cNvSpPr/>
          <p:nvPr>
            <p:custDataLst>
              <p:tags r:id="rId1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120000"/>
        </a:lnSpc>
        <a:spcBef>
          <a:spcPct val="0"/>
        </a:spcBef>
        <a:buNone/>
        <a:defRPr sz="4400" kern="120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90204" pitchFamily="34" charset="0"/>
        <a:buChar char="•"/>
        <a:defRPr sz="24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90204" pitchFamily="34" charset="0"/>
        <a:buChar char="•"/>
        <a:defRPr sz="20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90204" pitchFamily="34" charset="0"/>
        <a:buChar char="•"/>
        <a:defRPr sz="18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9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9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vmlDrawing" Target="../drawings/vmlDrawing1.vml"/><Relationship Id="rId7" Type="http://schemas.openxmlformats.org/officeDocument/2006/relationships/slideLayout" Target="../slideLayouts/slideLayout2.xml"/><Relationship Id="rId6" Type="http://schemas.openxmlformats.org/officeDocument/2006/relationships/image" Target="../media/image4.wmf"/><Relationship Id="rId5" Type="http://schemas.openxmlformats.org/officeDocument/2006/relationships/oleObject" Target="../embeddings/oleObject3.bin"/><Relationship Id="rId4" Type="http://schemas.openxmlformats.org/officeDocument/2006/relationships/image" Target="../media/image3.wmf"/><Relationship Id="rId3" Type="http://schemas.openxmlformats.org/officeDocument/2006/relationships/oleObject" Target="../embeddings/oleObject2.bin"/><Relationship Id="rId2" Type="http://schemas.openxmlformats.org/officeDocument/2006/relationships/image" Target="../media/image2.wmf"/><Relationship Id="rId1"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0.png"/><Relationship Id="rId7" Type="http://schemas.openxmlformats.org/officeDocument/2006/relationships/image" Target="../media/image9.emf"/><Relationship Id="rId6" Type="http://schemas.openxmlformats.org/officeDocument/2006/relationships/oleObject" Target="../embeddings/oleObject6.bin"/><Relationship Id="rId5" Type="http://schemas.openxmlformats.org/officeDocument/2006/relationships/image" Target="../media/image8.emf"/><Relationship Id="rId4" Type="http://schemas.openxmlformats.org/officeDocument/2006/relationships/oleObject" Target="../embeddings/oleObject5.bin"/><Relationship Id="rId3" Type="http://schemas.openxmlformats.org/officeDocument/2006/relationships/image" Target="../media/image7.png"/><Relationship Id="rId2" Type="http://schemas.openxmlformats.org/officeDocument/2006/relationships/image" Target="../media/image6.emf"/><Relationship Id="rId10" Type="http://schemas.openxmlformats.org/officeDocument/2006/relationships/vmlDrawing" Target="../drawings/vmlDrawing2.vml"/><Relationship Id="rId1" Type="http://schemas.openxmlformats.org/officeDocument/2006/relationships/oleObject" Target="../embeddings/oleObject4.bin"/></Relationships>
</file>

<file path=ppt/slides/_rels/slide8.xml.rels><?xml version="1.0" encoding="UTF-8" standalone="yes"?>
<Relationships xmlns="http://schemas.openxmlformats.org/package/2006/relationships"><Relationship Id="rId9" Type="http://schemas.openxmlformats.org/officeDocument/2006/relationships/vmlDrawing" Target="../drawings/vmlDrawing3.vml"/><Relationship Id="rId8" Type="http://schemas.openxmlformats.org/officeDocument/2006/relationships/slideLayout" Target="../slideLayouts/slideLayout2.xml"/><Relationship Id="rId7" Type="http://schemas.openxmlformats.org/officeDocument/2006/relationships/image" Target="../media/image13.emf"/><Relationship Id="rId6" Type="http://schemas.openxmlformats.org/officeDocument/2006/relationships/oleObject" Target="../embeddings/oleObject9.bin"/><Relationship Id="rId5" Type="http://schemas.openxmlformats.org/officeDocument/2006/relationships/image" Target="../media/image12.emf"/><Relationship Id="rId4" Type="http://schemas.openxmlformats.org/officeDocument/2006/relationships/oleObject" Target="../embeddings/oleObject8.bin"/><Relationship Id="rId3" Type="http://schemas.openxmlformats.org/officeDocument/2006/relationships/image" Target="../media/image11.emf"/><Relationship Id="rId2" Type="http://schemas.openxmlformats.org/officeDocument/2006/relationships/oleObject" Target="../embeddings/oleObject7.bin"/><Relationship Id="rId1" Type="http://schemas.openxmlformats.org/officeDocument/2006/relationships/slide" Target="slide4.xml"/></Relationships>
</file>

<file path=ppt/slides/_rels/slide9.xml.rels><?xml version="1.0" encoding="UTF-8" standalone="yes"?>
<Relationships xmlns="http://schemas.openxmlformats.org/package/2006/relationships"><Relationship Id="rId9" Type="http://schemas.openxmlformats.org/officeDocument/2006/relationships/vmlDrawing" Target="../drawings/vmlDrawing4.vml"/><Relationship Id="rId8" Type="http://schemas.openxmlformats.org/officeDocument/2006/relationships/slideLayout" Target="../slideLayouts/slideLayout2.xml"/><Relationship Id="rId7" Type="http://schemas.openxmlformats.org/officeDocument/2006/relationships/image" Target="../media/image16.emf"/><Relationship Id="rId6" Type="http://schemas.openxmlformats.org/officeDocument/2006/relationships/oleObject" Target="../embeddings/oleObject12.bin"/><Relationship Id="rId5" Type="http://schemas.openxmlformats.org/officeDocument/2006/relationships/image" Target="../media/image15.emf"/><Relationship Id="rId4" Type="http://schemas.openxmlformats.org/officeDocument/2006/relationships/oleObject" Target="../embeddings/oleObject11.bin"/><Relationship Id="rId3" Type="http://schemas.openxmlformats.org/officeDocument/2006/relationships/image" Target="../media/image14.emf"/><Relationship Id="rId2" Type="http://schemas.openxmlformats.org/officeDocument/2006/relationships/oleObject" Target="../embeddings/oleObject10.bin"/><Relationship Id="rId1" Type="http://schemas.openxmlformats.org/officeDocument/2006/relationships/slide" Target="slide4.xml"/></Relationships>
</file>

<file path=ppt/slides/_rels/slide10.xml.rels><?xml version="1.0" encoding="UTF-8" standalone="yes"?>
<Relationships xmlns="http://schemas.openxmlformats.org/package/2006/relationships"><Relationship Id="rId7" Type="http://schemas.openxmlformats.org/officeDocument/2006/relationships/vmlDrawing" Target="../drawings/vmlDrawing5.vml"/><Relationship Id="rId6" Type="http://schemas.openxmlformats.org/officeDocument/2006/relationships/slideLayout" Target="../slideLayouts/slideLayout2.xml"/><Relationship Id="rId5" Type="http://schemas.openxmlformats.org/officeDocument/2006/relationships/image" Target="../media/image18.emf"/><Relationship Id="rId4" Type="http://schemas.openxmlformats.org/officeDocument/2006/relationships/oleObject" Target="../embeddings/oleObject14.bin"/><Relationship Id="rId3" Type="http://schemas.openxmlformats.org/officeDocument/2006/relationships/image" Target="../media/image17.emf"/><Relationship Id="rId2" Type="http://schemas.openxmlformats.org/officeDocument/2006/relationships/oleObject" Target="../embeddings/oleObject13.bin"/><Relationship Id="rId1" Type="http://schemas.openxmlformats.org/officeDocument/2006/relationships/slide" Target="slide4.xml"/></Relationships>
</file>

<file path=ppt/slides/_rels/slide11.xml.rels><?xml version="1.0" encoding="UTF-8" standalone="yes"?>
<Relationships xmlns="http://schemas.openxmlformats.org/package/2006/relationships"><Relationship Id="rId9" Type="http://schemas.openxmlformats.org/officeDocument/2006/relationships/image" Target="../media/image22.emf"/><Relationship Id="rId8" Type="http://schemas.openxmlformats.org/officeDocument/2006/relationships/oleObject" Target="../embeddings/oleObject18.bin"/><Relationship Id="rId7" Type="http://schemas.openxmlformats.org/officeDocument/2006/relationships/image" Target="../media/image21.emf"/><Relationship Id="rId6" Type="http://schemas.openxmlformats.org/officeDocument/2006/relationships/oleObject" Target="../embeddings/oleObject17.bin"/><Relationship Id="rId5" Type="http://schemas.openxmlformats.org/officeDocument/2006/relationships/image" Target="../media/image20.emf"/><Relationship Id="rId4" Type="http://schemas.openxmlformats.org/officeDocument/2006/relationships/oleObject" Target="../embeddings/oleObject16.bin"/><Relationship Id="rId3" Type="http://schemas.openxmlformats.org/officeDocument/2006/relationships/image" Target="../media/image19.emf"/><Relationship Id="rId2" Type="http://schemas.openxmlformats.org/officeDocument/2006/relationships/oleObject" Target="../embeddings/oleObject15.bin"/><Relationship Id="rId11" Type="http://schemas.openxmlformats.org/officeDocument/2006/relationships/vmlDrawing" Target="../drawings/vmlDrawing6.vml"/><Relationship Id="rId10" Type="http://schemas.openxmlformats.org/officeDocument/2006/relationships/slideLayout" Target="../slideLayouts/slideLayout11.xml"/><Relationship Id="rId1" Type="http://schemas.openxmlformats.org/officeDocument/2006/relationships/slide" Target="slide4.xml"/></Relationships>
</file>

<file path=ppt/slides/_rels/slide12.xml.rels><?xml version="1.0" encoding="UTF-8" standalone="yes"?>
<Relationships xmlns="http://schemas.openxmlformats.org/package/2006/relationships"><Relationship Id="rId9" Type="http://schemas.openxmlformats.org/officeDocument/2006/relationships/image" Target="../media/image26.emf"/><Relationship Id="rId8" Type="http://schemas.openxmlformats.org/officeDocument/2006/relationships/oleObject" Target="../embeddings/oleObject22.bin"/><Relationship Id="rId7" Type="http://schemas.openxmlformats.org/officeDocument/2006/relationships/image" Target="../media/image25.emf"/><Relationship Id="rId6" Type="http://schemas.openxmlformats.org/officeDocument/2006/relationships/oleObject" Target="../embeddings/oleObject21.bin"/><Relationship Id="rId5" Type="http://schemas.openxmlformats.org/officeDocument/2006/relationships/image" Target="../media/image24.emf"/><Relationship Id="rId4" Type="http://schemas.openxmlformats.org/officeDocument/2006/relationships/oleObject" Target="../embeddings/oleObject20.bin"/><Relationship Id="rId3" Type="http://schemas.openxmlformats.org/officeDocument/2006/relationships/image" Target="../media/image23.emf"/><Relationship Id="rId2" Type="http://schemas.openxmlformats.org/officeDocument/2006/relationships/oleObject" Target="../embeddings/oleObject19.bin"/><Relationship Id="rId13" Type="http://schemas.openxmlformats.org/officeDocument/2006/relationships/vmlDrawing" Target="../drawings/vmlDrawing7.vml"/><Relationship Id="rId12" Type="http://schemas.openxmlformats.org/officeDocument/2006/relationships/slideLayout" Target="../slideLayouts/slideLayout12.xml"/><Relationship Id="rId11" Type="http://schemas.openxmlformats.org/officeDocument/2006/relationships/image" Target="../media/image27.emf"/><Relationship Id="rId10" Type="http://schemas.openxmlformats.org/officeDocument/2006/relationships/oleObject" Target="../embeddings/oleObject23.bin"/><Relationship Id="rId1" Type="http://schemas.openxmlformats.org/officeDocument/2006/relationships/slide" Target="slide4.xml"/></Relationships>
</file>

<file path=ppt/slides/_rels/slide13.xml.rels><?xml version="1.0" encoding="UTF-8" standalone="yes"?>
<Relationships xmlns="http://schemas.openxmlformats.org/package/2006/relationships"><Relationship Id="rId9" Type="http://schemas.openxmlformats.org/officeDocument/2006/relationships/image" Target="../media/image31.emf"/><Relationship Id="rId8" Type="http://schemas.openxmlformats.org/officeDocument/2006/relationships/oleObject" Target="../embeddings/oleObject27.bin"/><Relationship Id="rId7" Type="http://schemas.openxmlformats.org/officeDocument/2006/relationships/image" Target="../media/image30.emf"/><Relationship Id="rId6" Type="http://schemas.openxmlformats.org/officeDocument/2006/relationships/oleObject" Target="../embeddings/oleObject26.bin"/><Relationship Id="rId5" Type="http://schemas.openxmlformats.org/officeDocument/2006/relationships/image" Target="../media/image29.emf"/><Relationship Id="rId4" Type="http://schemas.openxmlformats.org/officeDocument/2006/relationships/oleObject" Target="../embeddings/oleObject25.bin"/><Relationship Id="rId3" Type="http://schemas.openxmlformats.org/officeDocument/2006/relationships/image" Target="../media/image28.emf"/><Relationship Id="rId2" Type="http://schemas.openxmlformats.org/officeDocument/2006/relationships/oleObject" Target="../embeddings/oleObject24.bin"/><Relationship Id="rId11" Type="http://schemas.openxmlformats.org/officeDocument/2006/relationships/vmlDrawing" Target="../drawings/vmlDrawing8.vml"/><Relationship Id="rId10" Type="http://schemas.openxmlformats.org/officeDocument/2006/relationships/slideLayout" Target="../slideLayouts/slideLayout11.xml"/><Relationship Id="rId1" Type="http://schemas.openxmlformats.org/officeDocument/2006/relationships/slide" Target="slide4.xml"/></Relationships>
</file>

<file path=ppt/slides/_rels/slide14.xml.rels><?xml version="1.0" encoding="UTF-8" standalone="yes"?>
<Relationships xmlns="http://schemas.openxmlformats.org/package/2006/relationships"><Relationship Id="rId9" Type="http://schemas.openxmlformats.org/officeDocument/2006/relationships/image" Target="../media/image35.emf"/><Relationship Id="rId8" Type="http://schemas.openxmlformats.org/officeDocument/2006/relationships/oleObject" Target="../embeddings/oleObject31.bin"/><Relationship Id="rId7" Type="http://schemas.openxmlformats.org/officeDocument/2006/relationships/image" Target="../media/image34.emf"/><Relationship Id="rId6" Type="http://schemas.openxmlformats.org/officeDocument/2006/relationships/oleObject" Target="../embeddings/oleObject30.bin"/><Relationship Id="rId5" Type="http://schemas.openxmlformats.org/officeDocument/2006/relationships/image" Target="../media/image33.emf"/><Relationship Id="rId4" Type="http://schemas.openxmlformats.org/officeDocument/2006/relationships/oleObject" Target="../embeddings/oleObject29.bin"/><Relationship Id="rId3" Type="http://schemas.openxmlformats.org/officeDocument/2006/relationships/image" Target="../media/image32.emf"/><Relationship Id="rId2" Type="http://schemas.openxmlformats.org/officeDocument/2006/relationships/oleObject" Target="../embeddings/oleObject28.bin"/><Relationship Id="rId11" Type="http://schemas.openxmlformats.org/officeDocument/2006/relationships/vmlDrawing" Target="../drawings/vmlDrawing9.vml"/><Relationship Id="rId10" Type="http://schemas.openxmlformats.org/officeDocument/2006/relationships/slideLayout" Target="../slideLayouts/slideLayout12.xml"/><Relationship Id="rId1" Type="http://schemas.openxmlformats.org/officeDocument/2006/relationships/slide" Target="slide4.xml"/></Relationships>
</file>

<file path=ppt/slides/_rels/slide15.xml.rels><?xml version="1.0" encoding="UTF-8" standalone="yes"?>
<Relationships xmlns="http://schemas.openxmlformats.org/package/2006/relationships"><Relationship Id="rId9" Type="http://schemas.openxmlformats.org/officeDocument/2006/relationships/vmlDrawing" Target="../drawings/vmlDrawing10.vml"/><Relationship Id="rId8" Type="http://schemas.openxmlformats.org/officeDocument/2006/relationships/slideLayout" Target="../slideLayouts/slideLayout11.xml"/><Relationship Id="rId7" Type="http://schemas.openxmlformats.org/officeDocument/2006/relationships/image" Target="../media/image38.emf"/><Relationship Id="rId6" Type="http://schemas.openxmlformats.org/officeDocument/2006/relationships/oleObject" Target="../embeddings/oleObject34.bin"/><Relationship Id="rId5" Type="http://schemas.openxmlformats.org/officeDocument/2006/relationships/image" Target="../media/image37.emf"/><Relationship Id="rId4" Type="http://schemas.openxmlformats.org/officeDocument/2006/relationships/oleObject" Target="../embeddings/oleObject33.bin"/><Relationship Id="rId3" Type="http://schemas.openxmlformats.org/officeDocument/2006/relationships/image" Target="../media/image36.emf"/><Relationship Id="rId2" Type="http://schemas.openxmlformats.org/officeDocument/2006/relationships/oleObject" Target="../embeddings/oleObject32.bin"/><Relationship Id="rId1" Type="http://schemas.openxmlformats.org/officeDocument/2006/relationships/slide" Target="slide4.xml"/></Relationships>
</file>

<file path=ppt/slides/_rels/slide16.xml.rels><?xml version="1.0" encoding="UTF-8" standalone="yes"?>
<Relationships xmlns="http://schemas.openxmlformats.org/package/2006/relationships"><Relationship Id="rId7" Type="http://schemas.openxmlformats.org/officeDocument/2006/relationships/vmlDrawing" Target="../drawings/vmlDrawing11.vml"/><Relationship Id="rId6" Type="http://schemas.openxmlformats.org/officeDocument/2006/relationships/slideLayout" Target="../slideLayouts/slideLayout11.xml"/><Relationship Id="rId5" Type="http://schemas.openxmlformats.org/officeDocument/2006/relationships/image" Target="../media/image40.emf"/><Relationship Id="rId4" Type="http://schemas.openxmlformats.org/officeDocument/2006/relationships/oleObject" Target="../embeddings/oleObject36.bin"/><Relationship Id="rId3" Type="http://schemas.openxmlformats.org/officeDocument/2006/relationships/image" Target="../media/image39.wmf"/><Relationship Id="rId2" Type="http://schemas.openxmlformats.org/officeDocument/2006/relationships/oleObject" Target="../embeddings/oleObject35.bin"/><Relationship Id="rId1" Type="http://schemas.openxmlformats.org/officeDocument/2006/relationships/slide" Target="slide4.xml"/></Relationships>
</file>

<file path=ppt/slides/_rels/slide17.xml.rels><?xml version="1.0" encoding="UTF-8" standalone="yes"?>
<Relationships xmlns="http://schemas.openxmlformats.org/package/2006/relationships"><Relationship Id="rId9" Type="http://schemas.openxmlformats.org/officeDocument/2006/relationships/image" Target="../media/image44.wmf"/><Relationship Id="rId8" Type="http://schemas.openxmlformats.org/officeDocument/2006/relationships/oleObject" Target="../embeddings/oleObject40.bin"/><Relationship Id="rId7" Type="http://schemas.openxmlformats.org/officeDocument/2006/relationships/image" Target="../media/image43.emf"/><Relationship Id="rId6" Type="http://schemas.openxmlformats.org/officeDocument/2006/relationships/oleObject" Target="../embeddings/oleObject39.bin"/><Relationship Id="rId5" Type="http://schemas.openxmlformats.org/officeDocument/2006/relationships/image" Target="../media/image42.emf"/><Relationship Id="rId4" Type="http://schemas.openxmlformats.org/officeDocument/2006/relationships/oleObject" Target="../embeddings/oleObject38.bin"/><Relationship Id="rId3" Type="http://schemas.openxmlformats.org/officeDocument/2006/relationships/image" Target="../media/image41.emf"/><Relationship Id="rId23" Type="http://schemas.openxmlformats.org/officeDocument/2006/relationships/vmlDrawing" Target="../drawings/vmlDrawing12.vml"/><Relationship Id="rId22" Type="http://schemas.openxmlformats.org/officeDocument/2006/relationships/slideLayout" Target="../slideLayouts/slideLayout11.xml"/><Relationship Id="rId21" Type="http://schemas.openxmlformats.org/officeDocument/2006/relationships/image" Target="../media/image50.emf"/><Relationship Id="rId20" Type="http://schemas.openxmlformats.org/officeDocument/2006/relationships/oleObject" Target="../embeddings/oleObject46.bin"/><Relationship Id="rId2" Type="http://schemas.openxmlformats.org/officeDocument/2006/relationships/oleObject" Target="../embeddings/oleObject37.bin"/><Relationship Id="rId19" Type="http://schemas.openxmlformats.org/officeDocument/2006/relationships/image" Target="../media/image49.emf"/><Relationship Id="rId18" Type="http://schemas.openxmlformats.org/officeDocument/2006/relationships/oleObject" Target="../embeddings/oleObject45.bin"/><Relationship Id="rId17" Type="http://schemas.openxmlformats.org/officeDocument/2006/relationships/image" Target="../media/image48.emf"/><Relationship Id="rId16" Type="http://schemas.openxmlformats.org/officeDocument/2006/relationships/oleObject" Target="../embeddings/oleObject44.bin"/><Relationship Id="rId15" Type="http://schemas.openxmlformats.org/officeDocument/2006/relationships/image" Target="../media/image47.emf"/><Relationship Id="rId14" Type="http://schemas.openxmlformats.org/officeDocument/2006/relationships/oleObject" Target="../embeddings/oleObject43.bin"/><Relationship Id="rId13" Type="http://schemas.openxmlformats.org/officeDocument/2006/relationships/image" Target="../media/image46.emf"/><Relationship Id="rId12" Type="http://schemas.openxmlformats.org/officeDocument/2006/relationships/oleObject" Target="../embeddings/oleObject42.bin"/><Relationship Id="rId11" Type="http://schemas.openxmlformats.org/officeDocument/2006/relationships/image" Target="../media/image45.emf"/><Relationship Id="rId10" Type="http://schemas.openxmlformats.org/officeDocument/2006/relationships/oleObject" Target="../embeddings/oleObject41.bin"/><Relationship Id="rId1" Type="http://schemas.openxmlformats.org/officeDocument/2006/relationships/slide" Target="slide4.xml"/></Relationships>
</file>

<file path=ppt/slides/_rels/slide18.xml.rels><?xml version="1.0" encoding="UTF-8" standalone="yes"?>
<Relationships xmlns="http://schemas.openxmlformats.org/package/2006/relationships"><Relationship Id="rId9" Type="http://schemas.openxmlformats.org/officeDocument/2006/relationships/image" Target="../media/image54.emf"/><Relationship Id="rId8" Type="http://schemas.openxmlformats.org/officeDocument/2006/relationships/oleObject" Target="../embeddings/oleObject50.bin"/><Relationship Id="rId7" Type="http://schemas.openxmlformats.org/officeDocument/2006/relationships/image" Target="../media/image53.emf"/><Relationship Id="rId6" Type="http://schemas.openxmlformats.org/officeDocument/2006/relationships/oleObject" Target="../embeddings/oleObject49.bin"/><Relationship Id="rId5" Type="http://schemas.openxmlformats.org/officeDocument/2006/relationships/image" Target="../media/image52.emf"/><Relationship Id="rId4" Type="http://schemas.openxmlformats.org/officeDocument/2006/relationships/oleObject" Target="../embeddings/oleObject48.bin"/><Relationship Id="rId3" Type="http://schemas.openxmlformats.org/officeDocument/2006/relationships/image" Target="../media/image51.emf"/><Relationship Id="rId2" Type="http://schemas.openxmlformats.org/officeDocument/2006/relationships/oleObject" Target="../embeddings/oleObject47.bin"/><Relationship Id="rId15" Type="http://schemas.openxmlformats.org/officeDocument/2006/relationships/vmlDrawing" Target="../drawings/vmlDrawing13.vml"/><Relationship Id="rId14" Type="http://schemas.openxmlformats.org/officeDocument/2006/relationships/slideLayout" Target="../slideLayouts/slideLayout11.xml"/><Relationship Id="rId13" Type="http://schemas.openxmlformats.org/officeDocument/2006/relationships/image" Target="../media/image56.wmf"/><Relationship Id="rId12" Type="http://schemas.openxmlformats.org/officeDocument/2006/relationships/oleObject" Target="../embeddings/oleObject52.bin"/><Relationship Id="rId11" Type="http://schemas.openxmlformats.org/officeDocument/2006/relationships/image" Target="../media/image55.emf"/><Relationship Id="rId10" Type="http://schemas.openxmlformats.org/officeDocument/2006/relationships/oleObject" Target="../embeddings/oleObject51.bin"/><Relationship Id="rId1" Type="http://schemas.openxmlformats.org/officeDocument/2006/relationships/slide" Target="slide4.xml"/></Relationships>
</file>

<file path=ppt/slides/_rels/slide19.xml.rels><?xml version="1.0" encoding="UTF-8" standalone="yes"?>
<Relationships xmlns="http://schemas.openxmlformats.org/package/2006/relationships"><Relationship Id="rId9" Type="http://schemas.openxmlformats.org/officeDocument/2006/relationships/image" Target="../media/image60.emf"/><Relationship Id="rId8" Type="http://schemas.openxmlformats.org/officeDocument/2006/relationships/oleObject" Target="../embeddings/oleObject56.bin"/><Relationship Id="rId7" Type="http://schemas.openxmlformats.org/officeDocument/2006/relationships/image" Target="../media/image59.emf"/><Relationship Id="rId6" Type="http://schemas.openxmlformats.org/officeDocument/2006/relationships/oleObject" Target="../embeddings/oleObject55.bin"/><Relationship Id="rId5" Type="http://schemas.openxmlformats.org/officeDocument/2006/relationships/image" Target="../media/image58.emf"/><Relationship Id="rId4" Type="http://schemas.openxmlformats.org/officeDocument/2006/relationships/oleObject" Target="../embeddings/oleObject54.bin"/><Relationship Id="rId3" Type="http://schemas.openxmlformats.org/officeDocument/2006/relationships/image" Target="../media/image57.emf"/><Relationship Id="rId2" Type="http://schemas.openxmlformats.org/officeDocument/2006/relationships/oleObject" Target="../embeddings/oleObject53.bin"/><Relationship Id="rId13" Type="http://schemas.openxmlformats.org/officeDocument/2006/relationships/vmlDrawing" Target="../drawings/vmlDrawing14.vml"/><Relationship Id="rId12" Type="http://schemas.openxmlformats.org/officeDocument/2006/relationships/slideLayout" Target="../slideLayouts/slideLayout12.xml"/><Relationship Id="rId11" Type="http://schemas.openxmlformats.org/officeDocument/2006/relationships/image" Target="../media/image61.emf"/><Relationship Id="rId10" Type="http://schemas.openxmlformats.org/officeDocument/2006/relationships/oleObject" Target="../embeddings/oleObject57.bin"/><Relationship Id="rId1" Type="http://schemas.openxmlformats.org/officeDocument/2006/relationships/slide" Target="slide4.xml"/></Relationships>
</file>

<file path=ppt/slides/_rels/slide20.xml.rels><?xml version="1.0" encoding="UTF-8" standalone="yes"?>
<Relationships xmlns="http://schemas.openxmlformats.org/package/2006/relationships"><Relationship Id="rId9" Type="http://schemas.openxmlformats.org/officeDocument/2006/relationships/image" Target="../media/image65.wmf"/><Relationship Id="rId8" Type="http://schemas.openxmlformats.org/officeDocument/2006/relationships/oleObject" Target="../embeddings/oleObject61.bin"/><Relationship Id="rId7" Type="http://schemas.openxmlformats.org/officeDocument/2006/relationships/image" Target="../media/image64.emf"/><Relationship Id="rId6" Type="http://schemas.openxmlformats.org/officeDocument/2006/relationships/oleObject" Target="../embeddings/oleObject60.bin"/><Relationship Id="rId5" Type="http://schemas.openxmlformats.org/officeDocument/2006/relationships/image" Target="../media/image63.emf"/><Relationship Id="rId4" Type="http://schemas.openxmlformats.org/officeDocument/2006/relationships/oleObject" Target="../embeddings/oleObject59.bin"/><Relationship Id="rId3" Type="http://schemas.openxmlformats.org/officeDocument/2006/relationships/image" Target="../media/image62.emf"/><Relationship Id="rId2" Type="http://schemas.openxmlformats.org/officeDocument/2006/relationships/oleObject" Target="../embeddings/oleObject58.bin"/><Relationship Id="rId11" Type="http://schemas.openxmlformats.org/officeDocument/2006/relationships/vmlDrawing" Target="../drawings/vmlDrawing15.vml"/><Relationship Id="rId10" Type="http://schemas.openxmlformats.org/officeDocument/2006/relationships/slideLayout" Target="../slideLayouts/slideLayout12.xml"/><Relationship Id="rId1" Type="http://schemas.openxmlformats.org/officeDocument/2006/relationships/slide" Target="slide4.xml"/></Relationships>
</file>

<file path=ppt/slides/_rels/slide21.xml.rels><?xml version="1.0" encoding="UTF-8" standalone="yes"?>
<Relationships xmlns="http://schemas.openxmlformats.org/package/2006/relationships"><Relationship Id="rId9" Type="http://schemas.openxmlformats.org/officeDocument/2006/relationships/image" Target="../media/image69.emf"/><Relationship Id="rId8" Type="http://schemas.openxmlformats.org/officeDocument/2006/relationships/oleObject" Target="../embeddings/oleObject65.bin"/><Relationship Id="rId7" Type="http://schemas.openxmlformats.org/officeDocument/2006/relationships/image" Target="../media/image68.emf"/><Relationship Id="rId6" Type="http://schemas.openxmlformats.org/officeDocument/2006/relationships/oleObject" Target="../embeddings/oleObject64.bin"/><Relationship Id="rId5" Type="http://schemas.openxmlformats.org/officeDocument/2006/relationships/image" Target="../media/image67.emf"/><Relationship Id="rId4" Type="http://schemas.openxmlformats.org/officeDocument/2006/relationships/oleObject" Target="../embeddings/oleObject63.bin"/><Relationship Id="rId3" Type="http://schemas.openxmlformats.org/officeDocument/2006/relationships/image" Target="../media/image66.emf"/><Relationship Id="rId2" Type="http://schemas.openxmlformats.org/officeDocument/2006/relationships/oleObject" Target="../embeddings/oleObject62.bin"/><Relationship Id="rId13" Type="http://schemas.openxmlformats.org/officeDocument/2006/relationships/vmlDrawing" Target="../drawings/vmlDrawing16.vml"/><Relationship Id="rId12" Type="http://schemas.openxmlformats.org/officeDocument/2006/relationships/slideLayout" Target="../slideLayouts/slideLayout2.xml"/><Relationship Id="rId11" Type="http://schemas.openxmlformats.org/officeDocument/2006/relationships/image" Target="../media/image70.emf"/><Relationship Id="rId10" Type="http://schemas.openxmlformats.org/officeDocument/2006/relationships/oleObject" Target="../embeddings/oleObject66.bin"/><Relationship Id="rId1" Type="http://schemas.openxmlformats.org/officeDocument/2006/relationships/slide" Target="slide4.xml"/></Relationships>
</file>

<file path=ppt/slides/_rels/slide22.xml.rels><?xml version="1.0" encoding="UTF-8" standalone="yes"?>
<Relationships xmlns="http://schemas.openxmlformats.org/package/2006/relationships"><Relationship Id="rId9" Type="http://schemas.openxmlformats.org/officeDocument/2006/relationships/image" Target="../media/image74.emf"/><Relationship Id="rId8" Type="http://schemas.openxmlformats.org/officeDocument/2006/relationships/oleObject" Target="../embeddings/oleObject70.bin"/><Relationship Id="rId7" Type="http://schemas.openxmlformats.org/officeDocument/2006/relationships/image" Target="../media/image73.emf"/><Relationship Id="rId6" Type="http://schemas.openxmlformats.org/officeDocument/2006/relationships/oleObject" Target="../embeddings/oleObject69.bin"/><Relationship Id="rId5" Type="http://schemas.openxmlformats.org/officeDocument/2006/relationships/image" Target="../media/image72.emf"/><Relationship Id="rId4" Type="http://schemas.openxmlformats.org/officeDocument/2006/relationships/oleObject" Target="../embeddings/oleObject68.bin"/><Relationship Id="rId3" Type="http://schemas.openxmlformats.org/officeDocument/2006/relationships/image" Target="../media/image71.emf"/><Relationship Id="rId2" Type="http://schemas.openxmlformats.org/officeDocument/2006/relationships/oleObject" Target="../embeddings/oleObject67.bin"/><Relationship Id="rId15" Type="http://schemas.openxmlformats.org/officeDocument/2006/relationships/vmlDrawing" Target="../drawings/vmlDrawing17.vml"/><Relationship Id="rId14" Type="http://schemas.openxmlformats.org/officeDocument/2006/relationships/slideLayout" Target="../slideLayouts/slideLayout12.xml"/><Relationship Id="rId13" Type="http://schemas.openxmlformats.org/officeDocument/2006/relationships/image" Target="../media/image76.emf"/><Relationship Id="rId12" Type="http://schemas.openxmlformats.org/officeDocument/2006/relationships/oleObject" Target="../embeddings/oleObject72.bin"/><Relationship Id="rId11" Type="http://schemas.openxmlformats.org/officeDocument/2006/relationships/image" Target="../media/image75.emf"/><Relationship Id="rId10" Type="http://schemas.openxmlformats.org/officeDocument/2006/relationships/oleObject" Target="../embeddings/oleObject71.bin"/><Relationship Id="rId1" Type="http://schemas.openxmlformats.org/officeDocument/2006/relationships/slide" Target="slide4.xml"/></Relationships>
</file>

<file path=ppt/slides/_rels/slide23.xml.rels><?xml version="1.0" encoding="UTF-8" standalone="yes"?>
<Relationships xmlns="http://schemas.openxmlformats.org/package/2006/relationships"><Relationship Id="rId9" Type="http://schemas.openxmlformats.org/officeDocument/2006/relationships/image" Target="../media/image80.emf"/><Relationship Id="rId8" Type="http://schemas.openxmlformats.org/officeDocument/2006/relationships/oleObject" Target="../embeddings/oleObject76.bin"/><Relationship Id="rId7" Type="http://schemas.openxmlformats.org/officeDocument/2006/relationships/image" Target="../media/image79.emf"/><Relationship Id="rId6" Type="http://schemas.openxmlformats.org/officeDocument/2006/relationships/oleObject" Target="../embeddings/oleObject75.bin"/><Relationship Id="rId5" Type="http://schemas.openxmlformats.org/officeDocument/2006/relationships/image" Target="../media/image78.wmf"/><Relationship Id="rId4" Type="http://schemas.openxmlformats.org/officeDocument/2006/relationships/oleObject" Target="../embeddings/oleObject74.bin"/><Relationship Id="rId3" Type="http://schemas.openxmlformats.org/officeDocument/2006/relationships/image" Target="../media/image77.emf"/><Relationship Id="rId2" Type="http://schemas.openxmlformats.org/officeDocument/2006/relationships/oleObject" Target="../embeddings/oleObject73.bin"/><Relationship Id="rId13" Type="http://schemas.openxmlformats.org/officeDocument/2006/relationships/vmlDrawing" Target="../drawings/vmlDrawing18.vml"/><Relationship Id="rId12" Type="http://schemas.openxmlformats.org/officeDocument/2006/relationships/slideLayout" Target="../slideLayouts/slideLayout12.xml"/><Relationship Id="rId11" Type="http://schemas.openxmlformats.org/officeDocument/2006/relationships/image" Target="../media/image81.emf"/><Relationship Id="rId10" Type="http://schemas.openxmlformats.org/officeDocument/2006/relationships/oleObject" Target="../embeddings/oleObject77.bin"/><Relationship Id="rId1" Type="http://schemas.openxmlformats.org/officeDocument/2006/relationships/slide" Target="slide4.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slide" Target="slide4.xml"/></Relationships>
</file>

<file path=ppt/slides/_rels/slide25.xml.rels><?xml version="1.0" encoding="UTF-8" standalone="yes"?>
<Relationships xmlns="http://schemas.openxmlformats.org/package/2006/relationships"><Relationship Id="rId9" Type="http://schemas.openxmlformats.org/officeDocument/2006/relationships/image" Target="../media/image85.wmf"/><Relationship Id="rId8" Type="http://schemas.openxmlformats.org/officeDocument/2006/relationships/oleObject" Target="../embeddings/oleObject81.bin"/><Relationship Id="rId7" Type="http://schemas.openxmlformats.org/officeDocument/2006/relationships/image" Target="../media/image84.wmf"/><Relationship Id="rId6" Type="http://schemas.openxmlformats.org/officeDocument/2006/relationships/oleObject" Target="../embeddings/oleObject80.bin"/><Relationship Id="rId5" Type="http://schemas.openxmlformats.org/officeDocument/2006/relationships/image" Target="../media/image83.wmf"/><Relationship Id="rId4" Type="http://schemas.openxmlformats.org/officeDocument/2006/relationships/oleObject" Target="../embeddings/oleObject79.bin"/><Relationship Id="rId3" Type="http://schemas.openxmlformats.org/officeDocument/2006/relationships/image" Target="../media/image82.wmf"/><Relationship Id="rId2" Type="http://schemas.openxmlformats.org/officeDocument/2006/relationships/oleObject" Target="../embeddings/oleObject78.bin"/><Relationship Id="rId15" Type="http://schemas.openxmlformats.org/officeDocument/2006/relationships/vmlDrawing" Target="../drawings/vmlDrawing19.vml"/><Relationship Id="rId14" Type="http://schemas.openxmlformats.org/officeDocument/2006/relationships/slideLayout" Target="../slideLayouts/slideLayout2.xml"/><Relationship Id="rId13" Type="http://schemas.openxmlformats.org/officeDocument/2006/relationships/image" Target="../media/image87.wmf"/><Relationship Id="rId12" Type="http://schemas.openxmlformats.org/officeDocument/2006/relationships/oleObject" Target="../embeddings/oleObject83.bin"/><Relationship Id="rId11" Type="http://schemas.openxmlformats.org/officeDocument/2006/relationships/image" Target="../media/image86.wmf"/><Relationship Id="rId10" Type="http://schemas.openxmlformats.org/officeDocument/2006/relationships/oleObject" Target="../embeddings/oleObject82.bin"/><Relationship Id="rId1" Type="http://schemas.openxmlformats.org/officeDocument/2006/relationships/slide" Target="slide4.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slide" Target="slide4.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slide" Target="slide4.xml"/></Relationships>
</file>

<file path=ppt/slides/_rels/slide28.xml.rels><?xml version="1.0" encoding="UTF-8" standalone="yes"?>
<Relationships xmlns="http://schemas.openxmlformats.org/package/2006/relationships"><Relationship Id="rId9" Type="http://schemas.openxmlformats.org/officeDocument/2006/relationships/vmlDrawing" Target="../drawings/vmlDrawing20.vml"/><Relationship Id="rId8" Type="http://schemas.openxmlformats.org/officeDocument/2006/relationships/slideLayout" Target="../slideLayouts/slideLayout2.xml"/><Relationship Id="rId7" Type="http://schemas.openxmlformats.org/officeDocument/2006/relationships/image" Target="../media/image90.emf"/><Relationship Id="rId6" Type="http://schemas.openxmlformats.org/officeDocument/2006/relationships/oleObject" Target="../embeddings/oleObject86.bin"/><Relationship Id="rId5" Type="http://schemas.openxmlformats.org/officeDocument/2006/relationships/image" Target="../media/image89.emf"/><Relationship Id="rId4" Type="http://schemas.openxmlformats.org/officeDocument/2006/relationships/oleObject" Target="../embeddings/oleObject85.bin"/><Relationship Id="rId3" Type="http://schemas.openxmlformats.org/officeDocument/2006/relationships/image" Target="../media/image88.emf"/><Relationship Id="rId2" Type="http://schemas.openxmlformats.org/officeDocument/2006/relationships/oleObject" Target="../embeddings/oleObject84.bin"/><Relationship Id="rId1" Type="http://schemas.openxmlformats.org/officeDocument/2006/relationships/slide" Target="slide4.xml"/></Relationships>
</file>

<file path=ppt/slides/_rels/slide29.xml.rels><?xml version="1.0" encoding="UTF-8" standalone="yes"?>
<Relationships xmlns="http://schemas.openxmlformats.org/package/2006/relationships"><Relationship Id="rId9" Type="http://schemas.openxmlformats.org/officeDocument/2006/relationships/image" Target="../media/image94.emf"/><Relationship Id="rId8" Type="http://schemas.openxmlformats.org/officeDocument/2006/relationships/oleObject" Target="../embeddings/oleObject90.bin"/><Relationship Id="rId7" Type="http://schemas.openxmlformats.org/officeDocument/2006/relationships/image" Target="../media/image93.emf"/><Relationship Id="rId6" Type="http://schemas.openxmlformats.org/officeDocument/2006/relationships/oleObject" Target="../embeddings/oleObject89.bin"/><Relationship Id="rId5" Type="http://schemas.openxmlformats.org/officeDocument/2006/relationships/image" Target="../media/image92.emf"/><Relationship Id="rId4" Type="http://schemas.openxmlformats.org/officeDocument/2006/relationships/oleObject" Target="../embeddings/oleObject88.bin"/><Relationship Id="rId3" Type="http://schemas.openxmlformats.org/officeDocument/2006/relationships/image" Target="../media/image91.emf"/><Relationship Id="rId2" Type="http://schemas.openxmlformats.org/officeDocument/2006/relationships/oleObject" Target="../embeddings/oleObject87.bin"/><Relationship Id="rId13" Type="http://schemas.openxmlformats.org/officeDocument/2006/relationships/vmlDrawing" Target="../drawings/vmlDrawing21.vml"/><Relationship Id="rId12" Type="http://schemas.openxmlformats.org/officeDocument/2006/relationships/slideLayout" Target="../slideLayouts/slideLayout2.xml"/><Relationship Id="rId11" Type="http://schemas.openxmlformats.org/officeDocument/2006/relationships/image" Target="../media/image95.emf"/><Relationship Id="rId10" Type="http://schemas.openxmlformats.org/officeDocument/2006/relationships/oleObject" Target="../embeddings/oleObject91.bin"/><Relationship Id="rId1" Type="http://schemas.openxmlformats.org/officeDocument/2006/relationships/slide" Target="slide4.xml"/></Relationships>
</file>

<file path=ppt/slides/_rels/slide30.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99.emf"/><Relationship Id="rId7" Type="http://schemas.openxmlformats.org/officeDocument/2006/relationships/oleObject" Target="../embeddings/oleObject94.bin"/><Relationship Id="rId6" Type="http://schemas.openxmlformats.org/officeDocument/2006/relationships/image" Target="../media/image98.emf"/><Relationship Id="rId5" Type="http://schemas.openxmlformats.org/officeDocument/2006/relationships/oleObject" Target="../embeddings/oleObject93.bin"/><Relationship Id="rId4" Type="http://schemas.openxmlformats.org/officeDocument/2006/relationships/image" Target="../media/image97.png"/><Relationship Id="rId3" Type="http://schemas.openxmlformats.org/officeDocument/2006/relationships/image" Target="../media/image96.emf"/><Relationship Id="rId2" Type="http://schemas.openxmlformats.org/officeDocument/2006/relationships/oleObject" Target="../embeddings/oleObject92.bin"/><Relationship Id="rId10" Type="http://schemas.openxmlformats.org/officeDocument/2006/relationships/vmlDrawing" Target="../drawings/vmlDrawing22.vml"/><Relationship Id="rId1" Type="http://schemas.openxmlformats.org/officeDocument/2006/relationships/slide" Target="slide4.xml"/></Relationships>
</file>

<file path=ppt/slides/_rels/slide31.xml.rels><?xml version="1.0" encoding="UTF-8" standalone="yes"?>
<Relationships xmlns="http://schemas.openxmlformats.org/package/2006/relationships"><Relationship Id="rId9" Type="http://schemas.openxmlformats.org/officeDocument/2006/relationships/vmlDrawing" Target="../drawings/vmlDrawing23.vml"/><Relationship Id="rId8" Type="http://schemas.openxmlformats.org/officeDocument/2006/relationships/slideLayout" Target="../slideLayouts/slideLayout11.xml"/><Relationship Id="rId7" Type="http://schemas.openxmlformats.org/officeDocument/2006/relationships/image" Target="../media/image102.emf"/><Relationship Id="rId6" Type="http://schemas.openxmlformats.org/officeDocument/2006/relationships/oleObject" Target="../embeddings/oleObject97.bin"/><Relationship Id="rId5" Type="http://schemas.openxmlformats.org/officeDocument/2006/relationships/image" Target="../media/image101.wmf"/><Relationship Id="rId4" Type="http://schemas.openxmlformats.org/officeDocument/2006/relationships/oleObject" Target="../embeddings/oleObject96.bin"/><Relationship Id="rId3" Type="http://schemas.openxmlformats.org/officeDocument/2006/relationships/image" Target="../media/image100.emf"/><Relationship Id="rId2" Type="http://schemas.openxmlformats.org/officeDocument/2006/relationships/oleObject" Target="../embeddings/oleObject95.bin"/><Relationship Id="rId1" Type="http://schemas.openxmlformats.org/officeDocument/2006/relationships/slide" Target="slide4.xml"/></Relationships>
</file>

<file path=ppt/slides/_rels/slide32.xml.rels><?xml version="1.0" encoding="UTF-8" standalone="yes"?>
<Relationships xmlns="http://schemas.openxmlformats.org/package/2006/relationships"><Relationship Id="rId9" Type="http://schemas.openxmlformats.org/officeDocument/2006/relationships/image" Target="../media/image106.emf"/><Relationship Id="rId8" Type="http://schemas.openxmlformats.org/officeDocument/2006/relationships/oleObject" Target="../embeddings/oleObject101.bin"/><Relationship Id="rId7" Type="http://schemas.openxmlformats.org/officeDocument/2006/relationships/image" Target="../media/image105.emf"/><Relationship Id="rId6" Type="http://schemas.openxmlformats.org/officeDocument/2006/relationships/oleObject" Target="../embeddings/oleObject100.bin"/><Relationship Id="rId5" Type="http://schemas.openxmlformats.org/officeDocument/2006/relationships/image" Target="../media/image104.emf"/><Relationship Id="rId4" Type="http://schemas.openxmlformats.org/officeDocument/2006/relationships/oleObject" Target="../embeddings/oleObject99.bin"/><Relationship Id="rId3" Type="http://schemas.openxmlformats.org/officeDocument/2006/relationships/image" Target="../media/image103.emf"/><Relationship Id="rId2" Type="http://schemas.openxmlformats.org/officeDocument/2006/relationships/oleObject" Target="../embeddings/oleObject98.bin"/><Relationship Id="rId14" Type="http://schemas.openxmlformats.org/officeDocument/2006/relationships/vmlDrawing" Target="../drawings/vmlDrawing24.vml"/><Relationship Id="rId13" Type="http://schemas.openxmlformats.org/officeDocument/2006/relationships/slideLayout" Target="../slideLayouts/slideLayout13.xml"/><Relationship Id="rId12" Type="http://schemas.openxmlformats.org/officeDocument/2006/relationships/image" Target="../media/image108.png"/><Relationship Id="rId11" Type="http://schemas.openxmlformats.org/officeDocument/2006/relationships/image" Target="../media/image107.wmf"/><Relationship Id="rId10" Type="http://schemas.openxmlformats.org/officeDocument/2006/relationships/oleObject" Target="../embeddings/oleObject102.bin"/><Relationship Id="rId1" Type="http://schemas.openxmlformats.org/officeDocument/2006/relationships/slide" Target="slide4.xml"/></Relationships>
</file>

<file path=ppt/slides/_rels/slide33.xml.rels><?xml version="1.0" encoding="UTF-8" standalone="yes"?>
<Relationships xmlns="http://schemas.openxmlformats.org/package/2006/relationships"><Relationship Id="rId9" Type="http://schemas.openxmlformats.org/officeDocument/2006/relationships/vmlDrawing" Target="../drawings/vmlDrawing25.vml"/><Relationship Id="rId8" Type="http://schemas.openxmlformats.org/officeDocument/2006/relationships/slideLayout" Target="../slideLayouts/slideLayout2.xml"/><Relationship Id="rId7" Type="http://schemas.openxmlformats.org/officeDocument/2006/relationships/image" Target="../media/image111.emf"/><Relationship Id="rId6" Type="http://schemas.openxmlformats.org/officeDocument/2006/relationships/oleObject" Target="../embeddings/oleObject105.bin"/><Relationship Id="rId5" Type="http://schemas.openxmlformats.org/officeDocument/2006/relationships/image" Target="../media/image110.emf"/><Relationship Id="rId4" Type="http://schemas.openxmlformats.org/officeDocument/2006/relationships/oleObject" Target="../embeddings/oleObject104.bin"/><Relationship Id="rId3" Type="http://schemas.openxmlformats.org/officeDocument/2006/relationships/image" Target="../media/image109.emf"/><Relationship Id="rId2" Type="http://schemas.openxmlformats.org/officeDocument/2006/relationships/oleObject" Target="../embeddings/oleObject103.bin"/><Relationship Id="rId1" Type="http://schemas.openxmlformats.org/officeDocument/2006/relationships/slide" Target="slide4.xml"/></Relationships>
</file>

<file path=ppt/slides/_rels/slide34.xml.rels><?xml version="1.0" encoding="UTF-8" standalone="yes"?>
<Relationships xmlns="http://schemas.openxmlformats.org/package/2006/relationships"><Relationship Id="rId7" Type="http://schemas.openxmlformats.org/officeDocument/2006/relationships/vmlDrawing" Target="../drawings/vmlDrawing26.vml"/><Relationship Id="rId6" Type="http://schemas.openxmlformats.org/officeDocument/2006/relationships/slideLayout" Target="../slideLayouts/slideLayout11.xml"/><Relationship Id="rId5" Type="http://schemas.openxmlformats.org/officeDocument/2006/relationships/image" Target="../media/image113.wmf"/><Relationship Id="rId4" Type="http://schemas.openxmlformats.org/officeDocument/2006/relationships/oleObject" Target="../embeddings/oleObject107.bin"/><Relationship Id="rId3" Type="http://schemas.openxmlformats.org/officeDocument/2006/relationships/image" Target="../media/image112.emf"/><Relationship Id="rId2" Type="http://schemas.openxmlformats.org/officeDocument/2006/relationships/oleObject" Target="../embeddings/oleObject106.bin"/><Relationship Id="rId1" Type="http://schemas.openxmlformats.org/officeDocument/2006/relationships/slide" Target="slide4.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slide" Target="slide4.xml"/></Relationships>
</file>

<file path=ppt/slides/_rels/slide36.xml.rels><?xml version="1.0" encoding="UTF-8" standalone="yes"?>
<Relationships xmlns="http://schemas.openxmlformats.org/package/2006/relationships"><Relationship Id="rId9" Type="http://schemas.openxmlformats.org/officeDocument/2006/relationships/image" Target="../media/image117.wmf"/><Relationship Id="rId8" Type="http://schemas.openxmlformats.org/officeDocument/2006/relationships/oleObject" Target="../embeddings/oleObject111.bin"/><Relationship Id="rId7" Type="http://schemas.openxmlformats.org/officeDocument/2006/relationships/image" Target="../media/image116.wmf"/><Relationship Id="rId6" Type="http://schemas.openxmlformats.org/officeDocument/2006/relationships/oleObject" Target="../embeddings/oleObject110.bin"/><Relationship Id="rId5" Type="http://schemas.openxmlformats.org/officeDocument/2006/relationships/image" Target="../media/image115.wmf"/><Relationship Id="rId4" Type="http://schemas.openxmlformats.org/officeDocument/2006/relationships/oleObject" Target="../embeddings/oleObject109.bin"/><Relationship Id="rId3" Type="http://schemas.openxmlformats.org/officeDocument/2006/relationships/image" Target="../media/image114.wmf"/><Relationship Id="rId21" Type="http://schemas.openxmlformats.org/officeDocument/2006/relationships/vmlDrawing" Target="../drawings/vmlDrawing27.vml"/><Relationship Id="rId20" Type="http://schemas.openxmlformats.org/officeDocument/2006/relationships/slideLayout" Target="../slideLayouts/slideLayout2.xml"/><Relationship Id="rId2" Type="http://schemas.openxmlformats.org/officeDocument/2006/relationships/oleObject" Target="../embeddings/oleObject108.bin"/><Relationship Id="rId19" Type="http://schemas.openxmlformats.org/officeDocument/2006/relationships/image" Target="../media/image122.wmf"/><Relationship Id="rId18" Type="http://schemas.openxmlformats.org/officeDocument/2006/relationships/oleObject" Target="../embeddings/oleObject116.bin"/><Relationship Id="rId17" Type="http://schemas.openxmlformats.org/officeDocument/2006/relationships/image" Target="../media/image121.emf"/><Relationship Id="rId16" Type="http://schemas.openxmlformats.org/officeDocument/2006/relationships/oleObject" Target="../embeddings/oleObject115.bin"/><Relationship Id="rId15" Type="http://schemas.openxmlformats.org/officeDocument/2006/relationships/image" Target="../media/image120.wmf"/><Relationship Id="rId14" Type="http://schemas.openxmlformats.org/officeDocument/2006/relationships/oleObject" Target="../embeddings/oleObject114.bin"/><Relationship Id="rId13" Type="http://schemas.openxmlformats.org/officeDocument/2006/relationships/image" Target="../media/image119.emf"/><Relationship Id="rId12" Type="http://schemas.openxmlformats.org/officeDocument/2006/relationships/oleObject" Target="../embeddings/oleObject113.bin"/><Relationship Id="rId11" Type="http://schemas.openxmlformats.org/officeDocument/2006/relationships/image" Target="../media/image118.emf"/><Relationship Id="rId10" Type="http://schemas.openxmlformats.org/officeDocument/2006/relationships/oleObject" Target="../embeddings/oleObject112.bin"/><Relationship Id="rId1" Type="http://schemas.openxmlformats.org/officeDocument/2006/relationships/slide" Target="slide4.xml"/></Relationships>
</file>

<file path=ppt/slides/_rels/slide37.xml.rels><?xml version="1.0" encoding="UTF-8" standalone="yes"?>
<Relationships xmlns="http://schemas.openxmlformats.org/package/2006/relationships"><Relationship Id="rId5" Type="http://schemas.openxmlformats.org/officeDocument/2006/relationships/vmlDrawing" Target="../drawings/vmlDrawing28.vml"/><Relationship Id="rId4" Type="http://schemas.openxmlformats.org/officeDocument/2006/relationships/slideLayout" Target="../slideLayouts/slideLayout2.xml"/><Relationship Id="rId3" Type="http://schemas.openxmlformats.org/officeDocument/2006/relationships/image" Target="../media/image123.emf"/><Relationship Id="rId2" Type="http://schemas.openxmlformats.org/officeDocument/2006/relationships/oleObject" Target="../embeddings/oleObject117.bin"/><Relationship Id="rId1" Type="http://schemas.openxmlformats.org/officeDocument/2006/relationships/slide" Target="slide4.xml"/></Relationships>
</file>

<file path=ppt/slides/_rels/slide38.xml.rels><?xml version="1.0" encoding="UTF-8" standalone="yes"?>
<Relationships xmlns="http://schemas.openxmlformats.org/package/2006/relationships"><Relationship Id="rId9" Type="http://schemas.openxmlformats.org/officeDocument/2006/relationships/vmlDrawing" Target="../drawings/vmlDrawing29.vml"/><Relationship Id="rId8" Type="http://schemas.openxmlformats.org/officeDocument/2006/relationships/slideLayout" Target="../slideLayouts/slideLayout2.xml"/><Relationship Id="rId7" Type="http://schemas.openxmlformats.org/officeDocument/2006/relationships/image" Target="../media/image126.emf"/><Relationship Id="rId6" Type="http://schemas.openxmlformats.org/officeDocument/2006/relationships/oleObject" Target="../embeddings/oleObject120.bin"/><Relationship Id="rId5" Type="http://schemas.openxmlformats.org/officeDocument/2006/relationships/image" Target="../media/image125.emf"/><Relationship Id="rId4" Type="http://schemas.openxmlformats.org/officeDocument/2006/relationships/oleObject" Target="../embeddings/oleObject119.bin"/><Relationship Id="rId3" Type="http://schemas.openxmlformats.org/officeDocument/2006/relationships/image" Target="../media/image124.emf"/><Relationship Id="rId2" Type="http://schemas.openxmlformats.org/officeDocument/2006/relationships/oleObject" Target="../embeddings/oleObject118.bin"/><Relationship Id="rId1" Type="http://schemas.openxmlformats.org/officeDocument/2006/relationships/slide" Target="slide4.xml"/></Relationships>
</file>

<file path=ppt/slides/_rels/slide39.xml.rels><?xml version="1.0" encoding="UTF-8" standalone="yes"?>
<Relationships xmlns="http://schemas.openxmlformats.org/package/2006/relationships"><Relationship Id="rId9" Type="http://schemas.openxmlformats.org/officeDocument/2006/relationships/image" Target="../media/image130.emf"/><Relationship Id="rId8" Type="http://schemas.openxmlformats.org/officeDocument/2006/relationships/oleObject" Target="../embeddings/oleObject124.bin"/><Relationship Id="rId7" Type="http://schemas.openxmlformats.org/officeDocument/2006/relationships/image" Target="../media/image129.emf"/><Relationship Id="rId6" Type="http://schemas.openxmlformats.org/officeDocument/2006/relationships/oleObject" Target="../embeddings/oleObject123.bin"/><Relationship Id="rId5" Type="http://schemas.openxmlformats.org/officeDocument/2006/relationships/image" Target="../media/image128.emf"/><Relationship Id="rId4" Type="http://schemas.openxmlformats.org/officeDocument/2006/relationships/oleObject" Target="../embeddings/oleObject122.bin"/><Relationship Id="rId3" Type="http://schemas.openxmlformats.org/officeDocument/2006/relationships/image" Target="../media/image127.emf"/><Relationship Id="rId2" Type="http://schemas.openxmlformats.org/officeDocument/2006/relationships/oleObject" Target="../embeddings/oleObject121.bin"/><Relationship Id="rId13" Type="http://schemas.openxmlformats.org/officeDocument/2006/relationships/vmlDrawing" Target="../drawings/vmlDrawing30.vml"/><Relationship Id="rId12" Type="http://schemas.openxmlformats.org/officeDocument/2006/relationships/slideLayout" Target="../slideLayouts/slideLayout11.xml"/><Relationship Id="rId11" Type="http://schemas.openxmlformats.org/officeDocument/2006/relationships/image" Target="../media/image131.emf"/><Relationship Id="rId10" Type="http://schemas.openxmlformats.org/officeDocument/2006/relationships/oleObject" Target="../embeddings/oleObject125.bin"/><Relationship Id="rId1" Type="http://schemas.openxmlformats.org/officeDocument/2006/relationships/slide" Target="slide4.xml"/></Relationships>
</file>

<file path=ppt/slides/_rels/slide40.xml.rels><?xml version="1.0" encoding="UTF-8" standalone="yes"?>
<Relationships xmlns="http://schemas.openxmlformats.org/package/2006/relationships"><Relationship Id="rId9" Type="http://schemas.openxmlformats.org/officeDocument/2006/relationships/image" Target="../media/image135.emf"/><Relationship Id="rId8" Type="http://schemas.openxmlformats.org/officeDocument/2006/relationships/oleObject" Target="../embeddings/oleObject129.bin"/><Relationship Id="rId7" Type="http://schemas.openxmlformats.org/officeDocument/2006/relationships/image" Target="../media/image134.emf"/><Relationship Id="rId6" Type="http://schemas.openxmlformats.org/officeDocument/2006/relationships/oleObject" Target="../embeddings/oleObject128.bin"/><Relationship Id="rId5" Type="http://schemas.openxmlformats.org/officeDocument/2006/relationships/image" Target="../media/image133.emf"/><Relationship Id="rId4" Type="http://schemas.openxmlformats.org/officeDocument/2006/relationships/oleObject" Target="../embeddings/oleObject127.bin"/><Relationship Id="rId3" Type="http://schemas.openxmlformats.org/officeDocument/2006/relationships/image" Target="../media/image132.emf"/><Relationship Id="rId2" Type="http://schemas.openxmlformats.org/officeDocument/2006/relationships/oleObject" Target="../embeddings/oleObject126.bin"/><Relationship Id="rId13" Type="http://schemas.openxmlformats.org/officeDocument/2006/relationships/vmlDrawing" Target="../drawings/vmlDrawing31.vml"/><Relationship Id="rId12" Type="http://schemas.openxmlformats.org/officeDocument/2006/relationships/slideLayout" Target="../slideLayouts/slideLayout2.xml"/><Relationship Id="rId11" Type="http://schemas.openxmlformats.org/officeDocument/2006/relationships/image" Target="../media/image136.wmf"/><Relationship Id="rId10" Type="http://schemas.openxmlformats.org/officeDocument/2006/relationships/oleObject" Target="../embeddings/oleObject130.bin"/><Relationship Id="rId1" Type="http://schemas.openxmlformats.org/officeDocument/2006/relationships/slide" Target="slide4.xml"/></Relationships>
</file>

<file path=ppt/slides/_rels/slide41.xml.rels><?xml version="1.0" encoding="UTF-8" standalone="yes"?>
<Relationships xmlns="http://schemas.openxmlformats.org/package/2006/relationships"><Relationship Id="rId9" Type="http://schemas.openxmlformats.org/officeDocument/2006/relationships/image" Target="../media/image140.emf"/><Relationship Id="rId8" Type="http://schemas.openxmlformats.org/officeDocument/2006/relationships/oleObject" Target="../embeddings/oleObject134.bin"/><Relationship Id="rId7" Type="http://schemas.openxmlformats.org/officeDocument/2006/relationships/image" Target="../media/image139.emf"/><Relationship Id="rId6" Type="http://schemas.openxmlformats.org/officeDocument/2006/relationships/oleObject" Target="../embeddings/oleObject133.bin"/><Relationship Id="rId5" Type="http://schemas.openxmlformats.org/officeDocument/2006/relationships/image" Target="../media/image138.emf"/><Relationship Id="rId4" Type="http://schemas.openxmlformats.org/officeDocument/2006/relationships/oleObject" Target="../embeddings/oleObject132.bin"/><Relationship Id="rId3" Type="http://schemas.openxmlformats.org/officeDocument/2006/relationships/image" Target="../media/image137.emf"/><Relationship Id="rId2" Type="http://schemas.openxmlformats.org/officeDocument/2006/relationships/oleObject" Target="../embeddings/oleObject131.bin"/><Relationship Id="rId13" Type="http://schemas.openxmlformats.org/officeDocument/2006/relationships/vmlDrawing" Target="../drawings/vmlDrawing32.vml"/><Relationship Id="rId12" Type="http://schemas.openxmlformats.org/officeDocument/2006/relationships/slideLayout" Target="../slideLayouts/slideLayout2.xml"/><Relationship Id="rId11" Type="http://schemas.openxmlformats.org/officeDocument/2006/relationships/image" Target="../media/image141.emf"/><Relationship Id="rId10" Type="http://schemas.openxmlformats.org/officeDocument/2006/relationships/oleObject" Target="../embeddings/oleObject135.bin"/><Relationship Id="rId1" Type="http://schemas.openxmlformats.org/officeDocument/2006/relationships/slide" Target="slide4.xml"/></Relationships>
</file>

<file path=ppt/slides/_rels/slide42.xml.rels><?xml version="1.0" encoding="UTF-8" standalone="yes"?>
<Relationships xmlns="http://schemas.openxmlformats.org/package/2006/relationships"><Relationship Id="rId9" Type="http://schemas.openxmlformats.org/officeDocument/2006/relationships/image" Target="../media/image145.emf"/><Relationship Id="rId8" Type="http://schemas.openxmlformats.org/officeDocument/2006/relationships/oleObject" Target="../embeddings/oleObject139.bin"/><Relationship Id="rId7" Type="http://schemas.openxmlformats.org/officeDocument/2006/relationships/image" Target="../media/image144.wmf"/><Relationship Id="rId6" Type="http://schemas.openxmlformats.org/officeDocument/2006/relationships/oleObject" Target="../embeddings/oleObject138.bin"/><Relationship Id="rId5" Type="http://schemas.openxmlformats.org/officeDocument/2006/relationships/image" Target="../media/image143.emf"/><Relationship Id="rId4" Type="http://schemas.openxmlformats.org/officeDocument/2006/relationships/oleObject" Target="../embeddings/oleObject137.bin"/><Relationship Id="rId3" Type="http://schemas.openxmlformats.org/officeDocument/2006/relationships/image" Target="../media/image142.emf"/><Relationship Id="rId2" Type="http://schemas.openxmlformats.org/officeDocument/2006/relationships/oleObject" Target="../embeddings/oleObject136.bin"/><Relationship Id="rId16" Type="http://schemas.openxmlformats.org/officeDocument/2006/relationships/vmlDrawing" Target="../drawings/vmlDrawing33.vml"/><Relationship Id="rId15" Type="http://schemas.openxmlformats.org/officeDocument/2006/relationships/slideLayout" Target="../slideLayouts/slideLayout2.xml"/><Relationship Id="rId14" Type="http://schemas.openxmlformats.org/officeDocument/2006/relationships/image" Target="../media/image148.png"/><Relationship Id="rId13" Type="http://schemas.openxmlformats.org/officeDocument/2006/relationships/image" Target="../media/image147.emf"/><Relationship Id="rId12" Type="http://schemas.openxmlformats.org/officeDocument/2006/relationships/oleObject" Target="../embeddings/oleObject141.bin"/><Relationship Id="rId11" Type="http://schemas.openxmlformats.org/officeDocument/2006/relationships/image" Target="../media/image146.emf"/><Relationship Id="rId10" Type="http://schemas.openxmlformats.org/officeDocument/2006/relationships/oleObject" Target="../embeddings/oleObject140.bin"/><Relationship Id="rId1" Type="http://schemas.openxmlformats.org/officeDocument/2006/relationships/slide" Target="slide4.xml"/></Relationships>
</file>

<file path=ppt/slides/_rels/slide43.xml.rels><?xml version="1.0" encoding="UTF-8" standalone="yes"?>
<Relationships xmlns="http://schemas.openxmlformats.org/package/2006/relationships"><Relationship Id="rId9" Type="http://schemas.openxmlformats.org/officeDocument/2006/relationships/image" Target="../media/image152.wmf"/><Relationship Id="rId8" Type="http://schemas.openxmlformats.org/officeDocument/2006/relationships/oleObject" Target="../embeddings/oleObject145.bin"/><Relationship Id="rId7" Type="http://schemas.openxmlformats.org/officeDocument/2006/relationships/image" Target="../media/image151.wmf"/><Relationship Id="rId6" Type="http://schemas.openxmlformats.org/officeDocument/2006/relationships/oleObject" Target="../embeddings/oleObject144.bin"/><Relationship Id="rId5" Type="http://schemas.openxmlformats.org/officeDocument/2006/relationships/image" Target="../media/image150.wmf"/><Relationship Id="rId4" Type="http://schemas.openxmlformats.org/officeDocument/2006/relationships/oleObject" Target="../embeddings/oleObject143.bin"/><Relationship Id="rId3" Type="http://schemas.openxmlformats.org/officeDocument/2006/relationships/image" Target="../media/image149.wmf"/><Relationship Id="rId2" Type="http://schemas.openxmlformats.org/officeDocument/2006/relationships/oleObject" Target="../embeddings/oleObject142.bin"/><Relationship Id="rId17" Type="http://schemas.openxmlformats.org/officeDocument/2006/relationships/vmlDrawing" Target="../drawings/vmlDrawing34.vml"/><Relationship Id="rId16" Type="http://schemas.openxmlformats.org/officeDocument/2006/relationships/slideLayout" Target="../slideLayouts/slideLayout2.xml"/><Relationship Id="rId15" Type="http://schemas.openxmlformats.org/officeDocument/2006/relationships/image" Target="../media/image155.wmf"/><Relationship Id="rId14" Type="http://schemas.openxmlformats.org/officeDocument/2006/relationships/oleObject" Target="../embeddings/oleObject148.bin"/><Relationship Id="rId13" Type="http://schemas.openxmlformats.org/officeDocument/2006/relationships/image" Target="../media/image154.emf"/><Relationship Id="rId12" Type="http://schemas.openxmlformats.org/officeDocument/2006/relationships/oleObject" Target="../embeddings/oleObject147.bin"/><Relationship Id="rId11" Type="http://schemas.openxmlformats.org/officeDocument/2006/relationships/image" Target="../media/image153.wmf"/><Relationship Id="rId10" Type="http://schemas.openxmlformats.org/officeDocument/2006/relationships/oleObject" Target="../embeddings/oleObject146.bin"/><Relationship Id="rId1" Type="http://schemas.openxmlformats.org/officeDocument/2006/relationships/slide" Target="slide4.xml"/></Relationships>
</file>

<file path=ppt/slides/_rels/slide44.xml.rels><?xml version="1.0" encoding="UTF-8" standalone="yes"?>
<Relationships xmlns="http://schemas.openxmlformats.org/package/2006/relationships"><Relationship Id="rId4" Type="http://schemas.openxmlformats.org/officeDocument/2006/relationships/vmlDrawing" Target="../drawings/vmlDrawing35.vml"/><Relationship Id="rId3" Type="http://schemas.openxmlformats.org/officeDocument/2006/relationships/slideLayout" Target="../slideLayouts/slideLayout7.xml"/><Relationship Id="rId2" Type="http://schemas.openxmlformats.org/officeDocument/2006/relationships/image" Target="../media/image156.wmf"/><Relationship Id="rId1" Type="http://schemas.openxmlformats.org/officeDocument/2006/relationships/oleObject" Target="../embeddings/oleObject149.bin"/></Relationships>
</file>

<file path=ppt/slides/_rels/slide45.xml.rels><?xml version="1.0" encoding="UTF-8" standalone="yes"?>
<Relationships xmlns="http://schemas.openxmlformats.org/package/2006/relationships"><Relationship Id="rId6" Type="http://schemas.openxmlformats.org/officeDocument/2006/relationships/vmlDrawing" Target="../drawings/vmlDrawing36.vml"/><Relationship Id="rId5" Type="http://schemas.openxmlformats.org/officeDocument/2006/relationships/slideLayout" Target="../slideLayouts/slideLayout7.xml"/><Relationship Id="rId4" Type="http://schemas.openxmlformats.org/officeDocument/2006/relationships/image" Target="../media/image158.wmf"/><Relationship Id="rId3" Type="http://schemas.openxmlformats.org/officeDocument/2006/relationships/oleObject" Target="../embeddings/oleObject151.bin"/><Relationship Id="rId2" Type="http://schemas.openxmlformats.org/officeDocument/2006/relationships/image" Target="../media/image157.wmf"/><Relationship Id="rId1" Type="http://schemas.openxmlformats.org/officeDocument/2006/relationships/oleObject" Target="../embeddings/oleObject150.bin"/></Relationships>
</file>

<file path=ppt/slides/_rels/slide46.xml.rels><?xml version="1.0" encoding="UTF-8" standalone="yes"?>
<Relationships xmlns="http://schemas.openxmlformats.org/package/2006/relationships"><Relationship Id="rId6" Type="http://schemas.openxmlformats.org/officeDocument/2006/relationships/vmlDrawing" Target="../drawings/vmlDrawing37.vml"/><Relationship Id="rId5" Type="http://schemas.openxmlformats.org/officeDocument/2006/relationships/slideLayout" Target="../slideLayouts/slideLayout7.xml"/><Relationship Id="rId4" Type="http://schemas.openxmlformats.org/officeDocument/2006/relationships/image" Target="../media/image160.wmf"/><Relationship Id="rId3" Type="http://schemas.openxmlformats.org/officeDocument/2006/relationships/oleObject" Target="../embeddings/oleObject153.bin"/><Relationship Id="rId2" Type="http://schemas.openxmlformats.org/officeDocument/2006/relationships/image" Target="../media/image159.wmf"/><Relationship Id="rId1" Type="http://schemas.openxmlformats.org/officeDocument/2006/relationships/oleObject" Target="../embeddings/oleObject152.bin"/></Relationships>
</file>

<file path=ppt/slides/_rels/slide47.xml.rels><?xml version="1.0" encoding="UTF-8" standalone="yes"?>
<Relationships xmlns="http://schemas.openxmlformats.org/package/2006/relationships"><Relationship Id="rId6" Type="http://schemas.openxmlformats.org/officeDocument/2006/relationships/vmlDrawing" Target="../drawings/vmlDrawing38.vml"/><Relationship Id="rId5" Type="http://schemas.openxmlformats.org/officeDocument/2006/relationships/slideLayout" Target="../slideLayouts/slideLayout7.xml"/><Relationship Id="rId4" Type="http://schemas.openxmlformats.org/officeDocument/2006/relationships/image" Target="../media/image162.wmf"/><Relationship Id="rId3" Type="http://schemas.openxmlformats.org/officeDocument/2006/relationships/oleObject" Target="../embeddings/oleObject155.bin"/><Relationship Id="rId2" Type="http://schemas.openxmlformats.org/officeDocument/2006/relationships/image" Target="../media/image161.wmf"/><Relationship Id="rId1" Type="http://schemas.openxmlformats.org/officeDocument/2006/relationships/oleObject" Target="../embeddings/oleObject154.bin"/></Relationships>
</file>

<file path=ppt/slides/_rels/slide48.xml.rels><?xml version="1.0" encoding="UTF-8" standalone="yes"?>
<Relationships xmlns="http://schemas.openxmlformats.org/package/2006/relationships"><Relationship Id="rId4" Type="http://schemas.openxmlformats.org/officeDocument/2006/relationships/vmlDrawing" Target="../drawings/vmlDrawing39.vml"/><Relationship Id="rId3" Type="http://schemas.openxmlformats.org/officeDocument/2006/relationships/slideLayout" Target="../slideLayouts/slideLayout7.xml"/><Relationship Id="rId2" Type="http://schemas.openxmlformats.org/officeDocument/2006/relationships/image" Target="../media/image163.wmf"/><Relationship Id="rId1" Type="http://schemas.openxmlformats.org/officeDocument/2006/relationships/oleObject" Target="../embeddings/oleObject156.bin"/></Relationships>
</file>

<file path=ppt/slides/_rels/slide49.xml.rels><?xml version="1.0" encoding="UTF-8" standalone="yes"?>
<Relationships xmlns="http://schemas.openxmlformats.org/package/2006/relationships"><Relationship Id="rId4" Type="http://schemas.openxmlformats.org/officeDocument/2006/relationships/vmlDrawing" Target="../drawings/vmlDrawing40.vml"/><Relationship Id="rId3" Type="http://schemas.openxmlformats.org/officeDocument/2006/relationships/slideLayout" Target="../slideLayouts/slideLayout7.xml"/><Relationship Id="rId2" Type="http://schemas.openxmlformats.org/officeDocument/2006/relationships/image" Target="../media/image164.wmf"/><Relationship Id="rId1" Type="http://schemas.openxmlformats.org/officeDocument/2006/relationships/oleObject" Target="../embeddings/oleObject157.bin"/></Relationships>
</file>

<file path=ppt/slides/_rels/slide50.xml.rels><?xml version="1.0" encoding="UTF-8" standalone="yes"?>
<Relationships xmlns="http://schemas.openxmlformats.org/package/2006/relationships"><Relationship Id="rId9" Type="http://schemas.openxmlformats.org/officeDocument/2006/relationships/oleObject" Target="../embeddings/oleObject162.bin"/><Relationship Id="rId8" Type="http://schemas.openxmlformats.org/officeDocument/2006/relationships/image" Target="../media/image168.wmf"/><Relationship Id="rId7" Type="http://schemas.openxmlformats.org/officeDocument/2006/relationships/oleObject" Target="../embeddings/oleObject161.bin"/><Relationship Id="rId6" Type="http://schemas.openxmlformats.org/officeDocument/2006/relationships/image" Target="../media/image167.wmf"/><Relationship Id="rId5" Type="http://schemas.openxmlformats.org/officeDocument/2006/relationships/oleObject" Target="../embeddings/oleObject160.bin"/><Relationship Id="rId4" Type="http://schemas.openxmlformats.org/officeDocument/2006/relationships/image" Target="../media/image166.wmf"/><Relationship Id="rId3" Type="http://schemas.openxmlformats.org/officeDocument/2006/relationships/oleObject" Target="../embeddings/oleObject159.bin"/><Relationship Id="rId2" Type="http://schemas.openxmlformats.org/officeDocument/2006/relationships/image" Target="../media/image165.wmf"/><Relationship Id="rId13" Type="http://schemas.openxmlformats.org/officeDocument/2006/relationships/vmlDrawing" Target="../drawings/vmlDrawing41.vml"/><Relationship Id="rId12" Type="http://schemas.openxmlformats.org/officeDocument/2006/relationships/slideLayout" Target="../slideLayouts/slideLayout7.xml"/><Relationship Id="rId11" Type="http://schemas.openxmlformats.org/officeDocument/2006/relationships/image" Target="../media/image170.png"/><Relationship Id="rId10" Type="http://schemas.openxmlformats.org/officeDocument/2006/relationships/image" Target="../media/image169.wmf"/><Relationship Id="rId1" Type="http://schemas.openxmlformats.org/officeDocument/2006/relationships/oleObject" Target="../embeddings/oleObject158.bin"/></Relationships>
</file>

<file path=ppt/slides/_rels/slide51.xml.rels><?xml version="1.0" encoding="UTF-8" standalone="yes"?>
<Relationships xmlns="http://schemas.openxmlformats.org/package/2006/relationships"><Relationship Id="rId9" Type="http://schemas.openxmlformats.org/officeDocument/2006/relationships/oleObject" Target="../embeddings/oleObject167.bin"/><Relationship Id="rId8" Type="http://schemas.openxmlformats.org/officeDocument/2006/relationships/image" Target="../media/image174.wmf"/><Relationship Id="rId7" Type="http://schemas.openxmlformats.org/officeDocument/2006/relationships/oleObject" Target="../embeddings/oleObject166.bin"/><Relationship Id="rId6" Type="http://schemas.openxmlformats.org/officeDocument/2006/relationships/image" Target="../media/image173.wmf"/><Relationship Id="rId5" Type="http://schemas.openxmlformats.org/officeDocument/2006/relationships/oleObject" Target="../embeddings/oleObject165.bin"/><Relationship Id="rId4" Type="http://schemas.openxmlformats.org/officeDocument/2006/relationships/image" Target="../media/image172.wmf"/><Relationship Id="rId3" Type="http://schemas.openxmlformats.org/officeDocument/2006/relationships/oleObject" Target="../embeddings/oleObject164.bin"/><Relationship Id="rId2" Type="http://schemas.openxmlformats.org/officeDocument/2006/relationships/image" Target="../media/image171.wmf"/><Relationship Id="rId12" Type="http://schemas.openxmlformats.org/officeDocument/2006/relationships/vmlDrawing" Target="../drawings/vmlDrawing42.vml"/><Relationship Id="rId11" Type="http://schemas.openxmlformats.org/officeDocument/2006/relationships/slideLayout" Target="../slideLayouts/slideLayout7.xml"/><Relationship Id="rId10" Type="http://schemas.openxmlformats.org/officeDocument/2006/relationships/image" Target="../media/image175.wmf"/><Relationship Id="rId1" Type="http://schemas.openxmlformats.org/officeDocument/2006/relationships/oleObject" Target="../embeddings/oleObject163.bin"/></Relationships>
</file>

<file path=ppt/slides/_rels/slide52.xml.rels><?xml version="1.0" encoding="UTF-8" standalone="yes"?>
<Relationships xmlns="http://schemas.openxmlformats.org/package/2006/relationships"><Relationship Id="rId8" Type="http://schemas.openxmlformats.org/officeDocument/2006/relationships/vmlDrawing" Target="../drawings/vmlDrawing43.vml"/><Relationship Id="rId7" Type="http://schemas.openxmlformats.org/officeDocument/2006/relationships/slideLayout" Target="../slideLayouts/slideLayout7.xml"/><Relationship Id="rId6" Type="http://schemas.openxmlformats.org/officeDocument/2006/relationships/image" Target="../media/image178.wmf"/><Relationship Id="rId5" Type="http://schemas.openxmlformats.org/officeDocument/2006/relationships/oleObject" Target="../embeddings/oleObject170.bin"/><Relationship Id="rId4" Type="http://schemas.openxmlformats.org/officeDocument/2006/relationships/image" Target="../media/image177.wmf"/><Relationship Id="rId3" Type="http://schemas.openxmlformats.org/officeDocument/2006/relationships/oleObject" Target="../embeddings/oleObject169.bin"/><Relationship Id="rId2" Type="http://schemas.openxmlformats.org/officeDocument/2006/relationships/image" Target="../media/image176.wmf"/><Relationship Id="rId1" Type="http://schemas.openxmlformats.org/officeDocument/2006/relationships/oleObject" Target="../embeddings/oleObject168.bin"/></Relationships>
</file>

<file path=ppt/slides/_rels/slide53.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82.wmf"/><Relationship Id="rId7" Type="http://schemas.openxmlformats.org/officeDocument/2006/relationships/oleObject" Target="../embeddings/oleObject174.bin"/><Relationship Id="rId6" Type="http://schemas.openxmlformats.org/officeDocument/2006/relationships/image" Target="../media/image181.wmf"/><Relationship Id="rId5" Type="http://schemas.openxmlformats.org/officeDocument/2006/relationships/oleObject" Target="../embeddings/oleObject173.bin"/><Relationship Id="rId4" Type="http://schemas.openxmlformats.org/officeDocument/2006/relationships/image" Target="../media/image180.wmf"/><Relationship Id="rId3" Type="http://schemas.openxmlformats.org/officeDocument/2006/relationships/oleObject" Target="../embeddings/oleObject172.bin"/><Relationship Id="rId2" Type="http://schemas.openxmlformats.org/officeDocument/2006/relationships/image" Target="../media/image179.wmf"/><Relationship Id="rId10" Type="http://schemas.openxmlformats.org/officeDocument/2006/relationships/vmlDrawing" Target="../drawings/vmlDrawing44.vml"/><Relationship Id="rId1" Type="http://schemas.openxmlformats.org/officeDocument/2006/relationships/oleObject" Target="../embeddings/oleObject171.bin"/></Relationships>
</file>

<file path=ppt/slides/_rels/slide54.xml.rels><?xml version="1.0" encoding="UTF-8" standalone="yes"?>
<Relationships xmlns="http://schemas.openxmlformats.org/package/2006/relationships"><Relationship Id="rId6" Type="http://schemas.openxmlformats.org/officeDocument/2006/relationships/vmlDrawing" Target="../drawings/vmlDrawing45.vml"/><Relationship Id="rId5" Type="http://schemas.openxmlformats.org/officeDocument/2006/relationships/slideLayout" Target="../slideLayouts/slideLayout7.xml"/><Relationship Id="rId4" Type="http://schemas.openxmlformats.org/officeDocument/2006/relationships/image" Target="../media/image184.wmf"/><Relationship Id="rId3" Type="http://schemas.openxmlformats.org/officeDocument/2006/relationships/oleObject" Target="../embeddings/oleObject176.bin"/><Relationship Id="rId2" Type="http://schemas.openxmlformats.org/officeDocument/2006/relationships/image" Target="../media/image183.wmf"/><Relationship Id="rId1" Type="http://schemas.openxmlformats.org/officeDocument/2006/relationships/oleObject" Target="../embeddings/oleObject175.bin"/></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6" Type="http://schemas.openxmlformats.org/officeDocument/2006/relationships/vmlDrawing" Target="../drawings/vmlDrawing46.vml"/><Relationship Id="rId5" Type="http://schemas.openxmlformats.org/officeDocument/2006/relationships/slideLayout" Target="../slideLayouts/slideLayout7.xml"/><Relationship Id="rId4" Type="http://schemas.openxmlformats.org/officeDocument/2006/relationships/image" Target="../media/image186.wmf"/><Relationship Id="rId3" Type="http://schemas.openxmlformats.org/officeDocument/2006/relationships/oleObject" Target="../embeddings/oleObject178.bin"/><Relationship Id="rId2" Type="http://schemas.openxmlformats.org/officeDocument/2006/relationships/image" Target="../media/image185.wmf"/><Relationship Id="rId1" Type="http://schemas.openxmlformats.org/officeDocument/2006/relationships/oleObject" Target="../embeddings/oleObject177.bin"/></Relationships>
</file>

<file path=ppt/slides/_rels/slide57.xml.rels><?xml version="1.0" encoding="UTF-8" standalone="yes"?>
<Relationships xmlns="http://schemas.openxmlformats.org/package/2006/relationships"><Relationship Id="rId6" Type="http://schemas.openxmlformats.org/officeDocument/2006/relationships/vmlDrawing" Target="../drawings/vmlDrawing47.vml"/><Relationship Id="rId5" Type="http://schemas.openxmlformats.org/officeDocument/2006/relationships/slideLayout" Target="../slideLayouts/slideLayout7.xml"/><Relationship Id="rId4" Type="http://schemas.openxmlformats.org/officeDocument/2006/relationships/image" Target="../media/image188.wmf"/><Relationship Id="rId3" Type="http://schemas.openxmlformats.org/officeDocument/2006/relationships/oleObject" Target="../embeddings/oleObject180.bin"/><Relationship Id="rId2" Type="http://schemas.openxmlformats.org/officeDocument/2006/relationships/image" Target="../media/image187.wmf"/><Relationship Id="rId1" Type="http://schemas.openxmlformats.org/officeDocument/2006/relationships/oleObject" Target="../embeddings/oleObject179.bin"/></Relationships>
</file>

<file path=ppt/slides/_rels/slide58.xml.rels><?xml version="1.0" encoding="UTF-8" standalone="yes"?>
<Relationships xmlns="http://schemas.openxmlformats.org/package/2006/relationships"><Relationship Id="rId8" Type="http://schemas.openxmlformats.org/officeDocument/2006/relationships/vmlDrawing" Target="../drawings/vmlDrawing48.vml"/><Relationship Id="rId7" Type="http://schemas.openxmlformats.org/officeDocument/2006/relationships/slideLayout" Target="../slideLayouts/slideLayout7.xml"/><Relationship Id="rId6" Type="http://schemas.openxmlformats.org/officeDocument/2006/relationships/image" Target="../media/image191.wmf"/><Relationship Id="rId5" Type="http://schemas.openxmlformats.org/officeDocument/2006/relationships/oleObject" Target="../embeddings/oleObject183.bin"/><Relationship Id="rId4" Type="http://schemas.openxmlformats.org/officeDocument/2006/relationships/image" Target="../media/image190.wmf"/><Relationship Id="rId3" Type="http://schemas.openxmlformats.org/officeDocument/2006/relationships/oleObject" Target="../embeddings/oleObject182.bin"/><Relationship Id="rId2" Type="http://schemas.openxmlformats.org/officeDocument/2006/relationships/image" Target="../media/image189.wmf"/><Relationship Id="rId1" Type="http://schemas.openxmlformats.org/officeDocument/2006/relationships/oleObject" Target="../embeddings/oleObject181.bin"/></Relationships>
</file>

<file path=ppt/slides/_rels/slide59.xml.rels><?xml version="1.0" encoding="UTF-8" standalone="yes"?>
<Relationships xmlns="http://schemas.openxmlformats.org/package/2006/relationships"><Relationship Id="rId8" Type="http://schemas.openxmlformats.org/officeDocument/2006/relationships/vmlDrawing" Target="../drawings/vmlDrawing49.vml"/><Relationship Id="rId7" Type="http://schemas.openxmlformats.org/officeDocument/2006/relationships/slideLayout" Target="../slideLayouts/slideLayout7.xml"/><Relationship Id="rId6" Type="http://schemas.openxmlformats.org/officeDocument/2006/relationships/image" Target="../media/image194.wmf"/><Relationship Id="rId5" Type="http://schemas.openxmlformats.org/officeDocument/2006/relationships/oleObject" Target="../embeddings/oleObject186.bin"/><Relationship Id="rId4" Type="http://schemas.openxmlformats.org/officeDocument/2006/relationships/image" Target="../media/image193.wmf"/><Relationship Id="rId3" Type="http://schemas.openxmlformats.org/officeDocument/2006/relationships/oleObject" Target="../embeddings/oleObject185.bin"/><Relationship Id="rId2" Type="http://schemas.openxmlformats.org/officeDocument/2006/relationships/image" Target="../media/image192.wmf"/><Relationship Id="rId1" Type="http://schemas.openxmlformats.org/officeDocument/2006/relationships/oleObject" Target="../embeddings/oleObject184.bin"/></Relationships>
</file>

<file path=ppt/slides/_rels/slide60.xml.rels><?xml version="1.0" encoding="UTF-8" standalone="yes"?>
<Relationships xmlns="http://schemas.openxmlformats.org/package/2006/relationships"><Relationship Id="rId4" Type="http://schemas.openxmlformats.org/officeDocument/2006/relationships/vmlDrawing" Target="../drawings/vmlDrawing50.vml"/><Relationship Id="rId3" Type="http://schemas.openxmlformats.org/officeDocument/2006/relationships/slideLayout" Target="../slideLayouts/slideLayout7.xml"/><Relationship Id="rId2" Type="http://schemas.openxmlformats.org/officeDocument/2006/relationships/image" Target="../media/image195.wmf"/><Relationship Id="rId1" Type="http://schemas.openxmlformats.org/officeDocument/2006/relationships/oleObject" Target="../embeddings/oleObject187.bin"/></Relationships>
</file>

<file path=ppt/slides/_rels/slide61.xml.rels><?xml version="1.0" encoding="UTF-8" standalone="yes"?>
<Relationships xmlns="http://schemas.openxmlformats.org/package/2006/relationships"><Relationship Id="rId9" Type="http://schemas.openxmlformats.org/officeDocument/2006/relationships/image" Target="../media/image200.wmf"/><Relationship Id="rId8" Type="http://schemas.openxmlformats.org/officeDocument/2006/relationships/oleObject" Target="../embeddings/oleObject191.bin"/><Relationship Id="rId7" Type="http://schemas.openxmlformats.org/officeDocument/2006/relationships/image" Target="../media/image199.wmf"/><Relationship Id="rId6" Type="http://schemas.openxmlformats.org/officeDocument/2006/relationships/oleObject" Target="../embeddings/oleObject190.bin"/><Relationship Id="rId5" Type="http://schemas.openxmlformats.org/officeDocument/2006/relationships/image" Target="../media/image198.wmf"/><Relationship Id="rId4" Type="http://schemas.openxmlformats.org/officeDocument/2006/relationships/oleObject" Target="../embeddings/oleObject189.bin"/><Relationship Id="rId3" Type="http://schemas.openxmlformats.org/officeDocument/2006/relationships/image" Target="../media/image197.png"/><Relationship Id="rId2" Type="http://schemas.openxmlformats.org/officeDocument/2006/relationships/image" Target="../media/image196.wmf"/><Relationship Id="rId15" Type="http://schemas.openxmlformats.org/officeDocument/2006/relationships/vmlDrawing" Target="../drawings/vmlDrawing51.vml"/><Relationship Id="rId14" Type="http://schemas.openxmlformats.org/officeDocument/2006/relationships/slideLayout" Target="../slideLayouts/slideLayout7.xml"/><Relationship Id="rId13" Type="http://schemas.openxmlformats.org/officeDocument/2006/relationships/image" Target="../media/image202.wmf"/><Relationship Id="rId12" Type="http://schemas.openxmlformats.org/officeDocument/2006/relationships/oleObject" Target="../embeddings/oleObject193.bin"/><Relationship Id="rId11" Type="http://schemas.openxmlformats.org/officeDocument/2006/relationships/image" Target="../media/image201.wmf"/><Relationship Id="rId10" Type="http://schemas.openxmlformats.org/officeDocument/2006/relationships/oleObject" Target="../embeddings/oleObject192.bin"/><Relationship Id="rId1" Type="http://schemas.openxmlformats.org/officeDocument/2006/relationships/oleObject" Target="../embeddings/oleObject188.bin"/></Relationships>
</file>

<file path=ppt/slides/_rels/slide62.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06.wmf"/><Relationship Id="rId7" Type="http://schemas.openxmlformats.org/officeDocument/2006/relationships/oleObject" Target="../embeddings/oleObject197.bin"/><Relationship Id="rId6" Type="http://schemas.openxmlformats.org/officeDocument/2006/relationships/image" Target="../media/image205.wmf"/><Relationship Id="rId5" Type="http://schemas.openxmlformats.org/officeDocument/2006/relationships/oleObject" Target="../embeddings/oleObject196.bin"/><Relationship Id="rId4" Type="http://schemas.openxmlformats.org/officeDocument/2006/relationships/image" Target="../media/image204.wmf"/><Relationship Id="rId3" Type="http://schemas.openxmlformats.org/officeDocument/2006/relationships/oleObject" Target="../embeddings/oleObject195.bin"/><Relationship Id="rId2" Type="http://schemas.openxmlformats.org/officeDocument/2006/relationships/image" Target="../media/image203.wmf"/><Relationship Id="rId10" Type="http://schemas.openxmlformats.org/officeDocument/2006/relationships/vmlDrawing" Target="../drawings/vmlDrawing52.vml"/><Relationship Id="rId1" Type="http://schemas.openxmlformats.org/officeDocument/2006/relationships/oleObject" Target="../embeddings/oleObject194.bin"/></Relationships>
</file>

<file path=ppt/slides/_rels/slide63.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10.wmf"/><Relationship Id="rId7" Type="http://schemas.openxmlformats.org/officeDocument/2006/relationships/oleObject" Target="../embeddings/oleObject201.bin"/><Relationship Id="rId6" Type="http://schemas.openxmlformats.org/officeDocument/2006/relationships/image" Target="../media/image209.wmf"/><Relationship Id="rId5" Type="http://schemas.openxmlformats.org/officeDocument/2006/relationships/oleObject" Target="../embeddings/oleObject200.bin"/><Relationship Id="rId4" Type="http://schemas.openxmlformats.org/officeDocument/2006/relationships/image" Target="../media/image208.wmf"/><Relationship Id="rId3" Type="http://schemas.openxmlformats.org/officeDocument/2006/relationships/oleObject" Target="../embeddings/oleObject199.bin"/><Relationship Id="rId2" Type="http://schemas.openxmlformats.org/officeDocument/2006/relationships/image" Target="../media/image207.wmf"/><Relationship Id="rId10" Type="http://schemas.openxmlformats.org/officeDocument/2006/relationships/vmlDrawing" Target="../drawings/vmlDrawing53.vml"/><Relationship Id="rId1" Type="http://schemas.openxmlformats.org/officeDocument/2006/relationships/oleObject" Target="../embeddings/oleObject198.bin"/></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2.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16.wmf"/><Relationship Id="rId7" Type="http://schemas.openxmlformats.org/officeDocument/2006/relationships/oleObject" Target="../embeddings/oleObject205.bin"/><Relationship Id="rId6" Type="http://schemas.openxmlformats.org/officeDocument/2006/relationships/image" Target="../media/image215.wmf"/><Relationship Id="rId5" Type="http://schemas.openxmlformats.org/officeDocument/2006/relationships/oleObject" Target="../embeddings/oleObject204.bin"/><Relationship Id="rId4" Type="http://schemas.openxmlformats.org/officeDocument/2006/relationships/image" Target="../media/image214.wmf"/><Relationship Id="rId3" Type="http://schemas.openxmlformats.org/officeDocument/2006/relationships/oleObject" Target="../embeddings/oleObject203.bin"/><Relationship Id="rId2" Type="http://schemas.openxmlformats.org/officeDocument/2006/relationships/image" Target="../media/image213.wmf"/><Relationship Id="rId10" Type="http://schemas.openxmlformats.org/officeDocument/2006/relationships/vmlDrawing" Target="../drawings/vmlDrawing54.vml"/><Relationship Id="rId1" Type="http://schemas.openxmlformats.org/officeDocument/2006/relationships/oleObject" Target="../embeddings/oleObject202.bin"/></Relationships>
</file>

<file path=ppt/slides/_rels/slide70.xml.rels><?xml version="1.0" encoding="UTF-8" standalone="yes"?>
<Relationships xmlns="http://schemas.openxmlformats.org/package/2006/relationships"><Relationship Id="rId4" Type="http://schemas.openxmlformats.org/officeDocument/2006/relationships/vmlDrawing" Target="../drawings/vmlDrawing55.vml"/><Relationship Id="rId3" Type="http://schemas.openxmlformats.org/officeDocument/2006/relationships/slideLayout" Target="../slideLayouts/slideLayout7.xml"/><Relationship Id="rId2" Type="http://schemas.openxmlformats.org/officeDocument/2006/relationships/image" Target="../media/image217.wmf"/><Relationship Id="rId1" Type="http://schemas.openxmlformats.org/officeDocument/2006/relationships/oleObject" Target="../embeddings/oleObject206.bin"/></Relationships>
</file>

<file path=ppt/slides/_rels/slide71.xml.rels><?xml version="1.0" encoding="UTF-8" standalone="yes"?>
<Relationships xmlns="http://schemas.openxmlformats.org/package/2006/relationships"><Relationship Id="rId9" Type="http://schemas.openxmlformats.org/officeDocument/2006/relationships/oleObject" Target="../embeddings/oleObject211.bin"/><Relationship Id="rId8" Type="http://schemas.openxmlformats.org/officeDocument/2006/relationships/image" Target="../media/image221.wmf"/><Relationship Id="rId7" Type="http://schemas.openxmlformats.org/officeDocument/2006/relationships/oleObject" Target="../embeddings/oleObject210.bin"/><Relationship Id="rId6" Type="http://schemas.openxmlformats.org/officeDocument/2006/relationships/image" Target="../media/image220.wmf"/><Relationship Id="rId5" Type="http://schemas.openxmlformats.org/officeDocument/2006/relationships/oleObject" Target="../embeddings/oleObject209.bin"/><Relationship Id="rId4" Type="http://schemas.openxmlformats.org/officeDocument/2006/relationships/image" Target="../media/image219.wmf"/><Relationship Id="rId3" Type="http://schemas.openxmlformats.org/officeDocument/2006/relationships/oleObject" Target="../embeddings/oleObject208.bin"/><Relationship Id="rId2" Type="http://schemas.openxmlformats.org/officeDocument/2006/relationships/image" Target="../media/image218.wmf"/><Relationship Id="rId12" Type="http://schemas.openxmlformats.org/officeDocument/2006/relationships/vmlDrawing" Target="../drawings/vmlDrawing56.vml"/><Relationship Id="rId11" Type="http://schemas.openxmlformats.org/officeDocument/2006/relationships/slideLayout" Target="../slideLayouts/slideLayout7.xml"/><Relationship Id="rId10" Type="http://schemas.openxmlformats.org/officeDocument/2006/relationships/image" Target="../media/image222.wmf"/><Relationship Id="rId1" Type="http://schemas.openxmlformats.org/officeDocument/2006/relationships/oleObject" Target="../embeddings/oleObject207.bin"/></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23.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4" Type="http://schemas.openxmlformats.org/officeDocument/2006/relationships/vmlDrawing" Target="../drawings/vmlDrawing57.vml"/><Relationship Id="rId3" Type="http://schemas.openxmlformats.org/officeDocument/2006/relationships/slideLayout" Target="../slideLayouts/slideLayout7.xml"/><Relationship Id="rId2" Type="http://schemas.openxmlformats.org/officeDocument/2006/relationships/image" Target="../media/image224.wmf"/><Relationship Id="rId1" Type="http://schemas.openxmlformats.org/officeDocument/2006/relationships/oleObject" Target="../embeddings/oleObject212.bin"/></Relationships>
</file>

<file path=ppt/slides/_rels/slide81.xml.rels><?xml version="1.0" encoding="UTF-8" standalone="yes"?>
<Relationships xmlns="http://schemas.openxmlformats.org/package/2006/relationships"><Relationship Id="rId6" Type="http://schemas.openxmlformats.org/officeDocument/2006/relationships/vmlDrawing" Target="../drawings/vmlDrawing58.vml"/><Relationship Id="rId5" Type="http://schemas.openxmlformats.org/officeDocument/2006/relationships/slideLayout" Target="../slideLayouts/slideLayout7.xml"/><Relationship Id="rId4" Type="http://schemas.openxmlformats.org/officeDocument/2006/relationships/image" Target="../media/image226.wmf"/><Relationship Id="rId3" Type="http://schemas.openxmlformats.org/officeDocument/2006/relationships/oleObject" Target="../embeddings/oleObject214.bin"/><Relationship Id="rId2" Type="http://schemas.openxmlformats.org/officeDocument/2006/relationships/image" Target="../media/image225.wmf"/><Relationship Id="rId1" Type="http://schemas.openxmlformats.org/officeDocument/2006/relationships/oleObject" Target="../embeddings/oleObject213.bin"/></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2"/>
          <p:cNvSpPr>
            <a:spLocks noGrp="1"/>
          </p:cNvSpPr>
          <p:nvPr>
            <p:ph type="ctrTitle"/>
          </p:nvPr>
        </p:nvSpPr>
        <p:spPr>
          <a:xfrm>
            <a:off x="2667000" y="704676"/>
            <a:ext cx="6858000" cy="1336214"/>
          </a:xfrm>
        </p:spPr>
        <p:txBody>
          <a:bodyPr vert="horz" wrap="square" lIns="68580" tIns="34290" rIns="68580" bIns="34290" rtlCol="0" anchor="b">
            <a:normAutofit/>
          </a:bodyPr>
          <a:lstStyle/>
          <a:p>
            <a:pPr eaLnBrk="1" hangingPunct="1"/>
            <a:r>
              <a:rPr lang="zh-CN" altLang="en-US" dirty="0">
                <a:latin typeface="+mj-lt"/>
                <a:ea typeface="+mj-ea"/>
                <a:cs typeface="+mj-cs"/>
              </a:rPr>
              <a:t>第</a:t>
            </a:r>
            <a:r>
              <a:rPr lang="zh-CN" altLang="en-US" dirty="0"/>
              <a:t>四</a:t>
            </a:r>
            <a:r>
              <a:rPr lang="zh-CN" altLang="en-US" dirty="0">
                <a:latin typeface="+mj-lt"/>
                <a:ea typeface="+mj-ea"/>
                <a:cs typeface="+mj-cs"/>
              </a:rPr>
              <a:t>章 回归分析</a:t>
            </a:r>
            <a:endParaRPr lang="zh-CN" altLang="en-US" dirty="0">
              <a:latin typeface="+mj-lt"/>
              <a:ea typeface="+mj-ea"/>
              <a:cs typeface="+mj-cs"/>
            </a:endParaRPr>
          </a:p>
        </p:txBody>
      </p:sp>
      <p:sp>
        <p:nvSpPr>
          <p:cNvPr id="5122" name="Rectangle 3"/>
          <p:cNvSpPr>
            <a:spLocks noGrp="1"/>
          </p:cNvSpPr>
          <p:nvPr>
            <p:ph type="subTitle" idx="1"/>
          </p:nvPr>
        </p:nvSpPr>
        <p:spPr>
          <a:xfrm>
            <a:off x="1193036" y="2587287"/>
            <a:ext cx="10694163" cy="2410460"/>
          </a:xfrm>
        </p:spPr>
        <p:txBody>
          <a:bodyPr vert="horz" wrap="square" lIns="68580" tIns="34290" rIns="68580" bIns="34290" rtlCol="0" anchor="t">
            <a:noAutofit/>
          </a:bodyPr>
          <a:lstStyle/>
          <a:p>
            <a:pPr algn="l" eaLnBrk="1" hangingPunct="1"/>
            <a:r>
              <a:rPr lang="zh-CN" altLang="en-US" sz="2800" dirty="0"/>
              <a:t>课程内容                                作业 </a:t>
            </a:r>
            <a:r>
              <a:rPr lang="en-US" altLang="zh-CN" sz="2800" dirty="0"/>
              <a:t>1.</a:t>
            </a:r>
            <a:r>
              <a:rPr lang="zh-CN" altLang="en-US" sz="2800" dirty="0"/>
              <a:t>群里的图片</a:t>
            </a:r>
            <a:r>
              <a:rPr lang="en-US" altLang="zh-CN" sz="2800" dirty="0"/>
              <a:t>; 2. 4.1(1); 3. 4.3(1);</a:t>
            </a:r>
            <a:endParaRPr lang="en-US" altLang="zh-CN" sz="2800" dirty="0"/>
          </a:p>
          <a:p>
            <a:pPr marL="457200" indent="-457200" algn="l">
              <a:buFont typeface="Arial" panose="020B0604020202090204" pitchFamily="34" charset="0"/>
              <a:buChar char="•"/>
            </a:pPr>
            <a:r>
              <a:rPr lang="zh-CN" altLang="en-US" sz="2800" dirty="0"/>
              <a:t>回归分析的基本思想                 </a:t>
            </a:r>
            <a:r>
              <a:rPr lang="en-US" altLang="zh-CN" sz="2800" dirty="0"/>
              <a:t>4. 4.10 </a:t>
            </a:r>
            <a:r>
              <a:rPr lang="zh-CN" altLang="en-US" sz="2800" dirty="0"/>
              <a:t>去掉</a:t>
            </a:r>
            <a:r>
              <a:rPr lang="en-US" altLang="zh-CN" sz="2800" dirty="0"/>
              <a:t>“</a:t>
            </a:r>
            <a:r>
              <a:rPr lang="zh-CN" altLang="en-US" sz="2800" dirty="0"/>
              <a:t>双重筛选逐步回归</a:t>
            </a:r>
            <a:r>
              <a:rPr lang="en-US" altLang="zh-CN" sz="2800" dirty="0"/>
              <a:t>”</a:t>
            </a:r>
            <a:endParaRPr lang="en-US" altLang="zh-CN" sz="2800" dirty="0"/>
          </a:p>
          <a:p>
            <a:pPr marL="457200" indent="-457200" algn="l" eaLnBrk="1" hangingPunct="1">
              <a:buFont typeface="Arial" panose="020B0604020202090204" pitchFamily="34" charset="0"/>
              <a:buChar char="•"/>
            </a:pPr>
            <a:r>
              <a:rPr lang="zh-CN" altLang="en-US" sz="2800" dirty="0"/>
              <a:t>一元线性回归模型                                 和</a:t>
            </a:r>
            <a:r>
              <a:rPr lang="en-US" altLang="zh-CN" sz="2800" dirty="0"/>
              <a:t>“</a:t>
            </a:r>
            <a:r>
              <a:rPr lang="zh-CN" altLang="en-US" sz="2800" dirty="0"/>
              <a:t>氧亏浓度</a:t>
            </a:r>
            <a:r>
              <a:rPr lang="en-US" altLang="zh-CN" sz="2800" dirty="0"/>
              <a:t>Y</a:t>
            </a:r>
            <a:r>
              <a:rPr lang="en-US" altLang="zh-CN" sz="2800" baseline="-25000" dirty="0"/>
              <a:t>2</a:t>
            </a:r>
            <a:r>
              <a:rPr lang="en-US" altLang="zh-CN" sz="2800" dirty="0"/>
              <a:t>”</a:t>
            </a:r>
            <a:r>
              <a:rPr lang="zh-CN" altLang="en-US" sz="2800" dirty="0"/>
              <a:t>。</a:t>
            </a:r>
            <a:endParaRPr lang="zh-CN" altLang="en-US" sz="2800" dirty="0"/>
          </a:p>
          <a:p>
            <a:pPr marL="457200" indent="-457200" algn="l" eaLnBrk="1" hangingPunct="1">
              <a:buFont typeface="Arial" panose="020B0604020202090204" pitchFamily="34" charset="0"/>
              <a:buChar char="•"/>
            </a:pPr>
            <a:r>
              <a:rPr lang="zh-CN" altLang="en-US" sz="2800" dirty="0"/>
              <a:t>多元线性回归模型</a:t>
            </a:r>
            <a:endParaRPr lang="zh-CN" altLang="en-US" sz="2800" dirty="0"/>
          </a:p>
          <a:p>
            <a:pPr algn="l" eaLnBrk="1" hangingPunct="1"/>
            <a:endParaRPr lang="zh-CN" altLang="en-US" sz="2800" dirty="0"/>
          </a:p>
          <a:p>
            <a:pPr algn="l" eaLnBrk="1" hangingPunct="1"/>
            <a:endParaRPr lang="zh-CN" altLang="en-US" sz="2800" dirty="0"/>
          </a:p>
        </p:txBody>
      </p:sp>
      <p:sp>
        <p:nvSpPr>
          <p:cNvPr id="4099" name="灯片编号占位符 5"/>
          <p:cNvSpPr>
            <a:spLocks noGrp="1"/>
          </p:cNvSpPr>
          <p:nvPr>
            <p:ph type="sldNum" sz="quarter" idx="12"/>
          </p:nvPr>
        </p:nvSpPr>
        <p:spPr/>
        <p:txBody>
          <a:bodyPr wrap="square" lIns="68580" tIns="34290" rIns="68580" bIns="34290" anchor="b"/>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algn="r"/>
            <a:fld id="{9A0DB2DC-4C9A-4742-B13C-FB6460FD3503}" type="slidenum">
              <a:rPr lang="en-US" altLang="zh-CN" sz="1050" dirty="0">
                <a:solidFill>
                  <a:schemeClr val="bg2"/>
                </a:solidFill>
              </a:rPr>
            </a:fld>
            <a:endParaRPr lang="en-US" altLang="zh-CN" sz="1050" dirty="0">
              <a:solidFill>
                <a:schemeClr val="bg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2"/>
          <p:cNvSpPr>
            <a:spLocks noGrp="1"/>
          </p:cNvSpPr>
          <p:nvPr>
            <p:ph type="title"/>
          </p:nvPr>
        </p:nvSpPr>
        <p:spPr/>
        <p:txBody>
          <a:bodyPr vert="horz" wrap="square" lIns="91440" tIns="45720" rIns="91440" bIns="45720" rtlCol="0" anchor="b">
            <a:normAutofit/>
          </a:bodyPr>
          <a:lstStyle/>
          <a:p>
            <a:pPr marL="1117600" indent="-1117600"/>
            <a:r>
              <a:rPr lang="zh-CN" altLang="en-US" sz="3600" dirty="0"/>
              <a:t>第一节 回归分析的基本思想</a:t>
            </a:r>
            <a:endParaRPr lang="zh-CN" altLang="en-US" sz="3600" dirty="0"/>
          </a:p>
        </p:txBody>
      </p:sp>
      <p:sp>
        <p:nvSpPr>
          <p:cNvPr id="6146" name="Rectangle 3"/>
          <p:cNvSpPr>
            <a:spLocks noGrp="1"/>
          </p:cNvSpPr>
          <p:nvPr>
            <p:ph idx="1"/>
          </p:nvPr>
        </p:nvSpPr>
        <p:spPr/>
        <p:txBody>
          <a:bodyPr vert="horz" wrap="square" lIns="91440" tIns="45720" rIns="91440" bIns="45720" rtlCol="0" anchor="t">
            <a:normAutofit/>
          </a:bodyPr>
          <a:lstStyle/>
          <a:p>
            <a:pPr marL="0" indent="0">
              <a:buNone/>
            </a:pPr>
            <a:r>
              <a:rPr lang="zh-CN" altLang="en-US" sz="3200" dirty="0">
                <a:solidFill>
                  <a:srgbClr val="FF0000"/>
                </a:solidFill>
              </a:rPr>
              <a:t>一、回归分析的含义、分类及应用 </a:t>
            </a:r>
            <a:endParaRPr lang="zh-CN" altLang="en-US" sz="3200" dirty="0">
              <a:solidFill>
                <a:srgbClr val="FF0000"/>
              </a:solidFill>
            </a:endParaRPr>
          </a:p>
          <a:p>
            <a:pPr marL="0" indent="0">
              <a:buNone/>
            </a:pPr>
            <a:r>
              <a:rPr lang="zh-CN" altLang="en-US" sz="2800" dirty="0"/>
              <a:t>一种分析变量间</a:t>
            </a:r>
            <a:r>
              <a:rPr lang="zh-CN" altLang="en-US" sz="2800" dirty="0">
                <a:solidFill>
                  <a:srgbClr val="FF0000"/>
                </a:solidFill>
              </a:rPr>
              <a:t>相互依赖关系</a:t>
            </a:r>
            <a:r>
              <a:rPr lang="zh-CN" altLang="en-US" sz="2800" dirty="0"/>
              <a:t>的数理统计方法 </a:t>
            </a:r>
            <a:endParaRPr lang="zh-CN" altLang="en-US" sz="2800" dirty="0"/>
          </a:p>
          <a:p>
            <a:pPr marL="0" indent="0">
              <a:buNone/>
            </a:pPr>
            <a:r>
              <a:rPr lang="zh-CN" altLang="en-US" sz="2800" dirty="0"/>
              <a:t>一元回归：一个因变量与一个自变量</a:t>
            </a:r>
            <a:endParaRPr lang="en-US" altLang="zh-CN" sz="2800" dirty="0"/>
          </a:p>
          <a:p>
            <a:pPr marL="0" indent="0">
              <a:buNone/>
            </a:pPr>
            <a:r>
              <a:rPr lang="zh-CN" altLang="en-US" sz="2800" dirty="0"/>
              <a:t>多元回归：一个因变量与多个自变量</a:t>
            </a:r>
            <a:endParaRPr lang="en-US" altLang="zh-CN" sz="2800" dirty="0"/>
          </a:p>
          <a:p>
            <a:pPr marL="0" indent="0">
              <a:buNone/>
            </a:pPr>
            <a:r>
              <a:rPr lang="zh-CN" altLang="en-US" sz="2800" dirty="0"/>
              <a:t>多对多元回归：多个因变量与多个自变量</a:t>
            </a:r>
            <a:endParaRPr lang="zh-CN" altLang="en-US" sz="2800" dirty="0"/>
          </a:p>
          <a:p>
            <a:pPr marL="0" indent="0">
              <a:buNone/>
            </a:pPr>
            <a:r>
              <a:rPr lang="zh-CN" altLang="en-US" sz="2800" dirty="0"/>
              <a:t>应用于社会、经济、科技、文化、自然科学等各领域的数据分析，可进行预测、控制分析。</a:t>
            </a:r>
            <a:endParaRPr lang="zh-CN" altLang="en-US" sz="2800" dirty="0"/>
          </a:p>
        </p:txBody>
      </p:sp>
      <p:sp>
        <p:nvSpPr>
          <p:cNvPr id="6147" name="灯片编号占位符 5"/>
          <p:cNvSpPr>
            <a:spLocks noGrp="1"/>
          </p:cNvSpPr>
          <p:nvPr>
            <p:ph type="sldNum" sz="quarter" idx="12"/>
          </p:nvPr>
        </p:nvSpPr>
        <p:spPr/>
        <p:txBody>
          <a:bodyPr vert="horz" wrap="square" lIns="91440" tIns="45720" rIns="91440" bIns="45720" rtlCol="0" anchor="b">
            <a:norm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algn="r"/>
            <a:fld id="{9A0DB2DC-4C9A-4742-B13C-FB6460FD3503}" type="slidenum">
              <a:rPr lang="en-US" altLang="zh-CN" sz="1400" dirty="0"/>
            </a:fld>
            <a:endParaRPr lang="en-US" altLang="zh-CN"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p:cNvSpPr>
            <a:spLocks noGrp="1"/>
          </p:cNvSpPr>
          <p:nvPr>
            <p:ph type="title"/>
          </p:nvPr>
        </p:nvSpPr>
        <p:spPr>
          <a:xfrm>
            <a:off x="2152650" y="530861"/>
            <a:ext cx="7886700" cy="922655"/>
          </a:xfrm>
        </p:spPr>
        <p:txBody>
          <a:bodyPr vert="horz" wrap="square" lIns="91440" tIns="45720" rIns="91440" bIns="45720" rtlCol="0" anchor="b">
            <a:normAutofit/>
          </a:bodyPr>
          <a:lstStyle/>
          <a:p>
            <a:pPr eaLnBrk="1" hangingPunct="1"/>
            <a:r>
              <a:rPr lang="zh-CN" altLang="en-US" sz="3600" dirty="0"/>
              <a:t>二、总体回归函数与样本回归函数</a:t>
            </a:r>
            <a:r>
              <a:rPr lang="zh-CN" altLang="en-US" dirty="0"/>
              <a:t> </a:t>
            </a:r>
            <a:endParaRPr lang="zh-CN" altLang="en-US" dirty="0"/>
          </a:p>
        </p:txBody>
      </p:sp>
      <p:sp>
        <p:nvSpPr>
          <p:cNvPr id="7170" name="Rectangle 3"/>
          <p:cNvSpPr>
            <a:spLocks noGrp="1"/>
          </p:cNvSpPr>
          <p:nvPr>
            <p:ph idx="1"/>
          </p:nvPr>
        </p:nvSpPr>
        <p:spPr>
          <a:xfrm>
            <a:off x="1947041" y="1983740"/>
            <a:ext cx="8543794" cy="5469890"/>
          </a:xfrm>
        </p:spPr>
        <p:txBody>
          <a:bodyPr vert="horz" wrap="square" lIns="91440" tIns="45720" rIns="91440" bIns="45720" rtlCol="0" anchor="t">
            <a:normAutofit/>
          </a:bodyPr>
          <a:lstStyle/>
          <a:p>
            <a:pPr marL="0" indent="0">
              <a:lnSpc>
                <a:spcPct val="150000"/>
              </a:lnSpc>
              <a:buNone/>
            </a:pPr>
            <a:r>
              <a:rPr lang="zh-CN" altLang="en-US" dirty="0">
                <a:latin typeface="+mn-ea"/>
                <a:cs typeface="+mn-ea"/>
              </a:rPr>
              <a:t>因变量</a:t>
            </a:r>
            <a:r>
              <a:rPr lang="en-US" altLang="zh-CN" i="1" dirty="0">
                <a:latin typeface="Times New Roman" panose="02020503050405090304" pitchFamily="18" charset="0"/>
                <a:cs typeface="Times New Roman" panose="02020503050405090304" pitchFamily="18" charset="0"/>
              </a:rPr>
              <a:t>Y</a:t>
            </a:r>
            <a:r>
              <a:rPr lang="zh-CN" altLang="en-US" dirty="0">
                <a:latin typeface="+mn-ea"/>
                <a:cs typeface="+mn-ea"/>
              </a:rPr>
              <a:t>的条件平均数随自变量</a:t>
            </a:r>
            <a:r>
              <a:rPr lang="en-US" altLang="zh-CN" i="1" dirty="0">
                <a:latin typeface="Times New Roman" panose="02020503050405090304" pitchFamily="18" charset="0"/>
                <a:cs typeface="Times New Roman" panose="02020503050405090304" pitchFamily="18" charset="0"/>
              </a:rPr>
              <a:t>X</a:t>
            </a:r>
            <a:r>
              <a:rPr lang="zh-CN" altLang="en-US" dirty="0">
                <a:latin typeface="+mn-ea"/>
                <a:cs typeface="+mn-ea"/>
              </a:rPr>
              <a:t>取值的变化而变化的，关系式可用               表示</a:t>
            </a:r>
            <a:endParaRPr lang="zh-CN" altLang="en-US" dirty="0">
              <a:latin typeface="+mn-ea"/>
              <a:cs typeface="+mn-ea"/>
            </a:endParaRPr>
          </a:p>
          <a:p>
            <a:pPr marL="0" indent="0">
              <a:lnSpc>
                <a:spcPct val="150000"/>
              </a:lnSpc>
              <a:buNone/>
            </a:pPr>
            <a:r>
              <a:rPr lang="zh-CN" altLang="en-US" dirty="0">
                <a:latin typeface="+mn-ea"/>
                <a:cs typeface="+mn-ea"/>
              </a:rPr>
              <a:t>上述形式的方程即为</a:t>
            </a:r>
            <a:r>
              <a:rPr lang="zh-CN" altLang="en-US" dirty="0">
                <a:solidFill>
                  <a:srgbClr val="FF0000"/>
                </a:solidFill>
                <a:latin typeface="+mn-ea"/>
                <a:cs typeface="+mn-ea"/>
              </a:rPr>
              <a:t>总体回归函数</a:t>
            </a:r>
            <a:r>
              <a:rPr lang="zh-CN" altLang="en-US" dirty="0">
                <a:latin typeface="+mn-ea"/>
                <a:cs typeface="+mn-ea"/>
              </a:rPr>
              <a:t>。</a:t>
            </a:r>
            <a:endParaRPr lang="zh-CN" altLang="en-US" dirty="0">
              <a:latin typeface="+mn-ea"/>
              <a:cs typeface="+mn-ea"/>
            </a:endParaRPr>
          </a:p>
          <a:p>
            <a:pPr marL="0" indent="0">
              <a:lnSpc>
                <a:spcPct val="150000"/>
              </a:lnSpc>
              <a:buNone/>
            </a:pPr>
            <a:r>
              <a:rPr lang="zh-CN" altLang="en-US" dirty="0">
                <a:latin typeface="+mn-ea"/>
                <a:cs typeface="+mn-ea"/>
              </a:rPr>
              <a:t>如果是线性形式，则可将总体回归函数写成下式：</a:t>
            </a:r>
            <a:endParaRPr lang="zh-CN" altLang="en-US" dirty="0">
              <a:latin typeface="+mn-ea"/>
              <a:cs typeface="+mn-ea"/>
            </a:endParaRPr>
          </a:p>
          <a:p>
            <a:pPr marL="0" indent="0">
              <a:lnSpc>
                <a:spcPct val="150000"/>
              </a:lnSpc>
              <a:buNone/>
            </a:pPr>
            <a:endParaRPr lang="zh-CN" altLang="en-US" dirty="0">
              <a:latin typeface="+mn-ea"/>
              <a:cs typeface="+mn-ea"/>
            </a:endParaRPr>
          </a:p>
          <a:p>
            <a:pPr marL="0" indent="0">
              <a:lnSpc>
                <a:spcPct val="150000"/>
              </a:lnSpc>
              <a:buNone/>
            </a:pPr>
            <a:r>
              <a:rPr lang="en-US" altLang="zh-CN" i="1" dirty="0">
                <a:latin typeface="Times New Roman" panose="02020503050405090304" pitchFamily="18" charset="0"/>
                <a:cs typeface="Times New Roman" panose="02020503050405090304" pitchFamily="18" charset="0"/>
              </a:rPr>
              <a:t>a</a:t>
            </a:r>
            <a:r>
              <a:rPr lang="zh-CN" altLang="en-US" dirty="0">
                <a:latin typeface="+mn-ea"/>
                <a:cs typeface="+mn-ea"/>
              </a:rPr>
              <a:t>和</a:t>
            </a:r>
            <a:r>
              <a:rPr lang="en-US" altLang="zh-CN" i="1" dirty="0">
                <a:latin typeface="Times New Roman" panose="02020503050405090304" pitchFamily="18" charset="0"/>
                <a:cs typeface="Times New Roman" panose="02020503050405090304" pitchFamily="18" charset="0"/>
              </a:rPr>
              <a:t>b</a:t>
            </a:r>
            <a:r>
              <a:rPr lang="zh-CN" altLang="en-US" dirty="0">
                <a:latin typeface="+mn-ea"/>
                <a:cs typeface="+mn-ea"/>
              </a:rPr>
              <a:t>为未知的总体参数，又称其为回归系数 </a:t>
            </a:r>
            <a:endParaRPr lang="zh-CN" altLang="en-US" dirty="0">
              <a:latin typeface="+mn-ea"/>
              <a:cs typeface="+mn-ea"/>
            </a:endParaRPr>
          </a:p>
          <a:p>
            <a:pPr marL="0" indent="0">
              <a:lnSpc>
                <a:spcPct val="150000"/>
              </a:lnSpc>
              <a:buNone/>
            </a:pPr>
            <a:r>
              <a:rPr lang="zh-CN" altLang="en-US" dirty="0">
                <a:solidFill>
                  <a:srgbClr val="FF0000"/>
                </a:solidFill>
                <a:latin typeface="+mn-ea"/>
                <a:cs typeface="+mn-ea"/>
              </a:rPr>
              <a:t>样本回归函数</a:t>
            </a:r>
            <a:r>
              <a:rPr lang="zh-CN" altLang="en-US" dirty="0">
                <a:latin typeface="+mn-ea"/>
                <a:cs typeface="+mn-ea"/>
              </a:rPr>
              <a:t>的形式为：</a:t>
            </a:r>
            <a:r>
              <a:rPr lang="zh-CN" altLang="en-US" dirty="0"/>
              <a:t> </a:t>
            </a:r>
            <a:endParaRPr lang="zh-CN" altLang="en-US" dirty="0"/>
          </a:p>
        </p:txBody>
      </p:sp>
      <p:sp>
        <p:nvSpPr>
          <p:cNvPr id="7182" name="灯片编号占位符 16"/>
          <p:cNvSpPr>
            <a:spLocks noGrp="1"/>
          </p:cNvSpPr>
          <p:nvPr>
            <p:ph type="sldNum" sz="quarter" idx="12"/>
          </p:nvPr>
        </p:nvSpPr>
        <p:spPr/>
        <p:txBody>
          <a:bodyPr vert="horz" wrap="square" lIns="91440" tIns="45720" rIns="91440" bIns="45720" rtlCol="0" anchor="b">
            <a:norm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algn="r"/>
            <a:fld id="{9A0DB2DC-4C9A-4742-B13C-FB6460FD3503}" type="slidenum">
              <a:rPr lang="en-US" altLang="zh-CN" sz="1400" dirty="0"/>
            </a:fld>
            <a:endParaRPr lang="en-US" altLang="zh-CN" sz="1400" dirty="0"/>
          </a:p>
        </p:txBody>
      </p:sp>
      <p:sp>
        <p:nvSpPr>
          <p:cNvPr id="7171" name="Rectangle 5"/>
          <p:cNvSpPr/>
          <p:nvPr/>
        </p:nvSpPr>
        <p:spPr>
          <a:xfrm>
            <a:off x="1524001" y="-184666"/>
            <a:ext cx="184731" cy="369332"/>
          </a:xfrm>
          <a:prstGeom prst="rect">
            <a:avLst/>
          </a:prstGeom>
          <a:noFill/>
          <a:ln w="9525">
            <a:noFill/>
          </a:ln>
        </p:spPr>
        <p:txBody>
          <a:bodyPr wrap="none" anchor="ctr">
            <a:spAutoFit/>
          </a:bodyPr>
          <a:lstStyle/>
          <a:p>
            <a:endParaRPr lang="zh-CN" altLang="en-US" dirty="0">
              <a:latin typeface="Tahoma" panose="020B0604030504040204" pitchFamily="34" charset="0"/>
              <a:ea typeface="宋体" pitchFamily="2" charset="-122"/>
            </a:endParaRPr>
          </a:p>
        </p:txBody>
      </p:sp>
      <p:graphicFrame>
        <p:nvGraphicFramePr>
          <p:cNvPr id="7172" name="Object 4"/>
          <p:cNvGraphicFramePr/>
          <p:nvPr/>
        </p:nvGraphicFramePr>
        <p:xfrm>
          <a:off x="2791866" y="2635196"/>
          <a:ext cx="2078037" cy="520700"/>
        </p:xfrm>
        <a:graphic>
          <a:graphicData uri="http://schemas.openxmlformats.org/presentationml/2006/ole">
            <mc:AlternateContent xmlns:mc="http://schemas.openxmlformats.org/markup-compatibility/2006">
              <mc:Choice xmlns:v="urn:schemas-microsoft-com:vml" Requires="v">
                <p:oleObj spid="_x0000_s25601" name="Equation" r:id="rId1" imgW="24688800" imgH="6096000" progId="Equation.DSMT4">
                  <p:embed/>
                </p:oleObj>
              </mc:Choice>
              <mc:Fallback>
                <p:oleObj name="Equation" r:id="rId1" imgW="24688800" imgH="6096000" progId="Equation.DSMT4">
                  <p:embed/>
                  <p:pic>
                    <p:nvPicPr>
                      <p:cNvPr id="0" name="图片 3123"/>
                      <p:cNvPicPr/>
                      <p:nvPr/>
                    </p:nvPicPr>
                    <p:blipFill>
                      <a:blip r:embed="rId2"/>
                      <a:stretch>
                        <a:fillRect/>
                      </a:stretch>
                    </p:blipFill>
                    <p:spPr>
                      <a:xfrm>
                        <a:off x="2791866" y="2635196"/>
                        <a:ext cx="2078037" cy="520700"/>
                      </a:xfrm>
                      <a:prstGeom prst="rect">
                        <a:avLst/>
                      </a:prstGeom>
                      <a:noFill/>
                      <a:ln w="38100">
                        <a:noFill/>
                        <a:miter/>
                      </a:ln>
                    </p:spPr>
                  </p:pic>
                </p:oleObj>
              </mc:Fallback>
            </mc:AlternateContent>
          </a:graphicData>
        </a:graphic>
      </p:graphicFrame>
      <p:sp>
        <p:nvSpPr>
          <p:cNvPr id="7173" name="Rectangle 7"/>
          <p:cNvSpPr/>
          <p:nvPr/>
        </p:nvSpPr>
        <p:spPr>
          <a:xfrm>
            <a:off x="1524001" y="-184666"/>
            <a:ext cx="184731" cy="369332"/>
          </a:xfrm>
          <a:prstGeom prst="rect">
            <a:avLst/>
          </a:prstGeom>
          <a:noFill/>
          <a:ln w="9525">
            <a:noFill/>
          </a:ln>
        </p:spPr>
        <p:txBody>
          <a:bodyPr wrap="none" anchor="ctr">
            <a:spAutoFit/>
          </a:bodyPr>
          <a:lstStyle/>
          <a:p>
            <a:endParaRPr lang="zh-CN" altLang="en-US" dirty="0">
              <a:latin typeface="Tahoma" panose="020B0604030504040204" pitchFamily="34" charset="0"/>
              <a:ea typeface="宋体" pitchFamily="2" charset="-122"/>
            </a:endParaRPr>
          </a:p>
        </p:txBody>
      </p:sp>
      <p:graphicFrame>
        <p:nvGraphicFramePr>
          <p:cNvPr id="7174" name="Object 6"/>
          <p:cNvGraphicFramePr/>
          <p:nvPr/>
        </p:nvGraphicFramePr>
        <p:xfrm>
          <a:off x="4267200" y="4635500"/>
          <a:ext cx="2795588" cy="620713"/>
        </p:xfrm>
        <a:graphic>
          <a:graphicData uri="http://schemas.openxmlformats.org/presentationml/2006/ole">
            <mc:AlternateContent xmlns:mc="http://schemas.openxmlformats.org/markup-compatibility/2006">
              <mc:Choice xmlns:v="urn:schemas-microsoft-com:vml" Requires="v">
                <p:oleObj spid="_x0000_s2" name="Equation" r:id="rId3" imgW="26212800" imgH="6096000" progId="Equation.DSMT4">
                  <p:embed/>
                </p:oleObj>
              </mc:Choice>
              <mc:Fallback>
                <p:oleObj name="Equation" r:id="rId3" imgW="26212800" imgH="6096000" progId="Equation.DSMT4">
                  <p:embed/>
                  <p:pic>
                    <p:nvPicPr>
                      <p:cNvPr id="0" name="图片 3124"/>
                      <p:cNvPicPr/>
                      <p:nvPr/>
                    </p:nvPicPr>
                    <p:blipFill>
                      <a:blip r:embed="rId4"/>
                      <a:stretch>
                        <a:fillRect/>
                      </a:stretch>
                    </p:blipFill>
                    <p:spPr>
                      <a:xfrm>
                        <a:off x="4267200" y="4635500"/>
                        <a:ext cx="2795588" cy="620713"/>
                      </a:xfrm>
                      <a:prstGeom prst="rect">
                        <a:avLst/>
                      </a:prstGeom>
                      <a:noFill/>
                      <a:ln w="38100">
                        <a:noFill/>
                        <a:miter/>
                      </a:ln>
                    </p:spPr>
                  </p:pic>
                </p:oleObj>
              </mc:Fallback>
            </mc:AlternateContent>
          </a:graphicData>
        </a:graphic>
      </p:graphicFrame>
      <p:sp>
        <p:nvSpPr>
          <p:cNvPr id="7180" name="Rectangle 18"/>
          <p:cNvSpPr/>
          <p:nvPr/>
        </p:nvSpPr>
        <p:spPr>
          <a:xfrm>
            <a:off x="1524001" y="-184666"/>
            <a:ext cx="184731" cy="369332"/>
          </a:xfrm>
          <a:prstGeom prst="rect">
            <a:avLst/>
          </a:prstGeom>
          <a:noFill/>
          <a:ln w="9525">
            <a:noFill/>
          </a:ln>
        </p:spPr>
        <p:txBody>
          <a:bodyPr wrap="none" anchor="ctr">
            <a:spAutoFit/>
          </a:bodyPr>
          <a:lstStyle/>
          <a:p>
            <a:endParaRPr lang="zh-CN" altLang="en-US" dirty="0">
              <a:latin typeface="Tahoma" panose="020B0604030504040204" pitchFamily="34" charset="0"/>
              <a:ea typeface="宋体" pitchFamily="2" charset="-122"/>
            </a:endParaRPr>
          </a:p>
        </p:txBody>
      </p:sp>
      <p:graphicFrame>
        <p:nvGraphicFramePr>
          <p:cNvPr id="7181" name="Object 17"/>
          <p:cNvGraphicFramePr/>
          <p:nvPr/>
        </p:nvGraphicFramePr>
        <p:xfrm>
          <a:off x="5535230" y="5913438"/>
          <a:ext cx="1855788" cy="625475"/>
        </p:xfrm>
        <a:graphic>
          <a:graphicData uri="http://schemas.openxmlformats.org/presentationml/2006/ole">
            <mc:AlternateContent xmlns:mc="http://schemas.openxmlformats.org/markup-compatibility/2006">
              <mc:Choice xmlns:v="urn:schemas-microsoft-com:vml" Requires="v">
                <p:oleObj spid="_x0000_s3" name="Equation" r:id="rId5" imgW="17678400" imgH="6096000" progId="Equation.DSMT4">
                  <p:embed/>
                </p:oleObj>
              </mc:Choice>
              <mc:Fallback>
                <p:oleObj name="Equation" r:id="rId5" imgW="17678400" imgH="6096000" progId="Equation.DSMT4">
                  <p:embed/>
                  <p:pic>
                    <p:nvPicPr>
                      <p:cNvPr id="0" name="图片 3125"/>
                      <p:cNvPicPr/>
                      <p:nvPr/>
                    </p:nvPicPr>
                    <p:blipFill>
                      <a:blip r:embed="rId6"/>
                      <a:stretch>
                        <a:fillRect/>
                      </a:stretch>
                    </p:blipFill>
                    <p:spPr>
                      <a:xfrm>
                        <a:off x="5535230" y="5913438"/>
                        <a:ext cx="1855788" cy="625475"/>
                      </a:xfrm>
                      <a:prstGeom prst="rect">
                        <a:avLst/>
                      </a:prstGeom>
                      <a:noFill/>
                      <a:ln w="38100">
                        <a:noFill/>
                        <a:miter/>
                      </a:ln>
                    </p:spPr>
                  </p:pic>
                </p:oleObj>
              </mc:Fallback>
            </mc:AlternateContent>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p:cNvSpPr>
            <a:spLocks noGrp="1"/>
          </p:cNvSpPr>
          <p:nvPr>
            <p:ph type="title"/>
          </p:nvPr>
        </p:nvSpPr>
        <p:spPr>
          <a:xfrm>
            <a:off x="2041526" y="364490"/>
            <a:ext cx="5202555" cy="895350"/>
          </a:xfrm>
        </p:spPr>
        <p:txBody>
          <a:bodyPr vert="horz" wrap="square" lIns="91440" tIns="45720" rIns="91440" bIns="45720" rtlCol="0" anchor="b">
            <a:normAutofit fontScale="90000"/>
          </a:bodyPr>
          <a:lstStyle/>
          <a:p>
            <a:pPr eaLnBrk="1" hangingPunct="1"/>
            <a:r>
              <a:rPr lang="zh-CN" altLang="en-US" sz="3600" dirty="0"/>
              <a:t>第二节 一元线性回归模型</a:t>
            </a:r>
            <a:r>
              <a:rPr lang="zh-CN" altLang="en-US" dirty="0"/>
              <a:t> </a:t>
            </a:r>
            <a:endParaRPr lang="zh-CN" altLang="en-US" dirty="0"/>
          </a:p>
        </p:txBody>
      </p:sp>
      <p:sp>
        <p:nvSpPr>
          <p:cNvPr id="8194" name="Rectangle 3"/>
          <p:cNvSpPr>
            <a:spLocks noGrp="1"/>
          </p:cNvSpPr>
          <p:nvPr>
            <p:ph idx="1"/>
          </p:nvPr>
        </p:nvSpPr>
        <p:spPr>
          <a:xfrm>
            <a:off x="1906438" y="1432939"/>
            <a:ext cx="8436634" cy="5120005"/>
          </a:xfrm>
        </p:spPr>
        <p:txBody>
          <a:bodyPr vert="horz" wrap="square" lIns="91440" tIns="45720" rIns="91440" bIns="45720" rtlCol="0" anchor="t">
            <a:normAutofit fontScale="92500"/>
          </a:bodyPr>
          <a:lstStyle/>
          <a:p>
            <a:pPr fontAlgn="auto">
              <a:lnSpc>
                <a:spcPct val="150000"/>
              </a:lnSpc>
              <a:buNone/>
            </a:pPr>
            <a:r>
              <a:rPr lang="zh-CN" altLang="en-US" sz="3200" dirty="0">
                <a:solidFill>
                  <a:srgbClr val="3366FF"/>
                </a:solidFill>
              </a:rPr>
              <a:t>一、回归模型解决实际问题的步骤</a:t>
            </a:r>
            <a:endParaRPr lang="zh-CN" altLang="en-US" sz="3200" dirty="0">
              <a:solidFill>
                <a:srgbClr val="3366FF"/>
              </a:solidFill>
            </a:endParaRPr>
          </a:p>
          <a:p>
            <a:pPr marL="0" indent="0">
              <a:lnSpc>
                <a:spcPct val="150000"/>
              </a:lnSpc>
              <a:buNone/>
            </a:pPr>
            <a:r>
              <a:rPr lang="en-US" altLang="zh-CN" dirty="0"/>
              <a:t>1</a:t>
            </a:r>
            <a:r>
              <a:rPr lang="zh-CN" altLang="en-US" dirty="0"/>
              <a:t>、建立回归模型</a:t>
            </a:r>
            <a:endParaRPr lang="en-US" altLang="zh-CN" dirty="0"/>
          </a:p>
          <a:p>
            <a:pPr>
              <a:lnSpc>
                <a:spcPct val="150000"/>
              </a:lnSpc>
            </a:pPr>
            <a:r>
              <a:rPr lang="zh-CN" altLang="en-US" dirty="0"/>
              <a:t>研究某一经济现象，先根据经济理论，选择具有因果关系的两个变量（</a:t>
            </a:r>
            <a:r>
              <a:rPr lang="en-US" altLang="zh-CN" i="1" dirty="0">
                <a:latin typeface="Times New Roman" panose="02020503050405090304" pitchFamily="18" charset="0"/>
                <a:cs typeface="Times New Roman" panose="02020503050405090304" pitchFamily="18" charset="0"/>
              </a:rPr>
              <a:t>Y</a:t>
            </a:r>
            <a:r>
              <a:rPr lang="zh-CN" altLang="en-US" dirty="0">
                <a:latin typeface="Times New Roman" panose="02020503050405090304" pitchFamily="18" charset="0"/>
                <a:cs typeface="Times New Roman" panose="02020503050405090304" pitchFamily="18" charset="0"/>
              </a:rPr>
              <a:t>，</a:t>
            </a:r>
            <a:r>
              <a:rPr lang="en-US" altLang="zh-CN" i="1" dirty="0">
                <a:latin typeface="Times New Roman" panose="02020503050405090304" pitchFamily="18" charset="0"/>
                <a:cs typeface="Times New Roman" panose="02020503050405090304" pitchFamily="18" charset="0"/>
              </a:rPr>
              <a:t>X</a:t>
            </a:r>
            <a:r>
              <a:rPr lang="en-US" altLang="zh-CN" dirty="0"/>
              <a:t>)</a:t>
            </a:r>
            <a:r>
              <a:rPr lang="zh-CN" altLang="en-US" dirty="0"/>
              <a:t>，建立线性回归模型，确定解释变量和被解释变量</a:t>
            </a:r>
            <a:endParaRPr lang="en-US" altLang="zh-CN" dirty="0"/>
          </a:p>
          <a:p>
            <a:pPr>
              <a:lnSpc>
                <a:spcPct val="150000"/>
              </a:lnSpc>
            </a:pPr>
            <a:r>
              <a:rPr lang="zh-CN" altLang="en-US" dirty="0"/>
              <a:t>建立回归模型可以是根据经济理论，也可以根据相同或相似经济现象的历史分析经验来建立回归模型</a:t>
            </a:r>
            <a:endParaRPr lang="zh-CN" altLang="en-US" dirty="0"/>
          </a:p>
          <a:p>
            <a:pPr>
              <a:lnSpc>
                <a:spcPct val="150000"/>
              </a:lnSpc>
            </a:pPr>
            <a:r>
              <a:rPr lang="zh-CN" altLang="en-US" dirty="0"/>
              <a:t>如果不明确两个变量是否为线性关系，也可以根据</a:t>
            </a:r>
            <a:r>
              <a:rPr lang="zh-CN" altLang="en-US" dirty="0">
                <a:solidFill>
                  <a:srgbClr val="FF0000"/>
                </a:solidFill>
              </a:rPr>
              <a:t>散点图</a:t>
            </a:r>
            <a:r>
              <a:rPr lang="zh-CN" altLang="en-US" dirty="0"/>
              <a:t>来分析</a:t>
            </a:r>
            <a:endParaRPr lang="zh-CN" altLang="en-US" dirty="0"/>
          </a:p>
        </p:txBody>
      </p:sp>
      <p:sp>
        <p:nvSpPr>
          <p:cNvPr id="8196" name="灯片编号占位符 6"/>
          <p:cNvSpPr>
            <a:spLocks noGrp="1"/>
          </p:cNvSpPr>
          <p:nvPr>
            <p:ph type="sldNum" sz="quarter" idx="12"/>
          </p:nvPr>
        </p:nvSpPr>
        <p:spPr/>
        <p:txBody>
          <a:bodyPr vert="horz" wrap="square" lIns="91440" tIns="45720" rIns="91440" bIns="45720" rtlCol="0" anchor="b">
            <a:norm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algn="r"/>
            <a:fld id="{9A0DB2DC-4C9A-4742-B13C-FB6460FD3503}" type="slidenum">
              <a:rPr lang="en-US" altLang="zh-CN" sz="1400" dirty="0"/>
            </a:fld>
            <a:endParaRPr lang="en-US" altLang="zh-CN" sz="1400" dirty="0"/>
          </a:p>
        </p:txBody>
      </p:sp>
      <p:sp>
        <p:nvSpPr>
          <p:cNvPr id="8195" name="Rectangle 5"/>
          <p:cNvSpPr/>
          <p:nvPr/>
        </p:nvSpPr>
        <p:spPr>
          <a:xfrm>
            <a:off x="1524001" y="-184666"/>
            <a:ext cx="184731" cy="369332"/>
          </a:xfrm>
          <a:prstGeom prst="rect">
            <a:avLst/>
          </a:prstGeom>
          <a:noFill/>
          <a:ln w="9525">
            <a:noFill/>
          </a:ln>
        </p:spPr>
        <p:txBody>
          <a:bodyPr wrap="none" anchor="ctr">
            <a:spAutoFit/>
          </a:bodyPr>
          <a:lstStyle/>
          <a:p>
            <a:endParaRPr lang="zh-CN" altLang="en-US" dirty="0">
              <a:latin typeface="Tahoma" panose="020B0604030504040204" pitchFamily="34" charset="0"/>
              <a:ea typeface="宋体"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3"/>
          <p:cNvSpPr>
            <a:spLocks noGrp="1"/>
          </p:cNvSpPr>
          <p:nvPr>
            <p:ph idx="1"/>
          </p:nvPr>
        </p:nvSpPr>
        <p:spPr>
          <a:xfrm>
            <a:off x="1997076" y="429261"/>
            <a:ext cx="7668895" cy="6496685"/>
          </a:xfrm>
        </p:spPr>
        <p:txBody>
          <a:bodyPr vert="horz" wrap="square" lIns="91440" tIns="45720" rIns="91440" bIns="45720" rtlCol="0" anchor="t">
            <a:noAutofit/>
          </a:bodyPr>
          <a:lstStyle/>
          <a:p>
            <a:pPr fontAlgn="auto">
              <a:lnSpc>
                <a:spcPct val="150000"/>
              </a:lnSpc>
              <a:buNone/>
            </a:pPr>
            <a:r>
              <a:rPr lang="en-US" altLang="zh-CN" dirty="0"/>
              <a:t>2</a:t>
            </a:r>
            <a:r>
              <a:rPr lang="zh-CN" altLang="en-US" dirty="0"/>
              <a:t>、收集数据，并经过适当的加工整理，得到适于回归分析的样本数据集。</a:t>
            </a:r>
            <a:endParaRPr lang="zh-CN" altLang="en-US" dirty="0"/>
          </a:p>
          <a:p>
            <a:pPr fontAlgn="auto">
              <a:lnSpc>
                <a:spcPct val="150000"/>
              </a:lnSpc>
              <a:buNone/>
            </a:pPr>
            <a:r>
              <a:rPr lang="en-US" altLang="zh-CN" dirty="0"/>
              <a:t>3</a:t>
            </a:r>
            <a:r>
              <a:rPr lang="zh-CN" altLang="en-US" dirty="0"/>
              <a:t>、估计模型参数。利用样本数据，以普通最小二乘</a:t>
            </a:r>
            <a:r>
              <a:rPr lang="en-US" altLang="zh-CN" dirty="0"/>
              <a:t>(OLS)</a:t>
            </a:r>
            <a:r>
              <a:rPr lang="zh-CN" altLang="en-US" dirty="0"/>
              <a:t>得到模型参数的估计值。</a:t>
            </a:r>
            <a:endParaRPr lang="zh-CN" altLang="en-US" dirty="0"/>
          </a:p>
          <a:p>
            <a:pPr fontAlgn="auto">
              <a:lnSpc>
                <a:spcPct val="150000"/>
              </a:lnSpc>
              <a:buNone/>
            </a:pPr>
            <a:r>
              <a:rPr lang="en-US" altLang="zh-CN" dirty="0"/>
              <a:t>4</a:t>
            </a:r>
            <a:r>
              <a:rPr lang="zh-CN" altLang="en-US" dirty="0"/>
              <a:t>、对回归模型和参数估计值进行检验。        </a:t>
            </a:r>
            <a:endParaRPr lang="zh-CN" altLang="en-US" dirty="0"/>
          </a:p>
          <a:p>
            <a:pPr fontAlgn="auto">
              <a:lnSpc>
                <a:spcPct val="150000"/>
              </a:lnSpc>
              <a:buNone/>
            </a:pPr>
            <a:r>
              <a:rPr lang="zh-CN" altLang="en-US" dirty="0"/>
              <a:t>   统计检验：拟合优度检验，参数估计量、回归方程的显著性检验。</a:t>
            </a:r>
            <a:endParaRPr lang="zh-CN" altLang="en-US" dirty="0"/>
          </a:p>
          <a:p>
            <a:pPr fontAlgn="auto">
              <a:lnSpc>
                <a:spcPct val="150000"/>
              </a:lnSpc>
              <a:spcBef>
                <a:spcPct val="0"/>
              </a:spcBef>
              <a:buClrTx/>
              <a:buNone/>
            </a:pPr>
            <a:r>
              <a:rPr lang="en-US" altLang="zh-CN" dirty="0">
                <a:latin typeface="+mn-ea"/>
                <a:cs typeface="+mn-ea"/>
              </a:rPr>
              <a:t>5</a:t>
            </a:r>
            <a:r>
              <a:rPr lang="zh-CN" altLang="en-US" dirty="0">
                <a:latin typeface="+mn-ea"/>
                <a:cs typeface="+mn-ea"/>
              </a:rPr>
              <a:t>、</a:t>
            </a:r>
            <a:r>
              <a:rPr lang="zh-CN" altLang="en-US" dirty="0">
                <a:latin typeface="Times New Roman" panose="02020503050405090304" pitchFamily="18" charset="0"/>
              </a:rPr>
              <a:t>预测   对于解释变量的特定值，代入回归方程得到因变量的预测值；在给定的置信水平上，得到因变量预测值的置信区间。</a:t>
            </a:r>
            <a:endParaRPr lang="zh-CN" altLang="en-US" dirty="0">
              <a:latin typeface="Times New Roman" panose="02020503050405090304" pitchFamily="18" charset="0"/>
            </a:endParaRPr>
          </a:p>
          <a:p>
            <a:pPr eaLnBrk="1" hangingPunct="1">
              <a:lnSpc>
                <a:spcPct val="80000"/>
              </a:lnSpc>
              <a:buNone/>
            </a:pPr>
            <a:endParaRPr lang="zh-CN" altLang="en-US" dirty="0">
              <a:latin typeface="Times New Roman" panose="02020503050405090304" pitchFamily="18" charset="0"/>
            </a:endParaRPr>
          </a:p>
        </p:txBody>
      </p:sp>
      <p:sp>
        <p:nvSpPr>
          <p:cNvPr id="9220" name="灯片编号占位符 6"/>
          <p:cNvSpPr>
            <a:spLocks noGrp="1"/>
          </p:cNvSpPr>
          <p:nvPr>
            <p:ph type="sldNum" sz="quarter" idx="12"/>
          </p:nvPr>
        </p:nvSpPr>
        <p:spPr/>
        <p:txBody>
          <a:bodyPr vert="horz" wrap="square" lIns="91440" tIns="45720" rIns="91440" bIns="45720" rtlCol="0" anchor="b">
            <a:norm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algn="r"/>
            <a:fld id="{9A0DB2DC-4C9A-4742-B13C-FB6460FD3503}" type="slidenum">
              <a:rPr lang="en-US" altLang="zh-CN" sz="1400" dirty="0"/>
            </a:fld>
            <a:endParaRPr lang="en-US" altLang="zh-CN" sz="1400" dirty="0"/>
          </a:p>
        </p:txBody>
      </p:sp>
      <p:sp>
        <p:nvSpPr>
          <p:cNvPr id="9219" name="Rectangle 4"/>
          <p:cNvSpPr/>
          <p:nvPr/>
        </p:nvSpPr>
        <p:spPr>
          <a:xfrm>
            <a:off x="1524001" y="-184666"/>
            <a:ext cx="184731" cy="369332"/>
          </a:xfrm>
          <a:prstGeom prst="rect">
            <a:avLst/>
          </a:prstGeom>
          <a:noFill/>
          <a:ln w="9525">
            <a:noFill/>
          </a:ln>
        </p:spPr>
        <p:txBody>
          <a:bodyPr wrap="none" anchor="ctr">
            <a:spAutoFit/>
          </a:bodyPr>
          <a:lstStyle/>
          <a:p>
            <a:endParaRPr lang="zh-CN" altLang="en-US" dirty="0">
              <a:latin typeface="Tahoma" panose="020B0604030504040204" pitchFamily="34" charset="0"/>
              <a:ea typeface="宋体"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Rplot"/>
          <p:cNvPicPr>
            <a:picLocks noChangeAspect="1"/>
          </p:cNvPicPr>
          <p:nvPr/>
        </p:nvPicPr>
        <p:blipFill>
          <a:blip r:embed="rId1"/>
          <a:stretch>
            <a:fillRect/>
          </a:stretch>
        </p:blipFill>
        <p:spPr>
          <a:xfrm>
            <a:off x="4054415" y="2427805"/>
            <a:ext cx="7270051" cy="4286881"/>
          </a:xfrm>
          <a:prstGeom prst="rect">
            <a:avLst/>
          </a:prstGeom>
        </p:spPr>
      </p:pic>
      <p:sp>
        <p:nvSpPr>
          <p:cNvPr id="5" name="文本框 4"/>
          <p:cNvSpPr txBox="1"/>
          <p:nvPr/>
        </p:nvSpPr>
        <p:spPr>
          <a:xfrm>
            <a:off x="1089501" y="729115"/>
            <a:ext cx="5929828" cy="461665"/>
          </a:xfrm>
          <a:prstGeom prst="rect">
            <a:avLst/>
          </a:prstGeom>
          <a:noFill/>
        </p:spPr>
        <p:txBody>
          <a:bodyPr wrap="none" rtlCol="0">
            <a:spAutoFit/>
          </a:bodyPr>
          <a:lstStyle/>
          <a:p>
            <a:r>
              <a:rPr lang="zh-CN" altLang="en-US" sz="2400" dirty="0"/>
              <a:t>例</a:t>
            </a:r>
            <a:r>
              <a:rPr lang="en-US" altLang="zh-CN" sz="2400" dirty="0"/>
              <a:t>4.1 </a:t>
            </a:r>
            <a:r>
              <a:rPr lang="zh-CN" altLang="en-US" sz="2400" dirty="0"/>
              <a:t>某公司广告费用支出与销售额的关系</a:t>
            </a:r>
            <a:endParaRPr lang="zh-CN" altLang="en-US" sz="2400" dirty="0"/>
          </a:p>
        </p:txBody>
      </p:sp>
      <p:graphicFrame>
        <p:nvGraphicFramePr>
          <p:cNvPr id="2" name="表格 2"/>
          <p:cNvGraphicFramePr>
            <a:graphicFrameLocks noGrp="1"/>
          </p:cNvGraphicFramePr>
          <p:nvPr/>
        </p:nvGraphicFramePr>
        <p:xfrm>
          <a:off x="1173391" y="1315285"/>
          <a:ext cx="9774244" cy="1112520"/>
        </p:xfrm>
        <a:graphic>
          <a:graphicData uri="http://schemas.openxmlformats.org/drawingml/2006/table">
            <a:tbl>
              <a:tblPr firstRow="1" bandRow="1">
                <a:tableStyleId>{5C22544A-7EE6-4342-B048-85BDC9FD1C3A}</a:tableStyleId>
              </a:tblPr>
              <a:tblGrid>
                <a:gridCol w="977424"/>
                <a:gridCol w="879682"/>
                <a:gridCol w="879682"/>
                <a:gridCol w="879682"/>
                <a:gridCol w="879682"/>
                <a:gridCol w="879682"/>
                <a:gridCol w="879682"/>
                <a:gridCol w="879682"/>
                <a:gridCol w="879682"/>
                <a:gridCol w="879682"/>
                <a:gridCol w="879682"/>
              </a:tblGrid>
              <a:tr h="370840">
                <a:tc>
                  <a:txBody>
                    <a:bodyPr/>
                    <a:lstStyle/>
                    <a:p>
                      <a:r>
                        <a:rPr lang="zh-CN" altLang="en-US" dirty="0"/>
                        <a:t>年份</a:t>
                      </a:r>
                      <a:endParaRPr lang="zh-CN" altLang="en-US" dirty="0"/>
                    </a:p>
                  </a:txBody>
                  <a:tcPr/>
                </a:tc>
                <a:tc>
                  <a:txBody>
                    <a:bodyPr/>
                    <a:lstStyle/>
                    <a:p>
                      <a:r>
                        <a:rPr lang="en-US" altLang="zh-CN" dirty="0"/>
                        <a:t>2005</a:t>
                      </a:r>
                      <a:endParaRPr lang="zh-CN" altLang="en-US" dirty="0"/>
                    </a:p>
                  </a:txBody>
                  <a:tcPr/>
                </a:tc>
                <a:tc>
                  <a:txBody>
                    <a:bodyPr/>
                    <a:lstStyle/>
                    <a:p>
                      <a:r>
                        <a:rPr lang="en-US" altLang="zh-CN" dirty="0"/>
                        <a:t>2006</a:t>
                      </a:r>
                      <a:endParaRPr lang="zh-CN" altLang="en-US" dirty="0"/>
                    </a:p>
                  </a:txBody>
                  <a:tcPr/>
                </a:tc>
                <a:tc>
                  <a:txBody>
                    <a:bodyPr/>
                    <a:lstStyle/>
                    <a:p>
                      <a:r>
                        <a:rPr lang="en-US" altLang="zh-CN" dirty="0"/>
                        <a:t>2007</a:t>
                      </a:r>
                      <a:endParaRPr lang="zh-CN" altLang="en-US" dirty="0"/>
                    </a:p>
                  </a:txBody>
                  <a:tcPr/>
                </a:tc>
                <a:tc>
                  <a:txBody>
                    <a:bodyPr/>
                    <a:lstStyle/>
                    <a:p>
                      <a:r>
                        <a:rPr lang="en-US" altLang="zh-CN" dirty="0"/>
                        <a:t>2008</a:t>
                      </a:r>
                      <a:endParaRPr lang="zh-CN" altLang="en-US" dirty="0"/>
                    </a:p>
                  </a:txBody>
                  <a:tcPr/>
                </a:tc>
                <a:tc>
                  <a:txBody>
                    <a:bodyPr/>
                    <a:lstStyle/>
                    <a:p>
                      <a:r>
                        <a:rPr lang="en-US" altLang="zh-CN" dirty="0"/>
                        <a:t>2009</a:t>
                      </a:r>
                      <a:endParaRPr lang="zh-CN" altLang="en-US" dirty="0"/>
                    </a:p>
                  </a:txBody>
                  <a:tcPr/>
                </a:tc>
                <a:tc>
                  <a:txBody>
                    <a:bodyPr/>
                    <a:lstStyle/>
                    <a:p>
                      <a:r>
                        <a:rPr lang="en-US" altLang="zh-CN" dirty="0"/>
                        <a:t>2010</a:t>
                      </a:r>
                      <a:endParaRPr lang="zh-CN" altLang="en-US" dirty="0"/>
                    </a:p>
                  </a:txBody>
                  <a:tcPr/>
                </a:tc>
                <a:tc>
                  <a:txBody>
                    <a:bodyPr/>
                    <a:lstStyle/>
                    <a:p>
                      <a:r>
                        <a:rPr lang="en-US" altLang="zh-CN" dirty="0"/>
                        <a:t>2011</a:t>
                      </a:r>
                      <a:endParaRPr lang="zh-CN" altLang="en-US" dirty="0"/>
                    </a:p>
                  </a:txBody>
                  <a:tcPr/>
                </a:tc>
                <a:tc>
                  <a:txBody>
                    <a:bodyPr/>
                    <a:lstStyle/>
                    <a:p>
                      <a:r>
                        <a:rPr lang="en-US" altLang="zh-CN" dirty="0"/>
                        <a:t>2012</a:t>
                      </a:r>
                      <a:endParaRPr lang="zh-CN" altLang="en-US" dirty="0"/>
                    </a:p>
                  </a:txBody>
                  <a:tcPr/>
                </a:tc>
                <a:tc>
                  <a:txBody>
                    <a:bodyPr/>
                    <a:lstStyle/>
                    <a:p>
                      <a:r>
                        <a:rPr lang="en-US" altLang="zh-CN" dirty="0"/>
                        <a:t>2013</a:t>
                      </a:r>
                      <a:endParaRPr lang="zh-CN" altLang="en-US" dirty="0"/>
                    </a:p>
                  </a:txBody>
                  <a:tcPr/>
                </a:tc>
                <a:tc>
                  <a:txBody>
                    <a:bodyPr/>
                    <a:lstStyle/>
                    <a:p>
                      <a:r>
                        <a:rPr lang="en-US" altLang="zh-CN" dirty="0"/>
                        <a:t>2014</a:t>
                      </a:r>
                      <a:endParaRPr lang="zh-CN" altLang="en-US" dirty="0"/>
                    </a:p>
                  </a:txBody>
                  <a:tcPr/>
                </a:tc>
              </a:tr>
              <a:tr h="370840">
                <a:tc>
                  <a:txBody>
                    <a:bodyPr/>
                    <a:lstStyle/>
                    <a:p>
                      <a:r>
                        <a:rPr lang="zh-CN" altLang="en-US" dirty="0"/>
                        <a:t>销售额</a:t>
                      </a:r>
                      <a:endParaRPr lang="zh-CN" altLang="en-US" dirty="0"/>
                    </a:p>
                  </a:txBody>
                  <a:tcPr/>
                </a:tc>
                <a:tc>
                  <a:txBody>
                    <a:bodyPr/>
                    <a:lstStyle/>
                    <a:p>
                      <a:r>
                        <a:rPr lang="en-US" altLang="zh-CN" dirty="0"/>
                        <a:t>300</a:t>
                      </a:r>
                      <a:endParaRPr lang="zh-CN" altLang="en-US" dirty="0"/>
                    </a:p>
                  </a:txBody>
                  <a:tcPr/>
                </a:tc>
                <a:tc>
                  <a:txBody>
                    <a:bodyPr/>
                    <a:lstStyle/>
                    <a:p>
                      <a:r>
                        <a:rPr lang="en-US" altLang="zh-CN" dirty="0"/>
                        <a:t>560</a:t>
                      </a:r>
                      <a:endParaRPr lang="zh-CN" altLang="en-US" dirty="0"/>
                    </a:p>
                  </a:txBody>
                  <a:tcPr/>
                </a:tc>
                <a:tc>
                  <a:txBody>
                    <a:bodyPr/>
                    <a:lstStyle/>
                    <a:p>
                      <a:r>
                        <a:rPr lang="en-US" altLang="zh-CN" dirty="0"/>
                        <a:t>840</a:t>
                      </a:r>
                      <a:endParaRPr lang="zh-CN" altLang="en-US" dirty="0"/>
                    </a:p>
                  </a:txBody>
                  <a:tcPr/>
                </a:tc>
                <a:tc>
                  <a:txBody>
                    <a:bodyPr/>
                    <a:lstStyle/>
                    <a:p>
                      <a:r>
                        <a:rPr lang="en-US" altLang="zh-CN" dirty="0"/>
                        <a:t>1020</a:t>
                      </a:r>
                      <a:endParaRPr lang="zh-CN" altLang="en-US" dirty="0"/>
                    </a:p>
                  </a:txBody>
                  <a:tcPr/>
                </a:tc>
                <a:tc>
                  <a:txBody>
                    <a:bodyPr/>
                    <a:lstStyle/>
                    <a:p>
                      <a:r>
                        <a:rPr lang="en-US" altLang="zh-CN" dirty="0"/>
                        <a:t>1200</a:t>
                      </a:r>
                      <a:endParaRPr lang="zh-CN" altLang="en-US" dirty="0"/>
                    </a:p>
                  </a:txBody>
                  <a:tcPr/>
                </a:tc>
                <a:tc>
                  <a:txBody>
                    <a:bodyPr/>
                    <a:lstStyle/>
                    <a:p>
                      <a:r>
                        <a:rPr lang="en-US" altLang="zh-CN" dirty="0"/>
                        <a:t>1050</a:t>
                      </a:r>
                      <a:endParaRPr lang="zh-CN" altLang="en-US" dirty="0"/>
                    </a:p>
                  </a:txBody>
                  <a:tcPr/>
                </a:tc>
                <a:tc>
                  <a:txBody>
                    <a:bodyPr/>
                    <a:lstStyle/>
                    <a:p>
                      <a:r>
                        <a:rPr lang="en-US" altLang="zh-CN" dirty="0"/>
                        <a:t>1560</a:t>
                      </a:r>
                      <a:endParaRPr lang="zh-CN" altLang="en-US" dirty="0"/>
                    </a:p>
                  </a:txBody>
                  <a:tcPr/>
                </a:tc>
                <a:tc>
                  <a:txBody>
                    <a:bodyPr/>
                    <a:lstStyle/>
                    <a:p>
                      <a:r>
                        <a:rPr lang="en-US" altLang="zh-CN" dirty="0"/>
                        <a:t>1800</a:t>
                      </a:r>
                      <a:endParaRPr lang="zh-CN" altLang="en-US" dirty="0"/>
                    </a:p>
                  </a:txBody>
                  <a:tcPr/>
                </a:tc>
                <a:tc>
                  <a:txBody>
                    <a:bodyPr/>
                    <a:lstStyle/>
                    <a:p>
                      <a:r>
                        <a:rPr lang="en-US" altLang="zh-CN" dirty="0"/>
                        <a:t>2060</a:t>
                      </a:r>
                      <a:endParaRPr lang="zh-CN" altLang="en-US" dirty="0"/>
                    </a:p>
                  </a:txBody>
                  <a:tcPr/>
                </a:tc>
                <a:tc>
                  <a:txBody>
                    <a:bodyPr/>
                    <a:lstStyle/>
                    <a:p>
                      <a:r>
                        <a:rPr lang="en-US" altLang="zh-CN" dirty="0"/>
                        <a:t>2080</a:t>
                      </a:r>
                      <a:endParaRPr lang="zh-CN" altLang="en-US" dirty="0"/>
                    </a:p>
                  </a:txBody>
                  <a:tcPr/>
                </a:tc>
              </a:tr>
              <a:tr h="370840">
                <a:tc>
                  <a:txBody>
                    <a:bodyPr/>
                    <a:lstStyle/>
                    <a:p>
                      <a:r>
                        <a:rPr lang="zh-CN" altLang="en-US" dirty="0"/>
                        <a:t>广告费</a:t>
                      </a:r>
                      <a:endParaRPr lang="zh-CN" altLang="en-US" dirty="0"/>
                    </a:p>
                  </a:txBody>
                  <a:tcPr/>
                </a:tc>
                <a:tc>
                  <a:txBody>
                    <a:bodyPr/>
                    <a:lstStyle/>
                    <a:p>
                      <a:r>
                        <a:rPr lang="en-US" altLang="zh-CN" dirty="0"/>
                        <a:t>10</a:t>
                      </a:r>
                      <a:endParaRPr lang="zh-CN" altLang="en-US" dirty="0"/>
                    </a:p>
                  </a:txBody>
                  <a:tcPr/>
                </a:tc>
                <a:tc>
                  <a:txBody>
                    <a:bodyPr/>
                    <a:lstStyle/>
                    <a:p>
                      <a:r>
                        <a:rPr lang="en-US" altLang="zh-CN" dirty="0"/>
                        <a:t>30</a:t>
                      </a:r>
                      <a:endParaRPr lang="zh-CN" altLang="en-US" dirty="0"/>
                    </a:p>
                  </a:txBody>
                  <a:tcPr/>
                </a:tc>
                <a:tc>
                  <a:txBody>
                    <a:bodyPr/>
                    <a:lstStyle/>
                    <a:p>
                      <a:r>
                        <a:rPr lang="en-US" altLang="zh-CN" dirty="0"/>
                        <a:t>40</a:t>
                      </a:r>
                      <a:endParaRPr lang="zh-CN" altLang="en-US" dirty="0"/>
                    </a:p>
                  </a:txBody>
                  <a:tcPr/>
                </a:tc>
                <a:tc>
                  <a:txBody>
                    <a:bodyPr/>
                    <a:lstStyle/>
                    <a:p>
                      <a:r>
                        <a:rPr lang="en-US" altLang="zh-CN" dirty="0"/>
                        <a:t>60</a:t>
                      </a:r>
                      <a:endParaRPr lang="zh-CN" altLang="en-US" dirty="0"/>
                    </a:p>
                  </a:txBody>
                  <a:tcPr/>
                </a:tc>
                <a:tc>
                  <a:txBody>
                    <a:bodyPr/>
                    <a:lstStyle/>
                    <a:p>
                      <a:r>
                        <a:rPr lang="en-US" altLang="zh-CN" dirty="0"/>
                        <a:t>80</a:t>
                      </a:r>
                      <a:endParaRPr lang="zh-CN" altLang="en-US" dirty="0"/>
                    </a:p>
                  </a:txBody>
                  <a:tcPr/>
                </a:tc>
                <a:tc>
                  <a:txBody>
                    <a:bodyPr/>
                    <a:lstStyle/>
                    <a:p>
                      <a:r>
                        <a:rPr lang="en-US" altLang="zh-CN" dirty="0"/>
                        <a:t>50</a:t>
                      </a:r>
                      <a:endParaRPr lang="zh-CN" altLang="en-US" dirty="0"/>
                    </a:p>
                  </a:txBody>
                  <a:tcPr/>
                </a:tc>
                <a:tc>
                  <a:txBody>
                    <a:bodyPr/>
                    <a:lstStyle/>
                    <a:p>
                      <a:r>
                        <a:rPr lang="en-US" altLang="zh-CN" dirty="0"/>
                        <a:t>100</a:t>
                      </a:r>
                      <a:endParaRPr lang="zh-CN" altLang="en-US" dirty="0"/>
                    </a:p>
                  </a:txBody>
                  <a:tcPr/>
                </a:tc>
                <a:tc>
                  <a:txBody>
                    <a:bodyPr/>
                    <a:lstStyle/>
                    <a:p>
                      <a:r>
                        <a:rPr lang="en-US" altLang="zh-CN" dirty="0"/>
                        <a:t>120</a:t>
                      </a:r>
                      <a:endParaRPr lang="zh-CN" altLang="en-US" dirty="0"/>
                    </a:p>
                  </a:txBody>
                  <a:tcPr/>
                </a:tc>
                <a:tc>
                  <a:txBody>
                    <a:bodyPr/>
                    <a:lstStyle/>
                    <a:p>
                      <a:r>
                        <a:rPr lang="en-US" altLang="zh-CN" dirty="0"/>
                        <a:t>150</a:t>
                      </a:r>
                      <a:endParaRPr lang="zh-CN" altLang="en-US" dirty="0"/>
                    </a:p>
                  </a:txBody>
                  <a:tcPr/>
                </a:tc>
                <a:tc>
                  <a:txBody>
                    <a:bodyPr/>
                    <a:lstStyle/>
                    <a:p>
                      <a:r>
                        <a:rPr lang="en-US" altLang="zh-CN" dirty="0"/>
                        <a:t>130</a:t>
                      </a:r>
                      <a:endParaRPr lang="zh-CN" altLang="en-US" dirty="0"/>
                    </a:p>
                  </a:txBody>
                  <a:tcPr/>
                </a:tc>
              </a:tr>
            </a:tbl>
          </a:graphicData>
        </a:graphic>
      </p:graphicFrame>
      <p:cxnSp>
        <p:nvCxnSpPr>
          <p:cNvPr id="6" name="直接连接符 5"/>
          <p:cNvCxnSpPr/>
          <p:nvPr/>
        </p:nvCxnSpPr>
        <p:spPr>
          <a:xfrm flipV="1">
            <a:off x="5042325" y="4773336"/>
            <a:ext cx="2490989" cy="108218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flipV="1">
            <a:off x="7852095" y="3271706"/>
            <a:ext cx="2525087" cy="1082180"/>
          </a:xfrm>
          <a:prstGeom prst="line">
            <a:avLst/>
          </a:prstGeom>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1089501" y="2864560"/>
            <a:ext cx="3005540" cy="3046988"/>
          </a:xfrm>
          <a:prstGeom prst="rect">
            <a:avLst/>
          </a:prstGeom>
          <a:noFill/>
        </p:spPr>
        <p:txBody>
          <a:bodyPr wrap="square">
            <a:spAutoFit/>
          </a:bodyPr>
          <a:lstStyle/>
          <a:p>
            <a:pPr marL="342900" indent="-342900">
              <a:buFont typeface="Arial" panose="020B0604020202090204" pitchFamily="34" charset="0"/>
              <a:buChar char="•"/>
            </a:pPr>
            <a:r>
              <a:rPr lang="zh-CN" altLang="en-US" sz="2400" dirty="0">
                <a:latin typeface="Times New Roman" panose="02020503050405090304" pitchFamily="18" charset="0"/>
                <a:ea typeface="楷体_GB2312" pitchFamily="49" charset="-122"/>
                <a:cs typeface="Times New Roman" panose="02020503050405090304" pitchFamily="18" charset="0"/>
              </a:rPr>
              <a:t>随着广告投入费</a:t>
            </a:r>
            <a:r>
              <a:rPr lang="en-US" altLang="zh-CN" sz="2400" i="1" dirty="0">
                <a:latin typeface="Times New Roman" panose="02020503050405090304" pitchFamily="18" charset="0"/>
                <a:ea typeface="楷体_GB2312" pitchFamily="49" charset="-122"/>
                <a:cs typeface="Times New Roman" panose="02020503050405090304" pitchFamily="18" charset="0"/>
              </a:rPr>
              <a:t>x</a:t>
            </a:r>
            <a:r>
              <a:rPr lang="zh-CN" altLang="en-US" sz="2400" dirty="0">
                <a:latin typeface="Times New Roman" panose="02020503050405090304" pitchFamily="18" charset="0"/>
                <a:ea typeface="楷体_GB2312" pitchFamily="49" charset="-122"/>
                <a:cs typeface="Times New Roman" panose="02020503050405090304" pitchFamily="18" charset="0"/>
              </a:rPr>
              <a:t>的增加，销售额</a:t>
            </a:r>
            <a:r>
              <a:rPr lang="en-US" altLang="zh-CN" sz="2400" i="1" dirty="0">
                <a:latin typeface="Times New Roman" panose="02020503050405090304" pitchFamily="18" charset="0"/>
                <a:ea typeface="楷体_GB2312" pitchFamily="49" charset="-122"/>
                <a:cs typeface="Times New Roman" panose="02020503050405090304" pitchFamily="18" charset="0"/>
              </a:rPr>
              <a:t>y</a:t>
            </a:r>
            <a:r>
              <a:rPr lang="zh-CN" altLang="en-US" sz="2400" dirty="0">
                <a:latin typeface="Times New Roman" panose="02020503050405090304" pitchFamily="18" charset="0"/>
                <a:ea typeface="楷体_GB2312" pitchFamily="49" charset="-122"/>
                <a:cs typeface="Times New Roman" panose="02020503050405090304" pitchFamily="18" charset="0"/>
              </a:rPr>
              <a:t>基本上也呈上升趋势。</a:t>
            </a:r>
            <a:endParaRPr lang="en-US" altLang="zh-CN" sz="2400" dirty="0">
              <a:latin typeface="Times New Roman" panose="02020503050405090304" pitchFamily="18" charset="0"/>
              <a:ea typeface="楷体_GB2312" pitchFamily="49" charset="-122"/>
              <a:cs typeface="Times New Roman" panose="02020503050405090304" pitchFamily="18" charset="0"/>
            </a:endParaRPr>
          </a:p>
          <a:p>
            <a:pPr marL="342900" indent="-342900">
              <a:buFont typeface="Arial" panose="020B0604020202090204" pitchFamily="34" charset="0"/>
              <a:buChar char="•"/>
            </a:pPr>
            <a:r>
              <a:rPr lang="zh-CN" altLang="en-US" sz="2400" dirty="0">
                <a:latin typeface="Times New Roman" panose="02020503050405090304" pitchFamily="18" charset="0"/>
                <a:ea typeface="楷体_GB2312" pitchFamily="49" charset="-122"/>
                <a:cs typeface="Times New Roman" panose="02020503050405090304" pitchFamily="18" charset="0"/>
              </a:rPr>
              <a:t>各点不完全在一条直线上，这是由于</a:t>
            </a:r>
            <a:r>
              <a:rPr lang="en-US" altLang="zh-CN" sz="2400" i="1" dirty="0">
                <a:latin typeface="Times New Roman" panose="02020503050405090304" pitchFamily="18" charset="0"/>
                <a:ea typeface="楷体_GB2312" pitchFamily="49" charset="-122"/>
                <a:cs typeface="Times New Roman" panose="02020503050405090304" pitchFamily="18" charset="0"/>
              </a:rPr>
              <a:t>y</a:t>
            </a:r>
            <a:r>
              <a:rPr lang="zh-CN" altLang="en-US" sz="2400" dirty="0">
                <a:latin typeface="Times New Roman" panose="02020503050405090304" pitchFamily="18" charset="0"/>
                <a:ea typeface="楷体_GB2312" pitchFamily="49" charset="-122"/>
                <a:cs typeface="Times New Roman" panose="02020503050405090304" pitchFamily="18" charset="0"/>
              </a:rPr>
              <a:t>还受到其他一些随机因素的影响</a:t>
            </a:r>
            <a:endParaRPr lang="zh-CN" altLang="en-US" sz="2400"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7"/>
          <p:cNvGraphicFramePr>
            <a:graphicFrameLocks noChangeAspect="1"/>
          </p:cNvGraphicFramePr>
          <p:nvPr/>
        </p:nvGraphicFramePr>
        <p:xfrm>
          <a:off x="3046413" y="5330113"/>
          <a:ext cx="5378450" cy="1152525"/>
        </p:xfrm>
        <a:graphic>
          <a:graphicData uri="http://schemas.openxmlformats.org/presentationml/2006/ole">
            <mc:AlternateContent xmlns:mc="http://schemas.openxmlformats.org/markup-compatibility/2006">
              <mc:Choice xmlns:v="urn:schemas-microsoft-com:vml" Requires="v">
                <p:oleObj spid="_x0000_s25601" name="公式" r:id="rId1" imgW="2585085" imgH="575945" progId="Equation.3">
                  <p:embed/>
                </p:oleObj>
              </mc:Choice>
              <mc:Fallback>
                <p:oleObj name="公式" r:id="rId1" imgW="2585085" imgH="575945" progId="Equation.3">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6413" y="5330113"/>
                        <a:ext cx="5378450"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Rectangle 8"/>
          <p:cNvSpPr>
            <a:spLocks noChangeArrowheads="1"/>
          </p:cNvSpPr>
          <p:nvPr/>
        </p:nvSpPr>
        <p:spPr bwMode="auto">
          <a:xfrm>
            <a:off x="1892301" y="826375"/>
            <a:ext cx="706796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zh-CN" altLang="en-US" sz="2800" dirty="0">
                <a:latin typeface="楷体_GB2312" pitchFamily="49" charset="-122"/>
              </a:rPr>
              <a:t>一般地，假设</a:t>
            </a:r>
            <a:r>
              <a:rPr lang="en-US" altLang="zh-CN" sz="2800" i="1" dirty="0"/>
              <a:t>X</a:t>
            </a:r>
            <a:r>
              <a:rPr lang="zh-CN" altLang="en-US" sz="2800" dirty="0">
                <a:latin typeface="楷体_GB2312" pitchFamily="49" charset="-122"/>
              </a:rPr>
              <a:t>与</a:t>
            </a:r>
            <a:r>
              <a:rPr lang="en-US" altLang="zh-CN" sz="2800" i="1" dirty="0"/>
              <a:t>Y</a:t>
            </a:r>
            <a:r>
              <a:rPr lang="zh-CN" altLang="en-US" sz="2800" dirty="0">
                <a:latin typeface="楷体_GB2312" pitchFamily="49" charset="-122"/>
              </a:rPr>
              <a:t>之间的依赖关系可表示为</a:t>
            </a:r>
            <a:endParaRPr lang="zh-CN" altLang="en-US" sz="2800" dirty="0">
              <a:latin typeface="楷体_GB2312" pitchFamily="49" charset="-122"/>
            </a:endParaRPr>
          </a:p>
        </p:txBody>
      </p:sp>
      <mc:AlternateContent xmlns:mc="http://schemas.openxmlformats.org/markup-compatibility/2006">
        <mc:Choice xmlns:a14="http://schemas.microsoft.com/office/drawing/2010/main" Requires="a14">
          <p:sp>
            <p:nvSpPr>
              <p:cNvPr id="7" name="Object 10"/>
              <p:cNvSpPr txBox="1"/>
              <p:nvPr/>
            </p:nvSpPr>
            <p:spPr bwMode="auto">
              <a:xfrm>
                <a:off x="3913188" y="1338488"/>
                <a:ext cx="2652714" cy="574674"/>
              </a:xfrm>
              <a:prstGeom prst="rect">
                <a:avLst/>
              </a:prstGeom>
              <a:noFill/>
              <a:ln>
                <a:noFill/>
              </a:ln>
            </p:spPr>
            <p:txBody>
              <a:bodyPr>
                <a:noAutofit/>
              </a:bodyPr>
              <a:lstStyle/>
              <a:p>
                <a14:m>
                  <m:oMathPara xmlns:m="http://schemas.openxmlformats.org/officeDocument/2006/math">
                    <m:oMathParaPr>
                      <m:jc m:val="left"/>
                    </m:oMathParaPr>
                    <m:oMath xmlns:m="http://schemas.openxmlformats.org/officeDocument/2006/math">
                      <m:r>
                        <a:rPr lang="en-US" altLang="zh-CN" sz="2800" b="0" i="1" smtClean="0">
                          <a:solidFill>
                            <a:srgbClr val="000000"/>
                          </a:solidFill>
                          <a:latin typeface="Cambria Math" panose="02040503050406030204" pitchFamily="18" charset="0"/>
                        </a:rPr>
                        <m:t>𝑦</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𝑎</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𝑏𝑥</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𝑒</m:t>
                      </m:r>
                    </m:oMath>
                  </m:oMathPara>
                </a14:m>
                <a:endParaRPr lang="zh-CN" altLang="en-US" sz="2800" dirty="0">
                  <a:latin typeface="Times New Roman" panose="02020503050405090304" pitchFamily="18" charset="0"/>
                  <a:cs typeface="Times New Roman" panose="02020503050405090304" pitchFamily="18" charset="0"/>
                </a:endParaRPr>
              </a:p>
            </p:txBody>
          </p:sp>
        </mc:Choice>
        <mc:Fallback>
          <p:sp>
            <p:nvSpPr>
              <p:cNvPr id="7" name="Object 10"/>
              <p:cNvSpPr txBox="1">
                <a:spLocks noRot="1" noChangeAspect="1" noMove="1" noResize="1" noEditPoints="1" noAdjustHandles="1" noChangeArrowheads="1" noChangeShapeType="1" noTextEdit="1"/>
              </p:cNvSpPr>
              <p:nvPr/>
            </p:nvSpPr>
            <p:spPr bwMode="auto">
              <a:xfrm>
                <a:off x="3913188" y="1338488"/>
                <a:ext cx="2652714" cy="574674"/>
              </a:xfrm>
              <a:prstGeom prst="rect">
                <a:avLst/>
              </a:prstGeom>
              <a:blipFill rotWithShape="1">
                <a:blip r:embed="rId3"/>
                <a:stretch>
                  <a:fillRect l="-12" t="-94" b="94"/>
                </a:stretch>
              </a:blipFill>
              <a:ln>
                <a:noFill/>
              </a:ln>
            </p:spPr>
            <p:txBody>
              <a:bodyPr/>
              <a:lstStyle/>
              <a:p>
                <a:r>
                  <a:rPr lang="zh-CN" altLang="en-US">
                    <a:noFill/>
                  </a:rPr>
                  <a:t> </a:t>
                </a:r>
              </a:p>
            </p:txBody>
          </p:sp>
        </mc:Fallback>
      </mc:AlternateContent>
      <p:sp>
        <p:nvSpPr>
          <p:cNvPr id="9" name="Rectangle 12"/>
          <p:cNvSpPr>
            <a:spLocks noChangeArrowheads="1"/>
          </p:cNvSpPr>
          <p:nvPr/>
        </p:nvSpPr>
        <p:spPr bwMode="auto">
          <a:xfrm>
            <a:off x="2063750" y="1801100"/>
            <a:ext cx="35623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zh-CN" altLang="en-US" sz="2800">
                <a:latin typeface="楷体_GB2312" pitchFamily="49" charset="-122"/>
              </a:rPr>
              <a:t>其中：</a:t>
            </a:r>
            <a:r>
              <a:rPr lang="en-US" altLang="zh-CN" sz="2800" i="1"/>
              <a:t>a</a:t>
            </a:r>
            <a:r>
              <a:rPr lang="en-US" altLang="zh-CN" sz="2800"/>
              <a:t>, </a:t>
            </a:r>
            <a:r>
              <a:rPr lang="en-US" altLang="zh-CN" sz="2800" i="1"/>
              <a:t>b</a:t>
            </a:r>
            <a:r>
              <a:rPr lang="zh-CN" altLang="en-US" sz="2800">
                <a:latin typeface="楷体_GB2312" pitchFamily="49" charset="-122"/>
              </a:rPr>
              <a:t>为未知常数</a:t>
            </a:r>
            <a:endParaRPr lang="zh-CN" altLang="en-US" sz="2800">
              <a:latin typeface="楷体_GB2312" pitchFamily="49" charset="-122"/>
            </a:endParaRPr>
          </a:p>
        </p:txBody>
      </p:sp>
      <p:grpSp>
        <p:nvGrpSpPr>
          <p:cNvPr id="10" name="Group 13"/>
          <p:cNvGrpSpPr/>
          <p:nvPr/>
        </p:nvGrpSpPr>
        <p:grpSpPr bwMode="auto">
          <a:xfrm>
            <a:off x="3170888" y="2305925"/>
            <a:ext cx="6885918" cy="574675"/>
            <a:chOff x="531" y="1570"/>
            <a:chExt cx="4254" cy="362"/>
          </a:xfrm>
        </p:grpSpPr>
        <p:graphicFrame>
          <p:nvGraphicFramePr>
            <p:cNvPr id="12" name="Object 15"/>
            <p:cNvGraphicFramePr>
              <a:graphicFrameLocks noChangeAspect="1"/>
            </p:cNvGraphicFramePr>
            <p:nvPr/>
          </p:nvGraphicFramePr>
          <p:xfrm>
            <a:off x="3787" y="1570"/>
            <a:ext cx="272" cy="339"/>
          </p:xfrm>
          <a:graphic>
            <a:graphicData uri="http://schemas.openxmlformats.org/presentationml/2006/ole">
              <mc:AlternateContent xmlns:mc="http://schemas.openxmlformats.org/markup-compatibility/2006">
                <mc:Choice xmlns:v="urn:schemas-microsoft-com:vml" Requires="v">
                  <p:oleObj spid="_x0000_s2" name="公式" r:id="rId4" imgW="236855" imgH="214630" progId="Equation.3">
                    <p:embed/>
                  </p:oleObj>
                </mc:Choice>
                <mc:Fallback>
                  <p:oleObj name="公式" r:id="rId4" imgW="236855" imgH="214630" progId="Equation.3">
                    <p:embed/>
                    <p:pic>
                      <p:nvPicPr>
                        <p:cNvPr id="0" name="Object 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87" y="1570"/>
                          <a:ext cx="272" cy="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Object 16"/>
            <p:cNvGraphicFramePr>
              <a:graphicFrameLocks noChangeAspect="1"/>
            </p:cNvGraphicFramePr>
            <p:nvPr/>
          </p:nvGraphicFramePr>
          <p:xfrm>
            <a:off x="1986" y="1570"/>
            <a:ext cx="1607" cy="362"/>
          </p:xfrm>
          <a:graphic>
            <a:graphicData uri="http://schemas.openxmlformats.org/presentationml/2006/ole">
              <mc:AlternateContent xmlns:mc="http://schemas.openxmlformats.org/markup-compatibility/2006">
                <mc:Choice xmlns:v="urn:schemas-microsoft-com:vml" Requires="v">
                  <p:oleObj spid="_x0000_s3" name="公式" r:id="rId6" imgW="925830" imgH="248285" progId="Equation.3">
                    <p:embed/>
                  </p:oleObj>
                </mc:Choice>
                <mc:Fallback>
                  <p:oleObj name="公式" r:id="rId6" imgW="925830" imgH="248285" progId="Equation.3">
                    <p:embed/>
                    <p:pic>
                      <p:nvPicPr>
                        <p:cNvPr id="0" name="Object 1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86" y="1570"/>
                          <a:ext cx="1607" cy="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Rectangle 17"/>
            <p:cNvSpPr>
              <a:spLocks noChangeArrowheads="1"/>
            </p:cNvSpPr>
            <p:nvPr/>
          </p:nvSpPr>
          <p:spPr bwMode="auto">
            <a:xfrm>
              <a:off x="531" y="1585"/>
              <a:ext cx="153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en-US" altLang="zh-CN" sz="2800" i="1" dirty="0"/>
                <a:t>e</a:t>
              </a:r>
              <a:r>
                <a:rPr lang="zh-CN" altLang="en-US" sz="2800" dirty="0"/>
                <a:t>为随机误差且</a:t>
              </a:r>
              <a:endParaRPr lang="zh-CN" altLang="en-US" sz="2800" dirty="0"/>
            </a:p>
          </p:txBody>
        </p:sp>
        <p:sp>
          <p:nvSpPr>
            <p:cNvPr id="15" name="Rectangle 18"/>
            <p:cNvSpPr>
              <a:spLocks noChangeArrowheads="1"/>
            </p:cNvSpPr>
            <p:nvPr/>
          </p:nvSpPr>
          <p:spPr bwMode="auto">
            <a:xfrm>
              <a:off x="3997" y="1570"/>
              <a:ext cx="78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zh-CN" altLang="en-US" sz="2800"/>
                <a:t>未知</a:t>
              </a:r>
              <a:r>
                <a:rPr lang="zh-CN" altLang="en-US" sz="2800">
                  <a:ea typeface="宋体" pitchFamily="2" charset="-122"/>
                </a:rPr>
                <a:t>，</a:t>
              </a:r>
              <a:endParaRPr lang="zh-CN" altLang="en-US" sz="2800">
                <a:ea typeface="宋体" pitchFamily="2" charset="-122"/>
              </a:endParaRPr>
            </a:p>
          </p:txBody>
        </p:sp>
      </p:grpSp>
      <p:sp>
        <p:nvSpPr>
          <p:cNvPr id="16" name="Rectangle 19"/>
          <p:cNvSpPr>
            <a:spLocks noChangeArrowheads="1"/>
          </p:cNvSpPr>
          <p:nvPr/>
        </p:nvSpPr>
        <p:spPr bwMode="auto">
          <a:xfrm>
            <a:off x="2135189" y="2953625"/>
            <a:ext cx="630813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en-US" altLang="zh-CN" sz="2800" i="1" dirty="0"/>
              <a:t>X</a:t>
            </a:r>
            <a:r>
              <a:rPr lang="zh-CN" altLang="en-US" sz="2800" dirty="0">
                <a:latin typeface="楷体_GB2312" pitchFamily="49" charset="-122"/>
              </a:rPr>
              <a:t>与</a:t>
            </a:r>
            <a:r>
              <a:rPr lang="en-US" altLang="zh-CN" sz="2800" i="1" dirty="0"/>
              <a:t>Y</a:t>
            </a:r>
            <a:r>
              <a:rPr lang="zh-CN" altLang="en-US" sz="2800" dirty="0">
                <a:latin typeface="楷体_GB2312" pitchFamily="49" charset="-122"/>
              </a:rPr>
              <a:t>的这种关系称为</a:t>
            </a:r>
            <a:r>
              <a:rPr lang="zh-CN" altLang="en-US" sz="2800" dirty="0">
                <a:solidFill>
                  <a:schemeClr val="accent2"/>
                </a:solidFill>
                <a:latin typeface="楷体_GB2312" pitchFamily="49" charset="-122"/>
              </a:rPr>
              <a:t>一元线性回归模型</a:t>
            </a:r>
            <a:endParaRPr lang="zh-CN" altLang="en-US" sz="2800" dirty="0">
              <a:solidFill>
                <a:schemeClr val="accent2"/>
              </a:solidFill>
              <a:latin typeface="楷体_GB2312" pitchFamily="49" charset="-122"/>
            </a:endParaRPr>
          </a:p>
        </p:txBody>
      </p:sp>
      <p:sp>
        <p:nvSpPr>
          <p:cNvPr id="17" name="Rectangle 20"/>
          <p:cNvSpPr>
            <a:spLocks noChangeArrowheads="1"/>
          </p:cNvSpPr>
          <p:nvPr/>
        </p:nvSpPr>
        <p:spPr bwMode="auto">
          <a:xfrm>
            <a:off x="2135189" y="3529887"/>
            <a:ext cx="654057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en-US" altLang="zh-CN" sz="2800" i="1" dirty="0">
                <a:ea typeface="宋体" pitchFamily="2" charset="-122"/>
              </a:rPr>
              <a:t>y</a:t>
            </a:r>
            <a:r>
              <a:rPr lang="en-US" altLang="zh-CN" sz="2800" dirty="0">
                <a:ea typeface="宋体" pitchFamily="2" charset="-122"/>
              </a:rPr>
              <a:t>=</a:t>
            </a:r>
            <a:r>
              <a:rPr lang="en-US" altLang="zh-CN" sz="2800" i="1" dirty="0" err="1">
                <a:ea typeface="宋体" pitchFamily="2" charset="-122"/>
              </a:rPr>
              <a:t>a</a:t>
            </a:r>
            <a:r>
              <a:rPr lang="en-US" altLang="zh-CN" sz="2800" dirty="0" err="1">
                <a:ea typeface="宋体" pitchFamily="2" charset="-122"/>
              </a:rPr>
              <a:t>+</a:t>
            </a:r>
            <a:r>
              <a:rPr lang="en-US" altLang="zh-CN" sz="2800" i="1" dirty="0" err="1">
                <a:ea typeface="宋体" pitchFamily="2" charset="-122"/>
              </a:rPr>
              <a:t>bx</a:t>
            </a:r>
            <a:r>
              <a:rPr lang="zh-CN" altLang="en-US" sz="2800" dirty="0"/>
              <a:t>称为</a:t>
            </a:r>
            <a:r>
              <a:rPr lang="zh-CN" altLang="en-US" sz="2800" dirty="0">
                <a:solidFill>
                  <a:schemeClr val="accent2"/>
                </a:solidFill>
              </a:rPr>
              <a:t>回归直线</a:t>
            </a:r>
            <a:r>
              <a:rPr lang="zh-CN" altLang="en-US" sz="2800" dirty="0">
                <a:solidFill>
                  <a:schemeClr val="accent2"/>
                </a:solidFill>
                <a:ea typeface="黑体" panose="02010609060101010101" pitchFamily="49" charset="-122"/>
              </a:rPr>
              <a:t>     </a:t>
            </a:r>
            <a:r>
              <a:rPr lang="en-US" altLang="zh-CN" sz="2800" i="1" dirty="0">
                <a:ea typeface="黑体" panose="02010609060101010101" pitchFamily="49" charset="-122"/>
              </a:rPr>
              <a:t>a</a:t>
            </a:r>
            <a:r>
              <a:rPr lang="en-US" altLang="zh-CN" sz="2800" dirty="0">
                <a:ea typeface="黑体" panose="02010609060101010101" pitchFamily="49" charset="-122"/>
              </a:rPr>
              <a:t>, </a:t>
            </a:r>
            <a:r>
              <a:rPr lang="en-US" altLang="zh-CN" sz="2800" i="1" dirty="0">
                <a:ea typeface="宋体" pitchFamily="2" charset="-122"/>
              </a:rPr>
              <a:t>b</a:t>
            </a:r>
            <a:r>
              <a:rPr lang="zh-CN" altLang="en-US" sz="2800" dirty="0"/>
              <a:t>称为</a:t>
            </a:r>
            <a:r>
              <a:rPr lang="zh-CN" altLang="en-US" sz="2800" dirty="0">
                <a:solidFill>
                  <a:schemeClr val="accent2"/>
                </a:solidFill>
              </a:rPr>
              <a:t>回归系数</a:t>
            </a:r>
            <a:endParaRPr lang="zh-CN" altLang="en-US" sz="2800" dirty="0">
              <a:solidFill>
                <a:schemeClr val="accent2"/>
              </a:solidFill>
            </a:endParaRPr>
          </a:p>
        </p:txBody>
      </p:sp>
      <p:grpSp>
        <p:nvGrpSpPr>
          <p:cNvPr id="18" name="Group 21"/>
          <p:cNvGrpSpPr/>
          <p:nvPr/>
        </p:nvGrpSpPr>
        <p:grpSpPr bwMode="auto">
          <a:xfrm>
            <a:off x="2135189" y="4106149"/>
            <a:ext cx="4030663" cy="633413"/>
            <a:chOff x="385" y="2922"/>
            <a:chExt cx="2539" cy="399"/>
          </a:xfrm>
        </p:grpSpPr>
        <mc:AlternateContent xmlns:mc="http://schemas.openxmlformats.org/markup-compatibility/2006">
          <mc:Choice xmlns:a14="http://schemas.microsoft.com/office/drawing/2010/main" Requires="a14">
            <p:sp>
              <p:nvSpPr>
                <p:cNvPr id="19" name="Object 22"/>
                <p:cNvSpPr txBox="1"/>
                <p:nvPr/>
              </p:nvSpPr>
              <p:spPr bwMode="auto">
                <a:xfrm>
                  <a:off x="1068" y="2944"/>
                  <a:ext cx="1856" cy="377"/>
                </a:xfrm>
                <a:prstGeom prst="rect">
                  <a:avLst/>
                </a:prstGeom>
                <a:noFill/>
                <a:ln>
                  <a:noFill/>
                </a:ln>
              </p:spPr>
              <p:txBody>
                <a:bodyPr>
                  <a:normAutofit/>
                </a:bodyPr>
                <a:lstStyle/>
                <a:p>
                  <a14:m>
                    <m:oMathPara xmlns:m="http://schemas.openxmlformats.org/officeDocument/2006/math">
                      <m:oMathParaPr>
                        <m:jc m:val="left"/>
                      </m:oMathParaPr>
                      <m:oMath xmlns:m="http://schemas.openxmlformats.org/officeDocument/2006/math">
                        <m:r>
                          <a:rPr lang="en-US" altLang="zh-CN" sz="2800" b="0" i="1" smtClean="0">
                            <a:solidFill>
                              <a:srgbClr val="000000"/>
                            </a:solidFill>
                            <a:latin typeface="Cambria Math" panose="02040503050406030204" pitchFamily="18" charset="0"/>
                          </a:rPr>
                          <m:t>𝑦</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𝑁</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𝑎</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𝑏𝑥</m:t>
                        </m:r>
                        <m:r>
                          <a:rPr lang="zh-CN" altLang="en-US" sz="2800" i="1">
                            <a:solidFill>
                              <a:srgbClr val="000000"/>
                            </a:solidFill>
                            <a:latin typeface="Cambria Math" panose="02040503050406030204" pitchFamily="18" charset="0"/>
                          </a:rPr>
                          <m:t>,</m:t>
                        </m:r>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𝜎</m:t>
                            </m:r>
                          </m:e>
                          <m:sup>
                            <m:r>
                              <a:rPr lang="zh-CN" altLang="en-US" sz="2800" i="1">
                                <a:solidFill>
                                  <a:srgbClr val="000000"/>
                                </a:solidFill>
                                <a:latin typeface="Cambria Math" panose="02040503050406030204" pitchFamily="18" charset="0"/>
                              </a:rPr>
                              <m:t>2</m:t>
                            </m:r>
                          </m:sup>
                        </m:sSup>
                        <m:r>
                          <a:rPr lang="zh-CN" altLang="en-US" sz="2800" i="1">
                            <a:solidFill>
                              <a:srgbClr val="000000"/>
                            </a:solidFill>
                            <a:latin typeface="Cambria Math" panose="02040503050406030204" pitchFamily="18" charset="0"/>
                          </a:rPr>
                          <m:t>)</m:t>
                        </m:r>
                      </m:oMath>
                    </m:oMathPara>
                  </a14:m>
                  <a:endParaRPr lang="zh-CN" altLang="en-US" sz="2800" dirty="0">
                    <a:latin typeface="Times New Roman" panose="02020503050405090304" pitchFamily="18" charset="0"/>
                    <a:cs typeface="Times New Roman" panose="02020503050405090304" pitchFamily="18" charset="0"/>
                  </a:endParaRPr>
                </a:p>
              </p:txBody>
            </p:sp>
          </mc:Choice>
          <mc:Fallback>
            <p:sp>
              <p:nvSpPr>
                <p:cNvPr id="19" name="Object 22"/>
                <p:cNvSpPr txBox="1">
                  <a:spLocks noRot="1" noChangeAspect="1" noMove="1" noResize="1" noEditPoints="1" noAdjustHandles="1" noChangeArrowheads="1" noChangeShapeType="1" noTextEdit="1"/>
                </p:cNvSpPr>
                <p:nvPr/>
              </p:nvSpPr>
              <p:spPr bwMode="auto">
                <a:xfrm>
                  <a:off x="1068" y="2944"/>
                  <a:ext cx="1856" cy="377"/>
                </a:xfrm>
                <a:prstGeom prst="rect">
                  <a:avLst/>
                </a:prstGeom>
                <a:blipFill rotWithShape="1">
                  <a:blip r:embed="rId8"/>
                </a:blipFill>
                <a:ln>
                  <a:noFill/>
                </a:ln>
              </p:spPr>
              <p:txBody>
                <a:bodyPr/>
                <a:lstStyle/>
                <a:p>
                  <a:r>
                    <a:rPr lang="zh-CN" altLang="en-US">
                      <a:noFill/>
                    </a:rPr>
                    <a:t> </a:t>
                  </a:r>
                </a:p>
              </p:txBody>
            </p:sp>
          </mc:Fallback>
        </mc:AlternateContent>
        <p:sp>
          <p:nvSpPr>
            <p:cNvPr id="20" name="Rectangle 23"/>
            <p:cNvSpPr>
              <a:spLocks noChangeArrowheads="1"/>
            </p:cNvSpPr>
            <p:nvPr/>
          </p:nvSpPr>
          <p:spPr bwMode="auto">
            <a:xfrm>
              <a:off x="385" y="2922"/>
              <a:ext cx="56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zh-CN" altLang="en-US" sz="2800"/>
                <a:t>此时</a:t>
              </a:r>
              <a:endParaRPr lang="zh-CN" altLang="en-US" sz="2800"/>
            </a:p>
          </p:txBody>
        </p:sp>
      </p:grpSp>
      <p:sp>
        <p:nvSpPr>
          <p:cNvPr id="21" name="Rectangle 24"/>
          <p:cNvSpPr>
            <a:spLocks noChangeArrowheads="1"/>
          </p:cNvSpPr>
          <p:nvPr/>
        </p:nvSpPr>
        <p:spPr bwMode="auto">
          <a:xfrm>
            <a:off x="2135189" y="4825288"/>
            <a:ext cx="8321509" cy="4370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lnSpc>
                <a:spcPct val="80000"/>
              </a:lnSpc>
              <a:spcBef>
                <a:spcPct val="20000"/>
              </a:spcBef>
            </a:pPr>
            <a:r>
              <a:rPr lang="zh-CN" altLang="en-US" sz="2800" dirty="0"/>
              <a:t>对于</a:t>
            </a:r>
            <a:r>
              <a:rPr lang="zh-CN" altLang="en-US" sz="2800" dirty="0">
                <a:ea typeface="宋体" pitchFamily="2" charset="-122"/>
              </a:rPr>
              <a:t>（</a:t>
            </a:r>
            <a:r>
              <a:rPr lang="en-US" altLang="zh-CN" sz="2800" i="1" dirty="0">
                <a:ea typeface="宋体" pitchFamily="2" charset="-122"/>
              </a:rPr>
              <a:t>x</a:t>
            </a:r>
            <a:r>
              <a:rPr lang="en-US" altLang="zh-CN" sz="2800" dirty="0">
                <a:ea typeface="宋体" pitchFamily="2" charset="-122"/>
              </a:rPr>
              <a:t>, </a:t>
            </a:r>
            <a:r>
              <a:rPr lang="en-US" altLang="zh-CN" sz="2800" i="1" dirty="0">
                <a:ea typeface="宋体" pitchFamily="2" charset="-122"/>
              </a:rPr>
              <a:t>y</a:t>
            </a:r>
            <a:r>
              <a:rPr lang="zh-CN" altLang="en-US" sz="2800" dirty="0">
                <a:ea typeface="宋体" pitchFamily="2" charset="-122"/>
              </a:rPr>
              <a:t>）</a:t>
            </a:r>
            <a:r>
              <a:rPr lang="zh-CN" altLang="en-US" sz="2800" dirty="0"/>
              <a:t>的样本</a:t>
            </a:r>
            <a:r>
              <a:rPr lang="zh-CN" altLang="en-US" sz="2800" dirty="0">
                <a:ea typeface="宋体" pitchFamily="2" charset="-122"/>
              </a:rPr>
              <a:t>（</a:t>
            </a:r>
            <a:r>
              <a:rPr lang="en-US" altLang="zh-CN" sz="2800" i="1" dirty="0">
                <a:ea typeface="宋体" pitchFamily="2" charset="-122"/>
              </a:rPr>
              <a:t>x</a:t>
            </a:r>
            <a:r>
              <a:rPr lang="en-US" altLang="zh-CN" sz="2800" baseline="-25000" dirty="0">
                <a:ea typeface="宋体" pitchFamily="2" charset="-122"/>
              </a:rPr>
              <a:t>1</a:t>
            </a:r>
            <a:r>
              <a:rPr lang="zh-CN" altLang="en-US" sz="2800" dirty="0">
                <a:ea typeface="宋体" pitchFamily="2" charset="-122"/>
              </a:rPr>
              <a:t>，</a:t>
            </a:r>
            <a:r>
              <a:rPr lang="en-US" altLang="zh-CN" sz="2800" i="1" dirty="0">
                <a:ea typeface="宋体" pitchFamily="2" charset="-122"/>
              </a:rPr>
              <a:t>y</a:t>
            </a:r>
            <a:r>
              <a:rPr lang="en-US" altLang="zh-CN" sz="2800" baseline="-25000" dirty="0">
                <a:ea typeface="宋体" pitchFamily="2" charset="-122"/>
              </a:rPr>
              <a:t>1</a:t>
            </a:r>
            <a:r>
              <a:rPr lang="zh-CN" altLang="en-US" sz="2800" dirty="0">
                <a:ea typeface="宋体" pitchFamily="2" charset="-122"/>
              </a:rPr>
              <a:t>），</a:t>
            </a:r>
            <a:r>
              <a:rPr lang="en-US" altLang="zh-CN" sz="2800" dirty="0">
                <a:ea typeface="宋体" pitchFamily="2" charset="-122"/>
              </a:rPr>
              <a:t>…</a:t>
            </a:r>
            <a:r>
              <a:rPr lang="zh-CN" altLang="en-US" sz="2800" dirty="0">
                <a:ea typeface="宋体" pitchFamily="2" charset="-122"/>
              </a:rPr>
              <a:t>，（</a:t>
            </a:r>
            <a:r>
              <a:rPr lang="en-US" altLang="zh-CN" sz="2800" i="1" dirty="0" err="1">
                <a:ea typeface="宋体" pitchFamily="2" charset="-122"/>
              </a:rPr>
              <a:t>x</a:t>
            </a:r>
            <a:r>
              <a:rPr lang="en-US" altLang="zh-CN" sz="2800" i="1" baseline="-25000" dirty="0" err="1">
                <a:ea typeface="宋体" pitchFamily="2" charset="-122"/>
              </a:rPr>
              <a:t>n</a:t>
            </a:r>
            <a:r>
              <a:rPr lang="zh-CN" altLang="en-US" sz="2800" dirty="0">
                <a:ea typeface="宋体" pitchFamily="2" charset="-122"/>
              </a:rPr>
              <a:t>，</a:t>
            </a:r>
            <a:r>
              <a:rPr lang="en-US" altLang="zh-CN" sz="2800" i="1" dirty="0" err="1">
                <a:ea typeface="宋体" pitchFamily="2" charset="-122"/>
              </a:rPr>
              <a:t>y</a:t>
            </a:r>
            <a:r>
              <a:rPr lang="en-US" altLang="zh-CN" sz="2800" i="1" baseline="-25000" dirty="0" err="1">
                <a:ea typeface="宋体" pitchFamily="2" charset="-122"/>
              </a:rPr>
              <a:t>n</a:t>
            </a:r>
            <a:r>
              <a:rPr lang="zh-CN" altLang="en-US" sz="2800" dirty="0">
                <a:ea typeface="宋体" pitchFamily="2" charset="-122"/>
              </a:rPr>
              <a:t>）</a:t>
            </a:r>
            <a:r>
              <a:rPr lang="zh-CN" altLang="en-US" sz="2800" dirty="0"/>
              <a:t>有</a:t>
            </a:r>
            <a:r>
              <a:rPr lang="zh-CN" altLang="en-US" sz="2800" dirty="0">
                <a:ea typeface="宋体" pitchFamily="2" charset="-122"/>
              </a:rPr>
              <a:t>：</a:t>
            </a:r>
            <a:endParaRPr lang="zh-CN" altLang="en-US" sz="2800" dirty="0">
              <a:ea typeface="宋体" pitchFamily="2" charset="-122"/>
            </a:endParaRPr>
          </a:p>
        </p:txBody>
      </p:sp>
      <p:sp>
        <p:nvSpPr>
          <p:cNvPr id="26" name="Text Box 11"/>
          <p:cNvSpPr txBox="1">
            <a:spLocks noChangeArrowheads="1"/>
          </p:cNvSpPr>
          <p:nvPr/>
        </p:nvSpPr>
        <p:spPr bwMode="auto">
          <a:xfrm>
            <a:off x="8881635" y="1281987"/>
            <a:ext cx="6492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r>
              <a:rPr lang="en-US" altLang="zh-CN" sz="2800" dirty="0">
                <a:solidFill>
                  <a:schemeClr val="accent2"/>
                </a:solidFill>
                <a:ea typeface="宋体" pitchFamily="2" charset="-122"/>
              </a:rPr>
              <a:t>(1)</a:t>
            </a:r>
            <a:endParaRPr lang="en-US" altLang="zh-CN" sz="2800" dirty="0">
              <a:solidFill>
                <a:schemeClr val="accent2"/>
              </a:solidFill>
              <a:ea typeface="宋体" pitchFamily="2" charset="-122"/>
            </a:endParaRPr>
          </a:p>
        </p:txBody>
      </p:sp>
      <p:sp>
        <p:nvSpPr>
          <p:cNvPr id="28" name="文本框 27"/>
          <p:cNvSpPr txBox="1"/>
          <p:nvPr/>
        </p:nvSpPr>
        <p:spPr>
          <a:xfrm>
            <a:off x="1907172" y="297100"/>
            <a:ext cx="6094602" cy="584775"/>
          </a:xfrm>
          <a:prstGeom prst="rect">
            <a:avLst/>
          </a:prstGeom>
          <a:noFill/>
        </p:spPr>
        <p:txBody>
          <a:bodyPr wrap="square">
            <a:spAutoFit/>
          </a:bodyPr>
          <a:lstStyle/>
          <a:p>
            <a:r>
              <a:rPr lang="zh-CN" altLang="en-US" sz="3200" dirty="0">
                <a:solidFill>
                  <a:srgbClr val="3366FF"/>
                </a:solidFill>
                <a:latin typeface="楷体_GB2312" pitchFamily="49" charset="-122"/>
              </a:rPr>
              <a:t>二、一元线性回归模型</a:t>
            </a:r>
            <a:endParaRPr lang="zh-CN" altLang="en-US" sz="3200" dirty="0">
              <a:solidFill>
                <a:srgbClr val="3366FF"/>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AutoShape 2">
            <a:hlinkClick r:id="" action="ppaction://hlinkshowjump?jump=previousslide" highlightClick="1"/>
          </p:cNvPr>
          <p:cNvSpPr>
            <a:spLocks noChangeArrowheads="1"/>
          </p:cNvSpPr>
          <p:nvPr/>
        </p:nvSpPr>
        <p:spPr bwMode="auto">
          <a:xfrm>
            <a:off x="9120189" y="6524625"/>
            <a:ext cx="287337" cy="215900"/>
          </a:xfrm>
          <a:prstGeom prst="actionButtonBackPrevious">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13315" name="AutoShape 3">
            <a:hlinkClick r:id="" action="ppaction://hlinkshowjump?jump=nextslide" highlightClick="1"/>
          </p:cNvPr>
          <p:cNvSpPr>
            <a:spLocks noChangeArrowheads="1"/>
          </p:cNvSpPr>
          <p:nvPr/>
        </p:nvSpPr>
        <p:spPr bwMode="auto">
          <a:xfrm>
            <a:off x="9407525" y="6524625"/>
            <a:ext cx="285750" cy="215900"/>
          </a:xfrm>
          <a:prstGeom prst="actionButtonForwardNex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13316" name="AutoShape 4">
            <a:hlinkClick r:id="" action="ppaction://hlinkshowjump?jump=firstslide" highlightClick="1"/>
          </p:cNvPr>
          <p:cNvSpPr>
            <a:spLocks noChangeArrowheads="1"/>
          </p:cNvSpPr>
          <p:nvPr/>
        </p:nvSpPr>
        <p:spPr bwMode="auto">
          <a:xfrm>
            <a:off x="9694864" y="6524625"/>
            <a:ext cx="287337" cy="215900"/>
          </a:xfrm>
          <a:prstGeom prst="actionButtonBeginning">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13317" name="AutoShape 5">
            <a:hlinkClick r:id="" action="ppaction://hlinkshowjump?jump=endshow" highlightClick="1"/>
          </p:cNvPr>
          <p:cNvSpPr>
            <a:spLocks noChangeArrowheads="1"/>
          </p:cNvSpPr>
          <p:nvPr/>
        </p:nvSpPr>
        <p:spPr bwMode="auto">
          <a:xfrm>
            <a:off x="9983789" y="6524625"/>
            <a:ext cx="287337" cy="215900"/>
          </a:xfrm>
          <a:prstGeom prst="actionButtonEnd">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13318" name="AutoShape 6">
            <a:hlinkClick r:id="rId1" action="ppaction://hlinksldjump" highlightClick="1"/>
          </p:cNvPr>
          <p:cNvSpPr>
            <a:spLocks noChangeArrowheads="1"/>
          </p:cNvSpPr>
          <p:nvPr/>
        </p:nvSpPr>
        <p:spPr bwMode="auto">
          <a:xfrm>
            <a:off x="10272714" y="6524625"/>
            <a:ext cx="288925" cy="215900"/>
          </a:xfrm>
          <a:prstGeom prst="actionButtonReturn">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grpSp>
        <p:nvGrpSpPr>
          <p:cNvPr id="868359" name="Group 7"/>
          <p:cNvGrpSpPr/>
          <p:nvPr/>
        </p:nvGrpSpPr>
        <p:grpSpPr bwMode="auto">
          <a:xfrm>
            <a:off x="1847528" y="2600746"/>
            <a:ext cx="8243887" cy="2484438"/>
            <a:chOff x="340" y="1502"/>
            <a:chExt cx="4989" cy="1565"/>
          </a:xfrm>
        </p:grpSpPr>
        <p:sp>
          <p:nvSpPr>
            <p:cNvPr id="13324" name="Rectangle 8"/>
            <p:cNvSpPr>
              <a:spLocks noChangeArrowheads="1"/>
            </p:cNvSpPr>
            <p:nvPr/>
          </p:nvSpPr>
          <p:spPr bwMode="auto">
            <a:xfrm>
              <a:off x="340" y="1502"/>
              <a:ext cx="4989" cy="1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20000"/>
                </a:spcBef>
              </a:pPr>
              <a:r>
                <a:rPr lang="zh-CN" altLang="en-US" sz="2800" dirty="0">
                  <a:latin typeface="楷体_GB2312" pitchFamily="49" charset="-122"/>
                </a:rPr>
                <a:t>一元线性回归主要解决下列一些问题：</a:t>
              </a:r>
              <a:endParaRPr lang="zh-CN" altLang="en-US" sz="2800" dirty="0">
                <a:latin typeface="楷体_GB2312" pitchFamily="49" charset="-122"/>
              </a:endParaRPr>
            </a:p>
            <a:p>
              <a:pPr eaLnBrk="1" hangingPunct="1">
                <a:spcBef>
                  <a:spcPct val="20000"/>
                </a:spcBef>
              </a:pPr>
              <a:r>
                <a:rPr lang="zh-CN" altLang="en-US" sz="2800" dirty="0">
                  <a:latin typeface="楷体_GB2312" pitchFamily="49" charset="-122"/>
                </a:rPr>
                <a:t>   </a:t>
              </a:r>
              <a:r>
                <a:rPr lang="zh-CN" altLang="en-US" sz="2800" dirty="0">
                  <a:solidFill>
                    <a:schemeClr val="accent2"/>
                  </a:solidFill>
                  <a:latin typeface="楷体_GB2312" pitchFamily="49" charset="-122"/>
                </a:rPr>
                <a:t>（</a:t>
              </a:r>
              <a:r>
                <a:rPr lang="en-US" altLang="zh-CN" sz="2800" dirty="0">
                  <a:solidFill>
                    <a:schemeClr val="accent2"/>
                  </a:solidFill>
                  <a:latin typeface="楷体_GB2312" pitchFamily="49" charset="-122"/>
                </a:rPr>
                <a:t>1</a:t>
              </a:r>
              <a:r>
                <a:rPr lang="zh-CN" altLang="en-US" sz="2800" dirty="0">
                  <a:solidFill>
                    <a:schemeClr val="accent2"/>
                  </a:solidFill>
                  <a:latin typeface="楷体_GB2312" pitchFamily="49" charset="-122"/>
                </a:rPr>
                <a:t>）利用样本对未知参数</a:t>
              </a:r>
              <a:r>
                <a:rPr lang="en-US" altLang="zh-CN" sz="2800" i="1" dirty="0">
                  <a:solidFill>
                    <a:schemeClr val="accent2"/>
                  </a:solidFill>
                </a:rPr>
                <a:t>a</a:t>
              </a:r>
              <a:r>
                <a:rPr lang="zh-CN" altLang="en-US" sz="2800" dirty="0">
                  <a:solidFill>
                    <a:schemeClr val="accent2"/>
                  </a:solidFill>
                  <a:latin typeface="楷体_GB2312" pitchFamily="49" charset="-122"/>
                </a:rPr>
                <a:t>、</a:t>
              </a:r>
              <a:r>
                <a:rPr lang="en-US" altLang="zh-CN" sz="2800" i="1" dirty="0">
                  <a:solidFill>
                    <a:schemeClr val="accent2"/>
                  </a:solidFill>
                </a:rPr>
                <a:t>b</a:t>
              </a:r>
              <a:r>
                <a:rPr lang="zh-CN" altLang="en-US" sz="2800" dirty="0">
                  <a:solidFill>
                    <a:schemeClr val="accent2"/>
                  </a:solidFill>
                  <a:latin typeface="楷体_GB2312" pitchFamily="49" charset="-122"/>
                </a:rPr>
                <a:t>、    进行估计；</a:t>
              </a:r>
              <a:endParaRPr lang="zh-CN" altLang="en-US" sz="2800" dirty="0">
                <a:solidFill>
                  <a:schemeClr val="accent2"/>
                </a:solidFill>
                <a:latin typeface="楷体_GB2312" pitchFamily="49" charset="-122"/>
              </a:endParaRPr>
            </a:p>
            <a:p>
              <a:pPr eaLnBrk="1" hangingPunct="1">
                <a:spcBef>
                  <a:spcPct val="20000"/>
                </a:spcBef>
              </a:pPr>
              <a:r>
                <a:rPr lang="zh-CN" altLang="en-US" sz="2800" dirty="0">
                  <a:solidFill>
                    <a:schemeClr val="accent2"/>
                  </a:solidFill>
                  <a:latin typeface="楷体_GB2312" pitchFamily="49" charset="-122"/>
                </a:rPr>
                <a:t>   （</a:t>
              </a:r>
              <a:r>
                <a:rPr lang="en-US" altLang="zh-CN" sz="2800" dirty="0">
                  <a:solidFill>
                    <a:schemeClr val="accent2"/>
                  </a:solidFill>
                  <a:latin typeface="楷体_GB2312" pitchFamily="49" charset="-122"/>
                </a:rPr>
                <a:t>2</a:t>
              </a:r>
              <a:r>
                <a:rPr lang="zh-CN" altLang="en-US" sz="2800" dirty="0">
                  <a:solidFill>
                    <a:schemeClr val="accent2"/>
                  </a:solidFill>
                  <a:latin typeface="楷体_GB2312" pitchFamily="49" charset="-122"/>
                </a:rPr>
                <a:t>）对回归模型作显著性检验；</a:t>
              </a:r>
              <a:endParaRPr lang="zh-CN" altLang="en-US" sz="2800" dirty="0">
                <a:solidFill>
                  <a:schemeClr val="accent2"/>
                </a:solidFill>
                <a:latin typeface="楷体_GB2312" pitchFamily="49" charset="-122"/>
              </a:endParaRPr>
            </a:p>
            <a:p>
              <a:pPr eaLnBrk="1" hangingPunct="1">
                <a:spcBef>
                  <a:spcPct val="20000"/>
                </a:spcBef>
              </a:pPr>
              <a:r>
                <a:rPr lang="zh-CN" altLang="en-US" sz="2800" dirty="0">
                  <a:solidFill>
                    <a:schemeClr val="accent2"/>
                  </a:solidFill>
                  <a:latin typeface="楷体_GB2312" pitchFamily="49" charset="-122"/>
                </a:rPr>
                <a:t>   （</a:t>
              </a:r>
              <a:r>
                <a:rPr lang="en-US" altLang="zh-CN" sz="2800" dirty="0">
                  <a:solidFill>
                    <a:schemeClr val="accent2"/>
                  </a:solidFill>
                  <a:latin typeface="楷体_GB2312" pitchFamily="49" charset="-122"/>
                </a:rPr>
                <a:t>3</a:t>
              </a:r>
              <a:r>
                <a:rPr lang="zh-CN" altLang="en-US" sz="2800" dirty="0">
                  <a:solidFill>
                    <a:schemeClr val="accent2"/>
                  </a:solidFill>
                  <a:latin typeface="楷体_GB2312" pitchFamily="49" charset="-122"/>
                </a:rPr>
                <a:t>）当</a:t>
              </a:r>
              <a:r>
                <a:rPr lang="en-US" altLang="zh-CN" sz="2800" i="1" dirty="0">
                  <a:solidFill>
                    <a:schemeClr val="accent2"/>
                  </a:solidFill>
                </a:rPr>
                <a:t>x=x</a:t>
              </a:r>
              <a:r>
                <a:rPr lang="en-US" altLang="zh-CN" sz="2800" baseline="-25000" dirty="0">
                  <a:solidFill>
                    <a:schemeClr val="accent2"/>
                  </a:solidFill>
                </a:rPr>
                <a:t>0</a:t>
              </a:r>
              <a:r>
                <a:rPr lang="zh-CN" altLang="en-US" sz="2800" dirty="0">
                  <a:solidFill>
                    <a:schemeClr val="accent2"/>
                  </a:solidFill>
                  <a:latin typeface="楷体_GB2312" pitchFamily="49" charset="-122"/>
                </a:rPr>
                <a:t>时对</a:t>
              </a:r>
              <a:r>
                <a:rPr lang="en-US" altLang="zh-CN" sz="2800" i="1" dirty="0">
                  <a:solidFill>
                    <a:schemeClr val="accent2"/>
                  </a:solidFill>
                </a:rPr>
                <a:t>y</a:t>
              </a:r>
              <a:r>
                <a:rPr lang="zh-CN" altLang="en-US" sz="2800" dirty="0">
                  <a:solidFill>
                    <a:schemeClr val="accent2"/>
                  </a:solidFill>
                  <a:latin typeface="楷体_GB2312" pitchFamily="49" charset="-122"/>
                </a:rPr>
                <a:t>的取值作预测，即对</a:t>
              </a:r>
              <a:r>
                <a:rPr lang="en-US" altLang="zh-CN" sz="2800" i="1" dirty="0">
                  <a:solidFill>
                    <a:schemeClr val="accent2"/>
                  </a:solidFill>
                  <a:cs typeface="Times New Roman" panose="02020503050405090304" pitchFamily="18" charset="0"/>
                </a:rPr>
                <a:t>y</a:t>
              </a:r>
              <a:r>
                <a:rPr lang="zh-CN" altLang="en-US" sz="2800" dirty="0">
                  <a:solidFill>
                    <a:schemeClr val="accent2"/>
                  </a:solidFill>
                  <a:latin typeface="楷体_GB2312" pitchFamily="49" charset="-122"/>
                </a:rPr>
                <a:t>作点估计和区间估计</a:t>
              </a:r>
              <a:r>
                <a:rPr lang="en-US" altLang="zh-CN" sz="2800" dirty="0">
                  <a:solidFill>
                    <a:schemeClr val="accent2"/>
                  </a:solidFill>
                  <a:latin typeface="楷体_GB2312" pitchFamily="49" charset="-122"/>
                </a:rPr>
                <a:t>. </a:t>
              </a:r>
              <a:endParaRPr lang="en-US" altLang="zh-CN" sz="2800" dirty="0">
                <a:solidFill>
                  <a:schemeClr val="accent2"/>
                </a:solidFill>
                <a:latin typeface="楷体_GB2312" pitchFamily="49" charset="-122"/>
              </a:endParaRPr>
            </a:p>
          </p:txBody>
        </p:sp>
        <p:graphicFrame>
          <p:nvGraphicFramePr>
            <p:cNvPr id="13325" name="Object 9"/>
            <p:cNvGraphicFramePr>
              <a:graphicFrameLocks noChangeAspect="1"/>
            </p:cNvGraphicFramePr>
            <p:nvPr/>
          </p:nvGraphicFramePr>
          <p:xfrm>
            <a:off x="3750" y="1797"/>
            <a:ext cx="256" cy="318"/>
          </p:xfrm>
          <a:graphic>
            <a:graphicData uri="http://schemas.openxmlformats.org/presentationml/2006/ole">
              <mc:AlternateContent xmlns:mc="http://schemas.openxmlformats.org/markup-compatibility/2006">
                <mc:Choice xmlns:v="urn:schemas-microsoft-com:vml" Requires="v">
                  <p:oleObj spid="_x0000_s25601" name="Equation" r:id="rId2" imgW="214630" imgH="214630" progId="Equation.DSMT4">
                    <p:embed/>
                  </p:oleObj>
                </mc:Choice>
                <mc:Fallback>
                  <p:oleObj name="Equation" r:id="rId2" imgW="214630" imgH="214630" progId="Equation.DSMT4">
                    <p:embed/>
                    <p:pic>
                      <p:nvPicPr>
                        <p:cNvPr id="0"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50" y="1797"/>
                          <a:ext cx="256"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13321" name="Object 11"/>
          <p:cNvGraphicFramePr>
            <a:graphicFrameLocks noChangeAspect="1"/>
          </p:cNvGraphicFramePr>
          <p:nvPr/>
        </p:nvGraphicFramePr>
        <p:xfrm>
          <a:off x="7896225" y="828675"/>
          <a:ext cx="869950" cy="641985"/>
        </p:xfrm>
        <a:graphic>
          <a:graphicData uri="http://schemas.openxmlformats.org/presentationml/2006/ole">
            <mc:AlternateContent xmlns:mc="http://schemas.openxmlformats.org/markup-compatibility/2006">
              <mc:Choice xmlns:v="urn:schemas-microsoft-com:vml" Requires="v">
                <p:oleObj spid="_x0000_s2" name="公式" r:id="rId4" imgW="281940" imgH="259715" progId="Equation.3">
                  <p:embed/>
                </p:oleObj>
              </mc:Choice>
              <mc:Fallback>
                <p:oleObj name="公式" r:id="rId4" imgW="281940" imgH="259715" progId="Equation.3">
                  <p:embed/>
                  <p:pic>
                    <p:nvPicPr>
                      <p:cNvPr id="0"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96225" y="828675"/>
                        <a:ext cx="869950" cy="641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322" name="Object 12"/>
          <p:cNvGraphicFramePr>
            <a:graphicFrameLocks noChangeAspect="1"/>
          </p:cNvGraphicFramePr>
          <p:nvPr/>
        </p:nvGraphicFramePr>
        <p:xfrm>
          <a:off x="2644775" y="1802130"/>
          <a:ext cx="2230120" cy="618490"/>
        </p:xfrm>
        <a:graphic>
          <a:graphicData uri="http://schemas.openxmlformats.org/presentationml/2006/ole">
            <mc:AlternateContent xmlns:mc="http://schemas.openxmlformats.org/markup-compatibility/2006">
              <mc:Choice xmlns:v="urn:schemas-microsoft-com:vml" Requires="v">
                <p:oleObj spid="_x0000_s3" name="公式" r:id="rId6" imgW="779145" imgH="259715" progId="Equation.3">
                  <p:embed/>
                </p:oleObj>
              </mc:Choice>
              <mc:Fallback>
                <p:oleObj name="公式" r:id="rId6" imgW="779145" imgH="259715" progId="Equation.3">
                  <p:embed/>
                  <p:pic>
                    <p:nvPicPr>
                      <p:cNvPr id="0" name="Object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44775" y="1802130"/>
                        <a:ext cx="2230120" cy="618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323" name="Rectangle 13"/>
          <p:cNvSpPr>
            <a:spLocks noChangeArrowheads="1"/>
          </p:cNvSpPr>
          <p:nvPr/>
        </p:nvSpPr>
        <p:spPr bwMode="auto">
          <a:xfrm>
            <a:off x="1414145" y="910590"/>
            <a:ext cx="9109710" cy="891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en-US" altLang="zh-CN" sz="2800" dirty="0">
                <a:latin typeface="楷体_GB2312" pitchFamily="49" charset="-122"/>
              </a:rPr>
              <a:t>    </a:t>
            </a:r>
            <a:r>
              <a:rPr lang="zh-CN" altLang="en-US" sz="2400" dirty="0">
                <a:latin typeface="楷体_GB2312" pitchFamily="49" charset="-122"/>
              </a:rPr>
              <a:t>如果由样本得到式（</a:t>
            </a:r>
            <a:r>
              <a:rPr lang="en-US" altLang="zh-CN" sz="2400" dirty="0">
                <a:latin typeface="楷体_GB2312" pitchFamily="49" charset="-122"/>
              </a:rPr>
              <a:t>1</a:t>
            </a:r>
            <a:r>
              <a:rPr lang="zh-CN" altLang="en-US" sz="2400" dirty="0">
                <a:latin typeface="楷体_GB2312" pitchFamily="49" charset="-122"/>
              </a:rPr>
              <a:t>）中， </a:t>
            </a:r>
            <a:r>
              <a:rPr lang="en-US" altLang="zh-CN" sz="2400" i="1" dirty="0"/>
              <a:t>a</a:t>
            </a:r>
            <a:r>
              <a:rPr lang="en-US" altLang="zh-CN" sz="2400" dirty="0"/>
              <a:t>, </a:t>
            </a:r>
            <a:r>
              <a:rPr lang="en-US" altLang="zh-CN" sz="2400" i="1" dirty="0"/>
              <a:t>b</a:t>
            </a:r>
            <a:r>
              <a:rPr lang="zh-CN" altLang="en-US" sz="2400" dirty="0">
                <a:latin typeface="楷体_GB2312" pitchFamily="49" charset="-122"/>
              </a:rPr>
              <a:t>的估计值      ，则称                      为</a:t>
            </a:r>
            <a:r>
              <a:rPr lang="zh-CN" altLang="en-US" sz="2400" dirty="0">
                <a:solidFill>
                  <a:schemeClr val="accent2"/>
                </a:solidFill>
                <a:latin typeface="楷体_GB2312" pitchFamily="49" charset="-122"/>
              </a:rPr>
              <a:t>经验回归方程</a:t>
            </a:r>
            <a:r>
              <a:rPr lang="zh-CN" altLang="en-US" sz="2400" dirty="0">
                <a:latin typeface="楷体_GB2312" pitchFamily="49" charset="-122"/>
              </a:rPr>
              <a:t>或</a:t>
            </a:r>
            <a:r>
              <a:rPr lang="zh-CN" altLang="en-US" sz="2400" dirty="0">
                <a:solidFill>
                  <a:schemeClr val="accent2"/>
                </a:solidFill>
                <a:latin typeface="楷体_GB2312" pitchFamily="49" charset="-122"/>
              </a:rPr>
              <a:t>回归直线</a:t>
            </a:r>
            <a:r>
              <a:rPr lang="zh-CN" altLang="en-US" sz="2400" dirty="0">
                <a:latin typeface="楷体_GB2312" pitchFamily="49" charset="-122"/>
              </a:rPr>
              <a:t>，它可作为回归直线的估计</a:t>
            </a:r>
            <a:endParaRPr lang="zh-CN" altLang="en-US" sz="2400" dirty="0">
              <a:latin typeface="楷体_GB2312" pitchFamily="49"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AutoShape 2">
            <a:hlinkClick r:id="" action="ppaction://hlinkshowjump?jump=previousslide" highlightClick="1"/>
          </p:cNvPr>
          <p:cNvSpPr>
            <a:spLocks noChangeArrowheads="1"/>
          </p:cNvSpPr>
          <p:nvPr/>
        </p:nvSpPr>
        <p:spPr bwMode="auto">
          <a:xfrm>
            <a:off x="9120189" y="6524625"/>
            <a:ext cx="287337" cy="215900"/>
          </a:xfrm>
          <a:prstGeom prst="actionButtonBackPrevious">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14339" name="AutoShape 3">
            <a:hlinkClick r:id="" action="ppaction://hlinkshowjump?jump=nextslide" highlightClick="1"/>
          </p:cNvPr>
          <p:cNvSpPr>
            <a:spLocks noChangeArrowheads="1"/>
          </p:cNvSpPr>
          <p:nvPr/>
        </p:nvSpPr>
        <p:spPr bwMode="auto">
          <a:xfrm>
            <a:off x="9407525" y="6524625"/>
            <a:ext cx="285750" cy="215900"/>
          </a:xfrm>
          <a:prstGeom prst="actionButtonForwardNex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14340" name="AutoShape 4">
            <a:hlinkClick r:id="" action="ppaction://hlinkshowjump?jump=firstslide" highlightClick="1"/>
          </p:cNvPr>
          <p:cNvSpPr>
            <a:spLocks noChangeArrowheads="1"/>
          </p:cNvSpPr>
          <p:nvPr/>
        </p:nvSpPr>
        <p:spPr bwMode="auto">
          <a:xfrm>
            <a:off x="9694864" y="6524625"/>
            <a:ext cx="287337" cy="215900"/>
          </a:xfrm>
          <a:prstGeom prst="actionButtonBeginning">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14341" name="AutoShape 5">
            <a:hlinkClick r:id="" action="ppaction://hlinkshowjump?jump=endshow" highlightClick="1"/>
          </p:cNvPr>
          <p:cNvSpPr>
            <a:spLocks noChangeArrowheads="1"/>
          </p:cNvSpPr>
          <p:nvPr/>
        </p:nvSpPr>
        <p:spPr bwMode="auto">
          <a:xfrm>
            <a:off x="9983789" y="6524625"/>
            <a:ext cx="287337" cy="215900"/>
          </a:xfrm>
          <a:prstGeom prst="actionButtonEnd">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14342" name="AutoShape 6">
            <a:hlinkClick r:id="rId1" action="ppaction://hlinksldjump" highlightClick="1"/>
          </p:cNvPr>
          <p:cNvSpPr>
            <a:spLocks noChangeArrowheads="1"/>
          </p:cNvSpPr>
          <p:nvPr/>
        </p:nvSpPr>
        <p:spPr bwMode="auto">
          <a:xfrm>
            <a:off x="10272714" y="6524625"/>
            <a:ext cx="288925" cy="215900"/>
          </a:xfrm>
          <a:prstGeom prst="actionButtonReturn">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14343" name="Rectangle 7"/>
          <p:cNvSpPr>
            <a:spLocks noGrp="1" noChangeArrowheads="1"/>
          </p:cNvSpPr>
          <p:nvPr>
            <p:ph type="title"/>
          </p:nvPr>
        </p:nvSpPr>
        <p:spPr>
          <a:xfrm>
            <a:off x="2063750" y="188913"/>
            <a:ext cx="6553200" cy="914400"/>
          </a:xfrm>
          <a:noFill/>
        </p:spPr>
        <p:txBody>
          <a:bodyPr/>
          <a:lstStyle/>
          <a:p>
            <a:pPr algn="l" eaLnBrk="1" hangingPunct="1"/>
            <a:r>
              <a:rPr lang="zh-CN" altLang="en-US" sz="2800" dirty="0">
                <a:solidFill>
                  <a:srgbClr val="0000FF"/>
                </a:solidFill>
                <a:latin typeface="楷体_GB2312" pitchFamily="49" charset="-122"/>
                <a:ea typeface="楷体_GB2312" pitchFamily="49" charset="-122"/>
              </a:rPr>
              <a:t>三、 参数</a:t>
            </a:r>
            <a:r>
              <a:rPr lang="en-US" altLang="zh-CN" sz="2800" i="1" dirty="0">
                <a:solidFill>
                  <a:srgbClr val="0000FF"/>
                </a:solidFill>
                <a:latin typeface="Times New Roman" panose="02020503050405090304" pitchFamily="18" charset="0"/>
                <a:ea typeface="楷体_GB2312" pitchFamily="49" charset="-122"/>
                <a:cs typeface="Times New Roman" panose="02020503050405090304" pitchFamily="18" charset="0"/>
              </a:rPr>
              <a:t>a</a:t>
            </a:r>
            <a:r>
              <a:rPr lang="zh-CN" altLang="en-US" sz="2800" dirty="0">
                <a:solidFill>
                  <a:srgbClr val="0000FF"/>
                </a:solidFill>
                <a:latin typeface="Times New Roman" panose="02020503050405090304" pitchFamily="18" charset="0"/>
                <a:ea typeface="楷体_GB2312" pitchFamily="49" charset="-122"/>
                <a:cs typeface="Times New Roman" panose="02020503050405090304" pitchFamily="18" charset="0"/>
              </a:rPr>
              <a:t>、</a:t>
            </a:r>
            <a:r>
              <a:rPr lang="en-US" altLang="zh-CN" sz="2800" i="1" dirty="0">
                <a:solidFill>
                  <a:srgbClr val="0000FF"/>
                </a:solidFill>
                <a:latin typeface="Times New Roman" panose="02020503050405090304" pitchFamily="18" charset="0"/>
                <a:ea typeface="楷体_GB2312" pitchFamily="49" charset="-122"/>
                <a:cs typeface="Times New Roman" panose="02020503050405090304" pitchFamily="18" charset="0"/>
              </a:rPr>
              <a:t>b</a:t>
            </a:r>
            <a:r>
              <a:rPr lang="zh-CN" altLang="en-US" sz="2800" dirty="0">
                <a:solidFill>
                  <a:srgbClr val="0000FF"/>
                </a:solidFill>
                <a:latin typeface="楷体_GB2312" pitchFamily="49" charset="-122"/>
                <a:ea typeface="楷体_GB2312" pitchFamily="49" charset="-122"/>
              </a:rPr>
              <a:t>、   的估计</a:t>
            </a:r>
            <a:endParaRPr lang="zh-CN" altLang="en-US" sz="2800" dirty="0">
              <a:solidFill>
                <a:srgbClr val="0000FF"/>
              </a:solidFill>
              <a:latin typeface="楷体_GB2312" pitchFamily="49" charset="-122"/>
              <a:ea typeface="楷体_GB2312" pitchFamily="49" charset="-122"/>
            </a:endParaRPr>
          </a:p>
        </p:txBody>
      </p:sp>
      <p:grpSp>
        <p:nvGrpSpPr>
          <p:cNvPr id="869384" name="Group 8"/>
          <p:cNvGrpSpPr/>
          <p:nvPr/>
        </p:nvGrpSpPr>
        <p:grpSpPr bwMode="auto">
          <a:xfrm>
            <a:off x="2279651" y="4724400"/>
            <a:ext cx="8050213" cy="1101725"/>
            <a:chOff x="431" y="2543"/>
            <a:chExt cx="5071" cy="694"/>
          </a:xfrm>
        </p:grpSpPr>
        <p:sp>
          <p:nvSpPr>
            <p:cNvPr id="14352" name="Rectangle 9"/>
            <p:cNvSpPr>
              <a:spLocks noChangeArrowheads="1"/>
            </p:cNvSpPr>
            <p:nvPr/>
          </p:nvSpPr>
          <p:spPr bwMode="auto">
            <a:xfrm>
              <a:off x="431" y="2582"/>
              <a:ext cx="5071" cy="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20000"/>
                </a:spcBef>
              </a:pPr>
              <a:r>
                <a:rPr lang="zh-CN" altLang="en-US" sz="2800" dirty="0">
                  <a:latin typeface="楷体_GB2312" pitchFamily="49" charset="-122"/>
                </a:rPr>
                <a:t>最小二乘法就是选择</a:t>
              </a:r>
              <a:r>
                <a:rPr lang="en-US" altLang="zh-CN" sz="2800" i="1" dirty="0"/>
                <a:t>a</a:t>
              </a:r>
              <a:r>
                <a:rPr lang="zh-CN" altLang="en-US" sz="2800" dirty="0"/>
                <a:t>，</a:t>
              </a:r>
              <a:r>
                <a:rPr lang="en-US" altLang="zh-CN" sz="2800" i="1" dirty="0"/>
                <a:t>b</a:t>
              </a:r>
              <a:r>
                <a:rPr lang="zh-CN" altLang="en-US" sz="2800" dirty="0">
                  <a:latin typeface="楷体_GB2312" pitchFamily="49" charset="-122"/>
                </a:rPr>
                <a:t>的估计        ，使得</a:t>
              </a:r>
              <a:endParaRPr lang="zh-CN" altLang="en-US" sz="2800" dirty="0">
                <a:latin typeface="楷体_GB2312" pitchFamily="49" charset="-122"/>
              </a:endParaRPr>
            </a:p>
            <a:p>
              <a:pPr eaLnBrk="1" hangingPunct="1">
                <a:spcBef>
                  <a:spcPct val="20000"/>
                </a:spcBef>
              </a:pPr>
              <a:r>
                <a:rPr lang="en-US" altLang="zh-CN" sz="2800" i="1" dirty="0"/>
                <a:t>Q</a:t>
              </a:r>
              <a:r>
                <a:rPr lang="en-US" altLang="zh-CN" sz="2800" dirty="0"/>
                <a:t>(</a:t>
              </a:r>
              <a:r>
                <a:rPr lang="en-US" altLang="zh-CN" sz="2800" i="1" dirty="0"/>
                <a:t>a</a:t>
              </a:r>
              <a:r>
                <a:rPr lang="en-US" altLang="zh-CN" sz="2800" dirty="0"/>
                <a:t>, </a:t>
              </a:r>
              <a:r>
                <a:rPr lang="en-US" altLang="zh-CN" sz="2800" i="1" dirty="0"/>
                <a:t>b)</a:t>
              </a:r>
              <a:r>
                <a:rPr lang="zh-CN" altLang="en-US" sz="2800" dirty="0">
                  <a:latin typeface="楷体_GB2312" pitchFamily="49" charset="-122"/>
                </a:rPr>
                <a:t>为最小</a:t>
              </a:r>
              <a:r>
                <a:rPr lang="en-US" altLang="zh-CN" sz="2800" dirty="0">
                  <a:latin typeface="楷体_GB2312" pitchFamily="49" charset="-122"/>
                </a:rPr>
                <a:t>,</a:t>
              </a:r>
              <a:r>
                <a:rPr lang="zh-CN" altLang="en-US" sz="2800" dirty="0">
                  <a:latin typeface="楷体_GB2312" pitchFamily="49" charset="-122"/>
                </a:rPr>
                <a:t>即随机扰动项的平方和为最小</a:t>
              </a:r>
              <a:r>
                <a:rPr lang="en-US" altLang="zh-CN" sz="2800" dirty="0">
                  <a:latin typeface="楷体_GB2312" pitchFamily="49" charset="-122"/>
                </a:rPr>
                <a:t> </a:t>
              </a:r>
              <a:endParaRPr lang="en-US" altLang="zh-CN" sz="2800" dirty="0">
                <a:latin typeface="楷体_GB2312" pitchFamily="49" charset="-122"/>
              </a:endParaRPr>
            </a:p>
          </p:txBody>
        </p:sp>
        <p:graphicFrame>
          <p:nvGraphicFramePr>
            <p:cNvPr id="14353" name="Object 10"/>
            <p:cNvGraphicFramePr>
              <a:graphicFrameLocks noChangeAspect="1"/>
            </p:cNvGraphicFramePr>
            <p:nvPr/>
          </p:nvGraphicFramePr>
          <p:xfrm>
            <a:off x="3651" y="2543"/>
            <a:ext cx="545" cy="408"/>
          </p:xfrm>
          <a:graphic>
            <a:graphicData uri="http://schemas.openxmlformats.org/presentationml/2006/ole">
              <mc:AlternateContent xmlns:mc="http://schemas.openxmlformats.org/markup-compatibility/2006">
                <mc:Choice xmlns:v="urn:schemas-microsoft-com:vml" Requires="v">
                  <p:oleObj spid="_x0000_s25601" name="公式" r:id="rId2" imgW="281940" imgH="259715" progId="Equation.3">
                    <p:embed/>
                  </p:oleObj>
                </mc:Choice>
                <mc:Fallback>
                  <p:oleObj name="公式" r:id="rId2" imgW="281940" imgH="259715" progId="Equation.3">
                    <p:embed/>
                    <p:pic>
                      <p:nvPicPr>
                        <p:cNvPr id="0" name="Object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1" y="2543"/>
                          <a:ext cx="545" cy="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14345" name="Object 11"/>
          <p:cNvGraphicFramePr>
            <a:graphicFrameLocks noChangeAspect="1"/>
          </p:cNvGraphicFramePr>
          <p:nvPr/>
        </p:nvGraphicFramePr>
        <p:xfrm>
          <a:off x="4656139" y="333375"/>
          <a:ext cx="504825" cy="488950"/>
        </p:xfrm>
        <a:graphic>
          <a:graphicData uri="http://schemas.openxmlformats.org/presentationml/2006/ole">
            <mc:AlternateContent xmlns:mc="http://schemas.openxmlformats.org/markup-compatibility/2006">
              <mc:Choice xmlns:v="urn:schemas-microsoft-com:vml" Requires="v">
                <p:oleObj spid="_x0000_s2" name="公式" r:id="rId4" imgW="214630" imgH="214630" progId="Equation.3">
                  <p:embed/>
                </p:oleObj>
              </mc:Choice>
              <mc:Fallback>
                <p:oleObj name="公式" r:id="rId4" imgW="214630" imgH="214630" progId="Equation.3">
                  <p:embed/>
                  <p:pic>
                    <p:nvPicPr>
                      <p:cNvPr id="0"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56139" y="333375"/>
                        <a:ext cx="504825"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69388" name="Rectangle 12"/>
          <p:cNvSpPr>
            <a:spLocks noChangeArrowheads="1"/>
          </p:cNvSpPr>
          <p:nvPr/>
        </p:nvSpPr>
        <p:spPr bwMode="auto">
          <a:xfrm>
            <a:off x="1919289" y="2235201"/>
            <a:ext cx="8281987" cy="860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lnSpc>
                <a:spcPct val="90000"/>
              </a:lnSpc>
              <a:spcBef>
                <a:spcPct val="20000"/>
              </a:spcBef>
            </a:pPr>
            <a:r>
              <a:rPr lang="en-US" altLang="zh-CN" sz="2800">
                <a:ea typeface="宋体" pitchFamily="2" charset="-122"/>
              </a:rPr>
              <a:t>	</a:t>
            </a:r>
            <a:r>
              <a:rPr lang="zh-CN" altLang="en-US" sz="2800">
                <a:latin typeface="楷体_GB2312" pitchFamily="49" charset="-122"/>
              </a:rPr>
              <a:t>现在我们用最小二乘法来估计模型（</a:t>
            </a:r>
            <a:r>
              <a:rPr lang="en-US" altLang="zh-CN" sz="2800">
                <a:latin typeface="楷体_GB2312" pitchFamily="49" charset="-122"/>
              </a:rPr>
              <a:t>1</a:t>
            </a:r>
            <a:r>
              <a:rPr lang="zh-CN" altLang="en-US" sz="2800">
                <a:latin typeface="楷体_GB2312" pitchFamily="49" charset="-122"/>
              </a:rPr>
              <a:t>）中的未知参数</a:t>
            </a:r>
            <a:r>
              <a:rPr lang="en-US" altLang="zh-CN" sz="2800" i="1"/>
              <a:t>a</a:t>
            </a:r>
            <a:r>
              <a:rPr lang="en-US" altLang="zh-CN" sz="2800"/>
              <a:t>,</a:t>
            </a:r>
            <a:r>
              <a:rPr lang="en-US" altLang="zh-CN" sz="2800" i="1"/>
              <a:t>b</a:t>
            </a:r>
            <a:r>
              <a:rPr lang="en-US" altLang="zh-CN" sz="2800"/>
              <a:t>.</a:t>
            </a:r>
            <a:endParaRPr lang="en-US" altLang="zh-CN" sz="2800"/>
          </a:p>
        </p:txBody>
      </p:sp>
      <p:grpSp>
        <p:nvGrpSpPr>
          <p:cNvPr id="869389" name="Group 13"/>
          <p:cNvGrpSpPr/>
          <p:nvPr/>
        </p:nvGrpSpPr>
        <p:grpSpPr bwMode="auto">
          <a:xfrm>
            <a:off x="2208213" y="3213099"/>
            <a:ext cx="5688012" cy="831114"/>
            <a:chOff x="431" y="1389"/>
            <a:chExt cx="3784" cy="648"/>
          </a:xfrm>
        </p:grpSpPr>
        <p:graphicFrame>
          <p:nvGraphicFramePr>
            <p:cNvPr id="14350" name="Object 14"/>
            <p:cNvGraphicFramePr>
              <a:graphicFrameLocks noChangeAspect="1"/>
            </p:cNvGraphicFramePr>
            <p:nvPr/>
          </p:nvGraphicFramePr>
          <p:xfrm>
            <a:off x="954" y="1389"/>
            <a:ext cx="3261" cy="648"/>
          </p:xfrm>
          <a:graphic>
            <a:graphicData uri="http://schemas.openxmlformats.org/presentationml/2006/ole">
              <mc:AlternateContent xmlns:mc="http://schemas.openxmlformats.org/markup-compatibility/2006">
                <mc:Choice xmlns:v="urn:schemas-microsoft-com:vml" Requires="v">
                  <p:oleObj spid="_x0000_s3" name="公式" r:id="rId6" imgW="2776855" imgH="485140" progId="Equation.3">
                    <p:embed/>
                  </p:oleObj>
                </mc:Choice>
                <mc:Fallback>
                  <p:oleObj name="公式" r:id="rId6" imgW="2776855" imgH="485140" progId="Equation.3">
                    <p:embed/>
                    <p:pic>
                      <p:nvPicPr>
                        <p:cNvPr id="0" name="Object 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54" y="1389"/>
                          <a:ext cx="3261" cy="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351" name="Rectangle 15"/>
            <p:cNvSpPr>
              <a:spLocks noChangeArrowheads="1"/>
            </p:cNvSpPr>
            <p:nvPr/>
          </p:nvSpPr>
          <p:spPr bwMode="auto">
            <a:xfrm>
              <a:off x="431" y="1526"/>
              <a:ext cx="362" cy="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zh-CN" altLang="en-US" sz="2800"/>
                <a:t>记</a:t>
              </a:r>
              <a:endParaRPr lang="zh-CN" altLang="en-US" sz="2800"/>
            </a:p>
          </p:txBody>
        </p:sp>
      </p:grpSp>
      <p:sp>
        <p:nvSpPr>
          <p:cNvPr id="869392" name="Rectangle 16"/>
          <p:cNvSpPr>
            <a:spLocks noChangeArrowheads="1"/>
          </p:cNvSpPr>
          <p:nvPr/>
        </p:nvSpPr>
        <p:spPr bwMode="auto">
          <a:xfrm>
            <a:off x="2208213" y="4160838"/>
            <a:ext cx="328771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zh-CN" altLang="en-US" sz="2400">
                <a:latin typeface="楷体_GB2312" pitchFamily="49" charset="-122"/>
              </a:rPr>
              <a:t>称</a:t>
            </a:r>
            <a:r>
              <a:rPr lang="en-US" altLang="zh-CN" sz="2400" i="1"/>
              <a:t>Q</a:t>
            </a:r>
            <a:r>
              <a:rPr lang="en-US" altLang="zh-CN" sz="2400"/>
              <a:t>(</a:t>
            </a:r>
            <a:r>
              <a:rPr lang="en-US" altLang="zh-CN" sz="2400" i="1"/>
              <a:t>a</a:t>
            </a:r>
            <a:r>
              <a:rPr lang="en-US" altLang="zh-CN" sz="2400"/>
              <a:t>, </a:t>
            </a:r>
            <a:r>
              <a:rPr lang="en-US" altLang="zh-CN" sz="2400" i="1"/>
              <a:t>b</a:t>
            </a:r>
            <a:r>
              <a:rPr lang="en-US" altLang="zh-CN" sz="2400"/>
              <a:t>)</a:t>
            </a:r>
            <a:r>
              <a:rPr lang="zh-CN" altLang="en-US" sz="2400">
                <a:latin typeface="楷体_GB2312" pitchFamily="49" charset="-122"/>
              </a:rPr>
              <a:t>为偏差平方和</a:t>
            </a:r>
            <a:r>
              <a:rPr lang="en-US" altLang="zh-CN" sz="2800">
                <a:ea typeface="宋体" pitchFamily="2" charset="-122"/>
              </a:rPr>
              <a:t>.</a:t>
            </a:r>
            <a:endParaRPr lang="en-US" altLang="zh-CN" sz="2800">
              <a:ea typeface="宋体" pitchFamily="2" charset="-122"/>
            </a:endParaRPr>
          </a:p>
        </p:txBody>
      </p:sp>
      <p:sp>
        <p:nvSpPr>
          <p:cNvPr id="869393" name="Rectangle 17"/>
          <p:cNvSpPr>
            <a:spLocks noChangeArrowheads="1"/>
          </p:cNvSpPr>
          <p:nvPr/>
        </p:nvSpPr>
        <p:spPr bwMode="auto">
          <a:xfrm>
            <a:off x="1992314" y="1074738"/>
            <a:ext cx="3671887"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en-US" altLang="zh-CN" sz="2800">
                <a:solidFill>
                  <a:srgbClr val="0000FF"/>
                </a:solidFill>
                <a:latin typeface="楷体_GB2312" pitchFamily="49" charset="-122"/>
              </a:rPr>
              <a:t>1</a:t>
            </a:r>
            <a:r>
              <a:rPr lang="zh-CN" altLang="en-US" sz="2800">
                <a:solidFill>
                  <a:srgbClr val="0000FF"/>
                </a:solidFill>
                <a:latin typeface="楷体_GB2312" pitchFamily="49" charset="-122"/>
              </a:rPr>
              <a:t>、 最小二乘法</a:t>
            </a:r>
            <a:endParaRPr lang="zh-CN" altLang="en-US" sz="2800">
              <a:solidFill>
                <a:srgbClr val="0000FF"/>
              </a:solidFill>
              <a:latin typeface="楷体_GB2312" pitchFamily="49"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AutoShape 2">
            <a:hlinkClick r:id="" action="ppaction://hlinkshowjump?jump=previousslide" highlightClick="1"/>
          </p:cNvPr>
          <p:cNvSpPr>
            <a:spLocks noChangeArrowheads="1"/>
          </p:cNvSpPr>
          <p:nvPr/>
        </p:nvSpPr>
        <p:spPr bwMode="auto">
          <a:xfrm>
            <a:off x="9120189" y="6524625"/>
            <a:ext cx="287337" cy="215900"/>
          </a:xfrm>
          <a:prstGeom prst="actionButtonBackPrevious">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15363" name="AutoShape 3">
            <a:hlinkClick r:id="" action="ppaction://hlinkshowjump?jump=nextslide" highlightClick="1"/>
          </p:cNvPr>
          <p:cNvSpPr>
            <a:spLocks noChangeArrowheads="1"/>
          </p:cNvSpPr>
          <p:nvPr/>
        </p:nvSpPr>
        <p:spPr bwMode="auto">
          <a:xfrm>
            <a:off x="9407525" y="6524625"/>
            <a:ext cx="285750" cy="215900"/>
          </a:xfrm>
          <a:prstGeom prst="actionButtonForwardNex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15364" name="AutoShape 4">
            <a:hlinkClick r:id="" action="ppaction://hlinkshowjump?jump=firstslide" highlightClick="1"/>
          </p:cNvPr>
          <p:cNvSpPr>
            <a:spLocks noChangeArrowheads="1"/>
          </p:cNvSpPr>
          <p:nvPr/>
        </p:nvSpPr>
        <p:spPr bwMode="auto">
          <a:xfrm>
            <a:off x="9694864" y="6524625"/>
            <a:ext cx="287337" cy="215900"/>
          </a:xfrm>
          <a:prstGeom prst="actionButtonBeginning">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15365" name="AutoShape 5">
            <a:hlinkClick r:id="" action="ppaction://hlinkshowjump?jump=endshow" highlightClick="1"/>
          </p:cNvPr>
          <p:cNvSpPr>
            <a:spLocks noChangeArrowheads="1"/>
          </p:cNvSpPr>
          <p:nvPr/>
        </p:nvSpPr>
        <p:spPr bwMode="auto">
          <a:xfrm>
            <a:off x="9983789" y="6524625"/>
            <a:ext cx="287337" cy="215900"/>
          </a:xfrm>
          <a:prstGeom prst="actionButtonEnd">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15366" name="AutoShape 6">
            <a:hlinkClick r:id="rId1" action="ppaction://hlinksldjump" highlightClick="1"/>
          </p:cNvPr>
          <p:cNvSpPr>
            <a:spLocks noChangeArrowheads="1"/>
          </p:cNvSpPr>
          <p:nvPr/>
        </p:nvSpPr>
        <p:spPr bwMode="auto">
          <a:xfrm>
            <a:off x="10272714" y="6524625"/>
            <a:ext cx="288925" cy="215900"/>
          </a:xfrm>
          <a:prstGeom prst="actionButtonReturn">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graphicFrame>
        <p:nvGraphicFramePr>
          <p:cNvPr id="872455" name="Object 7"/>
          <p:cNvGraphicFramePr>
            <a:graphicFrameLocks noChangeAspect="1"/>
          </p:cNvGraphicFramePr>
          <p:nvPr/>
        </p:nvGraphicFramePr>
        <p:xfrm>
          <a:off x="3216276" y="1557338"/>
          <a:ext cx="5040313" cy="1657350"/>
        </p:xfrm>
        <a:graphic>
          <a:graphicData uri="http://schemas.openxmlformats.org/presentationml/2006/ole">
            <mc:AlternateContent xmlns:mc="http://schemas.openxmlformats.org/markup-compatibility/2006">
              <mc:Choice xmlns:v="urn:schemas-microsoft-com:vml" Requires="v">
                <p:oleObj spid="_x0000_s25601" name="公式" r:id="rId2" imgW="2957830" imgH="1061085" progId="Equation.3">
                  <p:embed/>
                </p:oleObj>
              </mc:Choice>
              <mc:Fallback>
                <p:oleObj name="公式" r:id="rId2" imgW="2957830" imgH="1061085" progId="Equation.3">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16276" y="1557338"/>
                        <a:ext cx="5040313"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72456" name="Rectangle 8"/>
          <p:cNvSpPr>
            <a:spLocks noChangeArrowheads="1"/>
          </p:cNvSpPr>
          <p:nvPr/>
        </p:nvSpPr>
        <p:spPr bwMode="auto">
          <a:xfrm>
            <a:off x="1774826" y="620713"/>
            <a:ext cx="8035925" cy="804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lnSpc>
                <a:spcPct val="90000"/>
              </a:lnSpc>
              <a:spcBef>
                <a:spcPct val="20000"/>
              </a:spcBef>
            </a:pPr>
            <a:r>
              <a:rPr lang="en-US" altLang="zh-CN" sz="2800">
                <a:ea typeface="宋体" pitchFamily="2" charset="-122"/>
              </a:rPr>
              <a:t>	</a:t>
            </a:r>
            <a:r>
              <a:rPr lang="zh-CN" altLang="en-US" sz="2400">
                <a:latin typeface="楷体_GB2312" pitchFamily="49" charset="-122"/>
              </a:rPr>
              <a:t>为了求</a:t>
            </a:r>
            <a:r>
              <a:rPr lang="en-US" altLang="zh-CN" sz="2400" i="1"/>
              <a:t>Q</a:t>
            </a:r>
            <a:r>
              <a:rPr lang="zh-CN" altLang="en-US" sz="2400"/>
              <a:t>（</a:t>
            </a:r>
            <a:r>
              <a:rPr lang="en-US" altLang="zh-CN" sz="2400" i="1"/>
              <a:t>a</a:t>
            </a:r>
            <a:r>
              <a:rPr lang="en-US" altLang="zh-CN" sz="2400"/>
              <a:t>, </a:t>
            </a:r>
            <a:r>
              <a:rPr lang="en-US" altLang="zh-CN" sz="2400" i="1"/>
              <a:t>b</a:t>
            </a:r>
            <a:r>
              <a:rPr lang="zh-CN" altLang="en-US" sz="2400"/>
              <a:t>）</a:t>
            </a:r>
            <a:r>
              <a:rPr lang="zh-CN" altLang="en-US" sz="2400">
                <a:latin typeface="楷体_GB2312" pitchFamily="49" charset="-122"/>
              </a:rPr>
              <a:t>的最小值，分别求</a:t>
            </a:r>
            <a:r>
              <a:rPr lang="en-US" altLang="zh-CN" sz="2400" i="1"/>
              <a:t>Q</a:t>
            </a:r>
            <a:r>
              <a:rPr lang="zh-CN" altLang="en-US" sz="2400">
                <a:latin typeface="楷体_GB2312" pitchFamily="49" charset="-122"/>
              </a:rPr>
              <a:t>关于</a:t>
            </a:r>
            <a:r>
              <a:rPr lang="en-US" altLang="zh-CN" sz="2400" i="1"/>
              <a:t>a</a:t>
            </a:r>
            <a:r>
              <a:rPr lang="zh-CN" altLang="en-US" sz="2400">
                <a:latin typeface="楷体_GB2312" pitchFamily="49" charset="-122"/>
              </a:rPr>
              <a:t>，</a:t>
            </a:r>
            <a:r>
              <a:rPr lang="en-US" altLang="zh-CN" sz="2400" i="1"/>
              <a:t>b</a:t>
            </a:r>
            <a:r>
              <a:rPr lang="zh-CN" altLang="en-US" sz="2400">
                <a:latin typeface="楷体_GB2312" pitchFamily="49" charset="-122"/>
              </a:rPr>
              <a:t>的偏导数，并令它们等于零：</a:t>
            </a:r>
            <a:endParaRPr lang="zh-CN" altLang="en-US" sz="2400">
              <a:latin typeface="楷体_GB2312" pitchFamily="49" charset="-122"/>
            </a:endParaRPr>
          </a:p>
        </p:txBody>
      </p:sp>
      <p:sp>
        <p:nvSpPr>
          <p:cNvPr id="872457" name="Rectangle 9"/>
          <p:cNvSpPr>
            <a:spLocks noChangeArrowheads="1"/>
          </p:cNvSpPr>
          <p:nvPr/>
        </p:nvSpPr>
        <p:spPr bwMode="auto">
          <a:xfrm>
            <a:off x="2208213" y="3405189"/>
            <a:ext cx="2012950" cy="420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lnSpc>
                <a:spcPct val="90000"/>
              </a:lnSpc>
              <a:spcBef>
                <a:spcPct val="20000"/>
              </a:spcBef>
            </a:pPr>
            <a:r>
              <a:rPr lang="zh-CN" altLang="en-US" sz="2400"/>
              <a:t>经整理后得到</a:t>
            </a:r>
            <a:endParaRPr lang="zh-CN" altLang="en-US" sz="2400"/>
          </a:p>
        </p:txBody>
      </p:sp>
      <p:sp>
        <p:nvSpPr>
          <p:cNvPr id="872458" name="Rectangle 10"/>
          <p:cNvSpPr>
            <a:spLocks noChangeArrowheads="1"/>
          </p:cNvSpPr>
          <p:nvPr/>
        </p:nvSpPr>
        <p:spPr bwMode="auto">
          <a:xfrm>
            <a:off x="2287588" y="5876925"/>
            <a:ext cx="362585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lnSpc>
                <a:spcPct val="90000"/>
              </a:lnSpc>
              <a:spcBef>
                <a:spcPct val="20000"/>
              </a:spcBef>
            </a:pPr>
            <a:r>
              <a:rPr lang="zh-CN" altLang="en-US" sz="2400">
                <a:latin typeface="楷体_GB2312" pitchFamily="49" charset="-122"/>
              </a:rPr>
              <a:t>式（</a:t>
            </a:r>
            <a:r>
              <a:rPr lang="en-US" altLang="zh-CN" sz="2400">
                <a:latin typeface="楷体_GB2312" pitchFamily="49" charset="-122"/>
              </a:rPr>
              <a:t>2</a:t>
            </a:r>
            <a:r>
              <a:rPr lang="zh-CN" altLang="en-US" sz="2400">
                <a:latin typeface="楷体_GB2312" pitchFamily="49" charset="-122"/>
              </a:rPr>
              <a:t>）称为</a:t>
            </a:r>
            <a:r>
              <a:rPr lang="zh-CN" altLang="en-US" sz="2400">
                <a:solidFill>
                  <a:srgbClr val="0000FF"/>
                </a:solidFill>
                <a:latin typeface="楷体_GB2312" pitchFamily="49" charset="-122"/>
              </a:rPr>
              <a:t>正规方程组</a:t>
            </a:r>
            <a:r>
              <a:rPr lang="en-US" altLang="zh-CN" sz="2400">
                <a:latin typeface="楷体_GB2312" pitchFamily="49" charset="-122"/>
              </a:rPr>
              <a:t>.</a:t>
            </a:r>
            <a:r>
              <a:rPr lang="en-US" altLang="zh-CN" sz="2800">
                <a:ea typeface="宋体" pitchFamily="2" charset="-122"/>
              </a:rPr>
              <a:t> </a:t>
            </a:r>
            <a:endParaRPr lang="en-US" altLang="zh-CN" sz="2800">
              <a:ea typeface="宋体" pitchFamily="2" charset="-122"/>
            </a:endParaRPr>
          </a:p>
        </p:txBody>
      </p:sp>
      <p:grpSp>
        <p:nvGrpSpPr>
          <p:cNvPr id="872459" name="Group 11"/>
          <p:cNvGrpSpPr/>
          <p:nvPr/>
        </p:nvGrpSpPr>
        <p:grpSpPr bwMode="auto">
          <a:xfrm>
            <a:off x="3273425" y="3933826"/>
            <a:ext cx="5672138" cy="1800225"/>
            <a:chOff x="1102" y="2478"/>
            <a:chExt cx="3573" cy="1134"/>
          </a:xfrm>
        </p:grpSpPr>
        <p:graphicFrame>
          <p:nvGraphicFramePr>
            <p:cNvPr id="15372" name="Object 12"/>
            <p:cNvGraphicFramePr>
              <a:graphicFrameLocks noChangeAspect="1"/>
            </p:cNvGraphicFramePr>
            <p:nvPr/>
          </p:nvGraphicFramePr>
          <p:xfrm>
            <a:off x="1102" y="2478"/>
            <a:ext cx="2739" cy="1134"/>
          </p:xfrm>
          <a:graphic>
            <a:graphicData uri="http://schemas.openxmlformats.org/presentationml/2006/ole">
              <mc:AlternateContent xmlns:mc="http://schemas.openxmlformats.org/markup-compatibility/2006">
                <mc:Choice xmlns:v="urn:schemas-microsoft-com:vml" Requires="v">
                  <p:oleObj spid="_x0000_s2" name="公式" r:id="rId4" imgW="2235200" imgH="1117600" progId="Equation.3">
                    <p:embed/>
                  </p:oleObj>
                </mc:Choice>
                <mc:Fallback>
                  <p:oleObj name="公式" r:id="rId4" imgW="2235200" imgH="1117600" progId="Equation.3">
                    <p:embed/>
                    <p:pic>
                      <p:nvPicPr>
                        <p:cNvPr id="0" name="Object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02" y="2478"/>
                          <a:ext cx="2739" cy="1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373" name="Rectangle 13"/>
            <p:cNvSpPr>
              <a:spLocks noChangeArrowheads="1"/>
            </p:cNvSpPr>
            <p:nvPr/>
          </p:nvSpPr>
          <p:spPr bwMode="auto">
            <a:xfrm>
              <a:off x="4059" y="2825"/>
              <a:ext cx="6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zh-CN" altLang="en-US" sz="2400">
                  <a:solidFill>
                    <a:schemeClr val="accent2"/>
                  </a:solidFill>
                  <a:ea typeface="宋体" pitchFamily="2" charset="-122"/>
                </a:rPr>
                <a:t>（</a:t>
              </a:r>
              <a:r>
                <a:rPr lang="en-US" altLang="zh-CN" sz="2400">
                  <a:solidFill>
                    <a:schemeClr val="accent2"/>
                  </a:solidFill>
                  <a:ea typeface="宋体" pitchFamily="2" charset="-122"/>
                </a:rPr>
                <a:t>2</a:t>
              </a:r>
              <a:r>
                <a:rPr lang="zh-CN" altLang="en-US" sz="2400">
                  <a:solidFill>
                    <a:schemeClr val="accent2"/>
                  </a:solidFill>
                  <a:ea typeface="宋体" pitchFamily="2" charset="-122"/>
                </a:rPr>
                <a:t>）</a:t>
              </a:r>
              <a:endParaRPr lang="zh-CN" altLang="en-US" sz="2400">
                <a:solidFill>
                  <a:schemeClr val="accent2"/>
                </a:solidFill>
                <a:ea typeface="宋体"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72456"/>
                                        </p:tgtEl>
                                        <p:attrNameLst>
                                          <p:attrName>style.visibility</p:attrName>
                                        </p:attrNameLst>
                                      </p:cBhvr>
                                      <p:to>
                                        <p:strVal val="visible"/>
                                      </p:to>
                                    </p:set>
                                    <p:animEffect transition="in" filter="wipe(left)">
                                      <p:cBhvr>
                                        <p:cTn id="7" dur="500"/>
                                        <p:tgtEl>
                                          <p:spTgt spid="87245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72455"/>
                                        </p:tgtEl>
                                        <p:attrNameLst>
                                          <p:attrName>style.visibility</p:attrName>
                                        </p:attrNameLst>
                                      </p:cBhvr>
                                      <p:to>
                                        <p:strVal val="visible"/>
                                      </p:to>
                                    </p:set>
                                    <p:animEffect transition="in" filter="wipe(left)">
                                      <p:cBhvr>
                                        <p:cTn id="12" dur="500"/>
                                        <p:tgtEl>
                                          <p:spTgt spid="87245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72457"/>
                                        </p:tgtEl>
                                        <p:attrNameLst>
                                          <p:attrName>style.visibility</p:attrName>
                                        </p:attrNameLst>
                                      </p:cBhvr>
                                      <p:to>
                                        <p:strVal val="visible"/>
                                      </p:to>
                                    </p:set>
                                    <p:animEffect transition="in" filter="wipe(left)">
                                      <p:cBhvr>
                                        <p:cTn id="17" dur="500"/>
                                        <p:tgtEl>
                                          <p:spTgt spid="87245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72459"/>
                                        </p:tgtEl>
                                        <p:attrNameLst>
                                          <p:attrName>style.visibility</p:attrName>
                                        </p:attrNameLst>
                                      </p:cBhvr>
                                      <p:to>
                                        <p:strVal val="visible"/>
                                      </p:to>
                                    </p:set>
                                    <p:animEffect transition="in" filter="wipe(left)">
                                      <p:cBhvr>
                                        <p:cTn id="22" dur="500"/>
                                        <p:tgtEl>
                                          <p:spTgt spid="87245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72458"/>
                                        </p:tgtEl>
                                        <p:attrNameLst>
                                          <p:attrName>style.visibility</p:attrName>
                                        </p:attrNameLst>
                                      </p:cBhvr>
                                      <p:to>
                                        <p:strVal val="visible"/>
                                      </p:to>
                                    </p:set>
                                    <p:animEffect transition="in" filter="wipe(left)">
                                      <p:cBhvr>
                                        <p:cTn id="27" dur="500"/>
                                        <p:tgtEl>
                                          <p:spTgt spid="8724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2456" grpId="0"/>
      <p:bldP spid="872457" grpId="0"/>
      <p:bldP spid="87245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AutoShape 2">
            <a:hlinkClick r:id="" action="ppaction://hlinkshowjump?jump=previousslide" highlightClick="1"/>
          </p:cNvPr>
          <p:cNvSpPr>
            <a:spLocks noChangeArrowheads="1"/>
          </p:cNvSpPr>
          <p:nvPr/>
        </p:nvSpPr>
        <p:spPr bwMode="auto">
          <a:xfrm>
            <a:off x="9120189" y="6524625"/>
            <a:ext cx="287337" cy="215900"/>
          </a:xfrm>
          <a:prstGeom prst="actionButtonBackPrevious">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16387" name="AutoShape 3">
            <a:hlinkClick r:id="" action="ppaction://hlinkshowjump?jump=nextslide" highlightClick="1"/>
          </p:cNvPr>
          <p:cNvSpPr>
            <a:spLocks noChangeArrowheads="1"/>
          </p:cNvSpPr>
          <p:nvPr/>
        </p:nvSpPr>
        <p:spPr bwMode="auto">
          <a:xfrm>
            <a:off x="9407525" y="6524625"/>
            <a:ext cx="285750" cy="215900"/>
          </a:xfrm>
          <a:prstGeom prst="actionButtonForwardNex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16388" name="AutoShape 4">
            <a:hlinkClick r:id="" action="ppaction://hlinkshowjump?jump=firstslide" highlightClick="1"/>
          </p:cNvPr>
          <p:cNvSpPr>
            <a:spLocks noChangeArrowheads="1"/>
          </p:cNvSpPr>
          <p:nvPr/>
        </p:nvSpPr>
        <p:spPr bwMode="auto">
          <a:xfrm>
            <a:off x="9694864" y="6524625"/>
            <a:ext cx="287337" cy="215900"/>
          </a:xfrm>
          <a:prstGeom prst="actionButtonBeginning">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16389" name="AutoShape 5">
            <a:hlinkClick r:id="" action="ppaction://hlinkshowjump?jump=endshow" highlightClick="1"/>
          </p:cNvPr>
          <p:cNvSpPr>
            <a:spLocks noChangeArrowheads="1"/>
          </p:cNvSpPr>
          <p:nvPr/>
        </p:nvSpPr>
        <p:spPr bwMode="auto">
          <a:xfrm>
            <a:off x="9983789" y="6524625"/>
            <a:ext cx="287337" cy="215900"/>
          </a:xfrm>
          <a:prstGeom prst="actionButtonEnd">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16390" name="AutoShape 6">
            <a:hlinkClick r:id="rId1" action="ppaction://hlinksldjump" highlightClick="1"/>
          </p:cNvPr>
          <p:cNvSpPr>
            <a:spLocks noChangeArrowheads="1"/>
          </p:cNvSpPr>
          <p:nvPr/>
        </p:nvSpPr>
        <p:spPr bwMode="auto">
          <a:xfrm>
            <a:off x="10272714" y="6524625"/>
            <a:ext cx="288925" cy="215900"/>
          </a:xfrm>
          <a:prstGeom prst="actionButtonReturn">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graphicFrame>
        <p:nvGraphicFramePr>
          <p:cNvPr id="873479" name="Object 7"/>
          <p:cNvGraphicFramePr>
            <a:graphicFrameLocks noChangeAspect="1"/>
          </p:cNvGraphicFramePr>
          <p:nvPr/>
        </p:nvGraphicFramePr>
        <p:xfrm>
          <a:off x="3082926" y="1412875"/>
          <a:ext cx="3538008" cy="1747838"/>
        </p:xfrm>
        <a:graphic>
          <a:graphicData uri="http://schemas.openxmlformats.org/presentationml/2006/ole">
            <mc:AlternateContent xmlns:mc="http://schemas.openxmlformats.org/markup-compatibility/2006">
              <mc:Choice xmlns:v="urn:schemas-microsoft-com:vml" Requires="v">
                <p:oleObj spid="_x0000_s25601" name="公式" r:id="rId2" imgW="1602740" imgH="970915" progId="Equation.3">
                  <p:embed/>
                </p:oleObj>
              </mc:Choice>
              <mc:Fallback>
                <p:oleObj name="公式" r:id="rId2" imgW="1602740" imgH="970915" progId="Equation.3">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82926" y="1412875"/>
                        <a:ext cx="3538008" cy="1747838"/>
                      </a:xfrm>
                      <a:prstGeom prst="rect">
                        <a:avLst/>
                      </a:prstGeom>
                      <a:noFill/>
                      <a:ln>
                        <a:noFill/>
                      </a:ln>
                    </p:spPr>
                  </p:pic>
                </p:oleObj>
              </mc:Fallback>
            </mc:AlternateContent>
          </a:graphicData>
        </a:graphic>
      </p:graphicFrame>
      <p:graphicFrame>
        <p:nvGraphicFramePr>
          <p:cNvPr id="873480" name="Object 8"/>
          <p:cNvGraphicFramePr>
            <a:graphicFrameLocks noChangeAspect="1"/>
          </p:cNvGraphicFramePr>
          <p:nvPr/>
        </p:nvGraphicFramePr>
        <p:xfrm>
          <a:off x="3071812" y="3284539"/>
          <a:ext cx="1838325" cy="593725"/>
        </p:xfrm>
        <a:graphic>
          <a:graphicData uri="http://schemas.openxmlformats.org/presentationml/2006/ole">
            <mc:AlternateContent xmlns:mc="http://schemas.openxmlformats.org/markup-compatibility/2006">
              <mc:Choice xmlns:v="urn:schemas-microsoft-com:vml" Requires="v">
                <p:oleObj spid="_x0000_s2" name="公式" r:id="rId4" imgW="779145" imgH="259715" progId="Equation.3">
                  <p:embed/>
                </p:oleObj>
              </mc:Choice>
              <mc:Fallback>
                <p:oleObj name="公式" r:id="rId4" imgW="779145" imgH="259715" progId="Equation.3">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71812" y="3284539"/>
                        <a:ext cx="1838325" cy="593725"/>
                      </a:xfrm>
                      <a:prstGeom prst="rect">
                        <a:avLst/>
                      </a:prstGeom>
                      <a:noFill/>
                      <a:ln>
                        <a:noFill/>
                      </a:ln>
                    </p:spPr>
                  </p:pic>
                </p:oleObj>
              </mc:Fallback>
            </mc:AlternateContent>
          </a:graphicData>
        </a:graphic>
      </p:graphicFrame>
      <p:graphicFrame>
        <p:nvGraphicFramePr>
          <p:cNvPr id="873481" name="Object 9"/>
          <p:cNvGraphicFramePr>
            <a:graphicFrameLocks noChangeAspect="1"/>
          </p:cNvGraphicFramePr>
          <p:nvPr/>
        </p:nvGraphicFramePr>
        <p:xfrm>
          <a:off x="3648074" y="4221163"/>
          <a:ext cx="3463925" cy="912812"/>
        </p:xfrm>
        <a:graphic>
          <a:graphicData uri="http://schemas.openxmlformats.org/presentationml/2006/ole">
            <mc:AlternateContent xmlns:mc="http://schemas.openxmlformats.org/markup-compatibility/2006">
              <mc:Choice xmlns:v="urn:schemas-microsoft-com:vml" Requires="v">
                <p:oleObj spid="_x0000_s3" name="公式" r:id="rId6" imgW="1727200" imgH="485140" progId="Equation.3">
                  <p:embed/>
                </p:oleObj>
              </mc:Choice>
              <mc:Fallback>
                <p:oleObj name="公式" r:id="rId6" imgW="1727200" imgH="485140" progId="Equation.3">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48074" y="4221163"/>
                        <a:ext cx="3463925" cy="912812"/>
                      </a:xfrm>
                      <a:prstGeom prst="rect">
                        <a:avLst/>
                      </a:prstGeom>
                      <a:noFill/>
                      <a:ln>
                        <a:noFill/>
                      </a:ln>
                    </p:spPr>
                  </p:pic>
                </p:oleObj>
              </mc:Fallback>
            </mc:AlternateContent>
          </a:graphicData>
        </a:graphic>
      </p:graphicFrame>
      <p:sp>
        <p:nvSpPr>
          <p:cNvPr id="873482" name="Rectangle 10"/>
          <p:cNvSpPr>
            <a:spLocks noChangeArrowheads="1"/>
          </p:cNvSpPr>
          <p:nvPr/>
        </p:nvSpPr>
        <p:spPr bwMode="auto">
          <a:xfrm>
            <a:off x="2135188" y="830263"/>
            <a:ext cx="264687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20000"/>
              </a:spcBef>
            </a:pPr>
            <a:r>
              <a:rPr lang="zh-CN" altLang="en-US" sz="2400" dirty="0">
                <a:latin typeface="楷体_GB2312" pitchFamily="49" charset="-122"/>
              </a:rPr>
              <a:t>由正规方程组解得</a:t>
            </a:r>
            <a:endParaRPr lang="zh-CN" altLang="en-US" sz="2400" dirty="0">
              <a:latin typeface="楷体_GB2312" pitchFamily="49" charset="-122"/>
            </a:endParaRPr>
          </a:p>
        </p:txBody>
      </p:sp>
      <p:sp>
        <p:nvSpPr>
          <p:cNvPr id="873483" name="Rectangle 11"/>
          <p:cNvSpPr>
            <a:spLocks noChangeArrowheads="1"/>
          </p:cNvSpPr>
          <p:nvPr/>
        </p:nvSpPr>
        <p:spPr bwMode="auto">
          <a:xfrm>
            <a:off x="2247900" y="4418013"/>
            <a:ext cx="793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20000"/>
              </a:spcBef>
            </a:pPr>
            <a:r>
              <a:rPr lang="zh-CN" altLang="en-US" sz="2400"/>
              <a:t>其中</a:t>
            </a:r>
            <a:endParaRPr lang="zh-CN" altLang="en-US" sz="2400"/>
          </a:p>
        </p:txBody>
      </p:sp>
      <p:graphicFrame>
        <p:nvGraphicFramePr>
          <p:cNvPr id="873484" name="Object 12"/>
          <p:cNvGraphicFramePr>
            <a:graphicFrameLocks noGrp="1" noChangeAspect="1"/>
          </p:cNvGraphicFramePr>
          <p:nvPr>
            <p:ph/>
          </p:nvPr>
        </p:nvGraphicFramePr>
        <p:xfrm>
          <a:off x="1919288" y="5453063"/>
          <a:ext cx="625475" cy="577850"/>
        </p:xfrm>
        <a:graphic>
          <a:graphicData uri="http://schemas.openxmlformats.org/presentationml/2006/ole">
            <mc:AlternateContent xmlns:mc="http://schemas.openxmlformats.org/markup-compatibility/2006">
              <mc:Choice xmlns:v="urn:schemas-microsoft-com:vml" Requires="v">
                <p:oleObj spid="_x0000_s4" name="公式" r:id="rId8" imgW="281940" imgH="259715" progId="Equation.3">
                  <p:embed/>
                </p:oleObj>
              </mc:Choice>
              <mc:Fallback>
                <p:oleObj name="公式" r:id="rId8" imgW="281940" imgH="259715" progId="Equation.3">
                  <p:embed/>
                  <p:pic>
                    <p:nvPicPr>
                      <p:cNvPr id="0" name="Object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19288" y="5453063"/>
                        <a:ext cx="625475" cy="577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73486" name="Rectangle 14"/>
          <p:cNvSpPr>
            <a:spLocks noChangeArrowheads="1"/>
          </p:cNvSpPr>
          <p:nvPr/>
        </p:nvSpPr>
        <p:spPr bwMode="auto">
          <a:xfrm>
            <a:off x="2393950" y="5567363"/>
            <a:ext cx="7270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20000"/>
              </a:spcBef>
            </a:pPr>
            <a:r>
              <a:rPr lang="zh-CN" altLang="en-US" sz="2400">
                <a:solidFill>
                  <a:srgbClr val="0000FF"/>
                </a:solidFill>
                <a:latin typeface="楷体_GB2312" pitchFamily="49" charset="-122"/>
              </a:rPr>
              <a:t>是</a:t>
            </a:r>
            <a:r>
              <a:rPr lang="en-US" altLang="zh-CN" sz="2400" i="1">
                <a:solidFill>
                  <a:srgbClr val="0000FF"/>
                </a:solidFill>
              </a:rPr>
              <a:t>a</a:t>
            </a:r>
            <a:r>
              <a:rPr lang="en-US" altLang="zh-CN" sz="2400">
                <a:solidFill>
                  <a:srgbClr val="0000FF"/>
                </a:solidFill>
              </a:rPr>
              <a:t>,</a:t>
            </a:r>
            <a:r>
              <a:rPr lang="en-US" altLang="zh-CN" sz="2400" i="1">
                <a:solidFill>
                  <a:srgbClr val="0000FF"/>
                </a:solidFill>
              </a:rPr>
              <a:t>b</a:t>
            </a:r>
            <a:r>
              <a:rPr lang="en-US" altLang="zh-CN" sz="2400">
                <a:solidFill>
                  <a:srgbClr val="0000FF"/>
                </a:solidFill>
                <a:latin typeface="楷体_GB2312" pitchFamily="49" charset="-122"/>
              </a:rPr>
              <a:t> </a:t>
            </a:r>
            <a:r>
              <a:rPr lang="zh-CN" altLang="en-US" sz="2400">
                <a:solidFill>
                  <a:srgbClr val="0000FF"/>
                </a:solidFill>
                <a:latin typeface="楷体_GB2312" pitchFamily="49" charset="-122"/>
              </a:rPr>
              <a:t>的无偏估计</a:t>
            </a:r>
            <a:r>
              <a:rPr lang="en-US" altLang="zh-CN" sz="2400">
                <a:solidFill>
                  <a:srgbClr val="0000FF"/>
                </a:solidFill>
                <a:latin typeface="楷体_GB2312" pitchFamily="49" charset="-122"/>
              </a:rPr>
              <a:t>,</a:t>
            </a:r>
            <a:r>
              <a:rPr lang="zh-CN" altLang="en-US" sz="2400">
                <a:solidFill>
                  <a:srgbClr val="0000FF"/>
                </a:solidFill>
                <a:latin typeface="楷体_GB2312" pitchFamily="49" charset="-122"/>
              </a:rPr>
              <a:t>而且是所有无偏估计中方差最小的</a:t>
            </a:r>
            <a:endParaRPr lang="zh-CN" altLang="en-US" sz="2400">
              <a:solidFill>
                <a:srgbClr val="0000FF"/>
              </a:solidFill>
              <a:latin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73482"/>
                                        </p:tgtEl>
                                        <p:attrNameLst>
                                          <p:attrName>style.visibility</p:attrName>
                                        </p:attrNameLst>
                                      </p:cBhvr>
                                      <p:to>
                                        <p:strVal val="visible"/>
                                      </p:to>
                                    </p:set>
                                    <p:animEffect transition="in" filter="wipe(left)">
                                      <p:cBhvr>
                                        <p:cTn id="7" dur="500"/>
                                        <p:tgtEl>
                                          <p:spTgt spid="87348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73479"/>
                                        </p:tgtEl>
                                        <p:attrNameLst>
                                          <p:attrName>style.visibility</p:attrName>
                                        </p:attrNameLst>
                                      </p:cBhvr>
                                      <p:to>
                                        <p:strVal val="visible"/>
                                      </p:to>
                                    </p:set>
                                    <p:animEffect transition="in" filter="wipe(left)">
                                      <p:cBhvr>
                                        <p:cTn id="12" dur="500"/>
                                        <p:tgtEl>
                                          <p:spTgt spid="87347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73480"/>
                                        </p:tgtEl>
                                        <p:attrNameLst>
                                          <p:attrName>style.visibility</p:attrName>
                                        </p:attrNameLst>
                                      </p:cBhvr>
                                      <p:to>
                                        <p:strVal val="visible"/>
                                      </p:to>
                                    </p:set>
                                    <p:animEffect transition="in" filter="wipe(left)">
                                      <p:cBhvr>
                                        <p:cTn id="17" dur="500"/>
                                        <p:tgtEl>
                                          <p:spTgt spid="87348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73483"/>
                                        </p:tgtEl>
                                        <p:attrNameLst>
                                          <p:attrName>style.visibility</p:attrName>
                                        </p:attrNameLst>
                                      </p:cBhvr>
                                      <p:to>
                                        <p:strVal val="visible"/>
                                      </p:to>
                                    </p:set>
                                    <p:animEffect transition="in" filter="wipe(left)">
                                      <p:cBhvr>
                                        <p:cTn id="22" dur="500"/>
                                        <p:tgtEl>
                                          <p:spTgt spid="87348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73481"/>
                                        </p:tgtEl>
                                        <p:attrNameLst>
                                          <p:attrName>style.visibility</p:attrName>
                                        </p:attrNameLst>
                                      </p:cBhvr>
                                      <p:to>
                                        <p:strVal val="visible"/>
                                      </p:to>
                                    </p:set>
                                    <p:animEffect transition="in" filter="wipe(left)">
                                      <p:cBhvr>
                                        <p:cTn id="27" dur="500"/>
                                        <p:tgtEl>
                                          <p:spTgt spid="87348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873484"/>
                                        </p:tgtEl>
                                        <p:attrNameLst>
                                          <p:attrName>style.visibility</p:attrName>
                                        </p:attrNameLst>
                                      </p:cBhvr>
                                      <p:to>
                                        <p:strVal val="visible"/>
                                      </p:to>
                                    </p:set>
                                    <p:animEffect transition="in" filter="wipe(left)">
                                      <p:cBhvr>
                                        <p:cTn id="32" dur="500"/>
                                        <p:tgtEl>
                                          <p:spTgt spid="873484"/>
                                        </p:tgtEl>
                                      </p:cBhvr>
                                    </p:animEffect>
                                  </p:childTnLst>
                                </p:cTn>
                              </p:par>
                            </p:childTnLst>
                          </p:cTn>
                        </p:par>
                        <p:par>
                          <p:cTn id="33" fill="hold">
                            <p:stCondLst>
                              <p:cond delay="500"/>
                            </p:stCondLst>
                            <p:childTnLst>
                              <p:par>
                                <p:cTn id="34" presetID="22" presetClass="entr" presetSubtype="8" fill="hold" grpId="0" nodeType="afterEffect">
                                  <p:stCondLst>
                                    <p:cond delay="0"/>
                                  </p:stCondLst>
                                  <p:childTnLst>
                                    <p:set>
                                      <p:cBhvr>
                                        <p:cTn id="35" dur="1" fill="hold">
                                          <p:stCondLst>
                                            <p:cond delay="0"/>
                                          </p:stCondLst>
                                        </p:cTn>
                                        <p:tgtEl>
                                          <p:spTgt spid="873486"/>
                                        </p:tgtEl>
                                        <p:attrNameLst>
                                          <p:attrName>style.visibility</p:attrName>
                                        </p:attrNameLst>
                                      </p:cBhvr>
                                      <p:to>
                                        <p:strVal val="visible"/>
                                      </p:to>
                                    </p:set>
                                    <p:animEffect transition="in" filter="wipe(left)">
                                      <p:cBhvr>
                                        <p:cTn id="36" dur="500"/>
                                        <p:tgtEl>
                                          <p:spTgt spid="8734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3482" grpId="0"/>
      <p:bldP spid="873483" grpId="0"/>
      <p:bldP spid="87348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AutoShape 2">
            <a:hlinkClick r:id="" action="ppaction://hlinkshowjump?jump=previousslide" highlightClick="1"/>
          </p:cNvPr>
          <p:cNvSpPr>
            <a:spLocks noChangeArrowheads="1"/>
          </p:cNvSpPr>
          <p:nvPr/>
        </p:nvSpPr>
        <p:spPr bwMode="auto">
          <a:xfrm>
            <a:off x="9120189" y="6524625"/>
            <a:ext cx="287337" cy="215900"/>
          </a:xfrm>
          <a:prstGeom prst="actionButtonBackPrevious">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17411" name="AutoShape 3">
            <a:hlinkClick r:id="" action="ppaction://hlinkshowjump?jump=nextslide" highlightClick="1"/>
          </p:cNvPr>
          <p:cNvSpPr>
            <a:spLocks noChangeArrowheads="1"/>
          </p:cNvSpPr>
          <p:nvPr/>
        </p:nvSpPr>
        <p:spPr bwMode="auto">
          <a:xfrm>
            <a:off x="9407525" y="6524625"/>
            <a:ext cx="285750" cy="215900"/>
          </a:xfrm>
          <a:prstGeom prst="actionButtonForwardNex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17412" name="AutoShape 4">
            <a:hlinkClick r:id="" action="ppaction://hlinkshowjump?jump=firstslide" highlightClick="1"/>
          </p:cNvPr>
          <p:cNvSpPr>
            <a:spLocks noChangeArrowheads="1"/>
          </p:cNvSpPr>
          <p:nvPr/>
        </p:nvSpPr>
        <p:spPr bwMode="auto">
          <a:xfrm>
            <a:off x="9694864" y="6524625"/>
            <a:ext cx="287337" cy="215900"/>
          </a:xfrm>
          <a:prstGeom prst="actionButtonBeginning">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17413" name="AutoShape 5">
            <a:hlinkClick r:id="" action="ppaction://hlinkshowjump?jump=endshow" highlightClick="1"/>
          </p:cNvPr>
          <p:cNvSpPr>
            <a:spLocks noChangeArrowheads="1"/>
          </p:cNvSpPr>
          <p:nvPr/>
        </p:nvSpPr>
        <p:spPr bwMode="auto">
          <a:xfrm>
            <a:off x="9983789" y="6524625"/>
            <a:ext cx="287337" cy="215900"/>
          </a:xfrm>
          <a:prstGeom prst="actionButtonEnd">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17414" name="AutoShape 6">
            <a:hlinkClick r:id="rId1" action="ppaction://hlinksldjump" highlightClick="1"/>
          </p:cNvPr>
          <p:cNvSpPr>
            <a:spLocks noChangeArrowheads="1"/>
          </p:cNvSpPr>
          <p:nvPr/>
        </p:nvSpPr>
        <p:spPr bwMode="auto">
          <a:xfrm>
            <a:off x="10272714" y="6524625"/>
            <a:ext cx="288925" cy="215900"/>
          </a:xfrm>
          <a:prstGeom prst="actionButtonReturn">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graphicFrame>
        <p:nvGraphicFramePr>
          <p:cNvPr id="883719" name="Object 7"/>
          <p:cNvGraphicFramePr>
            <a:graphicFrameLocks noChangeAspect="1"/>
          </p:cNvGraphicFramePr>
          <p:nvPr/>
        </p:nvGraphicFramePr>
        <p:xfrm>
          <a:off x="2208213" y="1125539"/>
          <a:ext cx="7200900" cy="911225"/>
        </p:xfrm>
        <a:graphic>
          <a:graphicData uri="http://schemas.openxmlformats.org/presentationml/2006/ole">
            <mc:AlternateContent xmlns:mc="http://schemas.openxmlformats.org/markup-compatibility/2006">
              <mc:Choice xmlns:v="urn:schemas-microsoft-com:vml" Requires="v">
                <p:oleObj spid="_x0000_s25601" name="公式" r:id="rId2" imgW="3782060" imgH="485140" progId="Equation.3">
                  <p:embed/>
                </p:oleObj>
              </mc:Choice>
              <mc:Fallback>
                <p:oleObj name="公式" r:id="rId2" imgW="3782060" imgH="485140" progId="Equation.3">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8213" y="1125539"/>
                        <a:ext cx="7200900" cy="91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83720" name="Object 8"/>
          <p:cNvGraphicFramePr>
            <a:graphicFrameLocks noChangeAspect="1"/>
          </p:cNvGraphicFramePr>
          <p:nvPr/>
        </p:nvGraphicFramePr>
        <p:xfrm>
          <a:off x="2495551" y="4652963"/>
          <a:ext cx="1693863" cy="608012"/>
        </p:xfrm>
        <a:graphic>
          <a:graphicData uri="http://schemas.openxmlformats.org/presentationml/2006/ole">
            <mc:AlternateContent xmlns:mc="http://schemas.openxmlformats.org/markup-compatibility/2006">
              <mc:Choice xmlns:v="urn:schemas-microsoft-com:vml" Requires="v">
                <p:oleObj spid="_x0000_s2" name="公式" r:id="rId4" imgW="779145" imgH="259715" progId="Equation.3">
                  <p:embed/>
                </p:oleObj>
              </mc:Choice>
              <mc:Fallback>
                <p:oleObj name="公式" r:id="rId4" imgW="779145" imgH="259715" progId="Equation.3">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95551" y="4652963"/>
                        <a:ext cx="1693863" cy="60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417" name="Rectangle 10"/>
          <p:cNvSpPr>
            <a:spLocks noChangeArrowheads="1"/>
          </p:cNvSpPr>
          <p:nvPr/>
        </p:nvSpPr>
        <p:spPr bwMode="auto">
          <a:xfrm>
            <a:off x="2135188" y="457200"/>
            <a:ext cx="2317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20000"/>
              </a:spcBef>
            </a:pPr>
            <a:r>
              <a:rPr lang="zh-CN" altLang="en-US" sz="2400"/>
              <a:t>为方便起见，记</a:t>
            </a:r>
            <a:endParaRPr lang="zh-CN" altLang="en-US" sz="2400"/>
          </a:p>
        </p:txBody>
      </p:sp>
      <p:graphicFrame>
        <p:nvGraphicFramePr>
          <p:cNvPr id="883732" name="Object 20"/>
          <p:cNvGraphicFramePr>
            <a:graphicFrameLocks noGrp="1" noChangeAspect="1"/>
          </p:cNvGraphicFramePr>
          <p:nvPr>
            <p:ph sz="half" idx="1"/>
          </p:nvPr>
        </p:nvGraphicFramePr>
        <p:xfrm>
          <a:off x="2495551" y="5508623"/>
          <a:ext cx="1080169" cy="995450"/>
        </p:xfrm>
        <a:graphic>
          <a:graphicData uri="http://schemas.openxmlformats.org/presentationml/2006/ole">
            <mc:AlternateContent xmlns:mc="http://schemas.openxmlformats.org/markup-compatibility/2006">
              <mc:Choice xmlns:v="urn:schemas-microsoft-com:vml" Requires="v">
                <p:oleObj spid="_x0000_s3" name="公式" r:id="rId6" imgW="564515" imgH="519430" progId="Equation.3">
                  <p:embed/>
                </p:oleObj>
              </mc:Choice>
              <mc:Fallback>
                <p:oleObj name="公式" r:id="rId6" imgW="564515" imgH="519430" progId="Equation.3">
                  <p:embed/>
                  <p:pic>
                    <p:nvPicPr>
                      <p:cNvPr id="0" name="Object 2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95551" y="5508623"/>
                        <a:ext cx="1080169" cy="995450"/>
                      </a:xfrm>
                      <a:prstGeom prst="rect">
                        <a:avLst/>
                      </a:prstGeom>
                      <a:noFill/>
                      <a:ln>
                        <a:noFill/>
                      </a:ln>
                      <a:effectLst/>
                    </p:spPr>
                  </p:pic>
                </p:oleObj>
              </mc:Fallback>
            </mc:AlternateContent>
          </a:graphicData>
        </a:graphic>
      </p:graphicFrame>
      <p:graphicFrame>
        <p:nvGraphicFramePr>
          <p:cNvPr id="883737" name="Object 25"/>
          <p:cNvGraphicFramePr>
            <a:graphicFrameLocks noGrp="1" noChangeAspect="1"/>
          </p:cNvGraphicFramePr>
          <p:nvPr>
            <p:ph sz="quarter" idx="2"/>
          </p:nvPr>
        </p:nvGraphicFramePr>
        <p:xfrm>
          <a:off x="2220913" y="2071688"/>
          <a:ext cx="7461250" cy="933450"/>
        </p:xfrm>
        <a:graphic>
          <a:graphicData uri="http://schemas.openxmlformats.org/presentationml/2006/ole">
            <mc:AlternateContent xmlns:mc="http://schemas.openxmlformats.org/markup-compatibility/2006">
              <mc:Choice xmlns:v="urn:schemas-microsoft-com:vml" Requires="v">
                <p:oleObj spid="_x0000_s4" name="公式" r:id="rId8" imgW="3962400" imgH="485140" progId="Equation.3">
                  <p:embed/>
                </p:oleObj>
              </mc:Choice>
              <mc:Fallback>
                <p:oleObj name="公式" r:id="rId8" imgW="3962400" imgH="485140" progId="Equation.3">
                  <p:embed/>
                  <p:pic>
                    <p:nvPicPr>
                      <p:cNvPr id="0" name="Object 2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20913" y="2071688"/>
                        <a:ext cx="7461250" cy="933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3740" name="Object 28"/>
          <p:cNvGraphicFramePr>
            <a:graphicFrameLocks noGrp="1" noChangeAspect="1"/>
          </p:cNvGraphicFramePr>
          <p:nvPr>
            <p:ph sz="quarter" idx="3"/>
          </p:nvPr>
        </p:nvGraphicFramePr>
        <p:xfrm>
          <a:off x="2146300" y="3154363"/>
          <a:ext cx="8220075" cy="906462"/>
        </p:xfrm>
        <a:graphic>
          <a:graphicData uri="http://schemas.openxmlformats.org/presentationml/2006/ole">
            <mc:AlternateContent xmlns:mc="http://schemas.openxmlformats.org/markup-compatibility/2006">
              <mc:Choice xmlns:v="urn:schemas-microsoft-com:vml" Requires="v">
                <p:oleObj spid="_x0000_s5" name="公式" r:id="rId10" imgW="4493260" imgH="485140" progId="Equation.3">
                  <p:embed/>
                </p:oleObj>
              </mc:Choice>
              <mc:Fallback>
                <p:oleObj name="公式" r:id="rId10" imgW="4493260" imgH="485140" progId="Equation.3">
                  <p:embed/>
                  <p:pic>
                    <p:nvPicPr>
                      <p:cNvPr id="0" name="Object 2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46300" y="3154363"/>
                        <a:ext cx="8220075" cy="906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83720"/>
                                        </p:tgtEl>
                                        <p:attrNameLst>
                                          <p:attrName>style.visibility</p:attrName>
                                        </p:attrNameLst>
                                      </p:cBhvr>
                                      <p:to>
                                        <p:strVal val="visible"/>
                                      </p:to>
                                    </p:set>
                                    <p:animEffect transition="in" filter="wipe(left)">
                                      <p:cBhvr>
                                        <p:cTn id="7" dur="500"/>
                                        <p:tgtEl>
                                          <p:spTgt spid="8837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83732"/>
                                        </p:tgtEl>
                                        <p:attrNameLst>
                                          <p:attrName>style.visibility</p:attrName>
                                        </p:attrNameLst>
                                      </p:cBhvr>
                                      <p:to>
                                        <p:strVal val="visible"/>
                                      </p:to>
                                    </p:set>
                                    <p:animEffect transition="in" filter="wipe(left)">
                                      <p:cBhvr>
                                        <p:cTn id="12" dur="500"/>
                                        <p:tgtEl>
                                          <p:spTgt spid="8837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AutoShape 2">
            <a:hlinkClick r:id="" action="ppaction://hlinkshowjump?jump=previousslide" highlightClick="1"/>
          </p:cNvPr>
          <p:cNvSpPr>
            <a:spLocks noChangeArrowheads="1"/>
          </p:cNvSpPr>
          <p:nvPr/>
        </p:nvSpPr>
        <p:spPr bwMode="auto">
          <a:xfrm>
            <a:off x="9120189" y="6524625"/>
            <a:ext cx="287337" cy="215900"/>
          </a:xfrm>
          <a:prstGeom prst="actionButtonBackPrevious">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18435" name="AutoShape 3">
            <a:hlinkClick r:id="" action="ppaction://hlinkshowjump?jump=nextslide" highlightClick="1"/>
          </p:cNvPr>
          <p:cNvSpPr>
            <a:spLocks noChangeArrowheads="1"/>
          </p:cNvSpPr>
          <p:nvPr/>
        </p:nvSpPr>
        <p:spPr bwMode="auto">
          <a:xfrm>
            <a:off x="9407525" y="6524625"/>
            <a:ext cx="285750" cy="215900"/>
          </a:xfrm>
          <a:prstGeom prst="actionButtonForwardNex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18436" name="AutoShape 4">
            <a:hlinkClick r:id="" action="ppaction://hlinkshowjump?jump=firstslide" highlightClick="1"/>
          </p:cNvPr>
          <p:cNvSpPr>
            <a:spLocks noChangeArrowheads="1"/>
          </p:cNvSpPr>
          <p:nvPr/>
        </p:nvSpPr>
        <p:spPr bwMode="auto">
          <a:xfrm>
            <a:off x="9694864" y="6524625"/>
            <a:ext cx="287337" cy="215900"/>
          </a:xfrm>
          <a:prstGeom prst="actionButtonBeginning">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18437" name="AutoShape 5">
            <a:hlinkClick r:id="" action="ppaction://hlinkshowjump?jump=endshow" highlightClick="1"/>
          </p:cNvPr>
          <p:cNvSpPr>
            <a:spLocks noChangeArrowheads="1"/>
          </p:cNvSpPr>
          <p:nvPr/>
        </p:nvSpPr>
        <p:spPr bwMode="auto">
          <a:xfrm>
            <a:off x="9983789" y="6524625"/>
            <a:ext cx="287337" cy="215900"/>
          </a:xfrm>
          <a:prstGeom prst="actionButtonEnd">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18438" name="AutoShape 6">
            <a:hlinkClick r:id="rId1" action="ppaction://hlinksldjump" highlightClick="1"/>
          </p:cNvPr>
          <p:cNvSpPr>
            <a:spLocks noChangeArrowheads="1"/>
          </p:cNvSpPr>
          <p:nvPr/>
        </p:nvSpPr>
        <p:spPr bwMode="auto">
          <a:xfrm>
            <a:off x="10272714" y="6524625"/>
            <a:ext cx="288925" cy="215900"/>
          </a:xfrm>
          <a:prstGeom prst="actionButtonReturn">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graphicFrame>
        <p:nvGraphicFramePr>
          <p:cNvPr id="935943" name="Object 7"/>
          <p:cNvGraphicFramePr>
            <a:graphicFrameLocks noChangeAspect="1"/>
          </p:cNvGraphicFramePr>
          <p:nvPr/>
        </p:nvGraphicFramePr>
        <p:xfrm>
          <a:off x="2495550" y="692150"/>
          <a:ext cx="5759450" cy="490538"/>
        </p:xfrm>
        <a:graphic>
          <a:graphicData uri="http://schemas.openxmlformats.org/presentationml/2006/ole">
            <mc:AlternateContent xmlns:mc="http://schemas.openxmlformats.org/markup-compatibility/2006">
              <mc:Choice xmlns:v="urn:schemas-microsoft-com:vml" Requires="v">
                <p:oleObj spid="_x0000_s25601" name="公式" r:id="rId2" imgW="2325370" imgH="248285" progId="Equation.3">
                  <p:embed/>
                </p:oleObj>
              </mc:Choice>
              <mc:Fallback>
                <p:oleObj name="公式" r:id="rId2" imgW="2325370" imgH="248285" progId="Equation.3">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5550" y="692150"/>
                        <a:ext cx="5759450" cy="49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35944" name="Object 8"/>
          <p:cNvGraphicFramePr>
            <a:graphicFrameLocks noChangeAspect="1"/>
          </p:cNvGraphicFramePr>
          <p:nvPr/>
        </p:nvGraphicFramePr>
        <p:xfrm>
          <a:off x="3143250" y="4652964"/>
          <a:ext cx="5721350" cy="504825"/>
        </p:xfrm>
        <a:graphic>
          <a:graphicData uri="http://schemas.openxmlformats.org/presentationml/2006/ole">
            <mc:AlternateContent xmlns:mc="http://schemas.openxmlformats.org/markup-compatibility/2006">
              <mc:Choice xmlns:v="urn:schemas-microsoft-com:vml" Requires="v">
                <p:oleObj spid="_x0000_s2" name="公式" r:id="rId4" imgW="2675255" imgH="259715" progId="Equation.3">
                  <p:embed/>
                </p:oleObj>
              </mc:Choice>
              <mc:Fallback>
                <p:oleObj name="公式" r:id="rId4" imgW="2675255" imgH="259715" progId="Equation.3">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43250" y="4652964"/>
                        <a:ext cx="572135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35945" name="Object 9"/>
          <p:cNvGraphicFramePr>
            <a:graphicFrameLocks noChangeAspect="1"/>
          </p:cNvGraphicFramePr>
          <p:nvPr/>
        </p:nvGraphicFramePr>
        <p:xfrm>
          <a:off x="2566988" y="1341439"/>
          <a:ext cx="3960812" cy="992187"/>
        </p:xfrm>
        <a:graphic>
          <a:graphicData uri="http://schemas.openxmlformats.org/presentationml/2006/ole">
            <mc:AlternateContent xmlns:mc="http://schemas.openxmlformats.org/markup-compatibility/2006">
              <mc:Choice xmlns:v="urn:schemas-microsoft-com:vml" Requires="v">
                <p:oleObj spid="_x0000_s3" name="公式" r:id="rId6" imgW="2043430" imgH="519430" progId="Equation.3">
                  <p:embed/>
                </p:oleObj>
              </mc:Choice>
              <mc:Fallback>
                <p:oleObj name="公式" r:id="rId6" imgW="2043430" imgH="519430" progId="Equation.3">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66988" y="1341439"/>
                        <a:ext cx="3960812" cy="992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35950" name="Object 14"/>
          <p:cNvGraphicFramePr>
            <a:graphicFrameLocks noChangeAspect="1"/>
          </p:cNvGraphicFramePr>
          <p:nvPr/>
        </p:nvGraphicFramePr>
        <p:xfrm>
          <a:off x="3071814" y="2565401"/>
          <a:ext cx="7246937" cy="1800225"/>
        </p:xfrm>
        <a:graphic>
          <a:graphicData uri="http://schemas.openxmlformats.org/presentationml/2006/ole">
            <mc:AlternateContent xmlns:mc="http://schemas.openxmlformats.org/markup-compatibility/2006">
              <mc:Choice xmlns:v="urn:schemas-microsoft-com:vml" Requires="v">
                <p:oleObj spid="_x0000_s4" name="公式" r:id="rId8" imgW="3364230" imgH="970915" progId="Equation.3">
                  <p:embed/>
                </p:oleObj>
              </mc:Choice>
              <mc:Fallback>
                <p:oleObj name="公式" r:id="rId8" imgW="3364230" imgH="970915" progId="Equation.3">
                  <p:embed/>
                  <p:pic>
                    <p:nvPicPr>
                      <p:cNvPr id="0" name="Object 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71814" y="2565401"/>
                        <a:ext cx="7246937"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35951" name="Rectangle 15"/>
          <p:cNvSpPr>
            <a:spLocks noChangeArrowheads="1"/>
          </p:cNvSpPr>
          <p:nvPr/>
        </p:nvSpPr>
        <p:spPr bwMode="auto">
          <a:xfrm>
            <a:off x="2063750" y="2686051"/>
            <a:ext cx="8953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20000"/>
              </a:spcBef>
            </a:pPr>
            <a:r>
              <a:rPr lang="zh-CN" altLang="en-US" sz="2800">
                <a:ea typeface="宋体" pitchFamily="2" charset="-122"/>
              </a:rPr>
              <a:t>所以</a:t>
            </a:r>
            <a:endParaRPr lang="zh-CN" altLang="en-US" sz="2800">
              <a:ea typeface="宋体"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35945"/>
                                        </p:tgtEl>
                                        <p:attrNameLst>
                                          <p:attrName>style.visibility</p:attrName>
                                        </p:attrNameLst>
                                      </p:cBhvr>
                                      <p:to>
                                        <p:strVal val="visible"/>
                                      </p:to>
                                    </p:set>
                                    <p:animEffect transition="in" filter="wipe(left)">
                                      <p:cBhvr>
                                        <p:cTn id="7" dur="500"/>
                                        <p:tgtEl>
                                          <p:spTgt spid="93594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935951"/>
                                        </p:tgtEl>
                                        <p:attrNameLst>
                                          <p:attrName>style.visibility</p:attrName>
                                        </p:attrNameLst>
                                      </p:cBhvr>
                                      <p:to>
                                        <p:strVal val="visible"/>
                                      </p:to>
                                    </p:set>
                                    <p:animEffect transition="in" filter="wipe(left)">
                                      <p:cBhvr>
                                        <p:cTn id="11" dur="500"/>
                                        <p:tgtEl>
                                          <p:spTgt spid="935951"/>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935950"/>
                                        </p:tgtEl>
                                        <p:attrNameLst>
                                          <p:attrName>style.visibility</p:attrName>
                                        </p:attrNameLst>
                                      </p:cBhvr>
                                      <p:to>
                                        <p:strVal val="visible"/>
                                      </p:to>
                                    </p:set>
                                    <p:animEffect transition="in" filter="wipe(left)">
                                      <p:cBhvr>
                                        <p:cTn id="16" dur="500"/>
                                        <p:tgtEl>
                                          <p:spTgt spid="93595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935944"/>
                                        </p:tgtEl>
                                        <p:attrNameLst>
                                          <p:attrName>style.visibility</p:attrName>
                                        </p:attrNameLst>
                                      </p:cBhvr>
                                      <p:to>
                                        <p:strVal val="visible"/>
                                      </p:to>
                                    </p:set>
                                    <p:animEffect transition="in" filter="wipe(left)">
                                      <p:cBhvr>
                                        <p:cTn id="21" dur="500"/>
                                        <p:tgtEl>
                                          <p:spTgt spid="9359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595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AutoShape 2">
            <a:hlinkClick r:id="" action="ppaction://hlinkshowjump?jump=previousslide" highlightClick="1"/>
          </p:cNvPr>
          <p:cNvSpPr>
            <a:spLocks noChangeArrowheads="1"/>
          </p:cNvSpPr>
          <p:nvPr/>
        </p:nvSpPr>
        <p:spPr bwMode="auto">
          <a:xfrm>
            <a:off x="9120189" y="6524625"/>
            <a:ext cx="287337" cy="215900"/>
          </a:xfrm>
          <a:prstGeom prst="actionButtonBackPrevious">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19459" name="AutoShape 3">
            <a:hlinkClick r:id="" action="ppaction://hlinkshowjump?jump=nextslide" highlightClick="1"/>
          </p:cNvPr>
          <p:cNvSpPr>
            <a:spLocks noChangeArrowheads="1"/>
          </p:cNvSpPr>
          <p:nvPr/>
        </p:nvSpPr>
        <p:spPr bwMode="auto">
          <a:xfrm>
            <a:off x="9407525" y="6524625"/>
            <a:ext cx="285750" cy="215900"/>
          </a:xfrm>
          <a:prstGeom prst="actionButtonForwardNex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19460" name="AutoShape 4">
            <a:hlinkClick r:id="" action="ppaction://hlinkshowjump?jump=firstslide" highlightClick="1"/>
          </p:cNvPr>
          <p:cNvSpPr>
            <a:spLocks noChangeArrowheads="1"/>
          </p:cNvSpPr>
          <p:nvPr/>
        </p:nvSpPr>
        <p:spPr bwMode="auto">
          <a:xfrm>
            <a:off x="9694864" y="6524625"/>
            <a:ext cx="287337" cy="215900"/>
          </a:xfrm>
          <a:prstGeom prst="actionButtonBeginning">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19461" name="AutoShape 5">
            <a:hlinkClick r:id="" action="ppaction://hlinkshowjump?jump=endshow" highlightClick="1"/>
          </p:cNvPr>
          <p:cNvSpPr>
            <a:spLocks noChangeArrowheads="1"/>
          </p:cNvSpPr>
          <p:nvPr/>
        </p:nvSpPr>
        <p:spPr bwMode="auto">
          <a:xfrm>
            <a:off x="9983789" y="6524625"/>
            <a:ext cx="287337" cy="215900"/>
          </a:xfrm>
          <a:prstGeom prst="actionButtonEnd">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19462" name="AutoShape 6">
            <a:hlinkClick r:id="rId1" action="ppaction://hlinksldjump" highlightClick="1"/>
          </p:cNvPr>
          <p:cNvSpPr>
            <a:spLocks noChangeArrowheads="1"/>
          </p:cNvSpPr>
          <p:nvPr/>
        </p:nvSpPr>
        <p:spPr bwMode="auto">
          <a:xfrm>
            <a:off x="10272714" y="6524625"/>
            <a:ext cx="288925" cy="215900"/>
          </a:xfrm>
          <a:prstGeom prst="actionButtonReturn">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graphicFrame>
        <p:nvGraphicFramePr>
          <p:cNvPr id="888839" name="Object 7"/>
          <p:cNvGraphicFramePr>
            <a:graphicFrameLocks noChangeAspect="1"/>
          </p:cNvGraphicFramePr>
          <p:nvPr/>
        </p:nvGraphicFramePr>
        <p:xfrm>
          <a:off x="2782888" y="1557338"/>
          <a:ext cx="5041900" cy="1065212"/>
        </p:xfrm>
        <a:graphic>
          <a:graphicData uri="http://schemas.openxmlformats.org/presentationml/2006/ole">
            <mc:AlternateContent xmlns:mc="http://schemas.openxmlformats.org/markup-compatibility/2006">
              <mc:Choice xmlns:v="urn:schemas-microsoft-com:vml" Requires="v">
                <p:oleObj spid="_x0000_s25601" name="公式" r:id="rId2" imgW="2653030" imgH="575945" progId="Equation.3">
                  <p:embed/>
                </p:oleObj>
              </mc:Choice>
              <mc:Fallback>
                <p:oleObj name="公式" r:id="rId2" imgW="2653030" imgH="575945" progId="Equation.3">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2888" y="1557338"/>
                        <a:ext cx="5041900" cy="106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464" name="Rectangle 9"/>
          <p:cNvSpPr>
            <a:spLocks noChangeArrowheads="1"/>
          </p:cNvSpPr>
          <p:nvPr/>
        </p:nvSpPr>
        <p:spPr bwMode="auto">
          <a:xfrm>
            <a:off x="2135189" y="404813"/>
            <a:ext cx="6808787" cy="957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20000"/>
              </a:spcBef>
            </a:pPr>
            <a:r>
              <a:rPr lang="en-US" altLang="zh-CN" sz="2800">
                <a:ea typeface="宋体" pitchFamily="2" charset="-122"/>
              </a:rPr>
              <a:t>       </a:t>
            </a:r>
            <a:r>
              <a:rPr lang="zh-CN" altLang="en-US" sz="2400">
                <a:latin typeface="楷体_GB2312" pitchFamily="49" charset="-122"/>
              </a:rPr>
              <a:t>当</a:t>
            </a:r>
            <a:r>
              <a:rPr lang="en-US" altLang="zh-CN" sz="2400" i="1"/>
              <a:t>y</a:t>
            </a:r>
            <a:r>
              <a:rPr lang="en-US" altLang="zh-CN" sz="2400"/>
              <a:t> </a:t>
            </a:r>
            <a:r>
              <a:rPr lang="zh-CN" altLang="en-US" sz="2400">
                <a:latin typeface="楷体_GB2312" pitchFamily="49" charset="-122"/>
              </a:rPr>
              <a:t>不是正态随机变量时，回归模型中的随机</a:t>
            </a:r>
            <a:endParaRPr lang="zh-CN" altLang="en-US" sz="2400">
              <a:latin typeface="楷体_GB2312" pitchFamily="49" charset="-122"/>
            </a:endParaRPr>
          </a:p>
          <a:p>
            <a:pPr eaLnBrk="1" hangingPunct="1">
              <a:spcBef>
                <a:spcPct val="20000"/>
              </a:spcBef>
            </a:pPr>
            <a:r>
              <a:rPr lang="zh-CN" altLang="en-US" sz="2400">
                <a:latin typeface="楷体_GB2312" pitchFamily="49" charset="-122"/>
              </a:rPr>
              <a:t>误差</a:t>
            </a:r>
            <a:r>
              <a:rPr lang="en-US" altLang="zh-CN" sz="2400" i="1"/>
              <a:t>e</a:t>
            </a:r>
            <a:r>
              <a:rPr lang="en-US" altLang="zh-CN" sz="2400" i="1" baseline="-25000"/>
              <a:t>i</a:t>
            </a:r>
            <a:r>
              <a:rPr lang="zh-CN" altLang="en-US" sz="2400">
                <a:latin typeface="楷体_GB2312" pitchFamily="49" charset="-122"/>
              </a:rPr>
              <a:t>满足以下的高斯－马尔可夫条件：</a:t>
            </a:r>
            <a:endParaRPr lang="zh-CN" altLang="en-US" sz="2400">
              <a:latin typeface="楷体_GB2312" pitchFamily="49" charset="-122"/>
            </a:endParaRPr>
          </a:p>
        </p:txBody>
      </p:sp>
      <p:sp>
        <p:nvSpPr>
          <p:cNvPr id="888848" name="Rectangle 16"/>
          <p:cNvSpPr>
            <a:spLocks noChangeArrowheads="1"/>
          </p:cNvSpPr>
          <p:nvPr/>
        </p:nvSpPr>
        <p:spPr bwMode="auto">
          <a:xfrm>
            <a:off x="2208213" y="2708276"/>
            <a:ext cx="32067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20000"/>
              </a:spcBef>
            </a:pPr>
            <a:r>
              <a:rPr lang="en-US" altLang="zh-CN" sz="2800">
                <a:ea typeface="宋体" pitchFamily="2" charset="-122"/>
              </a:rPr>
              <a:t>     </a:t>
            </a:r>
            <a:r>
              <a:rPr lang="zh-CN" altLang="en-US" sz="2400"/>
              <a:t>由上述条件，有</a:t>
            </a:r>
            <a:r>
              <a:rPr lang="zh-CN" altLang="en-US" sz="2800">
                <a:ea typeface="宋体" pitchFamily="2" charset="-122"/>
              </a:rPr>
              <a:t> ：</a:t>
            </a:r>
            <a:endParaRPr lang="zh-CN" altLang="en-US" sz="2800">
              <a:ea typeface="宋体" pitchFamily="2" charset="-122"/>
            </a:endParaRPr>
          </a:p>
        </p:txBody>
      </p:sp>
      <p:graphicFrame>
        <p:nvGraphicFramePr>
          <p:cNvPr id="888849" name="Object 17"/>
          <p:cNvGraphicFramePr>
            <a:graphicFrameLocks noGrp="1" noChangeAspect="1"/>
          </p:cNvGraphicFramePr>
          <p:nvPr>
            <p:ph sz="half" idx="1"/>
          </p:nvPr>
        </p:nvGraphicFramePr>
        <p:xfrm>
          <a:off x="2782888" y="3295650"/>
          <a:ext cx="5616575" cy="1062038"/>
        </p:xfrm>
        <a:graphic>
          <a:graphicData uri="http://schemas.openxmlformats.org/presentationml/2006/ole">
            <mc:AlternateContent xmlns:mc="http://schemas.openxmlformats.org/markup-compatibility/2006">
              <mc:Choice xmlns:v="urn:schemas-microsoft-com:vml" Requires="v">
                <p:oleObj spid="_x0000_s2" name="公式" r:id="rId4" imgW="3093085" imgH="575945" progId="Equation.3">
                  <p:embed/>
                </p:oleObj>
              </mc:Choice>
              <mc:Fallback>
                <p:oleObj name="公式" r:id="rId4" imgW="3093085" imgH="575945" progId="Equation.3">
                  <p:embed/>
                  <p:pic>
                    <p:nvPicPr>
                      <p:cNvPr id="0" name="Object 1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82888" y="3295650"/>
                        <a:ext cx="5616575" cy="1062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888858" name="Group 26"/>
          <p:cNvGrpSpPr/>
          <p:nvPr/>
        </p:nvGrpSpPr>
        <p:grpSpPr bwMode="auto">
          <a:xfrm>
            <a:off x="2208782" y="4425788"/>
            <a:ext cx="9110858" cy="1383670"/>
            <a:chOff x="616" y="2782"/>
            <a:chExt cx="5271" cy="924"/>
          </a:xfrm>
        </p:grpSpPr>
        <p:graphicFrame>
          <p:nvGraphicFramePr>
            <p:cNvPr id="19468" name="Object 20"/>
            <p:cNvGraphicFramePr>
              <a:graphicFrameLocks noChangeAspect="1"/>
            </p:cNvGraphicFramePr>
            <p:nvPr/>
          </p:nvGraphicFramePr>
          <p:xfrm>
            <a:off x="2948" y="3068"/>
            <a:ext cx="363" cy="345"/>
          </p:xfrm>
          <a:graphic>
            <a:graphicData uri="http://schemas.openxmlformats.org/presentationml/2006/ole">
              <mc:AlternateContent xmlns:mc="http://schemas.openxmlformats.org/markup-compatibility/2006">
                <mc:Choice xmlns:v="urn:schemas-microsoft-com:vml" Requires="v">
                  <p:oleObj spid="_x0000_s3" name="公式" r:id="rId6" imgW="281940" imgH="259715" progId="Equation.3">
                    <p:embed/>
                  </p:oleObj>
                </mc:Choice>
                <mc:Fallback>
                  <p:oleObj name="公式" r:id="rId6" imgW="281940" imgH="259715" progId="Equation.3">
                    <p:embed/>
                    <p:pic>
                      <p:nvPicPr>
                        <p:cNvPr id="0" name="Object 2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48" y="3068"/>
                          <a:ext cx="363" cy="3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69" name="Rectangle 19"/>
            <p:cNvSpPr>
              <a:spLocks noChangeArrowheads="1"/>
            </p:cNvSpPr>
            <p:nvPr/>
          </p:nvSpPr>
          <p:spPr bwMode="auto">
            <a:xfrm>
              <a:off x="616" y="2782"/>
              <a:ext cx="5271" cy="9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20000"/>
                </a:spcBef>
              </a:pPr>
              <a:r>
                <a:rPr lang="en-US" altLang="zh-CN" sz="2800" dirty="0">
                  <a:ea typeface="宋体" pitchFamily="2" charset="-122"/>
                </a:rPr>
                <a:t>       </a:t>
              </a:r>
              <a:r>
                <a:rPr lang="zh-CN" altLang="en-US" sz="2800" dirty="0">
                  <a:latin typeface="楷体_GB2312" pitchFamily="49" charset="-122"/>
                </a:rPr>
                <a:t>当</a:t>
              </a:r>
              <a:r>
                <a:rPr lang="en-US" altLang="zh-CN" sz="2800" i="1" dirty="0"/>
                <a:t>y</a:t>
              </a:r>
              <a:r>
                <a:rPr lang="en-US" altLang="zh-CN" sz="2800" dirty="0">
                  <a:latin typeface="楷体_GB2312" pitchFamily="49" charset="-122"/>
                </a:rPr>
                <a:t> </a:t>
              </a:r>
              <a:r>
                <a:rPr lang="zh-CN" altLang="en-US" sz="2800" dirty="0">
                  <a:latin typeface="楷体_GB2312" pitchFamily="49" charset="-122"/>
                </a:rPr>
                <a:t>不是正态随机变量时，仍可用最小二乘法得  到     ，在上述条件下       分别是</a:t>
              </a:r>
              <a:r>
                <a:rPr lang="en-US" altLang="zh-CN" sz="2800" i="1" dirty="0" err="1"/>
                <a:t>a</a:t>
              </a:r>
              <a:r>
                <a:rPr lang="en-US" altLang="zh-CN" sz="2800" dirty="0" err="1"/>
                <a:t>,</a:t>
              </a:r>
              <a:r>
                <a:rPr lang="en-US" altLang="zh-CN" sz="2800" i="1" dirty="0" err="1"/>
                <a:t>b</a:t>
              </a:r>
              <a:r>
                <a:rPr lang="zh-CN" altLang="en-US" sz="2800" dirty="0">
                  <a:latin typeface="楷体_GB2312" pitchFamily="49" charset="-122"/>
                </a:rPr>
                <a:t>的最佳无偏估计。</a:t>
              </a:r>
              <a:endParaRPr lang="zh-CN" altLang="en-US" sz="2800" dirty="0">
                <a:latin typeface="楷体_GB2312" pitchFamily="49" charset="-122"/>
              </a:endParaRPr>
            </a:p>
          </p:txBody>
        </p:sp>
        <p:graphicFrame>
          <p:nvGraphicFramePr>
            <p:cNvPr id="19470" name="Object 23"/>
            <p:cNvGraphicFramePr>
              <a:graphicFrameLocks noChangeAspect="1"/>
            </p:cNvGraphicFramePr>
            <p:nvPr/>
          </p:nvGraphicFramePr>
          <p:xfrm>
            <a:off x="948" y="3100"/>
            <a:ext cx="363" cy="345"/>
          </p:xfrm>
          <a:graphic>
            <a:graphicData uri="http://schemas.openxmlformats.org/presentationml/2006/ole">
              <mc:AlternateContent xmlns:mc="http://schemas.openxmlformats.org/markup-compatibility/2006">
                <mc:Choice xmlns:v="urn:schemas-microsoft-com:vml" Requires="v">
                  <p:oleObj spid="_x0000_s4" name="公式" r:id="rId8" imgW="281940" imgH="259715" progId="Equation.3">
                    <p:embed/>
                  </p:oleObj>
                </mc:Choice>
                <mc:Fallback>
                  <p:oleObj name="公式" r:id="rId8" imgW="281940" imgH="259715" progId="Equation.3">
                    <p:embed/>
                    <p:pic>
                      <p:nvPicPr>
                        <p:cNvPr id="0" name="Object 2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48" y="3100"/>
                          <a:ext cx="363" cy="3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88839"/>
                                        </p:tgtEl>
                                        <p:attrNameLst>
                                          <p:attrName>style.visibility</p:attrName>
                                        </p:attrNameLst>
                                      </p:cBhvr>
                                      <p:to>
                                        <p:strVal val="visible"/>
                                      </p:to>
                                    </p:set>
                                    <p:animEffect transition="in" filter="wipe(left)">
                                      <p:cBhvr>
                                        <p:cTn id="7" dur="500"/>
                                        <p:tgtEl>
                                          <p:spTgt spid="88883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88848"/>
                                        </p:tgtEl>
                                        <p:attrNameLst>
                                          <p:attrName>style.visibility</p:attrName>
                                        </p:attrNameLst>
                                      </p:cBhvr>
                                      <p:to>
                                        <p:strVal val="visible"/>
                                      </p:to>
                                    </p:set>
                                    <p:animEffect transition="in" filter="wipe(left)">
                                      <p:cBhvr>
                                        <p:cTn id="12" dur="500"/>
                                        <p:tgtEl>
                                          <p:spTgt spid="88884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88849"/>
                                        </p:tgtEl>
                                        <p:attrNameLst>
                                          <p:attrName>style.visibility</p:attrName>
                                        </p:attrNameLst>
                                      </p:cBhvr>
                                      <p:to>
                                        <p:strVal val="visible"/>
                                      </p:to>
                                    </p:set>
                                    <p:animEffect transition="in" filter="wipe(left)">
                                      <p:cBhvr>
                                        <p:cTn id="17" dur="500"/>
                                        <p:tgtEl>
                                          <p:spTgt spid="88884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88858"/>
                                        </p:tgtEl>
                                        <p:attrNameLst>
                                          <p:attrName>style.visibility</p:attrName>
                                        </p:attrNameLst>
                                      </p:cBhvr>
                                      <p:to>
                                        <p:strVal val="visible"/>
                                      </p:to>
                                    </p:set>
                                    <p:animEffect transition="in" filter="wipe(left)">
                                      <p:cBhvr>
                                        <p:cTn id="22" dur="500"/>
                                        <p:tgtEl>
                                          <p:spTgt spid="8888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884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AutoShape 2">
            <a:hlinkClick r:id="" action="ppaction://hlinkshowjump?jump=previousslide" highlightClick="1"/>
          </p:cNvPr>
          <p:cNvSpPr>
            <a:spLocks noChangeArrowheads="1"/>
          </p:cNvSpPr>
          <p:nvPr/>
        </p:nvSpPr>
        <p:spPr bwMode="auto">
          <a:xfrm>
            <a:off x="9120189" y="6524625"/>
            <a:ext cx="287337" cy="215900"/>
          </a:xfrm>
          <a:prstGeom prst="actionButtonBackPrevious">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20483" name="AutoShape 3">
            <a:hlinkClick r:id="" action="ppaction://hlinkshowjump?jump=nextslide" highlightClick="1"/>
          </p:cNvPr>
          <p:cNvSpPr>
            <a:spLocks noChangeArrowheads="1"/>
          </p:cNvSpPr>
          <p:nvPr/>
        </p:nvSpPr>
        <p:spPr bwMode="auto">
          <a:xfrm>
            <a:off x="9407525" y="6524625"/>
            <a:ext cx="285750" cy="215900"/>
          </a:xfrm>
          <a:prstGeom prst="actionButtonForwardNex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20484" name="AutoShape 4">
            <a:hlinkClick r:id="" action="ppaction://hlinkshowjump?jump=firstslide" highlightClick="1"/>
          </p:cNvPr>
          <p:cNvSpPr>
            <a:spLocks noChangeArrowheads="1"/>
          </p:cNvSpPr>
          <p:nvPr/>
        </p:nvSpPr>
        <p:spPr bwMode="auto">
          <a:xfrm>
            <a:off x="9694864" y="6524625"/>
            <a:ext cx="287337" cy="215900"/>
          </a:xfrm>
          <a:prstGeom prst="actionButtonBeginning">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20485" name="AutoShape 5">
            <a:hlinkClick r:id="" action="ppaction://hlinkshowjump?jump=endshow" highlightClick="1"/>
          </p:cNvPr>
          <p:cNvSpPr>
            <a:spLocks noChangeArrowheads="1"/>
          </p:cNvSpPr>
          <p:nvPr/>
        </p:nvSpPr>
        <p:spPr bwMode="auto">
          <a:xfrm>
            <a:off x="9983789" y="6524625"/>
            <a:ext cx="287337" cy="215900"/>
          </a:xfrm>
          <a:prstGeom prst="actionButtonEnd">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20486" name="AutoShape 6">
            <a:hlinkClick r:id="rId1" action="ppaction://hlinksldjump" highlightClick="1"/>
          </p:cNvPr>
          <p:cNvSpPr>
            <a:spLocks noChangeArrowheads="1"/>
          </p:cNvSpPr>
          <p:nvPr/>
        </p:nvSpPr>
        <p:spPr bwMode="auto">
          <a:xfrm>
            <a:off x="10272714" y="6524625"/>
            <a:ext cx="288925" cy="215900"/>
          </a:xfrm>
          <a:prstGeom prst="actionButtonReturn">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20487" name="Rectangle 10"/>
          <p:cNvSpPr>
            <a:spLocks noChangeArrowheads="1"/>
          </p:cNvSpPr>
          <p:nvPr/>
        </p:nvSpPr>
        <p:spPr bwMode="auto">
          <a:xfrm>
            <a:off x="2063750" y="-100013"/>
            <a:ext cx="3671888" cy="914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en-US" altLang="zh-CN" sz="2800">
                <a:solidFill>
                  <a:srgbClr val="0000FF"/>
                </a:solidFill>
                <a:latin typeface="楷体_GB2312" pitchFamily="49" charset="-122"/>
              </a:rPr>
              <a:t>2</a:t>
            </a:r>
            <a:r>
              <a:rPr lang="zh-CN" altLang="en-US" sz="2800">
                <a:solidFill>
                  <a:srgbClr val="0000FF"/>
                </a:solidFill>
                <a:latin typeface="楷体_GB2312" pitchFamily="49" charset="-122"/>
              </a:rPr>
              <a:t>、 极大似然法</a:t>
            </a:r>
            <a:endParaRPr lang="zh-CN" altLang="en-US" sz="2800">
              <a:solidFill>
                <a:srgbClr val="0000FF"/>
              </a:solidFill>
              <a:latin typeface="楷体_GB2312" pitchFamily="49" charset="-122"/>
            </a:endParaRPr>
          </a:p>
        </p:txBody>
      </p:sp>
      <p:graphicFrame>
        <p:nvGraphicFramePr>
          <p:cNvPr id="874518" name="Object 22"/>
          <p:cNvGraphicFramePr>
            <a:graphicFrameLocks noChangeAspect="1"/>
          </p:cNvGraphicFramePr>
          <p:nvPr/>
        </p:nvGraphicFramePr>
        <p:xfrm>
          <a:off x="2424114" y="3929064"/>
          <a:ext cx="6715125" cy="1152525"/>
        </p:xfrm>
        <a:graphic>
          <a:graphicData uri="http://schemas.openxmlformats.org/presentationml/2006/ole">
            <mc:AlternateContent xmlns:mc="http://schemas.openxmlformats.org/markup-compatibility/2006">
              <mc:Choice xmlns:v="urn:schemas-microsoft-com:vml" Requires="v">
                <p:oleObj spid="_x0000_s25601" name="公式" r:id="rId2" imgW="3228340" imgH="575945" progId="Equation.3">
                  <p:embed/>
                </p:oleObj>
              </mc:Choice>
              <mc:Fallback>
                <p:oleObj name="公式" r:id="rId2" imgW="3228340" imgH="575945" progId="Equation.3">
                  <p:embed/>
                  <p:pic>
                    <p:nvPicPr>
                      <p:cNvPr id="0" name="Object 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4114" y="3929064"/>
                        <a:ext cx="671512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74519" name="Rectangle 23"/>
          <p:cNvSpPr>
            <a:spLocks noChangeArrowheads="1"/>
          </p:cNvSpPr>
          <p:nvPr/>
        </p:nvSpPr>
        <p:spPr bwMode="auto">
          <a:xfrm>
            <a:off x="2324101" y="692151"/>
            <a:ext cx="532709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zh-CN" altLang="en-US" sz="2800" dirty="0">
                <a:latin typeface="楷体_GB2312" pitchFamily="49" charset="-122"/>
              </a:rPr>
              <a:t>若 </a:t>
            </a:r>
            <a:r>
              <a:rPr lang="en-US" altLang="zh-CN" sz="2800" i="1" dirty="0"/>
              <a:t>x</a:t>
            </a:r>
            <a:r>
              <a:rPr lang="zh-CN" altLang="en-US" sz="2800" dirty="0">
                <a:latin typeface="楷体_GB2312" pitchFamily="49" charset="-122"/>
              </a:rPr>
              <a:t>与</a:t>
            </a:r>
            <a:r>
              <a:rPr lang="en-US" altLang="zh-CN" sz="2800" i="1" dirty="0"/>
              <a:t>y</a:t>
            </a:r>
            <a:r>
              <a:rPr lang="zh-CN" altLang="en-US" sz="2800" dirty="0">
                <a:latin typeface="楷体_GB2312" pitchFamily="49" charset="-122"/>
              </a:rPr>
              <a:t>之间的依赖关系可表示为</a:t>
            </a:r>
            <a:endParaRPr lang="zh-CN" altLang="en-US" sz="2800" dirty="0">
              <a:latin typeface="楷体_GB2312" pitchFamily="49" charset="-122"/>
            </a:endParaRPr>
          </a:p>
        </p:txBody>
      </p:sp>
      <p:grpSp>
        <p:nvGrpSpPr>
          <p:cNvPr id="874520" name="Group 24"/>
          <p:cNvGrpSpPr/>
          <p:nvPr/>
        </p:nvGrpSpPr>
        <p:grpSpPr bwMode="auto">
          <a:xfrm>
            <a:off x="3000376" y="1323977"/>
            <a:ext cx="3565525" cy="1241425"/>
            <a:chOff x="1859" y="3353"/>
            <a:chExt cx="2246" cy="782"/>
          </a:xfrm>
        </p:grpSpPr>
        <p:graphicFrame>
          <p:nvGraphicFramePr>
            <p:cNvPr id="20496" name="Object 25"/>
            <p:cNvGraphicFramePr>
              <a:graphicFrameLocks noChangeAspect="1"/>
            </p:cNvGraphicFramePr>
            <p:nvPr/>
          </p:nvGraphicFramePr>
          <p:xfrm>
            <a:off x="1859" y="3353"/>
            <a:ext cx="1489" cy="782"/>
          </p:xfrm>
          <a:graphic>
            <a:graphicData uri="http://schemas.openxmlformats.org/presentationml/2006/ole">
              <mc:AlternateContent xmlns:mc="http://schemas.openxmlformats.org/markup-compatibility/2006">
                <mc:Choice xmlns:v="urn:schemas-microsoft-com:vml" Requires="v">
                  <p:oleObj spid="_x0000_s2" name="公式" r:id="rId4" imgW="1117600" imgH="553085" progId="Equation.3">
                    <p:embed/>
                  </p:oleObj>
                </mc:Choice>
                <mc:Fallback>
                  <p:oleObj name="公式" r:id="rId4" imgW="1117600" imgH="553085" progId="Equation.3">
                    <p:embed/>
                    <p:pic>
                      <p:nvPicPr>
                        <p:cNvPr id="0" name="Object 2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59" y="3353"/>
                          <a:ext cx="1489" cy="7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497" name="Text Box 26"/>
            <p:cNvSpPr txBox="1">
              <a:spLocks noChangeArrowheads="1"/>
            </p:cNvSpPr>
            <p:nvPr/>
          </p:nvSpPr>
          <p:spPr bwMode="auto">
            <a:xfrm>
              <a:off x="3696" y="3581"/>
              <a:ext cx="40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r>
                <a:rPr lang="en-US" altLang="zh-CN" sz="2800" dirty="0">
                  <a:solidFill>
                    <a:schemeClr val="accent2"/>
                  </a:solidFill>
                  <a:ea typeface="宋体" pitchFamily="2" charset="-122"/>
                </a:rPr>
                <a:t>(1)</a:t>
              </a:r>
              <a:endParaRPr lang="en-US" altLang="zh-CN" sz="2800" dirty="0">
                <a:solidFill>
                  <a:schemeClr val="accent2"/>
                </a:solidFill>
                <a:ea typeface="宋体" pitchFamily="2" charset="-122"/>
              </a:endParaRPr>
            </a:p>
          </p:txBody>
        </p:sp>
      </p:grpSp>
      <p:grpSp>
        <p:nvGrpSpPr>
          <p:cNvPr id="874532" name="Group 36"/>
          <p:cNvGrpSpPr/>
          <p:nvPr/>
        </p:nvGrpSpPr>
        <p:grpSpPr bwMode="auto">
          <a:xfrm>
            <a:off x="2495551" y="2579688"/>
            <a:ext cx="4075113" cy="558800"/>
            <a:chOff x="385" y="2931"/>
            <a:chExt cx="2567" cy="352"/>
          </a:xfrm>
        </p:grpSpPr>
        <p:graphicFrame>
          <p:nvGraphicFramePr>
            <p:cNvPr id="20494" name="Object 37"/>
            <p:cNvGraphicFramePr>
              <a:graphicFrameLocks noChangeAspect="1"/>
            </p:cNvGraphicFramePr>
            <p:nvPr/>
          </p:nvGraphicFramePr>
          <p:xfrm>
            <a:off x="1166" y="2931"/>
            <a:ext cx="1786" cy="352"/>
          </p:xfrm>
          <a:graphic>
            <a:graphicData uri="http://schemas.openxmlformats.org/presentationml/2006/ole">
              <mc:AlternateContent xmlns:mc="http://schemas.openxmlformats.org/markup-compatibility/2006">
                <mc:Choice xmlns:v="urn:schemas-microsoft-com:vml" Requires="v">
                  <p:oleObj spid="_x0000_s3" name="公式" r:id="rId6" imgW="1287145" imgH="248285" progId="Equation.3">
                    <p:embed/>
                  </p:oleObj>
                </mc:Choice>
                <mc:Fallback>
                  <p:oleObj name="公式" r:id="rId6" imgW="1287145" imgH="248285" progId="Equation.3">
                    <p:embed/>
                    <p:pic>
                      <p:nvPicPr>
                        <p:cNvPr id="0" name="Object 3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66" y="2931"/>
                          <a:ext cx="1786"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495" name="Rectangle 38"/>
            <p:cNvSpPr>
              <a:spLocks noChangeArrowheads="1"/>
            </p:cNvSpPr>
            <p:nvPr/>
          </p:nvSpPr>
          <p:spPr bwMode="auto">
            <a:xfrm>
              <a:off x="385" y="2955"/>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zh-CN" altLang="en-US" sz="2400"/>
                <a:t>则</a:t>
              </a:r>
              <a:endParaRPr lang="zh-CN" altLang="en-US" sz="2400"/>
            </a:p>
          </p:txBody>
        </p:sp>
      </p:grpSp>
      <p:sp>
        <p:nvSpPr>
          <p:cNvPr id="874535" name="Rectangle 39"/>
          <p:cNvSpPr>
            <a:spLocks noChangeArrowheads="1"/>
          </p:cNvSpPr>
          <p:nvPr/>
        </p:nvSpPr>
        <p:spPr bwMode="auto">
          <a:xfrm>
            <a:off x="2135189" y="3351214"/>
            <a:ext cx="8188325" cy="433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lnSpc>
                <a:spcPct val="80000"/>
              </a:lnSpc>
              <a:spcBef>
                <a:spcPct val="20000"/>
              </a:spcBef>
            </a:pPr>
            <a:r>
              <a:rPr lang="zh-CN" altLang="en-US" sz="2800" dirty="0">
                <a:latin typeface="楷体_GB2312" pitchFamily="49" charset="-122"/>
              </a:rPr>
              <a:t>对于</a:t>
            </a:r>
            <a:r>
              <a:rPr lang="zh-CN" altLang="en-US" sz="2800" dirty="0"/>
              <a:t>（</a:t>
            </a:r>
            <a:r>
              <a:rPr lang="en-US" altLang="zh-CN" sz="2800" i="1" dirty="0"/>
              <a:t>x</a:t>
            </a:r>
            <a:r>
              <a:rPr lang="en-US" altLang="zh-CN" sz="2800" dirty="0"/>
              <a:t>, </a:t>
            </a:r>
            <a:r>
              <a:rPr lang="en-US" altLang="zh-CN" sz="2800" i="1" dirty="0"/>
              <a:t>y</a:t>
            </a:r>
            <a:r>
              <a:rPr lang="zh-CN" altLang="en-US" sz="2800" dirty="0"/>
              <a:t>）</a:t>
            </a:r>
            <a:r>
              <a:rPr lang="zh-CN" altLang="en-US" sz="2800" dirty="0">
                <a:latin typeface="楷体_GB2312" pitchFamily="49" charset="-122"/>
              </a:rPr>
              <a:t>的样本</a:t>
            </a:r>
            <a:r>
              <a:rPr lang="zh-CN" altLang="en-US" sz="2800" dirty="0"/>
              <a:t>（</a:t>
            </a:r>
            <a:r>
              <a:rPr lang="en-US" altLang="zh-CN" sz="2800" i="1" dirty="0"/>
              <a:t>x</a:t>
            </a:r>
            <a:r>
              <a:rPr lang="en-US" altLang="zh-CN" sz="2800" baseline="-25000" dirty="0"/>
              <a:t>1</a:t>
            </a:r>
            <a:r>
              <a:rPr lang="zh-CN" altLang="en-US" sz="2800" dirty="0"/>
              <a:t>，</a:t>
            </a:r>
            <a:r>
              <a:rPr lang="en-US" altLang="zh-CN" sz="2800" i="1" dirty="0"/>
              <a:t>y</a:t>
            </a:r>
            <a:r>
              <a:rPr lang="en-US" altLang="zh-CN" sz="2800" baseline="-25000" dirty="0"/>
              <a:t>1</a:t>
            </a:r>
            <a:r>
              <a:rPr lang="zh-CN" altLang="en-US" sz="2800" dirty="0"/>
              <a:t>），</a:t>
            </a:r>
            <a:r>
              <a:rPr lang="en-US" altLang="zh-CN" sz="2800" dirty="0"/>
              <a:t>…</a:t>
            </a:r>
            <a:r>
              <a:rPr lang="zh-CN" altLang="en-US" sz="2800" dirty="0"/>
              <a:t>，（</a:t>
            </a:r>
            <a:r>
              <a:rPr lang="en-US" altLang="zh-CN" sz="2800" i="1" dirty="0" err="1"/>
              <a:t>x</a:t>
            </a:r>
            <a:r>
              <a:rPr lang="en-US" altLang="zh-CN" sz="2800" i="1" baseline="-25000" dirty="0" err="1"/>
              <a:t>n</a:t>
            </a:r>
            <a:r>
              <a:rPr lang="zh-CN" altLang="en-US" sz="2800" dirty="0"/>
              <a:t>，</a:t>
            </a:r>
            <a:r>
              <a:rPr lang="en-US" altLang="zh-CN" sz="2800" i="1" dirty="0" err="1"/>
              <a:t>y</a:t>
            </a:r>
            <a:r>
              <a:rPr lang="en-US" altLang="zh-CN" sz="2800" i="1" baseline="-25000" dirty="0" err="1"/>
              <a:t>n</a:t>
            </a:r>
            <a:r>
              <a:rPr lang="zh-CN" altLang="en-US" sz="2800" dirty="0"/>
              <a:t>）</a:t>
            </a:r>
            <a:r>
              <a:rPr lang="zh-CN" altLang="en-US" sz="2800" dirty="0">
                <a:latin typeface="楷体_GB2312" pitchFamily="49" charset="-122"/>
              </a:rPr>
              <a:t>有：</a:t>
            </a:r>
            <a:endParaRPr lang="zh-CN" altLang="en-US" sz="2800" dirty="0">
              <a:latin typeface="楷体_GB2312" pitchFamily="49" charset="-122"/>
            </a:endParaRPr>
          </a:p>
        </p:txBody>
      </p:sp>
      <p:sp>
        <p:nvSpPr>
          <p:cNvPr id="874539" name="Rectangle 43"/>
          <p:cNvSpPr>
            <a:spLocks noChangeArrowheads="1"/>
          </p:cNvSpPr>
          <p:nvPr/>
        </p:nvSpPr>
        <p:spPr bwMode="auto">
          <a:xfrm>
            <a:off x="2424113" y="5387975"/>
            <a:ext cx="2317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zh-CN" altLang="en-US" sz="2400"/>
              <a:t>于是似然函数为</a:t>
            </a:r>
            <a:endParaRPr lang="zh-CN" altLang="en-US" sz="24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74519"/>
                                        </p:tgtEl>
                                        <p:attrNameLst>
                                          <p:attrName>style.visibility</p:attrName>
                                        </p:attrNameLst>
                                      </p:cBhvr>
                                      <p:to>
                                        <p:strVal val="visible"/>
                                      </p:to>
                                    </p:set>
                                    <p:animEffect transition="in" filter="wipe(left)">
                                      <p:cBhvr>
                                        <p:cTn id="7" dur="500"/>
                                        <p:tgtEl>
                                          <p:spTgt spid="87451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74520"/>
                                        </p:tgtEl>
                                        <p:attrNameLst>
                                          <p:attrName>style.visibility</p:attrName>
                                        </p:attrNameLst>
                                      </p:cBhvr>
                                      <p:to>
                                        <p:strVal val="visible"/>
                                      </p:to>
                                    </p:set>
                                    <p:animEffect transition="in" filter="wipe(left)">
                                      <p:cBhvr>
                                        <p:cTn id="12" dur="500"/>
                                        <p:tgtEl>
                                          <p:spTgt spid="87452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74532"/>
                                        </p:tgtEl>
                                        <p:attrNameLst>
                                          <p:attrName>style.visibility</p:attrName>
                                        </p:attrNameLst>
                                      </p:cBhvr>
                                      <p:to>
                                        <p:strVal val="visible"/>
                                      </p:to>
                                    </p:set>
                                    <p:animEffect transition="in" filter="wipe(left)">
                                      <p:cBhvr>
                                        <p:cTn id="17" dur="500"/>
                                        <p:tgtEl>
                                          <p:spTgt spid="87453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74535"/>
                                        </p:tgtEl>
                                        <p:attrNameLst>
                                          <p:attrName>style.visibility</p:attrName>
                                        </p:attrNameLst>
                                      </p:cBhvr>
                                      <p:to>
                                        <p:strVal val="visible"/>
                                      </p:to>
                                    </p:set>
                                    <p:animEffect transition="in" filter="wipe(left)">
                                      <p:cBhvr>
                                        <p:cTn id="22" dur="500"/>
                                        <p:tgtEl>
                                          <p:spTgt spid="87453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74518"/>
                                        </p:tgtEl>
                                        <p:attrNameLst>
                                          <p:attrName>style.visibility</p:attrName>
                                        </p:attrNameLst>
                                      </p:cBhvr>
                                      <p:to>
                                        <p:strVal val="visible"/>
                                      </p:to>
                                    </p:set>
                                    <p:animEffect transition="in" filter="wipe(left)">
                                      <p:cBhvr>
                                        <p:cTn id="27" dur="500"/>
                                        <p:tgtEl>
                                          <p:spTgt spid="874518"/>
                                        </p:tgtEl>
                                      </p:cBhvr>
                                    </p:animEffect>
                                  </p:childTnLst>
                                </p:cTn>
                              </p:par>
                            </p:childTnLst>
                          </p:cTn>
                        </p:par>
                        <p:par>
                          <p:cTn id="28" fill="hold">
                            <p:stCondLst>
                              <p:cond delay="500"/>
                            </p:stCondLst>
                            <p:childTnLst>
                              <p:par>
                                <p:cTn id="29" presetID="22" presetClass="entr" presetSubtype="8" fill="hold" grpId="0" nodeType="afterEffect">
                                  <p:stCondLst>
                                    <p:cond delay="0"/>
                                  </p:stCondLst>
                                  <p:childTnLst>
                                    <p:set>
                                      <p:cBhvr>
                                        <p:cTn id="30" dur="1" fill="hold">
                                          <p:stCondLst>
                                            <p:cond delay="0"/>
                                          </p:stCondLst>
                                        </p:cTn>
                                        <p:tgtEl>
                                          <p:spTgt spid="874539"/>
                                        </p:tgtEl>
                                        <p:attrNameLst>
                                          <p:attrName>style.visibility</p:attrName>
                                        </p:attrNameLst>
                                      </p:cBhvr>
                                      <p:to>
                                        <p:strVal val="visible"/>
                                      </p:to>
                                    </p:set>
                                    <p:animEffect transition="in" filter="wipe(left)">
                                      <p:cBhvr>
                                        <p:cTn id="31" dur="500"/>
                                        <p:tgtEl>
                                          <p:spTgt spid="8745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4519" grpId="0"/>
      <p:bldP spid="874535" grpId="0"/>
      <p:bldP spid="87453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AutoShape 2">
            <a:hlinkClick r:id="" action="ppaction://hlinkshowjump?jump=previousslide" highlightClick="1"/>
          </p:cNvPr>
          <p:cNvSpPr>
            <a:spLocks noChangeArrowheads="1"/>
          </p:cNvSpPr>
          <p:nvPr/>
        </p:nvSpPr>
        <p:spPr bwMode="auto">
          <a:xfrm>
            <a:off x="9120189" y="6524625"/>
            <a:ext cx="287337" cy="215900"/>
          </a:xfrm>
          <a:prstGeom prst="actionButtonBackPrevious">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21507" name="AutoShape 3">
            <a:hlinkClick r:id="" action="ppaction://hlinkshowjump?jump=nextslide" highlightClick="1"/>
          </p:cNvPr>
          <p:cNvSpPr>
            <a:spLocks noChangeArrowheads="1"/>
          </p:cNvSpPr>
          <p:nvPr/>
        </p:nvSpPr>
        <p:spPr bwMode="auto">
          <a:xfrm>
            <a:off x="9407525" y="6524625"/>
            <a:ext cx="285750" cy="215900"/>
          </a:xfrm>
          <a:prstGeom prst="actionButtonForwardNex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21508" name="AutoShape 4">
            <a:hlinkClick r:id="" action="ppaction://hlinkshowjump?jump=firstslide" highlightClick="1"/>
          </p:cNvPr>
          <p:cNvSpPr>
            <a:spLocks noChangeArrowheads="1"/>
          </p:cNvSpPr>
          <p:nvPr/>
        </p:nvSpPr>
        <p:spPr bwMode="auto">
          <a:xfrm>
            <a:off x="9694864" y="6524625"/>
            <a:ext cx="287337" cy="215900"/>
          </a:xfrm>
          <a:prstGeom prst="actionButtonBeginning">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21509" name="AutoShape 5">
            <a:hlinkClick r:id="" action="ppaction://hlinkshowjump?jump=endshow" highlightClick="1"/>
          </p:cNvPr>
          <p:cNvSpPr>
            <a:spLocks noChangeArrowheads="1"/>
          </p:cNvSpPr>
          <p:nvPr/>
        </p:nvSpPr>
        <p:spPr bwMode="auto">
          <a:xfrm>
            <a:off x="9983789" y="6524625"/>
            <a:ext cx="287337" cy="215900"/>
          </a:xfrm>
          <a:prstGeom prst="actionButtonEnd">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21510" name="AutoShape 6">
            <a:hlinkClick r:id="rId1" action="ppaction://hlinksldjump" highlightClick="1"/>
          </p:cNvPr>
          <p:cNvSpPr>
            <a:spLocks noChangeArrowheads="1"/>
          </p:cNvSpPr>
          <p:nvPr/>
        </p:nvSpPr>
        <p:spPr bwMode="auto">
          <a:xfrm>
            <a:off x="10272714" y="6524625"/>
            <a:ext cx="288925" cy="215900"/>
          </a:xfrm>
          <a:prstGeom prst="actionButtonReturn">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graphicFrame>
        <p:nvGraphicFramePr>
          <p:cNvPr id="875527" name="Object 7"/>
          <p:cNvGraphicFramePr>
            <a:graphicFrameLocks noGrp="1" noChangeAspect="1"/>
          </p:cNvGraphicFramePr>
          <p:nvPr>
            <p:ph/>
          </p:nvPr>
        </p:nvGraphicFramePr>
        <p:xfrm>
          <a:off x="2495550" y="577850"/>
          <a:ext cx="6696075" cy="2020888"/>
        </p:xfrm>
        <a:graphic>
          <a:graphicData uri="http://schemas.openxmlformats.org/presentationml/2006/ole">
            <mc:AlternateContent xmlns:mc="http://schemas.openxmlformats.org/markup-compatibility/2006">
              <mc:Choice xmlns:v="urn:schemas-microsoft-com:vml" Requires="v">
                <p:oleObj spid="_x0000_s25601" name="公式" r:id="rId2" imgW="2946400" imgH="889000" progId="Equation.3">
                  <p:embed/>
                </p:oleObj>
              </mc:Choice>
              <mc:Fallback>
                <p:oleObj name="公式" r:id="rId2" imgW="2946400" imgH="889000" progId="Equation.3">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5550" y="577850"/>
                        <a:ext cx="6696075" cy="2020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875529" name="Group 9"/>
          <p:cNvGrpSpPr/>
          <p:nvPr/>
        </p:nvGrpSpPr>
        <p:grpSpPr bwMode="auto">
          <a:xfrm>
            <a:off x="2351088" y="2997201"/>
            <a:ext cx="5905500" cy="936625"/>
            <a:chOff x="431" y="1389"/>
            <a:chExt cx="3784" cy="648"/>
          </a:xfrm>
        </p:grpSpPr>
        <p:graphicFrame>
          <p:nvGraphicFramePr>
            <p:cNvPr id="21514" name="Object 10"/>
            <p:cNvGraphicFramePr>
              <a:graphicFrameLocks noChangeAspect="1"/>
            </p:cNvGraphicFramePr>
            <p:nvPr/>
          </p:nvGraphicFramePr>
          <p:xfrm>
            <a:off x="954" y="1389"/>
            <a:ext cx="3261" cy="648"/>
          </p:xfrm>
          <a:graphic>
            <a:graphicData uri="http://schemas.openxmlformats.org/presentationml/2006/ole">
              <mc:AlternateContent xmlns:mc="http://schemas.openxmlformats.org/markup-compatibility/2006">
                <mc:Choice xmlns:v="urn:schemas-microsoft-com:vml" Requires="v">
                  <p:oleObj spid="_x0000_s2" name="公式" r:id="rId4" imgW="2776855" imgH="485140" progId="Equation.3">
                    <p:embed/>
                  </p:oleObj>
                </mc:Choice>
                <mc:Fallback>
                  <p:oleObj name="公式" r:id="rId4" imgW="2776855" imgH="485140" progId="Equation.3">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4" y="1389"/>
                          <a:ext cx="3261" cy="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515" name="Rectangle 11"/>
            <p:cNvSpPr>
              <a:spLocks noChangeArrowheads="1"/>
            </p:cNvSpPr>
            <p:nvPr/>
          </p:nvSpPr>
          <p:spPr bwMode="auto">
            <a:xfrm>
              <a:off x="431" y="1525"/>
              <a:ext cx="346" cy="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zh-CN" altLang="en-US" sz="2800"/>
                <a:t>记</a:t>
              </a:r>
              <a:endParaRPr lang="zh-CN" altLang="en-US" sz="2800"/>
            </a:p>
          </p:txBody>
        </p:sp>
      </p:grpSp>
      <p:sp>
        <p:nvSpPr>
          <p:cNvPr id="875532" name="Rectangle 12"/>
          <p:cNvSpPr>
            <a:spLocks noChangeArrowheads="1"/>
          </p:cNvSpPr>
          <p:nvPr/>
        </p:nvSpPr>
        <p:spPr bwMode="auto">
          <a:xfrm>
            <a:off x="2279650" y="4416426"/>
            <a:ext cx="672171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zh-CN" altLang="en-US" sz="2400">
                <a:latin typeface="楷体_GB2312" pitchFamily="49" charset="-122"/>
              </a:rPr>
              <a:t>则要</a:t>
            </a:r>
            <a:r>
              <a:rPr lang="en-US" altLang="zh-CN" sz="2400" i="1">
                <a:latin typeface="楷体_GB2312" pitchFamily="49" charset="-122"/>
              </a:rPr>
              <a:t>L</a:t>
            </a:r>
            <a:r>
              <a:rPr lang="zh-CN" altLang="en-US" sz="2400">
                <a:latin typeface="楷体_GB2312" pitchFamily="49" charset="-122"/>
              </a:rPr>
              <a:t>最大，只要</a:t>
            </a:r>
            <a:r>
              <a:rPr lang="en-US" altLang="zh-CN" sz="2400" i="1"/>
              <a:t>Q</a:t>
            </a:r>
            <a:r>
              <a:rPr lang="zh-CN" altLang="en-US" sz="2400">
                <a:latin typeface="楷体_GB2312" pitchFamily="49" charset="-122"/>
              </a:rPr>
              <a:t>最小，此时</a:t>
            </a:r>
            <a:r>
              <a:rPr lang="zh-CN" altLang="en-US" sz="2400">
                <a:solidFill>
                  <a:srgbClr val="0000FF"/>
                </a:solidFill>
                <a:latin typeface="楷体_GB2312" pitchFamily="49" charset="-122"/>
              </a:rPr>
              <a:t>等价于最小二乘法</a:t>
            </a:r>
            <a:endParaRPr lang="zh-CN" altLang="en-US" sz="2400">
              <a:solidFill>
                <a:srgbClr val="0000FF"/>
              </a:solidFill>
              <a:latin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75527"/>
                                        </p:tgtEl>
                                        <p:attrNameLst>
                                          <p:attrName>style.visibility</p:attrName>
                                        </p:attrNameLst>
                                      </p:cBhvr>
                                      <p:to>
                                        <p:strVal val="visible"/>
                                      </p:to>
                                    </p:set>
                                    <p:anim calcmode="lin" valueType="num">
                                      <p:cBhvr additive="base">
                                        <p:cTn id="7" dur="500" fill="hold"/>
                                        <p:tgtEl>
                                          <p:spTgt spid="875527"/>
                                        </p:tgtEl>
                                        <p:attrNameLst>
                                          <p:attrName>ppt_x</p:attrName>
                                        </p:attrNameLst>
                                      </p:cBhvr>
                                      <p:tavLst>
                                        <p:tav tm="0">
                                          <p:val>
                                            <p:strVal val="#ppt_x"/>
                                          </p:val>
                                        </p:tav>
                                        <p:tav tm="100000">
                                          <p:val>
                                            <p:strVal val="#ppt_x"/>
                                          </p:val>
                                        </p:tav>
                                      </p:tavLst>
                                    </p:anim>
                                    <p:anim calcmode="lin" valueType="num">
                                      <p:cBhvr additive="base">
                                        <p:cTn id="8" dur="500" fill="hold"/>
                                        <p:tgtEl>
                                          <p:spTgt spid="87552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875529"/>
                                        </p:tgtEl>
                                        <p:attrNameLst>
                                          <p:attrName>style.visibility</p:attrName>
                                        </p:attrNameLst>
                                      </p:cBhvr>
                                      <p:to>
                                        <p:strVal val="visible"/>
                                      </p:to>
                                    </p:set>
                                    <p:animEffect transition="in" filter="wipe(left)">
                                      <p:cBhvr>
                                        <p:cTn id="13" dur="500"/>
                                        <p:tgtEl>
                                          <p:spTgt spid="875529"/>
                                        </p:tgtEl>
                                      </p:cBhvr>
                                    </p:animEffect>
                                  </p:childTnLst>
                                </p:cTn>
                              </p:par>
                            </p:childTnLst>
                          </p:cTn>
                        </p:par>
                        <p:par>
                          <p:cTn id="14" fill="hold">
                            <p:stCondLst>
                              <p:cond delay="500"/>
                            </p:stCondLst>
                            <p:childTnLst>
                              <p:par>
                                <p:cTn id="15" presetID="22" presetClass="entr" presetSubtype="8" fill="hold" grpId="0" nodeType="afterEffect">
                                  <p:stCondLst>
                                    <p:cond delay="0"/>
                                  </p:stCondLst>
                                  <p:childTnLst>
                                    <p:set>
                                      <p:cBhvr>
                                        <p:cTn id="16" dur="1" fill="hold">
                                          <p:stCondLst>
                                            <p:cond delay="0"/>
                                          </p:stCondLst>
                                        </p:cTn>
                                        <p:tgtEl>
                                          <p:spTgt spid="875532"/>
                                        </p:tgtEl>
                                        <p:attrNameLst>
                                          <p:attrName>style.visibility</p:attrName>
                                        </p:attrNameLst>
                                      </p:cBhvr>
                                      <p:to>
                                        <p:strVal val="visible"/>
                                      </p:to>
                                    </p:set>
                                    <p:animEffect transition="in" filter="wipe(left)">
                                      <p:cBhvr>
                                        <p:cTn id="17" dur="500"/>
                                        <p:tgtEl>
                                          <p:spTgt spid="8755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553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AutoShape 2">
            <a:hlinkClick r:id="" action="ppaction://hlinkshowjump?jump=previousslide" highlightClick="1"/>
          </p:cNvPr>
          <p:cNvSpPr>
            <a:spLocks noChangeArrowheads="1"/>
          </p:cNvSpPr>
          <p:nvPr/>
        </p:nvSpPr>
        <p:spPr bwMode="auto">
          <a:xfrm>
            <a:off x="9120189" y="6524625"/>
            <a:ext cx="287337" cy="215900"/>
          </a:xfrm>
          <a:prstGeom prst="actionButtonBackPrevious">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22531" name="AutoShape 3">
            <a:hlinkClick r:id="" action="ppaction://hlinkshowjump?jump=nextslide" highlightClick="1"/>
          </p:cNvPr>
          <p:cNvSpPr>
            <a:spLocks noChangeArrowheads="1"/>
          </p:cNvSpPr>
          <p:nvPr/>
        </p:nvSpPr>
        <p:spPr bwMode="auto">
          <a:xfrm>
            <a:off x="9407525" y="6524625"/>
            <a:ext cx="285750" cy="215900"/>
          </a:xfrm>
          <a:prstGeom prst="actionButtonForwardNex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22532" name="AutoShape 4">
            <a:hlinkClick r:id="" action="ppaction://hlinkshowjump?jump=firstslide" highlightClick="1"/>
          </p:cNvPr>
          <p:cNvSpPr>
            <a:spLocks noChangeArrowheads="1"/>
          </p:cNvSpPr>
          <p:nvPr/>
        </p:nvSpPr>
        <p:spPr bwMode="auto">
          <a:xfrm>
            <a:off x="9694864" y="6524625"/>
            <a:ext cx="287337" cy="215900"/>
          </a:xfrm>
          <a:prstGeom prst="actionButtonBeginning">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22533" name="AutoShape 5">
            <a:hlinkClick r:id="" action="ppaction://hlinkshowjump?jump=endshow" highlightClick="1"/>
          </p:cNvPr>
          <p:cNvSpPr>
            <a:spLocks noChangeArrowheads="1"/>
          </p:cNvSpPr>
          <p:nvPr/>
        </p:nvSpPr>
        <p:spPr bwMode="auto">
          <a:xfrm>
            <a:off x="9983789" y="6524625"/>
            <a:ext cx="287337" cy="215900"/>
          </a:xfrm>
          <a:prstGeom prst="actionButtonEnd">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22534" name="AutoShape 6">
            <a:hlinkClick r:id="rId1" action="ppaction://hlinksldjump" highlightClick="1"/>
          </p:cNvPr>
          <p:cNvSpPr>
            <a:spLocks noChangeArrowheads="1"/>
          </p:cNvSpPr>
          <p:nvPr/>
        </p:nvSpPr>
        <p:spPr bwMode="auto">
          <a:xfrm>
            <a:off x="10272714" y="6524625"/>
            <a:ext cx="288925" cy="215900"/>
          </a:xfrm>
          <a:prstGeom prst="actionButtonReturn">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grpSp>
        <p:nvGrpSpPr>
          <p:cNvPr id="876581" name="Group 37"/>
          <p:cNvGrpSpPr/>
          <p:nvPr/>
        </p:nvGrpSpPr>
        <p:grpSpPr bwMode="auto">
          <a:xfrm>
            <a:off x="4872038" y="1052514"/>
            <a:ext cx="5129212" cy="935037"/>
            <a:chOff x="2109" y="709"/>
            <a:chExt cx="3231" cy="589"/>
          </a:xfrm>
        </p:grpSpPr>
        <p:sp>
          <p:nvSpPr>
            <p:cNvPr id="22556" name="Rectangle 13"/>
            <p:cNvSpPr>
              <a:spLocks noChangeArrowheads="1"/>
            </p:cNvSpPr>
            <p:nvPr/>
          </p:nvSpPr>
          <p:spPr bwMode="auto">
            <a:xfrm>
              <a:off x="2109" y="858"/>
              <a:ext cx="297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zh-CN" altLang="en-US" sz="2800">
                  <a:ea typeface="宋体" pitchFamily="2" charset="-122"/>
                </a:rPr>
                <a:t>由矩估计法，可用           估计</a:t>
              </a:r>
              <a:endParaRPr lang="zh-CN" altLang="en-US" sz="2800">
                <a:ea typeface="宋体" pitchFamily="2" charset="-122"/>
              </a:endParaRPr>
            </a:p>
          </p:txBody>
        </p:sp>
        <p:graphicFrame>
          <p:nvGraphicFramePr>
            <p:cNvPr id="22557" name="Object 14"/>
            <p:cNvGraphicFramePr>
              <a:graphicFrameLocks noChangeAspect="1"/>
            </p:cNvGraphicFramePr>
            <p:nvPr/>
          </p:nvGraphicFramePr>
          <p:xfrm>
            <a:off x="5057" y="845"/>
            <a:ext cx="283" cy="317"/>
          </p:xfrm>
          <a:graphic>
            <a:graphicData uri="http://schemas.openxmlformats.org/presentationml/2006/ole">
              <mc:AlternateContent xmlns:mc="http://schemas.openxmlformats.org/markup-compatibility/2006">
                <mc:Choice xmlns:v="urn:schemas-microsoft-com:vml" Requires="v">
                  <p:oleObj spid="_x0000_s25601" name="公式" r:id="rId2" imgW="214630" imgH="214630" progId="Equation.3">
                    <p:embed/>
                  </p:oleObj>
                </mc:Choice>
                <mc:Fallback>
                  <p:oleObj name="公式" r:id="rId2" imgW="214630" imgH="214630" progId="Equation.3">
                    <p:embed/>
                    <p:pic>
                      <p:nvPicPr>
                        <p:cNvPr id="0" name="Object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57" y="845"/>
                          <a:ext cx="283"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558" name="Object 15"/>
            <p:cNvGraphicFramePr>
              <a:graphicFrameLocks noChangeAspect="1"/>
            </p:cNvGraphicFramePr>
            <p:nvPr/>
          </p:nvGraphicFramePr>
          <p:xfrm>
            <a:off x="3972" y="709"/>
            <a:ext cx="629" cy="589"/>
          </p:xfrm>
          <a:graphic>
            <a:graphicData uri="http://schemas.openxmlformats.org/presentationml/2006/ole">
              <mc:AlternateContent xmlns:mc="http://schemas.openxmlformats.org/markup-compatibility/2006">
                <mc:Choice xmlns:v="urn:schemas-microsoft-com:vml" Requires="v">
                  <p:oleObj spid="_x0000_s2" name="公式" r:id="rId4" imgW="553085" imgH="485140" progId="Equation.3">
                    <p:embed/>
                  </p:oleObj>
                </mc:Choice>
                <mc:Fallback>
                  <p:oleObj name="公式" r:id="rId4" imgW="553085" imgH="485140" progId="Equation.3">
                    <p:embed/>
                    <p:pic>
                      <p:nvPicPr>
                        <p:cNvPr id="0" name="Object 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72" y="709"/>
                          <a:ext cx="629" cy="589"/>
                        </a:xfrm>
                        <a:prstGeom prst="rect">
                          <a:avLst/>
                        </a:prstGeom>
                        <a:noFill/>
                        <a:ln>
                          <a:noFill/>
                        </a:ln>
                      </p:spPr>
                    </p:pic>
                  </p:oleObj>
                </mc:Fallback>
              </mc:AlternateContent>
            </a:graphicData>
          </a:graphic>
        </p:graphicFrame>
      </p:grpSp>
      <p:graphicFrame>
        <p:nvGraphicFramePr>
          <p:cNvPr id="22536" name="Object 20"/>
          <p:cNvGraphicFramePr>
            <a:graphicFrameLocks noChangeAspect="1"/>
          </p:cNvGraphicFramePr>
          <p:nvPr/>
        </p:nvGraphicFramePr>
        <p:xfrm>
          <a:off x="2413420" y="404814"/>
          <a:ext cx="504825" cy="460375"/>
        </p:xfrm>
        <a:graphic>
          <a:graphicData uri="http://schemas.openxmlformats.org/presentationml/2006/ole">
            <mc:AlternateContent xmlns:mc="http://schemas.openxmlformats.org/markup-compatibility/2006">
              <mc:Choice xmlns:v="urn:schemas-microsoft-com:vml" Requires="v">
                <p:oleObj spid="_x0000_s3" name="公式" r:id="rId6" imgW="236855" imgH="214630" progId="Equation.3">
                  <p:embed/>
                </p:oleObj>
              </mc:Choice>
              <mc:Fallback>
                <p:oleObj name="公式" r:id="rId6" imgW="236855" imgH="214630" progId="Equation.3">
                  <p:embed/>
                  <p:pic>
                    <p:nvPicPr>
                      <p:cNvPr id="0" name="Object 2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13420" y="404814"/>
                        <a:ext cx="5048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537" name="Rectangle 21"/>
          <p:cNvSpPr>
            <a:spLocks noChangeArrowheads="1"/>
          </p:cNvSpPr>
          <p:nvPr/>
        </p:nvSpPr>
        <p:spPr bwMode="auto">
          <a:xfrm>
            <a:off x="1776562" y="413687"/>
            <a:ext cx="273526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en-US" altLang="zh-CN" sz="2800" dirty="0">
                <a:solidFill>
                  <a:srgbClr val="0000FF"/>
                </a:solidFill>
                <a:latin typeface="楷体_GB2312" pitchFamily="49" charset="-122"/>
              </a:rPr>
              <a:t>3</a:t>
            </a:r>
            <a:r>
              <a:rPr lang="zh-CN" altLang="en-US" sz="2800" dirty="0">
                <a:solidFill>
                  <a:srgbClr val="0000FF"/>
                </a:solidFill>
                <a:latin typeface="楷体_GB2312" pitchFamily="49" charset="-122"/>
              </a:rPr>
              <a:t>、    的估计</a:t>
            </a:r>
            <a:endParaRPr lang="zh-CN" altLang="en-US" sz="2800" dirty="0">
              <a:solidFill>
                <a:srgbClr val="0000FF"/>
              </a:solidFill>
              <a:latin typeface="楷体_GB2312" pitchFamily="49" charset="-122"/>
            </a:endParaRPr>
          </a:p>
        </p:txBody>
      </p:sp>
      <p:grpSp>
        <p:nvGrpSpPr>
          <p:cNvPr id="876566" name="Group 22"/>
          <p:cNvGrpSpPr/>
          <p:nvPr/>
        </p:nvGrpSpPr>
        <p:grpSpPr bwMode="auto">
          <a:xfrm>
            <a:off x="1992314" y="1268413"/>
            <a:ext cx="2801937" cy="522287"/>
            <a:chOff x="340" y="1931"/>
            <a:chExt cx="1765" cy="329"/>
          </a:xfrm>
        </p:grpSpPr>
        <p:graphicFrame>
          <p:nvGraphicFramePr>
            <p:cNvPr id="22554" name="Object 23"/>
            <p:cNvGraphicFramePr>
              <a:graphicFrameLocks noChangeAspect="1"/>
            </p:cNvGraphicFramePr>
            <p:nvPr/>
          </p:nvGraphicFramePr>
          <p:xfrm>
            <a:off x="889" y="1942"/>
            <a:ext cx="1216" cy="318"/>
          </p:xfrm>
          <a:graphic>
            <a:graphicData uri="http://schemas.openxmlformats.org/presentationml/2006/ole">
              <mc:AlternateContent xmlns:mc="http://schemas.openxmlformats.org/markup-compatibility/2006">
                <mc:Choice xmlns:v="urn:schemas-microsoft-com:vml" Requires="v">
                  <p:oleObj spid="_x0000_s4" name="Equation" r:id="rId8" imgW="21640800" imgH="4876800" progId="Equation.DSMT4">
                    <p:embed/>
                  </p:oleObj>
                </mc:Choice>
                <mc:Fallback>
                  <p:oleObj name="Equation" r:id="rId8" imgW="21640800" imgH="4876800" progId="Equation.DSMT4">
                    <p:embed/>
                    <p:pic>
                      <p:nvPicPr>
                        <p:cNvPr id="0" name="Object 23"/>
                        <p:cNvPicPr>
                          <a:picLocks noChangeAspect="1" noChangeArrowheads="1"/>
                        </p:cNvPicPr>
                        <p:nvPr/>
                      </p:nvPicPr>
                      <p:blipFill>
                        <a:blip r:embed="rId9"/>
                        <a:srcRect/>
                        <a:stretch>
                          <a:fillRect/>
                        </a:stretch>
                      </p:blipFill>
                      <p:spPr bwMode="auto">
                        <a:xfrm>
                          <a:off x="889" y="1942"/>
                          <a:ext cx="1216"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555" name="Rectangle 24"/>
            <p:cNvSpPr>
              <a:spLocks noChangeArrowheads="1"/>
            </p:cNvSpPr>
            <p:nvPr/>
          </p:nvSpPr>
          <p:spPr bwMode="auto">
            <a:xfrm>
              <a:off x="340" y="1931"/>
              <a:ext cx="56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zh-CN" altLang="en-US" sz="2800"/>
                <a:t>由于</a:t>
              </a:r>
              <a:endParaRPr lang="zh-CN" altLang="en-US" sz="2800"/>
            </a:p>
          </p:txBody>
        </p:sp>
      </p:grpSp>
      <p:grpSp>
        <p:nvGrpSpPr>
          <p:cNvPr id="876590" name="Group 46"/>
          <p:cNvGrpSpPr/>
          <p:nvPr/>
        </p:nvGrpSpPr>
        <p:grpSpPr bwMode="auto">
          <a:xfrm>
            <a:off x="4656138" y="2076451"/>
            <a:ext cx="3917950" cy="525463"/>
            <a:chOff x="1973" y="1308"/>
            <a:chExt cx="2468" cy="331"/>
          </a:xfrm>
        </p:grpSpPr>
        <p:sp>
          <p:nvSpPr>
            <p:cNvPr id="22550" name="Rectangle 26"/>
            <p:cNvSpPr>
              <a:spLocks noChangeArrowheads="1"/>
            </p:cNvSpPr>
            <p:nvPr/>
          </p:nvSpPr>
          <p:spPr bwMode="auto">
            <a:xfrm>
              <a:off x="1973" y="1308"/>
              <a:ext cx="246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zh-CN" altLang="en-US" sz="2800" dirty="0">
                  <a:ea typeface="宋体" pitchFamily="2" charset="-122"/>
                </a:rPr>
                <a:t>，</a:t>
              </a:r>
              <a:r>
                <a:rPr lang="en-US" altLang="zh-CN" sz="2800" i="1" dirty="0">
                  <a:ea typeface="宋体" pitchFamily="2" charset="-122"/>
                </a:rPr>
                <a:t>a</a:t>
              </a:r>
              <a:r>
                <a:rPr lang="zh-CN" altLang="en-US" sz="2800" dirty="0">
                  <a:ea typeface="宋体" pitchFamily="2" charset="-122"/>
                </a:rPr>
                <a:t>、</a:t>
              </a:r>
              <a:r>
                <a:rPr lang="en-US" altLang="zh-CN" sz="2800" i="1" dirty="0">
                  <a:ea typeface="宋体" pitchFamily="2" charset="-122"/>
                </a:rPr>
                <a:t>b</a:t>
              </a:r>
              <a:r>
                <a:rPr lang="zh-CN" altLang="en-US" sz="2800" dirty="0">
                  <a:ea typeface="宋体" pitchFamily="2" charset="-122"/>
                </a:rPr>
                <a:t>分别由   、   代入</a:t>
              </a:r>
              <a:endParaRPr lang="zh-CN" altLang="en-US" sz="2800" dirty="0">
                <a:ea typeface="宋体" pitchFamily="2" charset="-122"/>
              </a:endParaRPr>
            </a:p>
          </p:txBody>
        </p:sp>
        <p:grpSp>
          <p:nvGrpSpPr>
            <p:cNvPr id="22551" name="Group 28"/>
            <p:cNvGrpSpPr/>
            <p:nvPr/>
          </p:nvGrpSpPr>
          <p:grpSpPr bwMode="auto">
            <a:xfrm>
              <a:off x="3379" y="1308"/>
              <a:ext cx="590" cy="331"/>
              <a:chOff x="1746" y="3100"/>
              <a:chExt cx="598" cy="376"/>
            </a:xfrm>
          </p:grpSpPr>
          <p:graphicFrame>
            <p:nvGraphicFramePr>
              <p:cNvPr id="22552" name="Object 29"/>
              <p:cNvGraphicFramePr>
                <a:graphicFrameLocks noChangeAspect="1"/>
              </p:cNvGraphicFramePr>
              <p:nvPr/>
            </p:nvGraphicFramePr>
            <p:xfrm>
              <a:off x="1746" y="3113"/>
              <a:ext cx="186" cy="363"/>
            </p:xfrm>
            <a:graphic>
              <a:graphicData uri="http://schemas.openxmlformats.org/presentationml/2006/ole">
                <mc:AlternateContent xmlns:mc="http://schemas.openxmlformats.org/markup-compatibility/2006">
                  <mc:Choice xmlns:v="urn:schemas-microsoft-com:vml" Requires="v">
                    <p:oleObj spid="_x0000_s5" name="公式" r:id="rId10" imgW="124460" imgH="191770" progId="Equation.3">
                      <p:embed/>
                    </p:oleObj>
                  </mc:Choice>
                  <mc:Fallback>
                    <p:oleObj name="公式" r:id="rId10" imgW="124460" imgH="191770" progId="Equation.3">
                      <p:embed/>
                      <p:pic>
                        <p:nvPicPr>
                          <p:cNvPr id="0" name="Object 2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46" y="3113"/>
                            <a:ext cx="186"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553" name="Object 30"/>
              <p:cNvGraphicFramePr>
                <a:graphicFrameLocks noChangeAspect="1"/>
              </p:cNvGraphicFramePr>
              <p:nvPr/>
            </p:nvGraphicFramePr>
            <p:xfrm>
              <a:off x="2109" y="3100"/>
              <a:ext cx="235" cy="363"/>
            </p:xfrm>
            <a:graphic>
              <a:graphicData uri="http://schemas.openxmlformats.org/presentationml/2006/ole">
                <mc:AlternateContent xmlns:mc="http://schemas.openxmlformats.org/markup-compatibility/2006">
                  <mc:Choice xmlns:v="urn:schemas-microsoft-com:vml" Requires="v">
                    <p:oleObj spid="_x0000_s6" name="公式" r:id="rId12" imgW="124460" imgH="236855" progId="Equation.3">
                      <p:embed/>
                    </p:oleObj>
                  </mc:Choice>
                  <mc:Fallback>
                    <p:oleObj name="公式" r:id="rId12" imgW="124460" imgH="236855" progId="Equation.3">
                      <p:embed/>
                      <p:pic>
                        <p:nvPicPr>
                          <p:cNvPr id="0" name="Object 3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109" y="3100"/>
                            <a:ext cx="235"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grpSp>
        <p:nvGrpSpPr>
          <p:cNvPr id="876576" name="Group 32"/>
          <p:cNvGrpSpPr/>
          <p:nvPr/>
        </p:nvGrpSpPr>
        <p:grpSpPr bwMode="auto">
          <a:xfrm>
            <a:off x="2351088" y="2708276"/>
            <a:ext cx="6286500" cy="1008063"/>
            <a:chOff x="340" y="2614"/>
            <a:chExt cx="3960" cy="635"/>
          </a:xfrm>
        </p:grpSpPr>
        <p:graphicFrame>
          <p:nvGraphicFramePr>
            <p:cNvPr id="22546" name="Object 33"/>
            <p:cNvGraphicFramePr>
              <a:graphicFrameLocks noChangeAspect="1"/>
            </p:cNvGraphicFramePr>
            <p:nvPr/>
          </p:nvGraphicFramePr>
          <p:xfrm>
            <a:off x="612" y="2750"/>
            <a:ext cx="363" cy="331"/>
          </p:xfrm>
          <a:graphic>
            <a:graphicData uri="http://schemas.openxmlformats.org/presentationml/2006/ole">
              <mc:AlternateContent xmlns:mc="http://schemas.openxmlformats.org/markup-compatibility/2006">
                <mc:Choice xmlns:v="urn:schemas-microsoft-com:vml" Requires="v">
                  <p:oleObj spid="_x0000_s7" name="公式" r:id="rId14" imgW="236855" imgH="214630" progId="Equation.3">
                    <p:embed/>
                  </p:oleObj>
                </mc:Choice>
                <mc:Fallback>
                  <p:oleObj name="公式" r:id="rId14" imgW="236855" imgH="214630" progId="Equation.3">
                    <p:embed/>
                    <p:pic>
                      <p:nvPicPr>
                        <p:cNvPr id="0" name="Object 3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12" y="2750"/>
                          <a:ext cx="363"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547" name="Object 34"/>
            <p:cNvGraphicFramePr>
              <a:graphicFrameLocks noChangeAspect="1"/>
            </p:cNvGraphicFramePr>
            <p:nvPr/>
          </p:nvGraphicFramePr>
          <p:xfrm>
            <a:off x="1446" y="2614"/>
            <a:ext cx="1842" cy="635"/>
          </p:xfrm>
          <a:graphic>
            <a:graphicData uri="http://schemas.openxmlformats.org/presentationml/2006/ole">
              <mc:AlternateContent xmlns:mc="http://schemas.openxmlformats.org/markup-compatibility/2006">
                <mc:Choice xmlns:v="urn:schemas-microsoft-com:vml" Requires="v">
                  <p:oleObj spid="_x0000_s8" name="公式" r:id="rId16" imgW="1377315" imgH="485140" progId="Equation.3">
                    <p:embed/>
                  </p:oleObj>
                </mc:Choice>
                <mc:Fallback>
                  <p:oleObj name="公式" r:id="rId16" imgW="1377315" imgH="485140" progId="Equation.3">
                    <p:embed/>
                    <p:pic>
                      <p:nvPicPr>
                        <p:cNvPr id="0" name="Object 3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446" y="2614"/>
                          <a:ext cx="1842" cy="635"/>
                        </a:xfrm>
                        <a:prstGeom prst="rect">
                          <a:avLst/>
                        </a:prstGeom>
                        <a:noFill/>
                        <a:ln>
                          <a:noFill/>
                        </a:ln>
                      </p:spPr>
                    </p:pic>
                  </p:oleObj>
                </mc:Fallback>
              </mc:AlternateContent>
            </a:graphicData>
          </a:graphic>
        </p:graphicFrame>
        <p:sp>
          <p:nvSpPr>
            <p:cNvPr id="22548" name="Rectangle 35"/>
            <p:cNvSpPr>
              <a:spLocks noChangeArrowheads="1"/>
            </p:cNvSpPr>
            <p:nvPr/>
          </p:nvSpPr>
          <p:spPr bwMode="auto">
            <a:xfrm>
              <a:off x="340" y="2763"/>
              <a:ext cx="106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zh-CN" altLang="en-US" sz="2800">
                  <a:ea typeface="宋体" pitchFamily="2" charset="-122"/>
                </a:rPr>
                <a:t>故     可用</a:t>
              </a:r>
              <a:endParaRPr lang="zh-CN" altLang="en-US" sz="2800">
                <a:ea typeface="宋体" pitchFamily="2" charset="-122"/>
              </a:endParaRPr>
            </a:p>
          </p:txBody>
        </p:sp>
        <p:sp>
          <p:nvSpPr>
            <p:cNvPr id="22549" name="Rectangle 36"/>
            <p:cNvSpPr>
              <a:spLocks noChangeArrowheads="1"/>
            </p:cNvSpPr>
            <p:nvPr/>
          </p:nvSpPr>
          <p:spPr bwMode="auto">
            <a:xfrm>
              <a:off x="3288" y="2740"/>
              <a:ext cx="101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zh-CN" altLang="en-US" sz="2800" dirty="0">
                  <a:ea typeface="宋体" pitchFamily="2" charset="-122"/>
                </a:rPr>
                <a:t>作估计。</a:t>
              </a:r>
              <a:endParaRPr lang="zh-CN" altLang="en-US" sz="2800" dirty="0">
                <a:ea typeface="宋体" pitchFamily="2" charset="-122"/>
              </a:endParaRPr>
            </a:p>
          </p:txBody>
        </p:sp>
      </p:grpSp>
      <p:grpSp>
        <p:nvGrpSpPr>
          <p:cNvPr id="876589" name="Group 45"/>
          <p:cNvGrpSpPr/>
          <p:nvPr/>
        </p:nvGrpSpPr>
        <p:grpSpPr bwMode="auto">
          <a:xfrm>
            <a:off x="2063751" y="2109790"/>
            <a:ext cx="2619375" cy="525463"/>
            <a:chOff x="340" y="1329"/>
            <a:chExt cx="1650" cy="331"/>
          </a:xfrm>
        </p:grpSpPr>
        <p:sp>
          <p:nvSpPr>
            <p:cNvPr id="22544" name="Rectangle 31"/>
            <p:cNvSpPr>
              <a:spLocks noChangeArrowheads="1"/>
            </p:cNvSpPr>
            <p:nvPr/>
          </p:nvSpPr>
          <p:spPr bwMode="auto">
            <a:xfrm>
              <a:off x="340" y="1333"/>
              <a:ext cx="3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zh-CN" altLang="en-US" sz="2800"/>
                <a:t>而</a:t>
              </a:r>
              <a:endParaRPr lang="zh-CN" altLang="en-US" sz="2800"/>
            </a:p>
          </p:txBody>
        </p:sp>
        <p:graphicFrame>
          <p:nvGraphicFramePr>
            <p:cNvPr id="22545" name="Object 38"/>
            <p:cNvGraphicFramePr>
              <a:graphicFrameLocks noChangeAspect="1"/>
            </p:cNvGraphicFramePr>
            <p:nvPr/>
          </p:nvGraphicFramePr>
          <p:xfrm>
            <a:off x="657" y="1329"/>
            <a:ext cx="1333" cy="320"/>
          </p:xfrm>
          <a:graphic>
            <a:graphicData uri="http://schemas.openxmlformats.org/presentationml/2006/ole">
              <mc:AlternateContent xmlns:mc="http://schemas.openxmlformats.org/markup-compatibility/2006">
                <mc:Choice xmlns:v="urn:schemas-microsoft-com:vml" Requires="v">
                  <p:oleObj spid="_x0000_s9" name="公式" r:id="rId18" imgW="1106170" imgH="248285" progId="Equation.3">
                    <p:embed/>
                  </p:oleObj>
                </mc:Choice>
                <mc:Fallback>
                  <p:oleObj name="公式" r:id="rId18" imgW="1106170" imgH="248285" progId="Equation.3">
                    <p:embed/>
                    <p:pic>
                      <p:nvPicPr>
                        <p:cNvPr id="0" name="Object 38"/>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57" y="1329"/>
                          <a:ext cx="1333" cy="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876586" name="Object 42"/>
          <p:cNvGraphicFramePr>
            <a:graphicFrameLocks noChangeAspect="1"/>
          </p:cNvGraphicFramePr>
          <p:nvPr/>
        </p:nvGraphicFramePr>
        <p:xfrm>
          <a:off x="3194892" y="4652963"/>
          <a:ext cx="5442696" cy="1008062"/>
        </p:xfrm>
        <a:graphic>
          <a:graphicData uri="http://schemas.openxmlformats.org/presentationml/2006/ole">
            <mc:AlternateContent xmlns:mc="http://schemas.openxmlformats.org/markup-compatibility/2006">
              <mc:Choice xmlns:v="urn:schemas-microsoft-com:vml" Requires="v">
                <p:oleObj spid="_x0000_s10" name="公式" r:id="rId20" imgW="2878455" imgH="485140" progId="Equation.3">
                  <p:embed/>
                </p:oleObj>
              </mc:Choice>
              <mc:Fallback>
                <p:oleObj name="公式" r:id="rId20" imgW="2878455" imgH="485140" progId="Equation.3">
                  <p:embed/>
                  <p:pic>
                    <p:nvPicPr>
                      <p:cNvPr id="0" name="Object 42"/>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194892" y="4652963"/>
                        <a:ext cx="5442696" cy="1008062"/>
                      </a:xfrm>
                      <a:prstGeom prst="rect">
                        <a:avLst/>
                      </a:prstGeom>
                      <a:noFill/>
                      <a:ln>
                        <a:noFill/>
                      </a:ln>
                    </p:spPr>
                  </p:pic>
                </p:oleObj>
              </mc:Fallback>
            </mc:AlternateContent>
          </a:graphicData>
        </a:graphic>
      </p:graphicFrame>
      <p:sp>
        <p:nvSpPr>
          <p:cNvPr id="876587" name="Rectangle 43"/>
          <p:cNvSpPr>
            <a:spLocks noChangeArrowheads="1"/>
          </p:cNvSpPr>
          <p:nvPr/>
        </p:nvSpPr>
        <p:spPr bwMode="auto">
          <a:xfrm>
            <a:off x="2063750" y="3667125"/>
            <a:ext cx="791845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en-US" altLang="zh-CN" sz="2800" dirty="0">
                <a:ea typeface="宋体" pitchFamily="2" charset="-122"/>
              </a:rPr>
              <a:t>   </a:t>
            </a:r>
            <a:r>
              <a:rPr lang="zh-CN" altLang="en-US" sz="2800" dirty="0"/>
              <a:t>但此估计量是有偏的，可取以下的估计量作为其</a:t>
            </a:r>
            <a:endParaRPr lang="zh-CN" altLang="en-US" sz="2800" dirty="0"/>
          </a:p>
          <a:p>
            <a:pPr eaLnBrk="1" hangingPunct="1">
              <a:spcBef>
                <a:spcPct val="0"/>
              </a:spcBef>
            </a:pPr>
            <a:r>
              <a:rPr lang="zh-CN" altLang="en-US" sz="2800" dirty="0"/>
              <a:t>无偏估计量：</a:t>
            </a:r>
            <a:endParaRPr lang="zh-CN" altLang="en-US" sz="28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76566"/>
                                        </p:tgtEl>
                                        <p:attrNameLst>
                                          <p:attrName>style.visibility</p:attrName>
                                        </p:attrNameLst>
                                      </p:cBhvr>
                                      <p:to>
                                        <p:strVal val="visible"/>
                                      </p:to>
                                    </p:set>
                                    <p:animEffect transition="in" filter="wipe(left)">
                                      <p:cBhvr>
                                        <p:cTn id="7" dur="500"/>
                                        <p:tgtEl>
                                          <p:spTgt spid="87656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76581"/>
                                        </p:tgtEl>
                                        <p:attrNameLst>
                                          <p:attrName>style.visibility</p:attrName>
                                        </p:attrNameLst>
                                      </p:cBhvr>
                                      <p:to>
                                        <p:strVal val="visible"/>
                                      </p:to>
                                    </p:set>
                                    <p:animEffect transition="in" filter="wipe(left)">
                                      <p:cBhvr>
                                        <p:cTn id="12" dur="500"/>
                                        <p:tgtEl>
                                          <p:spTgt spid="87658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76589"/>
                                        </p:tgtEl>
                                        <p:attrNameLst>
                                          <p:attrName>style.visibility</p:attrName>
                                        </p:attrNameLst>
                                      </p:cBhvr>
                                      <p:to>
                                        <p:strVal val="visible"/>
                                      </p:to>
                                    </p:set>
                                    <p:animEffect transition="in" filter="wipe(left)">
                                      <p:cBhvr>
                                        <p:cTn id="17" dur="500"/>
                                        <p:tgtEl>
                                          <p:spTgt spid="87658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76590"/>
                                        </p:tgtEl>
                                        <p:attrNameLst>
                                          <p:attrName>style.visibility</p:attrName>
                                        </p:attrNameLst>
                                      </p:cBhvr>
                                      <p:to>
                                        <p:strVal val="visible"/>
                                      </p:to>
                                    </p:set>
                                    <p:animEffect transition="in" filter="wipe(left)">
                                      <p:cBhvr>
                                        <p:cTn id="22" dur="500"/>
                                        <p:tgtEl>
                                          <p:spTgt spid="87659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76576"/>
                                        </p:tgtEl>
                                        <p:attrNameLst>
                                          <p:attrName>style.visibility</p:attrName>
                                        </p:attrNameLst>
                                      </p:cBhvr>
                                      <p:to>
                                        <p:strVal val="visible"/>
                                      </p:to>
                                    </p:set>
                                    <p:animEffect transition="in" filter="wipe(left)">
                                      <p:cBhvr>
                                        <p:cTn id="27" dur="500"/>
                                        <p:tgtEl>
                                          <p:spTgt spid="87657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76587"/>
                                        </p:tgtEl>
                                        <p:attrNameLst>
                                          <p:attrName>style.visibility</p:attrName>
                                        </p:attrNameLst>
                                      </p:cBhvr>
                                      <p:to>
                                        <p:strVal val="visible"/>
                                      </p:to>
                                    </p:set>
                                    <p:animEffect transition="in" filter="wipe(left)">
                                      <p:cBhvr>
                                        <p:cTn id="32" dur="500"/>
                                        <p:tgtEl>
                                          <p:spTgt spid="87658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876586"/>
                                        </p:tgtEl>
                                        <p:attrNameLst>
                                          <p:attrName>style.visibility</p:attrName>
                                        </p:attrNameLst>
                                      </p:cBhvr>
                                      <p:to>
                                        <p:strVal val="visible"/>
                                      </p:to>
                                    </p:set>
                                    <p:animEffect transition="in" filter="wipe(left)">
                                      <p:cBhvr>
                                        <p:cTn id="37" dur="500"/>
                                        <p:tgtEl>
                                          <p:spTgt spid="8765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658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AutoShape 2">
            <a:hlinkClick r:id="" action="ppaction://hlinkshowjump?jump=previousslide" highlightClick="1"/>
          </p:cNvPr>
          <p:cNvSpPr>
            <a:spLocks noChangeArrowheads="1"/>
          </p:cNvSpPr>
          <p:nvPr/>
        </p:nvSpPr>
        <p:spPr bwMode="auto">
          <a:xfrm>
            <a:off x="9120189" y="6524625"/>
            <a:ext cx="287337" cy="215900"/>
          </a:xfrm>
          <a:prstGeom prst="actionButtonBackPrevious">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23555" name="AutoShape 3">
            <a:hlinkClick r:id="" action="ppaction://hlinkshowjump?jump=nextslide" highlightClick="1"/>
          </p:cNvPr>
          <p:cNvSpPr>
            <a:spLocks noChangeArrowheads="1"/>
          </p:cNvSpPr>
          <p:nvPr/>
        </p:nvSpPr>
        <p:spPr bwMode="auto">
          <a:xfrm>
            <a:off x="9407525" y="6524625"/>
            <a:ext cx="285750" cy="215900"/>
          </a:xfrm>
          <a:prstGeom prst="actionButtonForwardNex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23556" name="AutoShape 4">
            <a:hlinkClick r:id="" action="ppaction://hlinkshowjump?jump=firstslide" highlightClick="1"/>
          </p:cNvPr>
          <p:cNvSpPr>
            <a:spLocks noChangeArrowheads="1"/>
          </p:cNvSpPr>
          <p:nvPr/>
        </p:nvSpPr>
        <p:spPr bwMode="auto">
          <a:xfrm>
            <a:off x="9694864" y="6524625"/>
            <a:ext cx="287337" cy="215900"/>
          </a:xfrm>
          <a:prstGeom prst="actionButtonBeginning">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23557" name="AutoShape 5">
            <a:hlinkClick r:id="" action="ppaction://hlinkshowjump?jump=endshow" highlightClick="1"/>
          </p:cNvPr>
          <p:cNvSpPr>
            <a:spLocks noChangeArrowheads="1"/>
          </p:cNvSpPr>
          <p:nvPr/>
        </p:nvSpPr>
        <p:spPr bwMode="auto">
          <a:xfrm>
            <a:off x="9983789" y="6524625"/>
            <a:ext cx="287337" cy="215900"/>
          </a:xfrm>
          <a:prstGeom prst="actionButtonEnd">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23558" name="AutoShape 6">
            <a:hlinkClick r:id="rId1" action="ppaction://hlinksldjump" highlightClick="1"/>
          </p:cNvPr>
          <p:cNvSpPr>
            <a:spLocks noChangeArrowheads="1"/>
          </p:cNvSpPr>
          <p:nvPr/>
        </p:nvSpPr>
        <p:spPr bwMode="auto">
          <a:xfrm>
            <a:off x="10272714" y="6524625"/>
            <a:ext cx="288925" cy="215900"/>
          </a:xfrm>
          <a:prstGeom prst="actionButtonReturn">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graphicFrame>
        <p:nvGraphicFramePr>
          <p:cNvPr id="936989" name="Object 29"/>
          <p:cNvGraphicFramePr>
            <a:graphicFrameLocks noChangeAspect="1"/>
          </p:cNvGraphicFramePr>
          <p:nvPr/>
        </p:nvGraphicFramePr>
        <p:xfrm>
          <a:off x="2566989" y="1557338"/>
          <a:ext cx="7089775" cy="1008062"/>
        </p:xfrm>
        <a:graphic>
          <a:graphicData uri="http://schemas.openxmlformats.org/presentationml/2006/ole">
            <mc:AlternateContent xmlns:mc="http://schemas.openxmlformats.org/markup-compatibility/2006">
              <mc:Choice xmlns:v="urn:schemas-microsoft-com:vml" Requires="v">
                <p:oleObj spid="_x0000_s25601" name="公式" r:id="rId2" imgW="3634740" imgH="485140" progId="Equation.3">
                  <p:embed/>
                </p:oleObj>
              </mc:Choice>
              <mc:Fallback>
                <p:oleObj name="公式" r:id="rId2" imgW="3634740" imgH="485140" progId="Equation.3">
                  <p:embed/>
                  <p:pic>
                    <p:nvPicPr>
                      <p:cNvPr id="0" name="Object 2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66989" y="1557338"/>
                        <a:ext cx="7089775" cy="100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560" name="Rectangle 30"/>
          <p:cNvSpPr>
            <a:spLocks noChangeArrowheads="1"/>
          </p:cNvSpPr>
          <p:nvPr/>
        </p:nvSpPr>
        <p:spPr bwMode="auto">
          <a:xfrm>
            <a:off x="2135189" y="527051"/>
            <a:ext cx="54006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zh-CN" altLang="en-US" sz="2800">
                <a:latin typeface="楷体_GB2312" pitchFamily="49" charset="-122"/>
              </a:rPr>
              <a:t>以下证明   无偏性：</a:t>
            </a:r>
            <a:endParaRPr lang="zh-CN" altLang="en-US" sz="2800">
              <a:latin typeface="楷体_GB2312" pitchFamily="49" charset="-122"/>
            </a:endParaRPr>
          </a:p>
        </p:txBody>
      </p:sp>
      <p:graphicFrame>
        <p:nvGraphicFramePr>
          <p:cNvPr id="936991" name="Object 31"/>
          <p:cNvGraphicFramePr>
            <a:graphicFrameLocks noChangeAspect="1"/>
          </p:cNvGraphicFramePr>
          <p:nvPr/>
        </p:nvGraphicFramePr>
        <p:xfrm>
          <a:off x="3287713" y="2492376"/>
          <a:ext cx="4811712" cy="1008063"/>
        </p:xfrm>
        <a:graphic>
          <a:graphicData uri="http://schemas.openxmlformats.org/presentationml/2006/ole">
            <mc:AlternateContent xmlns:mc="http://schemas.openxmlformats.org/markup-compatibility/2006">
              <mc:Choice xmlns:v="urn:schemas-microsoft-com:vml" Requires="v">
                <p:oleObj spid="_x0000_s2" name="公式" r:id="rId4" imgW="2461260" imgH="485140" progId="Equation.3">
                  <p:embed/>
                </p:oleObj>
              </mc:Choice>
              <mc:Fallback>
                <p:oleObj name="公式" r:id="rId4" imgW="2461260" imgH="485140" progId="Equation.3">
                  <p:embed/>
                  <p:pic>
                    <p:nvPicPr>
                      <p:cNvPr id="0" name="Object 3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87713" y="2492376"/>
                        <a:ext cx="4811712"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36993" name="Object 33"/>
          <p:cNvGraphicFramePr>
            <a:graphicFrameLocks noChangeAspect="1"/>
          </p:cNvGraphicFramePr>
          <p:nvPr/>
        </p:nvGraphicFramePr>
        <p:xfrm>
          <a:off x="3359150" y="3500438"/>
          <a:ext cx="3703638" cy="1008062"/>
        </p:xfrm>
        <a:graphic>
          <a:graphicData uri="http://schemas.openxmlformats.org/presentationml/2006/ole">
            <mc:AlternateContent xmlns:mc="http://schemas.openxmlformats.org/markup-compatibility/2006">
              <mc:Choice xmlns:v="urn:schemas-microsoft-com:vml" Requires="v">
                <p:oleObj spid="_x0000_s3" name="公式" r:id="rId6" imgW="1885315" imgH="485140" progId="Equation.3">
                  <p:embed/>
                </p:oleObj>
              </mc:Choice>
              <mc:Fallback>
                <p:oleObj name="公式" r:id="rId6" imgW="1885315" imgH="485140" progId="Equation.3">
                  <p:embed/>
                  <p:pic>
                    <p:nvPicPr>
                      <p:cNvPr id="0" name="Object 3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59150" y="3500438"/>
                        <a:ext cx="3703638" cy="100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36996" name="Object 36"/>
          <p:cNvGraphicFramePr>
            <a:graphicFrameLocks noChangeAspect="1"/>
          </p:cNvGraphicFramePr>
          <p:nvPr/>
        </p:nvGraphicFramePr>
        <p:xfrm>
          <a:off x="3432176" y="4581525"/>
          <a:ext cx="3529013" cy="622300"/>
        </p:xfrm>
        <a:graphic>
          <a:graphicData uri="http://schemas.openxmlformats.org/presentationml/2006/ole">
            <mc:AlternateContent xmlns:mc="http://schemas.openxmlformats.org/markup-compatibility/2006">
              <mc:Choice xmlns:v="urn:schemas-microsoft-com:vml" Requires="v">
                <p:oleObj spid="_x0000_s4" name="公式" r:id="rId8" imgW="1795145" imgH="293370" progId="Equation.3">
                  <p:embed/>
                </p:oleObj>
              </mc:Choice>
              <mc:Fallback>
                <p:oleObj name="公式" r:id="rId8" imgW="1795145" imgH="293370" progId="Equation.3">
                  <p:embed/>
                  <p:pic>
                    <p:nvPicPr>
                      <p:cNvPr id="0" name="Object 3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32176" y="4581525"/>
                        <a:ext cx="3529013"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36998" name="Object 38"/>
          <p:cNvGraphicFramePr>
            <a:graphicFrameLocks noChangeAspect="1"/>
          </p:cNvGraphicFramePr>
          <p:nvPr/>
        </p:nvGraphicFramePr>
        <p:xfrm>
          <a:off x="7464425" y="3500438"/>
          <a:ext cx="1836738" cy="1066800"/>
        </p:xfrm>
        <a:graphic>
          <a:graphicData uri="http://schemas.openxmlformats.org/presentationml/2006/ole">
            <mc:AlternateContent xmlns:mc="http://schemas.openxmlformats.org/markup-compatibility/2006">
              <mc:Choice xmlns:v="urn:schemas-microsoft-com:vml" Requires="v">
                <p:oleObj spid="_x0000_s5" name="公式" r:id="rId10" imgW="925830" imgH="519430" progId="Equation.3">
                  <p:embed/>
                </p:oleObj>
              </mc:Choice>
              <mc:Fallback>
                <p:oleObj name="公式" r:id="rId10" imgW="925830" imgH="519430" progId="Equation.3">
                  <p:embed/>
                  <p:pic>
                    <p:nvPicPr>
                      <p:cNvPr id="0" name="Object 3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464425" y="3500438"/>
                        <a:ext cx="1836738"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565" name="Object 39"/>
          <p:cNvGraphicFramePr>
            <a:graphicFrameLocks noGrp="1" noChangeAspect="1"/>
          </p:cNvGraphicFramePr>
          <p:nvPr>
            <p:ph/>
          </p:nvPr>
        </p:nvGraphicFramePr>
        <p:xfrm>
          <a:off x="3563405" y="549275"/>
          <a:ext cx="519113" cy="519113"/>
        </p:xfrm>
        <a:graphic>
          <a:graphicData uri="http://schemas.openxmlformats.org/presentationml/2006/ole">
            <mc:AlternateContent xmlns:mc="http://schemas.openxmlformats.org/markup-compatibility/2006">
              <mc:Choice xmlns:v="urn:schemas-microsoft-com:vml" Requires="v">
                <p:oleObj spid="_x0000_s6" name="公式" r:id="rId12" imgW="203200" imgH="203200" progId="Equation.3">
                  <p:embed/>
                </p:oleObj>
              </mc:Choice>
              <mc:Fallback>
                <p:oleObj name="公式" r:id="rId12" imgW="203200" imgH="203200" progId="Equation.3">
                  <p:embed/>
                  <p:pic>
                    <p:nvPicPr>
                      <p:cNvPr id="0" name="Object 3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563405" y="549275"/>
                        <a:ext cx="519113"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37001" name="Rectangle 41"/>
          <p:cNvSpPr>
            <a:spLocks noChangeArrowheads="1"/>
          </p:cNvSpPr>
          <p:nvPr/>
        </p:nvSpPr>
        <p:spPr bwMode="auto">
          <a:xfrm>
            <a:off x="2208213" y="1196976"/>
            <a:ext cx="1250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en-US" altLang="zh-CN" sz="2800">
                <a:ea typeface="宋体" pitchFamily="2" charset="-122"/>
              </a:rPr>
              <a:t>   </a:t>
            </a:r>
            <a:r>
              <a:rPr lang="zh-CN" altLang="en-US" sz="2800"/>
              <a:t>因为</a:t>
            </a:r>
            <a:r>
              <a:rPr lang="zh-CN" altLang="en-US" sz="2800">
                <a:ea typeface="宋体" pitchFamily="2" charset="-122"/>
              </a:rPr>
              <a:t> </a:t>
            </a:r>
            <a:endParaRPr lang="zh-CN" altLang="en-US" sz="2800">
              <a:ea typeface="宋体"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37001"/>
                                        </p:tgtEl>
                                        <p:attrNameLst>
                                          <p:attrName>style.visibility</p:attrName>
                                        </p:attrNameLst>
                                      </p:cBhvr>
                                      <p:to>
                                        <p:strVal val="visible"/>
                                      </p:to>
                                    </p:set>
                                    <p:animEffect transition="in" filter="wipe(left)">
                                      <p:cBhvr>
                                        <p:cTn id="7" dur="500"/>
                                        <p:tgtEl>
                                          <p:spTgt spid="93700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36989"/>
                                        </p:tgtEl>
                                        <p:attrNameLst>
                                          <p:attrName>style.visibility</p:attrName>
                                        </p:attrNameLst>
                                      </p:cBhvr>
                                      <p:to>
                                        <p:strVal val="visible"/>
                                      </p:to>
                                    </p:set>
                                    <p:animEffect transition="in" filter="wipe(left)">
                                      <p:cBhvr>
                                        <p:cTn id="12" dur="500"/>
                                        <p:tgtEl>
                                          <p:spTgt spid="93698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36991"/>
                                        </p:tgtEl>
                                        <p:attrNameLst>
                                          <p:attrName>style.visibility</p:attrName>
                                        </p:attrNameLst>
                                      </p:cBhvr>
                                      <p:to>
                                        <p:strVal val="visible"/>
                                      </p:to>
                                    </p:set>
                                    <p:animEffect transition="in" filter="wipe(left)">
                                      <p:cBhvr>
                                        <p:cTn id="17" dur="500"/>
                                        <p:tgtEl>
                                          <p:spTgt spid="93699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36993"/>
                                        </p:tgtEl>
                                        <p:attrNameLst>
                                          <p:attrName>style.visibility</p:attrName>
                                        </p:attrNameLst>
                                      </p:cBhvr>
                                      <p:to>
                                        <p:strVal val="visible"/>
                                      </p:to>
                                    </p:set>
                                    <p:animEffect transition="in" filter="wipe(left)">
                                      <p:cBhvr>
                                        <p:cTn id="22" dur="500"/>
                                        <p:tgtEl>
                                          <p:spTgt spid="93699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36996"/>
                                        </p:tgtEl>
                                        <p:attrNameLst>
                                          <p:attrName>style.visibility</p:attrName>
                                        </p:attrNameLst>
                                      </p:cBhvr>
                                      <p:to>
                                        <p:strVal val="visible"/>
                                      </p:to>
                                    </p:set>
                                    <p:animEffect transition="in" filter="wipe(left)">
                                      <p:cBhvr>
                                        <p:cTn id="27" dur="500"/>
                                        <p:tgtEl>
                                          <p:spTgt spid="93699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936998"/>
                                        </p:tgtEl>
                                        <p:attrNameLst>
                                          <p:attrName>style.visibility</p:attrName>
                                        </p:attrNameLst>
                                      </p:cBhvr>
                                      <p:to>
                                        <p:strVal val="visible"/>
                                      </p:to>
                                    </p:set>
                                    <p:animEffect transition="in" filter="wipe(left)">
                                      <p:cBhvr>
                                        <p:cTn id="32" dur="500"/>
                                        <p:tgtEl>
                                          <p:spTgt spid="9369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700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AutoShape 2">
            <a:hlinkClick r:id="" action="ppaction://hlinkshowjump?jump=previousslide" highlightClick="1"/>
          </p:cNvPr>
          <p:cNvSpPr>
            <a:spLocks noChangeArrowheads="1"/>
          </p:cNvSpPr>
          <p:nvPr/>
        </p:nvSpPr>
        <p:spPr bwMode="auto">
          <a:xfrm>
            <a:off x="9120189" y="6524625"/>
            <a:ext cx="287337" cy="215900"/>
          </a:xfrm>
          <a:prstGeom prst="actionButtonBackPrevious">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24579" name="AutoShape 3">
            <a:hlinkClick r:id="" action="ppaction://hlinkshowjump?jump=nextslide" highlightClick="1"/>
          </p:cNvPr>
          <p:cNvSpPr>
            <a:spLocks noChangeArrowheads="1"/>
          </p:cNvSpPr>
          <p:nvPr/>
        </p:nvSpPr>
        <p:spPr bwMode="auto">
          <a:xfrm>
            <a:off x="9407525" y="6524625"/>
            <a:ext cx="285750" cy="215900"/>
          </a:xfrm>
          <a:prstGeom prst="actionButtonForwardNex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24580" name="AutoShape 4">
            <a:hlinkClick r:id="" action="ppaction://hlinkshowjump?jump=firstslide" highlightClick="1"/>
          </p:cNvPr>
          <p:cNvSpPr>
            <a:spLocks noChangeArrowheads="1"/>
          </p:cNvSpPr>
          <p:nvPr/>
        </p:nvSpPr>
        <p:spPr bwMode="auto">
          <a:xfrm>
            <a:off x="9694864" y="6524625"/>
            <a:ext cx="287337" cy="215900"/>
          </a:xfrm>
          <a:prstGeom prst="actionButtonBeginning">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24581" name="AutoShape 5">
            <a:hlinkClick r:id="" action="ppaction://hlinkshowjump?jump=endshow" highlightClick="1"/>
          </p:cNvPr>
          <p:cNvSpPr>
            <a:spLocks noChangeArrowheads="1"/>
          </p:cNvSpPr>
          <p:nvPr/>
        </p:nvSpPr>
        <p:spPr bwMode="auto">
          <a:xfrm>
            <a:off x="9983789" y="6524625"/>
            <a:ext cx="287337" cy="215900"/>
          </a:xfrm>
          <a:prstGeom prst="actionButtonEnd">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24582" name="AutoShape 6">
            <a:hlinkClick r:id="rId1" action="ppaction://hlinksldjump" highlightClick="1"/>
          </p:cNvPr>
          <p:cNvSpPr>
            <a:spLocks noChangeArrowheads="1"/>
          </p:cNvSpPr>
          <p:nvPr/>
        </p:nvSpPr>
        <p:spPr bwMode="auto">
          <a:xfrm>
            <a:off x="10272714" y="6524625"/>
            <a:ext cx="288925" cy="215900"/>
          </a:xfrm>
          <a:prstGeom prst="actionButtonReturn">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graphicFrame>
        <p:nvGraphicFramePr>
          <p:cNvPr id="937994" name="Object 10"/>
          <p:cNvGraphicFramePr>
            <a:graphicFrameLocks noGrp="1" noChangeAspect="1"/>
          </p:cNvGraphicFramePr>
          <p:nvPr>
            <p:ph sz="half" idx="1"/>
          </p:nvPr>
        </p:nvGraphicFramePr>
        <p:xfrm>
          <a:off x="3143671" y="4510090"/>
          <a:ext cx="4459637" cy="658810"/>
        </p:xfrm>
        <a:graphic>
          <a:graphicData uri="http://schemas.openxmlformats.org/presentationml/2006/ole">
            <mc:AlternateContent xmlns:mc="http://schemas.openxmlformats.org/markup-compatibility/2006">
              <mc:Choice xmlns:v="urn:schemas-microsoft-com:vml" Requires="v">
                <p:oleObj spid="_x0000_s25601" name="公式" r:id="rId2" imgW="1975485" imgH="281940" progId="Equation.3">
                  <p:embed/>
                </p:oleObj>
              </mc:Choice>
              <mc:Fallback>
                <p:oleObj name="公式" r:id="rId2" imgW="1975485" imgH="281940" progId="Equation.3">
                  <p:embed/>
                  <p:pic>
                    <p:nvPicPr>
                      <p:cNvPr id="0" name="Object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43671" y="4510090"/>
                        <a:ext cx="4459637" cy="658810"/>
                      </a:xfrm>
                      <a:prstGeom prst="rect">
                        <a:avLst/>
                      </a:prstGeom>
                      <a:noFill/>
                      <a:ln>
                        <a:noFill/>
                      </a:ln>
                      <a:effectLst/>
                    </p:spPr>
                  </p:pic>
                </p:oleObj>
              </mc:Fallback>
            </mc:AlternateContent>
          </a:graphicData>
        </a:graphic>
      </p:graphicFrame>
      <p:graphicFrame>
        <p:nvGraphicFramePr>
          <p:cNvPr id="937995" name="Object 11"/>
          <p:cNvGraphicFramePr>
            <a:graphicFrameLocks noGrp="1" noChangeAspect="1"/>
          </p:cNvGraphicFramePr>
          <p:nvPr>
            <p:ph sz="quarter" idx="2"/>
          </p:nvPr>
        </p:nvGraphicFramePr>
        <p:xfrm>
          <a:off x="2997200" y="488950"/>
          <a:ext cx="5770563" cy="927100"/>
        </p:xfrm>
        <a:graphic>
          <a:graphicData uri="http://schemas.openxmlformats.org/presentationml/2006/ole">
            <mc:AlternateContent xmlns:mc="http://schemas.openxmlformats.org/markup-compatibility/2006">
              <mc:Choice xmlns:v="urn:schemas-microsoft-com:vml" Requires="v">
                <p:oleObj spid="_x0000_s2" name="公式" r:id="rId4" imgW="3081655" imgH="485140" progId="Equation.3">
                  <p:embed/>
                </p:oleObj>
              </mc:Choice>
              <mc:Fallback>
                <p:oleObj name="公式" r:id="rId4" imgW="3081655" imgH="485140" progId="Equation.3">
                  <p:embed/>
                  <p:pic>
                    <p:nvPicPr>
                      <p:cNvPr id="0"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97200" y="488950"/>
                        <a:ext cx="5770563" cy="927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37999" name="Object 15"/>
          <p:cNvGraphicFramePr>
            <a:graphicFrameLocks noChangeAspect="1"/>
          </p:cNvGraphicFramePr>
          <p:nvPr/>
        </p:nvGraphicFramePr>
        <p:xfrm>
          <a:off x="3290889" y="1557338"/>
          <a:ext cx="5183187" cy="952500"/>
        </p:xfrm>
        <a:graphic>
          <a:graphicData uri="http://schemas.openxmlformats.org/presentationml/2006/ole">
            <mc:AlternateContent xmlns:mc="http://schemas.openxmlformats.org/markup-compatibility/2006">
              <mc:Choice xmlns:v="urn:schemas-microsoft-com:vml" Requires="v">
                <p:oleObj spid="_x0000_s3" name="公式" r:id="rId6" imgW="2766060" imgH="485140" progId="Equation.3">
                  <p:embed/>
                </p:oleObj>
              </mc:Choice>
              <mc:Fallback>
                <p:oleObj name="公式" r:id="rId6" imgW="2766060" imgH="485140" progId="Equation.3">
                  <p:embed/>
                  <p:pic>
                    <p:nvPicPr>
                      <p:cNvPr id="0" name="Object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90889" y="1557338"/>
                        <a:ext cx="5183187"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38002" name="Object 18"/>
          <p:cNvGraphicFramePr>
            <a:graphicFrameLocks noChangeAspect="1"/>
          </p:cNvGraphicFramePr>
          <p:nvPr/>
        </p:nvGraphicFramePr>
        <p:xfrm>
          <a:off x="3287714" y="2492376"/>
          <a:ext cx="5856287" cy="1065213"/>
        </p:xfrm>
        <a:graphic>
          <a:graphicData uri="http://schemas.openxmlformats.org/presentationml/2006/ole">
            <mc:AlternateContent xmlns:mc="http://schemas.openxmlformats.org/markup-compatibility/2006">
              <mc:Choice xmlns:v="urn:schemas-microsoft-com:vml" Requires="v">
                <p:oleObj spid="_x0000_s4" name="公式" r:id="rId8" imgW="3126740" imgH="553085" progId="Equation.3">
                  <p:embed/>
                </p:oleObj>
              </mc:Choice>
              <mc:Fallback>
                <p:oleObj name="公式" r:id="rId8" imgW="3126740" imgH="553085" progId="Equation.3">
                  <p:embed/>
                  <p:pic>
                    <p:nvPicPr>
                      <p:cNvPr id="0" name="Object 1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87714" y="2492376"/>
                        <a:ext cx="5856287" cy="106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38004" name="Object 20"/>
          <p:cNvGraphicFramePr>
            <a:graphicFrameLocks noChangeAspect="1"/>
          </p:cNvGraphicFramePr>
          <p:nvPr/>
        </p:nvGraphicFramePr>
        <p:xfrm>
          <a:off x="3287713" y="3573463"/>
          <a:ext cx="2660650" cy="531812"/>
        </p:xfrm>
        <a:graphic>
          <a:graphicData uri="http://schemas.openxmlformats.org/presentationml/2006/ole">
            <mc:AlternateContent xmlns:mc="http://schemas.openxmlformats.org/markup-compatibility/2006">
              <mc:Choice xmlns:v="urn:schemas-microsoft-com:vml" Requires="v">
                <p:oleObj spid="_x0000_s5" name="公式" r:id="rId10" imgW="1410970" imgH="259715" progId="Equation.3">
                  <p:embed/>
                </p:oleObj>
              </mc:Choice>
              <mc:Fallback>
                <p:oleObj name="公式" r:id="rId10" imgW="1410970" imgH="259715" progId="Equation.3">
                  <p:embed/>
                  <p:pic>
                    <p:nvPicPr>
                      <p:cNvPr id="0" name="Object 2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287713" y="3573463"/>
                        <a:ext cx="2660650" cy="53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37995"/>
                                        </p:tgtEl>
                                        <p:attrNameLst>
                                          <p:attrName>style.visibility</p:attrName>
                                        </p:attrNameLst>
                                      </p:cBhvr>
                                      <p:to>
                                        <p:strVal val="visible"/>
                                      </p:to>
                                    </p:set>
                                    <p:animEffect transition="in" filter="wipe(left)">
                                      <p:cBhvr>
                                        <p:cTn id="7" dur="500"/>
                                        <p:tgtEl>
                                          <p:spTgt spid="93799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37999"/>
                                        </p:tgtEl>
                                        <p:attrNameLst>
                                          <p:attrName>style.visibility</p:attrName>
                                        </p:attrNameLst>
                                      </p:cBhvr>
                                      <p:to>
                                        <p:strVal val="visible"/>
                                      </p:to>
                                    </p:set>
                                    <p:animEffect transition="in" filter="wipe(left)">
                                      <p:cBhvr>
                                        <p:cTn id="12" dur="500"/>
                                        <p:tgtEl>
                                          <p:spTgt spid="93799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38002"/>
                                        </p:tgtEl>
                                        <p:attrNameLst>
                                          <p:attrName>style.visibility</p:attrName>
                                        </p:attrNameLst>
                                      </p:cBhvr>
                                      <p:to>
                                        <p:strVal val="visible"/>
                                      </p:to>
                                    </p:set>
                                    <p:animEffect transition="in" filter="wipe(left)">
                                      <p:cBhvr>
                                        <p:cTn id="17" dur="500"/>
                                        <p:tgtEl>
                                          <p:spTgt spid="93800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38004"/>
                                        </p:tgtEl>
                                        <p:attrNameLst>
                                          <p:attrName>style.visibility</p:attrName>
                                        </p:attrNameLst>
                                      </p:cBhvr>
                                      <p:to>
                                        <p:strVal val="visible"/>
                                      </p:to>
                                    </p:set>
                                    <p:animEffect transition="in" filter="wipe(left)">
                                      <p:cBhvr>
                                        <p:cTn id="22" dur="500"/>
                                        <p:tgtEl>
                                          <p:spTgt spid="93800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37994"/>
                                        </p:tgtEl>
                                        <p:attrNameLst>
                                          <p:attrName>style.visibility</p:attrName>
                                        </p:attrNameLst>
                                      </p:cBhvr>
                                      <p:to>
                                        <p:strVal val="visible"/>
                                      </p:to>
                                    </p:set>
                                    <p:animEffect transition="in" filter="wipe(left)">
                                      <p:cBhvr>
                                        <p:cTn id="27" dur="500"/>
                                        <p:tgtEl>
                                          <p:spTgt spid="9379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AutoShape 2">
            <a:hlinkClick r:id="" action="ppaction://hlinkshowjump?jump=previousslide" highlightClick="1"/>
          </p:cNvPr>
          <p:cNvSpPr>
            <a:spLocks noChangeArrowheads="1"/>
          </p:cNvSpPr>
          <p:nvPr/>
        </p:nvSpPr>
        <p:spPr bwMode="auto">
          <a:xfrm>
            <a:off x="9120189" y="6524625"/>
            <a:ext cx="287337" cy="215900"/>
          </a:xfrm>
          <a:prstGeom prst="actionButtonBackPrevious">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25603" name="AutoShape 3">
            <a:hlinkClick r:id="" action="ppaction://hlinkshowjump?jump=nextslide" highlightClick="1"/>
          </p:cNvPr>
          <p:cNvSpPr>
            <a:spLocks noChangeArrowheads="1"/>
          </p:cNvSpPr>
          <p:nvPr/>
        </p:nvSpPr>
        <p:spPr bwMode="auto">
          <a:xfrm>
            <a:off x="9407525" y="6524625"/>
            <a:ext cx="285750" cy="215900"/>
          </a:xfrm>
          <a:prstGeom prst="actionButtonForwardNex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25604" name="AutoShape 4">
            <a:hlinkClick r:id="" action="ppaction://hlinkshowjump?jump=firstslide" highlightClick="1"/>
          </p:cNvPr>
          <p:cNvSpPr>
            <a:spLocks noChangeArrowheads="1"/>
          </p:cNvSpPr>
          <p:nvPr/>
        </p:nvSpPr>
        <p:spPr bwMode="auto">
          <a:xfrm>
            <a:off x="9694864" y="6524625"/>
            <a:ext cx="287337" cy="215900"/>
          </a:xfrm>
          <a:prstGeom prst="actionButtonBeginning">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25605" name="AutoShape 5">
            <a:hlinkClick r:id="" action="ppaction://hlinkshowjump?jump=endshow" highlightClick="1"/>
          </p:cNvPr>
          <p:cNvSpPr>
            <a:spLocks noChangeArrowheads="1"/>
          </p:cNvSpPr>
          <p:nvPr/>
        </p:nvSpPr>
        <p:spPr bwMode="auto">
          <a:xfrm>
            <a:off x="9983789" y="6524625"/>
            <a:ext cx="287337" cy="215900"/>
          </a:xfrm>
          <a:prstGeom prst="actionButtonEnd">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25606" name="AutoShape 6">
            <a:hlinkClick r:id="rId1" action="ppaction://hlinksldjump" highlightClick="1"/>
          </p:cNvPr>
          <p:cNvSpPr>
            <a:spLocks noChangeArrowheads="1"/>
          </p:cNvSpPr>
          <p:nvPr/>
        </p:nvSpPr>
        <p:spPr bwMode="auto">
          <a:xfrm>
            <a:off x="10272714" y="6524625"/>
            <a:ext cx="288925" cy="215900"/>
          </a:xfrm>
          <a:prstGeom prst="actionButtonReturn">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graphicFrame>
        <p:nvGraphicFramePr>
          <p:cNvPr id="939024" name="Object 16"/>
          <p:cNvGraphicFramePr>
            <a:graphicFrameLocks noGrp="1" noChangeAspect="1"/>
          </p:cNvGraphicFramePr>
          <p:nvPr>
            <p:ph sz="half" idx="1"/>
          </p:nvPr>
        </p:nvGraphicFramePr>
        <p:xfrm>
          <a:off x="3287713" y="2927350"/>
          <a:ext cx="4102100" cy="1711325"/>
        </p:xfrm>
        <a:graphic>
          <a:graphicData uri="http://schemas.openxmlformats.org/presentationml/2006/ole">
            <mc:AlternateContent xmlns:mc="http://schemas.openxmlformats.org/markup-compatibility/2006">
              <mc:Choice xmlns:v="urn:schemas-microsoft-com:vml" Requires="v">
                <p:oleObj spid="_x0000_s25601" name="公式" r:id="rId2" imgW="2099945" imgH="869315" progId="Equation.3">
                  <p:embed/>
                </p:oleObj>
              </mc:Choice>
              <mc:Fallback>
                <p:oleObj name="公式" r:id="rId2" imgW="2099945" imgH="869315" progId="Equation.3">
                  <p:embed/>
                  <p:pic>
                    <p:nvPicPr>
                      <p:cNvPr id="0" name="Object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87713" y="2927350"/>
                        <a:ext cx="4102100" cy="1711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39016" name="Object 8"/>
          <p:cNvGraphicFramePr>
            <a:graphicFrameLocks noGrp="1" noChangeAspect="1"/>
          </p:cNvGraphicFramePr>
          <p:nvPr>
            <p:ph sz="quarter" idx="2"/>
          </p:nvPr>
        </p:nvGraphicFramePr>
        <p:xfrm>
          <a:off x="2930525" y="481013"/>
          <a:ext cx="7373938" cy="1027112"/>
        </p:xfrm>
        <a:graphic>
          <a:graphicData uri="http://schemas.openxmlformats.org/presentationml/2006/ole">
            <mc:AlternateContent xmlns:mc="http://schemas.openxmlformats.org/markup-compatibility/2006">
              <mc:Choice xmlns:v="urn:schemas-microsoft-com:vml" Requires="v">
                <p:oleObj spid="_x0000_s2" name="公式" r:id="rId4" imgW="4041140" imgH="553085" progId="Equation.3">
                  <p:embed/>
                </p:oleObj>
              </mc:Choice>
              <mc:Fallback>
                <p:oleObj name="公式" r:id="rId4" imgW="4041140" imgH="553085" progId="Equation.3">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30525" y="481013"/>
                        <a:ext cx="7373938" cy="1027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39017" name="Rectangle 9"/>
          <p:cNvSpPr>
            <a:spLocks noChangeArrowheads="1"/>
          </p:cNvSpPr>
          <p:nvPr/>
        </p:nvSpPr>
        <p:spPr bwMode="auto">
          <a:xfrm>
            <a:off x="1847850" y="260351"/>
            <a:ext cx="8064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en-US" altLang="zh-CN" sz="2800">
                <a:ea typeface="宋体" pitchFamily="2" charset="-122"/>
              </a:rPr>
              <a:t>   </a:t>
            </a:r>
            <a:r>
              <a:rPr lang="zh-CN" altLang="en-US" sz="2800">
                <a:ea typeface="宋体" pitchFamily="2" charset="-122"/>
              </a:rPr>
              <a:t>又</a:t>
            </a:r>
            <a:endParaRPr lang="zh-CN" altLang="en-US" sz="2800">
              <a:ea typeface="宋体" pitchFamily="2" charset="-122"/>
            </a:endParaRPr>
          </a:p>
        </p:txBody>
      </p:sp>
      <p:graphicFrame>
        <p:nvGraphicFramePr>
          <p:cNvPr id="939022" name="Object 14"/>
          <p:cNvGraphicFramePr>
            <a:graphicFrameLocks noChangeAspect="1"/>
          </p:cNvGraphicFramePr>
          <p:nvPr/>
        </p:nvGraphicFramePr>
        <p:xfrm>
          <a:off x="3287713" y="1700213"/>
          <a:ext cx="6342062" cy="982662"/>
        </p:xfrm>
        <a:graphic>
          <a:graphicData uri="http://schemas.openxmlformats.org/presentationml/2006/ole">
            <mc:AlternateContent xmlns:mc="http://schemas.openxmlformats.org/markup-compatibility/2006">
              <mc:Choice xmlns:v="urn:schemas-microsoft-com:vml" Requires="v">
                <p:oleObj spid="_x0000_s3" name="公式" r:id="rId6" imgW="3465830" imgH="519430" progId="Equation.3">
                  <p:embed/>
                </p:oleObj>
              </mc:Choice>
              <mc:Fallback>
                <p:oleObj name="公式" r:id="rId6" imgW="3465830" imgH="519430" progId="Equation.3">
                  <p:embed/>
                  <p:pic>
                    <p:nvPicPr>
                      <p:cNvPr id="0" name="Object 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87713" y="1700213"/>
                        <a:ext cx="6342062"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39025" name="Rectangle 17"/>
          <p:cNvSpPr>
            <a:spLocks noChangeArrowheads="1"/>
          </p:cNvSpPr>
          <p:nvPr/>
        </p:nvSpPr>
        <p:spPr bwMode="auto">
          <a:xfrm>
            <a:off x="1847850" y="2924176"/>
            <a:ext cx="11620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en-US" altLang="zh-CN" sz="2800">
                <a:ea typeface="宋体" pitchFamily="2" charset="-122"/>
              </a:rPr>
              <a:t>   </a:t>
            </a:r>
            <a:r>
              <a:rPr lang="zh-CN" altLang="en-US" sz="2800">
                <a:ea typeface="宋体" pitchFamily="2" charset="-122"/>
              </a:rPr>
              <a:t>所以</a:t>
            </a:r>
            <a:endParaRPr lang="zh-CN" altLang="en-US" sz="2800">
              <a:ea typeface="宋体" pitchFamily="2" charset="-122"/>
            </a:endParaRPr>
          </a:p>
        </p:txBody>
      </p:sp>
      <p:sp>
        <p:nvSpPr>
          <p:cNvPr id="939026" name="Rectangle 18"/>
          <p:cNvSpPr>
            <a:spLocks noChangeArrowheads="1"/>
          </p:cNvSpPr>
          <p:nvPr/>
        </p:nvSpPr>
        <p:spPr bwMode="auto">
          <a:xfrm>
            <a:off x="1919288" y="4365626"/>
            <a:ext cx="8064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en-US" altLang="zh-CN" sz="2800">
                <a:ea typeface="宋体" pitchFamily="2" charset="-122"/>
              </a:rPr>
              <a:t>   </a:t>
            </a:r>
            <a:r>
              <a:rPr lang="zh-CN" altLang="en-US" sz="2800">
                <a:ea typeface="宋体" pitchFamily="2" charset="-122"/>
              </a:rPr>
              <a:t>故</a:t>
            </a:r>
            <a:endParaRPr lang="zh-CN" altLang="en-US" sz="2800">
              <a:ea typeface="宋体" pitchFamily="2" charset="-122"/>
            </a:endParaRPr>
          </a:p>
        </p:txBody>
      </p:sp>
      <p:graphicFrame>
        <p:nvGraphicFramePr>
          <p:cNvPr id="939027" name="Object 19"/>
          <p:cNvGraphicFramePr>
            <a:graphicFrameLocks noChangeAspect="1"/>
          </p:cNvGraphicFramePr>
          <p:nvPr/>
        </p:nvGraphicFramePr>
        <p:xfrm>
          <a:off x="3014663" y="4857750"/>
          <a:ext cx="5676900" cy="633413"/>
        </p:xfrm>
        <a:graphic>
          <a:graphicData uri="http://schemas.openxmlformats.org/presentationml/2006/ole">
            <mc:AlternateContent xmlns:mc="http://schemas.openxmlformats.org/markup-compatibility/2006">
              <mc:Choice xmlns:v="urn:schemas-microsoft-com:vml" Requires="v">
                <p:oleObj spid="_x0000_s4" name="Equation" r:id="rId8" imgW="59131200" imgH="6400800" progId="Equation.DSMT4">
                  <p:embed/>
                </p:oleObj>
              </mc:Choice>
              <mc:Fallback>
                <p:oleObj name="Equation" r:id="rId8" imgW="59131200" imgH="6400800" progId="Equation.DSMT4">
                  <p:embed/>
                  <p:pic>
                    <p:nvPicPr>
                      <p:cNvPr id="0" name="Object 19"/>
                      <p:cNvPicPr>
                        <a:picLocks noChangeAspect="1" noChangeArrowheads="1"/>
                      </p:cNvPicPr>
                      <p:nvPr/>
                    </p:nvPicPr>
                    <p:blipFill>
                      <a:blip r:embed="rId9"/>
                      <a:srcRect/>
                      <a:stretch>
                        <a:fillRect/>
                      </a:stretch>
                    </p:blipFill>
                    <p:spPr bwMode="auto">
                      <a:xfrm>
                        <a:off x="3014663" y="4857750"/>
                        <a:ext cx="5676900" cy="633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39017"/>
                                        </p:tgtEl>
                                        <p:attrNameLst>
                                          <p:attrName>style.visibility</p:attrName>
                                        </p:attrNameLst>
                                      </p:cBhvr>
                                      <p:to>
                                        <p:strVal val="visible"/>
                                      </p:to>
                                    </p:set>
                                    <p:animEffect transition="in" filter="wipe(left)">
                                      <p:cBhvr>
                                        <p:cTn id="7" dur="500"/>
                                        <p:tgtEl>
                                          <p:spTgt spid="9390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39016"/>
                                        </p:tgtEl>
                                        <p:attrNameLst>
                                          <p:attrName>style.visibility</p:attrName>
                                        </p:attrNameLst>
                                      </p:cBhvr>
                                      <p:to>
                                        <p:strVal val="visible"/>
                                      </p:to>
                                    </p:set>
                                    <p:animEffect transition="in" filter="wipe(left)">
                                      <p:cBhvr>
                                        <p:cTn id="12" dur="500"/>
                                        <p:tgtEl>
                                          <p:spTgt spid="9390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39022"/>
                                        </p:tgtEl>
                                        <p:attrNameLst>
                                          <p:attrName>style.visibility</p:attrName>
                                        </p:attrNameLst>
                                      </p:cBhvr>
                                      <p:to>
                                        <p:strVal val="visible"/>
                                      </p:to>
                                    </p:set>
                                    <p:animEffect transition="in" filter="wipe(left)">
                                      <p:cBhvr>
                                        <p:cTn id="17" dur="500"/>
                                        <p:tgtEl>
                                          <p:spTgt spid="93902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39025"/>
                                        </p:tgtEl>
                                        <p:attrNameLst>
                                          <p:attrName>style.visibility</p:attrName>
                                        </p:attrNameLst>
                                      </p:cBhvr>
                                      <p:to>
                                        <p:strVal val="visible"/>
                                      </p:to>
                                    </p:set>
                                    <p:animEffect transition="in" filter="wipe(left)">
                                      <p:cBhvr>
                                        <p:cTn id="22" dur="500"/>
                                        <p:tgtEl>
                                          <p:spTgt spid="93902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39024"/>
                                        </p:tgtEl>
                                        <p:attrNameLst>
                                          <p:attrName>style.visibility</p:attrName>
                                        </p:attrNameLst>
                                      </p:cBhvr>
                                      <p:to>
                                        <p:strVal val="visible"/>
                                      </p:to>
                                    </p:set>
                                    <p:animEffect transition="in" filter="wipe(left)">
                                      <p:cBhvr>
                                        <p:cTn id="27" dur="500"/>
                                        <p:tgtEl>
                                          <p:spTgt spid="93902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39026"/>
                                        </p:tgtEl>
                                        <p:attrNameLst>
                                          <p:attrName>style.visibility</p:attrName>
                                        </p:attrNameLst>
                                      </p:cBhvr>
                                      <p:to>
                                        <p:strVal val="visible"/>
                                      </p:to>
                                    </p:set>
                                    <p:animEffect transition="in" filter="wipe(left)">
                                      <p:cBhvr>
                                        <p:cTn id="32" dur="500"/>
                                        <p:tgtEl>
                                          <p:spTgt spid="93902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939027"/>
                                        </p:tgtEl>
                                        <p:attrNameLst>
                                          <p:attrName>style.visibility</p:attrName>
                                        </p:attrNameLst>
                                      </p:cBhvr>
                                      <p:to>
                                        <p:strVal val="visible"/>
                                      </p:to>
                                    </p:set>
                                    <p:animEffect transition="in" filter="wipe(left)">
                                      <p:cBhvr>
                                        <p:cTn id="37" dur="500"/>
                                        <p:tgtEl>
                                          <p:spTgt spid="9390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9017" grpId="0"/>
      <p:bldP spid="939025" grpId="0"/>
      <p:bldP spid="93902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AutoShape 2">
            <a:hlinkClick r:id="" action="ppaction://hlinkshowjump?jump=previousslide" highlightClick="1"/>
          </p:cNvPr>
          <p:cNvSpPr>
            <a:spLocks noChangeArrowheads="1"/>
          </p:cNvSpPr>
          <p:nvPr/>
        </p:nvSpPr>
        <p:spPr bwMode="auto">
          <a:xfrm>
            <a:off x="9120189" y="6524625"/>
            <a:ext cx="287337" cy="215900"/>
          </a:xfrm>
          <a:prstGeom prst="actionButtonBackPrevious">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26627" name="AutoShape 3">
            <a:hlinkClick r:id="" action="ppaction://hlinkshowjump?jump=nextslide" highlightClick="1"/>
          </p:cNvPr>
          <p:cNvSpPr>
            <a:spLocks noChangeArrowheads="1"/>
          </p:cNvSpPr>
          <p:nvPr/>
        </p:nvSpPr>
        <p:spPr bwMode="auto">
          <a:xfrm>
            <a:off x="9407525" y="6524625"/>
            <a:ext cx="285750" cy="215900"/>
          </a:xfrm>
          <a:prstGeom prst="actionButtonForwardNex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26628" name="AutoShape 4">
            <a:hlinkClick r:id="" action="ppaction://hlinkshowjump?jump=firstslide" highlightClick="1"/>
          </p:cNvPr>
          <p:cNvSpPr>
            <a:spLocks noChangeArrowheads="1"/>
          </p:cNvSpPr>
          <p:nvPr/>
        </p:nvSpPr>
        <p:spPr bwMode="auto">
          <a:xfrm>
            <a:off x="9694864" y="6524625"/>
            <a:ext cx="287337" cy="215900"/>
          </a:xfrm>
          <a:prstGeom prst="actionButtonBeginning">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26629" name="AutoShape 5">
            <a:hlinkClick r:id="" action="ppaction://hlinkshowjump?jump=endshow" highlightClick="1"/>
          </p:cNvPr>
          <p:cNvSpPr>
            <a:spLocks noChangeArrowheads="1"/>
          </p:cNvSpPr>
          <p:nvPr/>
        </p:nvSpPr>
        <p:spPr bwMode="auto">
          <a:xfrm>
            <a:off x="9983789" y="6524625"/>
            <a:ext cx="287337" cy="215900"/>
          </a:xfrm>
          <a:prstGeom prst="actionButtonEnd">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26630" name="AutoShape 6">
            <a:hlinkClick r:id="rId1" action="ppaction://hlinksldjump" highlightClick="1"/>
          </p:cNvPr>
          <p:cNvSpPr>
            <a:spLocks noChangeArrowheads="1"/>
          </p:cNvSpPr>
          <p:nvPr/>
        </p:nvSpPr>
        <p:spPr bwMode="auto">
          <a:xfrm>
            <a:off x="10272714" y="6524625"/>
            <a:ext cx="288925" cy="215900"/>
          </a:xfrm>
          <a:prstGeom prst="actionButtonReturn">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26631" name="Rectangle 7"/>
          <p:cNvSpPr>
            <a:spLocks noChangeArrowheads="1"/>
          </p:cNvSpPr>
          <p:nvPr/>
        </p:nvSpPr>
        <p:spPr bwMode="auto">
          <a:xfrm>
            <a:off x="2135189" y="476250"/>
            <a:ext cx="7704137" cy="5286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lnSpc>
                <a:spcPct val="110000"/>
              </a:lnSpc>
              <a:spcBef>
                <a:spcPct val="0"/>
              </a:spcBef>
            </a:pPr>
            <a:r>
              <a:rPr lang="en-US" altLang="zh-CN" sz="2800">
                <a:latin typeface="宋体" pitchFamily="2" charset="-122"/>
                <a:ea typeface="宋体" pitchFamily="2" charset="-122"/>
              </a:rPr>
              <a:t>  </a:t>
            </a:r>
            <a:r>
              <a:rPr lang="zh-CN" altLang="en-US" sz="2800">
                <a:latin typeface="楷体_GB2312" pitchFamily="49" charset="-122"/>
              </a:rPr>
              <a:t>关于模型</a:t>
            </a:r>
            <a:r>
              <a:rPr lang="en-US" altLang="zh-CN" sz="2800">
                <a:latin typeface="楷体_GB2312" pitchFamily="49" charset="-122"/>
              </a:rPr>
              <a:t>(1)</a:t>
            </a:r>
            <a:r>
              <a:rPr lang="zh-CN" altLang="en-US" sz="2800">
                <a:latin typeface="楷体_GB2312" pitchFamily="49" charset="-122"/>
              </a:rPr>
              <a:t>的最小二乘估计服从以下分布</a:t>
            </a:r>
            <a:endParaRPr lang="zh-CN" altLang="en-US" sz="2800">
              <a:latin typeface="楷体_GB2312" pitchFamily="49" charset="-122"/>
            </a:endParaRPr>
          </a:p>
        </p:txBody>
      </p:sp>
      <p:sp>
        <p:nvSpPr>
          <p:cNvPr id="877576" name="Rectangle 8"/>
          <p:cNvSpPr>
            <a:spLocks noChangeArrowheads="1"/>
          </p:cNvSpPr>
          <p:nvPr/>
        </p:nvSpPr>
        <p:spPr bwMode="auto">
          <a:xfrm>
            <a:off x="2208213" y="1606550"/>
            <a:ext cx="112402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zh-CN" altLang="en-US" sz="2800" b="1">
                <a:solidFill>
                  <a:srgbClr val="0000FF"/>
                </a:solidFill>
                <a:latin typeface="楷体_GB2312" pitchFamily="49" charset="-122"/>
              </a:rPr>
              <a:t>定理</a:t>
            </a:r>
            <a:r>
              <a:rPr lang="en-US" altLang="zh-CN" sz="2800" b="1">
                <a:solidFill>
                  <a:srgbClr val="0000FF"/>
                </a:solidFill>
                <a:latin typeface="楷体_GB2312" pitchFamily="49" charset="-122"/>
              </a:rPr>
              <a:t>1</a:t>
            </a:r>
            <a:endParaRPr lang="en-US" altLang="zh-CN" sz="2800">
              <a:solidFill>
                <a:srgbClr val="0000FF"/>
              </a:solidFill>
              <a:latin typeface="楷体_GB2312" pitchFamily="49" charset="-122"/>
            </a:endParaRPr>
          </a:p>
        </p:txBody>
      </p:sp>
      <p:grpSp>
        <p:nvGrpSpPr>
          <p:cNvPr id="877577" name="Group 9"/>
          <p:cNvGrpSpPr/>
          <p:nvPr/>
        </p:nvGrpSpPr>
        <p:grpSpPr bwMode="auto">
          <a:xfrm>
            <a:off x="3143251" y="1484314"/>
            <a:ext cx="4486275" cy="974725"/>
            <a:chOff x="1202" y="942"/>
            <a:chExt cx="2578" cy="538"/>
          </a:xfrm>
        </p:grpSpPr>
        <p:graphicFrame>
          <p:nvGraphicFramePr>
            <p:cNvPr id="26646" name="Object 10"/>
            <p:cNvGraphicFramePr>
              <a:graphicFrameLocks noChangeAspect="1"/>
            </p:cNvGraphicFramePr>
            <p:nvPr/>
          </p:nvGraphicFramePr>
          <p:xfrm>
            <a:off x="1889" y="942"/>
            <a:ext cx="1891" cy="538"/>
          </p:xfrm>
          <a:graphic>
            <a:graphicData uri="http://schemas.openxmlformats.org/presentationml/2006/ole">
              <mc:AlternateContent xmlns:mc="http://schemas.openxmlformats.org/markup-compatibility/2006">
                <mc:Choice xmlns:v="urn:schemas-microsoft-com:vml" Requires="v">
                  <p:oleObj spid="_x0000_s25601" name="公式" r:id="rId2" imgW="1862455" imgH="575945" progId="Equation.3">
                    <p:embed/>
                  </p:oleObj>
                </mc:Choice>
                <mc:Fallback>
                  <p:oleObj name="公式" r:id="rId2" imgW="1862455" imgH="575945" progId="Equation.3">
                    <p:embed/>
                    <p:pic>
                      <p:nvPicPr>
                        <p:cNvPr id="0" name="Object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9" y="942"/>
                          <a:ext cx="1891" cy="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647" name="Rectangle 11"/>
            <p:cNvSpPr>
              <a:spLocks noChangeArrowheads="1"/>
            </p:cNvSpPr>
            <p:nvPr/>
          </p:nvSpPr>
          <p:spPr bwMode="auto">
            <a:xfrm>
              <a:off x="1202" y="1027"/>
              <a:ext cx="617"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zh-CN" altLang="en-US" sz="2800">
                  <a:ea typeface="宋体" pitchFamily="2" charset="-122"/>
                </a:rPr>
                <a:t>（</a:t>
              </a:r>
              <a:r>
                <a:rPr lang="en-US" altLang="zh-CN" sz="2800">
                  <a:ea typeface="宋体" pitchFamily="2" charset="-122"/>
                </a:rPr>
                <a:t>1</a:t>
              </a:r>
              <a:r>
                <a:rPr lang="zh-CN" altLang="en-US" sz="2800">
                  <a:ea typeface="宋体" pitchFamily="2" charset="-122"/>
                </a:rPr>
                <a:t>）</a:t>
              </a:r>
              <a:endParaRPr lang="zh-CN" altLang="en-US" sz="2800">
                <a:ea typeface="宋体" pitchFamily="2" charset="-122"/>
              </a:endParaRPr>
            </a:p>
          </p:txBody>
        </p:sp>
      </p:grpSp>
      <p:grpSp>
        <p:nvGrpSpPr>
          <p:cNvPr id="877580" name="Group 12"/>
          <p:cNvGrpSpPr/>
          <p:nvPr/>
        </p:nvGrpSpPr>
        <p:grpSpPr bwMode="auto">
          <a:xfrm>
            <a:off x="3143251" y="2565400"/>
            <a:ext cx="3673475" cy="1079500"/>
            <a:chOff x="1202" y="1862"/>
            <a:chExt cx="2191" cy="507"/>
          </a:xfrm>
        </p:grpSpPr>
        <p:graphicFrame>
          <p:nvGraphicFramePr>
            <p:cNvPr id="26644" name="Object 13"/>
            <p:cNvGraphicFramePr>
              <a:graphicFrameLocks noChangeAspect="1"/>
            </p:cNvGraphicFramePr>
            <p:nvPr/>
          </p:nvGraphicFramePr>
          <p:xfrm>
            <a:off x="2231" y="1862"/>
            <a:ext cx="1162" cy="507"/>
          </p:xfrm>
          <a:graphic>
            <a:graphicData uri="http://schemas.openxmlformats.org/presentationml/2006/ole">
              <mc:AlternateContent xmlns:mc="http://schemas.openxmlformats.org/markup-compatibility/2006">
                <mc:Choice xmlns:v="urn:schemas-microsoft-com:vml" Requires="v">
                  <p:oleObj spid="_x0000_s2" name="公式" r:id="rId4" imgW="1027430" imgH="553085" progId="Equation.3">
                    <p:embed/>
                  </p:oleObj>
                </mc:Choice>
                <mc:Fallback>
                  <p:oleObj name="公式" r:id="rId4" imgW="1027430" imgH="553085" progId="Equation.3">
                    <p:embed/>
                    <p:pic>
                      <p:nvPicPr>
                        <p:cNvPr id="0"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31" y="1862"/>
                          <a:ext cx="1162" cy="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645" name="Rectangle 14"/>
            <p:cNvSpPr>
              <a:spLocks noChangeArrowheads="1"/>
            </p:cNvSpPr>
            <p:nvPr/>
          </p:nvSpPr>
          <p:spPr bwMode="auto">
            <a:xfrm>
              <a:off x="1202" y="1924"/>
              <a:ext cx="640" cy="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zh-CN" altLang="en-US" sz="2800">
                  <a:ea typeface="宋体" pitchFamily="2" charset="-122"/>
                </a:rPr>
                <a:t>（</a:t>
              </a:r>
              <a:r>
                <a:rPr lang="en-US" altLang="zh-CN" sz="2800">
                  <a:ea typeface="宋体" pitchFamily="2" charset="-122"/>
                </a:rPr>
                <a:t>2</a:t>
              </a:r>
              <a:r>
                <a:rPr lang="zh-CN" altLang="en-US" sz="2800">
                  <a:ea typeface="宋体" pitchFamily="2" charset="-122"/>
                </a:rPr>
                <a:t>）</a:t>
              </a:r>
              <a:endParaRPr lang="zh-CN" altLang="en-US" sz="2800">
                <a:ea typeface="宋体" pitchFamily="2" charset="-122"/>
              </a:endParaRPr>
            </a:p>
          </p:txBody>
        </p:sp>
      </p:grpSp>
      <p:grpSp>
        <p:nvGrpSpPr>
          <p:cNvPr id="877595" name="Group 27"/>
          <p:cNvGrpSpPr/>
          <p:nvPr/>
        </p:nvGrpSpPr>
        <p:grpSpPr bwMode="auto">
          <a:xfrm>
            <a:off x="3132139" y="4797426"/>
            <a:ext cx="5022808" cy="792163"/>
            <a:chOff x="1020" y="3113"/>
            <a:chExt cx="2774" cy="499"/>
          </a:xfrm>
        </p:grpSpPr>
        <p:graphicFrame>
          <p:nvGraphicFramePr>
            <p:cNvPr id="26642" name="Object 16"/>
            <p:cNvGraphicFramePr>
              <a:graphicFrameLocks noChangeAspect="1"/>
            </p:cNvGraphicFramePr>
            <p:nvPr/>
          </p:nvGraphicFramePr>
          <p:xfrm>
            <a:off x="1655" y="3113"/>
            <a:ext cx="2139" cy="499"/>
          </p:xfrm>
          <a:graphic>
            <a:graphicData uri="http://schemas.openxmlformats.org/presentationml/2006/ole">
              <mc:AlternateContent xmlns:mc="http://schemas.openxmlformats.org/markup-compatibility/2006">
                <mc:Choice xmlns:v="urn:schemas-microsoft-com:vml" Requires="v">
                  <p:oleObj spid="_x0000_s3" name="公式" r:id="rId6" imgW="2381885" imgH="440055" progId="Equation.3">
                    <p:embed/>
                  </p:oleObj>
                </mc:Choice>
                <mc:Fallback>
                  <p:oleObj name="公式" r:id="rId6" imgW="2381885" imgH="440055" progId="Equation.3">
                    <p:embed/>
                    <p:pic>
                      <p:nvPicPr>
                        <p:cNvPr id="0" name="Object 1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55" y="3113"/>
                          <a:ext cx="2139"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643" name="Rectangle 17"/>
            <p:cNvSpPr>
              <a:spLocks noChangeArrowheads="1"/>
            </p:cNvSpPr>
            <p:nvPr/>
          </p:nvSpPr>
          <p:spPr bwMode="auto">
            <a:xfrm>
              <a:off x="1020" y="3194"/>
              <a:ext cx="67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zh-CN" altLang="en-US" sz="2800">
                  <a:ea typeface="宋体" pitchFamily="2" charset="-122"/>
                </a:rPr>
                <a:t>（</a:t>
              </a:r>
              <a:r>
                <a:rPr lang="en-US" altLang="zh-CN" sz="2800">
                  <a:ea typeface="宋体" pitchFamily="2" charset="-122"/>
                </a:rPr>
                <a:t>4</a:t>
              </a:r>
              <a:r>
                <a:rPr lang="zh-CN" altLang="en-US" sz="2800">
                  <a:ea typeface="宋体" pitchFamily="2" charset="-122"/>
                </a:rPr>
                <a:t>）</a:t>
              </a:r>
              <a:endParaRPr lang="zh-CN" altLang="en-US" sz="2800">
                <a:ea typeface="宋体" pitchFamily="2" charset="-122"/>
              </a:endParaRPr>
            </a:p>
          </p:txBody>
        </p:sp>
      </p:grpSp>
      <p:grpSp>
        <p:nvGrpSpPr>
          <p:cNvPr id="877594" name="Group 26"/>
          <p:cNvGrpSpPr/>
          <p:nvPr/>
        </p:nvGrpSpPr>
        <p:grpSpPr bwMode="auto">
          <a:xfrm>
            <a:off x="3143250" y="3741738"/>
            <a:ext cx="6095343" cy="1027112"/>
            <a:chOff x="1020" y="2403"/>
            <a:chExt cx="4376" cy="647"/>
          </a:xfrm>
        </p:grpSpPr>
        <p:graphicFrame>
          <p:nvGraphicFramePr>
            <p:cNvPr id="26640" name="Object 24"/>
            <p:cNvGraphicFramePr>
              <a:graphicFrameLocks noChangeAspect="1"/>
            </p:cNvGraphicFramePr>
            <p:nvPr/>
          </p:nvGraphicFramePr>
          <p:xfrm>
            <a:off x="1790" y="2403"/>
            <a:ext cx="3606" cy="647"/>
          </p:xfrm>
          <a:graphic>
            <a:graphicData uri="http://schemas.openxmlformats.org/presentationml/2006/ole">
              <mc:AlternateContent xmlns:mc="http://schemas.openxmlformats.org/markup-compatibility/2006">
                <mc:Choice xmlns:v="urn:schemas-microsoft-com:vml" Requires="v">
                  <p:oleObj spid="_x0000_s4" name="公式" r:id="rId8" imgW="2472055" imgH="575945" progId="Equation.3">
                    <p:embed/>
                  </p:oleObj>
                </mc:Choice>
                <mc:Fallback>
                  <p:oleObj name="公式" r:id="rId8" imgW="2472055" imgH="575945" progId="Equation.3">
                    <p:embed/>
                    <p:pic>
                      <p:nvPicPr>
                        <p:cNvPr id="0" name="Object 2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90" y="2403"/>
                          <a:ext cx="3606" cy="647"/>
                        </a:xfrm>
                        <a:prstGeom prst="rect">
                          <a:avLst/>
                        </a:prstGeom>
                        <a:noFill/>
                        <a:ln>
                          <a:noFill/>
                        </a:ln>
                      </p:spPr>
                    </p:pic>
                  </p:oleObj>
                </mc:Fallback>
              </mc:AlternateContent>
            </a:graphicData>
          </a:graphic>
        </p:graphicFrame>
        <p:sp>
          <p:nvSpPr>
            <p:cNvPr id="26641" name="Rectangle 25"/>
            <p:cNvSpPr>
              <a:spLocks noChangeArrowheads="1"/>
            </p:cNvSpPr>
            <p:nvPr/>
          </p:nvSpPr>
          <p:spPr bwMode="auto">
            <a:xfrm>
              <a:off x="1020" y="2568"/>
              <a:ext cx="67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zh-CN" altLang="en-US" sz="2800">
                  <a:ea typeface="宋体" pitchFamily="2" charset="-122"/>
                </a:rPr>
                <a:t>（</a:t>
              </a:r>
              <a:r>
                <a:rPr lang="en-US" altLang="zh-CN" sz="2800">
                  <a:ea typeface="宋体" pitchFamily="2" charset="-122"/>
                </a:rPr>
                <a:t>3</a:t>
              </a:r>
              <a:r>
                <a:rPr lang="zh-CN" altLang="en-US" sz="2800">
                  <a:ea typeface="宋体" pitchFamily="2" charset="-122"/>
                </a:rPr>
                <a:t>）</a:t>
              </a:r>
              <a:endParaRPr lang="zh-CN" altLang="en-US" sz="2800">
                <a:ea typeface="宋体" pitchFamily="2" charset="-122"/>
              </a:endParaRPr>
            </a:p>
          </p:txBody>
        </p:sp>
      </p:grpSp>
      <p:grpSp>
        <p:nvGrpSpPr>
          <p:cNvPr id="877596" name="Group 28"/>
          <p:cNvGrpSpPr/>
          <p:nvPr/>
        </p:nvGrpSpPr>
        <p:grpSpPr bwMode="auto">
          <a:xfrm>
            <a:off x="3143251" y="5661026"/>
            <a:ext cx="3978275" cy="868363"/>
            <a:chOff x="1020" y="3089"/>
            <a:chExt cx="2506" cy="547"/>
          </a:xfrm>
        </p:grpSpPr>
        <p:graphicFrame>
          <p:nvGraphicFramePr>
            <p:cNvPr id="26638" name="Object 29"/>
            <p:cNvGraphicFramePr>
              <a:graphicFrameLocks noChangeAspect="1"/>
            </p:cNvGraphicFramePr>
            <p:nvPr/>
          </p:nvGraphicFramePr>
          <p:xfrm>
            <a:off x="1922" y="3089"/>
            <a:ext cx="1604" cy="547"/>
          </p:xfrm>
          <a:graphic>
            <a:graphicData uri="http://schemas.openxmlformats.org/presentationml/2006/ole">
              <mc:AlternateContent xmlns:mc="http://schemas.openxmlformats.org/markup-compatibility/2006">
                <mc:Choice xmlns:v="urn:schemas-microsoft-com:vml" Requires="v">
                  <p:oleObj spid="_x0000_s5" name="公式" r:id="rId10" imgW="1783715" imgH="485140" progId="Equation.3">
                    <p:embed/>
                  </p:oleObj>
                </mc:Choice>
                <mc:Fallback>
                  <p:oleObj name="公式" r:id="rId10" imgW="1783715" imgH="485140" progId="Equation.3">
                    <p:embed/>
                    <p:pic>
                      <p:nvPicPr>
                        <p:cNvPr id="0" name="Object 2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922" y="3089"/>
                          <a:ext cx="1604" cy="5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639" name="Rectangle 30"/>
            <p:cNvSpPr>
              <a:spLocks noChangeArrowheads="1"/>
            </p:cNvSpPr>
            <p:nvPr/>
          </p:nvSpPr>
          <p:spPr bwMode="auto">
            <a:xfrm>
              <a:off x="1020" y="3194"/>
              <a:ext cx="67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zh-CN" altLang="en-US" sz="2800">
                  <a:ea typeface="宋体" pitchFamily="2" charset="-122"/>
                </a:rPr>
                <a:t>（</a:t>
              </a:r>
              <a:r>
                <a:rPr lang="en-US" altLang="zh-CN" sz="2800">
                  <a:ea typeface="宋体" pitchFamily="2" charset="-122"/>
                </a:rPr>
                <a:t>5</a:t>
              </a:r>
              <a:r>
                <a:rPr lang="zh-CN" altLang="en-US" sz="2800">
                  <a:ea typeface="宋体" pitchFamily="2" charset="-122"/>
                </a:rPr>
                <a:t>）</a:t>
              </a:r>
              <a:endParaRPr lang="zh-CN" altLang="en-US" sz="2800">
                <a:ea typeface="宋体"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77576"/>
                                        </p:tgtEl>
                                        <p:attrNameLst>
                                          <p:attrName>style.visibility</p:attrName>
                                        </p:attrNameLst>
                                      </p:cBhvr>
                                      <p:to>
                                        <p:strVal val="visible"/>
                                      </p:to>
                                    </p:set>
                                    <p:animEffect transition="in" filter="wipe(left)">
                                      <p:cBhvr>
                                        <p:cTn id="7" dur="500"/>
                                        <p:tgtEl>
                                          <p:spTgt spid="87757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77577"/>
                                        </p:tgtEl>
                                        <p:attrNameLst>
                                          <p:attrName>style.visibility</p:attrName>
                                        </p:attrNameLst>
                                      </p:cBhvr>
                                      <p:to>
                                        <p:strVal val="visible"/>
                                      </p:to>
                                    </p:set>
                                    <p:animEffect transition="in" filter="wipe(left)">
                                      <p:cBhvr>
                                        <p:cTn id="12" dur="500"/>
                                        <p:tgtEl>
                                          <p:spTgt spid="87757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77580"/>
                                        </p:tgtEl>
                                        <p:attrNameLst>
                                          <p:attrName>style.visibility</p:attrName>
                                        </p:attrNameLst>
                                      </p:cBhvr>
                                      <p:to>
                                        <p:strVal val="visible"/>
                                      </p:to>
                                    </p:set>
                                    <p:animEffect transition="in" filter="wipe(left)">
                                      <p:cBhvr>
                                        <p:cTn id="17" dur="500"/>
                                        <p:tgtEl>
                                          <p:spTgt spid="87758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77594"/>
                                        </p:tgtEl>
                                        <p:attrNameLst>
                                          <p:attrName>style.visibility</p:attrName>
                                        </p:attrNameLst>
                                      </p:cBhvr>
                                      <p:to>
                                        <p:strVal val="visible"/>
                                      </p:to>
                                    </p:set>
                                    <p:animEffect transition="in" filter="wipe(left)">
                                      <p:cBhvr>
                                        <p:cTn id="22" dur="500"/>
                                        <p:tgtEl>
                                          <p:spTgt spid="87759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77595"/>
                                        </p:tgtEl>
                                        <p:attrNameLst>
                                          <p:attrName>style.visibility</p:attrName>
                                        </p:attrNameLst>
                                      </p:cBhvr>
                                      <p:to>
                                        <p:strVal val="visible"/>
                                      </p:to>
                                    </p:set>
                                    <p:animEffect transition="in" filter="wipe(left)">
                                      <p:cBhvr>
                                        <p:cTn id="27" dur="500"/>
                                        <p:tgtEl>
                                          <p:spTgt spid="87759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877596"/>
                                        </p:tgtEl>
                                        <p:attrNameLst>
                                          <p:attrName>style.visibility</p:attrName>
                                        </p:attrNameLst>
                                      </p:cBhvr>
                                      <p:to>
                                        <p:strVal val="visible"/>
                                      </p:to>
                                    </p:set>
                                    <p:animEffect transition="in" filter="wipe(left)">
                                      <p:cBhvr>
                                        <p:cTn id="32" dur="500"/>
                                        <p:tgtEl>
                                          <p:spTgt spid="8775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757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AutoShape 2">
            <a:hlinkClick r:id="" action="ppaction://hlinkshowjump?jump=previousslide" highlightClick="1"/>
          </p:cNvPr>
          <p:cNvSpPr>
            <a:spLocks noChangeArrowheads="1"/>
          </p:cNvSpPr>
          <p:nvPr/>
        </p:nvSpPr>
        <p:spPr bwMode="auto">
          <a:xfrm>
            <a:off x="9120189" y="6524625"/>
            <a:ext cx="287337" cy="215900"/>
          </a:xfrm>
          <a:prstGeom prst="actionButtonBackPrevious">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27651" name="AutoShape 3">
            <a:hlinkClick r:id="" action="ppaction://hlinkshowjump?jump=nextslide" highlightClick="1"/>
          </p:cNvPr>
          <p:cNvSpPr>
            <a:spLocks noChangeArrowheads="1"/>
          </p:cNvSpPr>
          <p:nvPr/>
        </p:nvSpPr>
        <p:spPr bwMode="auto">
          <a:xfrm>
            <a:off x="9407525" y="6524625"/>
            <a:ext cx="285750" cy="215900"/>
          </a:xfrm>
          <a:prstGeom prst="actionButtonForwardNex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27652" name="AutoShape 4">
            <a:hlinkClick r:id="" action="ppaction://hlinkshowjump?jump=firstslide" highlightClick="1"/>
          </p:cNvPr>
          <p:cNvSpPr>
            <a:spLocks noChangeArrowheads="1"/>
          </p:cNvSpPr>
          <p:nvPr/>
        </p:nvSpPr>
        <p:spPr bwMode="auto">
          <a:xfrm>
            <a:off x="9694864" y="6524625"/>
            <a:ext cx="287337" cy="215900"/>
          </a:xfrm>
          <a:prstGeom prst="actionButtonBeginning">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27653" name="AutoShape 5">
            <a:hlinkClick r:id="" action="ppaction://hlinkshowjump?jump=endshow" highlightClick="1"/>
          </p:cNvPr>
          <p:cNvSpPr>
            <a:spLocks noChangeArrowheads="1"/>
          </p:cNvSpPr>
          <p:nvPr/>
        </p:nvSpPr>
        <p:spPr bwMode="auto">
          <a:xfrm>
            <a:off x="9983789" y="6524625"/>
            <a:ext cx="287337" cy="215900"/>
          </a:xfrm>
          <a:prstGeom prst="actionButtonEnd">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27654" name="AutoShape 6">
            <a:hlinkClick r:id="rId1" action="ppaction://hlinksldjump" highlightClick="1"/>
          </p:cNvPr>
          <p:cNvSpPr>
            <a:spLocks noChangeArrowheads="1"/>
          </p:cNvSpPr>
          <p:nvPr/>
        </p:nvSpPr>
        <p:spPr bwMode="auto">
          <a:xfrm>
            <a:off x="10272714" y="6524625"/>
            <a:ext cx="288925" cy="215900"/>
          </a:xfrm>
          <a:prstGeom prst="actionButtonReturn">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27655" name="Rectangle 8"/>
          <p:cNvSpPr>
            <a:spLocks noChangeArrowheads="1"/>
          </p:cNvSpPr>
          <p:nvPr/>
        </p:nvSpPr>
        <p:spPr bwMode="auto">
          <a:xfrm>
            <a:off x="1559496" y="692150"/>
            <a:ext cx="118814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en-US" altLang="zh-CN" sz="2800" dirty="0">
                <a:ea typeface="宋体" pitchFamily="2" charset="-122"/>
              </a:rPr>
              <a:t>  </a:t>
            </a:r>
            <a:r>
              <a:rPr lang="en-US" altLang="zh-CN" sz="2800" dirty="0">
                <a:latin typeface="楷体_GB2312" pitchFamily="49" charset="-122"/>
              </a:rPr>
              <a:t> </a:t>
            </a:r>
            <a:r>
              <a:rPr lang="zh-CN" altLang="en-US" sz="2800" dirty="0">
                <a:latin typeface="楷体_GB2312" pitchFamily="49" charset="-122"/>
              </a:rPr>
              <a:t>证</a:t>
            </a:r>
            <a:r>
              <a:rPr lang="zh-CN" altLang="en-US" sz="2800" dirty="0">
                <a:ea typeface="宋体" pitchFamily="2" charset="-122"/>
              </a:rPr>
              <a:t>：</a:t>
            </a:r>
            <a:endParaRPr lang="zh-CN" altLang="en-US" sz="2800" dirty="0">
              <a:ea typeface="宋体" pitchFamily="2" charset="-122"/>
            </a:endParaRPr>
          </a:p>
        </p:txBody>
      </p:sp>
      <p:graphicFrame>
        <p:nvGraphicFramePr>
          <p:cNvPr id="947209" name="Object 9"/>
          <p:cNvGraphicFramePr>
            <a:graphicFrameLocks noChangeAspect="1"/>
          </p:cNvGraphicFramePr>
          <p:nvPr/>
        </p:nvGraphicFramePr>
        <p:xfrm>
          <a:off x="3648077" y="549276"/>
          <a:ext cx="4236466" cy="1008063"/>
        </p:xfrm>
        <a:graphic>
          <a:graphicData uri="http://schemas.openxmlformats.org/presentationml/2006/ole">
            <mc:AlternateContent xmlns:mc="http://schemas.openxmlformats.org/markup-compatibility/2006">
              <mc:Choice xmlns:v="urn:schemas-microsoft-com:vml" Requires="v">
                <p:oleObj spid="_x0000_s25601" name="公式" r:id="rId2" imgW="1998345" imgH="519430" progId="Equation.3">
                  <p:embed/>
                </p:oleObj>
              </mc:Choice>
              <mc:Fallback>
                <p:oleObj name="公式" r:id="rId2" imgW="1998345" imgH="519430" progId="Equation.3">
                  <p:embed/>
                  <p:pic>
                    <p:nvPicPr>
                      <p:cNvPr id="0"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48077" y="549276"/>
                        <a:ext cx="4236466" cy="1008063"/>
                      </a:xfrm>
                      <a:prstGeom prst="rect">
                        <a:avLst/>
                      </a:prstGeom>
                      <a:noFill/>
                      <a:ln>
                        <a:noFill/>
                      </a:ln>
                    </p:spPr>
                  </p:pic>
                </p:oleObj>
              </mc:Fallback>
            </mc:AlternateContent>
          </a:graphicData>
        </a:graphic>
      </p:graphicFrame>
      <p:sp>
        <p:nvSpPr>
          <p:cNvPr id="27657" name="Rectangle 11"/>
          <p:cNvSpPr>
            <a:spLocks noChangeArrowheads="1"/>
          </p:cNvSpPr>
          <p:nvPr/>
        </p:nvSpPr>
        <p:spPr bwMode="auto">
          <a:xfrm>
            <a:off x="2063750" y="692150"/>
            <a:ext cx="131157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en-US" altLang="zh-CN" sz="2800">
                <a:latin typeface="楷体_GB2312" pitchFamily="49" charset="-122"/>
              </a:rPr>
              <a:t>   (2)</a:t>
            </a:r>
            <a:r>
              <a:rPr lang="zh-CN" altLang="en-US" sz="2800">
                <a:latin typeface="楷体_GB2312" pitchFamily="49" charset="-122"/>
              </a:rPr>
              <a:t>由</a:t>
            </a:r>
            <a:endParaRPr lang="zh-CN" altLang="en-US" sz="2800">
              <a:latin typeface="楷体_GB2312" pitchFamily="49" charset="-122"/>
            </a:endParaRPr>
          </a:p>
        </p:txBody>
      </p:sp>
      <p:graphicFrame>
        <p:nvGraphicFramePr>
          <p:cNvPr id="947215" name="Object 15"/>
          <p:cNvGraphicFramePr>
            <a:graphicFrameLocks noChangeAspect="1"/>
          </p:cNvGraphicFramePr>
          <p:nvPr/>
        </p:nvGraphicFramePr>
        <p:xfrm>
          <a:off x="3520568" y="1501776"/>
          <a:ext cx="5425024" cy="919162"/>
        </p:xfrm>
        <a:graphic>
          <a:graphicData uri="http://schemas.openxmlformats.org/presentationml/2006/ole">
            <mc:AlternateContent xmlns:mc="http://schemas.openxmlformats.org/markup-compatibility/2006">
              <mc:Choice xmlns:v="urn:schemas-microsoft-com:vml" Requires="v">
                <p:oleObj spid="_x0000_s2" name="公式" r:id="rId4" imgW="3454400" imgH="519430" progId="Equation.3">
                  <p:embed/>
                </p:oleObj>
              </mc:Choice>
              <mc:Fallback>
                <p:oleObj name="公式" r:id="rId4" imgW="3454400" imgH="519430" progId="Equation.3">
                  <p:embed/>
                  <p:pic>
                    <p:nvPicPr>
                      <p:cNvPr id="0" name="Object 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20568" y="1501776"/>
                        <a:ext cx="5425024" cy="919162"/>
                      </a:xfrm>
                      <a:prstGeom prst="rect">
                        <a:avLst/>
                      </a:prstGeom>
                      <a:noFill/>
                      <a:ln>
                        <a:noFill/>
                      </a:ln>
                    </p:spPr>
                  </p:pic>
                </p:oleObj>
              </mc:Fallback>
            </mc:AlternateContent>
          </a:graphicData>
        </a:graphic>
      </p:graphicFrame>
      <p:sp>
        <p:nvSpPr>
          <p:cNvPr id="947216" name="Rectangle 16"/>
          <p:cNvSpPr>
            <a:spLocks noChangeArrowheads="1"/>
          </p:cNvSpPr>
          <p:nvPr/>
        </p:nvSpPr>
        <p:spPr bwMode="auto">
          <a:xfrm>
            <a:off x="2063750" y="1557338"/>
            <a:ext cx="131157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en-US" altLang="zh-CN" sz="2800">
                <a:latin typeface="楷体_GB2312" pitchFamily="49" charset="-122"/>
              </a:rPr>
              <a:t>   (1)</a:t>
            </a:r>
            <a:r>
              <a:rPr lang="zh-CN" altLang="en-US" sz="2800">
                <a:latin typeface="楷体_GB2312" pitchFamily="49" charset="-122"/>
              </a:rPr>
              <a:t>由</a:t>
            </a:r>
            <a:endParaRPr lang="zh-CN" altLang="en-US" sz="2800">
              <a:latin typeface="楷体_GB2312" pitchFamily="49" charset="-122"/>
            </a:endParaRPr>
          </a:p>
        </p:txBody>
      </p:sp>
      <p:graphicFrame>
        <p:nvGraphicFramePr>
          <p:cNvPr id="947217" name="Object 17"/>
          <p:cNvGraphicFramePr>
            <a:graphicFrameLocks noChangeAspect="1"/>
          </p:cNvGraphicFramePr>
          <p:nvPr/>
        </p:nvGraphicFramePr>
        <p:xfrm>
          <a:off x="3432175" y="2420938"/>
          <a:ext cx="4751388" cy="520700"/>
        </p:xfrm>
        <a:graphic>
          <a:graphicData uri="http://schemas.openxmlformats.org/presentationml/2006/ole">
            <mc:AlternateContent xmlns:mc="http://schemas.openxmlformats.org/markup-compatibility/2006">
              <mc:Choice xmlns:v="urn:schemas-microsoft-com:vml" Requires="v">
                <p:oleObj spid="_x0000_s3" name="公式" r:id="rId6" imgW="2009140" imgH="259715" progId="Equation.3">
                  <p:embed/>
                </p:oleObj>
              </mc:Choice>
              <mc:Fallback>
                <p:oleObj name="公式" r:id="rId6" imgW="2009140" imgH="259715" progId="Equation.3">
                  <p:embed/>
                  <p:pic>
                    <p:nvPicPr>
                      <p:cNvPr id="0" name="Object 1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32175" y="2420938"/>
                        <a:ext cx="4751388"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47218" name="Rectangle 18"/>
          <p:cNvSpPr>
            <a:spLocks noChangeArrowheads="1"/>
          </p:cNvSpPr>
          <p:nvPr/>
        </p:nvSpPr>
        <p:spPr bwMode="auto">
          <a:xfrm>
            <a:off x="2208213" y="2420938"/>
            <a:ext cx="128111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en-US" altLang="zh-CN" sz="2800">
                <a:ea typeface="宋体" pitchFamily="2" charset="-122"/>
              </a:rPr>
              <a:t>   (</a:t>
            </a:r>
            <a:r>
              <a:rPr lang="en-US" altLang="zh-CN" sz="2800">
                <a:latin typeface="楷体_GB2312" pitchFamily="49" charset="-122"/>
              </a:rPr>
              <a:t>3)</a:t>
            </a:r>
            <a:r>
              <a:rPr lang="zh-CN" altLang="en-US" sz="2800">
                <a:latin typeface="楷体_GB2312" pitchFamily="49" charset="-122"/>
              </a:rPr>
              <a:t>由</a:t>
            </a:r>
            <a:endParaRPr lang="zh-CN" altLang="en-US" sz="2800">
              <a:latin typeface="楷体_GB2312" pitchFamily="49" charset="-122"/>
            </a:endParaRPr>
          </a:p>
        </p:txBody>
      </p:sp>
      <p:graphicFrame>
        <p:nvGraphicFramePr>
          <p:cNvPr id="947219" name="Object 19"/>
          <p:cNvGraphicFramePr>
            <a:graphicFrameLocks noChangeAspect="1"/>
          </p:cNvGraphicFramePr>
          <p:nvPr/>
        </p:nvGraphicFramePr>
        <p:xfrm>
          <a:off x="2970162" y="3068638"/>
          <a:ext cx="6726238" cy="1344612"/>
        </p:xfrm>
        <a:graphic>
          <a:graphicData uri="http://schemas.openxmlformats.org/presentationml/2006/ole">
            <mc:AlternateContent xmlns:mc="http://schemas.openxmlformats.org/markup-compatibility/2006">
              <mc:Choice xmlns:v="urn:schemas-microsoft-com:vml" Requires="v">
                <p:oleObj spid="_x0000_s4" name="公式" r:id="rId8" imgW="3048000" imgH="789940" progId="Equation.3">
                  <p:embed/>
                </p:oleObj>
              </mc:Choice>
              <mc:Fallback>
                <p:oleObj name="公式" r:id="rId8" imgW="3048000" imgH="789940" progId="Equation.3">
                  <p:embed/>
                  <p:pic>
                    <p:nvPicPr>
                      <p:cNvPr id="0" name="Object 1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70162" y="3068638"/>
                        <a:ext cx="6726238" cy="1344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47222" name="Object 22"/>
          <p:cNvGraphicFramePr>
            <a:graphicFrameLocks noChangeAspect="1"/>
          </p:cNvGraphicFramePr>
          <p:nvPr/>
        </p:nvGraphicFramePr>
        <p:xfrm>
          <a:off x="3935414" y="4365626"/>
          <a:ext cx="5991225" cy="798513"/>
        </p:xfrm>
        <a:graphic>
          <a:graphicData uri="http://schemas.openxmlformats.org/presentationml/2006/ole">
            <mc:AlternateContent xmlns:mc="http://schemas.openxmlformats.org/markup-compatibility/2006">
              <mc:Choice xmlns:v="urn:schemas-microsoft-com:vml" Requires="v">
                <p:oleObj spid="_x0000_s5" name="公式" r:id="rId10" imgW="2743200" imgH="440055" progId="Equation.3">
                  <p:embed/>
                </p:oleObj>
              </mc:Choice>
              <mc:Fallback>
                <p:oleObj name="公式" r:id="rId10" imgW="2743200" imgH="440055" progId="Equation.3">
                  <p:embed/>
                  <p:pic>
                    <p:nvPicPr>
                      <p:cNvPr id="0" name="Object 2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35414" y="4365626"/>
                        <a:ext cx="5991225" cy="798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47223" name="Rectangle 23"/>
          <p:cNvSpPr>
            <a:spLocks noChangeArrowheads="1"/>
          </p:cNvSpPr>
          <p:nvPr/>
        </p:nvSpPr>
        <p:spPr bwMode="auto">
          <a:xfrm>
            <a:off x="2279650" y="4508500"/>
            <a:ext cx="162256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en-US" altLang="zh-CN" sz="2800">
                <a:ea typeface="宋体" pitchFamily="2" charset="-122"/>
              </a:rPr>
              <a:t>   </a:t>
            </a:r>
            <a:r>
              <a:rPr lang="en-US" altLang="zh-CN" sz="2800">
                <a:latin typeface="楷体_GB2312" pitchFamily="49" charset="-122"/>
              </a:rPr>
              <a:t>(4)</a:t>
            </a:r>
            <a:r>
              <a:rPr lang="zh-CN" altLang="en-US" sz="2800">
                <a:latin typeface="楷体_GB2312" pitchFamily="49" charset="-122"/>
              </a:rPr>
              <a:t>由于</a:t>
            </a:r>
            <a:endParaRPr lang="zh-CN" altLang="en-US" sz="2800">
              <a:latin typeface="楷体_GB2312" pitchFamily="49" charset="-122"/>
            </a:endParaRPr>
          </a:p>
        </p:txBody>
      </p:sp>
      <p:graphicFrame>
        <p:nvGraphicFramePr>
          <p:cNvPr id="947224" name="Object 24"/>
          <p:cNvGraphicFramePr>
            <a:graphicFrameLocks noChangeAspect="1"/>
          </p:cNvGraphicFramePr>
          <p:nvPr/>
        </p:nvGraphicFramePr>
        <p:xfrm>
          <a:off x="4295776" y="5229225"/>
          <a:ext cx="3076575" cy="1212850"/>
        </p:xfrm>
        <a:graphic>
          <a:graphicData uri="http://schemas.openxmlformats.org/presentationml/2006/ole">
            <mc:AlternateContent xmlns:mc="http://schemas.openxmlformats.org/markup-compatibility/2006">
              <mc:Choice xmlns:v="urn:schemas-microsoft-com:vml" Requires="v">
                <p:oleObj spid="_x0000_s6" name="公式" r:id="rId12" imgW="1365885" imgH="508000" progId="Equation.3">
                  <p:embed/>
                </p:oleObj>
              </mc:Choice>
              <mc:Fallback>
                <p:oleObj name="公式" r:id="rId12" imgW="1365885" imgH="508000" progId="Equation.3">
                  <p:embed/>
                  <p:pic>
                    <p:nvPicPr>
                      <p:cNvPr id="0" name="Object 2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295776" y="5229225"/>
                        <a:ext cx="3076575" cy="121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47209"/>
                                        </p:tgtEl>
                                        <p:attrNameLst>
                                          <p:attrName>style.visibility</p:attrName>
                                        </p:attrNameLst>
                                      </p:cBhvr>
                                      <p:to>
                                        <p:strVal val="visible"/>
                                      </p:to>
                                    </p:set>
                                    <p:animEffect transition="in" filter="wipe(left)">
                                      <p:cBhvr>
                                        <p:cTn id="7" dur="500"/>
                                        <p:tgtEl>
                                          <p:spTgt spid="94720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47216"/>
                                        </p:tgtEl>
                                        <p:attrNameLst>
                                          <p:attrName>style.visibility</p:attrName>
                                        </p:attrNameLst>
                                      </p:cBhvr>
                                      <p:to>
                                        <p:strVal val="visible"/>
                                      </p:to>
                                    </p:set>
                                    <p:animEffect transition="in" filter="wipe(left)">
                                      <p:cBhvr>
                                        <p:cTn id="12" dur="500"/>
                                        <p:tgtEl>
                                          <p:spTgt spid="9472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47215"/>
                                        </p:tgtEl>
                                        <p:attrNameLst>
                                          <p:attrName>style.visibility</p:attrName>
                                        </p:attrNameLst>
                                      </p:cBhvr>
                                      <p:to>
                                        <p:strVal val="visible"/>
                                      </p:to>
                                    </p:set>
                                    <p:animEffect transition="in" filter="wipe(left)">
                                      <p:cBhvr>
                                        <p:cTn id="17" dur="500"/>
                                        <p:tgtEl>
                                          <p:spTgt spid="94721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47218"/>
                                        </p:tgtEl>
                                        <p:attrNameLst>
                                          <p:attrName>style.visibility</p:attrName>
                                        </p:attrNameLst>
                                      </p:cBhvr>
                                      <p:to>
                                        <p:strVal val="visible"/>
                                      </p:to>
                                    </p:set>
                                    <p:animEffect transition="in" filter="wipe(left)">
                                      <p:cBhvr>
                                        <p:cTn id="22" dur="500"/>
                                        <p:tgtEl>
                                          <p:spTgt spid="94721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47217"/>
                                        </p:tgtEl>
                                        <p:attrNameLst>
                                          <p:attrName>style.visibility</p:attrName>
                                        </p:attrNameLst>
                                      </p:cBhvr>
                                      <p:to>
                                        <p:strVal val="visible"/>
                                      </p:to>
                                    </p:set>
                                    <p:animEffect transition="in" filter="wipe(left)">
                                      <p:cBhvr>
                                        <p:cTn id="27" dur="500"/>
                                        <p:tgtEl>
                                          <p:spTgt spid="94721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947219"/>
                                        </p:tgtEl>
                                        <p:attrNameLst>
                                          <p:attrName>style.visibility</p:attrName>
                                        </p:attrNameLst>
                                      </p:cBhvr>
                                      <p:to>
                                        <p:strVal val="visible"/>
                                      </p:to>
                                    </p:set>
                                    <p:animEffect transition="in" filter="wipe(left)">
                                      <p:cBhvr>
                                        <p:cTn id="32" dur="500"/>
                                        <p:tgtEl>
                                          <p:spTgt spid="94721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947223"/>
                                        </p:tgtEl>
                                        <p:attrNameLst>
                                          <p:attrName>style.visibility</p:attrName>
                                        </p:attrNameLst>
                                      </p:cBhvr>
                                      <p:to>
                                        <p:strVal val="visible"/>
                                      </p:to>
                                    </p:set>
                                    <p:animEffect transition="in" filter="wipe(left)">
                                      <p:cBhvr>
                                        <p:cTn id="37" dur="500"/>
                                        <p:tgtEl>
                                          <p:spTgt spid="947223"/>
                                        </p:tgtEl>
                                      </p:cBhvr>
                                    </p:animEffect>
                                  </p:childTnLst>
                                </p:cTn>
                              </p:par>
                            </p:childTnLst>
                          </p:cTn>
                        </p:par>
                        <p:par>
                          <p:cTn id="38" fill="hold">
                            <p:stCondLst>
                              <p:cond delay="500"/>
                            </p:stCondLst>
                            <p:childTnLst>
                              <p:par>
                                <p:cTn id="39" presetID="22" presetClass="entr" presetSubtype="8" fill="hold" nodeType="afterEffect">
                                  <p:stCondLst>
                                    <p:cond delay="0"/>
                                  </p:stCondLst>
                                  <p:childTnLst>
                                    <p:set>
                                      <p:cBhvr>
                                        <p:cTn id="40" dur="1" fill="hold">
                                          <p:stCondLst>
                                            <p:cond delay="0"/>
                                          </p:stCondLst>
                                        </p:cTn>
                                        <p:tgtEl>
                                          <p:spTgt spid="947222"/>
                                        </p:tgtEl>
                                        <p:attrNameLst>
                                          <p:attrName>style.visibility</p:attrName>
                                        </p:attrNameLst>
                                      </p:cBhvr>
                                      <p:to>
                                        <p:strVal val="visible"/>
                                      </p:to>
                                    </p:set>
                                    <p:animEffect transition="in" filter="wipe(left)">
                                      <p:cBhvr>
                                        <p:cTn id="41" dur="500"/>
                                        <p:tgtEl>
                                          <p:spTgt spid="947222"/>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947224"/>
                                        </p:tgtEl>
                                        <p:attrNameLst>
                                          <p:attrName>style.visibility</p:attrName>
                                        </p:attrNameLst>
                                      </p:cBhvr>
                                      <p:to>
                                        <p:strVal val="visible"/>
                                      </p:to>
                                    </p:set>
                                    <p:animEffect transition="in" filter="wipe(left)">
                                      <p:cBhvr>
                                        <p:cTn id="46" dur="500"/>
                                        <p:tgtEl>
                                          <p:spTgt spid="9472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7216" grpId="0"/>
      <p:bldP spid="947218" grpId="0"/>
      <p:bldP spid="94722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AutoShape 2">
            <a:hlinkClick r:id="" action="ppaction://hlinkshowjump?jump=previousslide" highlightClick="1"/>
          </p:cNvPr>
          <p:cNvSpPr>
            <a:spLocks noChangeArrowheads="1"/>
          </p:cNvSpPr>
          <p:nvPr/>
        </p:nvSpPr>
        <p:spPr bwMode="auto">
          <a:xfrm>
            <a:off x="9120189" y="6524625"/>
            <a:ext cx="287337" cy="215900"/>
          </a:xfrm>
          <a:prstGeom prst="actionButtonBackPrevious">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28675" name="AutoShape 3">
            <a:hlinkClick r:id="" action="ppaction://hlinkshowjump?jump=nextslide" highlightClick="1"/>
          </p:cNvPr>
          <p:cNvSpPr>
            <a:spLocks noChangeArrowheads="1"/>
          </p:cNvSpPr>
          <p:nvPr/>
        </p:nvSpPr>
        <p:spPr bwMode="auto">
          <a:xfrm>
            <a:off x="9407525" y="6524625"/>
            <a:ext cx="285750" cy="215900"/>
          </a:xfrm>
          <a:prstGeom prst="actionButtonForwardNex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28676" name="AutoShape 4">
            <a:hlinkClick r:id="" action="ppaction://hlinkshowjump?jump=firstslide" highlightClick="1"/>
          </p:cNvPr>
          <p:cNvSpPr>
            <a:spLocks noChangeArrowheads="1"/>
          </p:cNvSpPr>
          <p:nvPr/>
        </p:nvSpPr>
        <p:spPr bwMode="auto">
          <a:xfrm>
            <a:off x="9694864" y="6524625"/>
            <a:ext cx="287337" cy="215900"/>
          </a:xfrm>
          <a:prstGeom prst="actionButtonBeginning">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28677" name="AutoShape 5">
            <a:hlinkClick r:id="" action="ppaction://hlinkshowjump?jump=endshow" highlightClick="1"/>
          </p:cNvPr>
          <p:cNvSpPr>
            <a:spLocks noChangeArrowheads="1"/>
          </p:cNvSpPr>
          <p:nvPr/>
        </p:nvSpPr>
        <p:spPr bwMode="auto">
          <a:xfrm>
            <a:off x="9983789" y="6524625"/>
            <a:ext cx="287337" cy="215900"/>
          </a:xfrm>
          <a:prstGeom prst="actionButtonEnd">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28678" name="AutoShape 6">
            <a:hlinkClick r:id="rId1" action="ppaction://hlinksldjump" highlightClick="1"/>
          </p:cNvPr>
          <p:cNvSpPr>
            <a:spLocks noChangeArrowheads="1"/>
          </p:cNvSpPr>
          <p:nvPr/>
        </p:nvSpPr>
        <p:spPr bwMode="auto">
          <a:xfrm>
            <a:off x="10272714" y="6524625"/>
            <a:ext cx="288925" cy="215900"/>
          </a:xfrm>
          <a:prstGeom prst="actionButtonReturn">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graphicFrame>
        <p:nvGraphicFramePr>
          <p:cNvPr id="948232" name="Object 8"/>
          <p:cNvGraphicFramePr>
            <a:graphicFrameLocks noChangeAspect="1"/>
          </p:cNvGraphicFramePr>
          <p:nvPr/>
        </p:nvGraphicFramePr>
        <p:xfrm>
          <a:off x="4295776" y="549275"/>
          <a:ext cx="2982913" cy="985838"/>
        </p:xfrm>
        <a:graphic>
          <a:graphicData uri="http://schemas.openxmlformats.org/presentationml/2006/ole">
            <mc:AlternateContent xmlns:mc="http://schemas.openxmlformats.org/markup-compatibility/2006">
              <mc:Choice xmlns:v="urn:schemas-microsoft-com:vml" Requires="v">
                <p:oleObj spid="_x0000_s25601" name="公式" r:id="rId2" imgW="1242060" imgH="519430" progId="Equation.3">
                  <p:embed/>
                </p:oleObj>
              </mc:Choice>
              <mc:Fallback>
                <p:oleObj name="公式" r:id="rId2" imgW="1242060" imgH="519430" progId="Equation.3">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95776" y="549275"/>
                        <a:ext cx="2982913" cy="985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48233" name="Rectangle 9"/>
          <p:cNvSpPr>
            <a:spLocks noChangeArrowheads="1"/>
          </p:cNvSpPr>
          <p:nvPr/>
        </p:nvSpPr>
        <p:spPr bwMode="auto">
          <a:xfrm>
            <a:off x="2495550" y="742950"/>
            <a:ext cx="16706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en-US" altLang="zh-CN" sz="2800">
                <a:latin typeface="楷体_GB2312" pitchFamily="49" charset="-122"/>
              </a:rPr>
              <a:t>   (5)</a:t>
            </a:r>
            <a:r>
              <a:rPr lang="zh-CN" altLang="en-US" sz="2800">
                <a:latin typeface="楷体_GB2312" pitchFamily="49" charset="-122"/>
              </a:rPr>
              <a:t>由于</a:t>
            </a:r>
            <a:endParaRPr lang="zh-CN" altLang="en-US" sz="2800">
              <a:latin typeface="楷体_GB2312" pitchFamily="49" charset="-122"/>
            </a:endParaRPr>
          </a:p>
        </p:txBody>
      </p:sp>
      <p:graphicFrame>
        <p:nvGraphicFramePr>
          <p:cNvPr id="948234" name="Object 10"/>
          <p:cNvGraphicFramePr>
            <a:graphicFrameLocks noChangeAspect="1"/>
          </p:cNvGraphicFramePr>
          <p:nvPr/>
        </p:nvGraphicFramePr>
        <p:xfrm>
          <a:off x="2963863" y="1266825"/>
          <a:ext cx="4098925" cy="1473200"/>
        </p:xfrm>
        <a:graphic>
          <a:graphicData uri="http://schemas.openxmlformats.org/presentationml/2006/ole">
            <mc:AlternateContent xmlns:mc="http://schemas.openxmlformats.org/markup-compatibility/2006">
              <mc:Choice xmlns:v="urn:schemas-microsoft-com:vml" Requires="v">
                <p:oleObj spid="_x0000_s2" name="Equation" r:id="rId4" imgW="33223200" imgH="11887200" progId="Equation.DSMT4">
                  <p:embed/>
                </p:oleObj>
              </mc:Choice>
              <mc:Fallback>
                <p:oleObj name="Equation" r:id="rId4" imgW="33223200" imgH="11887200" progId="Equation.DSMT4">
                  <p:embed/>
                  <p:pic>
                    <p:nvPicPr>
                      <p:cNvPr id="0" name="Object 10"/>
                      <p:cNvPicPr>
                        <a:picLocks noChangeAspect="1" noChangeArrowheads="1"/>
                      </p:cNvPicPr>
                      <p:nvPr/>
                    </p:nvPicPr>
                    <p:blipFill>
                      <a:blip r:embed="rId5"/>
                      <a:srcRect/>
                      <a:stretch>
                        <a:fillRect/>
                      </a:stretch>
                    </p:blipFill>
                    <p:spPr bwMode="auto">
                      <a:xfrm>
                        <a:off x="2963863" y="1266825"/>
                        <a:ext cx="4098925" cy="147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48237" name="Rectangle 13"/>
          <p:cNvSpPr>
            <a:spLocks noChangeArrowheads="1"/>
          </p:cNvSpPr>
          <p:nvPr/>
        </p:nvSpPr>
        <p:spPr bwMode="auto">
          <a:xfrm>
            <a:off x="2640013" y="2708276"/>
            <a:ext cx="5778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zh-CN" altLang="en-US" sz="2400"/>
              <a:t>又</a:t>
            </a:r>
            <a:r>
              <a:rPr lang="zh-CN" altLang="en-US" sz="2800">
                <a:ea typeface="宋体" pitchFamily="2" charset="-122"/>
              </a:rPr>
              <a:t> </a:t>
            </a:r>
            <a:endParaRPr lang="zh-CN" altLang="en-US" sz="2800">
              <a:ea typeface="宋体" pitchFamily="2" charset="-122"/>
            </a:endParaRPr>
          </a:p>
        </p:txBody>
      </p:sp>
      <p:graphicFrame>
        <p:nvGraphicFramePr>
          <p:cNvPr id="948241" name="Object 17"/>
          <p:cNvGraphicFramePr>
            <a:graphicFrameLocks noChangeAspect="1"/>
          </p:cNvGraphicFramePr>
          <p:nvPr/>
        </p:nvGraphicFramePr>
        <p:xfrm>
          <a:off x="3432176" y="2635250"/>
          <a:ext cx="2841625" cy="865188"/>
        </p:xfrm>
        <a:graphic>
          <a:graphicData uri="http://schemas.openxmlformats.org/presentationml/2006/ole">
            <mc:AlternateContent xmlns:mc="http://schemas.openxmlformats.org/markup-compatibility/2006">
              <mc:Choice xmlns:v="urn:schemas-microsoft-com:vml" Requires="v">
                <p:oleObj spid="_x0000_s3" name="公式" r:id="rId6" imgW="1252855" imgH="349885" progId="Equation.3">
                  <p:embed/>
                </p:oleObj>
              </mc:Choice>
              <mc:Fallback>
                <p:oleObj name="公式" r:id="rId6" imgW="1252855" imgH="349885" progId="Equation.3">
                  <p:embed/>
                  <p:pic>
                    <p:nvPicPr>
                      <p:cNvPr id="0" name="Object 1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32176" y="2635250"/>
                        <a:ext cx="2841625" cy="86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48242" name="Rectangle 18"/>
          <p:cNvSpPr>
            <a:spLocks noChangeArrowheads="1"/>
          </p:cNvSpPr>
          <p:nvPr/>
        </p:nvSpPr>
        <p:spPr bwMode="auto">
          <a:xfrm>
            <a:off x="2640013" y="3716338"/>
            <a:ext cx="5778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zh-CN" altLang="en-US" sz="2400"/>
              <a:t>又</a:t>
            </a:r>
            <a:r>
              <a:rPr lang="zh-CN" altLang="en-US" sz="2800">
                <a:ea typeface="宋体" pitchFamily="2" charset="-122"/>
              </a:rPr>
              <a:t> </a:t>
            </a:r>
            <a:endParaRPr lang="zh-CN" altLang="en-US" sz="2800">
              <a:ea typeface="宋体" pitchFamily="2" charset="-122"/>
            </a:endParaRPr>
          </a:p>
        </p:txBody>
      </p:sp>
      <p:graphicFrame>
        <p:nvGraphicFramePr>
          <p:cNvPr id="948243" name="Object 19"/>
          <p:cNvGraphicFramePr>
            <a:graphicFrameLocks noChangeAspect="1"/>
          </p:cNvGraphicFramePr>
          <p:nvPr/>
        </p:nvGraphicFramePr>
        <p:xfrm>
          <a:off x="3359150" y="3444876"/>
          <a:ext cx="5761038" cy="1223963"/>
        </p:xfrm>
        <a:graphic>
          <a:graphicData uri="http://schemas.openxmlformats.org/presentationml/2006/ole">
            <mc:AlternateContent xmlns:mc="http://schemas.openxmlformats.org/markup-compatibility/2006">
              <mc:Choice xmlns:v="urn:schemas-microsoft-com:vml" Requires="v">
                <p:oleObj spid="_x0000_s4" name="公式" r:id="rId8" imgW="2912745" imgH="575945" progId="Equation.3">
                  <p:embed/>
                </p:oleObj>
              </mc:Choice>
              <mc:Fallback>
                <p:oleObj name="公式" r:id="rId8" imgW="2912745" imgH="575945" progId="Equation.3">
                  <p:embed/>
                  <p:pic>
                    <p:nvPicPr>
                      <p:cNvPr id="0" name="Object 1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359150" y="3444876"/>
                        <a:ext cx="5761038"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48244" name="Rectangle 20"/>
          <p:cNvSpPr>
            <a:spLocks noChangeArrowheads="1"/>
          </p:cNvSpPr>
          <p:nvPr/>
        </p:nvSpPr>
        <p:spPr bwMode="auto">
          <a:xfrm>
            <a:off x="2495550" y="5141913"/>
            <a:ext cx="9842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zh-CN" altLang="en-US" sz="2800"/>
              <a:t>其中</a:t>
            </a:r>
            <a:r>
              <a:rPr lang="zh-CN" altLang="en-US" sz="2800">
                <a:ea typeface="宋体" pitchFamily="2" charset="-122"/>
              </a:rPr>
              <a:t> </a:t>
            </a:r>
            <a:endParaRPr lang="zh-CN" altLang="en-US" sz="2800">
              <a:ea typeface="宋体" pitchFamily="2" charset="-122"/>
            </a:endParaRPr>
          </a:p>
        </p:txBody>
      </p:sp>
      <p:graphicFrame>
        <p:nvGraphicFramePr>
          <p:cNvPr id="948245" name="Object 21"/>
          <p:cNvGraphicFramePr>
            <a:graphicFrameLocks noChangeAspect="1"/>
          </p:cNvGraphicFramePr>
          <p:nvPr/>
        </p:nvGraphicFramePr>
        <p:xfrm>
          <a:off x="3432176" y="4724401"/>
          <a:ext cx="3343275" cy="1108075"/>
        </p:xfrm>
        <a:graphic>
          <a:graphicData uri="http://schemas.openxmlformats.org/presentationml/2006/ole">
            <mc:AlternateContent xmlns:mc="http://schemas.openxmlformats.org/markup-compatibility/2006">
              <mc:Choice xmlns:v="urn:schemas-microsoft-com:vml" Requires="v">
                <p:oleObj spid="_x0000_s5" name="公式" r:id="rId10" imgW="1478915" imgH="462915" progId="Equation.3">
                  <p:embed/>
                </p:oleObj>
              </mc:Choice>
              <mc:Fallback>
                <p:oleObj name="公式" r:id="rId10" imgW="1478915" imgH="462915" progId="Equation.3">
                  <p:embed/>
                  <p:pic>
                    <p:nvPicPr>
                      <p:cNvPr id="0" name="Object 2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432176" y="4724401"/>
                        <a:ext cx="3343275"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48233"/>
                                        </p:tgtEl>
                                        <p:attrNameLst>
                                          <p:attrName>style.visibility</p:attrName>
                                        </p:attrNameLst>
                                      </p:cBhvr>
                                      <p:to>
                                        <p:strVal val="visible"/>
                                      </p:to>
                                    </p:set>
                                    <p:animEffect transition="in" filter="wipe(left)">
                                      <p:cBhvr>
                                        <p:cTn id="7" dur="500"/>
                                        <p:tgtEl>
                                          <p:spTgt spid="948233"/>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948232"/>
                                        </p:tgtEl>
                                        <p:attrNameLst>
                                          <p:attrName>style.visibility</p:attrName>
                                        </p:attrNameLst>
                                      </p:cBhvr>
                                      <p:to>
                                        <p:strVal val="visible"/>
                                      </p:to>
                                    </p:set>
                                    <p:animEffect transition="in" filter="wipe(left)">
                                      <p:cBhvr>
                                        <p:cTn id="11" dur="500"/>
                                        <p:tgtEl>
                                          <p:spTgt spid="94823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948234"/>
                                        </p:tgtEl>
                                        <p:attrNameLst>
                                          <p:attrName>style.visibility</p:attrName>
                                        </p:attrNameLst>
                                      </p:cBhvr>
                                      <p:to>
                                        <p:strVal val="visible"/>
                                      </p:to>
                                    </p:set>
                                    <p:animEffect transition="in" filter="wipe(left)">
                                      <p:cBhvr>
                                        <p:cTn id="16" dur="500"/>
                                        <p:tgtEl>
                                          <p:spTgt spid="94823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948237"/>
                                        </p:tgtEl>
                                        <p:attrNameLst>
                                          <p:attrName>style.visibility</p:attrName>
                                        </p:attrNameLst>
                                      </p:cBhvr>
                                      <p:to>
                                        <p:strVal val="visible"/>
                                      </p:to>
                                    </p:set>
                                    <p:animEffect transition="in" filter="wipe(left)">
                                      <p:cBhvr>
                                        <p:cTn id="21" dur="500"/>
                                        <p:tgtEl>
                                          <p:spTgt spid="948237"/>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948241"/>
                                        </p:tgtEl>
                                        <p:attrNameLst>
                                          <p:attrName>style.visibility</p:attrName>
                                        </p:attrNameLst>
                                      </p:cBhvr>
                                      <p:to>
                                        <p:strVal val="visible"/>
                                      </p:to>
                                    </p:set>
                                    <p:animEffect transition="in" filter="wipe(left)">
                                      <p:cBhvr>
                                        <p:cTn id="26" dur="500"/>
                                        <p:tgtEl>
                                          <p:spTgt spid="948241"/>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948242"/>
                                        </p:tgtEl>
                                        <p:attrNameLst>
                                          <p:attrName>style.visibility</p:attrName>
                                        </p:attrNameLst>
                                      </p:cBhvr>
                                      <p:to>
                                        <p:strVal val="visible"/>
                                      </p:to>
                                    </p:set>
                                    <p:animEffect transition="in" filter="wipe(left)">
                                      <p:cBhvr>
                                        <p:cTn id="31" dur="500"/>
                                        <p:tgtEl>
                                          <p:spTgt spid="948242"/>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948243"/>
                                        </p:tgtEl>
                                        <p:attrNameLst>
                                          <p:attrName>style.visibility</p:attrName>
                                        </p:attrNameLst>
                                      </p:cBhvr>
                                      <p:to>
                                        <p:strVal val="visible"/>
                                      </p:to>
                                    </p:set>
                                    <p:animEffect transition="in" filter="wipe(left)">
                                      <p:cBhvr>
                                        <p:cTn id="36" dur="500"/>
                                        <p:tgtEl>
                                          <p:spTgt spid="948243"/>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948244"/>
                                        </p:tgtEl>
                                        <p:attrNameLst>
                                          <p:attrName>style.visibility</p:attrName>
                                        </p:attrNameLst>
                                      </p:cBhvr>
                                      <p:to>
                                        <p:strVal val="visible"/>
                                      </p:to>
                                    </p:set>
                                    <p:animEffect transition="in" filter="wipe(left)">
                                      <p:cBhvr>
                                        <p:cTn id="41" dur="500"/>
                                        <p:tgtEl>
                                          <p:spTgt spid="948244"/>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948245"/>
                                        </p:tgtEl>
                                        <p:attrNameLst>
                                          <p:attrName>style.visibility</p:attrName>
                                        </p:attrNameLst>
                                      </p:cBhvr>
                                      <p:to>
                                        <p:strVal val="visible"/>
                                      </p:to>
                                    </p:set>
                                    <p:animEffect transition="in" filter="wipe(left)">
                                      <p:cBhvr>
                                        <p:cTn id="46" dur="500"/>
                                        <p:tgtEl>
                                          <p:spTgt spid="9482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8233" grpId="0"/>
      <p:bldP spid="948237" grpId="0"/>
      <p:bldP spid="948242" grpId="0"/>
      <p:bldP spid="94824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AutoShape 2">
            <a:hlinkClick r:id="" action="ppaction://hlinkshowjump?jump=previousslide" highlightClick="1"/>
          </p:cNvPr>
          <p:cNvSpPr>
            <a:spLocks noChangeArrowheads="1"/>
          </p:cNvSpPr>
          <p:nvPr/>
        </p:nvSpPr>
        <p:spPr bwMode="auto">
          <a:xfrm>
            <a:off x="9120189" y="6524625"/>
            <a:ext cx="287337" cy="215900"/>
          </a:xfrm>
          <a:prstGeom prst="actionButtonBackPrevious">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29699" name="AutoShape 3">
            <a:hlinkClick r:id="" action="ppaction://hlinkshowjump?jump=nextslide" highlightClick="1"/>
          </p:cNvPr>
          <p:cNvSpPr>
            <a:spLocks noChangeArrowheads="1"/>
          </p:cNvSpPr>
          <p:nvPr/>
        </p:nvSpPr>
        <p:spPr bwMode="auto">
          <a:xfrm>
            <a:off x="9407525" y="6524625"/>
            <a:ext cx="285750" cy="215900"/>
          </a:xfrm>
          <a:prstGeom prst="actionButtonForwardNex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29700" name="AutoShape 4">
            <a:hlinkClick r:id="" action="ppaction://hlinkshowjump?jump=firstslide" highlightClick="1"/>
          </p:cNvPr>
          <p:cNvSpPr>
            <a:spLocks noChangeArrowheads="1"/>
          </p:cNvSpPr>
          <p:nvPr/>
        </p:nvSpPr>
        <p:spPr bwMode="auto">
          <a:xfrm>
            <a:off x="9694864" y="6524625"/>
            <a:ext cx="287337" cy="215900"/>
          </a:xfrm>
          <a:prstGeom prst="actionButtonBeginning">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29701" name="AutoShape 5">
            <a:hlinkClick r:id="" action="ppaction://hlinkshowjump?jump=endshow" highlightClick="1"/>
          </p:cNvPr>
          <p:cNvSpPr>
            <a:spLocks noChangeArrowheads="1"/>
          </p:cNvSpPr>
          <p:nvPr/>
        </p:nvSpPr>
        <p:spPr bwMode="auto">
          <a:xfrm>
            <a:off x="9983789" y="6524625"/>
            <a:ext cx="287337" cy="215900"/>
          </a:xfrm>
          <a:prstGeom prst="actionButtonEnd">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29702" name="AutoShape 6">
            <a:hlinkClick r:id="rId1" action="ppaction://hlinksldjump" highlightClick="1"/>
          </p:cNvPr>
          <p:cNvSpPr>
            <a:spLocks noChangeArrowheads="1"/>
          </p:cNvSpPr>
          <p:nvPr/>
        </p:nvSpPr>
        <p:spPr bwMode="auto">
          <a:xfrm>
            <a:off x="10272714" y="6524625"/>
            <a:ext cx="288925" cy="215900"/>
          </a:xfrm>
          <a:prstGeom prst="actionButtonReturn">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29703" name="Rectangle 14"/>
          <p:cNvSpPr>
            <a:spLocks noChangeArrowheads="1"/>
          </p:cNvSpPr>
          <p:nvPr/>
        </p:nvSpPr>
        <p:spPr bwMode="auto">
          <a:xfrm>
            <a:off x="1858964" y="2492376"/>
            <a:ext cx="1933575" cy="36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tabLst>
                <a:tab pos="600075" algn="l"/>
              </a:tabLst>
              <a:defRPr kumimoji="1" sz="3200">
                <a:solidFill>
                  <a:schemeClr val="tx1"/>
                </a:solidFill>
                <a:latin typeface="Times New Roman" panose="02020503050405090304" pitchFamily="18" charset="0"/>
                <a:ea typeface="宋体" pitchFamily="2" charset="-122"/>
              </a:defRPr>
            </a:lvl1pPr>
            <a:lvl2pPr marL="742950" indent="-285750">
              <a:spcBef>
                <a:spcPct val="20000"/>
              </a:spcBef>
              <a:buChar char="–"/>
              <a:tabLst>
                <a:tab pos="600075" algn="l"/>
              </a:tabLst>
              <a:defRPr kumimoji="1" sz="2800">
                <a:solidFill>
                  <a:schemeClr val="tx1"/>
                </a:solidFill>
                <a:latin typeface="Times New Roman" panose="02020503050405090304" pitchFamily="18" charset="0"/>
                <a:ea typeface="宋体" pitchFamily="2" charset="-122"/>
              </a:defRPr>
            </a:lvl2pPr>
            <a:lvl3pPr marL="1143000" indent="-228600">
              <a:spcBef>
                <a:spcPct val="20000"/>
              </a:spcBef>
              <a:buChar char="•"/>
              <a:tabLst>
                <a:tab pos="600075" algn="l"/>
              </a:tabLst>
              <a:defRPr kumimoji="1" sz="2400">
                <a:solidFill>
                  <a:schemeClr val="tx1"/>
                </a:solidFill>
                <a:latin typeface="Times New Roman" panose="02020503050405090304" pitchFamily="18" charset="0"/>
                <a:ea typeface="宋体" pitchFamily="2" charset="-122"/>
              </a:defRPr>
            </a:lvl3pPr>
            <a:lvl4pPr marL="1600200" indent="-228600">
              <a:spcBef>
                <a:spcPct val="20000"/>
              </a:spcBef>
              <a:buChar char="–"/>
              <a:tabLst>
                <a:tab pos="600075" algn="l"/>
              </a:tabLst>
              <a:defRPr kumimoji="1" sz="2000">
                <a:solidFill>
                  <a:schemeClr val="tx1"/>
                </a:solidFill>
                <a:latin typeface="Times New Roman" panose="02020503050405090304" pitchFamily="18" charset="0"/>
                <a:ea typeface="宋体" pitchFamily="2" charset="-122"/>
              </a:defRPr>
            </a:lvl4pPr>
            <a:lvl5pPr marL="2057400" indent="-228600">
              <a:spcBef>
                <a:spcPct val="20000"/>
              </a:spcBef>
              <a:buChar char="»"/>
              <a:tabLst>
                <a:tab pos="600075" algn="l"/>
              </a:tabLst>
              <a:defRPr kumimoji="1" sz="2000">
                <a:solidFill>
                  <a:schemeClr val="tx1"/>
                </a:solidFill>
                <a:latin typeface="Times New Roman" panose="02020503050405090304" pitchFamily="18" charset="0"/>
                <a:ea typeface="宋体" pitchFamily="2" charset="-122"/>
              </a:defRPr>
            </a:lvl5pPr>
            <a:lvl6pPr marL="2514600" indent="-228600" eaLnBrk="0" fontAlgn="base" hangingPunct="0">
              <a:spcBef>
                <a:spcPct val="20000"/>
              </a:spcBef>
              <a:spcAft>
                <a:spcPct val="0"/>
              </a:spcAft>
              <a:buChar char="»"/>
              <a:tabLst>
                <a:tab pos="600075" algn="l"/>
              </a:tabLst>
              <a:defRPr kumimoji="1" sz="2000">
                <a:solidFill>
                  <a:schemeClr val="tx1"/>
                </a:solidFill>
                <a:latin typeface="Times New Roman" panose="02020503050405090304" pitchFamily="18" charset="0"/>
                <a:ea typeface="宋体" pitchFamily="2" charset="-122"/>
              </a:defRPr>
            </a:lvl6pPr>
            <a:lvl7pPr marL="2971800" indent="-228600" eaLnBrk="0" fontAlgn="base" hangingPunct="0">
              <a:spcBef>
                <a:spcPct val="20000"/>
              </a:spcBef>
              <a:spcAft>
                <a:spcPct val="0"/>
              </a:spcAft>
              <a:buChar char="»"/>
              <a:tabLst>
                <a:tab pos="600075" algn="l"/>
              </a:tabLst>
              <a:defRPr kumimoji="1" sz="2000">
                <a:solidFill>
                  <a:schemeClr val="tx1"/>
                </a:solidFill>
                <a:latin typeface="Times New Roman" panose="02020503050405090304" pitchFamily="18" charset="0"/>
                <a:ea typeface="宋体" pitchFamily="2" charset="-122"/>
              </a:defRPr>
            </a:lvl7pPr>
            <a:lvl8pPr marL="3429000" indent="-228600" eaLnBrk="0" fontAlgn="base" hangingPunct="0">
              <a:spcBef>
                <a:spcPct val="20000"/>
              </a:spcBef>
              <a:spcAft>
                <a:spcPct val="0"/>
              </a:spcAft>
              <a:buChar char="»"/>
              <a:tabLst>
                <a:tab pos="600075" algn="l"/>
              </a:tabLst>
              <a:defRPr kumimoji="1" sz="2000">
                <a:solidFill>
                  <a:schemeClr val="tx1"/>
                </a:solidFill>
                <a:latin typeface="Times New Roman" panose="02020503050405090304" pitchFamily="18" charset="0"/>
                <a:ea typeface="宋体" pitchFamily="2" charset="-122"/>
              </a:defRPr>
            </a:lvl8pPr>
            <a:lvl9pPr marL="3886200" indent="-228600" eaLnBrk="0" fontAlgn="base" hangingPunct="0">
              <a:spcBef>
                <a:spcPct val="20000"/>
              </a:spcBef>
              <a:spcAft>
                <a:spcPct val="0"/>
              </a:spcAft>
              <a:buChar char="»"/>
              <a:tabLst>
                <a:tab pos="600075" algn="l"/>
              </a:tabLst>
              <a:defRPr kumimoji="1" sz="2000">
                <a:solidFill>
                  <a:schemeClr val="tx1"/>
                </a:solidFill>
                <a:latin typeface="Times New Roman" panose="02020503050405090304" pitchFamily="18" charset="0"/>
                <a:ea typeface="宋体" pitchFamily="2" charset="-122"/>
              </a:defRPr>
            </a:lvl9pPr>
          </a:lstStyle>
          <a:p>
            <a:pPr algn="ctr" eaLnBrk="1" hangingPunct="1">
              <a:spcBef>
                <a:spcPct val="0"/>
              </a:spcBef>
              <a:buFontTx/>
              <a:buNone/>
            </a:pPr>
            <a:r>
              <a:rPr lang="zh-CN" altLang="en-US" sz="1600" b="1">
                <a:ea typeface="楷体_GB2312" pitchFamily="49" charset="-122"/>
              </a:rPr>
              <a:t>抗压强度</a:t>
            </a:r>
            <a:r>
              <a:rPr lang="en-US" altLang="zh-CN" sz="1600" b="1"/>
              <a:t>y</a:t>
            </a:r>
            <a:endParaRPr lang="en-US" altLang="zh-CN" sz="1600" b="1"/>
          </a:p>
          <a:p>
            <a:pPr algn="ctr" eaLnBrk="1" hangingPunct="1">
              <a:spcBef>
                <a:spcPct val="0"/>
              </a:spcBef>
              <a:buFontTx/>
              <a:buNone/>
            </a:pPr>
            <a:r>
              <a:rPr lang="zh-CN" altLang="en-US" sz="1600" b="1"/>
              <a:t>（</a:t>
            </a:r>
            <a:r>
              <a:rPr lang="en-US" altLang="zh-CN" sz="1600" b="1"/>
              <a:t>kg</a:t>
            </a:r>
            <a:r>
              <a:rPr lang="en-US" altLang="zh-CN" sz="1600" b="1">
                <a:cs typeface="Times New Roman" panose="02020503050405090304" pitchFamily="18" charset="0"/>
              </a:rPr>
              <a:t>.cm</a:t>
            </a:r>
            <a:r>
              <a:rPr lang="en-US" altLang="zh-CN" sz="1600" b="1" baseline="30000">
                <a:cs typeface="Times New Roman" panose="02020503050405090304" pitchFamily="18" charset="0"/>
              </a:rPr>
              <a:t>-2</a:t>
            </a:r>
            <a:r>
              <a:rPr lang="zh-CN" altLang="en-US" sz="1600" b="1"/>
              <a:t>）</a:t>
            </a:r>
            <a:endParaRPr lang="zh-CN" altLang="en-US" sz="1600" b="1"/>
          </a:p>
        </p:txBody>
      </p:sp>
      <p:sp>
        <p:nvSpPr>
          <p:cNvPr id="29704" name="Rectangle 19"/>
          <p:cNvSpPr>
            <a:spLocks noChangeArrowheads="1"/>
          </p:cNvSpPr>
          <p:nvPr/>
        </p:nvSpPr>
        <p:spPr bwMode="auto">
          <a:xfrm>
            <a:off x="3575051" y="1989138"/>
            <a:ext cx="6842125"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tabLst>
                <a:tab pos="600075" algn="l"/>
              </a:tabLst>
              <a:defRPr kumimoji="1" sz="3200">
                <a:solidFill>
                  <a:schemeClr val="tx1"/>
                </a:solidFill>
                <a:latin typeface="Times New Roman" panose="02020503050405090304" pitchFamily="18" charset="0"/>
                <a:ea typeface="宋体" pitchFamily="2" charset="-122"/>
              </a:defRPr>
            </a:lvl1pPr>
            <a:lvl2pPr marL="742950" indent="-285750">
              <a:spcBef>
                <a:spcPct val="20000"/>
              </a:spcBef>
              <a:buChar char="–"/>
              <a:tabLst>
                <a:tab pos="600075" algn="l"/>
              </a:tabLst>
              <a:defRPr kumimoji="1" sz="2800">
                <a:solidFill>
                  <a:schemeClr val="tx1"/>
                </a:solidFill>
                <a:latin typeface="Times New Roman" panose="02020503050405090304" pitchFamily="18" charset="0"/>
                <a:ea typeface="宋体" pitchFamily="2" charset="-122"/>
              </a:defRPr>
            </a:lvl2pPr>
            <a:lvl3pPr marL="1143000" indent="-228600">
              <a:spcBef>
                <a:spcPct val="20000"/>
              </a:spcBef>
              <a:buChar char="•"/>
              <a:tabLst>
                <a:tab pos="600075" algn="l"/>
              </a:tabLst>
              <a:defRPr kumimoji="1" sz="2400">
                <a:solidFill>
                  <a:schemeClr val="tx1"/>
                </a:solidFill>
                <a:latin typeface="Times New Roman" panose="02020503050405090304" pitchFamily="18" charset="0"/>
                <a:ea typeface="宋体" pitchFamily="2" charset="-122"/>
              </a:defRPr>
            </a:lvl3pPr>
            <a:lvl4pPr marL="1600200" indent="-228600">
              <a:spcBef>
                <a:spcPct val="20000"/>
              </a:spcBef>
              <a:buChar char="–"/>
              <a:tabLst>
                <a:tab pos="600075" algn="l"/>
              </a:tabLst>
              <a:defRPr kumimoji="1" sz="2000">
                <a:solidFill>
                  <a:schemeClr val="tx1"/>
                </a:solidFill>
                <a:latin typeface="Times New Roman" panose="02020503050405090304" pitchFamily="18" charset="0"/>
                <a:ea typeface="宋体" pitchFamily="2" charset="-122"/>
              </a:defRPr>
            </a:lvl4pPr>
            <a:lvl5pPr marL="2057400" indent="-228600">
              <a:spcBef>
                <a:spcPct val="20000"/>
              </a:spcBef>
              <a:buChar char="»"/>
              <a:tabLst>
                <a:tab pos="600075" algn="l"/>
              </a:tabLst>
              <a:defRPr kumimoji="1" sz="2000">
                <a:solidFill>
                  <a:schemeClr val="tx1"/>
                </a:solidFill>
                <a:latin typeface="Times New Roman" panose="02020503050405090304" pitchFamily="18" charset="0"/>
                <a:ea typeface="宋体" pitchFamily="2" charset="-122"/>
              </a:defRPr>
            </a:lvl5pPr>
            <a:lvl6pPr marL="2514600" indent="-228600" eaLnBrk="0" fontAlgn="base" hangingPunct="0">
              <a:spcBef>
                <a:spcPct val="20000"/>
              </a:spcBef>
              <a:spcAft>
                <a:spcPct val="0"/>
              </a:spcAft>
              <a:buChar char="»"/>
              <a:tabLst>
                <a:tab pos="600075" algn="l"/>
              </a:tabLst>
              <a:defRPr kumimoji="1" sz="2000">
                <a:solidFill>
                  <a:schemeClr val="tx1"/>
                </a:solidFill>
                <a:latin typeface="Times New Roman" panose="02020503050405090304" pitchFamily="18" charset="0"/>
                <a:ea typeface="宋体" pitchFamily="2" charset="-122"/>
              </a:defRPr>
            </a:lvl6pPr>
            <a:lvl7pPr marL="2971800" indent="-228600" eaLnBrk="0" fontAlgn="base" hangingPunct="0">
              <a:spcBef>
                <a:spcPct val="20000"/>
              </a:spcBef>
              <a:spcAft>
                <a:spcPct val="0"/>
              </a:spcAft>
              <a:buChar char="»"/>
              <a:tabLst>
                <a:tab pos="600075" algn="l"/>
              </a:tabLst>
              <a:defRPr kumimoji="1" sz="2000">
                <a:solidFill>
                  <a:schemeClr val="tx1"/>
                </a:solidFill>
                <a:latin typeface="Times New Roman" panose="02020503050405090304" pitchFamily="18" charset="0"/>
                <a:ea typeface="宋体" pitchFamily="2" charset="-122"/>
              </a:defRPr>
            </a:lvl7pPr>
            <a:lvl8pPr marL="3429000" indent="-228600" eaLnBrk="0" fontAlgn="base" hangingPunct="0">
              <a:spcBef>
                <a:spcPct val="20000"/>
              </a:spcBef>
              <a:spcAft>
                <a:spcPct val="0"/>
              </a:spcAft>
              <a:buChar char="»"/>
              <a:tabLst>
                <a:tab pos="600075" algn="l"/>
              </a:tabLst>
              <a:defRPr kumimoji="1" sz="2000">
                <a:solidFill>
                  <a:schemeClr val="tx1"/>
                </a:solidFill>
                <a:latin typeface="Times New Roman" panose="02020503050405090304" pitchFamily="18" charset="0"/>
                <a:ea typeface="宋体" pitchFamily="2" charset="-122"/>
              </a:defRPr>
            </a:lvl8pPr>
            <a:lvl9pPr marL="3886200" indent="-228600" eaLnBrk="0" fontAlgn="base" hangingPunct="0">
              <a:spcBef>
                <a:spcPct val="20000"/>
              </a:spcBef>
              <a:spcAft>
                <a:spcPct val="0"/>
              </a:spcAft>
              <a:buChar char="»"/>
              <a:tabLst>
                <a:tab pos="600075" algn="l"/>
              </a:tabLst>
              <a:defRPr kumimoji="1" sz="2000">
                <a:solidFill>
                  <a:schemeClr val="tx1"/>
                </a:solidFill>
                <a:latin typeface="Times New Roman" panose="02020503050405090304" pitchFamily="18" charset="0"/>
                <a:ea typeface="宋体" pitchFamily="2" charset="-122"/>
              </a:defRPr>
            </a:lvl9pPr>
          </a:lstStyle>
          <a:p>
            <a:pPr algn="ctr" eaLnBrk="1" hangingPunct="1">
              <a:spcBef>
                <a:spcPct val="0"/>
              </a:spcBef>
              <a:buFontTx/>
              <a:buNone/>
            </a:pPr>
            <a:r>
              <a:rPr lang="en-US" altLang="zh-CN" sz="1800" b="1"/>
              <a:t>150    160    170    180    190    200    210    220    230    240    250    260   </a:t>
            </a:r>
            <a:endParaRPr lang="en-US" altLang="zh-CN" sz="1800" b="1"/>
          </a:p>
        </p:txBody>
      </p:sp>
      <p:sp>
        <p:nvSpPr>
          <p:cNvPr id="29705" name="Rectangle 21"/>
          <p:cNvSpPr>
            <a:spLocks noChangeArrowheads="1"/>
          </p:cNvSpPr>
          <p:nvPr/>
        </p:nvSpPr>
        <p:spPr bwMode="auto">
          <a:xfrm>
            <a:off x="1847851" y="1989138"/>
            <a:ext cx="1933575"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tabLst>
                <a:tab pos="600075" algn="l"/>
              </a:tabLst>
              <a:defRPr kumimoji="1" sz="3200">
                <a:solidFill>
                  <a:schemeClr val="tx1"/>
                </a:solidFill>
                <a:latin typeface="Times New Roman" panose="02020503050405090304" pitchFamily="18" charset="0"/>
                <a:ea typeface="宋体" pitchFamily="2" charset="-122"/>
              </a:defRPr>
            </a:lvl1pPr>
            <a:lvl2pPr marL="742950" indent="-285750">
              <a:spcBef>
                <a:spcPct val="20000"/>
              </a:spcBef>
              <a:buChar char="–"/>
              <a:tabLst>
                <a:tab pos="600075" algn="l"/>
              </a:tabLst>
              <a:defRPr kumimoji="1" sz="2800">
                <a:solidFill>
                  <a:schemeClr val="tx1"/>
                </a:solidFill>
                <a:latin typeface="Times New Roman" panose="02020503050405090304" pitchFamily="18" charset="0"/>
                <a:ea typeface="宋体" pitchFamily="2" charset="-122"/>
              </a:defRPr>
            </a:lvl2pPr>
            <a:lvl3pPr marL="1143000" indent="-228600">
              <a:spcBef>
                <a:spcPct val="20000"/>
              </a:spcBef>
              <a:buChar char="•"/>
              <a:tabLst>
                <a:tab pos="600075" algn="l"/>
              </a:tabLst>
              <a:defRPr kumimoji="1" sz="2400">
                <a:solidFill>
                  <a:schemeClr val="tx1"/>
                </a:solidFill>
                <a:latin typeface="Times New Roman" panose="02020503050405090304" pitchFamily="18" charset="0"/>
                <a:ea typeface="宋体" pitchFamily="2" charset="-122"/>
              </a:defRPr>
            </a:lvl3pPr>
            <a:lvl4pPr marL="1600200" indent="-228600">
              <a:spcBef>
                <a:spcPct val="20000"/>
              </a:spcBef>
              <a:buChar char="–"/>
              <a:tabLst>
                <a:tab pos="600075" algn="l"/>
              </a:tabLst>
              <a:defRPr kumimoji="1" sz="2000">
                <a:solidFill>
                  <a:schemeClr val="tx1"/>
                </a:solidFill>
                <a:latin typeface="Times New Roman" panose="02020503050405090304" pitchFamily="18" charset="0"/>
                <a:ea typeface="宋体" pitchFamily="2" charset="-122"/>
              </a:defRPr>
            </a:lvl4pPr>
            <a:lvl5pPr marL="2057400" indent="-228600">
              <a:spcBef>
                <a:spcPct val="20000"/>
              </a:spcBef>
              <a:buChar char="»"/>
              <a:tabLst>
                <a:tab pos="600075" algn="l"/>
              </a:tabLst>
              <a:defRPr kumimoji="1" sz="2000">
                <a:solidFill>
                  <a:schemeClr val="tx1"/>
                </a:solidFill>
                <a:latin typeface="Times New Roman" panose="02020503050405090304" pitchFamily="18" charset="0"/>
                <a:ea typeface="宋体" pitchFamily="2" charset="-122"/>
              </a:defRPr>
            </a:lvl5pPr>
            <a:lvl6pPr marL="2514600" indent="-228600" eaLnBrk="0" fontAlgn="base" hangingPunct="0">
              <a:spcBef>
                <a:spcPct val="20000"/>
              </a:spcBef>
              <a:spcAft>
                <a:spcPct val="0"/>
              </a:spcAft>
              <a:buChar char="»"/>
              <a:tabLst>
                <a:tab pos="600075" algn="l"/>
              </a:tabLst>
              <a:defRPr kumimoji="1" sz="2000">
                <a:solidFill>
                  <a:schemeClr val="tx1"/>
                </a:solidFill>
                <a:latin typeface="Times New Roman" panose="02020503050405090304" pitchFamily="18" charset="0"/>
                <a:ea typeface="宋体" pitchFamily="2" charset="-122"/>
              </a:defRPr>
            </a:lvl6pPr>
            <a:lvl7pPr marL="2971800" indent="-228600" eaLnBrk="0" fontAlgn="base" hangingPunct="0">
              <a:spcBef>
                <a:spcPct val="20000"/>
              </a:spcBef>
              <a:spcAft>
                <a:spcPct val="0"/>
              </a:spcAft>
              <a:buChar char="»"/>
              <a:tabLst>
                <a:tab pos="600075" algn="l"/>
              </a:tabLst>
              <a:defRPr kumimoji="1" sz="2000">
                <a:solidFill>
                  <a:schemeClr val="tx1"/>
                </a:solidFill>
                <a:latin typeface="Times New Roman" panose="02020503050405090304" pitchFamily="18" charset="0"/>
                <a:ea typeface="宋体" pitchFamily="2" charset="-122"/>
              </a:defRPr>
            </a:lvl7pPr>
            <a:lvl8pPr marL="3429000" indent="-228600" eaLnBrk="0" fontAlgn="base" hangingPunct="0">
              <a:spcBef>
                <a:spcPct val="20000"/>
              </a:spcBef>
              <a:spcAft>
                <a:spcPct val="0"/>
              </a:spcAft>
              <a:buChar char="»"/>
              <a:tabLst>
                <a:tab pos="600075" algn="l"/>
              </a:tabLst>
              <a:defRPr kumimoji="1" sz="2000">
                <a:solidFill>
                  <a:schemeClr val="tx1"/>
                </a:solidFill>
                <a:latin typeface="Times New Roman" panose="02020503050405090304" pitchFamily="18" charset="0"/>
                <a:ea typeface="宋体" pitchFamily="2" charset="-122"/>
              </a:defRPr>
            </a:lvl8pPr>
            <a:lvl9pPr marL="3886200" indent="-228600" eaLnBrk="0" fontAlgn="base" hangingPunct="0">
              <a:spcBef>
                <a:spcPct val="20000"/>
              </a:spcBef>
              <a:spcAft>
                <a:spcPct val="0"/>
              </a:spcAft>
              <a:buChar char="»"/>
              <a:tabLst>
                <a:tab pos="600075" algn="l"/>
              </a:tabLst>
              <a:defRPr kumimoji="1" sz="2000">
                <a:solidFill>
                  <a:schemeClr val="tx1"/>
                </a:solidFill>
                <a:latin typeface="Times New Roman" panose="02020503050405090304" pitchFamily="18" charset="0"/>
                <a:ea typeface="宋体" pitchFamily="2" charset="-122"/>
              </a:defRPr>
            </a:lvl9pPr>
          </a:lstStyle>
          <a:p>
            <a:pPr algn="ctr" eaLnBrk="1" hangingPunct="1">
              <a:spcBef>
                <a:spcPct val="0"/>
              </a:spcBef>
              <a:buFontTx/>
              <a:buNone/>
            </a:pPr>
            <a:r>
              <a:rPr lang="zh-CN" altLang="en-US" sz="1600" b="1">
                <a:ea typeface="楷体_GB2312" pitchFamily="49" charset="-122"/>
              </a:rPr>
              <a:t>水泥用量</a:t>
            </a:r>
            <a:r>
              <a:rPr lang="en-US" altLang="zh-CN" sz="1600" b="1" i="1"/>
              <a:t>x</a:t>
            </a:r>
            <a:r>
              <a:rPr lang="zh-CN" altLang="en-US" sz="1600" b="1"/>
              <a:t>（</a:t>
            </a:r>
            <a:r>
              <a:rPr lang="en-US" altLang="zh-CN" sz="1600" b="1"/>
              <a:t>kg</a:t>
            </a:r>
            <a:r>
              <a:rPr lang="zh-CN" altLang="en-US" sz="1600" b="1"/>
              <a:t>）</a:t>
            </a:r>
            <a:endParaRPr lang="zh-CN" altLang="en-US" sz="1600" b="1"/>
          </a:p>
        </p:txBody>
      </p:sp>
      <p:sp>
        <p:nvSpPr>
          <p:cNvPr id="29706" name="Line 22"/>
          <p:cNvSpPr>
            <a:spLocks noChangeShapeType="1"/>
          </p:cNvSpPr>
          <p:nvPr/>
        </p:nvSpPr>
        <p:spPr bwMode="auto">
          <a:xfrm>
            <a:off x="1847851" y="1916113"/>
            <a:ext cx="8640763" cy="0"/>
          </a:xfrm>
          <a:prstGeom prst="line">
            <a:avLst/>
          </a:prstGeom>
          <a:noFill/>
          <a:ln w="25400" cap="rnd">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29707" name="Line 23"/>
          <p:cNvSpPr>
            <a:spLocks noChangeShapeType="1"/>
          </p:cNvSpPr>
          <p:nvPr/>
        </p:nvSpPr>
        <p:spPr bwMode="auto">
          <a:xfrm>
            <a:off x="1847851" y="2997200"/>
            <a:ext cx="8640763" cy="0"/>
          </a:xfrm>
          <a:prstGeom prst="line">
            <a:avLst/>
          </a:prstGeom>
          <a:noFill/>
          <a:ln w="25400" cap="rnd">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29708" name="Line 24"/>
          <p:cNvSpPr>
            <a:spLocks noChangeShapeType="1"/>
          </p:cNvSpPr>
          <p:nvPr/>
        </p:nvSpPr>
        <p:spPr bwMode="auto">
          <a:xfrm>
            <a:off x="1524000" y="1920876"/>
            <a:ext cx="0" cy="720725"/>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29709" name="Line 25"/>
          <p:cNvSpPr>
            <a:spLocks noChangeShapeType="1"/>
          </p:cNvSpPr>
          <p:nvPr/>
        </p:nvSpPr>
        <p:spPr bwMode="auto">
          <a:xfrm>
            <a:off x="10164763" y="1920876"/>
            <a:ext cx="0" cy="720725"/>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29710" name="Line 26"/>
          <p:cNvSpPr>
            <a:spLocks noChangeShapeType="1"/>
          </p:cNvSpPr>
          <p:nvPr/>
        </p:nvSpPr>
        <p:spPr bwMode="auto">
          <a:xfrm>
            <a:off x="1847851" y="2420938"/>
            <a:ext cx="8640763" cy="0"/>
          </a:xfrm>
          <a:prstGeom prst="line">
            <a:avLst/>
          </a:prstGeom>
          <a:noFill/>
          <a:ln w="12700" cap="rnd">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29711" name="Line 27"/>
          <p:cNvSpPr>
            <a:spLocks noChangeShapeType="1"/>
          </p:cNvSpPr>
          <p:nvPr/>
        </p:nvSpPr>
        <p:spPr bwMode="auto">
          <a:xfrm>
            <a:off x="3575050" y="1916114"/>
            <a:ext cx="0" cy="1081087"/>
          </a:xfrm>
          <a:prstGeom prst="line">
            <a:avLst/>
          </a:prstGeom>
          <a:noFill/>
          <a:ln w="12700" cap="rnd">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29712" name="Rectangle 30"/>
          <p:cNvSpPr>
            <a:spLocks noChangeArrowheads="1"/>
          </p:cNvSpPr>
          <p:nvPr/>
        </p:nvSpPr>
        <p:spPr bwMode="auto">
          <a:xfrm>
            <a:off x="3540125" y="2563813"/>
            <a:ext cx="7092950"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tabLst>
                <a:tab pos="600075" algn="l"/>
              </a:tabLst>
              <a:defRPr kumimoji="1" sz="3200">
                <a:solidFill>
                  <a:schemeClr val="tx1"/>
                </a:solidFill>
                <a:latin typeface="Times New Roman" panose="02020503050405090304" pitchFamily="18" charset="0"/>
                <a:ea typeface="宋体" pitchFamily="2" charset="-122"/>
              </a:defRPr>
            </a:lvl1pPr>
            <a:lvl2pPr marL="742950" indent="-285750">
              <a:spcBef>
                <a:spcPct val="20000"/>
              </a:spcBef>
              <a:buChar char="–"/>
              <a:tabLst>
                <a:tab pos="600075" algn="l"/>
              </a:tabLst>
              <a:defRPr kumimoji="1" sz="2800">
                <a:solidFill>
                  <a:schemeClr val="tx1"/>
                </a:solidFill>
                <a:latin typeface="Times New Roman" panose="02020503050405090304" pitchFamily="18" charset="0"/>
                <a:ea typeface="宋体" pitchFamily="2" charset="-122"/>
              </a:defRPr>
            </a:lvl2pPr>
            <a:lvl3pPr marL="1143000" indent="-228600">
              <a:spcBef>
                <a:spcPct val="20000"/>
              </a:spcBef>
              <a:buChar char="•"/>
              <a:tabLst>
                <a:tab pos="600075" algn="l"/>
              </a:tabLst>
              <a:defRPr kumimoji="1" sz="2400">
                <a:solidFill>
                  <a:schemeClr val="tx1"/>
                </a:solidFill>
                <a:latin typeface="Times New Roman" panose="02020503050405090304" pitchFamily="18" charset="0"/>
                <a:ea typeface="宋体" pitchFamily="2" charset="-122"/>
              </a:defRPr>
            </a:lvl3pPr>
            <a:lvl4pPr marL="1600200" indent="-228600">
              <a:spcBef>
                <a:spcPct val="20000"/>
              </a:spcBef>
              <a:buChar char="–"/>
              <a:tabLst>
                <a:tab pos="600075" algn="l"/>
              </a:tabLst>
              <a:defRPr kumimoji="1" sz="2000">
                <a:solidFill>
                  <a:schemeClr val="tx1"/>
                </a:solidFill>
                <a:latin typeface="Times New Roman" panose="02020503050405090304" pitchFamily="18" charset="0"/>
                <a:ea typeface="宋体" pitchFamily="2" charset="-122"/>
              </a:defRPr>
            </a:lvl4pPr>
            <a:lvl5pPr marL="2057400" indent="-228600">
              <a:spcBef>
                <a:spcPct val="20000"/>
              </a:spcBef>
              <a:buChar char="»"/>
              <a:tabLst>
                <a:tab pos="600075" algn="l"/>
              </a:tabLst>
              <a:defRPr kumimoji="1" sz="2000">
                <a:solidFill>
                  <a:schemeClr val="tx1"/>
                </a:solidFill>
                <a:latin typeface="Times New Roman" panose="02020503050405090304" pitchFamily="18" charset="0"/>
                <a:ea typeface="宋体" pitchFamily="2" charset="-122"/>
              </a:defRPr>
            </a:lvl5pPr>
            <a:lvl6pPr marL="2514600" indent="-228600" eaLnBrk="0" fontAlgn="base" hangingPunct="0">
              <a:spcBef>
                <a:spcPct val="20000"/>
              </a:spcBef>
              <a:spcAft>
                <a:spcPct val="0"/>
              </a:spcAft>
              <a:buChar char="»"/>
              <a:tabLst>
                <a:tab pos="600075" algn="l"/>
              </a:tabLst>
              <a:defRPr kumimoji="1" sz="2000">
                <a:solidFill>
                  <a:schemeClr val="tx1"/>
                </a:solidFill>
                <a:latin typeface="Times New Roman" panose="02020503050405090304" pitchFamily="18" charset="0"/>
                <a:ea typeface="宋体" pitchFamily="2" charset="-122"/>
              </a:defRPr>
            </a:lvl6pPr>
            <a:lvl7pPr marL="2971800" indent="-228600" eaLnBrk="0" fontAlgn="base" hangingPunct="0">
              <a:spcBef>
                <a:spcPct val="20000"/>
              </a:spcBef>
              <a:spcAft>
                <a:spcPct val="0"/>
              </a:spcAft>
              <a:buChar char="»"/>
              <a:tabLst>
                <a:tab pos="600075" algn="l"/>
              </a:tabLst>
              <a:defRPr kumimoji="1" sz="2000">
                <a:solidFill>
                  <a:schemeClr val="tx1"/>
                </a:solidFill>
                <a:latin typeface="Times New Roman" panose="02020503050405090304" pitchFamily="18" charset="0"/>
                <a:ea typeface="宋体" pitchFamily="2" charset="-122"/>
              </a:defRPr>
            </a:lvl7pPr>
            <a:lvl8pPr marL="3429000" indent="-228600" eaLnBrk="0" fontAlgn="base" hangingPunct="0">
              <a:spcBef>
                <a:spcPct val="20000"/>
              </a:spcBef>
              <a:spcAft>
                <a:spcPct val="0"/>
              </a:spcAft>
              <a:buChar char="»"/>
              <a:tabLst>
                <a:tab pos="600075" algn="l"/>
              </a:tabLst>
              <a:defRPr kumimoji="1" sz="2000">
                <a:solidFill>
                  <a:schemeClr val="tx1"/>
                </a:solidFill>
                <a:latin typeface="Times New Roman" panose="02020503050405090304" pitchFamily="18" charset="0"/>
                <a:ea typeface="宋体" pitchFamily="2" charset="-122"/>
              </a:defRPr>
            </a:lvl8pPr>
            <a:lvl9pPr marL="3886200" indent="-228600" eaLnBrk="0" fontAlgn="base" hangingPunct="0">
              <a:spcBef>
                <a:spcPct val="20000"/>
              </a:spcBef>
              <a:spcAft>
                <a:spcPct val="0"/>
              </a:spcAft>
              <a:buChar char="»"/>
              <a:tabLst>
                <a:tab pos="600075" algn="l"/>
              </a:tabLst>
              <a:defRPr kumimoji="1" sz="2000">
                <a:solidFill>
                  <a:schemeClr val="tx1"/>
                </a:solidFill>
                <a:latin typeface="Times New Roman" panose="02020503050405090304" pitchFamily="18" charset="0"/>
                <a:ea typeface="宋体" pitchFamily="2" charset="-122"/>
              </a:defRPr>
            </a:lvl9pPr>
          </a:lstStyle>
          <a:p>
            <a:pPr algn="ctr" eaLnBrk="1" hangingPunct="1">
              <a:spcBef>
                <a:spcPct val="0"/>
              </a:spcBef>
              <a:buFontTx/>
              <a:buNone/>
            </a:pPr>
            <a:r>
              <a:rPr lang="en-US" altLang="zh-CN" sz="1800" b="1" dirty="0"/>
              <a:t>56.9    58.3   61.6   64.6    68.1   71.3   74.1   77.4   80.2   82.6   86.4   89.7   </a:t>
            </a:r>
            <a:endParaRPr lang="en-US" altLang="zh-CN" sz="1800" b="1" dirty="0"/>
          </a:p>
        </p:txBody>
      </p:sp>
      <p:sp>
        <p:nvSpPr>
          <p:cNvPr id="943135" name="Rectangle 31"/>
          <p:cNvSpPr>
            <a:spLocks noGrp="1" noChangeArrowheads="1"/>
          </p:cNvSpPr>
          <p:nvPr>
            <p:ph idx="1"/>
          </p:nvPr>
        </p:nvSpPr>
        <p:spPr>
          <a:xfrm>
            <a:off x="1905000" y="549275"/>
            <a:ext cx="8223250" cy="1366838"/>
          </a:xfrm>
          <a:noFill/>
        </p:spPr>
        <p:txBody>
          <a:bodyPr>
            <a:normAutofit lnSpcReduction="10000"/>
          </a:bodyPr>
          <a:lstStyle/>
          <a:p>
            <a:pPr eaLnBrk="1" hangingPunct="1">
              <a:buFontTx/>
              <a:buNone/>
            </a:pPr>
            <a:r>
              <a:rPr lang="zh-CN" altLang="en-US" sz="2400" b="1">
                <a:latin typeface="楷体_GB2312" pitchFamily="49" charset="-122"/>
                <a:ea typeface="楷体_GB2312" pitchFamily="49" charset="-122"/>
              </a:rPr>
              <a:t>例</a:t>
            </a:r>
            <a:r>
              <a:rPr lang="en-US" altLang="zh-CN" sz="2400" b="1">
                <a:latin typeface="楷体_GB2312" pitchFamily="49" charset="-122"/>
                <a:ea typeface="楷体_GB2312" pitchFamily="49" charset="-122"/>
              </a:rPr>
              <a:t>2</a:t>
            </a:r>
            <a:r>
              <a:rPr lang="en-US" altLang="zh-CN" sz="2400">
                <a:latin typeface="楷体_GB2312" pitchFamily="49" charset="-122"/>
                <a:ea typeface="楷体_GB2312" pitchFamily="49" charset="-122"/>
              </a:rPr>
              <a:t> </a:t>
            </a:r>
            <a:r>
              <a:rPr lang="zh-CN" altLang="en-US" sz="2400">
                <a:latin typeface="楷体_GB2312" pitchFamily="49" charset="-122"/>
                <a:ea typeface="楷体_GB2312" pitchFamily="49" charset="-122"/>
              </a:rPr>
              <a:t>对某建材实验室做某种混凝土强度实验，考察每一立方米混凝土的水泥用量</a:t>
            </a:r>
            <a:r>
              <a:rPr lang="en-US" altLang="zh-CN" sz="2400">
                <a:latin typeface="楷体_GB2312" pitchFamily="49" charset="-122"/>
                <a:ea typeface="楷体_GB2312" pitchFamily="49" charset="-122"/>
              </a:rPr>
              <a:t>(kg)</a:t>
            </a:r>
            <a:r>
              <a:rPr lang="zh-CN" altLang="en-US" sz="2400">
                <a:latin typeface="楷体_GB2312" pitchFamily="49" charset="-122"/>
                <a:ea typeface="楷体_GB2312" pitchFamily="49" charset="-122"/>
              </a:rPr>
              <a:t>对</a:t>
            </a:r>
            <a:r>
              <a:rPr lang="en-US" altLang="zh-CN" sz="2400">
                <a:latin typeface="楷体_GB2312" pitchFamily="49" charset="-122"/>
                <a:ea typeface="楷体_GB2312" pitchFamily="49" charset="-122"/>
              </a:rPr>
              <a:t>28</a:t>
            </a:r>
            <a:r>
              <a:rPr lang="zh-CN" altLang="en-US" sz="2400">
                <a:latin typeface="楷体_GB2312" pitchFamily="49" charset="-122"/>
                <a:ea typeface="楷体_GB2312" pitchFamily="49" charset="-122"/>
              </a:rPr>
              <a:t>天后的混凝土抗压强度</a:t>
            </a:r>
            <a:r>
              <a:rPr lang="en-US" altLang="zh-CN" sz="2400">
                <a:latin typeface="楷体_GB2312" pitchFamily="49" charset="-122"/>
                <a:ea typeface="楷体_GB2312" pitchFamily="49" charset="-122"/>
              </a:rPr>
              <a:t>(kg.cm-2)</a:t>
            </a:r>
            <a:r>
              <a:rPr lang="zh-CN" altLang="en-US" sz="2400">
                <a:latin typeface="楷体_GB2312" pitchFamily="49" charset="-122"/>
                <a:ea typeface="楷体_GB2312" pitchFamily="49" charset="-122"/>
              </a:rPr>
              <a:t>的影响，测得数据如下表：</a:t>
            </a:r>
            <a:endParaRPr lang="zh-CN" altLang="en-US" sz="2400">
              <a:latin typeface="楷体_GB2312" pitchFamily="49" charset="-122"/>
              <a:ea typeface="楷体_GB2312" pitchFamily="49" charset="-122"/>
            </a:endParaRPr>
          </a:p>
        </p:txBody>
      </p:sp>
      <p:sp>
        <p:nvSpPr>
          <p:cNvPr id="943137" name="Rectangle 33"/>
          <p:cNvSpPr>
            <a:spLocks noChangeArrowheads="1"/>
          </p:cNvSpPr>
          <p:nvPr/>
        </p:nvSpPr>
        <p:spPr bwMode="auto">
          <a:xfrm>
            <a:off x="1992313" y="3213100"/>
            <a:ext cx="8223250" cy="501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3200">
                <a:solidFill>
                  <a:schemeClr val="tx1"/>
                </a:solidFill>
                <a:latin typeface="Times New Roman" panose="02020503050405090304" pitchFamily="18" charset="0"/>
                <a:ea typeface="宋体" pitchFamily="2" charset="-122"/>
              </a:defRPr>
            </a:lvl1pPr>
            <a:lvl2pPr marL="742950" indent="-285750">
              <a:spcBef>
                <a:spcPct val="20000"/>
              </a:spcBef>
              <a:buChar char="–"/>
              <a:defRPr kumimoji="1" sz="2800">
                <a:solidFill>
                  <a:schemeClr val="tx1"/>
                </a:solidFill>
                <a:latin typeface="Times New Roman" panose="02020503050405090304" pitchFamily="18" charset="0"/>
                <a:ea typeface="宋体" pitchFamily="2" charset="-122"/>
              </a:defRPr>
            </a:lvl2pPr>
            <a:lvl3pPr marL="1143000" indent="-228600">
              <a:spcBef>
                <a:spcPct val="20000"/>
              </a:spcBef>
              <a:buChar char="•"/>
              <a:defRPr kumimoji="1" sz="2400">
                <a:solidFill>
                  <a:schemeClr val="tx1"/>
                </a:solidFill>
                <a:latin typeface="Times New Roman" panose="02020503050405090304" pitchFamily="18" charset="0"/>
                <a:ea typeface="宋体" pitchFamily="2" charset="-122"/>
              </a:defRPr>
            </a:lvl3pPr>
            <a:lvl4pPr marL="1600200" indent="-228600">
              <a:spcBef>
                <a:spcPct val="20000"/>
              </a:spcBef>
              <a:buChar char="–"/>
              <a:defRPr kumimoji="1" sz="2000">
                <a:solidFill>
                  <a:schemeClr val="tx1"/>
                </a:solidFill>
                <a:latin typeface="Times New Roman" panose="02020503050405090304" pitchFamily="18" charset="0"/>
                <a:ea typeface="宋体" pitchFamily="2" charset="-122"/>
              </a:defRPr>
            </a:lvl4pPr>
            <a:lvl5pPr marL="2057400" indent="-228600">
              <a:spcBef>
                <a:spcPct val="20000"/>
              </a:spcBef>
              <a:buChar char="»"/>
              <a:defRPr kumimoji="1" sz="2000">
                <a:solidFill>
                  <a:schemeClr val="tx1"/>
                </a:solidFill>
                <a:latin typeface="Times New Roman" panose="02020503050405090304"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503050405090304"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503050405090304"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503050405090304"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503050405090304" pitchFamily="18" charset="0"/>
                <a:ea typeface="宋体" pitchFamily="2" charset="-122"/>
              </a:defRPr>
            </a:lvl9pPr>
          </a:lstStyle>
          <a:p>
            <a:pPr eaLnBrk="1" hangingPunct="1">
              <a:buFontTx/>
              <a:buNone/>
            </a:pPr>
            <a:r>
              <a:rPr kumimoji="0" lang="en-US" altLang="zh-CN" sz="2400" i="1"/>
              <a:t>x</a:t>
            </a:r>
            <a:r>
              <a:rPr kumimoji="0" lang="zh-CN" altLang="en-US" sz="2400">
                <a:ea typeface="楷体_GB2312" pitchFamily="49" charset="-122"/>
              </a:rPr>
              <a:t>是自变量</a:t>
            </a:r>
            <a:r>
              <a:rPr kumimoji="0" lang="zh-CN" altLang="en-US" sz="2400"/>
              <a:t>，</a:t>
            </a:r>
            <a:r>
              <a:rPr kumimoji="0" lang="en-US" altLang="zh-CN" sz="2400" i="1"/>
              <a:t>y</a:t>
            </a:r>
            <a:r>
              <a:rPr kumimoji="0" lang="zh-CN" altLang="en-US" sz="2400">
                <a:ea typeface="楷体_GB2312" pitchFamily="49" charset="-122"/>
              </a:rPr>
              <a:t>是因变量</a:t>
            </a:r>
            <a:r>
              <a:rPr kumimoji="0" lang="zh-CN" altLang="en-US" sz="2400"/>
              <a:t>。</a:t>
            </a:r>
            <a:r>
              <a:rPr kumimoji="0" lang="zh-CN" altLang="en-US" sz="2400">
                <a:latin typeface="楷体_GB2312" pitchFamily="49" charset="-122"/>
                <a:ea typeface="楷体_GB2312" pitchFamily="49" charset="-122"/>
              </a:rPr>
              <a:t>求</a:t>
            </a:r>
            <a:r>
              <a:rPr kumimoji="0" lang="en-US" altLang="zh-CN" sz="2400" i="1">
                <a:ea typeface="楷体_GB2312" pitchFamily="49" charset="-122"/>
              </a:rPr>
              <a:t>y</a:t>
            </a:r>
            <a:r>
              <a:rPr kumimoji="0" lang="zh-CN" altLang="en-US" sz="2400">
                <a:latin typeface="楷体_GB2312" pitchFamily="49" charset="-122"/>
                <a:ea typeface="楷体_GB2312" pitchFamily="49" charset="-122"/>
              </a:rPr>
              <a:t>对</a:t>
            </a:r>
            <a:r>
              <a:rPr kumimoji="0" lang="en-US" altLang="zh-CN" sz="2400" i="1">
                <a:ea typeface="楷体_GB2312" pitchFamily="49" charset="-122"/>
              </a:rPr>
              <a:t>x</a:t>
            </a:r>
            <a:r>
              <a:rPr kumimoji="0" lang="zh-CN" altLang="en-US" sz="2400">
                <a:latin typeface="楷体_GB2312" pitchFamily="49" charset="-122"/>
                <a:ea typeface="楷体_GB2312" pitchFamily="49" charset="-122"/>
              </a:rPr>
              <a:t>的回归方程</a:t>
            </a:r>
            <a:endParaRPr lang="zh-CN" altLang="en-US" sz="2400">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943135">
                                            <p:txEl>
                                              <p:pRg st="0" end="0"/>
                                            </p:txEl>
                                          </p:spTgt>
                                        </p:tgtEl>
                                        <p:attrNameLst>
                                          <p:attrName>style.visibility</p:attrName>
                                        </p:attrNameLst>
                                      </p:cBhvr>
                                      <p:to>
                                        <p:strVal val="visible"/>
                                      </p:to>
                                    </p:set>
                                    <p:animEffect transition="in" filter="dissolve">
                                      <p:cBhvr>
                                        <p:cTn id="7" dur="500"/>
                                        <p:tgtEl>
                                          <p:spTgt spid="943135">
                                            <p:txEl>
                                              <p:pRg st="0" end="0"/>
                                            </p:txEl>
                                          </p:spTgt>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943137">
                                            <p:txEl>
                                              <p:pRg st="0" end="0"/>
                                            </p:txEl>
                                          </p:spTgt>
                                        </p:tgtEl>
                                        <p:attrNameLst>
                                          <p:attrName>style.visibility</p:attrName>
                                        </p:attrNameLst>
                                      </p:cBhvr>
                                      <p:to>
                                        <p:strVal val="visible"/>
                                      </p:to>
                                    </p:set>
                                    <p:animEffect transition="in" filter="dissolve">
                                      <p:cBhvr>
                                        <p:cTn id="11" dur="500"/>
                                        <p:tgtEl>
                                          <p:spTgt spid="94313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3135" grpId="0" build="p"/>
      <p:bldP spid="943137"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AutoShape 2">
            <a:hlinkClick r:id="" action="ppaction://hlinkshowjump?jump=previousslide" highlightClick="1"/>
          </p:cNvPr>
          <p:cNvSpPr>
            <a:spLocks noChangeArrowheads="1"/>
          </p:cNvSpPr>
          <p:nvPr/>
        </p:nvSpPr>
        <p:spPr bwMode="auto">
          <a:xfrm>
            <a:off x="9120189" y="6524625"/>
            <a:ext cx="287337" cy="215900"/>
          </a:xfrm>
          <a:prstGeom prst="actionButtonBackPrevious">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30723" name="AutoShape 3">
            <a:hlinkClick r:id="" action="ppaction://hlinkshowjump?jump=nextslide" highlightClick="1"/>
          </p:cNvPr>
          <p:cNvSpPr>
            <a:spLocks noChangeArrowheads="1"/>
          </p:cNvSpPr>
          <p:nvPr/>
        </p:nvSpPr>
        <p:spPr bwMode="auto">
          <a:xfrm>
            <a:off x="9407525" y="6524625"/>
            <a:ext cx="285750" cy="215900"/>
          </a:xfrm>
          <a:prstGeom prst="actionButtonForwardNex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30724" name="AutoShape 4">
            <a:hlinkClick r:id="" action="ppaction://hlinkshowjump?jump=firstslide" highlightClick="1"/>
          </p:cNvPr>
          <p:cNvSpPr>
            <a:spLocks noChangeArrowheads="1"/>
          </p:cNvSpPr>
          <p:nvPr/>
        </p:nvSpPr>
        <p:spPr bwMode="auto">
          <a:xfrm>
            <a:off x="9694864" y="6524625"/>
            <a:ext cx="287337" cy="215900"/>
          </a:xfrm>
          <a:prstGeom prst="actionButtonBeginning">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30725" name="AutoShape 5">
            <a:hlinkClick r:id="" action="ppaction://hlinkshowjump?jump=endshow" highlightClick="1"/>
          </p:cNvPr>
          <p:cNvSpPr>
            <a:spLocks noChangeArrowheads="1"/>
          </p:cNvSpPr>
          <p:nvPr/>
        </p:nvSpPr>
        <p:spPr bwMode="auto">
          <a:xfrm>
            <a:off x="9983789" y="6524625"/>
            <a:ext cx="287337" cy="215900"/>
          </a:xfrm>
          <a:prstGeom prst="actionButtonEnd">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30726" name="AutoShape 6">
            <a:hlinkClick r:id="rId1" action="ppaction://hlinksldjump" highlightClick="1"/>
          </p:cNvPr>
          <p:cNvSpPr>
            <a:spLocks noChangeArrowheads="1"/>
          </p:cNvSpPr>
          <p:nvPr/>
        </p:nvSpPr>
        <p:spPr bwMode="auto">
          <a:xfrm>
            <a:off x="10272714" y="6524625"/>
            <a:ext cx="288925" cy="215900"/>
          </a:xfrm>
          <a:prstGeom prst="actionButtonReturn">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graphicFrame>
        <p:nvGraphicFramePr>
          <p:cNvPr id="878600" name="Object 8"/>
          <p:cNvGraphicFramePr>
            <a:graphicFrameLocks noChangeAspect="1"/>
          </p:cNvGraphicFramePr>
          <p:nvPr/>
        </p:nvGraphicFramePr>
        <p:xfrm>
          <a:off x="3074988" y="254000"/>
          <a:ext cx="5467350" cy="873125"/>
        </p:xfrm>
        <a:graphic>
          <a:graphicData uri="http://schemas.openxmlformats.org/presentationml/2006/ole">
            <mc:AlternateContent xmlns:mc="http://schemas.openxmlformats.org/markup-compatibility/2006">
              <mc:Choice xmlns:v="urn:schemas-microsoft-com:vml" Requires="v">
                <p:oleObj spid="_x0000_s25601" name="Equation" r:id="rId2" imgW="58826400" imgH="8839200" progId="Equation.DSMT4">
                  <p:embed/>
                </p:oleObj>
              </mc:Choice>
              <mc:Fallback>
                <p:oleObj name="Equation" r:id="rId2" imgW="58826400" imgH="8839200" progId="Equation.DSMT4">
                  <p:embed/>
                  <p:pic>
                    <p:nvPicPr>
                      <p:cNvPr id="0" name="Object 8"/>
                      <p:cNvPicPr>
                        <a:picLocks noChangeAspect="1" noChangeArrowheads="1"/>
                      </p:cNvPicPr>
                      <p:nvPr/>
                    </p:nvPicPr>
                    <p:blipFill>
                      <a:blip r:embed="rId3"/>
                      <a:srcRect/>
                      <a:stretch>
                        <a:fillRect/>
                      </a:stretch>
                    </p:blipFill>
                    <p:spPr bwMode="auto">
                      <a:xfrm>
                        <a:off x="3074988" y="254000"/>
                        <a:ext cx="5467350" cy="87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728" name="Rectangle 13"/>
          <p:cNvSpPr>
            <a:spLocks noChangeArrowheads="1"/>
          </p:cNvSpPr>
          <p:nvPr/>
        </p:nvSpPr>
        <p:spPr bwMode="auto">
          <a:xfrm>
            <a:off x="1992313" y="404813"/>
            <a:ext cx="8953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zh-CN" altLang="en-US" sz="2800">
                <a:solidFill>
                  <a:schemeClr val="accent2"/>
                </a:solidFill>
                <a:latin typeface="楷体_GB2312" pitchFamily="49" charset="-122"/>
              </a:rPr>
              <a:t>解：</a:t>
            </a:r>
            <a:endParaRPr lang="zh-CN" altLang="en-US" sz="2800">
              <a:latin typeface="楷体_GB2312" pitchFamily="49" charset="-122"/>
            </a:endParaRPr>
          </a:p>
        </p:txBody>
      </p:sp>
      <p:graphicFrame>
        <p:nvGraphicFramePr>
          <p:cNvPr id="878609" name="Object 17"/>
          <p:cNvGraphicFramePr>
            <a:graphicFrameLocks noChangeAspect="1"/>
          </p:cNvGraphicFramePr>
          <p:nvPr/>
        </p:nvGraphicFramePr>
        <p:xfrm>
          <a:off x="1979613" y="1116013"/>
          <a:ext cx="8088312" cy="874712"/>
        </p:xfrm>
        <a:graphic>
          <a:graphicData uri="http://schemas.openxmlformats.org/presentationml/2006/ole">
            <mc:AlternateContent xmlns:mc="http://schemas.openxmlformats.org/markup-compatibility/2006">
              <mc:Choice xmlns:v="urn:schemas-microsoft-com:vml" Requires="v">
                <p:oleObj spid="_x0000_s2" name="Equation" r:id="rId4" imgW="83210400" imgH="8839200" progId="Equation.DSMT4">
                  <p:embed/>
                </p:oleObj>
              </mc:Choice>
              <mc:Fallback>
                <p:oleObj name="Equation" r:id="rId4" imgW="83210400" imgH="8839200" progId="Equation.DSMT4">
                  <p:embed/>
                  <p:pic>
                    <p:nvPicPr>
                      <p:cNvPr id="0" name="Object 17"/>
                      <p:cNvPicPr>
                        <a:picLocks noChangeAspect="1" noChangeArrowheads="1"/>
                      </p:cNvPicPr>
                      <p:nvPr/>
                    </p:nvPicPr>
                    <p:blipFill>
                      <a:blip r:embed="rId5"/>
                      <a:srcRect/>
                      <a:stretch>
                        <a:fillRect/>
                      </a:stretch>
                    </p:blipFill>
                    <p:spPr bwMode="auto">
                      <a:xfrm>
                        <a:off x="1979613" y="1116013"/>
                        <a:ext cx="8088312" cy="87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78611" name="Object 19"/>
          <p:cNvGraphicFramePr>
            <a:graphicFrameLocks noChangeAspect="1"/>
          </p:cNvGraphicFramePr>
          <p:nvPr/>
        </p:nvGraphicFramePr>
        <p:xfrm>
          <a:off x="2852738" y="2117725"/>
          <a:ext cx="2955925" cy="503238"/>
        </p:xfrm>
        <a:graphic>
          <a:graphicData uri="http://schemas.openxmlformats.org/presentationml/2006/ole">
            <mc:AlternateContent xmlns:mc="http://schemas.openxmlformats.org/markup-compatibility/2006">
              <mc:Choice xmlns:v="urn:schemas-microsoft-com:vml" Requires="v">
                <p:oleObj spid="_x0000_s3" name="Equation" r:id="rId6" imgW="31699200" imgH="4876800" progId="Equation.DSMT4">
                  <p:embed/>
                </p:oleObj>
              </mc:Choice>
              <mc:Fallback>
                <p:oleObj name="Equation" r:id="rId6" imgW="31699200" imgH="4876800" progId="Equation.DSMT4">
                  <p:embed/>
                  <p:pic>
                    <p:nvPicPr>
                      <p:cNvPr id="0" name="Object 19"/>
                      <p:cNvPicPr>
                        <a:picLocks noChangeAspect="1" noChangeArrowheads="1"/>
                      </p:cNvPicPr>
                      <p:nvPr/>
                    </p:nvPicPr>
                    <p:blipFill>
                      <a:blip r:embed="rId7"/>
                      <a:srcRect/>
                      <a:stretch>
                        <a:fillRect/>
                      </a:stretch>
                    </p:blipFill>
                    <p:spPr bwMode="auto">
                      <a:xfrm>
                        <a:off x="2852738" y="2117725"/>
                        <a:ext cx="2955925"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78614" name="Object 22"/>
          <p:cNvGraphicFramePr>
            <a:graphicFrameLocks noChangeAspect="1"/>
          </p:cNvGraphicFramePr>
          <p:nvPr/>
        </p:nvGraphicFramePr>
        <p:xfrm>
          <a:off x="2038350" y="2452688"/>
          <a:ext cx="4975225" cy="2054225"/>
        </p:xfrm>
        <a:graphic>
          <a:graphicData uri="http://schemas.openxmlformats.org/presentationml/2006/ole">
            <mc:AlternateContent xmlns:mc="http://schemas.openxmlformats.org/markup-compatibility/2006">
              <mc:Choice xmlns:v="urn:schemas-microsoft-com:vml" Requires="v">
                <p:oleObj spid="_x0000_s4" name="Equation" r:id="rId8" imgW="42976800" imgH="17678400" progId="Equation.DSMT4">
                  <p:embed/>
                </p:oleObj>
              </mc:Choice>
              <mc:Fallback>
                <p:oleObj name="Equation" r:id="rId8" imgW="42976800" imgH="17678400" progId="Equation.DSMT4">
                  <p:embed/>
                  <p:pic>
                    <p:nvPicPr>
                      <p:cNvPr id="0" name="Object 22"/>
                      <p:cNvPicPr>
                        <a:picLocks noChangeAspect="1" noChangeArrowheads="1"/>
                      </p:cNvPicPr>
                      <p:nvPr/>
                    </p:nvPicPr>
                    <p:blipFill>
                      <a:blip r:embed="rId9"/>
                      <a:srcRect/>
                      <a:stretch>
                        <a:fillRect/>
                      </a:stretch>
                    </p:blipFill>
                    <p:spPr bwMode="auto">
                      <a:xfrm>
                        <a:off x="2038350" y="2452688"/>
                        <a:ext cx="4975225" cy="205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78615" name="Rectangle 23"/>
          <p:cNvSpPr>
            <a:spLocks noChangeArrowheads="1"/>
          </p:cNvSpPr>
          <p:nvPr/>
        </p:nvSpPr>
        <p:spPr bwMode="auto">
          <a:xfrm>
            <a:off x="2351088" y="4508500"/>
            <a:ext cx="2374900" cy="501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3200">
                <a:solidFill>
                  <a:schemeClr val="tx1"/>
                </a:solidFill>
                <a:latin typeface="Times New Roman" panose="02020503050405090304" pitchFamily="18" charset="0"/>
                <a:ea typeface="宋体" pitchFamily="2" charset="-122"/>
              </a:defRPr>
            </a:lvl1pPr>
            <a:lvl2pPr marL="742950" indent="-285750">
              <a:spcBef>
                <a:spcPct val="20000"/>
              </a:spcBef>
              <a:buChar char="–"/>
              <a:defRPr kumimoji="1" sz="2800">
                <a:solidFill>
                  <a:schemeClr val="tx1"/>
                </a:solidFill>
                <a:latin typeface="Times New Roman" panose="02020503050405090304" pitchFamily="18" charset="0"/>
                <a:ea typeface="宋体" pitchFamily="2" charset="-122"/>
              </a:defRPr>
            </a:lvl2pPr>
            <a:lvl3pPr marL="1143000" indent="-228600">
              <a:spcBef>
                <a:spcPct val="20000"/>
              </a:spcBef>
              <a:buChar char="•"/>
              <a:defRPr kumimoji="1" sz="2400">
                <a:solidFill>
                  <a:schemeClr val="tx1"/>
                </a:solidFill>
                <a:latin typeface="Times New Roman" panose="02020503050405090304" pitchFamily="18" charset="0"/>
                <a:ea typeface="宋体" pitchFamily="2" charset="-122"/>
              </a:defRPr>
            </a:lvl3pPr>
            <a:lvl4pPr marL="1600200" indent="-228600">
              <a:spcBef>
                <a:spcPct val="20000"/>
              </a:spcBef>
              <a:buChar char="–"/>
              <a:defRPr kumimoji="1" sz="2000">
                <a:solidFill>
                  <a:schemeClr val="tx1"/>
                </a:solidFill>
                <a:latin typeface="Times New Roman" panose="02020503050405090304" pitchFamily="18" charset="0"/>
                <a:ea typeface="宋体" pitchFamily="2" charset="-122"/>
              </a:defRPr>
            </a:lvl4pPr>
            <a:lvl5pPr marL="2057400" indent="-228600">
              <a:spcBef>
                <a:spcPct val="20000"/>
              </a:spcBef>
              <a:buChar char="»"/>
              <a:defRPr kumimoji="1" sz="2000">
                <a:solidFill>
                  <a:schemeClr val="tx1"/>
                </a:solidFill>
                <a:latin typeface="Times New Roman" panose="02020503050405090304"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503050405090304"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503050405090304"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503050405090304"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503050405090304" pitchFamily="18" charset="0"/>
                <a:ea typeface="宋体" pitchFamily="2" charset="-122"/>
              </a:defRPr>
            </a:lvl9pPr>
          </a:lstStyle>
          <a:p>
            <a:pPr eaLnBrk="1" hangingPunct="1">
              <a:buFontTx/>
              <a:buNone/>
            </a:pPr>
            <a:r>
              <a:rPr kumimoji="0" lang="zh-CN" altLang="en-US" sz="2400">
                <a:ea typeface="楷体_GB2312" pitchFamily="49" charset="-122"/>
              </a:rPr>
              <a:t>于是</a:t>
            </a:r>
            <a:endParaRPr lang="zh-CN" altLang="en-US" sz="2400">
              <a:ea typeface="楷体_GB2312" pitchFamily="49" charset="-122"/>
            </a:endParaRPr>
          </a:p>
        </p:txBody>
      </p:sp>
      <p:graphicFrame>
        <p:nvGraphicFramePr>
          <p:cNvPr id="878616" name="Object 24"/>
          <p:cNvGraphicFramePr>
            <a:graphicFrameLocks noChangeAspect="1"/>
          </p:cNvGraphicFramePr>
          <p:nvPr/>
        </p:nvGraphicFramePr>
        <p:xfrm>
          <a:off x="3362325" y="4281488"/>
          <a:ext cx="5138738" cy="1087437"/>
        </p:xfrm>
        <a:graphic>
          <a:graphicData uri="http://schemas.openxmlformats.org/presentationml/2006/ole">
            <mc:AlternateContent xmlns:mc="http://schemas.openxmlformats.org/markup-compatibility/2006">
              <mc:Choice xmlns:v="urn:schemas-microsoft-com:vml" Requires="v">
                <p:oleObj spid="_x0000_s5" name="Equation" r:id="rId10" imgW="52730400" imgH="10972800" progId="Equation.DSMT4">
                  <p:embed/>
                </p:oleObj>
              </mc:Choice>
              <mc:Fallback>
                <p:oleObj name="Equation" r:id="rId10" imgW="52730400" imgH="10972800" progId="Equation.DSMT4">
                  <p:embed/>
                  <p:pic>
                    <p:nvPicPr>
                      <p:cNvPr id="0" name="Object 24"/>
                      <p:cNvPicPr>
                        <a:picLocks noChangeAspect="1" noChangeArrowheads="1"/>
                      </p:cNvPicPr>
                      <p:nvPr/>
                    </p:nvPicPr>
                    <p:blipFill>
                      <a:blip r:embed="rId11"/>
                      <a:srcRect/>
                      <a:stretch>
                        <a:fillRect/>
                      </a:stretch>
                    </p:blipFill>
                    <p:spPr bwMode="auto">
                      <a:xfrm>
                        <a:off x="3362325" y="4281488"/>
                        <a:ext cx="5138738" cy="108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78617" name="Rectangle 25"/>
          <p:cNvSpPr>
            <a:spLocks noChangeArrowheads="1"/>
          </p:cNvSpPr>
          <p:nvPr/>
        </p:nvSpPr>
        <p:spPr bwMode="auto">
          <a:xfrm>
            <a:off x="2424113" y="5445125"/>
            <a:ext cx="792162" cy="501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3200">
                <a:solidFill>
                  <a:schemeClr val="tx1"/>
                </a:solidFill>
                <a:latin typeface="Times New Roman" panose="02020503050405090304" pitchFamily="18" charset="0"/>
                <a:ea typeface="宋体" pitchFamily="2" charset="-122"/>
              </a:defRPr>
            </a:lvl1pPr>
            <a:lvl2pPr marL="742950" indent="-285750">
              <a:spcBef>
                <a:spcPct val="20000"/>
              </a:spcBef>
              <a:buChar char="–"/>
              <a:defRPr kumimoji="1" sz="2800">
                <a:solidFill>
                  <a:schemeClr val="tx1"/>
                </a:solidFill>
                <a:latin typeface="Times New Roman" panose="02020503050405090304" pitchFamily="18" charset="0"/>
                <a:ea typeface="宋体" pitchFamily="2" charset="-122"/>
              </a:defRPr>
            </a:lvl2pPr>
            <a:lvl3pPr marL="1143000" indent="-228600">
              <a:spcBef>
                <a:spcPct val="20000"/>
              </a:spcBef>
              <a:buChar char="•"/>
              <a:defRPr kumimoji="1" sz="2400">
                <a:solidFill>
                  <a:schemeClr val="tx1"/>
                </a:solidFill>
                <a:latin typeface="Times New Roman" panose="02020503050405090304" pitchFamily="18" charset="0"/>
                <a:ea typeface="宋体" pitchFamily="2" charset="-122"/>
              </a:defRPr>
            </a:lvl3pPr>
            <a:lvl4pPr marL="1600200" indent="-228600">
              <a:spcBef>
                <a:spcPct val="20000"/>
              </a:spcBef>
              <a:buChar char="–"/>
              <a:defRPr kumimoji="1" sz="2000">
                <a:solidFill>
                  <a:schemeClr val="tx1"/>
                </a:solidFill>
                <a:latin typeface="Times New Roman" panose="02020503050405090304" pitchFamily="18" charset="0"/>
                <a:ea typeface="宋体" pitchFamily="2" charset="-122"/>
              </a:defRPr>
            </a:lvl4pPr>
            <a:lvl5pPr marL="2057400" indent="-228600">
              <a:spcBef>
                <a:spcPct val="20000"/>
              </a:spcBef>
              <a:buChar char="»"/>
              <a:defRPr kumimoji="1" sz="2000">
                <a:solidFill>
                  <a:schemeClr val="tx1"/>
                </a:solidFill>
                <a:latin typeface="Times New Roman" panose="02020503050405090304"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503050405090304"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503050405090304"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503050405090304"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503050405090304" pitchFamily="18" charset="0"/>
                <a:ea typeface="宋体" pitchFamily="2" charset="-122"/>
              </a:defRPr>
            </a:lvl9pPr>
          </a:lstStyle>
          <a:p>
            <a:pPr eaLnBrk="1" hangingPunct="1">
              <a:buFontTx/>
              <a:buNone/>
            </a:pPr>
            <a:r>
              <a:rPr kumimoji="0" lang="zh-CN" altLang="en-US" sz="2400"/>
              <a:t>故</a:t>
            </a:r>
            <a:endParaRPr lang="zh-CN" altLang="en-US" sz="2400"/>
          </a:p>
        </p:txBody>
      </p:sp>
      <p:graphicFrame>
        <p:nvGraphicFramePr>
          <p:cNvPr id="878618" name="Object 26"/>
          <p:cNvGraphicFramePr>
            <a:graphicFrameLocks noChangeAspect="1"/>
          </p:cNvGraphicFramePr>
          <p:nvPr/>
        </p:nvGraphicFramePr>
        <p:xfrm>
          <a:off x="3219450" y="5500688"/>
          <a:ext cx="2919413" cy="504825"/>
        </p:xfrm>
        <a:graphic>
          <a:graphicData uri="http://schemas.openxmlformats.org/presentationml/2006/ole">
            <mc:AlternateContent xmlns:mc="http://schemas.openxmlformats.org/markup-compatibility/2006">
              <mc:Choice xmlns:v="urn:schemas-microsoft-com:vml" Requires="v">
                <p:oleObj spid="_x0000_s6" name="Equation" r:id="rId12" imgW="29870400" imgH="4876800" progId="Equation.DSMT4">
                  <p:embed/>
                </p:oleObj>
              </mc:Choice>
              <mc:Fallback>
                <p:oleObj name="Equation" r:id="rId12" imgW="29870400" imgH="4876800" progId="Equation.DSMT4">
                  <p:embed/>
                  <p:pic>
                    <p:nvPicPr>
                      <p:cNvPr id="0" name="Object 26"/>
                      <p:cNvPicPr>
                        <a:picLocks noChangeAspect="1" noChangeArrowheads="1"/>
                      </p:cNvPicPr>
                      <p:nvPr/>
                    </p:nvPicPr>
                    <p:blipFill>
                      <a:blip r:embed="rId13"/>
                      <a:srcRect/>
                      <a:stretch>
                        <a:fillRect/>
                      </a:stretch>
                    </p:blipFill>
                    <p:spPr bwMode="auto">
                      <a:xfrm>
                        <a:off x="3219450" y="5500688"/>
                        <a:ext cx="2919413"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78600"/>
                                        </p:tgtEl>
                                        <p:attrNameLst>
                                          <p:attrName>style.visibility</p:attrName>
                                        </p:attrNameLst>
                                      </p:cBhvr>
                                      <p:to>
                                        <p:strVal val="visible"/>
                                      </p:to>
                                    </p:set>
                                    <p:animEffect transition="in" filter="wipe(left)">
                                      <p:cBhvr>
                                        <p:cTn id="7" dur="500"/>
                                        <p:tgtEl>
                                          <p:spTgt spid="87860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78609"/>
                                        </p:tgtEl>
                                        <p:attrNameLst>
                                          <p:attrName>style.visibility</p:attrName>
                                        </p:attrNameLst>
                                      </p:cBhvr>
                                      <p:to>
                                        <p:strVal val="visible"/>
                                      </p:to>
                                    </p:set>
                                    <p:animEffect transition="in" filter="wipe(left)">
                                      <p:cBhvr>
                                        <p:cTn id="12" dur="500"/>
                                        <p:tgtEl>
                                          <p:spTgt spid="87860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78611"/>
                                        </p:tgtEl>
                                        <p:attrNameLst>
                                          <p:attrName>style.visibility</p:attrName>
                                        </p:attrNameLst>
                                      </p:cBhvr>
                                      <p:to>
                                        <p:strVal val="visible"/>
                                      </p:to>
                                    </p:set>
                                    <p:animEffect transition="in" filter="wipe(left)">
                                      <p:cBhvr>
                                        <p:cTn id="17" dur="500"/>
                                        <p:tgtEl>
                                          <p:spTgt spid="8786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78614"/>
                                        </p:tgtEl>
                                        <p:attrNameLst>
                                          <p:attrName>style.visibility</p:attrName>
                                        </p:attrNameLst>
                                      </p:cBhvr>
                                      <p:to>
                                        <p:strVal val="visible"/>
                                      </p:to>
                                    </p:set>
                                    <p:animEffect transition="in" filter="wipe(left)">
                                      <p:cBhvr>
                                        <p:cTn id="22" dur="500"/>
                                        <p:tgtEl>
                                          <p:spTgt spid="878614"/>
                                        </p:tgtEl>
                                      </p:cBhvr>
                                    </p:animEffect>
                                  </p:childTnLst>
                                </p:cTn>
                              </p:par>
                            </p:childTnLst>
                          </p:cTn>
                        </p:par>
                        <p:par>
                          <p:cTn id="23" fill="hold">
                            <p:stCondLst>
                              <p:cond delay="500"/>
                            </p:stCondLst>
                            <p:childTnLst>
                              <p:par>
                                <p:cTn id="24" presetID="9" presetClass="entr" presetSubtype="0" fill="hold" grpId="0" nodeType="afterEffect">
                                  <p:stCondLst>
                                    <p:cond delay="0"/>
                                  </p:stCondLst>
                                  <p:childTnLst>
                                    <p:set>
                                      <p:cBhvr>
                                        <p:cTn id="25" dur="1" fill="hold">
                                          <p:stCondLst>
                                            <p:cond delay="0"/>
                                          </p:stCondLst>
                                        </p:cTn>
                                        <p:tgtEl>
                                          <p:spTgt spid="878615">
                                            <p:txEl>
                                              <p:pRg st="0" end="0"/>
                                            </p:txEl>
                                          </p:spTgt>
                                        </p:tgtEl>
                                        <p:attrNameLst>
                                          <p:attrName>style.visibility</p:attrName>
                                        </p:attrNameLst>
                                      </p:cBhvr>
                                      <p:to>
                                        <p:strVal val="visible"/>
                                      </p:to>
                                    </p:set>
                                    <p:animEffect transition="in" filter="dissolve">
                                      <p:cBhvr>
                                        <p:cTn id="26" dur="500"/>
                                        <p:tgtEl>
                                          <p:spTgt spid="878615">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878616"/>
                                        </p:tgtEl>
                                        <p:attrNameLst>
                                          <p:attrName>style.visibility</p:attrName>
                                        </p:attrNameLst>
                                      </p:cBhvr>
                                      <p:to>
                                        <p:strVal val="visible"/>
                                      </p:to>
                                    </p:set>
                                    <p:animEffect transition="in" filter="wipe(left)">
                                      <p:cBhvr>
                                        <p:cTn id="31" dur="500"/>
                                        <p:tgtEl>
                                          <p:spTgt spid="878616"/>
                                        </p:tgtEl>
                                      </p:cBhvr>
                                    </p:animEffect>
                                  </p:childTnLst>
                                </p:cTn>
                              </p:par>
                            </p:childTnLst>
                          </p:cTn>
                        </p:par>
                        <p:par>
                          <p:cTn id="32" fill="hold">
                            <p:stCondLst>
                              <p:cond delay="500"/>
                            </p:stCondLst>
                            <p:childTnLst>
                              <p:par>
                                <p:cTn id="33" presetID="9" presetClass="entr" presetSubtype="0" fill="hold" grpId="0" nodeType="afterEffect">
                                  <p:stCondLst>
                                    <p:cond delay="0"/>
                                  </p:stCondLst>
                                  <p:childTnLst>
                                    <p:set>
                                      <p:cBhvr>
                                        <p:cTn id="34" dur="1" fill="hold">
                                          <p:stCondLst>
                                            <p:cond delay="0"/>
                                          </p:stCondLst>
                                        </p:cTn>
                                        <p:tgtEl>
                                          <p:spTgt spid="878617">
                                            <p:txEl>
                                              <p:pRg st="0" end="0"/>
                                            </p:txEl>
                                          </p:spTgt>
                                        </p:tgtEl>
                                        <p:attrNameLst>
                                          <p:attrName>style.visibility</p:attrName>
                                        </p:attrNameLst>
                                      </p:cBhvr>
                                      <p:to>
                                        <p:strVal val="visible"/>
                                      </p:to>
                                    </p:set>
                                    <p:animEffect transition="in" filter="dissolve">
                                      <p:cBhvr>
                                        <p:cTn id="35" dur="500"/>
                                        <p:tgtEl>
                                          <p:spTgt spid="878617">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878618"/>
                                        </p:tgtEl>
                                        <p:attrNameLst>
                                          <p:attrName>style.visibility</p:attrName>
                                        </p:attrNameLst>
                                      </p:cBhvr>
                                      <p:to>
                                        <p:strVal val="visible"/>
                                      </p:to>
                                    </p:set>
                                    <p:animEffect transition="in" filter="wipe(left)">
                                      <p:cBhvr>
                                        <p:cTn id="40" dur="500"/>
                                        <p:tgtEl>
                                          <p:spTgt spid="8786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8615" grpId="0" build="p"/>
      <p:bldP spid="878617"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AutoShape 2">
            <a:hlinkClick r:id="" action="ppaction://hlinkshowjump?jump=previousslide" highlightClick="1"/>
          </p:cNvPr>
          <p:cNvSpPr>
            <a:spLocks noChangeArrowheads="1"/>
          </p:cNvSpPr>
          <p:nvPr/>
        </p:nvSpPr>
        <p:spPr bwMode="auto">
          <a:xfrm>
            <a:off x="9120189" y="6524625"/>
            <a:ext cx="287337" cy="215900"/>
          </a:xfrm>
          <a:prstGeom prst="actionButtonBackPrevious">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31747" name="AutoShape 3">
            <a:hlinkClick r:id="" action="ppaction://hlinkshowjump?jump=nextslide" highlightClick="1"/>
          </p:cNvPr>
          <p:cNvSpPr>
            <a:spLocks noChangeArrowheads="1"/>
          </p:cNvSpPr>
          <p:nvPr/>
        </p:nvSpPr>
        <p:spPr bwMode="auto">
          <a:xfrm>
            <a:off x="9407525" y="6524625"/>
            <a:ext cx="285750" cy="215900"/>
          </a:xfrm>
          <a:prstGeom prst="actionButtonForwardNex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31748" name="AutoShape 4">
            <a:hlinkClick r:id="" action="ppaction://hlinkshowjump?jump=firstslide" highlightClick="1"/>
          </p:cNvPr>
          <p:cNvSpPr>
            <a:spLocks noChangeArrowheads="1"/>
          </p:cNvSpPr>
          <p:nvPr/>
        </p:nvSpPr>
        <p:spPr bwMode="auto">
          <a:xfrm>
            <a:off x="9694864" y="6524625"/>
            <a:ext cx="287337" cy="215900"/>
          </a:xfrm>
          <a:prstGeom prst="actionButtonBeginning">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31749" name="AutoShape 5">
            <a:hlinkClick r:id="" action="ppaction://hlinkshowjump?jump=endshow" highlightClick="1"/>
          </p:cNvPr>
          <p:cNvSpPr>
            <a:spLocks noChangeArrowheads="1"/>
          </p:cNvSpPr>
          <p:nvPr/>
        </p:nvSpPr>
        <p:spPr bwMode="auto">
          <a:xfrm>
            <a:off x="9983789" y="6524625"/>
            <a:ext cx="287337" cy="215900"/>
          </a:xfrm>
          <a:prstGeom prst="actionButtonEnd">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31750" name="AutoShape 6">
            <a:hlinkClick r:id="rId1" action="ppaction://hlinksldjump" highlightClick="1"/>
          </p:cNvPr>
          <p:cNvSpPr>
            <a:spLocks noChangeArrowheads="1"/>
          </p:cNvSpPr>
          <p:nvPr/>
        </p:nvSpPr>
        <p:spPr bwMode="auto">
          <a:xfrm>
            <a:off x="10272714" y="6524625"/>
            <a:ext cx="288925" cy="215900"/>
          </a:xfrm>
          <a:prstGeom prst="actionButtonReturn">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879623" name="Rectangle 7"/>
          <p:cNvSpPr>
            <a:spLocks noGrp="1" noChangeArrowheads="1"/>
          </p:cNvSpPr>
          <p:nvPr>
            <p:ph type="title"/>
          </p:nvPr>
        </p:nvSpPr>
        <p:spPr>
          <a:xfrm>
            <a:off x="1992314" y="333375"/>
            <a:ext cx="5113337" cy="914400"/>
          </a:xfrm>
          <a:noFill/>
        </p:spPr>
        <p:txBody>
          <a:bodyPr/>
          <a:lstStyle/>
          <a:p>
            <a:pPr eaLnBrk="1" hangingPunct="1"/>
            <a:r>
              <a:rPr lang="zh-CN" altLang="en-US" sz="3200" dirty="0">
                <a:solidFill>
                  <a:srgbClr val="0000FF"/>
                </a:solidFill>
                <a:latin typeface="楷体_GB2312" pitchFamily="49" charset="-122"/>
                <a:ea typeface="楷体_GB2312" pitchFamily="49" charset="-122"/>
              </a:rPr>
              <a:t>四、线性回归的显著性检验</a:t>
            </a:r>
            <a:r>
              <a:rPr lang="zh-CN" altLang="en-US" sz="3200" dirty="0">
                <a:latin typeface="黑体" panose="02010609060101010101" pitchFamily="49" charset="-122"/>
                <a:ea typeface="黑体" panose="02010609060101010101" pitchFamily="49" charset="-122"/>
              </a:rPr>
              <a:t> </a:t>
            </a:r>
            <a:endParaRPr lang="zh-CN" altLang="en-US" sz="3200" dirty="0">
              <a:latin typeface="黑体" panose="02010609060101010101" pitchFamily="49" charset="-122"/>
              <a:ea typeface="黑体" panose="02010609060101010101" pitchFamily="49" charset="-122"/>
            </a:endParaRPr>
          </a:p>
        </p:txBody>
      </p:sp>
      <p:sp>
        <p:nvSpPr>
          <p:cNvPr id="31755" name="Rectangle 9"/>
          <p:cNvSpPr>
            <a:spLocks noChangeArrowheads="1"/>
          </p:cNvSpPr>
          <p:nvPr/>
        </p:nvSpPr>
        <p:spPr bwMode="auto">
          <a:xfrm>
            <a:off x="2135189" y="1773238"/>
            <a:ext cx="8212137"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en-US" altLang="zh-CN" sz="2800" dirty="0">
                <a:ea typeface="宋体" pitchFamily="2" charset="-122"/>
              </a:rPr>
              <a:t>  </a:t>
            </a:r>
            <a:r>
              <a:rPr lang="zh-CN" altLang="en-US" sz="2800" dirty="0">
                <a:latin typeface="楷体_GB2312" pitchFamily="49" charset="-122"/>
              </a:rPr>
              <a:t>在实际问题中，事先我们并不能断定</a:t>
            </a:r>
            <a:r>
              <a:rPr lang="en-US" altLang="zh-CN" sz="2800" i="1" dirty="0"/>
              <a:t>Y</a:t>
            </a:r>
            <a:r>
              <a:rPr lang="zh-CN" altLang="en-US" sz="2800" dirty="0">
                <a:latin typeface="楷体_GB2312" pitchFamily="49" charset="-122"/>
              </a:rPr>
              <a:t>与</a:t>
            </a:r>
            <a:r>
              <a:rPr lang="en-US" altLang="zh-CN" sz="2800" i="1" dirty="0"/>
              <a:t>X</a:t>
            </a:r>
            <a:r>
              <a:rPr lang="zh-CN" altLang="en-US" sz="2800" dirty="0">
                <a:latin typeface="楷体_GB2312" pitchFamily="49" charset="-122"/>
              </a:rPr>
              <a:t>确有线性关系，</a:t>
            </a:r>
            <a:r>
              <a:rPr lang="en-US" altLang="zh-CN" sz="2800" i="1" dirty="0"/>
              <a:t>Y</a:t>
            </a:r>
            <a:r>
              <a:rPr lang="en-US" altLang="zh-CN" sz="2800" dirty="0"/>
              <a:t>=</a:t>
            </a:r>
            <a:r>
              <a:rPr lang="en-US" altLang="zh-CN" sz="2800" i="1" dirty="0" err="1"/>
              <a:t>a</a:t>
            </a:r>
            <a:r>
              <a:rPr lang="en-US" altLang="zh-CN" sz="2800" dirty="0" err="1"/>
              <a:t>+</a:t>
            </a:r>
            <a:r>
              <a:rPr lang="en-US" altLang="zh-CN" sz="2800" i="1" dirty="0" err="1"/>
              <a:t>bx</a:t>
            </a:r>
            <a:r>
              <a:rPr lang="en-US" altLang="zh-CN" sz="2800" dirty="0" err="1"/>
              <a:t>+</a:t>
            </a:r>
            <a:r>
              <a:rPr lang="en-US" altLang="zh-CN" sz="2800" i="1" dirty="0" err="1"/>
              <a:t>e</a:t>
            </a:r>
            <a:r>
              <a:rPr lang="en-US" altLang="zh-CN" sz="2800" dirty="0">
                <a:latin typeface="楷体_GB2312" pitchFamily="49" charset="-122"/>
              </a:rPr>
              <a:t>    </a:t>
            </a:r>
            <a:r>
              <a:rPr lang="zh-CN" altLang="en-US" sz="2800" dirty="0">
                <a:latin typeface="楷体_GB2312" pitchFamily="49" charset="-122"/>
              </a:rPr>
              <a:t>只是一种假设</a:t>
            </a:r>
            <a:r>
              <a:rPr lang="en-US" altLang="zh-CN" sz="2800" dirty="0">
                <a:latin typeface="楷体_GB2312" pitchFamily="49" charset="-122"/>
              </a:rPr>
              <a:t>.</a:t>
            </a:r>
            <a:endParaRPr lang="en-US" altLang="zh-CN" sz="2800" dirty="0">
              <a:latin typeface="楷体_GB2312" pitchFamily="49" charset="-122"/>
            </a:endParaRPr>
          </a:p>
        </p:txBody>
      </p:sp>
      <p:sp>
        <p:nvSpPr>
          <p:cNvPr id="879628" name="Rectangle 12"/>
          <p:cNvSpPr>
            <a:spLocks noChangeArrowheads="1"/>
          </p:cNvSpPr>
          <p:nvPr/>
        </p:nvSpPr>
        <p:spPr bwMode="auto">
          <a:xfrm>
            <a:off x="2135188" y="2620964"/>
            <a:ext cx="7848600" cy="137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en-US" altLang="zh-CN" sz="2800">
                <a:latin typeface="楷体_GB2312" pitchFamily="49" charset="-122"/>
              </a:rPr>
              <a:t>    </a:t>
            </a:r>
            <a:r>
              <a:rPr lang="zh-CN" altLang="en-US" sz="2800">
                <a:latin typeface="楷体_GB2312" pitchFamily="49" charset="-122"/>
              </a:rPr>
              <a:t>当然，这个假设不是没有根据的，我们可以通过专业知识和散点图来作出粗略判断</a:t>
            </a:r>
            <a:r>
              <a:rPr lang="en-US" altLang="zh-CN" sz="2800">
                <a:latin typeface="楷体_GB2312" pitchFamily="49" charset="-122"/>
              </a:rPr>
              <a:t>.</a:t>
            </a:r>
            <a:endParaRPr lang="en-US" altLang="zh-CN" sz="2800">
              <a:latin typeface="楷体_GB2312" pitchFamily="49" charset="-122"/>
            </a:endParaRPr>
          </a:p>
          <a:p>
            <a:pPr eaLnBrk="1" hangingPunct="1">
              <a:spcBef>
                <a:spcPct val="0"/>
              </a:spcBef>
            </a:pPr>
            <a:endParaRPr lang="en-US" altLang="zh-CN" sz="2800">
              <a:latin typeface="楷体_GB2312" pitchFamily="49" charset="-122"/>
            </a:endParaRPr>
          </a:p>
        </p:txBody>
      </p:sp>
      <p:sp>
        <p:nvSpPr>
          <p:cNvPr id="879629" name="Rectangle 13"/>
          <p:cNvSpPr>
            <a:spLocks noChangeArrowheads="1"/>
          </p:cNvSpPr>
          <p:nvPr/>
        </p:nvSpPr>
        <p:spPr bwMode="auto">
          <a:xfrm>
            <a:off x="2135188" y="3629025"/>
            <a:ext cx="78486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zh-CN" altLang="en-US" sz="2800">
                <a:latin typeface="楷体_GB2312" pitchFamily="49" charset="-122"/>
              </a:rPr>
              <a:t>但在求出经验回归方程后，还需对这种线性回归方程同实际观测数据拟合的效果进行检验</a:t>
            </a:r>
            <a:r>
              <a:rPr lang="en-US" altLang="zh-CN" sz="2800">
                <a:latin typeface="楷体_GB2312" pitchFamily="49" charset="-122"/>
              </a:rPr>
              <a:t>.</a:t>
            </a:r>
            <a:endParaRPr lang="en-US" altLang="zh-CN" sz="2800">
              <a:latin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79623"/>
                                        </p:tgtEl>
                                        <p:attrNameLst>
                                          <p:attrName>style.visibility</p:attrName>
                                        </p:attrNameLst>
                                      </p:cBhvr>
                                      <p:to>
                                        <p:strVal val="visible"/>
                                      </p:to>
                                    </p:set>
                                    <p:animEffect transition="in" filter="wipe(left)">
                                      <p:cBhvr>
                                        <p:cTn id="7" dur="500"/>
                                        <p:tgtEl>
                                          <p:spTgt spid="8796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
                                  </p:iterate>
                                  <p:childTnLst>
                                    <p:set>
                                      <p:cBhvr>
                                        <p:cTn id="11" dur="1" fill="hold">
                                          <p:stCondLst>
                                            <p:cond delay="0"/>
                                          </p:stCondLst>
                                        </p:cTn>
                                        <p:tgtEl>
                                          <p:spTgt spid="879628"/>
                                        </p:tgtEl>
                                        <p:attrNameLst>
                                          <p:attrName>style.visibility</p:attrName>
                                        </p:attrNameLst>
                                      </p:cBhvr>
                                      <p:to>
                                        <p:strVal val="visible"/>
                                      </p:to>
                                    </p:set>
                                    <p:animEffect transition="in" filter="wipe(left)">
                                      <p:cBhvr>
                                        <p:cTn id="12" dur="500"/>
                                        <p:tgtEl>
                                          <p:spTgt spid="87962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
                                  </p:iterate>
                                  <p:childTnLst>
                                    <p:set>
                                      <p:cBhvr>
                                        <p:cTn id="16" dur="1" fill="hold">
                                          <p:stCondLst>
                                            <p:cond delay="0"/>
                                          </p:stCondLst>
                                        </p:cTn>
                                        <p:tgtEl>
                                          <p:spTgt spid="879629"/>
                                        </p:tgtEl>
                                        <p:attrNameLst>
                                          <p:attrName>style.visibility</p:attrName>
                                        </p:attrNameLst>
                                      </p:cBhvr>
                                      <p:to>
                                        <p:strVal val="visible"/>
                                      </p:to>
                                    </p:set>
                                    <p:animEffect transition="in" filter="wipe(left)">
                                      <p:cBhvr>
                                        <p:cTn id="17" dur="500"/>
                                        <p:tgtEl>
                                          <p:spTgt spid="8796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9623" grpId="0"/>
      <p:bldP spid="879628" grpId="0"/>
      <p:bldP spid="87962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AutoShape 2">
            <a:hlinkClick r:id="" action="ppaction://hlinkshowjump?jump=previousslide" highlightClick="1"/>
          </p:cNvPr>
          <p:cNvSpPr>
            <a:spLocks noChangeArrowheads="1"/>
          </p:cNvSpPr>
          <p:nvPr/>
        </p:nvSpPr>
        <p:spPr bwMode="auto">
          <a:xfrm>
            <a:off x="9120189" y="6524625"/>
            <a:ext cx="287337" cy="215900"/>
          </a:xfrm>
          <a:prstGeom prst="actionButtonBackPrevious">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32771" name="AutoShape 3">
            <a:hlinkClick r:id="" action="ppaction://hlinkshowjump?jump=nextslide" highlightClick="1"/>
          </p:cNvPr>
          <p:cNvSpPr>
            <a:spLocks noChangeArrowheads="1"/>
          </p:cNvSpPr>
          <p:nvPr/>
        </p:nvSpPr>
        <p:spPr bwMode="auto">
          <a:xfrm>
            <a:off x="9407525" y="6524625"/>
            <a:ext cx="285750" cy="215900"/>
          </a:xfrm>
          <a:prstGeom prst="actionButtonForwardNex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32772" name="AutoShape 4">
            <a:hlinkClick r:id="" action="ppaction://hlinkshowjump?jump=firstslide" highlightClick="1"/>
          </p:cNvPr>
          <p:cNvSpPr>
            <a:spLocks noChangeArrowheads="1"/>
          </p:cNvSpPr>
          <p:nvPr/>
        </p:nvSpPr>
        <p:spPr bwMode="auto">
          <a:xfrm>
            <a:off x="9694864" y="6524625"/>
            <a:ext cx="287337" cy="215900"/>
          </a:xfrm>
          <a:prstGeom prst="actionButtonBeginning">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32773" name="AutoShape 5">
            <a:hlinkClick r:id="" action="ppaction://hlinkshowjump?jump=endshow" highlightClick="1"/>
          </p:cNvPr>
          <p:cNvSpPr>
            <a:spLocks noChangeArrowheads="1"/>
          </p:cNvSpPr>
          <p:nvPr/>
        </p:nvSpPr>
        <p:spPr bwMode="auto">
          <a:xfrm>
            <a:off x="9983789" y="6524625"/>
            <a:ext cx="287337" cy="215900"/>
          </a:xfrm>
          <a:prstGeom prst="actionButtonEnd">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32774" name="AutoShape 6">
            <a:hlinkClick r:id="rId1" action="ppaction://hlinksldjump" highlightClick="1"/>
          </p:cNvPr>
          <p:cNvSpPr>
            <a:spLocks noChangeArrowheads="1"/>
          </p:cNvSpPr>
          <p:nvPr/>
        </p:nvSpPr>
        <p:spPr bwMode="auto">
          <a:xfrm>
            <a:off x="10272714" y="6524625"/>
            <a:ext cx="288925" cy="215900"/>
          </a:xfrm>
          <a:prstGeom prst="actionButtonReturn">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880647" name="Rectangle 7"/>
          <p:cNvSpPr>
            <a:spLocks noGrp="1" noChangeArrowheads="1"/>
          </p:cNvSpPr>
          <p:nvPr>
            <p:ph idx="1"/>
          </p:nvPr>
        </p:nvSpPr>
        <p:spPr>
          <a:xfrm>
            <a:off x="2063751" y="1236315"/>
            <a:ext cx="7643813" cy="4352925"/>
          </a:xfrm>
          <a:noFill/>
        </p:spPr>
        <p:txBody>
          <a:bodyPr>
            <a:normAutofit fontScale="92500" lnSpcReduction="20000"/>
          </a:bodyPr>
          <a:lstStyle/>
          <a:p>
            <a:pPr eaLnBrk="1" hangingPunct="1">
              <a:lnSpc>
                <a:spcPct val="105000"/>
              </a:lnSpc>
              <a:buFontTx/>
              <a:buNone/>
            </a:pPr>
            <a:r>
              <a:rPr lang="en-US" altLang="zh-CN" sz="2800" dirty="0">
                <a:latin typeface="Times New Roman" panose="02020503050405090304" pitchFamily="18" charset="0"/>
                <a:cs typeface="Times New Roman" panose="02020503050405090304" pitchFamily="18" charset="0"/>
              </a:rPr>
              <a:t>            </a:t>
            </a:r>
            <a:r>
              <a:rPr lang="zh-CN" altLang="en-US" sz="2800" dirty="0">
                <a:latin typeface="Times New Roman" panose="02020503050405090304" pitchFamily="18" charset="0"/>
                <a:ea typeface="楷体_GB2312" pitchFamily="49" charset="-122"/>
                <a:cs typeface="Times New Roman" panose="02020503050405090304" pitchFamily="18" charset="0"/>
              </a:rPr>
              <a:t>在使用回归方程作进一步的分析以前，首先应对回归方程是否有意义进行判断。</a:t>
            </a:r>
            <a:endParaRPr lang="zh-CN" altLang="en-US" sz="2800" dirty="0">
              <a:latin typeface="Times New Roman" panose="02020503050405090304" pitchFamily="18" charset="0"/>
              <a:ea typeface="楷体_GB2312" pitchFamily="49" charset="-122"/>
              <a:cs typeface="Times New Roman" panose="02020503050405090304" pitchFamily="18" charset="0"/>
            </a:endParaRPr>
          </a:p>
          <a:p>
            <a:pPr eaLnBrk="1" hangingPunct="1">
              <a:lnSpc>
                <a:spcPct val="105000"/>
              </a:lnSpc>
              <a:buFontTx/>
              <a:buNone/>
            </a:pPr>
            <a:r>
              <a:rPr lang="zh-CN" altLang="en-US" sz="2800" dirty="0">
                <a:latin typeface="Times New Roman" panose="02020503050405090304" pitchFamily="18" charset="0"/>
                <a:ea typeface="楷体_GB2312" pitchFamily="49" charset="-122"/>
                <a:cs typeface="Times New Roman" panose="02020503050405090304" pitchFamily="18" charset="0"/>
              </a:rPr>
              <a:t>           如果</a:t>
            </a:r>
            <a:r>
              <a:rPr lang="en-US" altLang="zh-CN" sz="2800" i="1" dirty="0">
                <a:latin typeface="Times New Roman" panose="02020503050405090304" pitchFamily="18" charset="0"/>
                <a:ea typeface="楷体_GB2312" pitchFamily="49" charset="-122"/>
                <a:cs typeface="Times New Roman" panose="02020503050405090304" pitchFamily="18" charset="0"/>
              </a:rPr>
              <a:t>b</a:t>
            </a:r>
            <a:r>
              <a:rPr lang="en-US" altLang="zh-CN" sz="2800" dirty="0">
                <a:latin typeface="Times New Roman" panose="02020503050405090304" pitchFamily="18" charset="0"/>
                <a:ea typeface="楷体_GB2312" pitchFamily="49" charset="-122"/>
                <a:cs typeface="Times New Roman" panose="02020503050405090304" pitchFamily="18" charset="0"/>
              </a:rPr>
              <a:t>=0</a:t>
            </a:r>
            <a:r>
              <a:rPr lang="zh-CN" altLang="en-US" sz="2800" dirty="0">
                <a:latin typeface="Times New Roman" panose="02020503050405090304" pitchFamily="18" charset="0"/>
                <a:ea typeface="楷体_GB2312" pitchFamily="49" charset="-122"/>
                <a:cs typeface="Times New Roman" panose="02020503050405090304" pitchFamily="18" charset="0"/>
              </a:rPr>
              <a:t>，那么不管</a:t>
            </a:r>
            <a:r>
              <a:rPr lang="en-US" altLang="zh-CN" sz="2800" i="1" dirty="0">
                <a:latin typeface="Times New Roman" panose="02020503050405090304" pitchFamily="18" charset="0"/>
                <a:ea typeface="楷体_GB2312" pitchFamily="49" charset="-122"/>
                <a:cs typeface="Times New Roman" panose="02020503050405090304" pitchFamily="18" charset="0"/>
              </a:rPr>
              <a:t>x</a:t>
            </a:r>
            <a:r>
              <a:rPr lang="zh-CN" altLang="en-US" sz="2800" dirty="0">
                <a:latin typeface="Times New Roman" panose="02020503050405090304" pitchFamily="18" charset="0"/>
                <a:ea typeface="楷体_GB2312" pitchFamily="49" charset="-122"/>
                <a:cs typeface="Times New Roman" panose="02020503050405090304" pitchFamily="18" charset="0"/>
              </a:rPr>
              <a:t>如何变化，</a:t>
            </a:r>
            <a:r>
              <a:rPr lang="en-US" altLang="zh-CN" sz="2800" i="1" dirty="0">
                <a:latin typeface="Times New Roman" panose="02020503050405090304" pitchFamily="18" charset="0"/>
                <a:ea typeface="楷体_GB2312" pitchFamily="49" charset="-122"/>
                <a:cs typeface="Times New Roman" panose="02020503050405090304" pitchFamily="18" charset="0"/>
              </a:rPr>
              <a:t>y</a:t>
            </a:r>
            <a:r>
              <a:rPr lang="zh-CN" altLang="en-US" sz="2800" dirty="0">
                <a:latin typeface="Times New Roman" panose="02020503050405090304" pitchFamily="18" charset="0"/>
                <a:ea typeface="楷体_GB2312" pitchFamily="49" charset="-122"/>
                <a:cs typeface="Times New Roman" panose="02020503050405090304" pitchFamily="18" charset="0"/>
              </a:rPr>
              <a:t>不随</a:t>
            </a:r>
            <a:r>
              <a:rPr lang="en-US" altLang="zh-CN" sz="2800" i="1" dirty="0">
                <a:latin typeface="Times New Roman" panose="02020503050405090304" pitchFamily="18" charset="0"/>
                <a:ea typeface="楷体_GB2312" pitchFamily="49" charset="-122"/>
                <a:cs typeface="Times New Roman" panose="02020503050405090304" pitchFamily="18" charset="0"/>
              </a:rPr>
              <a:t>x</a:t>
            </a:r>
            <a:r>
              <a:rPr lang="zh-CN" altLang="en-US" sz="2800" dirty="0">
                <a:latin typeface="Times New Roman" panose="02020503050405090304" pitchFamily="18" charset="0"/>
                <a:ea typeface="楷体_GB2312" pitchFamily="49" charset="-122"/>
                <a:cs typeface="Times New Roman" panose="02020503050405090304" pitchFamily="18" charset="0"/>
              </a:rPr>
              <a:t>的变化作线性变化，那么这时求得的一元线性回归方程就没有意义，称回归方程</a:t>
            </a:r>
            <a:r>
              <a:rPr lang="zh-CN" altLang="en-US" sz="2800" dirty="0">
                <a:solidFill>
                  <a:srgbClr val="0000FF"/>
                </a:solidFill>
                <a:latin typeface="Times New Roman" panose="02020503050405090304" pitchFamily="18" charset="0"/>
                <a:ea typeface="楷体_GB2312" pitchFamily="49" charset="-122"/>
                <a:cs typeface="Times New Roman" panose="02020503050405090304" pitchFamily="18" charset="0"/>
              </a:rPr>
              <a:t>不显著</a:t>
            </a:r>
            <a:r>
              <a:rPr lang="zh-CN" altLang="en-US" sz="2800" dirty="0">
                <a:latin typeface="Times New Roman" panose="02020503050405090304" pitchFamily="18" charset="0"/>
                <a:ea typeface="楷体_GB2312" pitchFamily="49" charset="-122"/>
                <a:cs typeface="Times New Roman" panose="02020503050405090304" pitchFamily="18" charset="0"/>
              </a:rPr>
              <a:t>。如果</a:t>
            </a:r>
            <a:r>
              <a:rPr lang="en-US" altLang="zh-CN" sz="2800" i="1" dirty="0">
                <a:latin typeface="Times New Roman" panose="02020503050405090304" pitchFamily="18" charset="0"/>
                <a:ea typeface="楷体_GB2312" pitchFamily="49" charset="-122"/>
                <a:cs typeface="Times New Roman" panose="02020503050405090304" pitchFamily="18" charset="0"/>
                <a:sym typeface="Symbol" panose="05050102010706020507" pitchFamily="18" charset="2"/>
              </a:rPr>
              <a:t>b</a:t>
            </a:r>
            <a:r>
              <a:rPr lang="en-US" altLang="zh-CN" sz="2800" dirty="0">
                <a:latin typeface="Times New Roman" panose="02020503050405090304" pitchFamily="18" charset="0"/>
                <a:ea typeface="楷体_GB2312" pitchFamily="49" charset="-122"/>
                <a:cs typeface="Times New Roman" panose="02020503050405090304" pitchFamily="18" charset="0"/>
                <a:sym typeface="Symbol" panose="05050102010706020507" pitchFamily="18" charset="2"/>
              </a:rPr>
              <a:t>0</a:t>
            </a:r>
            <a:r>
              <a:rPr lang="zh-CN" altLang="en-US" sz="2800" dirty="0">
                <a:latin typeface="Times New Roman" panose="02020503050405090304" pitchFamily="18" charset="0"/>
                <a:ea typeface="楷体_GB2312" pitchFamily="49" charset="-122"/>
                <a:cs typeface="Times New Roman" panose="02020503050405090304" pitchFamily="18" charset="0"/>
              </a:rPr>
              <a:t>，</a:t>
            </a:r>
            <a:r>
              <a:rPr lang="en-US" altLang="zh-CN" sz="2800" i="1" dirty="0">
                <a:latin typeface="Times New Roman" panose="02020503050405090304" pitchFamily="18" charset="0"/>
                <a:ea typeface="楷体_GB2312" pitchFamily="49" charset="-122"/>
                <a:cs typeface="Times New Roman" panose="02020503050405090304" pitchFamily="18" charset="0"/>
              </a:rPr>
              <a:t>y</a:t>
            </a:r>
            <a:r>
              <a:rPr lang="zh-CN" altLang="en-US" sz="2800" dirty="0">
                <a:latin typeface="Times New Roman" panose="02020503050405090304" pitchFamily="18" charset="0"/>
                <a:ea typeface="楷体_GB2312" pitchFamily="49" charset="-122"/>
                <a:cs typeface="Times New Roman" panose="02020503050405090304" pitchFamily="18" charset="0"/>
              </a:rPr>
              <a:t>随</a:t>
            </a:r>
            <a:r>
              <a:rPr lang="en-US" altLang="zh-CN" sz="2800" i="1" dirty="0">
                <a:latin typeface="Times New Roman" panose="02020503050405090304" pitchFamily="18" charset="0"/>
                <a:ea typeface="楷体_GB2312" pitchFamily="49" charset="-122"/>
                <a:cs typeface="Times New Roman" panose="02020503050405090304" pitchFamily="18" charset="0"/>
              </a:rPr>
              <a:t>x</a:t>
            </a:r>
            <a:r>
              <a:rPr lang="zh-CN" altLang="en-US" sz="2800" dirty="0">
                <a:latin typeface="Times New Roman" panose="02020503050405090304" pitchFamily="18" charset="0"/>
                <a:ea typeface="楷体_GB2312" pitchFamily="49" charset="-122"/>
                <a:cs typeface="Times New Roman" panose="02020503050405090304" pitchFamily="18" charset="0"/>
              </a:rPr>
              <a:t>的变化作线性变化，称回归方程是</a:t>
            </a:r>
            <a:r>
              <a:rPr lang="zh-CN" altLang="en-US" sz="2800" dirty="0">
                <a:solidFill>
                  <a:srgbClr val="0000FF"/>
                </a:solidFill>
                <a:latin typeface="Times New Roman" panose="02020503050405090304" pitchFamily="18" charset="0"/>
                <a:ea typeface="楷体_GB2312" pitchFamily="49" charset="-122"/>
                <a:cs typeface="Times New Roman" panose="02020503050405090304" pitchFamily="18" charset="0"/>
              </a:rPr>
              <a:t>显著</a:t>
            </a:r>
            <a:r>
              <a:rPr lang="zh-CN" altLang="en-US" sz="2800" dirty="0">
                <a:latin typeface="Times New Roman" panose="02020503050405090304" pitchFamily="18" charset="0"/>
                <a:ea typeface="楷体_GB2312" pitchFamily="49" charset="-122"/>
                <a:cs typeface="Times New Roman" panose="02020503050405090304" pitchFamily="18" charset="0"/>
              </a:rPr>
              <a:t>的。</a:t>
            </a:r>
            <a:endParaRPr lang="zh-CN" altLang="en-US" sz="2800" dirty="0">
              <a:latin typeface="Times New Roman" panose="02020503050405090304" pitchFamily="18" charset="0"/>
              <a:ea typeface="楷体_GB2312" pitchFamily="49" charset="-122"/>
              <a:cs typeface="Times New Roman" panose="02020503050405090304" pitchFamily="18" charset="0"/>
            </a:endParaRPr>
          </a:p>
          <a:p>
            <a:pPr eaLnBrk="1" hangingPunct="1">
              <a:lnSpc>
                <a:spcPct val="105000"/>
              </a:lnSpc>
              <a:buFontTx/>
              <a:buNone/>
            </a:pPr>
            <a:r>
              <a:rPr lang="zh-CN" altLang="en-US" sz="2800" dirty="0">
                <a:latin typeface="Times New Roman" panose="02020503050405090304" pitchFamily="18" charset="0"/>
                <a:ea typeface="楷体_GB2312" pitchFamily="49" charset="-122"/>
                <a:cs typeface="Times New Roman" panose="02020503050405090304" pitchFamily="18" charset="0"/>
              </a:rPr>
              <a:t>            综上，对回归方程是否有意义作判断就是要作如下的显著性检验：</a:t>
            </a:r>
            <a:endParaRPr lang="zh-CN" altLang="en-US" sz="2800" dirty="0">
              <a:latin typeface="Times New Roman" panose="02020503050405090304" pitchFamily="18" charset="0"/>
              <a:ea typeface="楷体_GB2312" pitchFamily="49" charset="-122"/>
              <a:cs typeface="Times New Roman" panose="02020503050405090304" pitchFamily="18" charset="0"/>
            </a:endParaRPr>
          </a:p>
          <a:p>
            <a:pPr eaLnBrk="1" hangingPunct="1">
              <a:lnSpc>
                <a:spcPct val="105000"/>
              </a:lnSpc>
              <a:buFontTx/>
              <a:buNone/>
            </a:pPr>
            <a:r>
              <a:rPr lang="zh-CN" altLang="en-US" sz="2800" dirty="0">
                <a:latin typeface="Times New Roman" panose="02020503050405090304" pitchFamily="18" charset="0"/>
                <a:ea typeface="楷体_GB2312" pitchFamily="49" charset="-122"/>
                <a:cs typeface="Times New Roman" panose="02020503050405090304" pitchFamily="18" charset="0"/>
              </a:rPr>
              <a:t>               </a:t>
            </a:r>
            <a:r>
              <a:rPr lang="en-US" altLang="zh-CN" sz="2800" dirty="0">
                <a:latin typeface="Times New Roman" panose="02020503050405090304" pitchFamily="18" charset="0"/>
                <a:ea typeface="楷体_GB2312" pitchFamily="49" charset="-122"/>
                <a:cs typeface="Times New Roman" panose="02020503050405090304" pitchFamily="18" charset="0"/>
              </a:rPr>
              <a:t>H</a:t>
            </a:r>
            <a:r>
              <a:rPr lang="en-US" altLang="zh-CN" sz="2800" baseline="-25000" dirty="0">
                <a:latin typeface="Times New Roman" panose="02020503050405090304" pitchFamily="18" charset="0"/>
                <a:ea typeface="楷体_GB2312" pitchFamily="49" charset="-122"/>
                <a:cs typeface="Times New Roman" panose="02020503050405090304" pitchFamily="18" charset="0"/>
              </a:rPr>
              <a:t>0</a:t>
            </a:r>
            <a:r>
              <a:rPr lang="zh-CN" altLang="en-US" sz="2800" dirty="0">
                <a:latin typeface="Times New Roman" panose="02020503050405090304" pitchFamily="18" charset="0"/>
                <a:ea typeface="楷体_GB2312" pitchFamily="49" charset="-122"/>
                <a:cs typeface="Times New Roman" panose="02020503050405090304" pitchFamily="18" charset="0"/>
              </a:rPr>
              <a:t>：</a:t>
            </a:r>
            <a:r>
              <a:rPr lang="en-US" altLang="zh-CN" sz="2800" i="1" dirty="0">
                <a:latin typeface="Times New Roman" panose="02020503050405090304" pitchFamily="18" charset="0"/>
                <a:ea typeface="楷体_GB2312" pitchFamily="49" charset="-122"/>
                <a:cs typeface="Times New Roman" panose="02020503050405090304" pitchFamily="18" charset="0"/>
              </a:rPr>
              <a:t>b</a:t>
            </a:r>
            <a:r>
              <a:rPr lang="en-US" altLang="zh-CN" sz="2800" dirty="0">
                <a:latin typeface="Times New Roman" panose="02020503050405090304" pitchFamily="18" charset="0"/>
                <a:ea typeface="楷体_GB2312" pitchFamily="49" charset="-122"/>
                <a:cs typeface="Times New Roman" panose="02020503050405090304" pitchFamily="18" charset="0"/>
              </a:rPr>
              <a:t>=0</a:t>
            </a:r>
            <a:r>
              <a:rPr lang="zh-CN" altLang="en-US" sz="2800" dirty="0">
                <a:latin typeface="Times New Roman" panose="02020503050405090304" pitchFamily="18" charset="0"/>
                <a:ea typeface="楷体_GB2312" pitchFamily="49" charset="-122"/>
                <a:cs typeface="Times New Roman" panose="02020503050405090304" pitchFamily="18" charset="0"/>
              </a:rPr>
              <a:t>， </a:t>
            </a:r>
            <a:r>
              <a:rPr lang="en-US" altLang="zh-CN" sz="2800" dirty="0">
                <a:latin typeface="Times New Roman" panose="02020503050405090304" pitchFamily="18" charset="0"/>
                <a:ea typeface="楷体_GB2312" pitchFamily="49" charset="-122"/>
                <a:cs typeface="Times New Roman" panose="02020503050405090304" pitchFamily="18" charset="0"/>
              </a:rPr>
              <a:t>H</a:t>
            </a:r>
            <a:r>
              <a:rPr lang="en-US" altLang="zh-CN" sz="2800" baseline="-25000" dirty="0">
                <a:latin typeface="Times New Roman" panose="02020503050405090304" pitchFamily="18" charset="0"/>
                <a:ea typeface="楷体_GB2312" pitchFamily="49" charset="-122"/>
                <a:cs typeface="Times New Roman" panose="02020503050405090304" pitchFamily="18" charset="0"/>
              </a:rPr>
              <a:t>1</a:t>
            </a:r>
            <a:r>
              <a:rPr lang="zh-CN" altLang="en-US" sz="2800" dirty="0">
                <a:latin typeface="Times New Roman" panose="02020503050405090304" pitchFamily="18" charset="0"/>
                <a:ea typeface="楷体_GB2312" pitchFamily="49" charset="-122"/>
                <a:cs typeface="Times New Roman" panose="02020503050405090304" pitchFamily="18" charset="0"/>
              </a:rPr>
              <a:t>： </a:t>
            </a:r>
            <a:r>
              <a:rPr lang="en-US" altLang="zh-CN" sz="2800" i="1" dirty="0">
                <a:latin typeface="Times New Roman" panose="02020503050405090304" pitchFamily="18" charset="0"/>
                <a:ea typeface="楷体_GB2312" pitchFamily="49" charset="-122"/>
                <a:cs typeface="Times New Roman" panose="02020503050405090304" pitchFamily="18" charset="0"/>
                <a:sym typeface="Symbol" panose="05050102010706020507" pitchFamily="18" charset="2"/>
              </a:rPr>
              <a:t>b</a:t>
            </a:r>
            <a:r>
              <a:rPr lang="en-US" altLang="zh-CN" sz="2800" dirty="0">
                <a:latin typeface="Times New Roman" panose="02020503050405090304" pitchFamily="18" charset="0"/>
                <a:ea typeface="楷体_GB2312" pitchFamily="49" charset="-122"/>
                <a:cs typeface="Times New Roman" panose="02020503050405090304" pitchFamily="18" charset="0"/>
                <a:sym typeface="Symbol" panose="05050102010706020507" pitchFamily="18" charset="2"/>
              </a:rPr>
              <a:t>0</a:t>
            </a:r>
            <a:endParaRPr lang="en-US" altLang="zh-CN" sz="2800" dirty="0">
              <a:latin typeface="Times New Roman" panose="02020503050405090304" pitchFamily="18" charset="0"/>
              <a:ea typeface="楷体_GB2312" pitchFamily="49" charset="-122"/>
              <a:cs typeface="Times New Roman" panose="02020503050405090304" pitchFamily="18" charset="0"/>
            </a:endParaRPr>
          </a:p>
          <a:p>
            <a:pPr eaLnBrk="1" hangingPunct="1">
              <a:lnSpc>
                <a:spcPct val="105000"/>
              </a:lnSpc>
              <a:buFontTx/>
              <a:buNone/>
            </a:pPr>
            <a:r>
              <a:rPr lang="en-US" altLang="zh-CN" sz="2800" dirty="0">
                <a:latin typeface="Times New Roman" panose="02020503050405090304" pitchFamily="18" charset="0"/>
                <a:cs typeface="Times New Roman" panose="02020503050405090304" pitchFamily="18" charset="0"/>
              </a:rPr>
              <a:t>    </a:t>
            </a:r>
            <a:r>
              <a:rPr lang="zh-CN" altLang="en-US" sz="2800" dirty="0">
                <a:latin typeface="Times New Roman" panose="02020503050405090304" pitchFamily="18" charset="0"/>
                <a:ea typeface="楷体_GB2312" pitchFamily="49" charset="-122"/>
                <a:cs typeface="Times New Roman" panose="02020503050405090304" pitchFamily="18" charset="0"/>
              </a:rPr>
              <a:t>拒绝</a:t>
            </a:r>
            <a:r>
              <a:rPr lang="en-US" altLang="zh-CN" sz="2800" dirty="0">
                <a:latin typeface="Times New Roman" panose="02020503050405090304" pitchFamily="18" charset="0"/>
                <a:ea typeface="楷体_GB2312" pitchFamily="49" charset="-122"/>
                <a:cs typeface="Times New Roman" panose="02020503050405090304" pitchFamily="18" charset="0"/>
              </a:rPr>
              <a:t>H</a:t>
            </a:r>
            <a:r>
              <a:rPr lang="en-US" altLang="zh-CN" sz="2800" baseline="-25000" dirty="0">
                <a:latin typeface="Times New Roman" panose="02020503050405090304" pitchFamily="18" charset="0"/>
                <a:ea typeface="楷体_GB2312" pitchFamily="49" charset="-122"/>
                <a:cs typeface="Times New Roman" panose="02020503050405090304" pitchFamily="18" charset="0"/>
              </a:rPr>
              <a:t>0</a:t>
            </a:r>
            <a:r>
              <a:rPr lang="zh-CN" altLang="en-US" sz="2800" dirty="0">
                <a:latin typeface="Times New Roman" panose="02020503050405090304" pitchFamily="18" charset="0"/>
                <a:ea typeface="楷体_GB2312" pitchFamily="49" charset="-122"/>
                <a:cs typeface="Times New Roman" panose="02020503050405090304" pitchFamily="18" charset="0"/>
              </a:rPr>
              <a:t>表示回归方程是显著的。</a:t>
            </a:r>
            <a:endParaRPr lang="zh-CN" altLang="en-US" sz="2800" dirty="0">
              <a:latin typeface="Times New Roman" panose="02020503050405090304" pitchFamily="18" charset="0"/>
              <a:ea typeface="楷体_GB2312" pitchFamily="49" charset="-122"/>
              <a:cs typeface="Times New Roman" panose="0202050305040509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AutoShape 2">
            <a:hlinkClick r:id="" action="ppaction://hlinkshowjump?jump=previousslide" highlightClick="1"/>
          </p:cNvPr>
          <p:cNvSpPr>
            <a:spLocks noChangeArrowheads="1"/>
          </p:cNvSpPr>
          <p:nvPr/>
        </p:nvSpPr>
        <p:spPr bwMode="auto">
          <a:xfrm>
            <a:off x="9120189" y="6524625"/>
            <a:ext cx="287337" cy="215900"/>
          </a:xfrm>
          <a:prstGeom prst="actionButtonBackPrevious">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33795" name="AutoShape 3">
            <a:hlinkClick r:id="" action="ppaction://hlinkshowjump?jump=nextslide" highlightClick="1"/>
          </p:cNvPr>
          <p:cNvSpPr>
            <a:spLocks noChangeArrowheads="1"/>
          </p:cNvSpPr>
          <p:nvPr/>
        </p:nvSpPr>
        <p:spPr bwMode="auto">
          <a:xfrm>
            <a:off x="9407525" y="6524625"/>
            <a:ext cx="285750" cy="215900"/>
          </a:xfrm>
          <a:prstGeom prst="actionButtonForwardNex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33796" name="AutoShape 4">
            <a:hlinkClick r:id="" action="ppaction://hlinkshowjump?jump=firstslide" highlightClick="1"/>
          </p:cNvPr>
          <p:cNvSpPr>
            <a:spLocks noChangeArrowheads="1"/>
          </p:cNvSpPr>
          <p:nvPr/>
        </p:nvSpPr>
        <p:spPr bwMode="auto">
          <a:xfrm>
            <a:off x="9694864" y="6524625"/>
            <a:ext cx="287337" cy="215900"/>
          </a:xfrm>
          <a:prstGeom prst="actionButtonBeginning">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33797" name="AutoShape 5">
            <a:hlinkClick r:id="" action="ppaction://hlinkshowjump?jump=endshow" highlightClick="1"/>
          </p:cNvPr>
          <p:cNvSpPr>
            <a:spLocks noChangeArrowheads="1"/>
          </p:cNvSpPr>
          <p:nvPr/>
        </p:nvSpPr>
        <p:spPr bwMode="auto">
          <a:xfrm>
            <a:off x="9983789" y="6524625"/>
            <a:ext cx="287337" cy="215900"/>
          </a:xfrm>
          <a:prstGeom prst="actionButtonEnd">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33798" name="AutoShape 6">
            <a:hlinkClick r:id="rId1" action="ppaction://hlinksldjump" highlightClick="1"/>
          </p:cNvPr>
          <p:cNvSpPr>
            <a:spLocks noChangeArrowheads="1"/>
          </p:cNvSpPr>
          <p:nvPr/>
        </p:nvSpPr>
        <p:spPr bwMode="auto">
          <a:xfrm>
            <a:off x="10272714" y="6524625"/>
            <a:ext cx="288925" cy="215900"/>
          </a:xfrm>
          <a:prstGeom prst="actionButtonReturn">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graphicFrame>
        <p:nvGraphicFramePr>
          <p:cNvPr id="896011" name="Object 11"/>
          <p:cNvGraphicFramePr>
            <a:graphicFrameLocks noChangeAspect="1"/>
          </p:cNvGraphicFramePr>
          <p:nvPr/>
        </p:nvGraphicFramePr>
        <p:xfrm>
          <a:off x="2489635" y="333375"/>
          <a:ext cx="6299200" cy="928688"/>
        </p:xfrm>
        <a:graphic>
          <a:graphicData uri="http://schemas.openxmlformats.org/presentationml/2006/ole">
            <mc:AlternateContent xmlns:mc="http://schemas.openxmlformats.org/markup-compatibility/2006">
              <mc:Choice xmlns:v="urn:schemas-microsoft-com:vml" Requires="v">
                <p:oleObj spid="_x0000_s25601" name="公式" r:id="rId2" imgW="3239770" imgH="485140" progId="Equation.3">
                  <p:embed/>
                </p:oleObj>
              </mc:Choice>
              <mc:Fallback>
                <p:oleObj name="公式" r:id="rId2" imgW="3239770" imgH="485140" progId="Equation.3">
                  <p:embed/>
                  <p:pic>
                    <p:nvPicPr>
                      <p:cNvPr id="0" name="Object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9635" y="333375"/>
                        <a:ext cx="6299200" cy="928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96012" name="Rectangle 12"/>
          <p:cNvSpPr>
            <a:spLocks noChangeArrowheads="1"/>
          </p:cNvSpPr>
          <p:nvPr/>
        </p:nvSpPr>
        <p:spPr bwMode="auto">
          <a:xfrm>
            <a:off x="1746685" y="476251"/>
            <a:ext cx="5397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20000"/>
              </a:spcBef>
            </a:pPr>
            <a:r>
              <a:rPr lang="zh-CN" altLang="en-US" sz="2800">
                <a:ea typeface="宋体" pitchFamily="2" charset="-122"/>
              </a:rPr>
              <a:t>记</a:t>
            </a:r>
            <a:endParaRPr lang="zh-CN" altLang="en-US" sz="2800">
              <a:ea typeface="宋体" pitchFamily="2" charset="-122"/>
            </a:endParaRPr>
          </a:p>
        </p:txBody>
      </p:sp>
      <p:graphicFrame>
        <p:nvGraphicFramePr>
          <p:cNvPr id="896013" name="Object 13"/>
          <p:cNvGraphicFramePr>
            <a:graphicFrameLocks noChangeAspect="1"/>
          </p:cNvGraphicFramePr>
          <p:nvPr/>
        </p:nvGraphicFramePr>
        <p:xfrm>
          <a:off x="2335649" y="1844675"/>
          <a:ext cx="5799137" cy="952500"/>
        </p:xfrm>
        <a:graphic>
          <a:graphicData uri="http://schemas.openxmlformats.org/presentationml/2006/ole">
            <mc:AlternateContent xmlns:mc="http://schemas.openxmlformats.org/markup-compatibility/2006">
              <mc:Choice xmlns:v="urn:schemas-microsoft-com:vml" Requires="v">
                <p:oleObj spid="_x0000_s2" name="公式" r:id="rId4" imgW="3093085" imgH="485140" progId="Equation.3">
                  <p:embed/>
                </p:oleObj>
              </mc:Choice>
              <mc:Fallback>
                <p:oleObj name="公式" r:id="rId4" imgW="3093085" imgH="485140" progId="Equation.3">
                  <p:embed/>
                  <p:pic>
                    <p:nvPicPr>
                      <p:cNvPr id="0"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35649" y="1844675"/>
                        <a:ext cx="5799137"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96014" name="Object 14"/>
          <p:cNvGraphicFramePr>
            <a:graphicFrameLocks noChangeAspect="1"/>
          </p:cNvGraphicFramePr>
          <p:nvPr/>
        </p:nvGraphicFramePr>
        <p:xfrm>
          <a:off x="2394385" y="1125538"/>
          <a:ext cx="4275138" cy="931862"/>
        </p:xfrm>
        <a:graphic>
          <a:graphicData uri="http://schemas.openxmlformats.org/presentationml/2006/ole">
            <mc:AlternateContent xmlns:mc="http://schemas.openxmlformats.org/markup-compatibility/2006">
              <mc:Choice xmlns:v="urn:schemas-microsoft-com:vml" Requires="v">
                <p:oleObj spid="_x0000_s3" name="公式" r:id="rId6" imgW="2325370" imgH="485140" progId="Equation.3">
                  <p:embed/>
                </p:oleObj>
              </mc:Choice>
              <mc:Fallback>
                <p:oleObj name="公式" r:id="rId6" imgW="2325370" imgH="485140" progId="Equation.3">
                  <p:embed/>
                  <p:pic>
                    <p:nvPicPr>
                      <p:cNvPr id="0" name="Object 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94385" y="1125538"/>
                        <a:ext cx="4275138" cy="93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96019" name="Rectangle 19"/>
          <p:cNvSpPr>
            <a:spLocks noChangeArrowheads="1"/>
          </p:cNvSpPr>
          <p:nvPr/>
        </p:nvSpPr>
        <p:spPr bwMode="auto">
          <a:xfrm>
            <a:off x="1524000" y="2349501"/>
            <a:ext cx="7632700" cy="3960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3200">
                <a:solidFill>
                  <a:schemeClr val="tx1"/>
                </a:solidFill>
                <a:latin typeface="Times New Roman" panose="02020503050405090304" pitchFamily="18" charset="0"/>
                <a:ea typeface="宋体" pitchFamily="2" charset="-122"/>
              </a:defRPr>
            </a:lvl1pPr>
            <a:lvl2pPr marL="742950" indent="-285750">
              <a:spcBef>
                <a:spcPct val="20000"/>
              </a:spcBef>
              <a:buChar char="–"/>
              <a:defRPr kumimoji="1" sz="2800">
                <a:solidFill>
                  <a:schemeClr val="tx1"/>
                </a:solidFill>
                <a:latin typeface="Times New Roman" panose="02020503050405090304" pitchFamily="18" charset="0"/>
                <a:ea typeface="宋体" pitchFamily="2" charset="-122"/>
              </a:defRPr>
            </a:lvl2pPr>
            <a:lvl3pPr marL="1143000" indent="-228600">
              <a:spcBef>
                <a:spcPct val="20000"/>
              </a:spcBef>
              <a:buChar char="•"/>
              <a:defRPr kumimoji="1" sz="2400">
                <a:solidFill>
                  <a:schemeClr val="tx1"/>
                </a:solidFill>
                <a:latin typeface="Times New Roman" panose="02020503050405090304" pitchFamily="18" charset="0"/>
                <a:ea typeface="宋体" pitchFamily="2" charset="-122"/>
              </a:defRPr>
            </a:lvl3pPr>
            <a:lvl4pPr marL="1600200" indent="-228600">
              <a:spcBef>
                <a:spcPct val="20000"/>
              </a:spcBef>
              <a:buChar char="–"/>
              <a:defRPr kumimoji="1" sz="2000">
                <a:solidFill>
                  <a:schemeClr val="tx1"/>
                </a:solidFill>
                <a:latin typeface="Times New Roman" panose="02020503050405090304" pitchFamily="18" charset="0"/>
                <a:ea typeface="宋体" pitchFamily="2" charset="-122"/>
              </a:defRPr>
            </a:lvl4pPr>
            <a:lvl5pPr marL="2057400" indent="-228600">
              <a:spcBef>
                <a:spcPct val="20000"/>
              </a:spcBef>
              <a:buChar char="»"/>
              <a:defRPr kumimoji="1" sz="2000">
                <a:solidFill>
                  <a:schemeClr val="tx1"/>
                </a:solidFill>
                <a:latin typeface="Times New Roman" panose="02020503050405090304"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503050405090304"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503050405090304"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503050405090304"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503050405090304" pitchFamily="18" charset="0"/>
                <a:ea typeface="宋体" pitchFamily="2" charset="-122"/>
              </a:defRPr>
            </a:lvl9pPr>
          </a:lstStyle>
          <a:p>
            <a:pPr eaLnBrk="1" hangingPunct="1">
              <a:buFontTx/>
              <a:buNone/>
            </a:pPr>
            <a:r>
              <a:rPr lang="en-US" altLang="zh-CN" sz="2800" dirty="0"/>
              <a:t>   </a:t>
            </a:r>
            <a:endParaRPr lang="en-US" altLang="zh-CN" sz="2800" dirty="0"/>
          </a:p>
          <a:p>
            <a:pPr>
              <a:lnSpc>
                <a:spcPct val="105000"/>
              </a:lnSpc>
            </a:pPr>
            <a:r>
              <a:rPr lang="zh-CN" altLang="en-US" sz="2400" dirty="0">
                <a:latin typeface="楷体_GB2312" pitchFamily="49" charset="-122"/>
                <a:ea typeface="楷体_GB2312" pitchFamily="49" charset="-122"/>
              </a:rPr>
              <a:t>数据总的波动用总偏差平方和表示</a:t>
            </a:r>
            <a:endParaRPr lang="en-US" altLang="zh-CN" sz="2400" dirty="0">
              <a:latin typeface="楷体_GB2312" pitchFamily="49" charset="-122"/>
              <a:ea typeface="楷体_GB2312" pitchFamily="49" charset="-122"/>
            </a:endParaRPr>
          </a:p>
          <a:p>
            <a:pPr>
              <a:lnSpc>
                <a:spcPct val="105000"/>
              </a:lnSpc>
            </a:pPr>
            <a:r>
              <a:rPr lang="zh-CN" altLang="en-US" sz="2400" dirty="0">
                <a:latin typeface="楷体_GB2312" pitchFamily="49" charset="-122"/>
                <a:ea typeface="楷体_GB2312" pitchFamily="49" charset="-122"/>
              </a:rPr>
              <a:t>引起各</a:t>
            </a:r>
            <a:r>
              <a:rPr lang="en-US" altLang="zh-CN" sz="2400" i="1" dirty="0" err="1">
                <a:ea typeface="楷体_GB2312" pitchFamily="49" charset="-122"/>
              </a:rPr>
              <a:t>y</a:t>
            </a:r>
            <a:r>
              <a:rPr lang="en-US" altLang="zh-CN" sz="2400" i="1" baseline="-25000" dirty="0" err="1">
                <a:ea typeface="楷体_GB2312" pitchFamily="49" charset="-122"/>
              </a:rPr>
              <a:t>i</a:t>
            </a:r>
            <a:r>
              <a:rPr lang="zh-CN" altLang="en-US" sz="2400" dirty="0">
                <a:latin typeface="楷体_GB2312" pitchFamily="49" charset="-122"/>
                <a:ea typeface="楷体_GB2312" pitchFamily="49" charset="-122"/>
              </a:rPr>
              <a:t>不同的原因主要有两个因素：</a:t>
            </a:r>
            <a:endParaRPr lang="en-US" altLang="zh-CN" sz="2400" dirty="0">
              <a:latin typeface="楷体_GB2312" pitchFamily="49" charset="-122"/>
              <a:ea typeface="楷体_GB2312" pitchFamily="49" charset="-122"/>
            </a:endParaRPr>
          </a:p>
          <a:p>
            <a:pPr lvl="1">
              <a:lnSpc>
                <a:spcPct val="105000"/>
              </a:lnSpc>
            </a:pPr>
            <a:r>
              <a:rPr lang="en-US" altLang="zh-CN" sz="2000" dirty="0">
                <a:ea typeface="楷体_GB2312" pitchFamily="49" charset="-122"/>
              </a:rPr>
              <a:t>H</a:t>
            </a:r>
            <a:r>
              <a:rPr lang="en-US" altLang="zh-CN" sz="2000" baseline="-25000" dirty="0">
                <a:ea typeface="楷体_GB2312" pitchFamily="49" charset="-122"/>
              </a:rPr>
              <a:t>0</a:t>
            </a:r>
            <a:r>
              <a:rPr lang="zh-CN" altLang="en-US" sz="2000" dirty="0">
                <a:latin typeface="楷体_GB2312" pitchFamily="49" charset="-122"/>
                <a:ea typeface="楷体_GB2312" pitchFamily="49" charset="-122"/>
              </a:rPr>
              <a:t>可能不真，</a:t>
            </a:r>
            <a:r>
              <a:rPr lang="en-US" altLang="zh-CN" sz="2000" i="1" dirty="0">
                <a:ea typeface="楷体_GB2312" pitchFamily="49" charset="-122"/>
              </a:rPr>
              <a:t>y</a:t>
            </a:r>
            <a:r>
              <a:rPr lang="zh-CN" altLang="en-US" sz="2000" dirty="0">
                <a:latin typeface="楷体_GB2312" pitchFamily="49" charset="-122"/>
                <a:ea typeface="楷体_GB2312" pitchFamily="49" charset="-122"/>
              </a:rPr>
              <a:t>随</a:t>
            </a:r>
            <a:r>
              <a:rPr lang="en-US" altLang="zh-CN" sz="2000" i="1" dirty="0">
                <a:ea typeface="楷体_GB2312" pitchFamily="49" charset="-122"/>
              </a:rPr>
              <a:t>x</a:t>
            </a:r>
            <a:r>
              <a:rPr lang="zh-CN" altLang="en-US" sz="2000" dirty="0">
                <a:latin typeface="楷体_GB2312" pitchFamily="49" charset="-122"/>
                <a:ea typeface="楷体_GB2312" pitchFamily="49" charset="-122"/>
              </a:rPr>
              <a:t>的变化而变化，从而在每一个</a:t>
            </a:r>
            <a:r>
              <a:rPr lang="en-US" altLang="zh-CN" sz="2000" i="1" dirty="0">
                <a:ea typeface="楷体_GB2312" pitchFamily="49" charset="-122"/>
              </a:rPr>
              <a:t>x</a:t>
            </a:r>
            <a:r>
              <a:rPr lang="zh-CN" altLang="en-US" sz="2000" dirty="0">
                <a:latin typeface="楷体_GB2312" pitchFamily="49" charset="-122"/>
                <a:ea typeface="楷体_GB2312" pitchFamily="49" charset="-122"/>
              </a:rPr>
              <a:t>的观测值处的回归值不同，其波动用回归平方和表示</a:t>
            </a:r>
            <a:endParaRPr lang="en-US" altLang="zh-CN" sz="2000" dirty="0">
              <a:latin typeface="楷体_GB2312" pitchFamily="49" charset="-122"/>
              <a:ea typeface="楷体_GB2312" pitchFamily="49" charset="-122"/>
            </a:endParaRPr>
          </a:p>
          <a:p>
            <a:pPr lvl="1">
              <a:lnSpc>
                <a:spcPct val="105000"/>
              </a:lnSpc>
            </a:pPr>
            <a:r>
              <a:rPr lang="zh-CN" altLang="en-US" sz="2000" dirty="0">
                <a:latin typeface="楷体_GB2312" pitchFamily="49" charset="-122"/>
                <a:ea typeface="楷体_GB2312" pitchFamily="49" charset="-122"/>
              </a:rPr>
              <a:t>其它一切因素，包括随机误差、</a:t>
            </a:r>
            <a:r>
              <a:rPr lang="en-US" altLang="zh-CN" sz="2000" i="1" dirty="0">
                <a:ea typeface="楷体_GB2312" pitchFamily="49" charset="-122"/>
              </a:rPr>
              <a:t>x</a:t>
            </a:r>
            <a:r>
              <a:rPr lang="zh-CN" altLang="en-US" sz="2000" dirty="0">
                <a:latin typeface="楷体_GB2312" pitchFamily="49" charset="-122"/>
                <a:ea typeface="楷体_GB2312" pitchFamily="49" charset="-122"/>
              </a:rPr>
              <a:t>对</a:t>
            </a:r>
            <a:r>
              <a:rPr lang="en-US" altLang="zh-CN" sz="2000" i="1" dirty="0">
                <a:ea typeface="楷体_GB2312" pitchFamily="49" charset="-122"/>
              </a:rPr>
              <a:t>y</a:t>
            </a:r>
            <a:r>
              <a:rPr lang="zh-CN" altLang="en-US" sz="2000" dirty="0">
                <a:latin typeface="楷体_GB2312" pitchFamily="49" charset="-122"/>
                <a:ea typeface="楷体_GB2312" pitchFamily="49" charset="-122"/>
              </a:rPr>
              <a:t>的非线性影响等，这可用残差平方和表示</a:t>
            </a:r>
            <a:endParaRPr lang="zh-CN" altLang="en-US" sz="2000" dirty="0">
              <a:latin typeface="楷体_GB2312" pitchFamily="49" charset="-122"/>
              <a:ea typeface="楷体_GB2312" pitchFamily="49" charset="-122"/>
            </a:endParaRPr>
          </a:p>
          <a:p>
            <a:pPr eaLnBrk="1" hangingPunct="1">
              <a:buFontTx/>
              <a:buNone/>
            </a:pPr>
            <a:r>
              <a:rPr lang="zh-CN" altLang="en-US" sz="2800" dirty="0"/>
              <a:t>    </a:t>
            </a:r>
            <a:r>
              <a:rPr lang="zh-CN" altLang="en-US" sz="2400" dirty="0">
                <a:ea typeface="楷体_GB2312" pitchFamily="49" charset="-122"/>
              </a:rPr>
              <a:t>有如下</a:t>
            </a:r>
            <a:r>
              <a:rPr lang="zh-CN" altLang="en-US" sz="2400" dirty="0">
                <a:solidFill>
                  <a:srgbClr val="0000FF"/>
                </a:solidFill>
                <a:ea typeface="楷体_GB2312" pitchFamily="49" charset="-122"/>
              </a:rPr>
              <a:t>平方和分解式</a:t>
            </a:r>
            <a:r>
              <a:rPr lang="zh-CN" altLang="en-US" sz="2800" dirty="0">
                <a:solidFill>
                  <a:srgbClr val="0000FF"/>
                </a:solidFill>
              </a:rPr>
              <a:t>：</a:t>
            </a:r>
            <a:r>
              <a:rPr lang="zh-CN" altLang="en-US" sz="2800" i="1" dirty="0">
                <a:solidFill>
                  <a:srgbClr val="0000FF"/>
                </a:solidFill>
              </a:rPr>
              <a:t>     </a:t>
            </a:r>
            <a:r>
              <a:rPr lang="en-US" altLang="zh-CN" sz="2400" i="1" dirty="0">
                <a:solidFill>
                  <a:srgbClr val="0000FF"/>
                </a:solidFill>
              </a:rPr>
              <a:t>S</a:t>
            </a:r>
            <a:r>
              <a:rPr lang="en-US" altLang="zh-CN" sz="2400" i="1" baseline="-25000" dirty="0">
                <a:solidFill>
                  <a:srgbClr val="0000FF"/>
                </a:solidFill>
              </a:rPr>
              <a:t>T</a:t>
            </a:r>
            <a:r>
              <a:rPr lang="en-US" altLang="zh-CN" sz="2400" dirty="0">
                <a:solidFill>
                  <a:srgbClr val="0000FF"/>
                </a:solidFill>
              </a:rPr>
              <a:t>= </a:t>
            </a:r>
            <a:r>
              <a:rPr lang="en-US" altLang="zh-CN" sz="2400" i="1" dirty="0">
                <a:solidFill>
                  <a:srgbClr val="0000FF"/>
                </a:solidFill>
              </a:rPr>
              <a:t>S</a:t>
            </a:r>
            <a:r>
              <a:rPr lang="en-US" altLang="zh-CN" sz="2400" i="1" baseline="-25000" dirty="0">
                <a:solidFill>
                  <a:srgbClr val="0000FF"/>
                </a:solidFill>
              </a:rPr>
              <a:t>Q</a:t>
            </a:r>
            <a:r>
              <a:rPr lang="en-US" altLang="zh-CN" sz="2400" dirty="0">
                <a:solidFill>
                  <a:srgbClr val="0000FF"/>
                </a:solidFill>
              </a:rPr>
              <a:t> + </a:t>
            </a:r>
            <a:r>
              <a:rPr lang="en-US" altLang="zh-CN" sz="2400" i="1" dirty="0">
                <a:solidFill>
                  <a:srgbClr val="0000FF"/>
                </a:solidFill>
              </a:rPr>
              <a:t>S</a:t>
            </a:r>
            <a:r>
              <a:rPr lang="en-US" altLang="zh-CN" sz="2400" i="1" baseline="-25000" dirty="0">
                <a:solidFill>
                  <a:srgbClr val="0000FF"/>
                </a:solidFill>
              </a:rPr>
              <a:t>R</a:t>
            </a:r>
            <a:endParaRPr lang="en-US" altLang="zh-CN" sz="2400" baseline="-25000" dirty="0">
              <a:solidFill>
                <a:srgbClr val="0000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96014"/>
                                        </p:tgtEl>
                                        <p:attrNameLst>
                                          <p:attrName>style.visibility</p:attrName>
                                        </p:attrNameLst>
                                      </p:cBhvr>
                                      <p:to>
                                        <p:strVal val="visible"/>
                                      </p:to>
                                    </p:set>
                                    <p:animEffect transition="in" filter="wipe(left)">
                                      <p:cBhvr>
                                        <p:cTn id="7" dur="500"/>
                                        <p:tgtEl>
                                          <p:spTgt spid="8960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96013"/>
                                        </p:tgtEl>
                                        <p:attrNameLst>
                                          <p:attrName>style.visibility</p:attrName>
                                        </p:attrNameLst>
                                      </p:cBhvr>
                                      <p:to>
                                        <p:strVal val="visible"/>
                                      </p:to>
                                    </p:set>
                                    <p:animEffect transition="in" filter="wipe(left)">
                                      <p:cBhvr>
                                        <p:cTn id="12" dur="500"/>
                                        <p:tgtEl>
                                          <p:spTgt spid="89601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96019"/>
                                        </p:tgtEl>
                                        <p:attrNameLst>
                                          <p:attrName>style.visibility</p:attrName>
                                        </p:attrNameLst>
                                      </p:cBhvr>
                                      <p:to>
                                        <p:strVal val="visible"/>
                                      </p:to>
                                    </p:set>
                                    <p:animEffect transition="in" filter="blinds(horizontal)">
                                      <p:cBhvr>
                                        <p:cTn id="17" dur="500"/>
                                        <p:tgtEl>
                                          <p:spTgt spid="8960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6019"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AutoShape 2">
            <a:hlinkClick r:id="" action="ppaction://hlinkshowjump?jump=previousslide" highlightClick="1"/>
          </p:cNvPr>
          <p:cNvSpPr>
            <a:spLocks noChangeArrowheads="1"/>
          </p:cNvSpPr>
          <p:nvPr/>
        </p:nvSpPr>
        <p:spPr bwMode="auto">
          <a:xfrm>
            <a:off x="9120189" y="6524625"/>
            <a:ext cx="287337" cy="215900"/>
          </a:xfrm>
          <a:prstGeom prst="actionButtonBackPrevious">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34819" name="AutoShape 3">
            <a:hlinkClick r:id="" action="ppaction://hlinkshowjump?jump=nextslide" highlightClick="1"/>
          </p:cNvPr>
          <p:cNvSpPr>
            <a:spLocks noChangeArrowheads="1"/>
          </p:cNvSpPr>
          <p:nvPr/>
        </p:nvSpPr>
        <p:spPr bwMode="auto">
          <a:xfrm>
            <a:off x="9407525" y="6524625"/>
            <a:ext cx="285750" cy="215900"/>
          </a:xfrm>
          <a:prstGeom prst="actionButtonForwardNex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34820" name="AutoShape 4">
            <a:hlinkClick r:id="" action="ppaction://hlinkshowjump?jump=firstslide" highlightClick="1"/>
          </p:cNvPr>
          <p:cNvSpPr>
            <a:spLocks noChangeArrowheads="1"/>
          </p:cNvSpPr>
          <p:nvPr/>
        </p:nvSpPr>
        <p:spPr bwMode="auto">
          <a:xfrm>
            <a:off x="9694864" y="6524625"/>
            <a:ext cx="287337" cy="215900"/>
          </a:xfrm>
          <a:prstGeom prst="actionButtonBeginning">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34821" name="AutoShape 5">
            <a:hlinkClick r:id="" action="ppaction://hlinkshowjump?jump=endshow" highlightClick="1"/>
          </p:cNvPr>
          <p:cNvSpPr>
            <a:spLocks noChangeArrowheads="1"/>
          </p:cNvSpPr>
          <p:nvPr/>
        </p:nvSpPr>
        <p:spPr bwMode="auto">
          <a:xfrm>
            <a:off x="9983789" y="6524625"/>
            <a:ext cx="287337" cy="215900"/>
          </a:xfrm>
          <a:prstGeom prst="actionButtonEnd">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34822" name="AutoShape 6">
            <a:hlinkClick r:id="rId1" action="ppaction://hlinksldjump" highlightClick="1"/>
          </p:cNvPr>
          <p:cNvSpPr>
            <a:spLocks noChangeArrowheads="1"/>
          </p:cNvSpPr>
          <p:nvPr/>
        </p:nvSpPr>
        <p:spPr bwMode="auto">
          <a:xfrm>
            <a:off x="10272714" y="6524625"/>
            <a:ext cx="288925" cy="215900"/>
          </a:xfrm>
          <a:prstGeom prst="actionButtonReturn">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graphicFrame>
        <p:nvGraphicFramePr>
          <p:cNvPr id="949256" name="Object 8"/>
          <p:cNvGraphicFramePr>
            <a:graphicFrameLocks noChangeAspect="1"/>
          </p:cNvGraphicFramePr>
          <p:nvPr/>
        </p:nvGraphicFramePr>
        <p:xfrm>
          <a:off x="4008439" y="404814"/>
          <a:ext cx="4967287" cy="985837"/>
        </p:xfrm>
        <a:graphic>
          <a:graphicData uri="http://schemas.openxmlformats.org/presentationml/2006/ole">
            <mc:AlternateContent xmlns:mc="http://schemas.openxmlformats.org/markup-compatibility/2006">
              <mc:Choice xmlns:v="urn:schemas-microsoft-com:vml" Requires="v">
                <p:oleObj spid="_x0000_s25601" name="公式" r:id="rId2" imgW="2201545" imgH="485140" progId="Equation.3">
                  <p:embed/>
                </p:oleObj>
              </mc:Choice>
              <mc:Fallback>
                <p:oleObj name="公式" r:id="rId2" imgW="2201545" imgH="485140" progId="Equation.3">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08439" y="404814"/>
                        <a:ext cx="4967287" cy="985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49259" name="Object 11"/>
          <p:cNvGraphicFramePr>
            <a:graphicFrameLocks noChangeAspect="1"/>
          </p:cNvGraphicFramePr>
          <p:nvPr/>
        </p:nvGraphicFramePr>
        <p:xfrm>
          <a:off x="3933825" y="2205039"/>
          <a:ext cx="4852988" cy="1063625"/>
        </p:xfrm>
        <a:graphic>
          <a:graphicData uri="http://schemas.openxmlformats.org/presentationml/2006/ole">
            <mc:AlternateContent xmlns:mc="http://schemas.openxmlformats.org/markup-compatibility/2006">
              <mc:Choice xmlns:v="urn:schemas-microsoft-com:vml" Requires="v">
                <p:oleObj spid="_x0000_s2" name="公式" r:id="rId4" imgW="2043430" imgH="429260" progId="Equation.3">
                  <p:embed/>
                </p:oleObj>
              </mc:Choice>
              <mc:Fallback>
                <p:oleObj name="公式" r:id="rId4" imgW="2043430" imgH="429260" progId="Equation.3">
                  <p:embed/>
                  <p:pic>
                    <p:nvPicPr>
                      <p:cNvPr id="0"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33825" y="2205039"/>
                        <a:ext cx="4852988" cy="106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49263" name="Object 15"/>
          <p:cNvGraphicFramePr>
            <a:graphicFrameLocks noChangeAspect="1"/>
          </p:cNvGraphicFramePr>
          <p:nvPr/>
        </p:nvGraphicFramePr>
        <p:xfrm>
          <a:off x="4510088" y="1484313"/>
          <a:ext cx="3529012" cy="622300"/>
        </p:xfrm>
        <a:graphic>
          <a:graphicData uri="http://schemas.openxmlformats.org/presentationml/2006/ole">
            <mc:AlternateContent xmlns:mc="http://schemas.openxmlformats.org/markup-compatibility/2006">
              <mc:Choice xmlns:v="urn:schemas-microsoft-com:vml" Requires="v">
                <p:oleObj spid="_x0000_s3" name="公式" r:id="rId6" imgW="1795145" imgH="293370" progId="Equation.3">
                  <p:embed/>
                </p:oleObj>
              </mc:Choice>
              <mc:Fallback>
                <p:oleObj name="公式" r:id="rId6" imgW="1795145" imgH="293370" progId="Equation.3">
                  <p:embed/>
                  <p:pic>
                    <p:nvPicPr>
                      <p:cNvPr id="0" name="Object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10088" y="1484313"/>
                        <a:ext cx="3529012"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4826" name="Rectangle 16"/>
          <p:cNvSpPr>
            <a:spLocks noChangeArrowheads="1"/>
          </p:cNvSpPr>
          <p:nvPr/>
        </p:nvSpPr>
        <p:spPr bwMode="auto">
          <a:xfrm>
            <a:off x="2495550" y="692151"/>
            <a:ext cx="14414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en-US" altLang="zh-CN" sz="2800">
                <a:latin typeface="楷体_GB2312" pitchFamily="49" charset="-122"/>
              </a:rPr>
              <a:t>   </a:t>
            </a:r>
            <a:r>
              <a:rPr lang="zh-CN" altLang="en-US" sz="2400">
                <a:latin typeface="楷体_GB2312" pitchFamily="49" charset="-122"/>
              </a:rPr>
              <a:t>因为</a:t>
            </a:r>
            <a:r>
              <a:rPr lang="zh-CN" altLang="en-US" sz="2400">
                <a:ea typeface="宋体" pitchFamily="2" charset="-122"/>
              </a:rPr>
              <a:t> </a:t>
            </a:r>
            <a:endParaRPr lang="zh-CN" altLang="en-US" sz="2400">
              <a:ea typeface="宋体" pitchFamily="2" charset="-122"/>
            </a:endParaRPr>
          </a:p>
        </p:txBody>
      </p:sp>
      <p:graphicFrame>
        <p:nvGraphicFramePr>
          <p:cNvPr id="949265" name="Object 17"/>
          <p:cNvGraphicFramePr>
            <a:graphicFrameLocks noChangeAspect="1"/>
          </p:cNvGraphicFramePr>
          <p:nvPr/>
        </p:nvGraphicFramePr>
        <p:xfrm>
          <a:off x="4367213" y="3213100"/>
          <a:ext cx="3435350" cy="2127250"/>
        </p:xfrm>
        <a:graphic>
          <a:graphicData uri="http://schemas.openxmlformats.org/presentationml/2006/ole">
            <mc:AlternateContent xmlns:mc="http://schemas.openxmlformats.org/markup-compatibility/2006">
              <mc:Choice xmlns:v="urn:schemas-microsoft-com:vml" Requires="v">
                <p:oleObj spid="_x0000_s4" name="公式" r:id="rId8" imgW="1433830" imgH="880745" progId="Equation.3">
                  <p:embed/>
                </p:oleObj>
              </mc:Choice>
              <mc:Fallback>
                <p:oleObj name="公式" r:id="rId8" imgW="1433830" imgH="880745" progId="Equation.3">
                  <p:embed/>
                  <p:pic>
                    <p:nvPicPr>
                      <p:cNvPr id="0" name="Object 1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67213" y="3213100"/>
                        <a:ext cx="3435350" cy="212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49266" name="Rectangle 18"/>
          <p:cNvSpPr>
            <a:spLocks noChangeArrowheads="1"/>
          </p:cNvSpPr>
          <p:nvPr/>
        </p:nvSpPr>
        <p:spPr bwMode="auto">
          <a:xfrm>
            <a:off x="2855913" y="5300663"/>
            <a:ext cx="1250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zh-CN" altLang="en-US" sz="2400">
                <a:latin typeface="楷体_GB2312" pitchFamily="49" charset="-122"/>
              </a:rPr>
              <a:t>所以 </a:t>
            </a:r>
            <a:endParaRPr lang="zh-CN" altLang="en-US" sz="2400">
              <a:latin typeface="楷体_GB2312" pitchFamily="49" charset="-122"/>
            </a:endParaRPr>
          </a:p>
        </p:txBody>
      </p:sp>
      <p:graphicFrame>
        <p:nvGraphicFramePr>
          <p:cNvPr id="949267" name="Object 19"/>
          <p:cNvGraphicFramePr>
            <a:graphicFrameLocks noChangeAspect="1"/>
          </p:cNvGraphicFramePr>
          <p:nvPr/>
        </p:nvGraphicFramePr>
        <p:xfrm>
          <a:off x="4295775" y="5300663"/>
          <a:ext cx="3240088" cy="635000"/>
        </p:xfrm>
        <a:graphic>
          <a:graphicData uri="http://schemas.openxmlformats.org/presentationml/2006/ole">
            <mc:AlternateContent xmlns:mc="http://schemas.openxmlformats.org/markup-compatibility/2006">
              <mc:Choice xmlns:v="urn:schemas-microsoft-com:vml" Requires="v">
                <p:oleObj spid="_x0000_s5" name="公式" r:id="rId10" imgW="1061085" imgH="203200" progId="Equation.3">
                  <p:embed/>
                </p:oleObj>
              </mc:Choice>
              <mc:Fallback>
                <p:oleObj name="公式" r:id="rId10" imgW="1061085" imgH="203200" progId="Equation.3">
                  <p:embed/>
                  <p:pic>
                    <p:nvPicPr>
                      <p:cNvPr id="0" name="Object 1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295775" y="5300663"/>
                        <a:ext cx="3240088"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49263"/>
                                        </p:tgtEl>
                                        <p:attrNameLst>
                                          <p:attrName>style.visibility</p:attrName>
                                        </p:attrNameLst>
                                      </p:cBhvr>
                                      <p:to>
                                        <p:strVal val="visible"/>
                                      </p:to>
                                    </p:set>
                                    <p:animEffect transition="in" filter="wipe(left)">
                                      <p:cBhvr>
                                        <p:cTn id="7" dur="500"/>
                                        <p:tgtEl>
                                          <p:spTgt spid="94926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49259"/>
                                        </p:tgtEl>
                                        <p:attrNameLst>
                                          <p:attrName>style.visibility</p:attrName>
                                        </p:attrNameLst>
                                      </p:cBhvr>
                                      <p:to>
                                        <p:strVal val="visible"/>
                                      </p:to>
                                    </p:set>
                                    <p:animEffect transition="in" filter="wipe(left)">
                                      <p:cBhvr>
                                        <p:cTn id="12" dur="500"/>
                                        <p:tgtEl>
                                          <p:spTgt spid="94925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49265"/>
                                        </p:tgtEl>
                                        <p:attrNameLst>
                                          <p:attrName>style.visibility</p:attrName>
                                        </p:attrNameLst>
                                      </p:cBhvr>
                                      <p:to>
                                        <p:strVal val="visible"/>
                                      </p:to>
                                    </p:set>
                                    <p:animEffect transition="in" filter="wipe(left)">
                                      <p:cBhvr>
                                        <p:cTn id="17" dur="500"/>
                                        <p:tgtEl>
                                          <p:spTgt spid="94926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49266"/>
                                        </p:tgtEl>
                                        <p:attrNameLst>
                                          <p:attrName>style.visibility</p:attrName>
                                        </p:attrNameLst>
                                      </p:cBhvr>
                                      <p:to>
                                        <p:strVal val="visible"/>
                                      </p:to>
                                    </p:set>
                                    <p:animEffect transition="in" filter="wipe(left)">
                                      <p:cBhvr>
                                        <p:cTn id="22" dur="500"/>
                                        <p:tgtEl>
                                          <p:spTgt spid="94926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49267"/>
                                        </p:tgtEl>
                                        <p:attrNameLst>
                                          <p:attrName>style.visibility</p:attrName>
                                        </p:attrNameLst>
                                      </p:cBhvr>
                                      <p:to>
                                        <p:strVal val="visible"/>
                                      </p:to>
                                    </p:set>
                                    <p:animEffect transition="in" filter="wipe(left)">
                                      <p:cBhvr>
                                        <p:cTn id="27" dur="500"/>
                                        <p:tgtEl>
                                          <p:spTgt spid="9492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926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AutoShape 2">
            <a:hlinkClick r:id="" action="ppaction://hlinkshowjump?jump=previousslide" highlightClick="1"/>
          </p:cNvPr>
          <p:cNvSpPr>
            <a:spLocks noChangeArrowheads="1"/>
          </p:cNvSpPr>
          <p:nvPr/>
        </p:nvSpPr>
        <p:spPr bwMode="auto">
          <a:xfrm>
            <a:off x="9120189" y="6524625"/>
            <a:ext cx="287337" cy="215900"/>
          </a:xfrm>
          <a:prstGeom prst="actionButtonBackPrevious">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35843" name="AutoShape 3">
            <a:hlinkClick r:id="" action="ppaction://hlinkshowjump?jump=nextslide" highlightClick="1"/>
          </p:cNvPr>
          <p:cNvSpPr>
            <a:spLocks noChangeArrowheads="1"/>
          </p:cNvSpPr>
          <p:nvPr/>
        </p:nvSpPr>
        <p:spPr bwMode="auto">
          <a:xfrm>
            <a:off x="9407525" y="6524625"/>
            <a:ext cx="285750" cy="215900"/>
          </a:xfrm>
          <a:prstGeom prst="actionButtonForwardNex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35844" name="AutoShape 4">
            <a:hlinkClick r:id="" action="ppaction://hlinkshowjump?jump=firstslide" highlightClick="1"/>
          </p:cNvPr>
          <p:cNvSpPr>
            <a:spLocks noChangeArrowheads="1"/>
          </p:cNvSpPr>
          <p:nvPr/>
        </p:nvSpPr>
        <p:spPr bwMode="auto">
          <a:xfrm>
            <a:off x="9694864" y="6524625"/>
            <a:ext cx="287337" cy="215900"/>
          </a:xfrm>
          <a:prstGeom prst="actionButtonBeginning">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35845" name="AutoShape 5">
            <a:hlinkClick r:id="" action="ppaction://hlinkshowjump?jump=endshow" highlightClick="1"/>
          </p:cNvPr>
          <p:cNvSpPr>
            <a:spLocks noChangeArrowheads="1"/>
          </p:cNvSpPr>
          <p:nvPr/>
        </p:nvSpPr>
        <p:spPr bwMode="auto">
          <a:xfrm>
            <a:off x="9983789" y="6524625"/>
            <a:ext cx="287337" cy="215900"/>
          </a:xfrm>
          <a:prstGeom prst="actionButtonEnd">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35846" name="AutoShape 6">
            <a:hlinkClick r:id="rId1" action="ppaction://hlinksldjump" highlightClick="1"/>
          </p:cNvPr>
          <p:cNvSpPr>
            <a:spLocks noChangeArrowheads="1"/>
          </p:cNvSpPr>
          <p:nvPr/>
        </p:nvSpPr>
        <p:spPr bwMode="auto">
          <a:xfrm>
            <a:off x="10272714" y="6524625"/>
            <a:ext cx="288925" cy="215900"/>
          </a:xfrm>
          <a:prstGeom prst="actionButtonReturn">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897042" name="Rectangle 18"/>
          <p:cNvSpPr>
            <a:spLocks noChangeArrowheads="1"/>
          </p:cNvSpPr>
          <p:nvPr/>
        </p:nvSpPr>
        <p:spPr bwMode="auto">
          <a:xfrm>
            <a:off x="1031734" y="1630363"/>
            <a:ext cx="3671887"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en-US" altLang="zh-CN" sz="2800">
                <a:solidFill>
                  <a:srgbClr val="0000FF"/>
                </a:solidFill>
                <a:latin typeface="楷体_GB2312" pitchFamily="49" charset="-122"/>
              </a:rPr>
              <a:t>1</a:t>
            </a:r>
            <a:r>
              <a:rPr lang="zh-CN" altLang="en-US" sz="2800">
                <a:solidFill>
                  <a:srgbClr val="0000FF"/>
                </a:solidFill>
                <a:latin typeface="楷体_GB2312" pitchFamily="49" charset="-122"/>
              </a:rPr>
              <a:t>、 </a:t>
            </a:r>
            <a:r>
              <a:rPr lang="en-US" altLang="zh-CN" sz="2800">
                <a:solidFill>
                  <a:srgbClr val="0000FF"/>
                </a:solidFill>
              </a:rPr>
              <a:t>F</a:t>
            </a:r>
            <a:r>
              <a:rPr lang="zh-CN" altLang="en-US" sz="2800">
                <a:solidFill>
                  <a:srgbClr val="0000FF"/>
                </a:solidFill>
                <a:latin typeface="楷体_GB2312" pitchFamily="49" charset="-122"/>
              </a:rPr>
              <a:t>检验法</a:t>
            </a:r>
            <a:endParaRPr lang="zh-CN" altLang="en-US" sz="2800">
              <a:solidFill>
                <a:srgbClr val="0000FF"/>
              </a:solidFill>
              <a:latin typeface="楷体_GB2312" pitchFamily="49" charset="-122"/>
            </a:endParaRPr>
          </a:p>
        </p:txBody>
      </p:sp>
      <p:sp>
        <p:nvSpPr>
          <p:cNvPr id="897052" name="Rectangle 28"/>
          <p:cNvSpPr>
            <a:spLocks noGrp="1" noChangeArrowheads="1"/>
          </p:cNvSpPr>
          <p:nvPr>
            <p:ph type="title"/>
          </p:nvPr>
        </p:nvSpPr>
        <p:spPr>
          <a:xfrm>
            <a:off x="814246" y="2422525"/>
            <a:ext cx="8018463" cy="533400"/>
          </a:xfrm>
          <a:noFill/>
        </p:spPr>
        <p:txBody>
          <a:bodyPr>
            <a:normAutofit fontScale="90000"/>
          </a:bodyPr>
          <a:lstStyle/>
          <a:p>
            <a:pPr eaLnBrk="1" hangingPunct="1"/>
            <a:r>
              <a:rPr lang="zh-CN" altLang="en-US" sz="2400">
                <a:latin typeface="楷体_GB2312" pitchFamily="49" charset="-122"/>
                <a:ea typeface="楷体_GB2312" pitchFamily="49" charset="-122"/>
              </a:rPr>
              <a:t>进一步，有关</a:t>
            </a:r>
            <a:r>
              <a:rPr lang="en-US" altLang="zh-CN" sz="2400" i="1">
                <a:ea typeface="楷体_GB2312" pitchFamily="49" charset="-122"/>
              </a:rPr>
              <a:t>S</a:t>
            </a:r>
            <a:r>
              <a:rPr lang="en-US" altLang="zh-CN" sz="2400" i="1" baseline="-25000">
                <a:ea typeface="楷体_GB2312" pitchFamily="49" charset="-122"/>
              </a:rPr>
              <a:t>Q</a:t>
            </a:r>
            <a:r>
              <a:rPr lang="en-US" altLang="zh-CN" sz="2400">
                <a:ea typeface="楷体_GB2312" pitchFamily="49" charset="-122"/>
              </a:rPr>
              <a:t> </a:t>
            </a:r>
            <a:r>
              <a:rPr lang="zh-CN" altLang="en-US" sz="2400">
                <a:latin typeface="楷体_GB2312" pitchFamily="49" charset="-122"/>
                <a:ea typeface="楷体_GB2312" pitchFamily="49" charset="-122"/>
              </a:rPr>
              <a:t>和 </a:t>
            </a:r>
            <a:r>
              <a:rPr lang="en-US" altLang="zh-CN" sz="2400" i="1">
                <a:ea typeface="楷体_GB2312" pitchFamily="49" charset="-122"/>
              </a:rPr>
              <a:t>S</a:t>
            </a:r>
            <a:r>
              <a:rPr lang="en-US" altLang="zh-CN" sz="2400" i="1" baseline="-25000">
                <a:ea typeface="楷体_GB2312" pitchFamily="49" charset="-122"/>
              </a:rPr>
              <a:t>R</a:t>
            </a:r>
            <a:r>
              <a:rPr lang="zh-CN" altLang="en-US" sz="2400">
                <a:latin typeface="楷体_GB2312" pitchFamily="49" charset="-122"/>
                <a:ea typeface="楷体_GB2312" pitchFamily="49" charset="-122"/>
              </a:rPr>
              <a:t>的分布，有如下定理</a:t>
            </a:r>
            <a:r>
              <a:rPr lang="zh-CN" altLang="en-US" sz="2800"/>
              <a:t>。</a:t>
            </a:r>
            <a:r>
              <a:rPr lang="zh-CN" altLang="en-US"/>
              <a:t> </a:t>
            </a:r>
            <a:endParaRPr lang="zh-CN" altLang="en-US"/>
          </a:p>
        </p:txBody>
      </p:sp>
      <p:sp>
        <p:nvSpPr>
          <p:cNvPr id="897053" name="Rectangle 29"/>
          <p:cNvSpPr>
            <a:spLocks noGrp="1" noChangeArrowheads="1"/>
          </p:cNvSpPr>
          <p:nvPr>
            <p:ph idx="1"/>
          </p:nvPr>
        </p:nvSpPr>
        <p:spPr>
          <a:xfrm>
            <a:off x="1463533" y="3141663"/>
            <a:ext cx="7620000" cy="1943100"/>
          </a:xfrm>
          <a:noFill/>
        </p:spPr>
        <p:txBody>
          <a:bodyPr/>
          <a:lstStyle/>
          <a:p>
            <a:pPr eaLnBrk="1" hangingPunct="1">
              <a:buFontTx/>
              <a:buNone/>
            </a:pPr>
            <a:r>
              <a:rPr lang="zh-CN" altLang="en-US" sz="2800" u="sng">
                <a:solidFill>
                  <a:srgbClr val="0000FF"/>
                </a:solidFill>
                <a:latin typeface="楷体_GB2312" pitchFamily="49" charset="-122"/>
                <a:ea typeface="楷体_GB2312" pitchFamily="49" charset="-122"/>
              </a:rPr>
              <a:t>定理</a:t>
            </a:r>
            <a:r>
              <a:rPr lang="en-US" altLang="zh-CN" sz="2800" u="sng">
                <a:solidFill>
                  <a:srgbClr val="0000FF"/>
                </a:solidFill>
                <a:latin typeface="楷体_GB2312" pitchFamily="49" charset="-122"/>
                <a:ea typeface="楷体_GB2312" pitchFamily="49" charset="-122"/>
              </a:rPr>
              <a:t>2</a:t>
            </a:r>
            <a:r>
              <a:rPr lang="en-US" altLang="zh-CN" b="1"/>
              <a:t> </a:t>
            </a:r>
            <a:r>
              <a:rPr lang="zh-CN" altLang="en-US"/>
              <a:t>（</a:t>
            </a:r>
            <a:r>
              <a:rPr lang="en-US" altLang="zh-CN" sz="2800"/>
              <a:t>1</a:t>
            </a:r>
            <a:r>
              <a:rPr lang="zh-CN" altLang="en-US" sz="2800"/>
              <a:t>）</a:t>
            </a:r>
            <a:r>
              <a:rPr lang="en-US" altLang="zh-CN" sz="2800" i="1"/>
              <a:t>S</a:t>
            </a:r>
            <a:r>
              <a:rPr lang="en-US" altLang="zh-CN" sz="2800" i="1" baseline="-25000"/>
              <a:t>Q</a:t>
            </a:r>
            <a:r>
              <a:rPr lang="en-US" altLang="zh-CN" sz="2800" i="1"/>
              <a:t> </a:t>
            </a:r>
            <a:r>
              <a:rPr lang="en-US" altLang="zh-CN" sz="2800"/>
              <a:t>/</a:t>
            </a:r>
            <a:r>
              <a:rPr lang="en-US" altLang="zh-CN" sz="2800" i="1">
                <a:sym typeface="Symbol" panose="05050102010706020507" pitchFamily="18" charset="2"/>
              </a:rPr>
              <a:t></a:t>
            </a:r>
            <a:r>
              <a:rPr lang="en-US" altLang="zh-CN" sz="2800">
                <a:sym typeface="Symbol" panose="05050102010706020507" pitchFamily="18" charset="2"/>
              </a:rPr>
              <a:t> </a:t>
            </a:r>
            <a:r>
              <a:rPr lang="en-US" altLang="zh-CN" sz="2800" baseline="30000">
                <a:sym typeface="Symbol" panose="05050102010706020507" pitchFamily="18" charset="2"/>
              </a:rPr>
              <a:t>2</a:t>
            </a:r>
            <a:r>
              <a:rPr lang="en-US" altLang="zh-CN" sz="2800"/>
              <a:t> ~</a:t>
            </a:r>
            <a:r>
              <a:rPr lang="en-US" altLang="zh-CN" sz="2800" i="1">
                <a:sym typeface="Symbol" panose="05050102010706020507" pitchFamily="18" charset="2"/>
              </a:rPr>
              <a:t> </a:t>
            </a:r>
            <a:r>
              <a:rPr lang="en-US" altLang="zh-CN" sz="2800" baseline="30000">
                <a:sym typeface="Symbol" panose="05050102010706020507" pitchFamily="18" charset="2"/>
              </a:rPr>
              <a:t>2</a:t>
            </a:r>
            <a:r>
              <a:rPr lang="en-US" altLang="zh-CN" sz="2800">
                <a:sym typeface="Symbol" panose="05050102010706020507" pitchFamily="18" charset="2"/>
              </a:rPr>
              <a:t>(</a:t>
            </a:r>
            <a:r>
              <a:rPr lang="en-US" altLang="zh-CN" sz="2800" i="1">
                <a:sym typeface="Symbol" panose="05050102010706020507" pitchFamily="18" charset="2"/>
              </a:rPr>
              <a:t>n</a:t>
            </a:r>
            <a:r>
              <a:rPr lang="en-US" altLang="zh-CN" sz="2800">
                <a:sym typeface="Symbol" panose="05050102010706020507" pitchFamily="18" charset="2"/>
              </a:rPr>
              <a:t>2)</a:t>
            </a:r>
            <a:r>
              <a:rPr lang="zh-CN" altLang="en-US" sz="2800"/>
              <a:t>， </a:t>
            </a:r>
            <a:endParaRPr lang="zh-CN" altLang="en-US" sz="2800"/>
          </a:p>
          <a:p>
            <a:pPr eaLnBrk="1" hangingPunct="1">
              <a:buFontTx/>
              <a:buNone/>
            </a:pPr>
            <a:r>
              <a:rPr lang="zh-CN" altLang="en-US" sz="2800"/>
              <a:t>   </a:t>
            </a:r>
            <a:r>
              <a:rPr lang="zh-CN" altLang="en-US" sz="2800">
                <a:latin typeface="楷体_GB2312" pitchFamily="49" charset="-122"/>
                <a:ea typeface="楷体_GB2312" pitchFamily="49" charset="-122"/>
              </a:rPr>
              <a:t>（</a:t>
            </a:r>
            <a:r>
              <a:rPr lang="en-US" altLang="zh-CN" sz="2800">
                <a:latin typeface="楷体_GB2312" pitchFamily="49" charset="-122"/>
                <a:ea typeface="楷体_GB2312" pitchFamily="49" charset="-122"/>
              </a:rPr>
              <a:t>2</a:t>
            </a:r>
            <a:r>
              <a:rPr lang="zh-CN" altLang="en-US" sz="2800">
                <a:latin typeface="楷体_GB2312" pitchFamily="49" charset="-122"/>
                <a:ea typeface="楷体_GB2312" pitchFamily="49" charset="-122"/>
              </a:rPr>
              <a:t>）若</a:t>
            </a:r>
            <a:r>
              <a:rPr lang="en-US" altLang="zh-CN" sz="2800" i="1">
                <a:latin typeface="楷体_GB2312" pitchFamily="49" charset="-122"/>
                <a:ea typeface="楷体_GB2312" pitchFamily="49" charset="-122"/>
              </a:rPr>
              <a:t>H</a:t>
            </a:r>
            <a:r>
              <a:rPr lang="en-US" altLang="zh-CN" sz="2800" baseline="-25000">
                <a:latin typeface="楷体_GB2312" pitchFamily="49" charset="-122"/>
                <a:ea typeface="楷体_GB2312" pitchFamily="49" charset="-122"/>
              </a:rPr>
              <a:t>0</a:t>
            </a:r>
            <a:r>
              <a:rPr lang="zh-CN" altLang="en-US" sz="2800">
                <a:latin typeface="楷体_GB2312" pitchFamily="49" charset="-122"/>
                <a:ea typeface="楷体_GB2312" pitchFamily="49" charset="-122"/>
              </a:rPr>
              <a:t>成立，则有</a:t>
            </a:r>
            <a:r>
              <a:rPr lang="en-US" altLang="zh-CN" sz="2800" i="1"/>
              <a:t>S</a:t>
            </a:r>
            <a:r>
              <a:rPr lang="en-US" altLang="zh-CN" sz="2800" i="1" baseline="-25000"/>
              <a:t>R</a:t>
            </a:r>
            <a:r>
              <a:rPr lang="en-US" altLang="zh-CN" sz="2800" i="1"/>
              <a:t> </a:t>
            </a:r>
            <a:r>
              <a:rPr lang="en-US" altLang="zh-CN" sz="2800"/>
              <a:t>/</a:t>
            </a:r>
            <a:r>
              <a:rPr lang="en-US" altLang="zh-CN" sz="2800" i="1">
                <a:sym typeface="Symbol" panose="05050102010706020507" pitchFamily="18" charset="2"/>
              </a:rPr>
              <a:t></a:t>
            </a:r>
            <a:r>
              <a:rPr lang="en-US" altLang="zh-CN" sz="2800">
                <a:sym typeface="Symbol" panose="05050102010706020507" pitchFamily="18" charset="2"/>
              </a:rPr>
              <a:t> </a:t>
            </a:r>
            <a:r>
              <a:rPr lang="en-US" altLang="zh-CN" sz="2800" baseline="30000">
                <a:sym typeface="Symbol" panose="05050102010706020507" pitchFamily="18" charset="2"/>
              </a:rPr>
              <a:t>2</a:t>
            </a:r>
            <a:r>
              <a:rPr lang="en-US" altLang="zh-CN" sz="2800"/>
              <a:t> ~</a:t>
            </a:r>
            <a:r>
              <a:rPr lang="en-US" altLang="zh-CN" sz="2800" i="1">
                <a:sym typeface="Symbol" panose="05050102010706020507" pitchFamily="18" charset="2"/>
              </a:rPr>
              <a:t> </a:t>
            </a:r>
            <a:r>
              <a:rPr lang="en-US" altLang="zh-CN" sz="2800" baseline="30000">
                <a:sym typeface="Symbol" panose="05050102010706020507" pitchFamily="18" charset="2"/>
              </a:rPr>
              <a:t>2</a:t>
            </a:r>
            <a:r>
              <a:rPr lang="en-US" altLang="zh-CN" sz="2800">
                <a:sym typeface="Symbol" panose="05050102010706020507" pitchFamily="18" charset="2"/>
              </a:rPr>
              <a:t>(1)</a:t>
            </a:r>
            <a:endParaRPr lang="en-US" altLang="zh-CN" sz="2800"/>
          </a:p>
          <a:p>
            <a:pPr eaLnBrk="1" hangingPunct="1">
              <a:buFontTx/>
              <a:buNone/>
            </a:pPr>
            <a:r>
              <a:rPr lang="en-US" altLang="zh-CN" sz="2800"/>
              <a:t>   </a:t>
            </a:r>
            <a:r>
              <a:rPr lang="zh-CN" altLang="en-US" sz="2800"/>
              <a:t>（</a:t>
            </a:r>
            <a:r>
              <a:rPr lang="en-US" altLang="zh-CN" sz="2800"/>
              <a:t>3</a:t>
            </a:r>
            <a:r>
              <a:rPr lang="zh-CN" altLang="en-US" sz="2800"/>
              <a:t>） </a:t>
            </a:r>
            <a:r>
              <a:rPr lang="en-US" altLang="zh-CN" sz="2800" i="1"/>
              <a:t>S</a:t>
            </a:r>
            <a:r>
              <a:rPr lang="en-US" altLang="zh-CN" sz="2800" i="1" baseline="-25000"/>
              <a:t>Q</a:t>
            </a:r>
            <a:r>
              <a:rPr lang="zh-CN" altLang="en-US" sz="2800"/>
              <a:t>与</a:t>
            </a:r>
            <a:r>
              <a:rPr lang="en-US" altLang="zh-CN" sz="2800" i="1"/>
              <a:t>S</a:t>
            </a:r>
            <a:r>
              <a:rPr lang="en-US" altLang="zh-CN" sz="2800" i="1" baseline="-25000"/>
              <a:t>R</a:t>
            </a:r>
            <a:r>
              <a:rPr lang="zh-CN" altLang="en-US" sz="2800">
                <a:ea typeface="楷体_GB2312" pitchFamily="49" charset="-122"/>
              </a:rPr>
              <a:t>独立</a:t>
            </a:r>
            <a:endParaRPr lang="zh-CN" altLang="en-US" sz="2800">
              <a:ea typeface="楷体_GB2312" pitchFamily="49" charset="-122"/>
            </a:endParaRPr>
          </a:p>
        </p:txBody>
      </p:sp>
      <p:sp>
        <p:nvSpPr>
          <p:cNvPr id="35850" name="Rectangle 34"/>
          <p:cNvSpPr>
            <a:spLocks noChangeArrowheads="1"/>
          </p:cNvSpPr>
          <p:nvPr/>
        </p:nvSpPr>
        <p:spPr bwMode="auto">
          <a:xfrm>
            <a:off x="958708" y="366714"/>
            <a:ext cx="7696200" cy="1042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lnSpc>
                <a:spcPct val="120000"/>
              </a:lnSpc>
              <a:spcBef>
                <a:spcPct val="0"/>
              </a:spcBef>
            </a:pPr>
            <a:r>
              <a:rPr lang="en-US" altLang="zh-CN" sz="2800">
                <a:ea typeface="宋体" pitchFamily="2" charset="-122"/>
              </a:rPr>
              <a:t>   </a:t>
            </a:r>
            <a:r>
              <a:rPr lang="zh-CN" altLang="en-US" sz="2400"/>
              <a:t>在一元线性回归中有三种等价的检验方法，下面分别加以介绍。</a:t>
            </a:r>
            <a:endParaRPr lang="zh-CN" altLang="en-US" sz="2400"/>
          </a:p>
        </p:txBody>
      </p:sp>
      <p:sp>
        <p:nvSpPr>
          <p:cNvPr id="897059" name="Text Box 35"/>
          <p:cNvSpPr txBox="1">
            <a:spLocks noChangeArrowheads="1"/>
          </p:cNvSpPr>
          <p:nvPr/>
        </p:nvSpPr>
        <p:spPr bwMode="auto">
          <a:xfrm>
            <a:off x="1174609" y="5300663"/>
            <a:ext cx="28082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r>
              <a:rPr lang="en-US" altLang="zh-CN" sz="2800" b="1">
                <a:latin typeface="楷体_GB2312" pitchFamily="49" charset="-122"/>
                <a:sym typeface="Wingdings" panose="05000000000000000000" pitchFamily="2" charset="2"/>
              </a:rPr>
              <a:t>   </a:t>
            </a:r>
            <a:r>
              <a:rPr lang="zh-CN" altLang="en-US" sz="2800">
                <a:latin typeface="楷体_GB2312" pitchFamily="49" charset="-122"/>
                <a:sym typeface="Wingdings" panose="05000000000000000000" pitchFamily="2" charset="2"/>
              </a:rPr>
              <a:t>则</a:t>
            </a:r>
            <a:r>
              <a:rPr lang="en-US" altLang="zh-CN" sz="2800">
                <a:latin typeface="楷体_GB2312" pitchFamily="49" charset="-122"/>
                <a:sym typeface="Wingdings" panose="05000000000000000000" pitchFamily="2" charset="2"/>
              </a:rPr>
              <a:t>F</a:t>
            </a:r>
            <a:r>
              <a:rPr lang="zh-CN" altLang="en-US" sz="2800">
                <a:latin typeface="楷体_GB2312" pitchFamily="49" charset="-122"/>
                <a:sym typeface="Wingdings" panose="05000000000000000000" pitchFamily="2" charset="2"/>
              </a:rPr>
              <a:t>统计量为</a:t>
            </a:r>
            <a:r>
              <a:rPr lang="en-US" altLang="zh-CN" sz="2800" b="1">
                <a:latin typeface="楷体_GB2312" pitchFamily="49" charset="-122"/>
                <a:sym typeface="Wingdings" panose="05000000000000000000" pitchFamily="2" charset="2"/>
              </a:rPr>
              <a:t>:</a:t>
            </a:r>
            <a:endParaRPr lang="en-US" altLang="zh-CN" sz="2800" b="1">
              <a:latin typeface="楷体_GB2312" pitchFamily="49" charset="-122"/>
              <a:sym typeface="Wingdings" panose="05000000000000000000" pitchFamily="2" charset="2"/>
            </a:endParaRPr>
          </a:p>
        </p:txBody>
      </p:sp>
      <p:graphicFrame>
        <p:nvGraphicFramePr>
          <p:cNvPr id="897060" name="Object 36"/>
          <p:cNvGraphicFramePr>
            <a:graphicFrameLocks noChangeAspect="1"/>
          </p:cNvGraphicFramePr>
          <p:nvPr/>
        </p:nvGraphicFramePr>
        <p:xfrm>
          <a:off x="3911458" y="5229225"/>
          <a:ext cx="3529012" cy="825500"/>
        </p:xfrm>
        <a:graphic>
          <a:graphicData uri="http://schemas.openxmlformats.org/presentationml/2006/ole">
            <mc:AlternateContent xmlns:mc="http://schemas.openxmlformats.org/markup-compatibility/2006">
              <mc:Choice xmlns:v="urn:schemas-microsoft-com:vml" Requires="v">
                <p:oleObj spid="_x0000_s25601" name="公式" r:id="rId2" imgW="2065655" imgH="508000" progId="Equation.3">
                  <p:embed/>
                </p:oleObj>
              </mc:Choice>
              <mc:Fallback>
                <p:oleObj name="公式" r:id="rId2" imgW="2065655" imgH="508000" progId="Equation.3">
                  <p:embed/>
                  <p:pic>
                    <p:nvPicPr>
                      <p:cNvPr id="0" name="Object 3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11458" y="5229225"/>
                        <a:ext cx="3529012"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6" name="组合 5"/>
          <p:cNvGrpSpPr/>
          <p:nvPr/>
        </p:nvGrpSpPr>
        <p:grpSpPr>
          <a:xfrm>
            <a:off x="6425685" y="1063446"/>
            <a:ext cx="4734581" cy="2838630"/>
            <a:chOff x="6247394" y="1063446"/>
            <a:chExt cx="4734581" cy="2838630"/>
          </a:xfrm>
        </p:grpSpPr>
        <p:pic>
          <p:nvPicPr>
            <p:cNvPr id="4" name="图片 3"/>
            <p:cNvPicPr>
              <a:picLocks noChangeAspect="1"/>
            </p:cNvPicPr>
            <p:nvPr/>
          </p:nvPicPr>
          <p:blipFill>
            <a:blip r:embed="rId4"/>
            <a:stretch>
              <a:fillRect/>
            </a:stretch>
          </p:blipFill>
          <p:spPr>
            <a:xfrm>
              <a:off x="6263338" y="1063446"/>
              <a:ext cx="4367213" cy="819150"/>
            </a:xfrm>
            <a:prstGeom prst="rect">
              <a:avLst/>
            </a:prstGeom>
          </p:spPr>
        </p:pic>
        <p:graphicFrame>
          <p:nvGraphicFramePr>
            <p:cNvPr id="2" name="Object 7"/>
            <p:cNvGraphicFramePr>
              <a:graphicFrameLocks noChangeAspect="1"/>
            </p:cNvGraphicFramePr>
            <p:nvPr/>
          </p:nvGraphicFramePr>
          <p:xfrm>
            <a:off x="6254688" y="1882638"/>
            <a:ext cx="4367214" cy="962627"/>
          </p:xfrm>
          <a:graphic>
            <a:graphicData uri="http://schemas.openxmlformats.org/presentationml/2006/ole">
              <mc:AlternateContent xmlns:mc="http://schemas.openxmlformats.org/markup-compatibility/2006">
                <mc:Choice xmlns:v="urn:schemas-microsoft-com:vml" Requires="v">
                  <p:oleObj spid="_x0000_s3" name="公式" r:id="rId5" imgW="1648460" imgH="372745" progId="Equation.3">
                    <p:embed/>
                  </p:oleObj>
                </mc:Choice>
                <mc:Fallback>
                  <p:oleObj name="公式" r:id="rId5" imgW="1648460" imgH="372745"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54688" y="1882638"/>
                          <a:ext cx="4367214" cy="962627"/>
                        </a:xfrm>
                        <a:prstGeom prst="rect">
                          <a:avLst/>
                        </a:prstGeom>
                        <a:noFill/>
                        <a:ln>
                          <a:noFill/>
                        </a:ln>
                      </p:spPr>
                    </p:pic>
                  </p:oleObj>
                </mc:Fallback>
              </mc:AlternateContent>
            </a:graphicData>
          </a:graphic>
        </p:graphicFrame>
        <p:graphicFrame>
          <p:nvGraphicFramePr>
            <p:cNvPr id="5" name="Object 11"/>
            <p:cNvGraphicFramePr>
              <a:graphicFrameLocks noChangeAspect="1"/>
            </p:cNvGraphicFramePr>
            <p:nvPr/>
          </p:nvGraphicFramePr>
          <p:xfrm>
            <a:off x="6247394" y="2731807"/>
            <a:ext cx="4727287" cy="1155141"/>
          </p:xfrm>
          <a:graphic>
            <a:graphicData uri="http://schemas.openxmlformats.org/presentationml/2006/ole">
              <mc:AlternateContent xmlns:mc="http://schemas.openxmlformats.org/markup-compatibility/2006">
                <mc:Choice xmlns:v="urn:schemas-microsoft-com:vml" Requires="v">
                  <p:oleObj spid="_x0000_s7" name="公式" r:id="rId7" imgW="1885315" imgH="440055" progId="Equation.3">
                    <p:embed/>
                  </p:oleObj>
                </mc:Choice>
                <mc:Fallback>
                  <p:oleObj name="公式" r:id="rId7" imgW="1885315" imgH="440055" progId="Equation.3">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247394" y="2731807"/>
                          <a:ext cx="4727287" cy="1155141"/>
                        </a:xfrm>
                        <a:prstGeom prst="rect">
                          <a:avLst/>
                        </a:prstGeom>
                        <a:noFill/>
                        <a:ln>
                          <a:noFill/>
                        </a:ln>
                      </p:spPr>
                    </p:pic>
                  </p:oleObj>
                </mc:Fallback>
              </mc:AlternateContent>
            </a:graphicData>
          </a:graphic>
        </p:graphicFrame>
        <p:sp>
          <p:nvSpPr>
            <p:cNvPr id="8" name="矩形 7"/>
            <p:cNvSpPr/>
            <p:nvPr/>
          </p:nvSpPr>
          <p:spPr>
            <a:xfrm>
              <a:off x="6254688" y="1063446"/>
              <a:ext cx="4727287" cy="283863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97042"/>
                                        </p:tgtEl>
                                        <p:attrNameLst>
                                          <p:attrName>style.visibility</p:attrName>
                                        </p:attrNameLst>
                                      </p:cBhvr>
                                      <p:to>
                                        <p:strVal val="visible"/>
                                      </p:to>
                                    </p:set>
                                    <p:animEffect transition="in" filter="wipe(left)">
                                      <p:cBhvr>
                                        <p:cTn id="7" dur="500"/>
                                        <p:tgtEl>
                                          <p:spTgt spid="89704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1" fill="hold" grpId="0" nodeType="clickEffect">
                                  <p:stCondLst>
                                    <p:cond delay="0"/>
                                  </p:stCondLst>
                                  <p:childTnLst>
                                    <p:set>
                                      <p:cBhvr>
                                        <p:cTn id="11" dur="1" fill="hold">
                                          <p:stCondLst>
                                            <p:cond delay="0"/>
                                          </p:stCondLst>
                                        </p:cTn>
                                        <p:tgtEl>
                                          <p:spTgt spid="897052"/>
                                        </p:tgtEl>
                                        <p:attrNameLst>
                                          <p:attrName>style.visibility</p:attrName>
                                        </p:attrNameLst>
                                      </p:cBhvr>
                                      <p:to>
                                        <p:strVal val="visible"/>
                                      </p:to>
                                    </p:set>
                                    <p:anim calcmode="lin" valueType="num">
                                      <p:cBhvr additive="base">
                                        <p:cTn id="12" dur="500" fill="hold"/>
                                        <p:tgtEl>
                                          <p:spTgt spid="897052"/>
                                        </p:tgtEl>
                                        <p:attrNameLst>
                                          <p:attrName>ppt_x</p:attrName>
                                        </p:attrNameLst>
                                      </p:cBhvr>
                                      <p:tavLst>
                                        <p:tav tm="0">
                                          <p:val>
                                            <p:strVal val="#ppt_x"/>
                                          </p:val>
                                        </p:tav>
                                        <p:tav tm="100000">
                                          <p:val>
                                            <p:strVal val="#ppt_x"/>
                                          </p:val>
                                        </p:tav>
                                      </p:tavLst>
                                    </p:anim>
                                    <p:anim calcmode="lin" valueType="num">
                                      <p:cBhvr additive="base">
                                        <p:cTn id="13" dur="500" fill="hold"/>
                                        <p:tgtEl>
                                          <p:spTgt spid="897052"/>
                                        </p:tgtEl>
                                        <p:attrNameLst>
                                          <p:attrName>ppt_y</p:attrName>
                                        </p:attrNameLst>
                                      </p:cBhvr>
                                      <p:tavLst>
                                        <p:tav tm="0">
                                          <p:val>
                                            <p:strVal val="0-#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897053"/>
                                        </p:tgtEl>
                                        <p:attrNameLst>
                                          <p:attrName>style.visibility</p:attrName>
                                        </p:attrNameLst>
                                      </p:cBhvr>
                                      <p:to>
                                        <p:strVal val="visible"/>
                                      </p:to>
                                    </p:set>
                                    <p:animEffect transition="in" filter="box(out)">
                                      <p:cBhvr>
                                        <p:cTn id="18" dur="500"/>
                                        <p:tgtEl>
                                          <p:spTgt spid="897053"/>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897059"/>
                                        </p:tgtEl>
                                        <p:attrNameLst>
                                          <p:attrName>style.visibility</p:attrName>
                                        </p:attrNameLst>
                                      </p:cBhvr>
                                      <p:to>
                                        <p:strVal val="visible"/>
                                      </p:to>
                                    </p:set>
                                    <p:animEffect transition="in" filter="checkerboard(across)">
                                      <p:cBhvr>
                                        <p:cTn id="27" dur="500"/>
                                        <p:tgtEl>
                                          <p:spTgt spid="89705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897060"/>
                                        </p:tgtEl>
                                        <p:attrNameLst>
                                          <p:attrName>style.visibility</p:attrName>
                                        </p:attrNameLst>
                                      </p:cBhvr>
                                      <p:to>
                                        <p:strVal val="visible"/>
                                      </p:to>
                                    </p:set>
                                    <p:animEffect transition="in" filter="wipe(left)">
                                      <p:cBhvr>
                                        <p:cTn id="32" dur="500"/>
                                        <p:tgtEl>
                                          <p:spTgt spid="8970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7042" grpId="0"/>
      <p:bldP spid="897052" grpId="0" autoUpdateAnimBg="0"/>
      <p:bldP spid="897053" grpId="0" autoUpdateAnimBg="0"/>
      <p:bldP spid="897059"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AutoShape 2">
            <a:hlinkClick r:id="" action="ppaction://hlinkshowjump?jump=previousslide" highlightClick="1"/>
          </p:cNvPr>
          <p:cNvSpPr>
            <a:spLocks noChangeArrowheads="1"/>
          </p:cNvSpPr>
          <p:nvPr/>
        </p:nvSpPr>
        <p:spPr bwMode="auto">
          <a:xfrm>
            <a:off x="9120189" y="6524625"/>
            <a:ext cx="287337" cy="215900"/>
          </a:xfrm>
          <a:prstGeom prst="actionButtonBackPrevious">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37891" name="AutoShape 3">
            <a:hlinkClick r:id="" action="ppaction://hlinkshowjump?jump=nextslide" highlightClick="1"/>
          </p:cNvPr>
          <p:cNvSpPr>
            <a:spLocks noChangeArrowheads="1"/>
          </p:cNvSpPr>
          <p:nvPr/>
        </p:nvSpPr>
        <p:spPr bwMode="auto">
          <a:xfrm>
            <a:off x="9407525" y="6524625"/>
            <a:ext cx="285750" cy="215900"/>
          </a:xfrm>
          <a:prstGeom prst="actionButtonForwardNex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37892" name="AutoShape 4">
            <a:hlinkClick r:id="" action="ppaction://hlinkshowjump?jump=firstslide" highlightClick="1"/>
          </p:cNvPr>
          <p:cNvSpPr>
            <a:spLocks noChangeArrowheads="1"/>
          </p:cNvSpPr>
          <p:nvPr/>
        </p:nvSpPr>
        <p:spPr bwMode="auto">
          <a:xfrm>
            <a:off x="9694864" y="6524625"/>
            <a:ext cx="287337" cy="215900"/>
          </a:xfrm>
          <a:prstGeom prst="actionButtonBeginning">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37893" name="AutoShape 5">
            <a:hlinkClick r:id="" action="ppaction://hlinkshowjump?jump=endshow" highlightClick="1"/>
          </p:cNvPr>
          <p:cNvSpPr>
            <a:spLocks noChangeArrowheads="1"/>
          </p:cNvSpPr>
          <p:nvPr/>
        </p:nvSpPr>
        <p:spPr bwMode="auto">
          <a:xfrm>
            <a:off x="9983789" y="6524625"/>
            <a:ext cx="287337" cy="215900"/>
          </a:xfrm>
          <a:prstGeom prst="actionButtonEnd">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37894" name="AutoShape 6">
            <a:hlinkClick r:id="rId1" action="ppaction://hlinksldjump" highlightClick="1"/>
          </p:cNvPr>
          <p:cNvSpPr>
            <a:spLocks noChangeArrowheads="1"/>
          </p:cNvSpPr>
          <p:nvPr/>
        </p:nvSpPr>
        <p:spPr bwMode="auto">
          <a:xfrm>
            <a:off x="10272714" y="6524625"/>
            <a:ext cx="288925" cy="215900"/>
          </a:xfrm>
          <a:prstGeom prst="actionButtonReturn">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37895" name="Text Box 12"/>
          <p:cNvSpPr txBox="1">
            <a:spLocks noChangeArrowheads="1"/>
          </p:cNvSpPr>
          <p:nvPr/>
        </p:nvSpPr>
        <p:spPr bwMode="auto">
          <a:xfrm>
            <a:off x="2135189" y="836613"/>
            <a:ext cx="49990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r>
              <a:rPr lang="en-US" altLang="zh-CN" sz="2800">
                <a:latin typeface="楷体_GB2312" pitchFamily="49" charset="-122"/>
              </a:rPr>
              <a:t>(1)</a:t>
            </a:r>
            <a:r>
              <a:rPr lang="zh-CN" altLang="en-US" sz="2800">
                <a:latin typeface="楷体_GB2312" pitchFamily="49" charset="-122"/>
              </a:rPr>
              <a:t>提出原假设和备择假设</a:t>
            </a:r>
            <a:r>
              <a:rPr lang="en-US" altLang="zh-CN" sz="2800">
                <a:latin typeface="楷体_GB2312" pitchFamily="49" charset="-122"/>
              </a:rPr>
              <a:t>:</a:t>
            </a:r>
            <a:endParaRPr lang="en-US" altLang="zh-CN" sz="2800">
              <a:latin typeface="楷体_GB2312" pitchFamily="49" charset="-122"/>
            </a:endParaRPr>
          </a:p>
        </p:txBody>
      </p:sp>
      <p:sp>
        <p:nvSpPr>
          <p:cNvPr id="37896" name="Rectangle 13"/>
          <p:cNvSpPr>
            <a:spLocks noChangeArrowheads="1"/>
          </p:cNvSpPr>
          <p:nvPr/>
        </p:nvSpPr>
        <p:spPr bwMode="auto">
          <a:xfrm>
            <a:off x="6456364" y="785813"/>
            <a:ext cx="32908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r>
              <a:rPr lang="en-US" altLang="zh-CN" sz="2800"/>
              <a:t>H</a:t>
            </a:r>
            <a:r>
              <a:rPr lang="en-US" altLang="zh-CN" sz="2800" baseline="-25000"/>
              <a:t>0</a:t>
            </a:r>
            <a:r>
              <a:rPr lang="zh-CN" altLang="en-US" sz="2800"/>
              <a:t>：</a:t>
            </a:r>
            <a:r>
              <a:rPr lang="en-US" altLang="zh-CN" sz="2800" i="1"/>
              <a:t>b</a:t>
            </a:r>
            <a:r>
              <a:rPr lang="en-US" altLang="zh-CN" sz="2800"/>
              <a:t>=0</a:t>
            </a:r>
            <a:r>
              <a:rPr lang="zh-CN" altLang="en-US" sz="2800"/>
              <a:t>， </a:t>
            </a:r>
            <a:r>
              <a:rPr lang="en-US" altLang="zh-CN" sz="2800"/>
              <a:t>H</a:t>
            </a:r>
            <a:r>
              <a:rPr lang="en-US" altLang="zh-CN" sz="2800" baseline="-25000"/>
              <a:t>1</a:t>
            </a:r>
            <a:r>
              <a:rPr lang="zh-CN" altLang="en-US" sz="2800"/>
              <a:t>： </a:t>
            </a:r>
            <a:r>
              <a:rPr lang="en-US" altLang="zh-CN" sz="2800" i="1">
                <a:sym typeface="Symbol" panose="05050102010706020507" pitchFamily="18" charset="2"/>
              </a:rPr>
              <a:t>b</a:t>
            </a:r>
            <a:r>
              <a:rPr lang="en-US" altLang="zh-CN" sz="2800">
                <a:sym typeface="Symbol" panose="05050102010706020507" pitchFamily="18" charset="2"/>
              </a:rPr>
              <a:t>0</a:t>
            </a:r>
            <a:endParaRPr lang="en-US" altLang="zh-CN" sz="2800">
              <a:sym typeface="Symbol" panose="05050102010706020507" pitchFamily="18" charset="2"/>
            </a:endParaRPr>
          </a:p>
        </p:txBody>
      </p:sp>
      <p:sp>
        <p:nvSpPr>
          <p:cNvPr id="921614" name="Text Box 14"/>
          <p:cNvSpPr txBox="1">
            <a:spLocks noChangeArrowheads="1"/>
          </p:cNvSpPr>
          <p:nvPr/>
        </p:nvSpPr>
        <p:spPr bwMode="auto">
          <a:xfrm>
            <a:off x="1992313" y="1628776"/>
            <a:ext cx="5562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r>
              <a:rPr lang="en-US" altLang="zh-CN" sz="2800" b="1">
                <a:ea typeface="宋体" pitchFamily="2" charset="-122"/>
                <a:sym typeface="Wingdings" panose="05000000000000000000" pitchFamily="2" charset="2"/>
              </a:rPr>
              <a:t>   </a:t>
            </a:r>
            <a:r>
              <a:rPr lang="en-US" altLang="zh-CN" sz="2800">
                <a:latin typeface="楷体_GB2312" pitchFamily="49" charset="-122"/>
                <a:sym typeface="Wingdings" panose="05000000000000000000" pitchFamily="2" charset="2"/>
              </a:rPr>
              <a:t>(2)</a:t>
            </a:r>
            <a:r>
              <a:rPr lang="zh-CN" altLang="en-US" sz="2800">
                <a:latin typeface="楷体_GB2312" pitchFamily="49" charset="-122"/>
                <a:sym typeface="Wingdings" panose="05000000000000000000" pitchFamily="2" charset="2"/>
              </a:rPr>
              <a:t>选择统计量</a:t>
            </a:r>
            <a:r>
              <a:rPr lang="en-US" altLang="zh-CN" sz="2800" b="1">
                <a:latin typeface="楷体_GB2312" pitchFamily="49" charset="-122"/>
                <a:sym typeface="Wingdings" panose="05000000000000000000" pitchFamily="2" charset="2"/>
              </a:rPr>
              <a:t>:</a:t>
            </a:r>
            <a:endParaRPr lang="en-US" altLang="zh-CN" sz="2800" b="1">
              <a:latin typeface="楷体_GB2312" pitchFamily="49" charset="-122"/>
              <a:sym typeface="Wingdings" panose="05000000000000000000" pitchFamily="2" charset="2"/>
            </a:endParaRPr>
          </a:p>
        </p:txBody>
      </p:sp>
      <p:graphicFrame>
        <p:nvGraphicFramePr>
          <p:cNvPr id="921616" name="Object 16"/>
          <p:cNvGraphicFramePr>
            <a:graphicFrameLocks noChangeAspect="1"/>
          </p:cNvGraphicFramePr>
          <p:nvPr/>
        </p:nvGraphicFramePr>
        <p:xfrm>
          <a:off x="4727576" y="1484313"/>
          <a:ext cx="4441825" cy="984250"/>
        </p:xfrm>
        <a:graphic>
          <a:graphicData uri="http://schemas.openxmlformats.org/presentationml/2006/ole">
            <mc:AlternateContent xmlns:mc="http://schemas.openxmlformats.org/markup-compatibility/2006">
              <mc:Choice xmlns:v="urn:schemas-microsoft-com:vml" Requires="v">
                <p:oleObj spid="_x0000_s25601" name="公式" r:id="rId2" imgW="2280285" imgH="519430" progId="Equation.3">
                  <p:embed/>
                </p:oleObj>
              </mc:Choice>
              <mc:Fallback>
                <p:oleObj name="公式" r:id="rId2" imgW="2280285" imgH="519430" progId="Equation.3">
                  <p:embed/>
                  <p:pic>
                    <p:nvPicPr>
                      <p:cNvPr id="0" name="Object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7576" y="1484313"/>
                        <a:ext cx="4441825" cy="98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21617" name="Rectangle 17"/>
          <p:cNvSpPr>
            <a:spLocks noChangeArrowheads="1"/>
          </p:cNvSpPr>
          <p:nvPr/>
        </p:nvSpPr>
        <p:spPr bwMode="auto">
          <a:xfrm>
            <a:off x="2279650" y="2850684"/>
            <a:ext cx="455124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en-US" altLang="zh-CN" sz="2800">
                <a:latin typeface="楷体_GB2312" pitchFamily="49" charset="-122"/>
              </a:rPr>
              <a:t>(3)</a:t>
            </a:r>
            <a:r>
              <a:rPr lang="zh-CN" altLang="en-US" sz="2800">
                <a:latin typeface="楷体_GB2312" pitchFamily="49" charset="-122"/>
              </a:rPr>
              <a:t>给定的显著性水平</a:t>
            </a:r>
            <a:r>
              <a:rPr lang="el-GR" altLang="zh-CN" sz="2800" i="1">
                <a:latin typeface="楷体_GB2312" pitchFamily="49" charset="-122"/>
                <a:cs typeface="Times New Roman" panose="02020503050405090304" pitchFamily="18" charset="0"/>
              </a:rPr>
              <a:t>α</a:t>
            </a:r>
            <a:r>
              <a:rPr lang="en-US" altLang="zh-CN" sz="2800">
                <a:latin typeface="楷体_GB2312" pitchFamily="49" charset="-122"/>
              </a:rPr>
              <a:t>,</a:t>
            </a:r>
            <a:r>
              <a:rPr lang="zh-CN" altLang="en-US" sz="2800">
                <a:latin typeface="楷体_GB2312" pitchFamily="49" charset="-122"/>
              </a:rPr>
              <a:t>使得</a:t>
            </a:r>
            <a:endParaRPr lang="zh-CN" altLang="en-US" sz="2800">
              <a:latin typeface="楷体_GB2312" pitchFamily="49" charset="-122"/>
            </a:endParaRPr>
          </a:p>
        </p:txBody>
      </p:sp>
      <p:graphicFrame>
        <p:nvGraphicFramePr>
          <p:cNvPr id="921618" name="Object 18"/>
          <p:cNvGraphicFramePr>
            <a:graphicFrameLocks noGrp="1" noChangeAspect="1"/>
          </p:cNvGraphicFramePr>
          <p:nvPr>
            <p:ph/>
          </p:nvPr>
        </p:nvGraphicFramePr>
        <p:xfrm>
          <a:off x="3359150" y="3405188"/>
          <a:ext cx="3240088" cy="563562"/>
        </p:xfrm>
        <a:graphic>
          <a:graphicData uri="http://schemas.openxmlformats.org/presentationml/2006/ole">
            <mc:AlternateContent xmlns:mc="http://schemas.openxmlformats.org/markup-compatibility/2006">
              <mc:Choice xmlns:v="urn:schemas-microsoft-com:vml" Requires="v">
                <p:oleObj spid="_x0000_s2" name="Equation" r:id="rId4" imgW="35052000" imgH="6096000" progId="Equation.DSMT4">
                  <p:embed/>
                </p:oleObj>
              </mc:Choice>
              <mc:Fallback>
                <p:oleObj name="Equation" r:id="rId4" imgW="35052000" imgH="6096000" progId="Equation.DSMT4">
                  <p:embed/>
                  <p:pic>
                    <p:nvPicPr>
                      <p:cNvPr id="0" name="Object 18"/>
                      <p:cNvPicPr>
                        <a:picLocks noChangeAspect="1" noChangeArrowheads="1"/>
                      </p:cNvPicPr>
                      <p:nvPr/>
                    </p:nvPicPr>
                    <p:blipFill>
                      <a:blip r:embed="rId5"/>
                      <a:srcRect/>
                      <a:stretch>
                        <a:fillRect/>
                      </a:stretch>
                    </p:blipFill>
                    <p:spPr bwMode="auto">
                      <a:xfrm>
                        <a:off x="3359150" y="3405188"/>
                        <a:ext cx="3240088" cy="563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1620" name="Rectangle 20"/>
          <p:cNvSpPr>
            <a:spLocks noChangeArrowheads="1"/>
          </p:cNvSpPr>
          <p:nvPr/>
        </p:nvSpPr>
        <p:spPr bwMode="auto">
          <a:xfrm>
            <a:off x="2424113" y="4179888"/>
            <a:ext cx="1403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zh-CN" altLang="en-US" sz="2400"/>
              <a:t>得拒绝域</a:t>
            </a:r>
            <a:endParaRPr lang="zh-CN" altLang="en-US" sz="2400"/>
          </a:p>
        </p:txBody>
      </p:sp>
      <p:graphicFrame>
        <p:nvGraphicFramePr>
          <p:cNvPr id="921624" name="Object 24"/>
          <p:cNvGraphicFramePr>
            <a:graphicFrameLocks noChangeAspect="1"/>
          </p:cNvGraphicFramePr>
          <p:nvPr/>
        </p:nvGraphicFramePr>
        <p:xfrm>
          <a:off x="3943784" y="4168776"/>
          <a:ext cx="3777398" cy="552450"/>
        </p:xfrm>
        <a:graphic>
          <a:graphicData uri="http://schemas.openxmlformats.org/presentationml/2006/ole">
            <mc:AlternateContent xmlns:mc="http://schemas.openxmlformats.org/markup-compatibility/2006">
              <mc:Choice xmlns:v="urn:schemas-microsoft-com:vml" Requires="v">
                <p:oleObj spid="_x0000_s3" name="公式" r:id="rId6" imgW="1828800" imgH="248285" progId="Equation.3">
                  <p:embed/>
                </p:oleObj>
              </mc:Choice>
              <mc:Fallback>
                <p:oleObj name="公式" r:id="rId6" imgW="1828800" imgH="248285" progId="Equation.3">
                  <p:embed/>
                  <p:pic>
                    <p:nvPicPr>
                      <p:cNvPr id="0" name="Object 2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43784" y="4168776"/>
                        <a:ext cx="3777398" cy="552450"/>
                      </a:xfrm>
                      <a:prstGeom prst="rect">
                        <a:avLst/>
                      </a:prstGeom>
                      <a:noFill/>
                      <a:ln>
                        <a:noFill/>
                      </a:ln>
                      <a:effectLst/>
                    </p:spPr>
                  </p:pic>
                </p:oleObj>
              </mc:Fallback>
            </mc:AlternateContent>
          </a:graphicData>
        </a:graphic>
      </p:graphicFrame>
      <p:sp>
        <p:nvSpPr>
          <p:cNvPr id="921626" name="Rectangle 26"/>
          <p:cNvSpPr>
            <a:spLocks noChangeArrowheads="1"/>
          </p:cNvSpPr>
          <p:nvPr/>
        </p:nvSpPr>
        <p:spPr bwMode="auto">
          <a:xfrm>
            <a:off x="2432051" y="4926013"/>
            <a:ext cx="41687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en-US" altLang="zh-CN" sz="2800" dirty="0">
                <a:latin typeface="楷体_GB2312" pitchFamily="49" charset="-122"/>
              </a:rPr>
              <a:t>(4)</a:t>
            </a:r>
            <a:r>
              <a:rPr lang="zh-CN" altLang="en-US" sz="2800" dirty="0">
                <a:latin typeface="楷体_GB2312" pitchFamily="49" charset="-122"/>
              </a:rPr>
              <a:t>计算</a:t>
            </a:r>
            <a:r>
              <a:rPr lang="en-US" altLang="zh-CN" sz="2800" i="1" dirty="0">
                <a:latin typeface="楷体_GB2312" pitchFamily="49" charset="-122"/>
              </a:rPr>
              <a:t>F</a:t>
            </a:r>
            <a:r>
              <a:rPr lang="en-US" altLang="zh-CN" sz="2800" baseline="-25000" dirty="0">
                <a:latin typeface="楷体_GB2312" pitchFamily="49" charset="-122"/>
              </a:rPr>
              <a:t>0</a:t>
            </a:r>
            <a:r>
              <a:rPr lang="en-US" altLang="zh-CN" sz="2800" dirty="0">
                <a:latin typeface="楷体_GB2312" pitchFamily="49" charset="-122"/>
              </a:rPr>
              <a:t>,</a:t>
            </a:r>
            <a:r>
              <a:rPr lang="zh-CN" altLang="en-US" sz="2800" dirty="0">
                <a:latin typeface="楷体_GB2312" pitchFamily="49" charset="-122"/>
              </a:rPr>
              <a:t>并作出判断</a:t>
            </a:r>
            <a:r>
              <a:rPr lang="en-US" altLang="zh-CN" sz="2800" dirty="0">
                <a:latin typeface="楷体_GB2312" pitchFamily="49" charset="-122"/>
              </a:rPr>
              <a:t>.</a:t>
            </a:r>
            <a:endParaRPr lang="en-US" altLang="zh-CN" sz="2800" dirty="0">
              <a:latin typeface="楷体_GB2312" pitchFamily="49" charset="-122"/>
            </a:endParaRPr>
          </a:p>
        </p:txBody>
      </p:sp>
      <p:sp>
        <p:nvSpPr>
          <p:cNvPr id="37904" name="Text Box 27"/>
          <p:cNvSpPr txBox="1">
            <a:spLocks noChangeArrowheads="1"/>
          </p:cNvSpPr>
          <p:nvPr/>
        </p:nvSpPr>
        <p:spPr bwMode="auto">
          <a:xfrm>
            <a:off x="2279651" y="188914"/>
            <a:ext cx="230346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r>
              <a:rPr lang="zh-CN" altLang="en-US" sz="3200">
                <a:solidFill>
                  <a:srgbClr val="009900"/>
                </a:solidFill>
              </a:rPr>
              <a:t>检验的步骤：</a:t>
            </a:r>
            <a:endParaRPr lang="zh-CN" altLang="en-US" sz="3200">
              <a:solidFill>
                <a:srgbClr val="0099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921614"/>
                                        </p:tgtEl>
                                        <p:attrNameLst>
                                          <p:attrName>style.visibility</p:attrName>
                                        </p:attrNameLst>
                                      </p:cBhvr>
                                      <p:to>
                                        <p:strVal val="visible"/>
                                      </p:to>
                                    </p:set>
                                    <p:animEffect transition="in" filter="checkerboard(across)">
                                      <p:cBhvr>
                                        <p:cTn id="7" dur="500"/>
                                        <p:tgtEl>
                                          <p:spTgt spid="9216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21616"/>
                                        </p:tgtEl>
                                        <p:attrNameLst>
                                          <p:attrName>style.visibility</p:attrName>
                                        </p:attrNameLst>
                                      </p:cBhvr>
                                      <p:to>
                                        <p:strVal val="visible"/>
                                      </p:to>
                                    </p:set>
                                    <p:animEffect transition="in" filter="wipe(left)">
                                      <p:cBhvr>
                                        <p:cTn id="12" dur="500"/>
                                        <p:tgtEl>
                                          <p:spTgt spid="9216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21617"/>
                                        </p:tgtEl>
                                        <p:attrNameLst>
                                          <p:attrName>style.visibility</p:attrName>
                                        </p:attrNameLst>
                                      </p:cBhvr>
                                      <p:to>
                                        <p:strVal val="visible"/>
                                      </p:to>
                                    </p:set>
                                    <p:animEffect transition="in" filter="wipe(left)">
                                      <p:cBhvr>
                                        <p:cTn id="17" dur="500"/>
                                        <p:tgtEl>
                                          <p:spTgt spid="921617"/>
                                        </p:tgtEl>
                                      </p:cBhvr>
                                    </p:animEffect>
                                  </p:childTnLst>
                                </p:cTn>
                              </p:par>
                            </p:childTnLst>
                          </p:cTn>
                        </p:par>
                      </p:childTnLst>
                    </p:cTn>
                  </p:par>
                  <p:par>
                    <p:cTn id="18" fill="hold">
                      <p:stCondLst>
                        <p:cond delay="indefinite"/>
                      </p:stCondLst>
                      <p:childTnLst>
                        <p:par>
                          <p:cTn id="19" fill="hold">
                            <p:stCondLst>
                              <p:cond delay="0"/>
                            </p:stCondLst>
                            <p:childTnLst>
                              <p:par>
                                <p:cTn id="20" presetID="15" presetClass="entr" presetSubtype="0" fill="hold" nodeType="clickEffect">
                                  <p:stCondLst>
                                    <p:cond delay="0"/>
                                  </p:stCondLst>
                                  <p:childTnLst>
                                    <p:set>
                                      <p:cBhvr>
                                        <p:cTn id="21" dur="1" fill="hold">
                                          <p:stCondLst>
                                            <p:cond delay="0"/>
                                          </p:stCondLst>
                                        </p:cTn>
                                        <p:tgtEl>
                                          <p:spTgt spid="921618"/>
                                        </p:tgtEl>
                                        <p:attrNameLst>
                                          <p:attrName>style.visibility</p:attrName>
                                        </p:attrNameLst>
                                      </p:cBhvr>
                                      <p:to>
                                        <p:strVal val="visible"/>
                                      </p:to>
                                    </p:set>
                                    <p:anim calcmode="lin" valueType="num">
                                      <p:cBhvr>
                                        <p:cTn id="22" dur="1000" fill="hold"/>
                                        <p:tgtEl>
                                          <p:spTgt spid="921618"/>
                                        </p:tgtEl>
                                        <p:attrNameLst>
                                          <p:attrName>ppt_w</p:attrName>
                                        </p:attrNameLst>
                                      </p:cBhvr>
                                      <p:tavLst>
                                        <p:tav tm="0">
                                          <p:val>
                                            <p:fltVal val="0"/>
                                          </p:val>
                                        </p:tav>
                                        <p:tav tm="100000">
                                          <p:val>
                                            <p:strVal val="#ppt_w"/>
                                          </p:val>
                                        </p:tav>
                                      </p:tavLst>
                                    </p:anim>
                                    <p:anim calcmode="lin" valueType="num">
                                      <p:cBhvr>
                                        <p:cTn id="23" dur="1000" fill="hold"/>
                                        <p:tgtEl>
                                          <p:spTgt spid="921618"/>
                                        </p:tgtEl>
                                        <p:attrNameLst>
                                          <p:attrName>ppt_h</p:attrName>
                                        </p:attrNameLst>
                                      </p:cBhvr>
                                      <p:tavLst>
                                        <p:tav tm="0">
                                          <p:val>
                                            <p:fltVal val="0"/>
                                          </p:val>
                                        </p:tav>
                                        <p:tav tm="100000">
                                          <p:val>
                                            <p:strVal val="#ppt_h"/>
                                          </p:val>
                                        </p:tav>
                                      </p:tavLst>
                                    </p:anim>
                                    <p:anim calcmode="lin" valueType="num">
                                      <p:cBhvr>
                                        <p:cTn id="24" dur="1000" fill="hold"/>
                                        <p:tgtEl>
                                          <p:spTgt spid="921618"/>
                                        </p:tgtEl>
                                        <p:attrNameLst>
                                          <p:attrName>ppt_x</p:attrName>
                                        </p:attrNameLst>
                                      </p:cBhvr>
                                      <p:tavLst>
                                        <p:tav tm="0" fmla="#ppt_x+(cos(-2*pi*(1-$))*-#ppt_x-sin(-2*pi*(1-$))*(1-#ppt_y))*(1-$)">
                                          <p:val>
                                            <p:fltVal val="0"/>
                                          </p:val>
                                        </p:tav>
                                        <p:tav tm="100000">
                                          <p:val>
                                            <p:fltVal val="1"/>
                                          </p:val>
                                        </p:tav>
                                      </p:tavLst>
                                    </p:anim>
                                    <p:anim calcmode="lin" valueType="num">
                                      <p:cBhvr>
                                        <p:cTn id="25" dur="1000" fill="hold"/>
                                        <p:tgtEl>
                                          <p:spTgt spid="921618"/>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921620"/>
                                        </p:tgtEl>
                                        <p:attrNameLst>
                                          <p:attrName>style.visibility</p:attrName>
                                        </p:attrNameLst>
                                      </p:cBhvr>
                                      <p:to>
                                        <p:strVal val="visible"/>
                                      </p:to>
                                    </p:set>
                                    <p:animEffect transition="in" filter="wipe(left)">
                                      <p:cBhvr>
                                        <p:cTn id="30" dur="500"/>
                                        <p:tgtEl>
                                          <p:spTgt spid="921620"/>
                                        </p:tgtEl>
                                      </p:cBhvr>
                                    </p:animEffect>
                                  </p:childTnLst>
                                </p:cTn>
                              </p:par>
                            </p:childTnLst>
                          </p:cTn>
                        </p:par>
                      </p:childTnLst>
                    </p:cTn>
                  </p:par>
                  <p:par>
                    <p:cTn id="31" fill="hold">
                      <p:stCondLst>
                        <p:cond delay="indefinite"/>
                      </p:stCondLst>
                      <p:childTnLst>
                        <p:par>
                          <p:cTn id="32" fill="hold">
                            <p:stCondLst>
                              <p:cond delay="0"/>
                            </p:stCondLst>
                            <p:childTnLst>
                              <p:par>
                                <p:cTn id="33" presetID="15" presetClass="entr" presetSubtype="0" fill="hold" nodeType="clickEffect">
                                  <p:stCondLst>
                                    <p:cond delay="0"/>
                                  </p:stCondLst>
                                  <p:childTnLst>
                                    <p:set>
                                      <p:cBhvr>
                                        <p:cTn id="34" dur="1" fill="hold">
                                          <p:stCondLst>
                                            <p:cond delay="0"/>
                                          </p:stCondLst>
                                        </p:cTn>
                                        <p:tgtEl>
                                          <p:spTgt spid="921624"/>
                                        </p:tgtEl>
                                        <p:attrNameLst>
                                          <p:attrName>style.visibility</p:attrName>
                                        </p:attrNameLst>
                                      </p:cBhvr>
                                      <p:to>
                                        <p:strVal val="visible"/>
                                      </p:to>
                                    </p:set>
                                    <p:anim calcmode="lin" valueType="num">
                                      <p:cBhvr>
                                        <p:cTn id="35" dur="1000" fill="hold"/>
                                        <p:tgtEl>
                                          <p:spTgt spid="921624"/>
                                        </p:tgtEl>
                                        <p:attrNameLst>
                                          <p:attrName>ppt_w</p:attrName>
                                        </p:attrNameLst>
                                      </p:cBhvr>
                                      <p:tavLst>
                                        <p:tav tm="0">
                                          <p:val>
                                            <p:fltVal val="0"/>
                                          </p:val>
                                        </p:tav>
                                        <p:tav tm="100000">
                                          <p:val>
                                            <p:strVal val="#ppt_w"/>
                                          </p:val>
                                        </p:tav>
                                      </p:tavLst>
                                    </p:anim>
                                    <p:anim calcmode="lin" valueType="num">
                                      <p:cBhvr>
                                        <p:cTn id="36" dur="1000" fill="hold"/>
                                        <p:tgtEl>
                                          <p:spTgt spid="921624"/>
                                        </p:tgtEl>
                                        <p:attrNameLst>
                                          <p:attrName>ppt_h</p:attrName>
                                        </p:attrNameLst>
                                      </p:cBhvr>
                                      <p:tavLst>
                                        <p:tav tm="0">
                                          <p:val>
                                            <p:fltVal val="0"/>
                                          </p:val>
                                        </p:tav>
                                        <p:tav tm="100000">
                                          <p:val>
                                            <p:strVal val="#ppt_h"/>
                                          </p:val>
                                        </p:tav>
                                      </p:tavLst>
                                    </p:anim>
                                    <p:anim calcmode="lin" valueType="num">
                                      <p:cBhvr>
                                        <p:cTn id="37" dur="1000" fill="hold"/>
                                        <p:tgtEl>
                                          <p:spTgt spid="921624"/>
                                        </p:tgtEl>
                                        <p:attrNameLst>
                                          <p:attrName>ppt_x</p:attrName>
                                        </p:attrNameLst>
                                      </p:cBhvr>
                                      <p:tavLst>
                                        <p:tav tm="0" fmla="#ppt_x+(cos(-2*pi*(1-$))*-#ppt_x-sin(-2*pi*(1-$))*(1-#ppt_y))*(1-$)">
                                          <p:val>
                                            <p:fltVal val="0"/>
                                          </p:val>
                                        </p:tav>
                                        <p:tav tm="100000">
                                          <p:val>
                                            <p:fltVal val="1"/>
                                          </p:val>
                                        </p:tav>
                                      </p:tavLst>
                                    </p:anim>
                                    <p:anim calcmode="lin" valueType="num">
                                      <p:cBhvr>
                                        <p:cTn id="38" dur="1000" fill="hold"/>
                                        <p:tgtEl>
                                          <p:spTgt spid="92162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921626"/>
                                        </p:tgtEl>
                                        <p:attrNameLst>
                                          <p:attrName>style.visibility</p:attrName>
                                        </p:attrNameLst>
                                      </p:cBhvr>
                                      <p:to>
                                        <p:strVal val="visible"/>
                                      </p:to>
                                    </p:set>
                                    <p:animEffect transition="in" filter="wipe(left)">
                                      <p:cBhvr>
                                        <p:cTn id="43" dur="500"/>
                                        <p:tgtEl>
                                          <p:spTgt spid="9216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14" grpId="0" autoUpdateAnimBg="0"/>
      <p:bldP spid="921617" grpId="0"/>
      <p:bldP spid="921620" grpId="0"/>
      <p:bldP spid="921626"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AutoShape 2">
            <a:hlinkClick r:id="" action="ppaction://hlinkshowjump?jump=previousslide" highlightClick="1"/>
          </p:cNvPr>
          <p:cNvSpPr>
            <a:spLocks noChangeArrowheads="1"/>
          </p:cNvSpPr>
          <p:nvPr/>
        </p:nvSpPr>
        <p:spPr bwMode="auto">
          <a:xfrm>
            <a:off x="9120189" y="6524625"/>
            <a:ext cx="287337" cy="215900"/>
          </a:xfrm>
          <a:prstGeom prst="actionButtonBackPrevious">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38915" name="AutoShape 3">
            <a:hlinkClick r:id="" action="ppaction://hlinkshowjump?jump=nextslide" highlightClick="1"/>
          </p:cNvPr>
          <p:cNvSpPr>
            <a:spLocks noChangeArrowheads="1"/>
          </p:cNvSpPr>
          <p:nvPr/>
        </p:nvSpPr>
        <p:spPr bwMode="auto">
          <a:xfrm>
            <a:off x="9407525" y="6524625"/>
            <a:ext cx="285750" cy="215900"/>
          </a:xfrm>
          <a:prstGeom prst="actionButtonForwardNex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38916" name="AutoShape 4">
            <a:hlinkClick r:id="" action="ppaction://hlinkshowjump?jump=firstslide" highlightClick="1"/>
          </p:cNvPr>
          <p:cNvSpPr>
            <a:spLocks noChangeArrowheads="1"/>
          </p:cNvSpPr>
          <p:nvPr/>
        </p:nvSpPr>
        <p:spPr bwMode="auto">
          <a:xfrm>
            <a:off x="9694864" y="6524625"/>
            <a:ext cx="287337" cy="215900"/>
          </a:xfrm>
          <a:prstGeom prst="actionButtonBeginning">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38917" name="AutoShape 5">
            <a:hlinkClick r:id="" action="ppaction://hlinkshowjump?jump=endshow" highlightClick="1"/>
          </p:cNvPr>
          <p:cNvSpPr>
            <a:spLocks noChangeArrowheads="1"/>
          </p:cNvSpPr>
          <p:nvPr/>
        </p:nvSpPr>
        <p:spPr bwMode="auto">
          <a:xfrm>
            <a:off x="9983789" y="6524625"/>
            <a:ext cx="287337" cy="215900"/>
          </a:xfrm>
          <a:prstGeom prst="actionButtonEnd">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38918" name="AutoShape 6">
            <a:hlinkClick r:id="rId1" action="ppaction://hlinksldjump" highlightClick="1"/>
          </p:cNvPr>
          <p:cNvSpPr>
            <a:spLocks noChangeArrowheads="1"/>
          </p:cNvSpPr>
          <p:nvPr/>
        </p:nvSpPr>
        <p:spPr bwMode="auto">
          <a:xfrm>
            <a:off x="10272714" y="6524625"/>
            <a:ext cx="288925" cy="215900"/>
          </a:xfrm>
          <a:prstGeom prst="actionButtonReturn">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38919" name="Rectangle 7"/>
          <p:cNvSpPr>
            <a:spLocks noGrp="1" noChangeArrowheads="1"/>
          </p:cNvSpPr>
          <p:nvPr>
            <p:ph type="body" sz="half" idx="1"/>
          </p:nvPr>
        </p:nvSpPr>
        <p:spPr>
          <a:xfrm>
            <a:off x="221676" y="383319"/>
            <a:ext cx="5080000" cy="4114800"/>
          </a:xfrm>
          <a:noFill/>
          <a:extLst>
            <a:ext uri="{91240B29-F687-4F45-9708-019B960494DF}">
              <a14:hiddenLine xmlns:a14="http://schemas.microsoft.com/office/drawing/2010/main" w="9525">
                <a:solidFill>
                  <a:srgbClr val="FF0000"/>
                </a:solidFill>
                <a:prstDash val="solid"/>
                <a:miter lim="800000"/>
                <a:headEnd/>
                <a:tailEnd/>
              </a14:hiddenLine>
            </a:ext>
          </a:extLst>
        </p:spPr>
        <p:txBody>
          <a:bodyPr>
            <a:normAutofit/>
          </a:bodyPr>
          <a:lstStyle/>
          <a:p>
            <a:pPr eaLnBrk="1" hangingPunct="1">
              <a:buFontTx/>
              <a:buNone/>
            </a:pPr>
            <a:r>
              <a:rPr lang="en-US" altLang="zh-CN" sz="3200" dirty="0">
                <a:solidFill>
                  <a:srgbClr val="0000FF"/>
                </a:solidFill>
                <a:latin typeface="华文中宋" panose="02010600040101010101" pitchFamily="2" charset="-122"/>
                <a:ea typeface="华文中宋" panose="02010600040101010101" pitchFamily="2" charset="-122"/>
              </a:rPr>
              <a:t>2</a:t>
            </a:r>
            <a:r>
              <a:rPr lang="zh-CN" altLang="en-US" sz="3200" dirty="0">
                <a:solidFill>
                  <a:srgbClr val="0000FF"/>
                </a:solidFill>
                <a:latin typeface="华文中宋" panose="02010600040101010101" pitchFamily="2" charset="-122"/>
                <a:ea typeface="华文中宋" panose="02010600040101010101" pitchFamily="2" charset="-122"/>
              </a:rPr>
              <a:t>、</a:t>
            </a:r>
            <a:r>
              <a:rPr lang="en-US" altLang="zh-CN" sz="3200" i="1" dirty="0">
                <a:solidFill>
                  <a:srgbClr val="0000FF"/>
                </a:solidFill>
                <a:latin typeface="华文中宋" panose="02010600040101010101" pitchFamily="2" charset="-122"/>
                <a:ea typeface="华文中宋" panose="02010600040101010101" pitchFamily="2" charset="-122"/>
              </a:rPr>
              <a:t>T </a:t>
            </a:r>
            <a:r>
              <a:rPr lang="zh-CN" altLang="en-US" sz="3200" dirty="0">
                <a:solidFill>
                  <a:srgbClr val="0000FF"/>
                </a:solidFill>
                <a:latin typeface="华文中宋" panose="02010600040101010101" pitchFamily="2" charset="-122"/>
                <a:ea typeface="华文中宋" panose="02010600040101010101" pitchFamily="2" charset="-122"/>
              </a:rPr>
              <a:t>检验</a:t>
            </a:r>
            <a:endParaRPr lang="zh-CN" altLang="en-US" sz="3200" dirty="0">
              <a:solidFill>
                <a:srgbClr val="0000FF"/>
              </a:solidFill>
              <a:latin typeface="华文中宋" panose="02010600040101010101" pitchFamily="2" charset="-122"/>
              <a:ea typeface="华文中宋" panose="02010600040101010101" pitchFamily="2" charset="-122"/>
            </a:endParaRPr>
          </a:p>
        </p:txBody>
      </p:sp>
      <p:sp>
        <p:nvSpPr>
          <p:cNvPr id="920590" name="Text Box 14"/>
          <p:cNvSpPr txBox="1">
            <a:spLocks noChangeArrowheads="1"/>
          </p:cNvSpPr>
          <p:nvPr/>
        </p:nvSpPr>
        <p:spPr bwMode="auto">
          <a:xfrm>
            <a:off x="1226564" y="2140093"/>
            <a:ext cx="55626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r>
              <a:rPr lang="zh-CN" altLang="en-US" sz="2800">
                <a:latin typeface="楷体_GB2312" pitchFamily="49" charset="-122"/>
                <a:sym typeface="Wingdings" panose="05000000000000000000" pitchFamily="2" charset="2"/>
              </a:rPr>
              <a:t>同</a:t>
            </a:r>
            <a:r>
              <a:rPr lang="en-US" altLang="zh-CN" sz="2800">
                <a:latin typeface="楷体_GB2312" pitchFamily="49" charset="-122"/>
                <a:sym typeface="Wingdings" panose="05000000000000000000" pitchFamily="2" charset="2"/>
              </a:rPr>
              <a:t>F</a:t>
            </a:r>
            <a:r>
              <a:rPr lang="zh-CN" altLang="en-US" sz="2800">
                <a:latin typeface="楷体_GB2312" pitchFamily="49" charset="-122"/>
                <a:sym typeface="Wingdings" panose="05000000000000000000" pitchFamily="2" charset="2"/>
              </a:rPr>
              <a:t>检验</a:t>
            </a:r>
            <a:endParaRPr lang="zh-CN" altLang="en-US" sz="2800">
              <a:latin typeface="楷体_GB2312" pitchFamily="49" charset="-122"/>
              <a:sym typeface="Wingdings" panose="05000000000000000000" pitchFamily="2" charset="2"/>
            </a:endParaRPr>
          </a:p>
        </p:txBody>
      </p:sp>
      <p:graphicFrame>
        <p:nvGraphicFramePr>
          <p:cNvPr id="920591" name="Object 15"/>
          <p:cNvGraphicFramePr>
            <a:graphicFrameLocks noChangeAspect="1"/>
          </p:cNvGraphicFramePr>
          <p:nvPr/>
        </p:nvGraphicFramePr>
        <p:xfrm>
          <a:off x="3171252" y="1852756"/>
          <a:ext cx="5457825" cy="1120775"/>
        </p:xfrm>
        <a:graphic>
          <a:graphicData uri="http://schemas.openxmlformats.org/presentationml/2006/ole">
            <mc:AlternateContent xmlns:mc="http://schemas.openxmlformats.org/markup-compatibility/2006">
              <mc:Choice xmlns:v="urn:schemas-microsoft-com:vml" Requires="v">
                <p:oleObj spid="_x0000_s25601" name="公式" r:id="rId2" imgW="2811145" imgH="598170" progId="Equation.3">
                  <p:embed/>
                </p:oleObj>
              </mc:Choice>
              <mc:Fallback>
                <p:oleObj name="公式" r:id="rId2" imgW="2811145" imgH="598170" progId="Equation.3">
                  <p:embed/>
                  <p:pic>
                    <p:nvPicPr>
                      <p:cNvPr id="0"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1252" y="1852756"/>
                        <a:ext cx="5457825"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20592" name="Object 16"/>
          <p:cNvGraphicFramePr>
            <a:graphicFrameLocks noChangeAspect="1"/>
          </p:cNvGraphicFramePr>
          <p:nvPr/>
        </p:nvGraphicFramePr>
        <p:xfrm>
          <a:off x="4611114" y="4589605"/>
          <a:ext cx="3630612" cy="833438"/>
        </p:xfrm>
        <a:graphic>
          <a:graphicData uri="http://schemas.openxmlformats.org/presentationml/2006/ole">
            <mc:AlternateContent xmlns:mc="http://schemas.openxmlformats.org/markup-compatibility/2006">
              <mc:Choice xmlns:v="urn:schemas-microsoft-com:vml" Requires="v">
                <p:oleObj spid="_x0000_s2" name="公式" r:id="rId4" imgW="1704340" imgH="383540" progId="Equation.3">
                  <p:embed/>
                </p:oleObj>
              </mc:Choice>
              <mc:Fallback>
                <p:oleObj name="公式" r:id="rId4" imgW="1704340" imgH="383540" progId="Equation.3">
                  <p:embed/>
                  <p:pic>
                    <p:nvPicPr>
                      <p:cNvPr id="0" name="Object 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11114" y="4589605"/>
                        <a:ext cx="3630612" cy="83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920593" name="Group 17"/>
          <p:cNvGrpSpPr/>
          <p:nvPr/>
        </p:nvGrpSpPr>
        <p:grpSpPr bwMode="auto">
          <a:xfrm>
            <a:off x="1442464" y="3076719"/>
            <a:ext cx="7573962" cy="1152525"/>
            <a:chOff x="385" y="1797"/>
            <a:chExt cx="4771" cy="726"/>
          </a:xfrm>
        </p:grpSpPr>
        <p:graphicFrame>
          <p:nvGraphicFramePr>
            <p:cNvPr id="38929" name="Object 18"/>
            <p:cNvGraphicFramePr>
              <a:graphicFrameLocks noChangeAspect="1"/>
            </p:cNvGraphicFramePr>
            <p:nvPr/>
          </p:nvGraphicFramePr>
          <p:xfrm>
            <a:off x="839" y="1797"/>
            <a:ext cx="2949" cy="726"/>
          </p:xfrm>
          <a:graphic>
            <a:graphicData uri="http://schemas.openxmlformats.org/presentationml/2006/ole">
              <mc:AlternateContent xmlns:mc="http://schemas.openxmlformats.org/markup-compatibility/2006">
                <mc:Choice xmlns:v="urn:schemas-microsoft-com:vml" Requires="v">
                  <p:oleObj spid="_x0000_s3" name="公式" r:id="rId6" imgW="2145030" imgH="575945" progId="Equation.3">
                    <p:embed/>
                  </p:oleObj>
                </mc:Choice>
                <mc:Fallback>
                  <p:oleObj name="公式" r:id="rId6" imgW="2145030" imgH="575945" progId="Equation.3">
                    <p:embed/>
                    <p:pic>
                      <p:nvPicPr>
                        <p:cNvPr id="0" name="Object 1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9" y="1797"/>
                          <a:ext cx="2949" cy="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8930" name="Rectangle 19"/>
            <p:cNvSpPr>
              <a:spLocks noChangeArrowheads="1"/>
            </p:cNvSpPr>
            <p:nvPr/>
          </p:nvSpPr>
          <p:spPr bwMode="auto">
            <a:xfrm>
              <a:off x="385" y="1969"/>
              <a:ext cx="3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zh-CN" altLang="en-US" sz="2800"/>
                <a:t>故</a:t>
              </a:r>
              <a:endParaRPr lang="zh-CN" altLang="en-US" sz="2800"/>
            </a:p>
          </p:txBody>
        </p:sp>
        <p:sp>
          <p:nvSpPr>
            <p:cNvPr id="38931" name="Rectangle 20"/>
            <p:cNvSpPr>
              <a:spLocks noChangeArrowheads="1"/>
            </p:cNvSpPr>
            <p:nvPr/>
          </p:nvSpPr>
          <p:spPr bwMode="auto">
            <a:xfrm>
              <a:off x="3696" y="1979"/>
              <a:ext cx="146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zh-CN" altLang="en-US" sz="2800"/>
                <a:t>为显著性水平</a:t>
              </a:r>
              <a:endParaRPr lang="zh-CN" altLang="en-US" sz="2800"/>
            </a:p>
          </p:txBody>
        </p:sp>
      </p:grpSp>
      <p:sp>
        <p:nvSpPr>
          <p:cNvPr id="920597" name="Rectangle 21"/>
          <p:cNvSpPr>
            <a:spLocks noChangeArrowheads="1"/>
          </p:cNvSpPr>
          <p:nvPr/>
        </p:nvSpPr>
        <p:spPr bwMode="auto">
          <a:xfrm>
            <a:off x="1586927" y="4494355"/>
            <a:ext cx="311655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zh-CN" altLang="en-US" sz="2800">
                <a:latin typeface="楷体_GB2312" pitchFamily="49" charset="-122"/>
              </a:rPr>
              <a:t>即得</a:t>
            </a:r>
            <a:r>
              <a:rPr lang="en-US" altLang="zh-CN" sz="2800" i="1">
                <a:latin typeface="楷体_GB2312" pitchFamily="49" charset="-122"/>
              </a:rPr>
              <a:t>H</a:t>
            </a:r>
            <a:r>
              <a:rPr lang="en-US" altLang="zh-CN" sz="2800" baseline="-25000">
                <a:latin typeface="楷体_GB2312" pitchFamily="49" charset="-122"/>
              </a:rPr>
              <a:t>0</a:t>
            </a:r>
            <a:r>
              <a:rPr lang="zh-CN" altLang="en-US" sz="2800">
                <a:latin typeface="楷体_GB2312" pitchFamily="49" charset="-122"/>
              </a:rPr>
              <a:t>的拒绝域为</a:t>
            </a:r>
            <a:endParaRPr lang="zh-CN" altLang="en-US" sz="2800">
              <a:latin typeface="楷体_GB2312" pitchFamily="49" charset="-122"/>
            </a:endParaRPr>
          </a:p>
        </p:txBody>
      </p:sp>
      <p:sp>
        <p:nvSpPr>
          <p:cNvPr id="920598" name="Rectangle 22"/>
          <p:cNvSpPr>
            <a:spLocks noChangeArrowheads="1"/>
          </p:cNvSpPr>
          <p:nvPr/>
        </p:nvSpPr>
        <p:spPr bwMode="auto">
          <a:xfrm>
            <a:off x="2090165" y="5618306"/>
            <a:ext cx="73818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r>
              <a:rPr kumimoji="0" lang="zh-CN" altLang="en-US" sz="2800">
                <a:solidFill>
                  <a:srgbClr val="0000FF"/>
                </a:solidFill>
                <a:latin typeface="楷体_GB2312" pitchFamily="49" charset="-122"/>
              </a:rPr>
              <a:t>注意到</a:t>
            </a:r>
            <a:r>
              <a:rPr kumimoji="0" lang="en-US" altLang="zh-CN" sz="2800" i="1">
                <a:solidFill>
                  <a:srgbClr val="0000FF"/>
                </a:solidFill>
              </a:rPr>
              <a:t>T</a:t>
            </a:r>
            <a:r>
              <a:rPr kumimoji="0" lang="en-US" altLang="zh-CN" sz="2800" baseline="30000">
                <a:solidFill>
                  <a:srgbClr val="0000FF"/>
                </a:solidFill>
              </a:rPr>
              <a:t>2</a:t>
            </a:r>
            <a:r>
              <a:rPr kumimoji="0" lang="en-US" altLang="zh-CN" sz="2800">
                <a:solidFill>
                  <a:srgbClr val="0000FF"/>
                </a:solidFill>
              </a:rPr>
              <a:t>=</a:t>
            </a:r>
            <a:r>
              <a:rPr kumimoji="0" lang="en-US" altLang="zh-CN" sz="2800" i="1">
                <a:solidFill>
                  <a:srgbClr val="0000FF"/>
                </a:solidFill>
              </a:rPr>
              <a:t>F</a:t>
            </a:r>
            <a:r>
              <a:rPr kumimoji="0" lang="zh-CN" altLang="en-US" sz="2800">
                <a:solidFill>
                  <a:srgbClr val="0000FF"/>
                </a:solidFill>
                <a:latin typeface="楷体_GB2312" pitchFamily="49" charset="-122"/>
              </a:rPr>
              <a:t>，因此，</a:t>
            </a:r>
            <a:r>
              <a:rPr kumimoji="0" lang="en-US" altLang="zh-CN" sz="2800" i="1">
                <a:solidFill>
                  <a:srgbClr val="0000FF"/>
                </a:solidFill>
              </a:rPr>
              <a:t>T</a:t>
            </a:r>
            <a:r>
              <a:rPr kumimoji="0" lang="zh-CN" altLang="en-US" sz="2800">
                <a:solidFill>
                  <a:srgbClr val="0000FF"/>
                </a:solidFill>
                <a:latin typeface="楷体_GB2312" pitchFamily="49" charset="-122"/>
              </a:rPr>
              <a:t>检验与</a:t>
            </a:r>
            <a:r>
              <a:rPr kumimoji="0" lang="en-US" altLang="zh-CN" sz="2800" i="1">
                <a:solidFill>
                  <a:srgbClr val="0000FF"/>
                </a:solidFill>
              </a:rPr>
              <a:t>F</a:t>
            </a:r>
            <a:r>
              <a:rPr kumimoji="0" lang="zh-CN" altLang="en-US" sz="2800">
                <a:solidFill>
                  <a:srgbClr val="0000FF"/>
                </a:solidFill>
                <a:latin typeface="楷体_GB2312" pitchFamily="49" charset="-122"/>
              </a:rPr>
              <a:t>检验是等同的。</a:t>
            </a:r>
            <a:endParaRPr kumimoji="0" lang="zh-CN" altLang="en-US" sz="2800">
              <a:solidFill>
                <a:srgbClr val="0000FF"/>
              </a:solidFill>
              <a:latin typeface="楷体_GB2312" pitchFamily="49" charset="-122"/>
            </a:endParaRPr>
          </a:p>
        </p:txBody>
      </p:sp>
      <p:graphicFrame>
        <p:nvGraphicFramePr>
          <p:cNvPr id="38926" name="Object 30"/>
          <p:cNvGraphicFramePr>
            <a:graphicFrameLocks noChangeAspect="1"/>
          </p:cNvGraphicFramePr>
          <p:nvPr/>
        </p:nvGraphicFramePr>
        <p:xfrm>
          <a:off x="2739451" y="844693"/>
          <a:ext cx="1943100" cy="995362"/>
        </p:xfrm>
        <a:graphic>
          <a:graphicData uri="http://schemas.openxmlformats.org/presentationml/2006/ole">
            <mc:AlternateContent xmlns:mc="http://schemas.openxmlformats.org/markup-compatibility/2006">
              <mc:Choice xmlns:v="urn:schemas-microsoft-com:vml" Requires="v">
                <p:oleObj spid="_x0000_s4" name="公式" r:id="rId8" imgW="1027430" imgH="519430" progId="Equation.3">
                  <p:embed/>
                </p:oleObj>
              </mc:Choice>
              <mc:Fallback>
                <p:oleObj name="公式" r:id="rId8" imgW="1027430" imgH="519430" progId="Equation.3">
                  <p:embed/>
                  <p:pic>
                    <p:nvPicPr>
                      <p:cNvPr id="0" name="Object 3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39451" y="844693"/>
                        <a:ext cx="1943100" cy="995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8927" name="Rectangle 31"/>
          <p:cNvSpPr>
            <a:spLocks noChangeArrowheads="1"/>
          </p:cNvSpPr>
          <p:nvPr/>
        </p:nvSpPr>
        <p:spPr bwMode="auto">
          <a:xfrm>
            <a:off x="1802826" y="1132031"/>
            <a:ext cx="8953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zh-CN" altLang="en-US" sz="2800"/>
              <a:t>由于</a:t>
            </a:r>
            <a:endParaRPr lang="zh-CN" altLang="en-US" sz="2800"/>
          </a:p>
        </p:txBody>
      </p:sp>
      <p:sp>
        <p:nvSpPr>
          <p:cNvPr id="38928" name="Rectangle 32"/>
          <p:cNvSpPr>
            <a:spLocks noChangeArrowheads="1"/>
          </p:cNvSpPr>
          <p:nvPr/>
        </p:nvSpPr>
        <p:spPr bwMode="auto">
          <a:xfrm>
            <a:off x="5042914" y="1060593"/>
            <a:ext cx="26225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r>
              <a:rPr lang="en-US" altLang="zh-CN" sz="2800" i="1"/>
              <a:t>S</a:t>
            </a:r>
            <a:r>
              <a:rPr lang="en-US" altLang="zh-CN" sz="2800" i="1" baseline="-25000"/>
              <a:t>Q</a:t>
            </a:r>
            <a:r>
              <a:rPr lang="en-US" altLang="zh-CN" sz="2800" i="1"/>
              <a:t> </a:t>
            </a:r>
            <a:r>
              <a:rPr lang="en-US" altLang="zh-CN" sz="2800"/>
              <a:t>/</a:t>
            </a:r>
            <a:r>
              <a:rPr lang="en-US" altLang="zh-CN" sz="2800" i="1">
                <a:sym typeface="Symbol" panose="05050102010706020507" pitchFamily="18" charset="2"/>
              </a:rPr>
              <a:t></a:t>
            </a:r>
            <a:r>
              <a:rPr lang="en-US" altLang="zh-CN" sz="2800">
                <a:sym typeface="Symbol" panose="05050102010706020507" pitchFamily="18" charset="2"/>
              </a:rPr>
              <a:t> </a:t>
            </a:r>
            <a:r>
              <a:rPr lang="en-US" altLang="zh-CN" sz="2800" baseline="30000">
                <a:sym typeface="Symbol" panose="05050102010706020507" pitchFamily="18" charset="2"/>
              </a:rPr>
              <a:t>2</a:t>
            </a:r>
            <a:r>
              <a:rPr lang="en-US" altLang="zh-CN" sz="2800"/>
              <a:t> ~</a:t>
            </a:r>
            <a:r>
              <a:rPr lang="en-US" altLang="zh-CN" sz="2800" i="1">
                <a:sym typeface="Symbol" panose="05050102010706020507" pitchFamily="18" charset="2"/>
              </a:rPr>
              <a:t> </a:t>
            </a:r>
            <a:r>
              <a:rPr lang="en-US" altLang="zh-CN" sz="2800" baseline="30000">
                <a:sym typeface="Symbol" panose="05050102010706020507" pitchFamily="18" charset="2"/>
              </a:rPr>
              <a:t>2</a:t>
            </a:r>
            <a:r>
              <a:rPr lang="en-US" altLang="zh-CN" sz="2800">
                <a:sym typeface="Symbol" panose="05050102010706020507" pitchFamily="18" charset="2"/>
              </a:rPr>
              <a:t>(</a:t>
            </a:r>
            <a:r>
              <a:rPr lang="en-US" altLang="zh-CN" sz="2800" i="1">
                <a:sym typeface="Symbol" panose="05050102010706020507" pitchFamily="18" charset="2"/>
              </a:rPr>
              <a:t>n</a:t>
            </a:r>
            <a:r>
              <a:rPr lang="en-US" altLang="zh-CN" sz="2800">
                <a:sym typeface="Symbol" panose="05050102010706020507" pitchFamily="18" charset="2"/>
              </a:rPr>
              <a:t>2)</a:t>
            </a:r>
            <a:endParaRPr lang="en-US" altLang="zh-CN" sz="2800">
              <a:sym typeface="Symbol" panose="05050102010706020507" pitchFamily="18" charset="2"/>
            </a:endParaRPr>
          </a:p>
        </p:txBody>
      </p:sp>
      <p:graphicFrame>
        <p:nvGraphicFramePr>
          <p:cNvPr id="5" name="Object 8"/>
          <p:cNvGraphicFramePr/>
          <p:nvPr/>
        </p:nvGraphicFramePr>
        <p:xfrm>
          <a:off x="8156738" y="2601619"/>
          <a:ext cx="3513504" cy="732273"/>
        </p:xfrm>
        <a:graphic>
          <a:graphicData uri="http://schemas.openxmlformats.org/presentationml/2006/ole">
            <mc:AlternateContent xmlns:mc="http://schemas.openxmlformats.org/markup-compatibility/2006">
              <mc:Choice xmlns:v="urn:schemas-microsoft-com:vml" Requires="v">
                <p:oleObj spid="_x0000_s6" name="" r:id="rId10" imgW="3467100" imgH="787400" progId="Equation.3">
                  <p:embed/>
                </p:oleObj>
              </mc:Choice>
              <mc:Fallback>
                <p:oleObj name="" r:id="rId10" imgW="3467100" imgH="787400" progId="Equation.3">
                  <p:embed/>
                  <p:pic>
                    <p:nvPicPr>
                      <p:cNvPr id="0" name="Object 8"/>
                      <p:cNvPicPr/>
                      <p:nvPr/>
                    </p:nvPicPr>
                    <p:blipFill>
                      <a:blip r:embed="rId11"/>
                      <a:stretch>
                        <a:fillRect/>
                      </a:stretch>
                    </p:blipFill>
                    <p:spPr>
                      <a:xfrm>
                        <a:off x="8156738" y="2601619"/>
                        <a:ext cx="3513504" cy="732273"/>
                      </a:xfrm>
                      <a:prstGeom prst="rect">
                        <a:avLst/>
                      </a:prstGeom>
                      <a:noFill/>
                      <a:ln w="38100">
                        <a:noFill/>
                        <a:miter/>
                      </a:ln>
                    </p:spPr>
                  </p:pic>
                </p:oleObj>
              </mc:Fallback>
            </mc:AlternateContent>
          </a:graphicData>
        </a:graphic>
      </p:graphicFrame>
      <p:sp>
        <p:nvSpPr>
          <p:cNvPr id="7" name="矩形 6"/>
          <p:cNvSpPr/>
          <p:nvPr/>
        </p:nvSpPr>
        <p:spPr>
          <a:xfrm>
            <a:off x="8129102" y="2629297"/>
            <a:ext cx="3575847" cy="704596"/>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 name="组合 7"/>
          <p:cNvGrpSpPr/>
          <p:nvPr/>
        </p:nvGrpSpPr>
        <p:grpSpPr>
          <a:xfrm>
            <a:off x="8129102" y="43169"/>
            <a:ext cx="3706197" cy="2028848"/>
            <a:chOff x="8129102" y="43169"/>
            <a:chExt cx="3706197" cy="2028848"/>
          </a:xfrm>
        </p:grpSpPr>
        <p:pic>
          <p:nvPicPr>
            <p:cNvPr id="9" name="图片 8"/>
            <p:cNvPicPr>
              <a:picLocks noChangeAspect="1"/>
            </p:cNvPicPr>
            <p:nvPr/>
          </p:nvPicPr>
          <p:blipFill>
            <a:blip r:embed="rId12"/>
            <a:stretch>
              <a:fillRect/>
            </a:stretch>
          </p:blipFill>
          <p:spPr>
            <a:xfrm>
              <a:off x="8129102" y="49169"/>
              <a:ext cx="3706197" cy="2022848"/>
            </a:xfrm>
            <a:prstGeom prst="rect">
              <a:avLst/>
            </a:prstGeom>
          </p:spPr>
        </p:pic>
        <p:sp>
          <p:nvSpPr>
            <p:cNvPr id="10" name="矩形 9"/>
            <p:cNvSpPr/>
            <p:nvPr/>
          </p:nvSpPr>
          <p:spPr>
            <a:xfrm>
              <a:off x="8131487" y="43169"/>
              <a:ext cx="3645827" cy="202284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920590"/>
                                        </p:tgtEl>
                                        <p:attrNameLst>
                                          <p:attrName>style.visibility</p:attrName>
                                        </p:attrNameLst>
                                      </p:cBhvr>
                                      <p:to>
                                        <p:strVal val="visible"/>
                                      </p:to>
                                    </p:set>
                                    <p:animEffect transition="in" filter="checkerboard(across)">
                                      <p:cBhvr>
                                        <p:cTn id="7" dur="500"/>
                                        <p:tgtEl>
                                          <p:spTgt spid="92059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20591"/>
                                        </p:tgtEl>
                                        <p:attrNameLst>
                                          <p:attrName>style.visibility</p:attrName>
                                        </p:attrNameLst>
                                      </p:cBhvr>
                                      <p:to>
                                        <p:strVal val="visible"/>
                                      </p:to>
                                    </p:set>
                                    <p:animEffect transition="in" filter="wipe(left)">
                                      <p:cBhvr>
                                        <p:cTn id="12" dur="500"/>
                                        <p:tgtEl>
                                          <p:spTgt spid="920591"/>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920593"/>
                                        </p:tgtEl>
                                        <p:attrNameLst>
                                          <p:attrName>style.visibility</p:attrName>
                                        </p:attrNameLst>
                                      </p:cBhvr>
                                      <p:to>
                                        <p:strVal val="visible"/>
                                      </p:to>
                                    </p:set>
                                    <p:animEffect transition="in" filter="wipe(left)">
                                      <p:cBhvr>
                                        <p:cTn id="21" dur="500"/>
                                        <p:tgtEl>
                                          <p:spTgt spid="92059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920597"/>
                                        </p:tgtEl>
                                        <p:attrNameLst>
                                          <p:attrName>style.visibility</p:attrName>
                                        </p:attrNameLst>
                                      </p:cBhvr>
                                      <p:to>
                                        <p:strVal val="visible"/>
                                      </p:to>
                                    </p:set>
                                    <p:animEffect transition="in" filter="wipe(left)">
                                      <p:cBhvr>
                                        <p:cTn id="26" dur="500"/>
                                        <p:tgtEl>
                                          <p:spTgt spid="920597"/>
                                        </p:tgtEl>
                                      </p:cBhvr>
                                    </p:animEffect>
                                  </p:childTnLst>
                                </p:cTn>
                              </p:par>
                            </p:childTnLst>
                          </p:cTn>
                        </p:par>
                        <p:par>
                          <p:cTn id="27" fill="hold">
                            <p:stCondLst>
                              <p:cond delay="500"/>
                            </p:stCondLst>
                            <p:childTnLst>
                              <p:par>
                                <p:cTn id="28" presetID="22" presetClass="entr" presetSubtype="8" fill="hold" nodeType="afterEffect">
                                  <p:stCondLst>
                                    <p:cond delay="0"/>
                                  </p:stCondLst>
                                  <p:childTnLst>
                                    <p:set>
                                      <p:cBhvr>
                                        <p:cTn id="29" dur="1" fill="hold">
                                          <p:stCondLst>
                                            <p:cond delay="0"/>
                                          </p:stCondLst>
                                        </p:cTn>
                                        <p:tgtEl>
                                          <p:spTgt spid="920592"/>
                                        </p:tgtEl>
                                        <p:attrNameLst>
                                          <p:attrName>style.visibility</p:attrName>
                                        </p:attrNameLst>
                                      </p:cBhvr>
                                      <p:to>
                                        <p:strVal val="visible"/>
                                      </p:to>
                                    </p:set>
                                    <p:animEffect transition="in" filter="wipe(left)">
                                      <p:cBhvr>
                                        <p:cTn id="30" dur="500"/>
                                        <p:tgtEl>
                                          <p:spTgt spid="920592"/>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920598"/>
                                        </p:tgtEl>
                                        <p:attrNameLst>
                                          <p:attrName>style.visibility</p:attrName>
                                        </p:attrNameLst>
                                      </p:cBhvr>
                                      <p:to>
                                        <p:strVal val="visible"/>
                                      </p:to>
                                    </p:set>
                                    <p:animEffect transition="in" filter="wipe(left)">
                                      <p:cBhvr>
                                        <p:cTn id="35" dur="500"/>
                                        <p:tgtEl>
                                          <p:spTgt spid="9205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0590" grpId="0" autoUpdateAnimBg="0"/>
      <p:bldP spid="920597" grpId="0"/>
      <p:bldP spid="92059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AutoShape 2">
            <a:hlinkClick r:id="" action="ppaction://hlinkshowjump?jump=previousslide" highlightClick="1"/>
          </p:cNvPr>
          <p:cNvSpPr>
            <a:spLocks noChangeArrowheads="1"/>
          </p:cNvSpPr>
          <p:nvPr/>
        </p:nvSpPr>
        <p:spPr bwMode="auto">
          <a:xfrm>
            <a:off x="9120189" y="6524625"/>
            <a:ext cx="287337" cy="215900"/>
          </a:xfrm>
          <a:prstGeom prst="actionButtonBackPrevious">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39939" name="AutoShape 3">
            <a:hlinkClick r:id="" action="ppaction://hlinkshowjump?jump=nextslide" highlightClick="1"/>
          </p:cNvPr>
          <p:cNvSpPr>
            <a:spLocks noChangeArrowheads="1"/>
          </p:cNvSpPr>
          <p:nvPr/>
        </p:nvSpPr>
        <p:spPr bwMode="auto">
          <a:xfrm>
            <a:off x="9407525" y="6524625"/>
            <a:ext cx="285750" cy="215900"/>
          </a:xfrm>
          <a:prstGeom prst="actionButtonForwardNex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39940" name="AutoShape 4">
            <a:hlinkClick r:id="" action="ppaction://hlinkshowjump?jump=firstslide" highlightClick="1"/>
          </p:cNvPr>
          <p:cNvSpPr>
            <a:spLocks noChangeArrowheads="1"/>
          </p:cNvSpPr>
          <p:nvPr/>
        </p:nvSpPr>
        <p:spPr bwMode="auto">
          <a:xfrm>
            <a:off x="9694864" y="6524625"/>
            <a:ext cx="287337" cy="215900"/>
          </a:xfrm>
          <a:prstGeom prst="actionButtonBeginning">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39941" name="AutoShape 5">
            <a:hlinkClick r:id="" action="ppaction://hlinkshowjump?jump=endshow" highlightClick="1"/>
          </p:cNvPr>
          <p:cNvSpPr>
            <a:spLocks noChangeArrowheads="1"/>
          </p:cNvSpPr>
          <p:nvPr/>
        </p:nvSpPr>
        <p:spPr bwMode="auto">
          <a:xfrm>
            <a:off x="9983789" y="6524625"/>
            <a:ext cx="287337" cy="215900"/>
          </a:xfrm>
          <a:prstGeom prst="actionButtonEnd">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39942" name="AutoShape 6">
            <a:hlinkClick r:id="rId1" action="ppaction://hlinksldjump" highlightClick="1"/>
          </p:cNvPr>
          <p:cNvSpPr>
            <a:spLocks noChangeArrowheads="1"/>
          </p:cNvSpPr>
          <p:nvPr/>
        </p:nvSpPr>
        <p:spPr bwMode="auto">
          <a:xfrm>
            <a:off x="10272714" y="6524625"/>
            <a:ext cx="288925" cy="215900"/>
          </a:xfrm>
          <a:prstGeom prst="actionButtonReturn">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graphicFrame>
        <p:nvGraphicFramePr>
          <p:cNvPr id="898055" name="Object 7"/>
          <p:cNvGraphicFramePr>
            <a:graphicFrameLocks noChangeAspect="1"/>
          </p:cNvGraphicFramePr>
          <p:nvPr/>
        </p:nvGraphicFramePr>
        <p:xfrm>
          <a:off x="2711451" y="1571626"/>
          <a:ext cx="6697663" cy="1641475"/>
        </p:xfrm>
        <a:graphic>
          <a:graphicData uri="http://schemas.openxmlformats.org/presentationml/2006/ole">
            <mc:AlternateContent xmlns:mc="http://schemas.openxmlformats.org/markup-compatibility/2006">
              <mc:Choice xmlns:v="urn:schemas-microsoft-com:vml" Requires="v">
                <p:oleObj spid="_x0000_s25601" name="公式" r:id="rId2" imgW="3714115" imgH="1027430" progId="Equation.3">
                  <p:embed/>
                </p:oleObj>
              </mc:Choice>
              <mc:Fallback>
                <p:oleObj name="公式" r:id="rId2" imgW="3714115" imgH="1027430" progId="Equation.3">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11451" y="1571626"/>
                        <a:ext cx="6697663" cy="164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98056" name="Rectangle 8"/>
          <p:cNvSpPr>
            <a:spLocks noChangeArrowheads="1"/>
          </p:cNvSpPr>
          <p:nvPr/>
        </p:nvSpPr>
        <p:spPr bwMode="auto">
          <a:xfrm>
            <a:off x="2063750" y="601663"/>
            <a:ext cx="322103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en-US" altLang="zh-CN" sz="2800" b="1">
                <a:solidFill>
                  <a:srgbClr val="0000FF"/>
                </a:solidFill>
                <a:latin typeface="黑体" panose="02010609060101010101" pitchFamily="49" charset="-122"/>
                <a:ea typeface="黑体" panose="02010609060101010101" pitchFamily="49" charset="-122"/>
              </a:rPr>
              <a:t>3</a:t>
            </a:r>
            <a:r>
              <a:rPr lang="zh-CN" altLang="en-US" sz="2800" b="1">
                <a:solidFill>
                  <a:srgbClr val="0000FF"/>
                </a:solidFill>
                <a:latin typeface="黑体" panose="02010609060101010101" pitchFamily="49" charset="-122"/>
                <a:ea typeface="黑体" panose="02010609060101010101" pitchFamily="49" charset="-122"/>
              </a:rPr>
              <a:t>．相关系数检验法</a:t>
            </a:r>
            <a:endParaRPr lang="zh-CN" altLang="en-US" sz="2800" b="1">
              <a:solidFill>
                <a:srgbClr val="0000FF"/>
              </a:solidFill>
              <a:latin typeface="黑体" panose="02010609060101010101" pitchFamily="49" charset="-122"/>
              <a:ea typeface="黑体" panose="02010609060101010101" pitchFamily="49" charset="-122"/>
            </a:endParaRPr>
          </a:p>
        </p:txBody>
      </p:sp>
      <p:sp>
        <p:nvSpPr>
          <p:cNvPr id="898057" name="Rectangle 9"/>
          <p:cNvSpPr>
            <a:spLocks noChangeArrowheads="1"/>
          </p:cNvSpPr>
          <p:nvPr/>
        </p:nvSpPr>
        <p:spPr bwMode="auto">
          <a:xfrm>
            <a:off x="2265363" y="1223963"/>
            <a:ext cx="23177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zh-CN" altLang="en-US" sz="2800"/>
              <a:t>取检验统计量</a:t>
            </a:r>
            <a:endParaRPr lang="zh-CN" altLang="en-US" sz="2800"/>
          </a:p>
        </p:txBody>
      </p:sp>
      <p:sp>
        <p:nvSpPr>
          <p:cNvPr id="898058" name="Rectangle 10"/>
          <p:cNvSpPr>
            <a:spLocks noChangeArrowheads="1"/>
          </p:cNvSpPr>
          <p:nvPr/>
        </p:nvSpPr>
        <p:spPr bwMode="auto">
          <a:xfrm>
            <a:off x="2208213" y="3357563"/>
            <a:ext cx="396716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zh-CN" altLang="en-US" sz="2800">
                <a:latin typeface="楷体_GB2312" pitchFamily="49" charset="-122"/>
              </a:rPr>
              <a:t>通常称</a:t>
            </a:r>
            <a:r>
              <a:rPr lang="en-US" altLang="zh-CN" sz="2800" i="1"/>
              <a:t>r</a:t>
            </a:r>
            <a:r>
              <a:rPr lang="zh-CN" altLang="en-US" sz="2800">
                <a:latin typeface="楷体_GB2312" pitchFamily="49" charset="-122"/>
              </a:rPr>
              <a:t>为样本相关系数</a:t>
            </a:r>
            <a:r>
              <a:rPr lang="en-US" altLang="zh-CN" sz="2800">
                <a:ea typeface="宋体" pitchFamily="2" charset="-122"/>
              </a:rPr>
              <a:t>.</a:t>
            </a:r>
            <a:endParaRPr lang="en-US" altLang="zh-CN" sz="2800">
              <a:ea typeface="宋体" pitchFamily="2" charset="-122"/>
            </a:endParaRPr>
          </a:p>
        </p:txBody>
      </p:sp>
      <p:sp>
        <p:nvSpPr>
          <p:cNvPr id="898059" name="Rectangle 11"/>
          <p:cNvSpPr>
            <a:spLocks noChangeArrowheads="1"/>
          </p:cNvSpPr>
          <p:nvPr/>
        </p:nvSpPr>
        <p:spPr bwMode="auto">
          <a:xfrm>
            <a:off x="2208213" y="3995738"/>
            <a:ext cx="80645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zh-CN" altLang="en-US" sz="2800">
                <a:latin typeface="楷体_GB2312" pitchFamily="49" charset="-122"/>
              </a:rPr>
              <a:t>类似于随机变量间的相关系数，</a:t>
            </a:r>
            <a:r>
              <a:rPr lang="en-US" altLang="zh-CN" sz="2800" i="1"/>
              <a:t>r</a:t>
            </a:r>
            <a:r>
              <a:rPr lang="zh-CN" altLang="en-US" sz="2800">
                <a:latin typeface="楷体_GB2312" pitchFamily="49" charset="-122"/>
              </a:rPr>
              <a:t>的取值反映了自变量</a:t>
            </a:r>
            <a:r>
              <a:rPr lang="en-US" altLang="zh-CN" sz="2800" i="1"/>
              <a:t>X</a:t>
            </a:r>
            <a:r>
              <a:rPr lang="zh-CN" altLang="en-US" sz="2800">
                <a:latin typeface="楷体_GB2312" pitchFamily="49" charset="-122"/>
              </a:rPr>
              <a:t>与因变量</a:t>
            </a:r>
            <a:r>
              <a:rPr lang="en-US" altLang="zh-CN" sz="2800" i="1"/>
              <a:t>Y</a:t>
            </a:r>
            <a:r>
              <a:rPr lang="zh-CN" altLang="en-US" sz="2800">
                <a:latin typeface="楷体_GB2312" pitchFamily="49" charset="-122"/>
              </a:rPr>
              <a:t>之间的线性相关关系</a:t>
            </a:r>
            <a:r>
              <a:rPr lang="en-US" altLang="zh-CN" sz="2800">
                <a:latin typeface="楷体_GB2312" pitchFamily="49" charset="-122"/>
              </a:rPr>
              <a:t>.</a:t>
            </a:r>
            <a:endParaRPr lang="en-US" altLang="zh-CN" sz="2800">
              <a:latin typeface="楷体_GB2312" pitchFamily="49" charset="-122"/>
            </a:endParaRPr>
          </a:p>
        </p:txBody>
      </p:sp>
      <p:grpSp>
        <p:nvGrpSpPr>
          <p:cNvPr id="898060" name="Group 12"/>
          <p:cNvGrpSpPr/>
          <p:nvPr/>
        </p:nvGrpSpPr>
        <p:grpSpPr bwMode="auto">
          <a:xfrm>
            <a:off x="2135188" y="4919664"/>
            <a:ext cx="8159750" cy="554037"/>
            <a:chOff x="431" y="2962"/>
            <a:chExt cx="5140" cy="349"/>
          </a:xfrm>
        </p:grpSpPr>
        <p:sp>
          <p:nvSpPr>
            <p:cNvPr id="39949" name="Rectangle 13"/>
            <p:cNvSpPr>
              <a:spLocks noChangeArrowheads="1"/>
            </p:cNvSpPr>
            <p:nvPr/>
          </p:nvSpPr>
          <p:spPr bwMode="auto">
            <a:xfrm>
              <a:off x="431" y="2976"/>
              <a:ext cx="325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20000"/>
                </a:spcBef>
              </a:pPr>
              <a:r>
                <a:rPr lang="zh-CN" altLang="en-US" sz="2800">
                  <a:latin typeface="楷体_GB2312" pitchFamily="49" charset="-122"/>
                </a:rPr>
                <a:t>可以推出</a:t>
              </a:r>
              <a:r>
                <a:rPr lang="en-US" altLang="zh-CN" sz="2800">
                  <a:latin typeface="楷体_GB2312" pitchFamily="49" charset="-122"/>
                </a:rPr>
                <a:t>:</a:t>
              </a:r>
              <a:r>
                <a:rPr lang="zh-CN" altLang="en-US" sz="2800">
                  <a:latin typeface="楷体_GB2312" pitchFamily="49" charset="-122"/>
                </a:rPr>
                <a:t>在显著性水平  下</a:t>
              </a:r>
              <a:r>
                <a:rPr lang="en-US" altLang="zh-CN" sz="2800">
                  <a:latin typeface="宋体" pitchFamily="2" charset="-122"/>
                  <a:ea typeface="宋体" pitchFamily="2" charset="-122"/>
                </a:rPr>
                <a:t>,</a:t>
              </a:r>
              <a:r>
                <a:rPr lang="zh-CN" altLang="en-US" sz="2800">
                  <a:latin typeface="楷体_GB2312" pitchFamily="49" charset="-122"/>
                </a:rPr>
                <a:t>当</a:t>
              </a:r>
              <a:endParaRPr lang="zh-CN" altLang="en-US" sz="2800">
                <a:latin typeface="楷体_GB2312" pitchFamily="49" charset="-122"/>
              </a:endParaRPr>
            </a:p>
          </p:txBody>
        </p:sp>
        <p:graphicFrame>
          <p:nvGraphicFramePr>
            <p:cNvPr id="39950" name="Object 14"/>
            <p:cNvGraphicFramePr>
              <a:graphicFrameLocks noChangeAspect="1"/>
            </p:cNvGraphicFramePr>
            <p:nvPr/>
          </p:nvGraphicFramePr>
          <p:xfrm>
            <a:off x="2738" y="3044"/>
            <a:ext cx="227" cy="227"/>
          </p:xfrm>
          <a:graphic>
            <a:graphicData uri="http://schemas.openxmlformats.org/presentationml/2006/ole">
              <mc:AlternateContent xmlns:mc="http://schemas.openxmlformats.org/markup-compatibility/2006">
                <mc:Choice xmlns:v="urn:schemas-microsoft-com:vml" Requires="v">
                  <p:oleObj spid="_x0000_s2" name="公式" r:id="rId4" imgW="146685" imgH="146685" progId="Equation.3">
                    <p:embed/>
                  </p:oleObj>
                </mc:Choice>
                <mc:Fallback>
                  <p:oleObj name="公式" r:id="rId4" imgW="146685" imgH="146685" progId="Equation.3">
                    <p:embed/>
                    <p:pic>
                      <p:nvPicPr>
                        <p:cNvPr id="0" name="Object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38" y="3044"/>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9951" name="Object 15"/>
            <p:cNvGraphicFramePr>
              <a:graphicFrameLocks noChangeAspect="1"/>
            </p:cNvGraphicFramePr>
            <p:nvPr/>
          </p:nvGraphicFramePr>
          <p:xfrm>
            <a:off x="3634" y="2976"/>
            <a:ext cx="987" cy="335"/>
          </p:xfrm>
          <a:graphic>
            <a:graphicData uri="http://schemas.openxmlformats.org/presentationml/2006/ole">
              <mc:AlternateContent xmlns:mc="http://schemas.openxmlformats.org/markup-compatibility/2006">
                <mc:Choice xmlns:v="urn:schemas-microsoft-com:vml" Requires="v">
                  <p:oleObj spid="_x0000_s3" name="Equation" r:id="rId6" imgW="508000" imgH="248285" progId="Equation.DSMT4">
                    <p:embed/>
                  </p:oleObj>
                </mc:Choice>
                <mc:Fallback>
                  <p:oleObj name="Equation" r:id="rId6" imgW="508000" imgH="248285" progId="Equation.DSMT4">
                    <p:embed/>
                    <p:pic>
                      <p:nvPicPr>
                        <p:cNvPr id="0" name="Object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34" y="2976"/>
                          <a:ext cx="987"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9952" name="Rectangle 16"/>
            <p:cNvSpPr>
              <a:spLocks noChangeArrowheads="1"/>
            </p:cNvSpPr>
            <p:nvPr/>
          </p:nvSpPr>
          <p:spPr bwMode="auto">
            <a:xfrm>
              <a:off x="4513" y="2962"/>
              <a:ext cx="1058"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zh-CN" altLang="en-US" sz="2800">
                  <a:latin typeface="楷体_GB2312" pitchFamily="49" charset="-122"/>
                </a:rPr>
                <a:t>时拒绝</a:t>
              </a:r>
              <a:r>
                <a:rPr lang="en-US" altLang="zh-CN" sz="2800" i="1">
                  <a:latin typeface="楷体_GB2312" pitchFamily="49" charset="-122"/>
                </a:rPr>
                <a:t>H</a:t>
              </a:r>
              <a:r>
                <a:rPr lang="en-US" altLang="zh-CN" sz="2800" baseline="-25000">
                  <a:latin typeface="楷体_GB2312" pitchFamily="49" charset="-122"/>
                </a:rPr>
                <a:t>0</a:t>
              </a:r>
              <a:endParaRPr lang="en-US" altLang="zh-CN" sz="2800" baseline="-25000">
                <a:latin typeface="楷体_GB2312"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98056"/>
                                        </p:tgtEl>
                                        <p:attrNameLst>
                                          <p:attrName>style.visibility</p:attrName>
                                        </p:attrNameLst>
                                      </p:cBhvr>
                                      <p:to>
                                        <p:strVal val="visible"/>
                                      </p:to>
                                    </p:set>
                                    <p:animEffect transition="in" filter="wipe(left)">
                                      <p:cBhvr>
                                        <p:cTn id="7" dur="500"/>
                                        <p:tgtEl>
                                          <p:spTgt spid="89805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98057"/>
                                        </p:tgtEl>
                                        <p:attrNameLst>
                                          <p:attrName>style.visibility</p:attrName>
                                        </p:attrNameLst>
                                      </p:cBhvr>
                                      <p:to>
                                        <p:strVal val="visible"/>
                                      </p:to>
                                    </p:set>
                                    <p:animEffect transition="in" filter="wipe(left)">
                                      <p:cBhvr>
                                        <p:cTn id="12" dur="500"/>
                                        <p:tgtEl>
                                          <p:spTgt spid="89805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98055"/>
                                        </p:tgtEl>
                                        <p:attrNameLst>
                                          <p:attrName>style.visibility</p:attrName>
                                        </p:attrNameLst>
                                      </p:cBhvr>
                                      <p:to>
                                        <p:strVal val="visible"/>
                                      </p:to>
                                    </p:set>
                                    <p:animEffect transition="in" filter="wipe(left)">
                                      <p:cBhvr>
                                        <p:cTn id="17" dur="500"/>
                                        <p:tgtEl>
                                          <p:spTgt spid="89805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98058"/>
                                        </p:tgtEl>
                                        <p:attrNameLst>
                                          <p:attrName>style.visibility</p:attrName>
                                        </p:attrNameLst>
                                      </p:cBhvr>
                                      <p:to>
                                        <p:strVal val="visible"/>
                                      </p:to>
                                    </p:set>
                                    <p:animEffect transition="in" filter="wipe(left)">
                                      <p:cBhvr>
                                        <p:cTn id="22" dur="500"/>
                                        <p:tgtEl>
                                          <p:spTgt spid="89805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98059"/>
                                        </p:tgtEl>
                                        <p:attrNameLst>
                                          <p:attrName>style.visibility</p:attrName>
                                        </p:attrNameLst>
                                      </p:cBhvr>
                                      <p:to>
                                        <p:strVal val="visible"/>
                                      </p:to>
                                    </p:set>
                                    <p:animEffect transition="in" filter="wipe(left)">
                                      <p:cBhvr>
                                        <p:cTn id="27" dur="500"/>
                                        <p:tgtEl>
                                          <p:spTgt spid="89805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898060"/>
                                        </p:tgtEl>
                                        <p:attrNameLst>
                                          <p:attrName>style.visibility</p:attrName>
                                        </p:attrNameLst>
                                      </p:cBhvr>
                                      <p:to>
                                        <p:strVal val="visible"/>
                                      </p:to>
                                    </p:set>
                                    <p:animEffect transition="in" filter="wipe(left)">
                                      <p:cBhvr>
                                        <p:cTn id="32" dur="500"/>
                                        <p:tgtEl>
                                          <p:spTgt spid="8980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8056" grpId="0"/>
      <p:bldP spid="898057" grpId="0"/>
      <p:bldP spid="898058" grpId="0"/>
      <p:bldP spid="898059"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AutoShape 2">
            <a:hlinkClick r:id="" action="ppaction://hlinkshowjump?jump=previousslide" highlightClick="1"/>
          </p:cNvPr>
          <p:cNvSpPr>
            <a:spLocks noChangeArrowheads="1"/>
          </p:cNvSpPr>
          <p:nvPr/>
        </p:nvSpPr>
        <p:spPr bwMode="auto">
          <a:xfrm>
            <a:off x="9120189" y="6524625"/>
            <a:ext cx="287337" cy="215900"/>
          </a:xfrm>
          <a:prstGeom prst="actionButtonBackPrevious">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40963" name="AutoShape 3">
            <a:hlinkClick r:id="" action="ppaction://hlinkshowjump?jump=nextslide" highlightClick="1"/>
          </p:cNvPr>
          <p:cNvSpPr>
            <a:spLocks noChangeArrowheads="1"/>
          </p:cNvSpPr>
          <p:nvPr/>
        </p:nvSpPr>
        <p:spPr bwMode="auto">
          <a:xfrm>
            <a:off x="9407525" y="6524625"/>
            <a:ext cx="285750" cy="215900"/>
          </a:xfrm>
          <a:prstGeom prst="actionButtonForwardNex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40964" name="AutoShape 4">
            <a:hlinkClick r:id="" action="ppaction://hlinkshowjump?jump=firstslide" highlightClick="1"/>
          </p:cNvPr>
          <p:cNvSpPr>
            <a:spLocks noChangeArrowheads="1"/>
          </p:cNvSpPr>
          <p:nvPr/>
        </p:nvSpPr>
        <p:spPr bwMode="auto">
          <a:xfrm>
            <a:off x="9694864" y="6524625"/>
            <a:ext cx="287337" cy="215900"/>
          </a:xfrm>
          <a:prstGeom prst="actionButtonBeginning">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40965" name="AutoShape 5">
            <a:hlinkClick r:id="" action="ppaction://hlinkshowjump?jump=endshow" highlightClick="1"/>
          </p:cNvPr>
          <p:cNvSpPr>
            <a:spLocks noChangeArrowheads="1"/>
          </p:cNvSpPr>
          <p:nvPr/>
        </p:nvSpPr>
        <p:spPr bwMode="auto">
          <a:xfrm>
            <a:off x="9983789" y="6524625"/>
            <a:ext cx="287337" cy="215900"/>
          </a:xfrm>
          <a:prstGeom prst="actionButtonEnd">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40966" name="AutoShape 6">
            <a:hlinkClick r:id="rId1" action="ppaction://hlinksldjump" highlightClick="1"/>
          </p:cNvPr>
          <p:cNvSpPr>
            <a:spLocks noChangeArrowheads="1"/>
          </p:cNvSpPr>
          <p:nvPr/>
        </p:nvSpPr>
        <p:spPr bwMode="auto">
          <a:xfrm>
            <a:off x="10272714" y="6524625"/>
            <a:ext cx="288925" cy="215900"/>
          </a:xfrm>
          <a:prstGeom prst="actionButtonReturn">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40967" name="Rectangle 7"/>
          <p:cNvSpPr>
            <a:spLocks noChangeArrowheads="1"/>
          </p:cNvSpPr>
          <p:nvPr/>
        </p:nvSpPr>
        <p:spPr bwMode="auto">
          <a:xfrm>
            <a:off x="2063751" y="549276"/>
            <a:ext cx="7612063" cy="1160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r>
              <a:rPr kumimoji="0" lang="en-US" altLang="zh-CN" sz="2800" dirty="0">
                <a:solidFill>
                  <a:schemeClr val="tx2"/>
                </a:solidFill>
                <a:ea typeface="宋体" pitchFamily="2" charset="-122"/>
                <a:cs typeface="Times New Roman" panose="02020503050405090304" pitchFamily="18" charset="0"/>
              </a:rPr>
              <a:t>   </a:t>
            </a:r>
            <a:r>
              <a:rPr kumimoji="0" lang="zh-CN" altLang="en-US" sz="2800" dirty="0">
                <a:solidFill>
                  <a:schemeClr val="tx2"/>
                </a:solidFill>
                <a:cs typeface="Times New Roman" panose="02020503050405090304" pitchFamily="18" charset="0"/>
              </a:rPr>
              <a:t>由样本相关系数的定义可以得到 </a:t>
            </a:r>
            <a:r>
              <a:rPr kumimoji="0" lang="en-US" altLang="zh-CN" sz="2800" i="1" dirty="0">
                <a:solidFill>
                  <a:schemeClr val="tx2"/>
                </a:solidFill>
                <a:cs typeface="Times New Roman" panose="02020503050405090304" pitchFamily="18" charset="0"/>
              </a:rPr>
              <a:t>r</a:t>
            </a:r>
            <a:r>
              <a:rPr kumimoji="0" lang="zh-CN" altLang="en-US" sz="2800" dirty="0">
                <a:solidFill>
                  <a:schemeClr val="tx2"/>
                </a:solidFill>
                <a:cs typeface="Times New Roman" panose="02020503050405090304" pitchFamily="18" charset="0"/>
              </a:rPr>
              <a:t>与</a:t>
            </a:r>
            <a:r>
              <a:rPr kumimoji="0" lang="en-US" altLang="zh-CN" sz="2800" i="1" dirty="0">
                <a:solidFill>
                  <a:schemeClr val="tx2"/>
                </a:solidFill>
                <a:cs typeface="Times New Roman" panose="02020503050405090304" pitchFamily="18" charset="0"/>
              </a:rPr>
              <a:t>F</a:t>
            </a:r>
            <a:r>
              <a:rPr kumimoji="0" lang="zh-CN" altLang="en-US" sz="2800" dirty="0">
                <a:solidFill>
                  <a:schemeClr val="tx2"/>
                </a:solidFill>
                <a:cs typeface="Times New Roman" panose="02020503050405090304" pitchFamily="18" charset="0"/>
              </a:rPr>
              <a:t>统计量</a:t>
            </a:r>
            <a:endParaRPr kumimoji="0" lang="zh-CN" altLang="en-US" sz="2800" dirty="0">
              <a:solidFill>
                <a:schemeClr val="tx2"/>
              </a:solidFill>
              <a:cs typeface="Times New Roman" panose="02020503050405090304" pitchFamily="18" charset="0"/>
            </a:endParaRPr>
          </a:p>
          <a:p>
            <a:pPr eaLnBrk="1" hangingPunct="1"/>
            <a:r>
              <a:rPr kumimoji="0" lang="zh-CN" altLang="en-US" sz="2800" dirty="0">
                <a:solidFill>
                  <a:schemeClr val="tx2"/>
                </a:solidFill>
                <a:cs typeface="Times New Roman" panose="02020503050405090304" pitchFamily="18" charset="0"/>
              </a:rPr>
              <a:t>之间的关系</a:t>
            </a:r>
            <a:endParaRPr kumimoji="0" lang="zh-CN" altLang="en-US" sz="2800" dirty="0">
              <a:solidFill>
                <a:schemeClr val="tx2"/>
              </a:solidFill>
              <a:cs typeface="Times New Roman" panose="02020503050405090304" pitchFamily="18" charset="0"/>
            </a:endParaRPr>
          </a:p>
        </p:txBody>
      </p:sp>
      <p:graphicFrame>
        <p:nvGraphicFramePr>
          <p:cNvPr id="899080" name="Object 8"/>
          <p:cNvGraphicFramePr>
            <a:graphicFrameLocks noGrp="1" noChangeAspect="1"/>
          </p:cNvGraphicFramePr>
          <p:nvPr>
            <p:ph/>
          </p:nvPr>
        </p:nvGraphicFramePr>
        <p:xfrm>
          <a:off x="4656138" y="1128713"/>
          <a:ext cx="2233612" cy="923925"/>
        </p:xfrm>
        <a:graphic>
          <a:graphicData uri="http://schemas.openxmlformats.org/presentationml/2006/ole">
            <mc:AlternateContent xmlns:mc="http://schemas.openxmlformats.org/markup-compatibility/2006">
              <mc:Choice xmlns:v="urn:schemas-microsoft-com:vml" Requires="v">
                <p:oleObj spid="_x0000_s25601" name="Equation" r:id="rId2" imgW="1162685" imgH="474345" progId="Equation.DSMT4">
                  <p:embed/>
                </p:oleObj>
              </mc:Choice>
              <mc:Fallback>
                <p:oleObj name="Equation" r:id="rId2" imgW="1162685" imgH="474345" progId="Equation.DSMT4">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6138" y="1128713"/>
                        <a:ext cx="2233612" cy="923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99082" name="Rectangle 10"/>
          <p:cNvSpPr>
            <a:spLocks noChangeArrowheads="1"/>
          </p:cNvSpPr>
          <p:nvPr/>
        </p:nvSpPr>
        <p:spPr bwMode="auto">
          <a:xfrm>
            <a:off x="2424113" y="2420939"/>
            <a:ext cx="7993062" cy="10810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lnSpc>
                <a:spcPct val="120000"/>
              </a:lnSpc>
              <a:spcBef>
                <a:spcPct val="20000"/>
              </a:spcBef>
              <a:buClr>
                <a:schemeClr val="accent1"/>
              </a:buClr>
              <a:buSzPct val="85000"/>
              <a:buFont typeface="Wingdings" panose="05000000000000000000" pitchFamily="2" charset="2"/>
              <a:buNone/>
            </a:pPr>
            <a:r>
              <a:rPr kumimoji="0" lang="zh-CN" altLang="en-US" sz="2800" dirty="0">
                <a:solidFill>
                  <a:schemeClr val="tx2"/>
                </a:solidFill>
                <a:cs typeface="Times New Roman" panose="02020503050405090304" pitchFamily="18" charset="0"/>
              </a:rPr>
              <a:t>这表明， </a:t>
            </a:r>
            <a:r>
              <a:rPr kumimoji="0" lang="zh-CN" altLang="en-US" sz="2800" dirty="0">
                <a:solidFill>
                  <a:schemeClr val="tx2"/>
                </a:solidFill>
                <a:cs typeface="Times New Roman" panose="02020503050405090304" pitchFamily="18" charset="0"/>
                <a:sym typeface="Symbol" panose="05050102010706020507" pitchFamily="18" charset="2"/>
              </a:rPr>
              <a:t></a:t>
            </a:r>
            <a:r>
              <a:rPr kumimoji="0" lang="en-US" altLang="zh-CN" sz="2800" i="1" dirty="0">
                <a:solidFill>
                  <a:schemeClr val="tx2"/>
                </a:solidFill>
                <a:cs typeface="Times New Roman" panose="02020503050405090304" pitchFamily="18" charset="0"/>
                <a:sym typeface="Symbol" panose="05050102010706020507" pitchFamily="18" charset="2"/>
              </a:rPr>
              <a:t>r</a:t>
            </a:r>
            <a:r>
              <a:rPr kumimoji="0" lang="en-US" altLang="zh-CN" sz="2800" dirty="0">
                <a:solidFill>
                  <a:schemeClr val="tx2"/>
                </a:solidFill>
                <a:cs typeface="Times New Roman" panose="02020503050405090304" pitchFamily="18" charset="0"/>
                <a:sym typeface="Symbol" panose="05050102010706020507" pitchFamily="18" charset="2"/>
              </a:rPr>
              <a:t></a:t>
            </a:r>
            <a:r>
              <a:rPr kumimoji="0" lang="zh-CN" altLang="en-US" sz="2800" dirty="0">
                <a:solidFill>
                  <a:schemeClr val="tx2"/>
                </a:solidFill>
                <a:cs typeface="Times New Roman" panose="02020503050405090304" pitchFamily="18" charset="0"/>
              </a:rPr>
              <a:t>是</a:t>
            </a:r>
            <a:r>
              <a:rPr kumimoji="0" lang="en-US" altLang="zh-CN" sz="2800" i="1" dirty="0">
                <a:solidFill>
                  <a:schemeClr val="tx2"/>
                </a:solidFill>
                <a:cs typeface="Times New Roman" panose="02020503050405090304" pitchFamily="18" charset="0"/>
              </a:rPr>
              <a:t>F</a:t>
            </a:r>
            <a:r>
              <a:rPr kumimoji="0" lang="zh-CN" altLang="en-US" sz="2800" dirty="0">
                <a:solidFill>
                  <a:schemeClr val="tx2"/>
                </a:solidFill>
                <a:cs typeface="Times New Roman" panose="02020503050405090304" pitchFamily="18" charset="0"/>
              </a:rPr>
              <a:t>的严格单调增函数，故可以从</a:t>
            </a:r>
            <a:r>
              <a:rPr kumimoji="0" lang="en-US" altLang="zh-CN" sz="2800" i="1" dirty="0">
                <a:solidFill>
                  <a:schemeClr val="tx2"/>
                </a:solidFill>
                <a:cs typeface="Times New Roman" panose="02020503050405090304" pitchFamily="18" charset="0"/>
              </a:rPr>
              <a:t>F</a:t>
            </a:r>
            <a:r>
              <a:rPr kumimoji="0" lang="zh-CN" altLang="en-US" sz="2800" dirty="0">
                <a:solidFill>
                  <a:schemeClr val="tx2"/>
                </a:solidFill>
                <a:cs typeface="Times New Roman" panose="02020503050405090304" pitchFamily="18" charset="0"/>
              </a:rPr>
              <a:t>分布的</a:t>
            </a:r>
            <a:r>
              <a:rPr kumimoji="0" lang="zh-CN" altLang="en-US" sz="2800" i="1" dirty="0">
                <a:solidFill>
                  <a:schemeClr val="tx2"/>
                </a:solidFill>
                <a:cs typeface="Times New Roman" panose="02020503050405090304" pitchFamily="18" charset="0"/>
                <a:sym typeface="Symbol" panose="05050102010706020507" pitchFamily="18" charset="2"/>
              </a:rPr>
              <a:t> </a:t>
            </a:r>
            <a:r>
              <a:rPr kumimoji="0" lang="zh-CN" altLang="en-US" sz="2800" dirty="0">
                <a:solidFill>
                  <a:schemeClr val="tx2"/>
                </a:solidFill>
                <a:cs typeface="Times New Roman" panose="02020503050405090304" pitchFamily="18" charset="0"/>
              </a:rPr>
              <a:t>分位数 </a:t>
            </a:r>
            <a:r>
              <a:rPr kumimoji="0" lang="en-US" altLang="zh-CN" sz="2800" i="1" dirty="0">
                <a:solidFill>
                  <a:schemeClr val="tx2"/>
                </a:solidFill>
                <a:cs typeface="Times New Roman" panose="02020503050405090304" pitchFamily="18" charset="0"/>
              </a:rPr>
              <a:t>F</a:t>
            </a:r>
            <a:r>
              <a:rPr kumimoji="0" lang="en-US" altLang="zh-CN" sz="2800" i="1" baseline="-25000" dirty="0">
                <a:solidFill>
                  <a:schemeClr val="tx2"/>
                </a:solidFill>
                <a:cs typeface="Times New Roman" panose="02020503050405090304" pitchFamily="18" charset="0"/>
                <a:sym typeface="Symbol" panose="05050102010706020507" pitchFamily="18" charset="2"/>
              </a:rPr>
              <a:t></a:t>
            </a:r>
            <a:r>
              <a:rPr kumimoji="0" lang="en-US" altLang="zh-CN" sz="2800" dirty="0">
                <a:solidFill>
                  <a:schemeClr val="tx2"/>
                </a:solidFill>
                <a:cs typeface="Times New Roman" panose="02020503050405090304" pitchFamily="18" charset="0"/>
              </a:rPr>
              <a:t>(1, </a:t>
            </a:r>
            <a:r>
              <a:rPr kumimoji="0" lang="en-US" altLang="zh-CN" sz="2800" i="1" dirty="0">
                <a:solidFill>
                  <a:schemeClr val="tx2"/>
                </a:solidFill>
                <a:cs typeface="Times New Roman" panose="02020503050405090304" pitchFamily="18" charset="0"/>
              </a:rPr>
              <a:t>n</a:t>
            </a:r>
            <a:r>
              <a:rPr kumimoji="0" lang="en-US" altLang="zh-CN" sz="2800" dirty="0">
                <a:solidFill>
                  <a:schemeClr val="tx2"/>
                </a:solidFill>
                <a:cs typeface="Times New Roman" panose="02020503050405090304" pitchFamily="18" charset="0"/>
                <a:sym typeface="Symbol" panose="05050102010706020507" pitchFamily="18" charset="2"/>
              </a:rPr>
              <a:t></a:t>
            </a:r>
            <a:r>
              <a:rPr kumimoji="0" lang="en-US" altLang="zh-CN" sz="2800" dirty="0">
                <a:solidFill>
                  <a:schemeClr val="tx2"/>
                </a:solidFill>
                <a:cs typeface="Times New Roman" panose="02020503050405090304" pitchFamily="18" charset="0"/>
              </a:rPr>
              <a:t>2) </a:t>
            </a:r>
            <a:r>
              <a:rPr kumimoji="0" lang="zh-CN" altLang="en-US" sz="2800" dirty="0">
                <a:solidFill>
                  <a:schemeClr val="tx2"/>
                </a:solidFill>
                <a:cs typeface="Times New Roman" panose="02020503050405090304" pitchFamily="18" charset="0"/>
              </a:rPr>
              <a:t>得到 </a:t>
            </a:r>
            <a:r>
              <a:rPr kumimoji="0" lang="zh-CN" altLang="en-US" sz="2800" dirty="0">
                <a:solidFill>
                  <a:schemeClr val="tx2"/>
                </a:solidFill>
                <a:cs typeface="Times New Roman" panose="02020503050405090304" pitchFamily="18" charset="0"/>
                <a:sym typeface="Symbol" panose="05050102010706020507" pitchFamily="18" charset="2"/>
              </a:rPr>
              <a:t></a:t>
            </a:r>
            <a:r>
              <a:rPr kumimoji="0" lang="en-US" altLang="zh-CN" sz="2800" i="1" dirty="0">
                <a:solidFill>
                  <a:schemeClr val="tx2"/>
                </a:solidFill>
                <a:cs typeface="Times New Roman" panose="02020503050405090304" pitchFamily="18" charset="0"/>
                <a:sym typeface="Symbol" panose="05050102010706020507" pitchFamily="18" charset="2"/>
              </a:rPr>
              <a:t>r</a:t>
            </a:r>
            <a:r>
              <a:rPr kumimoji="0" lang="en-US" altLang="zh-CN" sz="2800" dirty="0">
                <a:solidFill>
                  <a:schemeClr val="tx2"/>
                </a:solidFill>
                <a:cs typeface="Times New Roman" panose="02020503050405090304" pitchFamily="18" charset="0"/>
                <a:sym typeface="Symbol" panose="05050102010706020507" pitchFamily="18" charset="2"/>
              </a:rPr>
              <a:t> </a:t>
            </a:r>
            <a:r>
              <a:rPr kumimoji="0" lang="zh-CN" altLang="en-US" sz="2800" dirty="0">
                <a:solidFill>
                  <a:schemeClr val="tx2"/>
                </a:solidFill>
                <a:cs typeface="Times New Roman" panose="02020503050405090304" pitchFamily="18" charset="0"/>
              </a:rPr>
              <a:t>的</a:t>
            </a:r>
            <a:r>
              <a:rPr kumimoji="0" lang="zh-CN" altLang="en-US" sz="2800" i="1" dirty="0">
                <a:solidFill>
                  <a:schemeClr val="tx2"/>
                </a:solidFill>
                <a:cs typeface="Times New Roman" panose="02020503050405090304" pitchFamily="18" charset="0"/>
                <a:sym typeface="Symbol" panose="05050102010706020507" pitchFamily="18" charset="2"/>
              </a:rPr>
              <a:t> </a:t>
            </a:r>
            <a:r>
              <a:rPr kumimoji="0" lang="zh-CN" altLang="en-US" sz="2800" dirty="0">
                <a:solidFill>
                  <a:schemeClr val="tx2"/>
                </a:solidFill>
                <a:cs typeface="Times New Roman" panose="02020503050405090304" pitchFamily="18" charset="0"/>
              </a:rPr>
              <a:t>分位数为</a:t>
            </a:r>
            <a:endParaRPr kumimoji="0" lang="zh-CN" altLang="en-US" sz="2800" dirty="0">
              <a:solidFill>
                <a:schemeClr val="tx2"/>
              </a:solidFill>
              <a:cs typeface="Times New Roman" panose="02020503050405090304" pitchFamily="18" charset="0"/>
            </a:endParaRPr>
          </a:p>
        </p:txBody>
      </p:sp>
      <p:graphicFrame>
        <p:nvGraphicFramePr>
          <p:cNvPr id="899091" name="Object 19"/>
          <p:cNvGraphicFramePr>
            <a:graphicFrameLocks noChangeAspect="1"/>
          </p:cNvGraphicFramePr>
          <p:nvPr/>
        </p:nvGraphicFramePr>
        <p:xfrm>
          <a:off x="3738563" y="3656013"/>
          <a:ext cx="4786312" cy="1047750"/>
        </p:xfrm>
        <a:graphic>
          <a:graphicData uri="http://schemas.openxmlformats.org/presentationml/2006/ole">
            <mc:AlternateContent xmlns:mc="http://schemas.openxmlformats.org/markup-compatibility/2006">
              <mc:Choice xmlns:v="urn:schemas-microsoft-com:vml" Requires="v">
                <p:oleObj spid="_x0000_s2" name="Equation" r:id="rId4" imgW="46329600" imgH="11582400" progId="Equation.DSMT4">
                  <p:embed/>
                </p:oleObj>
              </mc:Choice>
              <mc:Fallback>
                <p:oleObj name="Equation" r:id="rId4" imgW="46329600" imgH="11582400" progId="Equation.DSMT4">
                  <p:embed/>
                  <p:pic>
                    <p:nvPicPr>
                      <p:cNvPr id="0" name="Object 19"/>
                      <p:cNvPicPr>
                        <a:picLocks noChangeAspect="1" noChangeArrowheads="1"/>
                      </p:cNvPicPr>
                      <p:nvPr/>
                    </p:nvPicPr>
                    <p:blipFill>
                      <a:blip r:embed="rId5"/>
                      <a:srcRect/>
                      <a:stretch>
                        <a:fillRect/>
                      </a:stretch>
                    </p:blipFill>
                    <p:spPr bwMode="auto">
                      <a:xfrm>
                        <a:off x="3738563" y="3656013"/>
                        <a:ext cx="4786312" cy="104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899080"/>
                                        </p:tgtEl>
                                        <p:attrNameLst>
                                          <p:attrName>style.visibility</p:attrName>
                                        </p:attrNameLst>
                                      </p:cBhvr>
                                      <p:to>
                                        <p:strVal val="visible"/>
                                      </p:to>
                                    </p:set>
                                    <p:animEffect transition="in" filter="dissolve">
                                      <p:cBhvr>
                                        <p:cTn id="7" dur="500"/>
                                        <p:tgtEl>
                                          <p:spTgt spid="89908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99082"/>
                                        </p:tgtEl>
                                        <p:attrNameLst>
                                          <p:attrName>style.visibility</p:attrName>
                                        </p:attrNameLst>
                                      </p:cBhvr>
                                      <p:to>
                                        <p:strVal val="visible"/>
                                      </p:to>
                                    </p:set>
                                    <p:animEffect transition="in" filter="wipe(left)">
                                      <p:cBhvr>
                                        <p:cTn id="12" dur="500"/>
                                        <p:tgtEl>
                                          <p:spTgt spid="89908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99091"/>
                                        </p:tgtEl>
                                        <p:attrNameLst>
                                          <p:attrName>style.visibility</p:attrName>
                                        </p:attrNameLst>
                                      </p:cBhvr>
                                      <p:to>
                                        <p:strVal val="visible"/>
                                      </p:to>
                                    </p:set>
                                    <p:animEffect transition="in" filter="wipe(left)">
                                      <p:cBhvr>
                                        <p:cTn id="17" dur="500"/>
                                        <p:tgtEl>
                                          <p:spTgt spid="8990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908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AutoShape 2">
            <a:hlinkClick r:id="" action="ppaction://hlinkshowjump?jump=previousslide" highlightClick="1"/>
          </p:cNvPr>
          <p:cNvSpPr>
            <a:spLocks noChangeArrowheads="1"/>
          </p:cNvSpPr>
          <p:nvPr/>
        </p:nvSpPr>
        <p:spPr bwMode="auto">
          <a:xfrm>
            <a:off x="9120189" y="6524625"/>
            <a:ext cx="287337" cy="215900"/>
          </a:xfrm>
          <a:prstGeom prst="actionButtonBackPrevious">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41987" name="AutoShape 3">
            <a:hlinkClick r:id="" action="ppaction://hlinkshowjump?jump=nextslide" highlightClick="1"/>
          </p:cNvPr>
          <p:cNvSpPr>
            <a:spLocks noChangeArrowheads="1"/>
          </p:cNvSpPr>
          <p:nvPr/>
        </p:nvSpPr>
        <p:spPr bwMode="auto">
          <a:xfrm>
            <a:off x="9407525" y="6524625"/>
            <a:ext cx="285750" cy="215900"/>
          </a:xfrm>
          <a:prstGeom prst="actionButtonForwardNex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41988" name="AutoShape 4">
            <a:hlinkClick r:id="" action="ppaction://hlinkshowjump?jump=firstslide" highlightClick="1"/>
          </p:cNvPr>
          <p:cNvSpPr>
            <a:spLocks noChangeArrowheads="1"/>
          </p:cNvSpPr>
          <p:nvPr/>
        </p:nvSpPr>
        <p:spPr bwMode="auto">
          <a:xfrm>
            <a:off x="9694864" y="6524625"/>
            <a:ext cx="287337" cy="215900"/>
          </a:xfrm>
          <a:prstGeom prst="actionButtonBeginning">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41989" name="AutoShape 5">
            <a:hlinkClick r:id="" action="ppaction://hlinkshowjump?jump=endshow" highlightClick="1"/>
          </p:cNvPr>
          <p:cNvSpPr>
            <a:spLocks noChangeArrowheads="1"/>
          </p:cNvSpPr>
          <p:nvPr/>
        </p:nvSpPr>
        <p:spPr bwMode="auto">
          <a:xfrm>
            <a:off x="9983789" y="6524625"/>
            <a:ext cx="287337" cy="215900"/>
          </a:xfrm>
          <a:prstGeom prst="actionButtonEnd">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41990" name="AutoShape 6">
            <a:hlinkClick r:id="rId1" action="ppaction://hlinksldjump" highlightClick="1"/>
          </p:cNvPr>
          <p:cNvSpPr>
            <a:spLocks noChangeArrowheads="1"/>
          </p:cNvSpPr>
          <p:nvPr/>
        </p:nvSpPr>
        <p:spPr bwMode="auto">
          <a:xfrm>
            <a:off x="10272714" y="6524625"/>
            <a:ext cx="288925" cy="215900"/>
          </a:xfrm>
          <a:prstGeom prst="actionButtonReturn">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900103" name="Text Box 7"/>
          <p:cNvSpPr txBox="1">
            <a:spLocks noChangeArrowheads="1"/>
          </p:cNvSpPr>
          <p:nvPr/>
        </p:nvSpPr>
        <p:spPr bwMode="auto">
          <a:xfrm>
            <a:off x="2209801" y="476250"/>
            <a:ext cx="7705725" cy="3035300"/>
          </a:xfrm>
          <a:prstGeom prst="rect">
            <a:avLst/>
          </a:prstGeom>
          <a:noFill/>
          <a:ln>
            <a:noFill/>
          </a:ln>
          <a:effectLst/>
        </p:spPr>
        <p:txBody>
          <a:bodyPr>
            <a:spAutoFit/>
          </a:bodyPr>
          <a:lstStyle/>
          <a:p>
            <a:pPr algn="just" eaLnBrk="1" hangingPunct="1">
              <a:spcBef>
                <a:spcPct val="100000"/>
              </a:spcBef>
              <a:defRPr/>
            </a:pPr>
            <a:r>
              <a:rPr kumimoji="0" lang="en-US" altLang="zh-CN" sz="3900" dirty="0">
                <a:effectLst>
                  <a:outerShdw blurRad="38100" dist="38100" dir="2700000" algn="tl">
                    <a:srgbClr val="FFFFFF"/>
                  </a:outerShdw>
                </a:effectLst>
                <a:latin typeface="Times New Roman" panose="02020503050405090304" pitchFamily="18" charset="0"/>
                <a:ea typeface="宋体" pitchFamily="2" charset="-122"/>
                <a:cs typeface="Times New Roman" panose="02020503050405090304" pitchFamily="18" charset="0"/>
              </a:rPr>
              <a:t>    </a:t>
            </a:r>
            <a:r>
              <a:rPr kumimoji="0" lang="zh-CN" altLang="en-US" sz="2800" dirty="0">
                <a:effectLst>
                  <a:outerShdw blurRad="38100" dist="38100" dir="2700000" algn="tl">
                    <a:srgbClr val="FFFFFF"/>
                  </a:outerShdw>
                </a:effectLst>
                <a:latin typeface="Times New Roman" panose="02020503050405090304" pitchFamily="18" charset="0"/>
                <a:cs typeface="Times New Roman" panose="02020503050405090304" pitchFamily="18" charset="0"/>
              </a:rPr>
              <a:t>在一元线性回归场合，三种检验方法是等价的：在相同的显著性水平下，要么都拒绝原假设，要么都接受原假设，不会产生矛盾。</a:t>
            </a:r>
            <a:endParaRPr kumimoji="0" lang="zh-CN" altLang="en-US" sz="2800" dirty="0">
              <a:effectLst>
                <a:outerShdw blurRad="38100" dist="38100" dir="2700000" algn="tl">
                  <a:srgbClr val="FFFFFF"/>
                </a:outerShdw>
              </a:effectLst>
              <a:latin typeface="Times New Roman" panose="02020503050405090304" pitchFamily="18" charset="0"/>
              <a:cs typeface="Times New Roman" panose="02020503050405090304" pitchFamily="18" charset="0"/>
            </a:endParaRPr>
          </a:p>
          <a:p>
            <a:pPr algn="just" eaLnBrk="1" hangingPunct="1">
              <a:spcBef>
                <a:spcPct val="50000"/>
              </a:spcBef>
              <a:defRPr/>
            </a:pPr>
            <a:r>
              <a:rPr kumimoji="0" lang="zh-CN" altLang="en-US" sz="2800" dirty="0">
                <a:effectLst>
                  <a:outerShdw blurRad="38100" dist="38100" dir="2700000" algn="tl">
                    <a:srgbClr val="FFFFFF"/>
                  </a:outerShdw>
                </a:effectLst>
                <a:latin typeface="Times New Roman" panose="02020503050405090304" pitchFamily="18" charset="0"/>
                <a:cs typeface="Times New Roman" panose="02020503050405090304" pitchFamily="18" charset="0"/>
              </a:rPr>
              <a:t>  </a:t>
            </a:r>
            <a:r>
              <a:rPr kumimoji="0" lang="en-US" altLang="zh-CN" sz="2800" i="1" dirty="0">
                <a:effectLst>
                  <a:outerShdw blurRad="38100" dist="38100" dir="2700000" algn="tl">
                    <a:srgbClr val="FFFFFF"/>
                  </a:outerShdw>
                </a:effectLst>
                <a:latin typeface="Times New Roman" panose="02020503050405090304" pitchFamily="18" charset="0"/>
                <a:cs typeface="Times New Roman" panose="02020503050405090304" pitchFamily="18" charset="0"/>
              </a:rPr>
              <a:t>F</a:t>
            </a:r>
            <a:r>
              <a:rPr kumimoji="0" lang="zh-CN" altLang="en-US" sz="2800" dirty="0">
                <a:effectLst>
                  <a:outerShdw blurRad="38100" dist="38100" dir="2700000" algn="tl">
                    <a:srgbClr val="FFFFFF"/>
                  </a:outerShdw>
                </a:effectLst>
                <a:latin typeface="Times New Roman" panose="02020503050405090304" pitchFamily="18" charset="0"/>
                <a:cs typeface="Times New Roman" panose="02020503050405090304" pitchFamily="18" charset="0"/>
              </a:rPr>
              <a:t>检验可以很容易推广到多元回归分析场合，而其他二个则否，所以，</a:t>
            </a:r>
            <a:r>
              <a:rPr kumimoji="0" lang="en-US" altLang="zh-CN" sz="2800" i="1" dirty="0">
                <a:effectLst>
                  <a:outerShdw blurRad="38100" dist="38100" dir="2700000" algn="tl">
                    <a:srgbClr val="FFFFFF"/>
                  </a:outerShdw>
                </a:effectLst>
                <a:latin typeface="Times New Roman" panose="02020503050405090304" pitchFamily="18" charset="0"/>
                <a:cs typeface="Times New Roman" panose="02020503050405090304" pitchFamily="18" charset="0"/>
              </a:rPr>
              <a:t>F</a:t>
            </a:r>
            <a:r>
              <a:rPr kumimoji="0" lang="zh-CN" altLang="en-US" sz="2800" dirty="0">
                <a:effectLst>
                  <a:outerShdw blurRad="38100" dist="38100" dir="2700000" algn="tl">
                    <a:srgbClr val="FFFFFF"/>
                  </a:outerShdw>
                </a:effectLst>
                <a:latin typeface="Times New Roman" panose="02020503050405090304" pitchFamily="18" charset="0"/>
                <a:cs typeface="Times New Roman" panose="02020503050405090304" pitchFamily="18" charset="0"/>
              </a:rPr>
              <a:t>检验是最常用的关于回归方程显著性检验的检验方法。</a:t>
            </a:r>
            <a:endParaRPr kumimoji="0" lang="zh-CN" altLang="en-US" sz="2800" dirty="0">
              <a:effectLst>
                <a:outerShdw blurRad="38100" dist="38100" dir="2700000" algn="tl">
                  <a:srgbClr val="FFFFFF"/>
                </a:outerShdw>
              </a:effectLst>
              <a:latin typeface="Times New Roman" panose="02020503050405090304" pitchFamily="18" charset="0"/>
              <a:cs typeface="Times New Roman" panose="02020503050405090304"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AutoShape 2">
            <a:hlinkClick r:id="" action="ppaction://hlinkshowjump?jump=previousslide" highlightClick="1"/>
          </p:cNvPr>
          <p:cNvSpPr>
            <a:spLocks noChangeArrowheads="1"/>
          </p:cNvSpPr>
          <p:nvPr/>
        </p:nvSpPr>
        <p:spPr bwMode="auto">
          <a:xfrm>
            <a:off x="9120189" y="6524625"/>
            <a:ext cx="287337" cy="215900"/>
          </a:xfrm>
          <a:prstGeom prst="actionButtonBackPrevious">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43011" name="AutoShape 3">
            <a:hlinkClick r:id="" action="ppaction://hlinkshowjump?jump=nextslide" highlightClick="1"/>
          </p:cNvPr>
          <p:cNvSpPr>
            <a:spLocks noChangeArrowheads="1"/>
          </p:cNvSpPr>
          <p:nvPr/>
        </p:nvSpPr>
        <p:spPr bwMode="auto">
          <a:xfrm>
            <a:off x="9407525" y="6524625"/>
            <a:ext cx="285750" cy="215900"/>
          </a:xfrm>
          <a:prstGeom prst="actionButtonForwardNex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43012" name="AutoShape 4">
            <a:hlinkClick r:id="" action="ppaction://hlinkshowjump?jump=firstslide" highlightClick="1"/>
          </p:cNvPr>
          <p:cNvSpPr>
            <a:spLocks noChangeArrowheads="1"/>
          </p:cNvSpPr>
          <p:nvPr/>
        </p:nvSpPr>
        <p:spPr bwMode="auto">
          <a:xfrm>
            <a:off x="9694864" y="6524625"/>
            <a:ext cx="287337" cy="215900"/>
          </a:xfrm>
          <a:prstGeom prst="actionButtonBeginning">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43013" name="AutoShape 5">
            <a:hlinkClick r:id="" action="ppaction://hlinkshowjump?jump=endshow" highlightClick="1"/>
          </p:cNvPr>
          <p:cNvSpPr>
            <a:spLocks noChangeArrowheads="1"/>
          </p:cNvSpPr>
          <p:nvPr/>
        </p:nvSpPr>
        <p:spPr bwMode="auto">
          <a:xfrm>
            <a:off x="9983789" y="6524625"/>
            <a:ext cx="287337" cy="215900"/>
          </a:xfrm>
          <a:prstGeom prst="actionButtonEnd">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43014" name="AutoShape 6">
            <a:hlinkClick r:id="rId1" action="ppaction://hlinksldjump" highlightClick="1"/>
          </p:cNvPr>
          <p:cNvSpPr>
            <a:spLocks noChangeArrowheads="1"/>
          </p:cNvSpPr>
          <p:nvPr/>
        </p:nvSpPr>
        <p:spPr bwMode="auto">
          <a:xfrm>
            <a:off x="10272714" y="6524625"/>
            <a:ext cx="288925" cy="215900"/>
          </a:xfrm>
          <a:prstGeom prst="actionButtonReturn">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43015" name="Rectangle 8"/>
          <p:cNvSpPr>
            <a:spLocks noChangeArrowheads="1"/>
          </p:cNvSpPr>
          <p:nvPr/>
        </p:nvSpPr>
        <p:spPr bwMode="auto">
          <a:xfrm>
            <a:off x="1774825" y="979488"/>
            <a:ext cx="8953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zh-CN" altLang="en-US" sz="2800">
                <a:solidFill>
                  <a:schemeClr val="accent2"/>
                </a:solidFill>
                <a:latin typeface="楷体_GB2312" pitchFamily="49" charset="-122"/>
              </a:rPr>
              <a:t>解：</a:t>
            </a:r>
            <a:endParaRPr lang="zh-CN" altLang="en-US" sz="2800">
              <a:latin typeface="楷体_GB2312" pitchFamily="49" charset="-122"/>
            </a:endParaRPr>
          </a:p>
        </p:txBody>
      </p:sp>
      <p:graphicFrame>
        <p:nvGraphicFramePr>
          <p:cNvPr id="944139" name="Object 11"/>
          <p:cNvGraphicFramePr>
            <a:graphicFrameLocks noChangeAspect="1"/>
          </p:cNvGraphicFramePr>
          <p:nvPr/>
        </p:nvGraphicFramePr>
        <p:xfrm>
          <a:off x="2551113" y="828675"/>
          <a:ext cx="8042275" cy="874713"/>
        </p:xfrm>
        <a:graphic>
          <a:graphicData uri="http://schemas.openxmlformats.org/presentationml/2006/ole">
            <mc:AlternateContent xmlns:mc="http://schemas.openxmlformats.org/markup-compatibility/2006">
              <mc:Choice xmlns:v="urn:schemas-microsoft-com:vml" Requires="v">
                <p:oleObj spid="_x0000_s25601" name="Equation" r:id="rId2" imgW="82600800" imgH="8839200" progId="Equation.DSMT4">
                  <p:embed/>
                </p:oleObj>
              </mc:Choice>
              <mc:Fallback>
                <p:oleObj name="Equation" r:id="rId2" imgW="82600800" imgH="8839200" progId="Equation.DSMT4">
                  <p:embed/>
                  <p:pic>
                    <p:nvPicPr>
                      <p:cNvPr id="0" name="Object 11"/>
                      <p:cNvPicPr>
                        <a:picLocks noChangeAspect="1" noChangeArrowheads="1"/>
                      </p:cNvPicPr>
                      <p:nvPr/>
                    </p:nvPicPr>
                    <p:blipFill>
                      <a:blip r:embed="rId3"/>
                      <a:srcRect/>
                      <a:stretch>
                        <a:fillRect/>
                      </a:stretch>
                    </p:blipFill>
                    <p:spPr bwMode="auto">
                      <a:xfrm>
                        <a:off x="2551113" y="828675"/>
                        <a:ext cx="8042275" cy="87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44140" name="Rectangle 12"/>
          <p:cNvSpPr>
            <a:spLocks noChangeArrowheads="1"/>
          </p:cNvSpPr>
          <p:nvPr/>
        </p:nvSpPr>
        <p:spPr bwMode="auto">
          <a:xfrm>
            <a:off x="2351089" y="3787775"/>
            <a:ext cx="1296987" cy="501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3200">
                <a:solidFill>
                  <a:schemeClr val="tx1"/>
                </a:solidFill>
                <a:latin typeface="Times New Roman" panose="02020503050405090304" pitchFamily="18" charset="0"/>
                <a:ea typeface="宋体" pitchFamily="2" charset="-122"/>
              </a:defRPr>
            </a:lvl1pPr>
            <a:lvl2pPr marL="742950" indent="-285750">
              <a:spcBef>
                <a:spcPct val="20000"/>
              </a:spcBef>
              <a:buChar char="–"/>
              <a:defRPr kumimoji="1" sz="2800">
                <a:solidFill>
                  <a:schemeClr val="tx1"/>
                </a:solidFill>
                <a:latin typeface="Times New Roman" panose="02020503050405090304" pitchFamily="18" charset="0"/>
                <a:ea typeface="宋体" pitchFamily="2" charset="-122"/>
              </a:defRPr>
            </a:lvl2pPr>
            <a:lvl3pPr marL="1143000" indent="-228600">
              <a:spcBef>
                <a:spcPct val="20000"/>
              </a:spcBef>
              <a:buChar char="•"/>
              <a:defRPr kumimoji="1" sz="2400">
                <a:solidFill>
                  <a:schemeClr val="tx1"/>
                </a:solidFill>
                <a:latin typeface="Times New Roman" panose="02020503050405090304" pitchFamily="18" charset="0"/>
                <a:ea typeface="宋体" pitchFamily="2" charset="-122"/>
              </a:defRPr>
            </a:lvl3pPr>
            <a:lvl4pPr marL="1600200" indent="-228600">
              <a:spcBef>
                <a:spcPct val="20000"/>
              </a:spcBef>
              <a:buChar char="–"/>
              <a:defRPr kumimoji="1" sz="2000">
                <a:solidFill>
                  <a:schemeClr val="tx1"/>
                </a:solidFill>
                <a:latin typeface="Times New Roman" panose="02020503050405090304" pitchFamily="18" charset="0"/>
                <a:ea typeface="宋体" pitchFamily="2" charset="-122"/>
              </a:defRPr>
            </a:lvl4pPr>
            <a:lvl5pPr marL="2057400" indent="-228600">
              <a:spcBef>
                <a:spcPct val="20000"/>
              </a:spcBef>
              <a:buChar char="»"/>
              <a:defRPr kumimoji="1" sz="2000">
                <a:solidFill>
                  <a:schemeClr val="tx1"/>
                </a:solidFill>
                <a:latin typeface="Times New Roman" panose="02020503050405090304"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503050405090304"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503050405090304"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503050405090304"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503050405090304" pitchFamily="18" charset="0"/>
                <a:ea typeface="宋体" pitchFamily="2" charset="-122"/>
              </a:defRPr>
            </a:lvl9pPr>
          </a:lstStyle>
          <a:p>
            <a:pPr eaLnBrk="1" hangingPunct="1">
              <a:buFontTx/>
              <a:buNone/>
            </a:pPr>
            <a:r>
              <a:rPr kumimoji="0" lang="zh-CN" altLang="en-US" sz="2400">
                <a:ea typeface="楷体_GB2312" pitchFamily="49" charset="-122"/>
              </a:rPr>
              <a:t>显然</a:t>
            </a:r>
            <a:r>
              <a:rPr kumimoji="0" lang="zh-CN" altLang="en-US" sz="2400"/>
              <a:t>，</a:t>
            </a:r>
            <a:endParaRPr lang="zh-CN" altLang="en-US" sz="2400"/>
          </a:p>
        </p:txBody>
      </p:sp>
      <p:graphicFrame>
        <p:nvGraphicFramePr>
          <p:cNvPr id="944141" name="Object 13"/>
          <p:cNvGraphicFramePr>
            <a:graphicFrameLocks noChangeAspect="1"/>
          </p:cNvGraphicFramePr>
          <p:nvPr/>
        </p:nvGraphicFramePr>
        <p:xfrm>
          <a:off x="2576513" y="1760538"/>
          <a:ext cx="2292350" cy="1087437"/>
        </p:xfrm>
        <a:graphic>
          <a:graphicData uri="http://schemas.openxmlformats.org/presentationml/2006/ole">
            <mc:AlternateContent xmlns:mc="http://schemas.openxmlformats.org/markup-compatibility/2006">
              <mc:Choice xmlns:v="urn:schemas-microsoft-com:vml" Requires="v">
                <p:oleObj spid="_x0000_s2" name="Equation" r:id="rId4" imgW="23469600" imgH="10972800" progId="Equation.DSMT4">
                  <p:embed/>
                </p:oleObj>
              </mc:Choice>
              <mc:Fallback>
                <p:oleObj name="Equation" r:id="rId4" imgW="23469600" imgH="10972800" progId="Equation.DSMT4">
                  <p:embed/>
                  <p:pic>
                    <p:nvPicPr>
                      <p:cNvPr id="0" name="Object 13"/>
                      <p:cNvPicPr>
                        <a:picLocks noChangeAspect="1" noChangeArrowheads="1"/>
                      </p:cNvPicPr>
                      <p:nvPr/>
                    </p:nvPicPr>
                    <p:blipFill>
                      <a:blip r:embed="rId5"/>
                      <a:srcRect/>
                      <a:stretch>
                        <a:fillRect/>
                      </a:stretch>
                    </p:blipFill>
                    <p:spPr bwMode="auto">
                      <a:xfrm>
                        <a:off x="2576513" y="1760538"/>
                        <a:ext cx="2292350" cy="108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44142" name="Rectangle 14"/>
          <p:cNvSpPr>
            <a:spLocks noChangeArrowheads="1"/>
          </p:cNvSpPr>
          <p:nvPr/>
        </p:nvSpPr>
        <p:spPr bwMode="auto">
          <a:xfrm>
            <a:off x="1847851" y="4435475"/>
            <a:ext cx="792163" cy="501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3200">
                <a:solidFill>
                  <a:schemeClr val="tx1"/>
                </a:solidFill>
                <a:latin typeface="Times New Roman" panose="02020503050405090304" pitchFamily="18" charset="0"/>
                <a:ea typeface="宋体" pitchFamily="2" charset="-122"/>
              </a:defRPr>
            </a:lvl1pPr>
            <a:lvl2pPr marL="742950" indent="-285750">
              <a:spcBef>
                <a:spcPct val="20000"/>
              </a:spcBef>
              <a:buChar char="–"/>
              <a:defRPr kumimoji="1" sz="2800">
                <a:solidFill>
                  <a:schemeClr val="tx1"/>
                </a:solidFill>
                <a:latin typeface="Times New Roman" panose="02020503050405090304" pitchFamily="18" charset="0"/>
                <a:ea typeface="宋体" pitchFamily="2" charset="-122"/>
              </a:defRPr>
            </a:lvl2pPr>
            <a:lvl3pPr marL="1143000" indent="-228600">
              <a:spcBef>
                <a:spcPct val="20000"/>
              </a:spcBef>
              <a:buChar char="•"/>
              <a:defRPr kumimoji="1" sz="2400">
                <a:solidFill>
                  <a:schemeClr val="tx1"/>
                </a:solidFill>
                <a:latin typeface="Times New Roman" panose="02020503050405090304" pitchFamily="18" charset="0"/>
                <a:ea typeface="宋体" pitchFamily="2" charset="-122"/>
              </a:defRPr>
            </a:lvl3pPr>
            <a:lvl4pPr marL="1600200" indent="-228600">
              <a:spcBef>
                <a:spcPct val="20000"/>
              </a:spcBef>
              <a:buChar char="–"/>
              <a:defRPr kumimoji="1" sz="2000">
                <a:solidFill>
                  <a:schemeClr val="tx1"/>
                </a:solidFill>
                <a:latin typeface="Times New Roman" panose="02020503050405090304" pitchFamily="18" charset="0"/>
                <a:ea typeface="宋体" pitchFamily="2" charset="-122"/>
              </a:defRPr>
            </a:lvl4pPr>
            <a:lvl5pPr marL="2057400" indent="-228600">
              <a:spcBef>
                <a:spcPct val="20000"/>
              </a:spcBef>
              <a:buChar char="»"/>
              <a:defRPr kumimoji="1" sz="2000">
                <a:solidFill>
                  <a:schemeClr val="tx1"/>
                </a:solidFill>
                <a:latin typeface="Times New Roman" panose="02020503050405090304"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503050405090304"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503050405090304"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503050405090304"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503050405090304" pitchFamily="18" charset="0"/>
                <a:ea typeface="宋体" pitchFamily="2" charset="-122"/>
              </a:defRPr>
            </a:lvl9pPr>
          </a:lstStyle>
          <a:p>
            <a:pPr eaLnBrk="1" hangingPunct="1">
              <a:buFontTx/>
              <a:buNone/>
            </a:pPr>
            <a:r>
              <a:rPr kumimoji="0" lang="en-US" altLang="zh-CN" sz="2400"/>
              <a:t>(2)</a:t>
            </a:r>
            <a:endParaRPr lang="en-US" altLang="zh-CN" sz="2400"/>
          </a:p>
        </p:txBody>
      </p:sp>
      <p:graphicFrame>
        <p:nvGraphicFramePr>
          <p:cNvPr id="944143" name="Object 15"/>
          <p:cNvGraphicFramePr>
            <a:graphicFrameLocks noChangeAspect="1"/>
          </p:cNvGraphicFramePr>
          <p:nvPr/>
        </p:nvGraphicFramePr>
        <p:xfrm>
          <a:off x="5313363" y="1689100"/>
          <a:ext cx="3444875" cy="1174750"/>
        </p:xfrm>
        <a:graphic>
          <a:graphicData uri="http://schemas.openxmlformats.org/presentationml/2006/ole">
            <mc:AlternateContent xmlns:mc="http://schemas.openxmlformats.org/markup-compatibility/2006">
              <mc:Choice xmlns:v="urn:schemas-microsoft-com:vml" Requires="v">
                <p:oleObj spid="_x0000_s3" name="Equation" r:id="rId6" imgW="35356800" imgH="11887200" progId="Equation.DSMT4">
                  <p:embed/>
                </p:oleObj>
              </mc:Choice>
              <mc:Fallback>
                <p:oleObj name="Equation" r:id="rId6" imgW="35356800" imgH="11887200" progId="Equation.DSMT4">
                  <p:embed/>
                  <p:pic>
                    <p:nvPicPr>
                      <p:cNvPr id="0" name="Object 15"/>
                      <p:cNvPicPr>
                        <a:picLocks noChangeAspect="1" noChangeArrowheads="1"/>
                      </p:cNvPicPr>
                      <p:nvPr/>
                    </p:nvPicPr>
                    <p:blipFill>
                      <a:blip r:embed="rId7"/>
                      <a:srcRect/>
                      <a:stretch>
                        <a:fillRect/>
                      </a:stretch>
                    </p:blipFill>
                    <p:spPr bwMode="auto">
                      <a:xfrm>
                        <a:off x="5313363" y="1689100"/>
                        <a:ext cx="3444875" cy="117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44144" name="Rectangle 16"/>
          <p:cNvSpPr>
            <a:spLocks noChangeArrowheads="1"/>
          </p:cNvSpPr>
          <p:nvPr/>
        </p:nvSpPr>
        <p:spPr bwMode="auto">
          <a:xfrm>
            <a:off x="1847850" y="3068638"/>
            <a:ext cx="649288" cy="501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3200">
                <a:solidFill>
                  <a:schemeClr val="tx1"/>
                </a:solidFill>
                <a:latin typeface="Times New Roman" panose="02020503050405090304" pitchFamily="18" charset="0"/>
                <a:ea typeface="宋体" pitchFamily="2" charset="-122"/>
              </a:defRPr>
            </a:lvl1pPr>
            <a:lvl2pPr marL="742950" indent="-285750">
              <a:spcBef>
                <a:spcPct val="20000"/>
              </a:spcBef>
              <a:buChar char="–"/>
              <a:defRPr kumimoji="1" sz="2800">
                <a:solidFill>
                  <a:schemeClr val="tx1"/>
                </a:solidFill>
                <a:latin typeface="Times New Roman" panose="02020503050405090304" pitchFamily="18" charset="0"/>
                <a:ea typeface="宋体" pitchFamily="2" charset="-122"/>
              </a:defRPr>
            </a:lvl2pPr>
            <a:lvl3pPr marL="1143000" indent="-228600">
              <a:spcBef>
                <a:spcPct val="20000"/>
              </a:spcBef>
              <a:buChar char="•"/>
              <a:defRPr kumimoji="1" sz="2400">
                <a:solidFill>
                  <a:schemeClr val="tx1"/>
                </a:solidFill>
                <a:latin typeface="Times New Roman" panose="02020503050405090304" pitchFamily="18" charset="0"/>
                <a:ea typeface="宋体" pitchFamily="2" charset="-122"/>
              </a:defRPr>
            </a:lvl3pPr>
            <a:lvl4pPr marL="1600200" indent="-228600">
              <a:spcBef>
                <a:spcPct val="20000"/>
              </a:spcBef>
              <a:buChar char="–"/>
              <a:defRPr kumimoji="1" sz="2000">
                <a:solidFill>
                  <a:schemeClr val="tx1"/>
                </a:solidFill>
                <a:latin typeface="Times New Roman" panose="02020503050405090304" pitchFamily="18" charset="0"/>
                <a:ea typeface="宋体" pitchFamily="2" charset="-122"/>
              </a:defRPr>
            </a:lvl4pPr>
            <a:lvl5pPr marL="2057400" indent="-228600">
              <a:spcBef>
                <a:spcPct val="20000"/>
              </a:spcBef>
              <a:buChar char="»"/>
              <a:defRPr kumimoji="1" sz="2000">
                <a:solidFill>
                  <a:schemeClr val="tx1"/>
                </a:solidFill>
                <a:latin typeface="Times New Roman" panose="02020503050405090304"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503050405090304"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503050405090304"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503050405090304"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503050405090304" pitchFamily="18" charset="0"/>
                <a:ea typeface="宋体" pitchFamily="2" charset="-122"/>
              </a:defRPr>
            </a:lvl9pPr>
          </a:lstStyle>
          <a:p>
            <a:pPr eaLnBrk="1" hangingPunct="1">
              <a:buFontTx/>
              <a:buNone/>
            </a:pPr>
            <a:r>
              <a:rPr kumimoji="0" lang="en-US" altLang="zh-CN" sz="2400"/>
              <a:t>(1)</a:t>
            </a:r>
            <a:endParaRPr lang="en-US" altLang="zh-CN" sz="2400"/>
          </a:p>
        </p:txBody>
      </p:sp>
      <p:graphicFrame>
        <p:nvGraphicFramePr>
          <p:cNvPr id="944145" name="Object 17"/>
          <p:cNvGraphicFramePr>
            <a:graphicFrameLocks noChangeAspect="1"/>
          </p:cNvGraphicFramePr>
          <p:nvPr/>
        </p:nvGraphicFramePr>
        <p:xfrm>
          <a:off x="2527300" y="2765425"/>
          <a:ext cx="3194050" cy="1035050"/>
        </p:xfrm>
        <a:graphic>
          <a:graphicData uri="http://schemas.openxmlformats.org/presentationml/2006/ole">
            <mc:AlternateContent xmlns:mc="http://schemas.openxmlformats.org/markup-compatibility/2006">
              <mc:Choice xmlns:v="urn:schemas-microsoft-com:vml" Requires="v">
                <p:oleObj spid="_x0000_s4" name="Equation" r:id="rId8" imgW="32613600" imgH="10363200" progId="Equation.DSMT4">
                  <p:embed/>
                </p:oleObj>
              </mc:Choice>
              <mc:Fallback>
                <p:oleObj name="Equation" r:id="rId8" imgW="32613600" imgH="10363200" progId="Equation.DSMT4">
                  <p:embed/>
                  <p:pic>
                    <p:nvPicPr>
                      <p:cNvPr id="0" name="Object 17"/>
                      <p:cNvPicPr>
                        <a:picLocks noChangeAspect="1" noChangeArrowheads="1"/>
                      </p:cNvPicPr>
                      <p:nvPr/>
                    </p:nvPicPr>
                    <p:blipFill>
                      <a:blip r:embed="rId9"/>
                      <a:srcRect/>
                      <a:stretch>
                        <a:fillRect/>
                      </a:stretch>
                    </p:blipFill>
                    <p:spPr bwMode="auto">
                      <a:xfrm>
                        <a:off x="2527300" y="2765425"/>
                        <a:ext cx="3194050" cy="103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44147" name="Object 19"/>
          <p:cNvGraphicFramePr>
            <a:graphicFrameLocks noChangeAspect="1"/>
          </p:cNvGraphicFramePr>
          <p:nvPr/>
        </p:nvGraphicFramePr>
        <p:xfrm>
          <a:off x="6096001" y="3068638"/>
          <a:ext cx="4348163" cy="531812"/>
        </p:xfrm>
        <a:graphic>
          <a:graphicData uri="http://schemas.openxmlformats.org/presentationml/2006/ole">
            <mc:AlternateContent xmlns:mc="http://schemas.openxmlformats.org/markup-compatibility/2006">
              <mc:Choice xmlns:v="urn:schemas-microsoft-com:vml" Requires="v">
                <p:oleObj spid="_x0000_s5" name="公式" r:id="rId10" imgW="2190115" imgH="248285" progId="Equation.3">
                  <p:embed/>
                </p:oleObj>
              </mc:Choice>
              <mc:Fallback>
                <p:oleObj name="公式" r:id="rId10" imgW="2190115" imgH="248285" progId="Equation.3">
                  <p:embed/>
                  <p:pic>
                    <p:nvPicPr>
                      <p:cNvPr id="0" name="Object 1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096001" y="3068638"/>
                        <a:ext cx="4348163" cy="53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44148" name="Rectangle 20"/>
          <p:cNvSpPr>
            <a:spLocks noChangeArrowheads="1"/>
          </p:cNvSpPr>
          <p:nvPr/>
        </p:nvSpPr>
        <p:spPr bwMode="auto">
          <a:xfrm>
            <a:off x="5519739" y="3787775"/>
            <a:ext cx="4897437" cy="501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3200">
                <a:solidFill>
                  <a:schemeClr val="tx1"/>
                </a:solidFill>
                <a:latin typeface="Times New Roman" panose="02020503050405090304" pitchFamily="18" charset="0"/>
                <a:ea typeface="宋体" pitchFamily="2" charset="-122"/>
              </a:defRPr>
            </a:lvl1pPr>
            <a:lvl2pPr marL="742950" indent="-285750">
              <a:spcBef>
                <a:spcPct val="20000"/>
              </a:spcBef>
              <a:buChar char="–"/>
              <a:defRPr kumimoji="1" sz="2800">
                <a:solidFill>
                  <a:schemeClr val="tx1"/>
                </a:solidFill>
                <a:latin typeface="Times New Roman" panose="02020503050405090304" pitchFamily="18" charset="0"/>
                <a:ea typeface="宋体" pitchFamily="2" charset="-122"/>
              </a:defRPr>
            </a:lvl2pPr>
            <a:lvl3pPr marL="1143000" indent="-228600">
              <a:spcBef>
                <a:spcPct val="20000"/>
              </a:spcBef>
              <a:buChar char="•"/>
              <a:defRPr kumimoji="1" sz="2400">
                <a:solidFill>
                  <a:schemeClr val="tx1"/>
                </a:solidFill>
                <a:latin typeface="Times New Roman" panose="02020503050405090304" pitchFamily="18" charset="0"/>
                <a:ea typeface="宋体" pitchFamily="2" charset="-122"/>
              </a:defRPr>
            </a:lvl3pPr>
            <a:lvl4pPr marL="1600200" indent="-228600">
              <a:spcBef>
                <a:spcPct val="20000"/>
              </a:spcBef>
              <a:buChar char="–"/>
              <a:defRPr kumimoji="1" sz="2000">
                <a:solidFill>
                  <a:schemeClr val="tx1"/>
                </a:solidFill>
                <a:latin typeface="Times New Roman" panose="02020503050405090304" pitchFamily="18" charset="0"/>
                <a:ea typeface="宋体" pitchFamily="2" charset="-122"/>
              </a:defRPr>
            </a:lvl4pPr>
            <a:lvl5pPr marL="2057400" indent="-228600">
              <a:spcBef>
                <a:spcPct val="20000"/>
              </a:spcBef>
              <a:buChar char="»"/>
              <a:defRPr kumimoji="1" sz="2000">
                <a:solidFill>
                  <a:schemeClr val="tx1"/>
                </a:solidFill>
                <a:latin typeface="Times New Roman" panose="02020503050405090304"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503050405090304"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503050405090304"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503050405090304"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503050405090304" pitchFamily="18" charset="0"/>
                <a:ea typeface="宋体" pitchFamily="2" charset="-122"/>
              </a:defRPr>
            </a:lvl9pPr>
          </a:lstStyle>
          <a:p>
            <a:pPr eaLnBrk="1" hangingPunct="1">
              <a:buFontTx/>
              <a:buNone/>
            </a:pPr>
            <a:r>
              <a:rPr kumimoji="0" lang="zh-CN" altLang="en-US" sz="2400">
                <a:latin typeface="楷体_GB2312" pitchFamily="49" charset="-122"/>
                <a:ea typeface="楷体_GB2312" pitchFamily="49" charset="-122"/>
              </a:rPr>
              <a:t>于是拒绝</a:t>
            </a:r>
            <a:r>
              <a:rPr kumimoji="0" lang="en-US" altLang="zh-CN" sz="2400">
                <a:latin typeface="楷体_GB2312" pitchFamily="49" charset="-122"/>
                <a:ea typeface="楷体_GB2312" pitchFamily="49" charset="-122"/>
              </a:rPr>
              <a:t>H</a:t>
            </a:r>
            <a:r>
              <a:rPr kumimoji="0" lang="en-US" altLang="zh-CN" sz="2400" baseline="-25000">
                <a:latin typeface="楷体_GB2312" pitchFamily="49" charset="-122"/>
                <a:ea typeface="楷体_GB2312" pitchFamily="49" charset="-122"/>
              </a:rPr>
              <a:t>0</a:t>
            </a:r>
            <a:r>
              <a:rPr kumimoji="0" lang="en-US" altLang="zh-CN" sz="2400">
                <a:latin typeface="楷体_GB2312" pitchFamily="49" charset="-122"/>
                <a:ea typeface="楷体_GB2312" pitchFamily="49" charset="-122"/>
              </a:rPr>
              <a:t>,</a:t>
            </a:r>
            <a:r>
              <a:rPr kumimoji="0" lang="zh-CN" altLang="en-US" sz="2400">
                <a:latin typeface="楷体_GB2312" pitchFamily="49" charset="-122"/>
                <a:ea typeface="楷体_GB2312" pitchFamily="49" charset="-122"/>
              </a:rPr>
              <a:t>即回归效果是显著的</a:t>
            </a:r>
            <a:endParaRPr lang="zh-CN" altLang="en-US" sz="2400">
              <a:latin typeface="楷体_GB2312" pitchFamily="49" charset="-122"/>
              <a:ea typeface="楷体_GB2312" pitchFamily="49" charset="-122"/>
            </a:endParaRPr>
          </a:p>
        </p:txBody>
      </p:sp>
      <p:graphicFrame>
        <p:nvGraphicFramePr>
          <p:cNvPr id="944149" name="Object 21"/>
          <p:cNvGraphicFramePr>
            <a:graphicFrameLocks noChangeAspect="1"/>
          </p:cNvGraphicFramePr>
          <p:nvPr/>
        </p:nvGraphicFramePr>
        <p:xfrm>
          <a:off x="3216276" y="3860801"/>
          <a:ext cx="2276475" cy="531813"/>
        </p:xfrm>
        <a:graphic>
          <a:graphicData uri="http://schemas.openxmlformats.org/presentationml/2006/ole">
            <mc:AlternateContent xmlns:mc="http://schemas.openxmlformats.org/markup-compatibility/2006">
              <mc:Choice xmlns:v="urn:schemas-microsoft-com:vml" Requires="v">
                <p:oleObj spid="_x0000_s6" name="公式" r:id="rId12" imgW="1140460" imgH="248285" progId="Equation.3">
                  <p:embed/>
                </p:oleObj>
              </mc:Choice>
              <mc:Fallback>
                <p:oleObj name="公式" r:id="rId12" imgW="1140460" imgH="248285" progId="Equation.3">
                  <p:embed/>
                  <p:pic>
                    <p:nvPicPr>
                      <p:cNvPr id="0" name="Object 2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216276" y="3860801"/>
                        <a:ext cx="2276475" cy="53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44150" name="Object 22"/>
          <p:cNvGraphicFramePr>
            <a:graphicFrameLocks noChangeAspect="1"/>
          </p:cNvGraphicFramePr>
          <p:nvPr/>
        </p:nvGraphicFramePr>
        <p:xfrm>
          <a:off x="2573338" y="4213225"/>
          <a:ext cx="4459287" cy="1047750"/>
        </p:xfrm>
        <a:graphic>
          <a:graphicData uri="http://schemas.openxmlformats.org/presentationml/2006/ole">
            <mc:AlternateContent xmlns:mc="http://schemas.openxmlformats.org/markup-compatibility/2006">
              <mc:Choice xmlns:v="urn:schemas-microsoft-com:vml" Requires="v">
                <p:oleObj spid="_x0000_s7" name="Equation" r:id="rId14" imgW="45720000" imgH="10668000" progId="Equation.DSMT4">
                  <p:embed/>
                </p:oleObj>
              </mc:Choice>
              <mc:Fallback>
                <p:oleObj name="Equation" r:id="rId14" imgW="45720000" imgH="10668000" progId="Equation.DSMT4">
                  <p:embed/>
                  <p:pic>
                    <p:nvPicPr>
                      <p:cNvPr id="0" name="Object 22"/>
                      <p:cNvPicPr>
                        <a:picLocks noChangeAspect="1" noChangeArrowheads="1"/>
                      </p:cNvPicPr>
                      <p:nvPr/>
                    </p:nvPicPr>
                    <p:blipFill>
                      <a:blip r:embed="rId15"/>
                      <a:srcRect/>
                      <a:stretch>
                        <a:fillRect/>
                      </a:stretch>
                    </p:blipFill>
                    <p:spPr bwMode="auto">
                      <a:xfrm>
                        <a:off x="2573338" y="4213225"/>
                        <a:ext cx="4459287" cy="104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44152" name="Object 24"/>
          <p:cNvGraphicFramePr>
            <a:graphicFrameLocks noChangeAspect="1"/>
          </p:cNvGraphicFramePr>
          <p:nvPr/>
        </p:nvGraphicFramePr>
        <p:xfrm>
          <a:off x="2566989" y="5227638"/>
          <a:ext cx="4999037" cy="531812"/>
        </p:xfrm>
        <a:graphic>
          <a:graphicData uri="http://schemas.openxmlformats.org/presentationml/2006/ole">
            <mc:AlternateContent xmlns:mc="http://schemas.openxmlformats.org/markup-compatibility/2006">
              <mc:Choice xmlns:v="urn:schemas-microsoft-com:vml" Requires="v">
                <p:oleObj spid="_x0000_s8" name="公式" r:id="rId16" imgW="2517140" imgH="248285" progId="Equation.3">
                  <p:embed/>
                </p:oleObj>
              </mc:Choice>
              <mc:Fallback>
                <p:oleObj name="公式" r:id="rId16" imgW="2517140" imgH="248285" progId="Equation.3">
                  <p:embed/>
                  <p:pic>
                    <p:nvPicPr>
                      <p:cNvPr id="0" name="Object 2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566989" y="5227638"/>
                        <a:ext cx="4999037" cy="53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44153" name="Rectangle 25"/>
          <p:cNvSpPr>
            <a:spLocks noChangeArrowheads="1"/>
          </p:cNvSpPr>
          <p:nvPr/>
        </p:nvSpPr>
        <p:spPr bwMode="auto">
          <a:xfrm>
            <a:off x="2206625" y="5803900"/>
            <a:ext cx="4897438" cy="501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3200">
                <a:solidFill>
                  <a:schemeClr val="tx1"/>
                </a:solidFill>
                <a:latin typeface="Times New Roman" panose="02020503050405090304" pitchFamily="18" charset="0"/>
                <a:ea typeface="宋体" pitchFamily="2" charset="-122"/>
              </a:defRPr>
            </a:lvl1pPr>
            <a:lvl2pPr marL="742950" indent="-285750">
              <a:spcBef>
                <a:spcPct val="20000"/>
              </a:spcBef>
              <a:buChar char="–"/>
              <a:defRPr kumimoji="1" sz="2800">
                <a:solidFill>
                  <a:schemeClr val="tx1"/>
                </a:solidFill>
                <a:latin typeface="Times New Roman" panose="02020503050405090304" pitchFamily="18" charset="0"/>
                <a:ea typeface="宋体" pitchFamily="2" charset="-122"/>
              </a:defRPr>
            </a:lvl2pPr>
            <a:lvl3pPr marL="1143000" indent="-228600">
              <a:spcBef>
                <a:spcPct val="20000"/>
              </a:spcBef>
              <a:buChar char="•"/>
              <a:defRPr kumimoji="1" sz="2400">
                <a:solidFill>
                  <a:schemeClr val="tx1"/>
                </a:solidFill>
                <a:latin typeface="Times New Roman" panose="02020503050405090304" pitchFamily="18" charset="0"/>
                <a:ea typeface="宋体" pitchFamily="2" charset="-122"/>
              </a:defRPr>
            </a:lvl3pPr>
            <a:lvl4pPr marL="1600200" indent="-228600">
              <a:spcBef>
                <a:spcPct val="20000"/>
              </a:spcBef>
              <a:buChar char="–"/>
              <a:defRPr kumimoji="1" sz="2000">
                <a:solidFill>
                  <a:schemeClr val="tx1"/>
                </a:solidFill>
                <a:latin typeface="Times New Roman" panose="02020503050405090304" pitchFamily="18" charset="0"/>
                <a:ea typeface="宋体" pitchFamily="2" charset="-122"/>
              </a:defRPr>
            </a:lvl4pPr>
            <a:lvl5pPr marL="2057400" indent="-228600">
              <a:spcBef>
                <a:spcPct val="20000"/>
              </a:spcBef>
              <a:buChar char="»"/>
              <a:defRPr kumimoji="1" sz="2000">
                <a:solidFill>
                  <a:schemeClr val="tx1"/>
                </a:solidFill>
                <a:latin typeface="Times New Roman" panose="02020503050405090304"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503050405090304"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503050405090304"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503050405090304"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503050405090304" pitchFamily="18" charset="0"/>
                <a:ea typeface="宋体" pitchFamily="2" charset="-122"/>
              </a:defRPr>
            </a:lvl9pPr>
          </a:lstStyle>
          <a:p>
            <a:pPr eaLnBrk="1" hangingPunct="1">
              <a:buFontTx/>
              <a:buNone/>
            </a:pPr>
            <a:r>
              <a:rPr kumimoji="0" lang="zh-CN" altLang="en-US" sz="2400">
                <a:latin typeface="楷体_GB2312" pitchFamily="49" charset="-122"/>
                <a:ea typeface="楷体_GB2312" pitchFamily="49" charset="-122"/>
              </a:rPr>
              <a:t>于是拒绝</a:t>
            </a:r>
            <a:r>
              <a:rPr kumimoji="0" lang="en-US" altLang="zh-CN" sz="2400">
                <a:latin typeface="楷体_GB2312" pitchFamily="49" charset="-122"/>
                <a:ea typeface="楷体_GB2312" pitchFamily="49" charset="-122"/>
              </a:rPr>
              <a:t>H</a:t>
            </a:r>
            <a:r>
              <a:rPr kumimoji="0" lang="en-US" altLang="zh-CN" sz="2400" baseline="-25000">
                <a:latin typeface="楷体_GB2312" pitchFamily="49" charset="-122"/>
                <a:ea typeface="楷体_GB2312" pitchFamily="49" charset="-122"/>
              </a:rPr>
              <a:t>0</a:t>
            </a:r>
            <a:r>
              <a:rPr kumimoji="0" lang="en-US" altLang="zh-CN" sz="2400">
                <a:latin typeface="楷体_GB2312" pitchFamily="49" charset="-122"/>
                <a:ea typeface="楷体_GB2312" pitchFamily="49" charset="-122"/>
              </a:rPr>
              <a:t>,</a:t>
            </a:r>
            <a:r>
              <a:rPr kumimoji="0" lang="zh-CN" altLang="en-US" sz="2400">
                <a:latin typeface="楷体_GB2312" pitchFamily="49" charset="-122"/>
                <a:ea typeface="楷体_GB2312" pitchFamily="49" charset="-122"/>
              </a:rPr>
              <a:t>即回归效果是显著的</a:t>
            </a:r>
            <a:endParaRPr lang="zh-CN" altLang="en-US" sz="2400">
              <a:latin typeface="楷体_GB2312" pitchFamily="49" charset="-122"/>
              <a:ea typeface="楷体_GB2312" pitchFamily="49" charset="-122"/>
            </a:endParaRPr>
          </a:p>
        </p:txBody>
      </p:sp>
      <p:sp>
        <p:nvSpPr>
          <p:cNvPr id="43029" name="Rectangle 26"/>
          <p:cNvSpPr>
            <a:spLocks noGrp="1" noChangeArrowheads="1"/>
          </p:cNvSpPr>
          <p:nvPr>
            <p:ph idx="1"/>
          </p:nvPr>
        </p:nvSpPr>
        <p:spPr>
          <a:xfrm>
            <a:off x="1847850" y="404813"/>
            <a:ext cx="8223250" cy="576262"/>
          </a:xfrm>
          <a:noFill/>
        </p:spPr>
        <p:txBody>
          <a:bodyPr/>
          <a:lstStyle/>
          <a:p>
            <a:pPr eaLnBrk="1" hangingPunct="1">
              <a:buFontTx/>
              <a:buNone/>
            </a:pPr>
            <a:r>
              <a:rPr lang="zh-CN" altLang="en-US" sz="2800" b="1">
                <a:solidFill>
                  <a:srgbClr val="0000FF"/>
                </a:solidFill>
                <a:latin typeface="楷体_GB2312" pitchFamily="49" charset="-122"/>
                <a:ea typeface="楷体_GB2312" pitchFamily="49" charset="-122"/>
              </a:rPr>
              <a:t>例</a:t>
            </a:r>
            <a:r>
              <a:rPr lang="en-US" altLang="zh-CN" sz="2800" b="1">
                <a:solidFill>
                  <a:srgbClr val="0000FF"/>
                </a:solidFill>
                <a:latin typeface="楷体_GB2312" pitchFamily="49" charset="-122"/>
                <a:ea typeface="楷体_GB2312" pitchFamily="49" charset="-122"/>
              </a:rPr>
              <a:t>3</a:t>
            </a:r>
            <a:r>
              <a:rPr lang="en-US" altLang="zh-CN" sz="2800">
                <a:latin typeface="楷体_GB2312" pitchFamily="49" charset="-122"/>
                <a:ea typeface="楷体_GB2312" pitchFamily="49" charset="-122"/>
              </a:rPr>
              <a:t> </a:t>
            </a:r>
            <a:r>
              <a:rPr lang="zh-CN" altLang="en-US" sz="2800">
                <a:latin typeface="楷体_GB2312" pitchFamily="49" charset="-122"/>
                <a:ea typeface="楷体_GB2312" pitchFamily="49" charset="-122"/>
              </a:rPr>
              <a:t>检验例</a:t>
            </a:r>
            <a:r>
              <a:rPr lang="en-US" altLang="zh-CN" sz="2800">
                <a:latin typeface="楷体_GB2312" pitchFamily="49" charset="-122"/>
                <a:ea typeface="楷体_GB2312" pitchFamily="49" charset="-122"/>
              </a:rPr>
              <a:t>2</a:t>
            </a:r>
            <a:r>
              <a:rPr lang="zh-CN" altLang="en-US" sz="2800">
                <a:latin typeface="楷体_GB2312" pitchFamily="49" charset="-122"/>
                <a:ea typeface="楷体_GB2312" pitchFamily="49" charset="-122"/>
              </a:rPr>
              <a:t>中的回归效果是否显著</a:t>
            </a:r>
            <a:r>
              <a:rPr lang="en-US" altLang="zh-CN" sz="2800">
                <a:latin typeface="楷体_GB2312" pitchFamily="49" charset="-122"/>
                <a:ea typeface="楷体_GB2312" pitchFamily="49" charset="-122"/>
              </a:rPr>
              <a:t>(</a:t>
            </a:r>
            <a:r>
              <a:rPr lang="el-GR" altLang="zh-CN" sz="2800">
                <a:ea typeface="楷体_GB2312" pitchFamily="49" charset="-122"/>
                <a:cs typeface="Times New Roman" panose="02020503050405090304" pitchFamily="18" charset="0"/>
              </a:rPr>
              <a:t>α</a:t>
            </a:r>
            <a:r>
              <a:rPr lang="en-US" altLang="zh-CN" sz="2800">
                <a:latin typeface="楷体_GB2312" pitchFamily="49" charset="-122"/>
                <a:ea typeface="楷体_GB2312" pitchFamily="49" charset="-122"/>
                <a:cs typeface="Times New Roman" panose="02020503050405090304" pitchFamily="18" charset="0"/>
              </a:rPr>
              <a:t>=0.05</a:t>
            </a:r>
            <a:r>
              <a:rPr lang="en-US" altLang="zh-CN" sz="2800">
                <a:latin typeface="楷体_GB2312" pitchFamily="49" charset="-122"/>
                <a:ea typeface="楷体_GB2312" pitchFamily="49" charset="-122"/>
              </a:rPr>
              <a:t>)</a:t>
            </a:r>
            <a:endParaRPr lang="en-US" altLang="zh-CN" sz="2800">
              <a:latin typeface="楷体_GB2312" pitchFamily="49" charset="-122"/>
              <a:ea typeface="楷体_GB2312" pitchFamily="49" charset="-122"/>
            </a:endParaRPr>
          </a:p>
        </p:txBody>
      </p:sp>
      <p:graphicFrame>
        <p:nvGraphicFramePr>
          <p:cNvPr id="944155" name="Object 27"/>
          <p:cNvGraphicFramePr>
            <a:graphicFrameLocks noChangeAspect="1"/>
          </p:cNvGraphicFramePr>
          <p:nvPr/>
        </p:nvGraphicFramePr>
        <p:xfrm>
          <a:off x="7040563" y="5434013"/>
          <a:ext cx="3268662" cy="1173162"/>
        </p:xfrm>
        <a:graphic>
          <a:graphicData uri="http://schemas.openxmlformats.org/presentationml/2006/ole">
            <mc:AlternateContent xmlns:mc="http://schemas.openxmlformats.org/markup-compatibility/2006">
              <mc:Choice xmlns:v="urn:schemas-microsoft-com:vml" Requires="v">
                <p:oleObj spid="_x0000_s9" name="Equation" r:id="rId18" imgW="33528000" imgH="11887200" progId="Equation.DSMT4">
                  <p:embed/>
                </p:oleObj>
              </mc:Choice>
              <mc:Fallback>
                <p:oleObj name="Equation" r:id="rId18" imgW="33528000" imgH="11887200" progId="Equation.DSMT4">
                  <p:embed/>
                  <p:pic>
                    <p:nvPicPr>
                      <p:cNvPr id="0" name="Object 27"/>
                      <p:cNvPicPr>
                        <a:picLocks noChangeAspect="1" noChangeArrowheads="1"/>
                      </p:cNvPicPr>
                      <p:nvPr/>
                    </p:nvPicPr>
                    <p:blipFill>
                      <a:blip r:embed="rId19"/>
                      <a:srcRect/>
                      <a:stretch>
                        <a:fillRect/>
                      </a:stretch>
                    </p:blipFill>
                    <p:spPr bwMode="auto">
                      <a:xfrm>
                        <a:off x="7040563" y="5434013"/>
                        <a:ext cx="3268662" cy="1173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44139"/>
                                        </p:tgtEl>
                                        <p:attrNameLst>
                                          <p:attrName>style.visibility</p:attrName>
                                        </p:attrNameLst>
                                      </p:cBhvr>
                                      <p:to>
                                        <p:strVal val="visible"/>
                                      </p:to>
                                    </p:set>
                                    <p:animEffect transition="in" filter="wipe(left)">
                                      <p:cBhvr>
                                        <p:cTn id="7" dur="500"/>
                                        <p:tgtEl>
                                          <p:spTgt spid="94413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44141"/>
                                        </p:tgtEl>
                                        <p:attrNameLst>
                                          <p:attrName>style.visibility</p:attrName>
                                        </p:attrNameLst>
                                      </p:cBhvr>
                                      <p:to>
                                        <p:strVal val="visible"/>
                                      </p:to>
                                    </p:set>
                                    <p:animEffect transition="in" filter="wipe(left)">
                                      <p:cBhvr>
                                        <p:cTn id="12" dur="500"/>
                                        <p:tgtEl>
                                          <p:spTgt spid="94414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44143"/>
                                        </p:tgtEl>
                                        <p:attrNameLst>
                                          <p:attrName>style.visibility</p:attrName>
                                        </p:attrNameLst>
                                      </p:cBhvr>
                                      <p:to>
                                        <p:strVal val="visible"/>
                                      </p:to>
                                    </p:set>
                                    <p:animEffect transition="in" filter="wipe(left)">
                                      <p:cBhvr>
                                        <p:cTn id="17" dur="500"/>
                                        <p:tgtEl>
                                          <p:spTgt spid="944143"/>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944144">
                                            <p:txEl>
                                              <p:pRg st="0" end="0"/>
                                            </p:txEl>
                                          </p:spTgt>
                                        </p:tgtEl>
                                        <p:attrNameLst>
                                          <p:attrName>style.visibility</p:attrName>
                                        </p:attrNameLst>
                                      </p:cBhvr>
                                      <p:to>
                                        <p:strVal val="visible"/>
                                      </p:to>
                                    </p:set>
                                    <p:animEffect transition="in" filter="dissolve">
                                      <p:cBhvr>
                                        <p:cTn id="22" dur="500"/>
                                        <p:tgtEl>
                                          <p:spTgt spid="944144">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44145"/>
                                        </p:tgtEl>
                                        <p:attrNameLst>
                                          <p:attrName>style.visibility</p:attrName>
                                        </p:attrNameLst>
                                      </p:cBhvr>
                                      <p:to>
                                        <p:strVal val="visible"/>
                                      </p:to>
                                    </p:set>
                                    <p:animEffect transition="in" filter="wipe(left)">
                                      <p:cBhvr>
                                        <p:cTn id="27" dur="500"/>
                                        <p:tgtEl>
                                          <p:spTgt spid="94414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944147"/>
                                        </p:tgtEl>
                                        <p:attrNameLst>
                                          <p:attrName>style.visibility</p:attrName>
                                        </p:attrNameLst>
                                      </p:cBhvr>
                                      <p:to>
                                        <p:strVal val="visible"/>
                                      </p:to>
                                    </p:set>
                                    <p:animEffect transition="in" filter="wipe(left)">
                                      <p:cBhvr>
                                        <p:cTn id="32" dur="500"/>
                                        <p:tgtEl>
                                          <p:spTgt spid="944147"/>
                                        </p:tgtEl>
                                      </p:cBhvr>
                                    </p:animEffect>
                                  </p:childTnLst>
                                </p:cTn>
                              </p:par>
                            </p:childTnLst>
                          </p:cTn>
                        </p:par>
                        <p:par>
                          <p:cTn id="33" fill="hold">
                            <p:stCondLst>
                              <p:cond delay="500"/>
                            </p:stCondLst>
                            <p:childTnLst>
                              <p:par>
                                <p:cTn id="34" presetID="9" presetClass="entr" presetSubtype="0" fill="hold" grpId="0" nodeType="afterEffect">
                                  <p:stCondLst>
                                    <p:cond delay="0"/>
                                  </p:stCondLst>
                                  <p:childTnLst>
                                    <p:set>
                                      <p:cBhvr>
                                        <p:cTn id="35" dur="1" fill="hold">
                                          <p:stCondLst>
                                            <p:cond delay="0"/>
                                          </p:stCondLst>
                                        </p:cTn>
                                        <p:tgtEl>
                                          <p:spTgt spid="944140">
                                            <p:txEl>
                                              <p:pRg st="0" end="0"/>
                                            </p:txEl>
                                          </p:spTgt>
                                        </p:tgtEl>
                                        <p:attrNameLst>
                                          <p:attrName>style.visibility</p:attrName>
                                        </p:attrNameLst>
                                      </p:cBhvr>
                                      <p:to>
                                        <p:strVal val="visible"/>
                                      </p:to>
                                    </p:set>
                                    <p:animEffect transition="in" filter="dissolve">
                                      <p:cBhvr>
                                        <p:cTn id="36" dur="500"/>
                                        <p:tgtEl>
                                          <p:spTgt spid="944140">
                                            <p:txEl>
                                              <p:pRg st="0" end="0"/>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944149"/>
                                        </p:tgtEl>
                                        <p:attrNameLst>
                                          <p:attrName>style.visibility</p:attrName>
                                        </p:attrNameLst>
                                      </p:cBhvr>
                                      <p:to>
                                        <p:strVal val="visible"/>
                                      </p:to>
                                    </p:set>
                                    <p:animEffect transition="in" filter="wipe(left)">
                                      <p:cBhvr>
                                        <p:cTn id="41" dur="500"/>
                                        <p:tgtEl>
                                          <p:spTgt spid="944149"/>
                                        </p:tgtEl>
                                      </p:cBhvr>
                                    </p:animEffect>
                                  </p:childTnLst>
                                </p:cTn>
                              </p:par>
                            </p:childTnLst>
                          </p:cTn>
                        </p:par>
                        <p:par>
                          <p:cTn id="42" fill="hold">
                            <p:stCondLst>
                              <p:cond delay="500"/>
                            </p:stCondLst>
                            <p:childTnLst>
                              <p:par>
                                <p:cTn id="43" presetID="9" presetClass="entr" presetSubtype="0" fill="hold" grpId="0" nodeType="afterEffect">
                                  <p:stCondLst>
                                    <p:cond delay="0"/>
                                  </p:stCondLst>
                                  <p:childTnLst>
                                    <p:set>
                                      <p:cBhvr>
                                        <p:cTn id="44" dur="1" fill="hold">
                                          <p:stCondLst>
                                            <p:cond delay="0"/>
                                          </p:stCondLst>
                                        </p:cTn>
                                        <p:tgtEl>
                                          <p:spTgt spid="944148">
                                            <p:txEl>
                                              <p:pRg st="0" end="0"/>
                                            </p:txEl>
                                          </p:spTgt>
                                        </p:tgtEl>
                                        <p:attrNameLst>
                                          <p:attrName>style.visibility</p:attrName>
                                        </p:attrNameLst>
                                      </p:cBhvr>
                                      <p:to>
                                        <p:strVal val="visible"/>
                                      </p:to>
                                    </p:set>
                                    <p:animEffect transition="in" filter="dissolve">
                                      <p:cBhvr>
                                        <p:cTn id="45" dur="500"/>
                                        <p:tgtEl>
                                          <p:spTgt spid="944148">
                                            <p:txEl>
                                              <p:pRg st="0" end="0"/>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944150"/>
                                        </p:tgtEl>
                                        <p:attrNameLst>
                                          <p:attrName>style.visibility</p:attrName>
                                        </p:attrNameLst>
                                      </p:cBhvr>
                                      <p:to>
                                        <p:strVal val="visible"/>
                                      </p:to>
                                    </p:set>
                                    <p:animEffect transition="in" filter="wipe(left)">
                                      <p:cBhvr>
                                        <p:cTn id="50" dur="500"/>
                                        <p:tgtEl>
                                          <p:spTgt spid="944150"/>
                                        </p:tgtEl>
                                      </p:cBhvr>
                                    </p:animEffect>
                                  </p:childTnLst>
                                </p:cTn>
                              </p:par>
                            </p:childTnLst>
                          </p:cTn>
                        </p:par>
                      </p:childTnLst>
                    </p:cTn>
                  </p:par>
                  <p:par>
                    <p:cTn id="51" fill="hold">
                      <p:stCondLst>
                        <p:cond delay="indefinite"/>
                      </p:stCondLst>
                      <p:childTnLst>
                        <p:par>
                          <p:cTn id="52" fill="hold">
                            <p:stCondLst>
                              <p:cond delay="0"/>
                            </p:stCondLst>
                            <p:childTnLst>
                              <p:par>
                                <p:cTn id="53" presetID="9" presetClass="entr" presetSubtype="0" fill="hold" grpId="0" nodeType="clickEffect">
                                  <p:stCondLst>
                                    <p:cond delay="0"/>
                                  </p:stCondLst>
                                  <p:childTnLst>
                                    <p:set>
                                      <p:cBhvr>
                                        <p:cTn id="54" dur="1" fill="hold">
                                          <p:stCondLst>
                                            <p:cond delay="0"/>
                                          </p:stCondLst>
                                        </p:cTn>
                                        <p:tgtEl>
                                          <p:spTgt spid="944142">
                                            <p:txEl>
                                              <p:pRg st="0" end="0"/>
                                            </p:txEl>
                                          </p:spTgt>
                                        </p:tgtEl>
                                        <p:attrNameLst>
                                          <p:attrName>style.visibility</p:attrName>
                                        </p:attrNameLst>
                                      </p:cBhvr>
                                      <p:to>
                                        <p:strVal val="visible"/>
                                      </p:to>
                                    </p:set>
                                    <p:animEffect transition="in" filter="dissolve">
                                      <p:cBhvr>
                                        <p:cTn id="55" dur="500"/>
                                        <p:tgtEl>
                                          <p:spTgt spid="944142">
                                            <p:txEl>
                                              <p:pRg st="0" end="0"/>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944152"/>
                                        </p:tgtEl>
                                        <p:attrNameLst>
                                          <p:attrName>style.visibility</p:attrName>
                                        </p:attrNameLst>
                                      </p:cBhvr>
                                      <p:to>
                                        <p:strVal val="visible"/>
                                      </p:to>
                                    </p:set>
                                    <p:animEffect transition="in" filter="wipe(left)">
                                      <p:cBhvr>
                                        <p:cTn id="60" dur="500"/>
                                        <p:tgtEl>
                                          <p:spTgt spid="944152"/>
                                        </p:tgtEl>
                                      </p:cBhvr>
                                    </p:animEffect>
                                  </p:childTnLst>
                                </p:cTn>
                              </p:par>
                            </p:childTnLst>
                          </p:cTn>
                        </p:par>
                        <p:par>
                          <p:cTn id="61" fill="hold">
                            <p:stCondLst>
                              <p:cond delay="500"/>
                            </p:stCondLst>
                            <p:childTnLst>
                              <p:par>
                                <p:cTn id="62" presetID="9" presetClass="entr" presetSubtype="0" fill="hold" grpId="0" nodeType="afterEffect">
                                  <p:stCondLst>
                                    <p:cond delay="0"/>
                                  </p:stCondLst>
                                  <p:childTnLst>
                                    <p:set>
                                      <p:cBhvr>
                                        <p:cTn id="63" dur="1" fill="hold">
                                          <p:stCondLst>
                                            <p:cond delay="0"/>
                                          </p:stCondLst>
                                        </p:cTn>
                                        <p:tgtEl>
                                          <p:spTgt spid="944153">
                                            <p:txEl>
                                              <p:pRg st="0" end="0"/>
                                            </p:txEl>
                                          </p:spTgt>
                                        </p:tgtEl>
                                        <p:attrNameLst>
                                          <p:attrName>style.visibility</p:attrName>
                                        </p:attrNameLst>
                                      </p:cBhvr>
                                      <p:to>
                                        <p:strVal val="visible"/>
                                      </p:to>
                                    </p:set>
                                    <p:animEffect transition="in" filter="dissolve">
                                      <p:cBhvr>
                                        <p:cTn id="64" dur="500"/>
                                        <p:tgtEl>
                                          <p:spTgt spid="944153">
                                            <p:txEl>
                                              <p:pRg st="0" end="0"/>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nodeType="clickEffect">
                                  <p:stCondLst>
                                    <p:cond delay="0"/>
                                  </p:stCondLst>
                                  <p:childTnLst>
                                    <p:set>
                                      <p:cBhvr>
                                        <p:cTn id="68" dur="1" fill="hold">
                                          <p:stCondLst>
                                            <p:cond delay="0"/>
                                          </p:stCondLst>
                                        </p:cTn>
                                        <p:tgtEl>
                                          <p:spTgt spid="944155"/>
                                        </p:tgtEl>
                                        <p:attrNameLst>
                                          <p:attrName>style.visibility</p:attrName>
                                        </p:attrNameLst>
                                      </p:cBhvr>
                                      <p:to>
                                        <p:strVal val="visible"/>
                                      </p:to>
                                    </p:set>
                                    <p:animEffect transition="in" filter="wipe(left)">
                                      <p:cBhvr>
                                        <p:cTn id="69" dur="500"/>
                                        <p:tgtEl>
                                          <p:spTgt spid="9441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4140" grpId="0" build="p"/>
      <p:bldP spid="944142" grpId="0" build="p"/>
      <p:bldP spid="944144" grpId="0" build="p"/>
      <p:bldP spid="944148" grpId="0" build="p"/>
      <p:bldP spid="94415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AutoShape 2">
            <a:hlinkClick r:id="" action="ppaction://hlinkshowjump?jump=previousslide" highlightClick="1"/>
          </p:cNvPr>
          <p:cNvSpPr>
            <a:spLocks noChangeArrowheads="1"/>
          </p:cNvSpPr>
          <p:nvPr/>
        </p:nvSpPr>
        <p:spPr bwMode="auto">
          <a:xfrm>
            <a:off x="9120189" y="6524625"/>
            <a:ext cx="287337" cy="215900"/>
          </a:xfrm>
          <a:prstGeom prst="actionButtonBackPrevious">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44035" name="AutoShape 3">
            <a:hlinkClick r:id="" action="ppaction://hlinkshowjump?jump=nextslide" highlightClick="1"/>
          </p:cNvPr>
          <p:cNvSpPr>
            <a:spLocks noChangeArrowheads="1"/>
          </p:cNvSpPr>
          <p:nvPr/>
        </p:nvSpPr>
        <p:spPr bwMode="auto">
          <a:xfrm>
            <a:off x="9407525" y="6524625"/>
            <a:ext cx="285750" cy="215900"/>
          </a:xfrm>
          <a:prstGeom prst="actionButtonForwardNex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44036" name="AutoShape 4">
            <a:hlinkClick r:id="" action="ppaction://hlinkshowjump?jump=firstslide" highlightClick="1"/>
          </p:cNvPr>
          <p:cNvSpPr>
            <a:spLocks noChangeArrowheads="1"/>
          </p:cNvSpPr>
          <p:nvPr/>
        </p:nvSpPr>
        <p:spPr bwMode="auto">
          <a:xfrm>
            <a:off x="9694864" y="6524625"/>
            <a:ext cx="287337" cy="215900"/>
          </a:xfrm>
          <a:prstGeom prst="actionButtonBeginning">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44037" name="AutoShape 5">
            <a:hlinkClick r:id="" action="ppaction://hlinkshowjump?jump=endshow" highlightClick="1"/>
          </p:cNvPr>
          <p:cNvSpPr>
            <a:spLocks noChangeArrowheads="1"/>
          </p:cNvSpPr>
          <p:nvPr/>
        </p:nvSpPr>
        <p:spPr bwMode="auto">
          <a:xfrm>
            <a:off x="9983789" y="6524625"/>
            <a:ext cx="287337" cy="215900"/>
          </a:xfrm>
          <a:prstGeom prst="actionButtonEnd">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44038" name="AutoShape 6">
            <a:hlinkClick r:id="rId1" action="ppaction://hlinksldjump" highlightClick="1"/>
          </p:cNvPr>
          <p:cNvSpPr>
            <a:spLocks noChangeArrowheads="1"/>
          </p:cNvSpPr>
          <p:nvPr/>
        </p:nvSpPr>
        <p:spPr bwMode="auto">
          <a:xfrm>
            <a:off x="10272714" y="6524625"/>
            <a:ext cx="288925" cy="215900"/>
          </a:xfrm>
          <a:prstGeom prst="actionButtonReturn">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901127" name="Rectangle 7"/>
          <p:cNvSpPr>
            <a:spLocks noGrp="1" noChangeArrowheads="1"/>
          </p:cNvSpPr>
          <p:nvPr>
            <p:ph idx="1"/>
          </p:nvPr>
        </p:nvSpPr>
        <p:spPr>
          <a:xfrm>
            <a:off x="2135188" y="2997200"/>
            <a:ext cx="8208962" cy="1811338"/>
          </a:xfrm>
          <a:noFill/>
        </p:spPr>
        <p:txBody>
          <a:bodyPr>
            <a:normAutofit fontScale="85000" lnSpcReduction="20000"/>
          </a:bodyPr>
          <a:lstStyle/>
          <a:p>
            <a:pPr eaLnBrk="1" hangingPunct="1">
              <a:buFontTx/>
              <a:buNone/>
            </a:pPr>
            <a:r>
              <a:rPr lang="zh-CN" altLang="en-US" sz="2800"/>
              <a:t>（</a:t>
            </a:r>
            <a:r>
              <a:rPr lang="en-US" altLang="zh-CN" sz="2800"/>
              <a:t>1</a:t>
            </a:r>
            <a:r>
              <a:rPr lang="zh-CN" altLang="en-US" sz="2800"/>
              <a:t>）</a:t>
            </a:r>
            <a:r>
              <a:rPr lang="en-US" altLang="zh-CN" sz="2800" i="1">
                <a:ea typeface="楷体_GB2312" pitchFamily="49" charset="-122"/>
              </a:rPr>
              <a:t>x</a:t>
            </a:r>
            <a:r>
              <a:rPr lang="zh-CN" altLang="en-US" sz="2800">
                <a:latin typeface="楷体_GB2312" pitchFamily="49" charset="-122"/>
                <a:ea typeface="楷体_GB2312" pitchFamily="49" charset="-122"/>
              </a:rPr>
              <a:t>对</a:t>
            </a:r>
            <a:r>
              <a:rPr lang="en-US" altLang="zh-CN" sz="2800">
                <a:ea typeface="楷体_GB2312" pitchFamily="49" charset="-122"/>
              </a:rPr>
              <a:t>Y</a:t>
            </a:r>
            <a:r>
              <a:rPr lang="zh-CN" altLang="en-US" sz="2800">
                <a:latin typeface="楷体_GB2312" pitchFamily="49" charset="-122"/>
                <a:ea typeface="楷体_GB2312" pitchFamily="49" charset="-122"/>
              </a:rPr>
              <a:t>没有显著影响；</a:t>
            </a:r>
            <a:endParaRPr lang="zh-CN" altLang="en-US" sz="2800">
              <a:latin typeface="楷体_GB2312" pitchFamily="49" charset="-122"/>
              <a:ea typeface="楷体_GB2312" pitchFamily="49" charset="-122"/>
            </a:endParaRPr>
          </a:p>
          <a:p>
            <a:pPr eaLnBrk="1" hangingPunct="1">
              <a:buFontTx/>
              <a:buNone/>
            </a:pPr>
            <a:r>
              <a:rPr lang="zh-CN" altLang="en-US" sz="2800"/>
              <a:t>（</a:t>
            </a:r>
            <a:r>
              <a:rPr lang="en-US" altLang="zh-CN" sz="2800"/>
              <a:t>2</a:t>
            </a:r>
            <a:r>
              <a:rPr lang="zh-CN" altLang="en-US" sz="2800"/>
              <a:t>）</a:t>
            </a:r>
            <a:r>
              <a:rPr lang="en-US" altLang="zh-CN" sz="2800" i="1"/>
              <a:t>x</a:t>
            </a:r>
            <a:r>
              <a:rPr lang="zh-CN" altLang="en-US" sz="2800">
                <a:latin typeface="楷体_GB2312" pitchFamily="49" charset="-122"/>
                <a:ea typeface="楷体_GB2312" pitchFamily="49" charset="-122"/>
              </a:rPr>
              <a:t>对</a:t>
            </a:r>
            <a:r>
              <a:rPr lang="en-US" altLang="zh-CN" sz="2800">
                <a:latin typeface="楷体_GB2312" pitchFamily="49" charset="-122"/>
                <a:ea typeface="楷体_GB2312" pitchFamily="49" charset="-122"/>
              </a:rPr>
              <a:t>Y</a:t>
            </a:r>
            <a:r>
              <a:rPr lang="zh-CN" altLang="en-US" sz="2800">
                <a:latin typeface="楷体_GB2312" pitchFamily="49" charset="-122"/>
                <a:ea typeface="楷体_GB2312" pitchFamily="49" charset="-122"/>
              </a:rPr>
              <a:t>有显著影响，但这种影响不能用线性相关关系来描述；</a:t>
            </a:r>
            <a:endParaRPr lang="zh-CN" altLang="en-US" sz="2800">
              <a:latin typeface="楷体_GB2312" pitchFamily="49" charset="-122"/>
              <a:ea typeface="楷体_GB2312" pitchFamily="49" charset="-122"/>
            </a:endParaRPr>
          </a:p>
          <a:p>
            <a:pPr eaLnBrk="1" hangingPunct="1">
              <a:buFontTx/>
              <a:buNone/>
            </a:pPr>
            <a:r>
              <a:rPr lang="zh-CN" altLang="en-US" sz="2800">
                <a:latin typeface="楷体_GB2312" pitchFamily="49" charset="-122"/>
                <a:ea typeface="楷体_GB2312" pitchFamily="49" charset="-122"/>
              </a:rPr>
              <a:t>（</a:t>
            </a:r>
            <a:r>
              <a:rPr lang="en-US" altLang="zh-CN" sz="2800">
                <a:latin typeface="楷体_GB2312" pitchFamily="49" charset="-122"/>
                <a:ea typeface="楷体_GB2312" pitchFamily="49" charset="-122"/>
              </a:rPr>
              <a:t>3</a:t>
            </a:r>
            <a:r>
              <a:rPr lang="zh-CN" altLang="en-US" sz="2800">
                <a:latin typeface="楷体_GB2312" pitchFamily="49" charset="-122"/>
                <a:ea typeface="楷体_GB2312" pitchFamily="49" charset="-122"/>
              </a:rPr>
              <a:t>）影响</a:t>
            </a:r>
            <a:r>
              <a:rPr lang="en-US" altLang="zh-CN" sz="2800">
                <a:ea typeface="楷体_GB2312" pitchFamily="49" charset="-122"/>
              </a:rPr>
              <a:t>Y</a:t>
            </a:r>
            <a:r>
              <a:rPr lang="zh-CN" altLang="en-US" sz="2800">
                <a:latin typeface="楷体_GB2312" pitchFamily="49" charset="-122"/>
                <a:ea typeface="楷体_GB2312" pitchFamily="49" charset="-122"/>
              </a:rPr>
              <a:t>取值的，除</a:t>
            </a:r>
            <a:r>
              <a:rPr lang="en-US" altLang="zh-CN" sz="2800" i="1">
                <a:ea typeface="楷体_GB2312" pitchFamily="49" charset="-122"/>
              </a:rPr>
              <a:t>x</a:t>
            </a:r>
            <a:r>
              <a:rPr lang="zh-CN" altLang="en-US" sz="2800">
                <a:latin typeface="楷体_GB2312" pitchFamily="49" charset="-122"/>
                <a:ea typeface="楷体_GB2312" pitchFamily="49" charset="-122"/>
              </a:rPr>
              <a:t>外，另有其他不可忽略的因素</a:t>
            </a:r>
            <a:r>
              <a:rPr lang="en-US" altLang="zh-CN" sz="2800">
                <a:latin typeface="楷体_GB2312" pitchFamily="49" charset="-122"/>
                <a:ea typeface="楷体_GB2312" pitchFamily="49" charset="-122"/>
              </a:rPr>
              <a:t>.    </a:t>
            </a:r>
            <a:endParaRPr lang="en-US" altLang="zh-CN" sz="2800">
              <a:latin typeface="楷体_GB2312" pitchFamily="49" charset="-122"/>
              <a:ea typeface="楷体_GB2312" pitchFamily="49" charset="-122"/>
            </a:endParaRPr>
          </a:p>
        </p:txBody>
      </p:sp>
      <p:grpSp>
        <p:nvGrpSpPr>
          <p:cNvPr id="901128" name="Group 8"/>
          <p:cNvGrpSpPr/>
          <p:nvPr/>
        </p:nvGrpSpPr>
        <p:grpSpPr bwMode="auto">
          <a:xfrm>
            <a:off x="2039938" y="404813"/>
            <a:ext cx="7943850" cy="946150"/>
            <a:chOff x="325" y="527"/>
            <a:chExt cx="5004" cy="596"/>
          </a:xfrm>
        </p:grpSpPr>
        <p:sp>
          <p:nvSpPr>
            <p:cNvPr id="44044" name="Rectangle 9"/>
            <p:cNvSpPr>
              <a:spLocks noChangeArrowheads="1"/>
            </p:cNvSpPr>
            <p:nvPr/>
          </p:nvSpPr>
          <p:spPr bwMode="auto">
            <a:xfrm>
              <a:off x="325" y="527"/>
              <a:ext cx="5004"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zh-CN" altLang="en-US" sz="2800">
                  <a:latin typeface="楷体_GB2312" pitchFamily="49" charset="-122"/>
                </a:rPr>
                <a:t>当假设                 被拒绝时，就认为</a:t>
              </a:r>
              <a:r>
                <a:rPr lang="en-US" altLang="zh-CN" sz="2800" i="1"/>
                <a:t>Y</a:t>
              </a:r>
              <a:r>
                <a:rPr lang="zh-CN" altLang="en-US" sz="2800">
                  <a:latin typeface="楷体_GB2312" pitchFamily="49" charset="-122"/>
                </a:rPr>
                <a:t>与</a:t>
              </a:r>
              <a:r>
                <a:rPr lang="en-US" altLang="zh-CN" sz="2800" i="1"/>
                <a:t>x</a:t>
              </a:r>
              <a:r>
                <a:rPr lang="zh-CN" altLang="en-US" sz="2800">
                  <a:latin typeface="楷体_GB2312" pitchFamily="49" charset="-122"/>
                </a:rPr>
                <a:t>存在线性关系，从而认为回归效果显著；</a:t>
              </a:r>
              <a:endParaRPr lang="zh-CN" altLang="en-US" sz="2800">
                <a:latin typeface="楷体_GB2312" pitchFamily="49" charset="-122"/>
              </a:endParaRPr>
            </a:p>
          </p:txBody>
        </p:sp>
        <p:graphicFrame>
          <p:nvGraphicFramePr>
            <p:cNvPr id="44045" name="Object 10"/>
            <p:cNvGraphicFramePr>
              <a:graphicFrameLocks noChangeAspect="1"/>
            </p:cNvGraphicFramePr>
            <p:nvPr/>
          </p:nvGraphicFramePr>
          <p:xfrm>
            <a:off x="1111" y="573"/>
            <a:ext cx="862" cy="317"/>
          </p:xfrm>
          <a:graphic>
            <a:graphicData uri="http://schemas.openxmlformats.org/presentationml/2006/ole">
              <mc:AlternateContent xmlns:mc="http://schemas.openxmlformats.org/markup-compatibility/2006">
                <mc:Choice xmlns:v="urn:schemas-microsoft-com:vml" Requires="v">
                  <p:oleObj spid="_x0000_s25601" name="公式" r:id="rId2" imgW="744855" imgH="248285" progId="Equation.3">
                    <p:embed/>
                  </p:oleObj>
                </mc:Choice>
                <mc:Fallback>
                  <p:oleObj name="公式" r:id="rId2" imgW="744855" imgH="248285" progId="Equation.3">
                    <p:embed/>
                    <p:pic>
                      <p:nvPicPr>
                        <p:cNvPr id="0" name="Object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1" y="573"/>
                          <a:ext cx="862"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901131" name="Rectangle 11"/>
          <p:cNvSpPr>
            <a:spLocks noChangeArrowheads="1"/>
          </p:cNvSpPr>
          <p:nvPr/>
        </p:nvSpPr>
        <p:spPr bwMode="auto">
          <a:xfrm>
            <a:off x="2039939" y="1412875"/>
            <a:ext cx="8016875"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zh-CN" altLang="en-US" sz="2800">
                <a:latin typeface="楷体_GB2312" pitchFamily="49" charset="-122"/>
              </a:rPr>
              <a:t>若接受</a:t>
            </a:r>
            <a:r>
              <a:rPr lang="en-US" altLang="zh-CN" sz="2800" i="1">
                <a:latin typeface="楷体_GB2312" pitchFamily="49" charset="-122"/>
              </a:rPr>
              <a:t>H</a:t>
            </a:r>
            <a:r>
              <a:rPr lang="en-US" altLang="zh-CN" sz="2800" baseline="-25000">
                <a:latin typeface="楷体_GB2312" pitchFamily="49" charset="-122"/>
              </a:rPr>
              <a:t>0</a:t>
            </a:r>
            <a:r>
              <a:rPr lang="zh-CN" altLang="en-US" sz="2800">
                <a:latin typeface="楷体_GB2312" pitchFamily="49" charset="-122"/>
              </a:rPr>
              <a:t>，则认为</a:t>
            </a:r>
            <a:r>
              <a:rPr lang="en-US" altLang="zh-CN" sz="2800" i="1"/>
              <a:t>Y</a:t>
            </a:r>
            <a:r>
              <a:rPr lang="zh-CN" altLang="en-US" sz="2800">
                <a:latin typeface="楷体_GB2312" pitchFamily="49" charset="-122"/>
              </a:rPr>
              <a:t>与</a:t>
            </a:r>
            <a:r>
              <a:rPr lang="en-US" altLang="zh-CN" sz="2800" i="1"/>
              <a:t>x</a:t>
            </a:r>
            <a:r>
              <a:rPr lang="zh-CN" altLang="en-US" sz="2800">
                <a:latin typeface="楷体_GB2312" pitchFamily="49" charset="-122"/>
              </a:rPr>
              <a:t>的关系不能用一元线性回归模型来描述，即回归效果不显著</a:t>
            </a:r>
            <a:r>
              <a:rPr lang="en-US" altLang="zh-CN" sz="2800">
                <a:latin typeface="楷体_GB2312" pitchFamily="49" charset="-122"/>
              </a:rPr>
              <a:t>.</a:t>
            </a:r>
            <a:endParaRPr lang="en-US" altLang="zh-CN" sz="2800">
              <a:latin typeface="楷体_GB2312" pitchFamily="49" charset="-122"/>
            </a:endParaRPr>
          </a:p>
        </p:txBody>
      </p:sp>
      <p:sp>
        <p:nvSpPr>
          <p:cNvPr id="901132" name="Rectangle 12"/>
          <p:cNvSpPr>
            <a:spLocks noChangeArrowheads="1"/>
          </p:cNvSpPr>
          <p:nvPr/>
        </p:nvSpPr>
        <p:spPr bwMode="auto">
          <a:xfrm>
            <a:off x="2063750" y="2349501"/>
            <a:ext cx="4806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zh-CN" altLang="en-US" sz="2800"/>
              <a:t>此时，可能有如下几种情形</a:t>
            </a:r>
            <a:r>
              <a:rPr lang="zh-CN" altLang="en-US" sz="2800">
                <a:ea typeface="宋体" pitchFamily="2" charset="-122"/>
              </a:rPr>
              <a:t>：</a:t>
            </a:r>
            <a:endParaRPr lang="zh-CN" altLang="en-US" sz="2800">
              <a:ea typeface="宋体" pitchFamily="2" charset="-122"/>
            </a:endParaRPr>
          </a:p>
        </p:txBody>
      </p:sp>
      <p:sp>
        <p:nvSpPr>
          <p:cNvPr id="901133" name="Rectangle 13"/>
          <p:cNvSpPr>
            <a:spLocks noChangeArrowheads="1"/>
          </p:cNvSpPr>
          <p:nvPr/>
        </p:nvSpPr>
        <p:spPr bwMode="auto">
          <a:xfrm>
            <a:off x="2135188" y="5589588"/>
            <a:ext cx="7999412"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en-US" altLang="zh-CN" sz="2800">
                <a:latin typeface="楷体_GB2312" pitchFamily="49" charset="-122"/>
              </a:rPr>
              <a:t>   </a:t>
            </a:r>
            <a:r>
              <a:rPr lang="zh-CN" altLang="en-US" sz="2800">
                <a:latin typeface="楷体_GB2312" pitchFamily="49" charset="-122"/>
              </a:rPr>
              <a:t>因此，在接受</a:t>
            </a:r>
            <a:r>
              <a:rPr lang="en-US" altLang="zh-CN" sz="2800" i="1">
                <a:latin typeface="楷体_GB2312" pitchFamily="49" charset="-122"/>
              </a:rPr>
              <a:t>H</a:t>
            </a:r>
            <a:r>
              <a:rPr lang="en-US" altLang="zh-CN" sz="2800" baseline="-25000">
                <a:latin typeface="楷体_GB2312" pitchFamily="49" charset="-122"/>
              </a:rPr>
              <a:t>0</a:t>
            </a:r>
            <a:r>
              <a:rPr lang="zh-CN" altLang="en-US" sz="2800">
                <a:latin typeface="楷体_GB2312" pitchFamily="49" charset="-122"/>
              </a:rPr>
              <a:t>的同时，需要进一步查明原因分别处理，此时，专业知识往往起着重要作用</a:t>
            </a:r>
            <a:r>
              <a:rPr lang="en-US" altLang="zh-CN" sz="2800">
                <a:latin typeface="楷体_GB2312" pitchFamily="49" charset="-122"/>
              </a:rPr>
              <a:t>.</a:t>
            </a:r>
            <a:r>
              <a:rPr lang="en-US" altLang="zh-CN" sz="2800">
                <a:ea typeface="宋体" pitchFamily="2" charset="-122"/>
              </a:rPr>
              <a:t> </a:t>
            </a:r>
            <a:endParaRPr lang="en-US" altLang="zh-CN" sz="2800">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01128"/>
                                        </p:tgtEl>
                                        <p:attrNameLst>
                                          <p:attrName>style.visibility</p:attrName>
                                        </p:attrNameLst>
                                      </p:cBhvr>
                                      <p:to>
                                        <p:strVal val="visible"/>
                                      </p:to>
                                    </p:set>
                                    <p:animEffect transition="in" filter="wipe(left)">
                                      <p:cBhvr>
                                        <p:cTn id="7" dur="500"/>
                                        <p:tgtEl>
                                          <p:spTgt spid="90112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01131"/>
                                        </p:tgtEl>
                                        <p:attrNameLst>
                                          <p:attrName>style.visibility</p:attrName>
                                        </p:attrNameLst>
                                      </p:cBhvr>
                                      <p:to>
                                        <p:strVal val="visible"/>
                                      </p:to>
                                    </p:set>
                                    <p:animEffect transition="in" filter="wipe(left)">
                                      <p:cBhvr>
                                        <p:cTn id="12" dur="500"/>
                                        <p:tgtEl>
                                          <p:spTgt spid="90113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01132"/>
                                        </p:tgtEl>
                                        <p:attrNameLst>
                                          <p:attrName>style.visibility</p:attrName>
                                        </p:attrNameLst>
                                      </p:cBhvr>
                                      <p:to>
                                        <p:strVal val="visible"/>
                                      </p:to>
                                    </p:set>
                                    <p:animEffect transition="in" filter="wipe(left)">
                                      <p:cBhvr>
                                        <p:cTn id="17" dur="500"/>
                                        <p:tgtEl>
                                          <p:spTgt spid="90113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01127">
                                            <p:txEl>
                                              <p:pRg st="0" end="0"/>
                                            </p:txEl>
                                          </p:spTgt>
                                        </p:tgtEl>
                                        <p:attrNameLst>
                                          <p:attrName>style.visibility</p:attrName>
                                        </p:attrNameLst>
                                      </p:cBhvr>
                                      <p:to>
                                        <p:strVal val="visible"/>
                                      </p:to>
                                    </p:set>
                                    <p:animEffect transition="in" filter="wipe(left)">
                                      <p:cBhvr>
                                        <p:cTn id="22" dur="500"/>
                                        <p:tgtEl>
                                          <p:spTgt spid="901127">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01127">
                                            <p:txEl>
                                              <p:pRg st="1" end="1"/>
                                            </p:txEl>
                                          </p:spTgt>
                                        </p:tgtEl>
                                        <p:attrNameLst>
                                          <p:attrName>style.visibility</p:attrName>
                                        </p:attrNameLst>
                                      </p:cBhvr>
                                      <p:to>
                                        <p:strVal val="visible"/>
                                      </p:to>
                                    </p:set>
                                    <p:animEffect transition="in" filter="wipe(left)">
                                      <p:cBhvr>
                                        <p:cTn id="27" dur="500"/>
                                        <p:tgtEl>
                                          <p:spTgt spid="901127">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01127">
                                            <p:txEl>
                                              <p:pRg st="2" end="2"/>
                                            </p:txEl>
                                          </p:spTgt>
                                        </p:tgtEl>
                                        <p:attrNameLst>
                                          <p:attrName>style.visibility</p:attrName>
                                        </p:attrNameLst>
                                      </p:cBhvr>
                                      <p:to>
                                        <p:strVal val="visible"/>
                                      </p:to>
                                    </p:set>
                                    <p:animEffect transition="in" filter="wipe(left)">
                                      <p:cBhvr>
                                        <p:cTn id="32" dur="500"/>
                                        <p:tgtEl>
                                          <p:spTgt spid="901127">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901133"/>
                                        </p:tgtEl>
                                        <p:attrNameLst>
                                          <p:attrName>style.visibility</p:attrName>
                                        </p:attrNameLst>
                                      </p:cBhvr>
                                      <p:to>
                                        <p:strVal val="visible"/>
                                      </p:to>
                                    </p:set>
                                    <p:animEffect transition="in" filter="wipe(left)">
                                      <p:cBhvr>
                                        <p:cTn id="37" dur="500"/>
                                        <p:tgtEl>
                                          <p:spTgt spid="9011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27" grpId="0" build="p"/>
      <p:bldP spid="901131" grpId="0"/>
      <p:bldP spid="901132" grpId="0"/>
      <p:bldP spid="90113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AutoShape 2">
            <a:hlinkClick r:id="" action="ppaction://hlinkshowjump?jump=previousslide" highlightClick="1"/>
          </p:cNvPr>
          <p:cNvSpPr>
            <a:spLocks noChangeArrowheads="1"/>
          </p:cNvSpPr>
          <p:nvPr/>
        </p:nvSpPr>
        <p:spPr bwMode="auto">
          <a:xfrm>
            <a:off x="9120189" y="6524625"/>
            <a:ext cx="287337" cy="215900"/>
          </a:xfrm>
          <a:prstGeom prst="actionButtonBackPrevious">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45059" name="AutoShape 3">
            <a:hlinkClick r:id="" action="ppaction://hlinkshowjump?jump=nextslide" highlightClick="1"/>
          </p:cNvPr>
          <p:cNvSpPr>
            <a:spLocks noChangeArrowheads="1"/>
          </p:cNvSpPr>
          <p:nvPr/>
        </p:nvSpPr>
        <p:spPr bwMode="auto">
          <a:xfrm>
            <a:off x="9407525" y="6524625"/>
            <a:ext cx="285750" cy="215900"/>
          </a:xfrm>
          <a:prstGeom prst="actionButtonForwardNex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45060" name="AutoShape 4">
            <a:hlinkClick r:id="" action="ppaction://hlinkshowjump?jump=firstslide" highlightClick="1"/>
          </p:cNvPr>
          <p:cNvSpPr>
            <a:spLocks noChangeArrowheads="1"/>
          </p:cNvSpPr>
          <p:nvPr/>
        </p:nvSpPr>
        <p:spPr bwMode="auto">
          <a:xfrm>
            <a:off x="9694864" y="6524625"/>
            <a:ext cx="287337" cy="215900"/>
          </a:xfrm>
          <a:prstGeom prst="actionButtonBeginning">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45061" name="AutoShape 5">
            <a:hlinkClick r:id="" action="ppaction://hlinkshowjump?jump=endshow" highlightClick="1"/>
          </p:cNvPr>
          <p:cNvSpPr>
            <a:spLocks noChangeArrowheads="1"/>
          </p:cNvSpPr>
          <p:nvPr/>
        </p:nvSpPr>
        <p:spPr bwMode="auto">
          <a:xfrm>
            <a:off x="9983789" y="6524625"/>
            <a:ext cx="287337" cy="215900"/>
          </a:xfrm>
          <a:prstGeom prst="actionButtonEnd">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45062" name="AutoShape 6">
            <a:hlinkClick r:id="rId1" action="ppaction://hlinksldjump" highlightClick="1"/>
          </p:cNvPr>
          <p:cNvSpPr>
            <a:spLocks noChangeArrowheads="1"/>
          </p:cNvSpPr>
          <p:nvPr/>
        </p:nvSpPr>
        <p:spPr bwMode="auto">
          <a:xfrm>
            <a:off x="10272714" y="6524625"/>
            <a:ext cx="288925" cy="215900"/>
          </a:xfrm>
          <a:prstGeom prst="actionButtonReturn">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45063" name="Rectangle 7"/>
          <p:cNvSpPr>
            <a:spLocks noGrp="1" noChangeArrowheads="1"/>
          </p:cNvSpPr>
          <p:nvPr>
            <p:ph type="title"/>
          </p:nvPr>
        </p:nvSpPr>
        <p:spPr>
          <a:xfrm>
            <a:off x="1992314" y="333375"/>
            <a:ext cx="3024187" cy="914400"/>
          </a:xfrm>
          <a:noFill/>
        </p:spPr>
        <p:txBody>
          <a:bodyPr/>
          <a:lstStyle/>
          <a:p>
            <a:pPr algn="l" eaLnBrk="1" hangingPunct="1"/>
            <a:r>
              <a:rPr lang="zh-CN" altLang="en-US" sz="3200" b="1">
                <a:solidFill>
                  <a:srgbClr val="0000FF"/>
                </a:solidFill>
                <a:latin typeface="楷体_GB2312" pitchFamily="49" charset="-122"/>
                <a:ea typeface="楷体_GB2312" pitchFamily="49" charset="-122"/>
              </a:rPr>
              <a:t>四、 预测</a:t>
            </a:r>
            <a:endParaRPr lang="zh-CN" altLang="en-US" sz="3200" b="1">
              <a:solidFill>
                <a:srgbClr val="0000FF"/>
              </a:solidFill>
              <a:latin typeface="楷体_GB2312" pitchFamily="49" charset="-122"/>
              <a:ea typeface="楷体_GB2312" pitchFamily="49" charset="-122"/>
            </a:endParaRPr>
          </a:p>
        </p:txBody>
      </p:sp>
      <p:grpSp>
        <p:nvGrpSpPr>
          <p:cNvPr id="902153" name="Group 9"/>
          <p:cNvGrpSpPr/>
          <p:nvPr/>
        </p:nvGrpSpPr>
        <p:grpSpPr bwMode="auto">
          <a:xfrm>
            <a:off x="3484564" y="4003676"/>
            <a:ext cx="4987925" cy="574675"/>
            <a:chOff x="1749" y="2614"/>
            <a:chExt cx="3142" cy="362"/>
          </a:xfrm>
        </p:grpSpPr>
        <p:graphicFrame>
          <p:nvGraphicFramePr>
            <p:cNvPr id="45073" name="Object 10"/>
            <p:cNvGraphicFramePr>
              <a:graphicFrameLocks noChangeAspect="1"/>
            </p:cNvGraphicFramePr>
            <p:nvPr/>
          </p:nvGraphicFramePr>
          <p:xfrm>
            <a:off x="1749" y="2614"/>
            <a:ext cx="1339" cy="362"/>
          </p:xfrm>
          <a:graphic>
            <a:graphicData uri="http://schemas.openxmlformats.org/presentationml/2006/ole">
              <mc:AlternateContent xmlns:mc="http://schemas.openxmlformats.org/markup-compatibility/2006">
                <mc:Choice xmlns:v="urn:schemas-microsoft-com:vml" Requires="v">
                  <p:oleObj spid="_x0000_s25601" name="公式" r:id="rId2" imgW="1185545" imgH="248285" progId="Equation.3">
                    <p:embed/>
                  </p:oleObj>
                </mc:Choice>
                <mc:Fallback>
                  <p:oleObj name="公式" r:id="rId2" imgW="1185545" imgH="248285" progId="Equation.3">
                    <p:embed/>
                    <p:pic>
                      <p:nvPicPr>
                        <p:cNvPr id="0" name="Object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9" y="2614"/>
                          <a:ext cx="1339" cy="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5074" name="Object 11"/>
            <p:cNvGraphicFramePr>
              <a:graphicFrameLocks noChangeAspect="1"/>
            </p:cNvGraphicFramePr>
            <p:nvPr/>
          </p:nvGraphicFramePr>
          <p:xfrm>
            <a:off x="3576" y="2614"/>
            <a:ext cx="1315" cy="362"/>
          </p:xfrm>
          <a:graphic>
            <a:graphicData uri="http://schemas.openxmlformats.org/presentationml/2006/ole">
              <mc:AlternateContent xmlns:mc="http://schemas.openxmlformats.org/markup-compatibility/2006">
                <mc:Choice xmlns:v="urn:schemas-microsoft-com:vml" Requires="v">
                  <p:oleObj spid="_x0000_s2" name="公式" r:id="rId4" imgW="1049655" imgH="259715" progId="Equation.3">
                    <p:embed/>
                  </p:oleObj>
                </mc:Choice>
                <mc:Fallback>
                  <p:oleObj name="公式" r:id="rId4" imgW="1049655" imgH="259715" progId="Equation.3">
                    <p:embed/>
                    <p:pic>
                      <p:nvPicPr>
                        <p:cNvPr id="0"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76" y="2614"/>
                          <a:ext cx="1315" cy="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902156" name="Object 12"/>
          <p:cNvGraphicFramePr>
            <a:graphicFrameLocks noChangeAspect="1"/>
          </p:cNvGraphicFramePr>
          <p:nvPr/>
        </p:nvGraphicFramePr>
        <p:xfrm>
          <a:off x="4656138" y="5373689"/>
          <a:ext cx="3414712" cy="649287"/>
        </p:xfrm>
        <a:graphic>
          <a:graphicData uri="http://schemas.openxmlformats.org/presentationml/2006/ole">
            <mc:AlternateContent xmlns:mc="http://schemas.openxmlformats.org/markup-compatibility/2006">
              <mc:Choice xmlns:v="urn:schemas-microsoft-com:vml" Requires="v">
                <p:oleObj spid="_x0000_s3" name="公式" r:id="rId6" imgW="1456055" imgH="281940" progId="Equation.3">
                  <p:embed/>
                </p:oleObj>
              </mc:Choice>
              <mc:Fallback>
                <p:oleObj name="公式" r:id="rId6" imgW="1456055" imgH="281940" progId="Equation.3">
                  <p:embed/>
                  <p:pic>
                    <p:nvPicPr>
                      <p:cNvPr id="0" name="Object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56138" y="5373689"/>
                        <a:ext cx="3414712"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5066" name="Rectangle 13"/>
          <p:cNvSpPr>
            <a:spLocks noChangeArrowheads="1"/>
          </p:cNvSpPr>
          <p:nvPr/>
        </p:nvSpPr>
        <p:spPr bwMode="auto">
          <a:xfrm>
            <a:off x="2063750" y="1268414"/>
            <a:ext cx="8064500" cy="987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lnSpc>
                <a:spcPct val="105000"/>
              </a:lnSpc>
              <a:spcBef>
                <a:spcPct val="0"/>
              </a:spcBef>
            </a:pPr>
            <a:r>
              <a:rPr lang="en-US" altLang="zh-CN" sz="2800">
                <a:cs typeface="Times New Roman" panose="02020503050405090304" pitchFamily="18" charset="0"/>
              </a:rPr>
              <a:t>   </a:t>
            </a:r>
            <a:r>
              <a:rPr lang="zh-CN" altLang="en-US" sz="2800">
                <a:cs typeface="Times New Roman" panose="02020503050405090304" pitchFamily="18" charset="0"/>
              </a:rPr>
              <a:t>当经过检验发现回归效果显著时，通过回归模型可对</a:t>
            </a:r>
            <a:r>
              <a:rPr lang="en-US" altLang="zh-CN" sz="2800" i="1">
                <a:cs typeface="Times New Roman" panose="02020503050405090304" pitchFamily="18" charset="0"/>
              </a:rPr>
              <a:t>Y</a:t>
            </a:r>
            <a:r>
              <a:rPr lang="zh-CN" altLang="en-US" sz="2800">
                <a:cs typeface="Times New Roman" panose="02020503050405090304" pitchFamily="18" charset="0"/>
              </a:rPr>
              <a:t>的取值进行预测</a:t>
            </a:r>
            <a:r>
              <a:rPr lang="en-US" altLang="zh-CN" sz="2800">
                <a:cs typeface="Times New Roman" panose="02020503050405090304" pitchFamily="18" charset="0"/>
              </a:rPr>
              <a:t>.</a:t>
            </a:r>
            <a:endParaRPr lang="en-US" altLang="zh-CN" sz="2800">
              <a:cs typeface="Times New Roman" panose="02020503050405090304" pitchFamily="18" charset="0"/>
            </a:endParaRPr>
          </a:p>
        </p:txBody>
      </p:sp>
      <p:sp>
        <p:nvSpPr>
          <p:cNvPr id="45067" name="Rectangle 14"/>
          <p:cNvSpPr>
            <a:spLocks noChangeArrowheads="1"/>
          </p:cNvSpPr>
          <p:nvPr/>
        </p:nvSpPr>
        <p:spPr bwMode="auto">
          <a:xfrm>
            <a:off x="6094414" y="1773238"/>
            <a:ext cx="45735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20000"/>
              </a:spcBef>
            </a:pPr>
            <a:r>
              <a:rPr lang="zh-CN" altLang="en-US" sz="2800" dirty="0">
                <a:latin typeface="楷体_GB2312" pitchFamily="49" charset="-122"/>
              </a:rPr>
              <a:t>即当</a:t>
            </a:r>
            <a:r>
              <a:rPr lang="en-US" altLang="zh-CN" sz="2800" i="1" dirty="0"/>
              <a:t>x</a:t>
            </a:r>
            <a:r>
              <a:rPr lang="en-US" altLang="zh-CN" sz="2800" dirty="0"/>
              <a:t>=</a:t>
            </a:r>
            <a:r>
              <a:rPr lang="en-US" altLang="zh-CN" sz="2800" i="1" dirty="0"/>
              <a:t>x</a:t>
            </a:r>
            <a:r>
              <a:rPr lang="en-US" altLang="zh-CN" sz="2800" baseline="-25000" dirty="0"/>
              <a:t>0</a:t>
            </a:r>
            <a:r>
              <a:rPr lang="zh-CN" altLang="en-US" sz="2800" dirty="0">
                <a:latin typeface="楷体_GB2312" pitchFamily="49" charset="-122"/>
              </a:rPr>
              <a:t>时，对</a:t>
            </a:r>
            <a:r>
              <a:rPr lang="en-US" altLang="zh-CN" sz="2800" i="1" dirty="0"/>
              <a:t>Y</a:t>
            </a:r>
            <a:r>
              <a:rPr lang="zh-CN" altLang="en-US" sz="2800" dirty="0">
                <a:latin typeface="楷体_GB2312" pitchFamily="49" charset="-122"/>
              </a:rPr>
              <a:t>作点估计或</a:t>
            </a:r>
            <a:endParaRPr lang="zh-CN" altLang="en-US" sz="2800" dirty="0">
              <a:latin typeface="楷体_GB2312" pitchFamily="49" charset="-122"/>
            </a:endParaRPr>
          </a:p>
        </p:txBody>
      </p:sp>
      <p:sp>
        <p:nvSpPr>
          <p:cNvPr id="902159" name="Rectangle 15"/>
          <p:cNvSpPr>
            <a:spLocks noChangeArrowheads="1"/>
          </p:cNvSpPr>
          <p:nvPr/>
        </p:nvSpPr>
        <p:spPr bwMode="auto">
          <a:xfrm>
            <a:off x="2247901" y="3427413"/>
            <a:ext cx="44545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zh-CN" altLang="en-US" sz="2800" dirty="0">
                <a:latin typeface="楷体_GB2312" pitchFamily="49" charset="-122"/>
              </a:rPr>
              <a:t>设当</a:t>
            </a:r>
            <a:r>
              <a:rPr lang="en-US" altLang="zh-CN" sz="2800" i="1" dirty="0"/>
              <a:t>x</a:t>
            </a:r>
            <a:r>
              <a:rPr lang="en-US" altLang="zh-CN" sz="2800" dirty="0"/>
              <a:t>=</a:t>
            </a:r>
            <a:r>
              <a:rPr lang="en-US" altLang="zh-CN" sz="2800" i="1" dirty="0"/>
              <a:t>x</a:t>
            </a:r>
            <a:r>
              <a:rPr lang="en-US" altLang="zh-CN" sz="2800" baseline="-25000" dirty="0"/>
              <a:t>0</a:t>
            </a:r>
            <a:r>
              <a:rPr lang="zh-CN" altLang="en-US" sz="2800" dirty="0">
                <a:latin typeface="楷体_GB2312" pitchFamily="49" charset="-122"/>
              </a:rPr>
              <a:t>时</a:t>
            </a:r>
            <a:r>
              <a:rPr lang="en-US" altLang="zh-CN" sz="2800" i="1" dirty="0"/>
              <a:t>y</a:t>
            </a:r>
            <a:r>
              <a:rPr lang="zh-CN" altLang="en-US" sz="2800" dirty="0">
                <a:latin typeface="楷体_GB2312" pitchFamily="49" charset="-122"/>
              </a:rPr>
              <a:t>的取值为</a:t>
            </a:r>
            <a:r>
              <a:rPr lang="en-US" altLang="zh-CN" sz="2800" i="1" dirty="0"/>
              <a:t>y</a:t>
            </a:r>
            <a:r>
              <a:rPr lang="en-US" altLang="zh-CN" sz="2800" baseline="-25000" dirty="0"/>
              <a:t>0</a:t>
            </a:r>
            <a:r>
              <a:rPr lang="zh-CN" altLang="en-US" sz="2800" dirty="0">
                <a:latin typeface="楷体_GB2312" pitchFamily="49" charset="-122"/>
              </a:rPr>
              <a:t>，有</a:t>
            </a:r>
            <a:endParaRPr lang="zh-CN" altLang="en-US" sz="2800" dirty="0">
              <a:latin typeface="楷体_GB2312" pitchFamily="49" charset="-122"/>
            </a:endParaRPr>
          </a:p>
        </p:txBody>
      </p:sp>
      <p:sp>
        <p:nvSpPr>
          <p:cNvPr id="902160" name="Rectangle 16"/>
          <p:cNvSpPr>
            <a:spLocks noChangeArrowheads="1"/>
          </p:cNvSpPr>
          <p:nvPr/>
        </p:nvSpPr>
        <p:spPr bwMode="auto">
          <a:xfrm>
            <a:off x="2279651" y="5445126"/>
            <a:ext cx="22399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zh-CN" altLang="en-US" sz="2800">
                <a:latin typeface="楷体_GB2312" pitchFamily="49" charset="-122"/>
              </a:rPr>
              <a:t>预测</a:t>
            </a:r>
            <a:r>
              <a:rPr lang="en-US" altLang="zh-CN" sz="2800" i="1"/>
              <a:t>y</a:t>
            </a:r>
            <a:r>
              <a:rPr lang="en-US" altLang="zh-CN" sz="2800" baseline="-25000"/>
              <a:t>0</a:t>
            </a:r>
            <a:r>
              <a:rPr lang="zh-CN" altLang="en-US" sz="2800">
                <a:latin typeface="楷体_GB2312" pitchFamily="49" charset="-122"/>
              </a:rPr>
              <a:t>的值为</a:t>
            </a:r>
            <a:endParaRPr lang="zh-CN" altLang="en-US" sz="2800">
              <a:latin typeface="楷体_GB2312" pitchFamily="49" charset="-122"/>
            </a:endParaRPr>
          </a:p>
        </p:txBody>
      </p:sp>
      <p:sp>
        <p:nvSpPr>
          <p:cNvPr id="45070" name="Rectangle 17"/>
          <p:cNvSpPr>
            <a:spLocks noChangeArrowheads="1"/>
          </p:cNvSpPr>
          <p:nvPr/>
        </p:nvSpPr>
        <p:spPr bwMode="auto">
          <a:xfrm>
            <a:off x="2063750" y="2276476"/>
            <a:ext cx="16954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20000"/>
              </a:spcBef>
            </a:pPr>
            <a:r>
              <a:rPr lang="zh-CN" altLang="en-US" sz="2800"/>
              <a:t>区间估计</a:t>
            </a:r>
            <a:r>
              <a:rPr lang="en-US" altLang="zh-CN" sz="2800">
                <a:ea typeface="宋体" pitchFamily="2" charset="-122"/>
              </a:rPr>
              <a:t>.</a:t>
            </a:r>
            <a:endParaRPr lang="en-US" altLang="zh-CN" sz="2800">
              <a:ea typeface="宋体" pitchFamily="2" charset="-122"/>
            </a:endParaRPr>
          </a:p>
        </p:txBody>
      </p:sp>
      <p:sp>
        <p:nvSpPr>
          <p:cNvPr id="45071" name="Rectangle 18"/>
          <p:cNvSpPr>
            <a:spLocks noChangeArrowheads="1"/>
          </p:cNvSpPr>
          <p:nvPr/>
        </p:nvSpPr>
        <p:spPr bwMode="auto">
          <a:xfrm>
            <a:off x="1992313" y="2765426"/>
            <a:ext cx="756126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r>
              <a:rPr kumimoji="0" lang="en-US" altLang="zh-CN" sz="2800">
                <a:solidFill>
                  <a:schemeClr val="tx2"/>
                </a:solidFill>
                <a:ea typeface="宋体" pitchFamily="2" charset="-122"/>
              </a:rPr>
              <a:t>  </a:t>
            </a:r>
            <a:r>
              <a:rPr kumimoji="0" lang="en-US" altLang="zh-CN" sz="2800">
                <a:solidFill>
                  <a:srgbClr val="0000FF"/>
                </a:solidFill>
                <a:latin typeface="楷体_GB2312" pitchFamily="49" charset="-122"/>
              </a:rPr>
              <a:t>1 </a:t>
            </a:r>
            <a:r>
              <a:rPr kumimoji="0" lang="zh-CN" altLang="en-US" sz="2800">
                <a:solidFill>
                  <a:srgbClr val="0000FF"/>
                </a:solidFill>
                <a:latin typeface="楷体_GB2312" pitchFamily="49" charset="-122"/>
              </a:rPr>
              <a:t>求</a:t>
            </a:r>
            <a:r>
              <a:rPr kumimoji="0" lang="en-US" altLang="zh-CN" sz="2800">
                <a:solidFill>
                  <a:srgbClr val="0000FF"/>
                </a:solidFill>
                <a:latin typeface="楷体_GB2312" pitchFamily="49" charset="-122"/>
              </a:rPr>
              <a:t>y</a:t>
            </a:r>
            <a:r>
              <a:rPr kumimoji="0" lang="en-US" altLang="zh-CN" sz="2800" baseline="-25000">
                <a:solidFill>
                  <a:srgbClr val="0000FF"/>
                </a:solidFill>
                <a:latin typeface="楷体_GB2312" pitchFamily="49" charset="-122"/>
              </a:rPr>
              <a:t>0</a:t>
            </a:r>
            <a:r>
              <a:rPr kumimoji="0" lang="zh-CN" altLang="en-US" sz="2800">
                <a:solidFill>
                  <a:srgbClr val="0000FF"/>
                </a:solidFill>
                <a:latin typeface="楷体_GB2312" pitchFamily="49" charset="-122"/>
              </a:rPr>
              <a:t>的预测值</a:t>
            </a:r>
            <a:endParaRPr kumimoji="0" lang="zh-CN" altLang="en-US" sz="2800">
              <a:solidFill>
                <a:srgbClr val="0000FF"/>
              </a:solidFill>
              <a:latin typeface="楷体_GB2312" pitchFamily="49" charset="-122"/>
            </a:endParaRPr>
          </a:p>
        </p:txBody>
      </p:sp>
      <p:sp>
        <p:nvSpPr>
          <p:cNvPr id="902163" name="Rectangle 19"/>
          <p:cNvSpPr>
            <a:spLocks noChangeArrowheads="1"/>
          </p:cNvSpPr>
          <p:nvPr/>
        </p:nvSpPr>
        <p:spPr bwMode="auto">
          <a:xfrm>
            <a:off x="2424114" y="4638676"/>
            <a:ext cx="47021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zh-CN" altLang="en-US" sz="2800"/>
              <a:t>且</a:t>
            </a:r>
            <a:r>
              <a:rPr lang="en-US" altLang="zh-CN" sz="2800" i="1">
                <a:ea typeface="宋体" pitchFamily="2" charset="-122"/>
              </a:rPr>
              <a:t>y</a:t>
            </a:r>
            <a:r>
              <a:rPr lang="en-US" altLang="zh-CN" sz="2800" baseline="-25000">
                <a:ea typeface="宋体" pitchFamily="2" charset="-122"/>
              </a:rPr>
              <a:t>0</a:t>
            </a:r>
            <a:r>
              <a:rPr lang="zh-CN" altLang="en-US" sz="2800"/>
              <a:t>与</a:t>
            </a:r>
            <a:r>
              <a:rPr lang="en-US" altLang="zh-CN" sz="2800" i="1">
                <a:ea typeface="宋体" pitchFamily="2" charset="-122"/>
              </a:rPr>
              <a:t>y</a:t>
            </a:r>
            <a:r>
              <a:rPr lang="en-US" altLang="zh-CN" sz="2800" i="1" baseline="-25000">
                <a:ea typeface="宋体" pitchFamily="2" charset="-122"/>
              </a:rPr>
              <a:t>i</a:t>
            </a:r>
            <a:r>
              <a:rPr lang="en-US" altLang="zh-CN" sz="2800">
                <a:ea typeface="宋体" pitchFamily="2" charset="-122"/>
              </a:rPr>
              <a:t>(</a:t>
            </a:r>
            <a:r>
              <a:rPr lang="en-US" altLang="zh-CN" sz="2800" i="1">
                <a:ea typeface="宋体" pitchFamily="2" charset="-122"/>
              </a:rPr>
              <a:t>i</a:t>
            </a:r>
            <a:r>
              <a:rPr lang="en-US" altLang="zh-CN" sz="2800">
                <a:ea typeface="宋体" pitchFamily="2" charset="-122"/>
              </a:rPr>
              <a:t>=12, </a:t>
            </a:r>
            <a:r>
              <a:rPr lang="en-US" altLang="zh-CN" sz="2400"/>
              <a:t>…</a:t>
            </a:r>
            <a:r>
              <a:rPr lang="en-US" altLang="zh-CN" sz="2400" i="1"/>
              <a:t>n</a:t>
            </a:r>
            <a:r>
              <a:rPr lang="en-US" altLang="zh-CN" sz="2800">
                <a:ea typeface="宋体" pitchFamily="2" charset="-122"/>
              </a:rPr>
              <a:t>)</a:t>
            </a:r>
            <a:r>
              <a:rPr lang="zh-CN" altLang="en-US" sz="2800"/>
              <a:t>相互独立</a:t>
            </a:r>
            <a:r>
              <a:rPr lang="zh-CN" altLang="en-US" sz="2800">
                <a:ea typeface="宋体" pitchFamily="2" charset="-122"/>
              </a:rPr>
              <a:t>。</a:t>
            </a:r>
            <a:endParaRPr lang="zh-CN" altLang="en-US" sz="2800">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02159"/>
                                        </p:tgtEl>
                                        <p:attrNameLst>
                                          <p:attrName>style.visibility</p:attrName>
                                        </p:attrNameLst>
                                      </p:cBhvr>
                                      <p:to>
                                        <p:strVal val="visible"/>
                                      </p:to>
                                    </p:set>
                                    <p:animEffect transition="in" filter="wipe(left)">
                                      <p:cBhvr>
                                        <p:cTn id="7" dur="500"/>
                                        <p:tgtEl>
                                          <p:spTgt spid="90215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02153"/>
                                        </p:tgtEl>
                                        <p:attrNameLst>
                                          <p:attrName>style.visibility</p:attrName>
                                        </p:attrNameLst>
                                      </p:cBhvr>
                                      <p:to>
                                        <p:strVal val="visible"/>
                                      </p:to>
                                    </p:set>
                                    <p:animEffect transition="in" filter="wipe(left)">
                                      <p:cBhvr>
                                        <p:cTn id="12" dur="500"/>
                                        <p:tgtEl>
                                          <p:spTgt spid="90215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02163"/>
                                        </p:tgtEl>
                                        <p:attrNameLst>
                                          <p:attrName>style.visibility</p:attrName>
                                        </p:attrNameLst>
                                      </p:cBhvr>
                                      <p:to>
                                        <p:strVal val="visible"/>
                                      </p:to>
                                    </p:set>
                                    <p:animEffect transition="in" filter="wipe(left)">
                                      <p:cBhvr>
                                        <p:cTn id="17" dur="500"/>
                                        <p:tgtEl>
                                          <p:spTgt spid="90216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02160"/>
                                        </p:tgtEl>
                                        <p:attrNameLst>
                                          <p:attrName>style.visibility</p:attrName>
                                        </p:attrNameLst>
                                      </p:cBhvr>
                                      <p:to>
                                        <p:strVal val="visible"/>
                                      </p:to>
                                    </p:set>
                                    <p:animEffect transition="in" filter="wipe(left)">
                                      <p:cBhvr>
                                        <p:cTn id="22" dur="500"/>
                                        <p:tgtEl>
                                          <p:spTgt spid="90216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02156"/>
                                        </p:tgtEl>
                                        <p:attrNameLst>
                                          <p:attrName>style.visibility</p:attrName>
                                        </p:attrNameLst>
                                      </p:cBhvr>
                                      <p:to>
                                        <p:strVal val="visible"/>
                                      </p:to>
                                    </p:set>
                                    <p:animEffect transition="in" filter="wipe(left)">
                                      <p:cBhvr>
                                        <p:cTn id="27" dur="500"/>
                                        <p:tgtEl>
                                          <p:spTgt spid="9021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2159" grpId="0"/>
      <p:bldP spid="902160" grpId="0"/>
      <p:bldP spid="90216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AutoShape 2">
            <a:hlinkClick r:id="" action="ppaction://hlinkshowjump?jump=previousslide" highlightClick="1"/>
          </p:cNvPr>
          <p:cNvSpPr>
            <a:spLocks noChangeArrowheads="1"/>
          </p:cNvSpPr>
          <p:nvPr/>
        </p:nvSpPr>
        <p:spPr bwMode="auto">
          <a:xfrm>
            <a:off x="9120189" y="6524625"/>
            <a:ext cx="287337" cy="215900"/>
          </a:xfrm>
          <a:prstGeom prst="actionButtonBackPrevious">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46083" name="AutoShape 3">
            <a:hlinkClick r:id="" action="ppaction://hlinkshowjump?jump=nextslide" highlightClick="1"/>
          </p:cNvPr>
          <p:cNvSpPr>
            <a:spLocks noChangeArrowheads="1"/>
          </p:cNvSpPr>
          <p:nvPr/>
        </p:nvSpPr>
        <p:spPr bwMode="auto">
          <a:xfrm>
            <a:off x="9407525" y="6524625"/>
            <a:ext cx="285750" cy="215900"/>
          </a:xfrm>
          <a:prstGeom prst="actionButtonForwardNex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46084" name="AutoShape 4">
            <a:hlinkClick r:id="" action="ppaction://hlinkshowjump?jump=firstslide" highlightClick="1"/>
          </p:cNvPr>
          <p:cNvSpPr>
            <a:spLocks noChangeArrowheads="1"/>
          </p:cNvSpPr>
          <p:nvPr/>
        </p:nvSpPr>
        <p:spPr bwMode="auto">
          <a:xfrm>
            <a:off x="9694864" y="6524625"/>
            <a:ext cx="287337" cy="215900"/>
          </a:xfrm>
          <a:prstGeom prst="actionButtonBeginning">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46085" name="AutoShape 5">
            <a:hlinkClick r:id="" action="ppaction://hlinkshowjump?jump=endshow" highlightClick="1"/>
          </p:cNvPr>
          <p:cNvSpPr>
            <a:spLocks noChangeArrowheads="1"/>
          </p:cNvSpPr>
          <p:nvPr/>
        </p:nvSpPr>
        <p:spPr bwMode="auto">
          <a:xfrm>
            <a:off x="9983789" y="6524625"/>
            <a:ext cx="287337" cy="215900"/>
          </a:xfrm>
          <a:prstGeom prst="actionButtonEnd">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46086" name="AutoShape 6">
            <a:hlinkClick r:id="rId1" action="ppaction://hlinksldjump" highlightClick="1"/>
          </p:cNvPr>
          <p:cNvSpPr>
            <a:spLocks noChangeArrowheads="1"/>
          </p:cNvSpPr>
          <p:nvPr/>
        </p:nvSpPr>
        <p:spPr bwMode="auto">
          <a:xfrm>
            <a:off x="10272714" y="6524625"/>
            <a:ext cx="288925" cy="215900"/>
          </a:xfrm>
          <a:prstGeom prst="actionButtonReturn">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46087" name="Rectangle 8"/>
          <p:cNvSpPr>
            <a:spLocks noChangeArrowheads="1"/>
          </p:cNvSpPr>
          <p:nvPr/>
        </p:nvSpPr>
        <p:spPr bwMode="auto">
          <a:xfrm>
            <a:off x="1992313" y="260351"/>
            <a:ext cx="756126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r>
              <a:rPr kumimoji="0" lang="en-US" altLang="zh-CN" sz="2800">
                <a:solidFill>
                  <a:schemeClr val="tx2"/>
                </a:solidFill>
                <a:ea typeface="宋体" pitchFamily="2" charset="-122"/>
              </a:rPr>
              <a:t>  </a:t>
            </a:r>
            <a:r>
              <a:rPr kumimoji="0" lang="en-US" altLang="zh-CN" sz="2800">
                <a:solidFill>
                  <a:srgbClr val="0000FF"/>
                </a:solidFill>
                <a:latin typeface="楷体_GB2312" pitchFamily="49" charset="-122"/>
              </a:rPr>
              <a:t>2 </a:t>
            </a:r>
            <a:r>
              <a:rPr kumimoji="0" lang="zh-CN" altLang="en-US" sz="2800">
                <a:solidFill>
                  <a:srgbClr val="0000FF"/>
                </a:solidFill>
                <a:latin typeface="楷体_GB2312" pitchFamily="49" charset="-122"/>
              </a:rPr>
              <a:t>求</a:t>
            </a:r>
            <a:r>
              <a:rPr kumimoji="0" lang="en-US" altLang="zh-CN" sz="2800">
                <a:solidFill>
                  <a:srgbClr val="0000FF"/>
                </a:solidFill>
              </a:rPr>
              <a:t>y</a:t>
            </a:r>
            <a:r>
              <a:rPr kumimoji="0" lang="en-US" altLang="zh-CN" sz="2800" baseline="-25000">
                <a:solidFill>
                  <a:srgbClr val="0000FF"/>
                </a:solidFill>
              </a:rPr>
              <a:t>0</a:t>
            </a:r>
            <a:r>
              <a:rPr kumimoji="0" lang="zh-CN" altLang="en-US" sz="2800">
                <a:solidFill>
                  <a:srgbClr val="0000FF"/>
                </a:solidFill>
                <a:latin typeface="楷体_GB2312" pitchFamily="49" charset="-122"/>
              </a:rPr>
              <a:t>的预测区间</a:t>
            </a:r>
            <a:endParaRPr kumimoji="0" lang="zh-CN" altLang="en-US" sz="2800">
              <a:solidFill>
                <a:srgbClr val="0000FF"/>
              </a:solidFill>
              <a:latin typeface="楷体_GB2312" pitchFamily="49" charset="-122"/>
            </a:endParaRPr>
          </a:p>
        </p:txBody>
      </p:sp>
      <p:sp>
        <p:nvSpPr>
          <p:cNvPr id="903177" name="Rectangle 9"/>
          <p:cNvSpPr>
            <a:spLocks noChangeArrowheads="1"/>
          </p:cNvSpPr>
          <p:nvPr/>
        </p:nvSpPr>
        <p:spPr bwMode="auto">
          <a:xfrm>
            <a:off x="2208213" y="973138"/>
            <a:ext cx="289534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en-US" altLang="zh-CN" sz="2800">
                <a:latin typeface="楷体_GB2312" pitchFamily="49" charset="-122"/>
              </a:rPr>
              <a:t>(1) </a:t>
            </a:r>
            <a:r>
              <a:rPr lang="zh-CN" altLang="en-US" sz="2800">
                <a:latin typeface="楷体_GB2312" pitchFamily="49" charset="-122"/>
              </a:rPr>
              <a:t>构造随机变量</a:t>
            </a:r>
            <a:endParaRPr lang="zh-CN" altLang="en-US" sz="2800">
              <a:latin typeface="楷体_GB2312" pitchFamily="49" charset="-122"/>
            </a:endParaRPr>
          </a:p>
        </p:txBody>
      </p:sp>
      <p:graphicFrame>
        <p:nvGraphicFramePr>
          <p:cNvPr id="903178" name="Object 10"/>
          <p:cNvGraphicFramePr>
            <a:graphicFrameLocks noGrp="1" noChangeAspect="1"/>
          </p:cNvGraphicFramePr>
          <p:nvPr>
            <p:ph/>
          </p:nvPr>
        </p:nvGraphicFramePr>
        <p:xfrm>
          <a:off x="4440238" y="1576388"/>
          <a:ext cx="1500187" cy="485775"/>
        </p:xfrm>
        <a:graphic>
          <a:graphicData uri="http://schemas.openxmlformats.org/presentationml/2006/ole">
            <mc:AlternateContent xmlns:mc="http://schemas.openxmlformats.org/markup-compatibility/2006">
              <mc:Choice xmlns:v="urn:schemas-microsoft-com:vml" Requires="v">
                <p:oleObj spid="_x0000_s25601" name="公式" r:id="rId2" imgW="789940" imgH="248285" progId="Equation.3">
                  <p:embed/>
                </p:oleObj>
              </mc:Choice>
              <mc:Fallback>
                <p:oleObj name="公式" r:id="rId2" imgW="789940" imgH="248285" progId="Equation.3">
                  <p:embed/>
                  <p:pic>
                    <p:nvPicPr>
                      <p:cNvPr id="0" name="Object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40238" y="1576388"/>
                        <a:ext cx="1500187" cy="485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03181" name="Rectangle 13"/>
          <p:cNvSpPr>
            <a:spLocks noChangeArrowheads="1"/>
          </p:cNvSpPr>
          <p:nvPr/>
        </p:nvSpPr>
        <p:spPr bwMode="auto">
          <a:xfrm>
            <a:off x="2424113" y="2146301"/>
            <a:ext cx="5397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zh-CN" altLang="en-US" sz="2800"/>
              <a:t>则</a:t>
            </a:r>
            <a:endParaRPr lang="zh-CN" altLang="en-US" sz="2800"/>
          </a:p>
        </p:txBody>
      </p:sp>
      <p:graphicFrame>
        <p:nvGraphicFramePr>
          <p:cNvPr id="903182" name="Object 14"/>
          <p:cNvGraphicFramePr>
            <a:graphicFrameLocks noChangeAspect="1"/>
          </p:cNvGraphicFramePr>
          <p:nvPr/>
        </p:nvGraphicFramePr>
        <p:xfrm>
          <a:off x="3143250" y="2217738"/>
          <a:ext cx="5360988" cy="500062"/>
        </p:xfrm>
        <a:graphic>
          <a:graphicData uri="http://schemas.openxmlformats.org/presentationml/2006/ole">
            <mc:AlternateContent xmlns:mc="http://schemas.openxmlformats.org/markup-compatibility/2006">
              <mc:Choice xmlns:v="urn:schemas-microsoft-com:vml" Requires="v">
                <p:oleObj spid="_x0000_s2" name="公式" r:id="rId4" imgW="2878455" imgH="248285" progId="Equation.3">
                  <p:embed/>
                </p:oleObj>
              </mc:Choice>
              <mc:Fallback>
                <p:oleObj name="公式" r:id="rId4" imgW="2878455" imgH="248285" progId="Equation.3">
                  <p:embed/>
                  <p:pic>
                    <p:nvPicPr>
                      <p:cNvPr id="0" name="Object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43250" y="2217738"/>
                        <a:ext cx="5360988"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03187" name="Object 19"/>
          <p:cNvGraphicFramePr>
            <a:graphicFrameLocks noChangeAspect="1"/>
          </p:cNvGraphicFramePr>
          <p:nvPr/>
        </p:nvGraphicFramePr>
        <p:xfrm>
          <a:off x="2409825" y="2943226"/>
          <a:ext cx="3944938" cy="500063"/>
        </p:xfrm>
        <a:graphic>
          <a:graphicData uri="http://schemas.openxmlformats.org/presentationml/2006/ole">
            <mc:AlternateContent xmlns:mc="http://schemas.openxmlformats.org/markup-compatibility/2006">
              <mc:Choice xmlns:v="urn:schemas-microsoft-com:vml" Requires="v">
                <p:oleObj spid="_x0000_s3" name="公式" r:id="rId6" imgW="2110740" imgH="248285" progId="Equation.3">
                  <p:embed/>
                </p:oleObj>
              </mc:Choice>
              <mc:Fallback>
                <p:oleObj name="公式" r:id="rId6" imgW="2110740" imgH="248285" progId="Equation.3">
                  <p:embed/>
                  <p:pic>
                    <p:nvPicPr>
                      <p:cNvPr id="0" name="Object 1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09825" y="2943226"/>
                        <a:ext cx="3944938"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03189" name="Object 21"/>
          <p:cNvGraphicFramePr>
            <a:graphicFrameLocks noChangeAspect="1"/>
          </p:cNvGraphicFramePr>
          <p:nvPr/>
        </p:nvGraphicFramePr>
        <p:xfrm>
          <a:off x="3503613" y="3587750"/>
          <a:ext cx="3833812" cy="528638"/>
        </p:xfrm>
        <a:graphic>
          <a:graphicData uri="http://schemas.openxmlformats.org/presentationml/2006/ole">
            <mc:AlternateContent xmlns:mc="http://schemas.openxmlformats.org/markup-compatibility/2006">
              <mc:Choice xmlns:v="urn:schemas-microsoft-com:vml" Requires="v">
                <p:oleObj spid="_x0000_s4" name="公式" r:id="rId8" imgW="2054860" imgH="259715" progId="Equation.3">
                  <p:embed/>
                </p:oleObj>
              </mc:Choice>
              <mc:Fallback>
                <p:oleObj name="公式" r:id="rId8" imgW="2054860" imgH="259715" progId="Equation.3">
                  <p:embed/>
                  <p:pic>
                    <p:nvPicPr>
                      <p:cNvPr id="0" name="Object 2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03613" y="3587750"/>
                        <a:ext cx="3833812"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03193" name="Rectangle 25"/>
          <p:cNvSpPr>
            <a:spLocks noChangeArrowheads="1"/>
          </p:cNvSpPr>
          <p:nvPr/>
        </p:nvSpPr>
        <p:spPr bwMode="auto">
          <a:xfrm>
            <a:off x="2495550" y="4256088"/>
            <a:ext cx="6286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zh-CN" altLang="en-US" sz="2800"/>
              <a:t>而</a:t>
            </a:r>
            <a:r>
              <a:rPr lang="zh-CN" altLang="en-US" sz="2800">
                <a:ea typeface="宋体" pitchFamily="2" charset="-122"/>
              </a:rPr>
              <a:t> </a:t>
            </a:r>
            <a:endParaRPr lang="zh-CN" altLang="en-US" sz="2800">
              <a:ea typeface="宋体" pitchFamily="2" charset="-122"/>
            </a:endParaRPr>
          </a:p>
        </p:txBody>
      </p:sp>
      <p:graphicFrame>
        <p:nvGraphicFramePr>
          <p:cNvPr id="903194" name="Object 26"/>
          <p:cNvGraphicFramePr>
            <a:graphicFrameLocks noChangeAspect="1"/>
          </p:cNvGraphicFramePr>
          <p:nvPr/>
        </p:nvGraphicFramePr>
        <p:xfrm>
          <a:off x="3503614" y="4221164"/>
          <a:ext cx="3559175" cy="2173287"/>
        </p:xfrm>
        <a:graphic>
          <a:graphicData uri="http://schemas.openxmlformats.org/presentationml/2006/ole">
            <mc:AlternateContent xmlns:mc="http://schemas.openxmlformats.org/markup-compatibility/2006">
              <mc:Choice xmlns:v="urn:schemas-microsoft-com:vml" Requires="v">
                <p:oleObj spid="_x0000_s5" name="公式" r:id="rId10" imgW="1907540" imgH="1151255" progId="Equation.3">
                  <p:embed/>
                </p:oleObj>
              </mc:Choice>
              <mc:Fallback>
                <p:oleObj name="公式" r:id="rId10" imgW="1907540" imgH="1151255" progId="Equation.3">
                  <p:embed/>
                  <p:pic>
                    <p:nvPicPr>
                      <p:cNvPr id="0" name="Object 2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03614" y="4221164"/>
                        <a:ext cx="3559175" cy="2173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03177"/>
                                        </p:tgtEl>
                                        <p:attrNameLst>
                                          <p:attrName>style.visibility</p:attrName>
                                        </p:attrNameLst>
                                      </p:cBhvr>
                                      <p:to>
                                        <p:strVal val="visible"/>
                                      </p:to>
                                    </p:set>
                                    <p:animEffect transition="in" filter="wipe(left)">
                                      <p:cBhvr>
                                        <p:cTn id="7" dur="500"/>
                                        <p:tgtEl>
                                          <p:spTgt spid="90317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03178"/>
                                        </p:tgtEl>
                                        <p:attrNameLst>
                                          <p:attrName>style.visibility</p:attrName>
                                        </p:attrNameLst>
                                      </p:cBhvr>
                                      <p:to>
                                        <p:strVal val="visible"/>
                                      </p:to>
                                    </p:set>
                                    <p:animEffect transition="in" filter="wipe(left)">
                                      <p:cBhvr>
                                        <p:cTn id="12" dur="500"/>
                                        <p:tgtEl>
                                          <p:spTgt spid="90317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03181"/>
                                        </p:tgtEl>
                                        <p:attrNameLst>
                                          <p:attrName>style.visibility</p:attrName>
                                        </p:attrNameLst>
                                      </p:cBhvr>
                                      <p:to>
                                        <p:strVal val="visible"/>
                                      </p:to>
                                    </p:set>
                                    <p:animEffect transition="in" filter="wipe(left)">
                                      <p:cBhvr>
                                        <p:cTn id="17" dur="500"/>
                                        <p:tgtEl>
                                          <p:spTgt spid="90318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03182"/>
                                        </p:tgtEl>
                                        <p:attrNameLst>
                                          <p:attrName>style.visibility</p:attrName>
                                        </p:attrNameLst>
                                      </p:cBhvr>
                                      <p:to>
                                        <p:strVal val="visible"/>
                                      </p:to>
                                    </p:set>
                                    <p:animEffect transition="in" filter="wipe(left)">
                                      <p:cBhvr>
                                        <p:cTn id="22" dur="500"/>
                                        <p:tgtEl>
                                          <p:spTgt spid="90318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03187"/>
                                        </p:tgtEl>
                                        <p:attrNameLst>
                                          <p:attrName>style.visibility</p:attrName>
                                        </p:attrNameLst>
                                      </p:cBhvr>
                                      <p:to>
                                        <p:strVal val="visible"/>
                                      </p:to>
                                    </p:set>
                                    <p:animEffect transition="in" filter="wipe(left)">
                                      <p:cBhvr>
                                        <p:cTn id="27" dur="500"/>
                                        <p:tgtEl>
                                          <p:spTgt spid="90318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903189"/>
                                        </p:tgtEl>
                                        <p:attrNameLst>
                                          <p:attrName>style.visibility</p:attrName>
                                        </p:attrNameLst>
                                      </p:cBhvr>
                                      <p:to>
                                        <p:strVal val="visible"/>
                                      </p:to>
                                    </p:set>
                                    <p:animEffect transition="in" filter="wipe(left)">
                                      <p:cBhvr>
                                        <p:cTn id="32" dur="500"/>
                                        <p:tgtEl>
                                          <p:spTgt spid="90318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903193"/>
                                        </p:tgtEl>
                                        <p:attrNameLst>
                                          <p:attrName>style.visibility</p:attrName>
                                        </p:attrNameLst>
                                      </p:cBhvr>
                                      <p:to>
                                        <p:strVal val="visible"/>
                                      </p:to>
                                    </p:set>
                                    <p:animEffect transition="in" filter="wipe(left)">
                                      <p:cBhvr>
                                        <p:cTn id="37" dur="500"/>
                                        <p:tgtEl>
                                          <p:spTgt spid="90319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903194"/>
                                        </p:tgtEl>
                                        <p:attrNameLst>
                                          <p:attrName>style.visibility</p:attrName>
                                        </p:attrNameLst>
                                      </p:cBhvr>
                                      <p:to>
                                        <p:strVal val="visible"/>
                                      </p:to>
                                    </p:set>
                                    <p:animEffect transition="in" filter="wipe(left)">
                                      <p:cBhvr>
                                        <p:cTn id="42" dur="500"/>
                                        <p:tgtEl>
                                          <p:spTgt spid="9031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3177" grpId="0"/>
      <p:bldP spid="903181" grpId="0"/>
      <p:bldP spid="903193"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AutoShape 2">
            <a:hlinkClick r:id="" action="ppaction://hlinkshowjump?jump=previousslide" highlightClick="1"/>
          </p:cNvPr>
          <p:cNvSpPr>
            <a:spLocks noChangeArrowheads="1"/>
          </p:cNvSpPr>
          <p:nvPr/>
        </p:nvSpPr>
        <p:spPr bwMode="auto">
          <a:xfrm>
            <a:off x="9120189" y="6524625"/>
            <a:ext cx="287337" cy="215900"/>
          </a:xfrm>
          <a:prstGeom prst="actionButtonBackPrevious">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47107" name="AutoShape 3">
            <a:hlinkClick r:id="" action="ppaction://hlinkshowjump?jump=nextslide" highlightClick="1"/>
          </p:cNvPr>
          <p:cNvSpPr>
            <a:spLocks noChangeArrowheads="1"/>
          </p:cNvSpPr>
          <p:nvPr/>
        </p:nvSpPr>
        <p:spPr bwMode="auto">
          <a:xfrm>
            <a:off x="9407525" y="6524625"/>
            <a:ext cx="285750" cy="215900"/>
          </a:xfrm>
          <a:prstGeom prst="actionButtonForwardNex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47108" name="AutoShape 4">
            <a:hlinkClick r:id="" action="ppaction://hlinkshowjump?jump=firstslide" highlightClick="1"/>
          </p:cNvPr>
          <p:cNvSpPr>
            <a:spLocks noChangeArrowheads="1"/>
          </p:cNvSpPr>
          <p:nvPr/>
        </p:nvSpPr>
        <p:spPr bwMode="auto">
          <a:xfrm>
            <a:off x="9694864" y="6524625"/>
            <a:ext cx="287337" cy="215900"/>
          </a:xfrm>
          <a:prstGeom prst="actionButtonBeginning">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47109" name="AutoShape 5">
            <a:hlinkClick r:id="" action="ppaction://hlinkshowjump?jump=endshow" highlightClick="1"/>
          </p:cNvPr>
          <p:cNvSpPr>
            <a:spLocks noChangeArrowheads="1"/>
          </p:cNvSpPr>
          <p:nvPr/>
        </p:nvSpPr>
        <p:spPr bwMode="auto">
          <a:xfrm>
            <a:off x="9983789" y="6524625"/>
            <a:ext cx="287337" cy="215900"/>
          </a:xfrm>
          <a:prstGeom prst="actionButtonEnd">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47110" name="AutoShape 6">
            <a:hlinkClick r:id="rId1" action="ppaction://hlinksldjump" highlightClick="1"/>
          </p:cNvPr>
          <p:cNvSpPr>
            <a:spLocks noChangeArrowheads="1"/>
          </p:cNvSpPr>
          <p:nvPr/>
        </p:nvSpPr>
        <p:spPr bwMode="auto">
          <a:xfrm>
            <a:off x="10272714" y="6524625"/>
            <a:ext cx="288925" cy="215900"/>
          </a:xfrm>
          <a:prstGeom prst="actionButtonReturn">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graphicFrame>
        <p:nvGraphicFramePr>
          <p:cNvPr id="47111" name="Object 11"/>
          <p:cNvGraphicFramePr>
            <a:graphicFrameLocks noChangeAspect="1"/>
          </p:cNvGraphicFramePr>
          <p:nvPr/>
        </p:nvGraphicFramePr>
        <p:xfrm>
          <a:off x="3648076" y="549275"/>
          <a:ext cx="1833563" cy="528638"/>
        </p:xfrm>
        <a:graphic>
          <a:graphicData uri="http://schemas.openxmlformats.org/presentationml/2006/ole">
            <mc:AlternateContent xmlns:mc="http://schemas.openxmlformats.org/markup-compatibility/2006">
              <mc:Choice xmlns:v="urn:schemas-microsoft-com:vml" Requires="v">
                <p:oleObj spid="_x0000_s25601" name="公式" r:id="rId2" imgW="970915" imgH="259715" progId="Equation.3">
                  <p:embed/>
                </p:oleObj>
              </mc:Choice>
              <mc:Fallback>
                <p:oleObj name="公式" r:id="rId2" imgW="970915" imgH="259715" progId="Equation.3">
                  <p:embed/>
                  <p:pic>
                    <p:nvPicPr>
                      <p:cNvPr id="0" name="Object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48076" y="549275"/>
                        <a:ext cx="1833563"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7112" name="Rectangle 12"/>
          <p:cNvSpPr>
            <a:spLocks noChangeArrowheads="1"/>
          </p:cNvSpPr>
          <p:nvPr/>
        </p:nvSpPr>
        <p:spPr bwMode="auto">
          <a:xfrm>
            <a:off x="2424114" y="527050"/>
            <a:ext cx="64953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zh-CN" altLang="en-US" sz="2800">
                <a:latin typeface="楷体_GB2312" pitchFamily="49" charset="-122"/>
              </a:rPr>
              <a:t>故 </a:t>
            </a:r>
            <a:endParaRPr lang="zh-CN" altLang="en-US" sz="2800">
              <a:latin typeface="楷体_GB2312" pitchFamily="49" charset="-122"/>
            </a:endParaRPr>
          </a:p>
        </p:txBody>
      </p:sp>
      <p:graphicFrame>
        <p:nvGraphicFramePr>
          <p:cNvPr id="904205" name="Object 13"/>
          <p:cNvGraphicFramePr>
            <a:graphicFrameLocks noChangeAspect="1"/>
          </p:cNvGraphicFramePr>
          <p:nvPr/>
        </p:nvGraphicFramePr>
        <p:xfrm>
          <a:off x="3575051" y="1052514"/>
          <a:ext cx="3317875" cy="1108075"/>
        </p:xfrm>
        <a:graphic>
          <a:graphicData uri="http://schemas.openxmlformats.org/presentationml/2006/ole">
            <mc:AlternateContent xmlns:mc="http://schemas.openxmlformats.org/markup-compatibility/2006">
              <mc:Choice xmlns:v="urn:schemas-microsoft-com:vml" Requires="v">
                <p:oleObj spid="_x0000_s2" name="公式" r:id="rId4" imgW="1242060" imgH="394970" progId="Equation.3">
                  <p:embed/>
                </p:oleObj>
              </mc:Choice>
              <mc:Fallback>
                <p:oleObj name="公式" r:id="rId4" imgW="1242060" imgH="394970" progId="Equation.3">
                  <p:embed/>
                  <p:pic>
                    <p:nvPicPr>
                      <p:cNvPr id="0"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75051" y="1052514"/>
                        <a:ext cx="3317875"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04206" name="Rectangle 14"/>
          <p:cNvSpPr>
            <a:spLocks noChangeArrowheads="1"/>
          </p:cNvSpPr>
          <p:nvPr/>
        </p:nvSpPr>
        <p:spPr bwMode="auto">
          <a:xfrm>
            <a:off x="2351088" y="1341438"/>
            <a:ext cx="9842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zh-CN" altLang="en-US" sz="2800"/>
              <a:t>其中</a:t>
            </a:r>
            <a:r>
              <a:rPr lang="zh-CN" altLang="en-US" sz="2800">
                <a:ea typeface="宋体" pitchFamily="2" charset="-122"/>
              </a:rPr>
              <a:t> </a:t>
            </a:r>
            <a:endParaRPr lang="zh-CN" altLang="en-US" sz="2800">
              <a:ea typeface="宋体" pitchFamily="2" charset="-122"/>
            </a:endParaRPr>
          </a:p>
        </p:txBody>
      </p:sp>
      <p:graphicFrame>
        <p:nvGraphicFramePr>
          <p:cNvPr id="904207" name="Object 15"/>
          <p:cNvGraphicFramePr>
            <a:graphicFrameLocks noChangeAspect="1"/>
          </p:cNvGraphicFramePr>
          <p:nvPr/>
        </p:nvGraphicFramePr>
        <p:xfrm>
          <a:off x="3763964" y="2185989"/>
          <a:ext cx="2193925" cy="528637"/>
        </p:xfrm>
        <a:graphic>
          <a:graphicData uri="http://schemas.openxmlformats.org/presentationml/2006/ole">
            <mc:AlternateContent xmlns:mc="http://schemas.openxmlformats.org/markup-compatibility/2006">
              <mc:Choice xmlns:v="urn:schemas-microsoft-com:vml" Requires="v">
                <p:oleObj spid="_x0000_s3" name="公式" r:id="rId6" imgW="1162685" imgH="259715" progId="Equation.3">
                  <p:embed/>
                </p:oleObj>
              </mc:Choice>
              <mc:Fallback>
                <p:oleObj name="公式" r:id="rId6" imgW="1162685" imgH="259715" progId="Equation.3">
                  <p:embed/>
                  <p:pic>
                    <p:nvPicPr>
                      <p:cNvPr id="0" name="Object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63964" y="2185989"/>
                        <a:ext cx="2193925" cy="52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04208" name="Rectangle 16"/>
          <p:cNvSpPr>
            <a:spLocks noChangeArrowheads="1"/>
          </p:cNvSpPr>
          <p:nvPr/>
        </p:nvSpPr>
        <p:spPr bwMode="auto">
          <a:xfrm>
            <a:off x="2424113" y="2122488"/>
            <a:ext cx="9842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zh-CN" altLang="en-US" sz="2800"/>
              <a:t>于是</a:t>
            </a:r>
            <a:r>
              <a:rPr lang="zh-CN" altLang="en-US" sz="2800">
                <a:ea typeface="宋体" pitchFamily="2" charset="-122"/>
              </a:rPr>
              <a:t> </a:t>
            </a:r>
            <a:endParaRPr lang="zh-CN" altLang="en-US" sz="2800">
              <a:ea typeface="宋体" pitchFamily="2" charset="-122"/>
            </a:endParaRPr>
          </a:p>
        </p:txBody>
      </p:sp>
      <p:graphicFrame>
        <p:nvGraphicFramePr>
          <p:cNvPr id="904209" name="Object 17"/>
          <p:cNvGraphicFramePr>
            <a:graphicFrameLocks noChangeAspect="1"/>
          </p:cNvGraphicFramePr>
          <p:nvPr/>
        </p:nvGraphicFramePr>
        <p:xfrm>
          <a:off x="3719513" y="2708276"/>
          <a:ext cx="3776662" cy="919163"/>
        </p:xfrm>
        <a:graphic>
          <a:graphicData uri="http://schemas.openxmlformats.org/presentationml/2006/ole">
            <mc:AlternateContent xmlns:mc="http://schemas.openxmlformats.org/markup-compatibility/2006">
              <mc:Choice xmlns:v="urn:schemas-microsoft-com:vml" Requires="v">
                <p:oleObj spid="_x0000_s4" name="公式" r:id="rId8" imgW="2020570" imgH="474345" progId="Equation.3">
                  <p:embed/>
                </p:oleObj>
              </mc:Choice>
              <mc:Fallback>
                <p:oleObj name="公式" r:id="rId8" imgW="2020570" imgH="474345" progId="Equation.3">
                  <p:embed/>
                  <p:pic>
                    <p:nvPicPr>
                      <p:cNvPr id="0" name="Object 1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19513" y="2708276"/>
                        <a:ext cx="3776662" cy="919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04210" name="Rectangle 18"/>
          <p:cNvSpPr>
            <a:spLocks noChangeArrowheads="1"/>
          </p:cNvSpPr>
          <p:nvPr/>
        </p:nvSpPr>
        <p:spPr bwMode="auto">
          <a:xfrm>
            <a:off x="2495551" y="2959100"/>
            <a:ext cx="64953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zh-CN" altLang="en-US" sz="2800">
                <a:latin typeface="楷体_GB2312" pitchFamily="49" charset="-122"/>
              </a:rPr>
              <a:t>又 </a:t>
            </a:r>
            <a:endParaRPr lang="zh-CN" altLang="en-US" sz="2800">
              <a:latin typeface="楷体_GB2312" pitchFamily="49" charset="-122"/>
            </a:endParaRPr>
          </a:p>
        </p:txBody>
      </p:sp>
      <p:graphicFrame>
        <p:nvGraphicFramePr>
          <p:cNvPr id="904211" name="Object 19"/>
          <p:cNvGraphicFramePr>
            <a:graphicFrameLocks noChangeAspect="1"/>
          </p:cNvGraphicFramePr>
          <p:nvPr/>
        </p:nvGraphicFramePr>
        <p:xfrm>
          <a:off x="3479800" y="3621881"/>
          <a:ext cx="5478463" cy="1665288"/>
        </p:xfrm>
        <a:graphic>
          <a:graphicData uri="http://schemas.openxmlformats.org/presentationml/2006/ole">
            <mc:AlternateContent xmlns:mc="http://schemas.openxmlformats.org/markup-compatibility/2006">
              <mc:Choice xmlns:v="urn:schemas-microsoft-com:vml" Requires="v">
                <p:oleObj spid="_x0000_s5" name="Equation" r:id="rId10" imgW="55168800" imgH="16459200" progId="Equation.DSMT4">
                  <p:embed/>
                </p:oleObj>
              </mc:Choice>
              <mc:Fallback>
                <p:oleObj name="Equation" r:id="rId10" imgW="55168800" imgH="16459200" progId="Equation.DSMT4">
                  <p:embed/>
                  <p:pic>
                    <p:nvPicPr>
                      <p:cNvPr id="0" name="Object 19"/>
                      <p:cNvPicPr>
                        <a:picLocks noChangeAspect="1" noChangeArrowheads="1"/>
                      </p:cNvPicPr>
                      <p:nvPr/>
                    </p:nvPicPr>
                    <p:blipFill>
                      <a:blip r:embed="rId11"/>
                      <a:srcRect/>
                      <a:stretch>
                        <a:fillRect/>
                      </a:stretch>
                    </p:blipFill>
                    <p:spPr bwMode="auto">
                      <a:xfrm>
                        <a:off x="3479800" y="3621881"/>
                        <a:ext cx="5478463" cy="166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04212" name="Rectangle 20"/>
          <p:cNvSpPr>
            <a:spLocks noChangeArrowheads="1"/>
          </p:cNvSpPr>
          <p:nvPr/>
        </p:nvSpPr>
        <p:spPr bwMode="auto">
          <a:xfrm>
            <a:off x="2495550" y="3935413"/>
            <a:ext cx="9842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zh-CN" altLang="en-US" sz="2800"/>
              <a:t>则取</a:t>
            </a:r>
            <a:r>
              <a:rPr lang="zh-CN" altLang="en-US" sz="2800">
                <a:ea typeface="宋体" pitchFamily="2" charset="-122"/>
              </a:rPr>
              <a:t> </a:t>
            </a:r>
            <a:endParaRPr lang="zh-CN" altLang="en-US" sz="2800">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04206"/>
                                        </p:tgtEl>
                                        <p:attrNameLst>
                                          <p:attrName>style.visibility</p:attrName>
                                        </p:attrNameLst>
                                      </p:cBhvr>
                                      <p:to>
                                        <p:strVal val="visible"/>
                                      </p:to>
                                    </p:set>
                                    <p:animEffect transition="in" filter="wipe(left)">
                                      <p:cBhvr>
                                        <p:cTn id="7" dur="500"/>
                                        <p:tgtEl>
                                          <p:spTgt spid="90420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04205"/>
                                        </p:tgtEl>
                                        <p:attrNameLst>
                                          <p:attrName>style.visibility</p:attrName>
                                        </p:attrNameLst>
                                      </p:cBhvr>
                                      <p:to>
                                        <p:strVal val="visible"/>
                                      </p:to>
                                    </p:set>
                                    <p:animEffect transition="in" filter="wipe(left)">
                                      <p:cBhvr>
                                        <p:cTn id="12" dur="500"/>
                                        <p:tgtEl>
                                          <p:spTgt spid="90420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04208"/>
                                        </p:tgtEl>
                                        <p:attrNameLst>
                                          <p:attrName>style.visibility</p:attrName>
                                        </p:attrNameLst>
                                      </p:cBhvr>
                                      <p:to>
                                        <p:strVal val="visible"/>
                                      </p:to>
                                    </p:set>
                                    <p:animEffect transition="in" filter="wipe(left)">
                                      <p:cBhvr>
                                        <p:cTn id="17" dur="500"/>
                                        <p:tgtEl>
                                          <p:spTgt spid="90420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04207"/>
                                        </p:tgtEl>
                                        <p:attrNameLst>
                                          <p:attrName>style.visibility</p:attrName>
                                        </p:attrNameLst>
                                      </p:cBhvr>
                                      <p:to>
                                        <p:strVal val="visible"/>
                                      </p:to>
                                    </p:set>
                                    <p:animEffect transition="in" filter="wipe(left)">
                                      <p:cBhvr>
                                        <p:cTn id="22" dur="500"/>
                                        <p:tgtEl>
                                          <p:spTgt spid="90420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04210"/>
                                        </p:tgtEl>
                                        <p:attrNameLst>
                                          <p:attrName>style.visibility</p:attrName>
                                        </p:attrNameLst>
                                      </p:cBhvr>
                                      <p:to>
                                        <p:strVal val="visible"/>
                                      </p:to>
                                    </p:set>
                                    <p:animEffect transition="in" filter="wipe(left)">
                                      <p:cBhvr>
                                        <p:cTn id="27" dur="500"/>
                                        <p:tgtEl>
                                          <p:spTgt spid="9042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904209"/>
                                        </p:tgtEl>
                                        <p:attrNameLst>
                                          <p:attrName>style.visibility</p:attrName>
                                        </p:attrNameLst>
                                      </p:cBhvr>
                                      <p:to>
                                        <p:strVal val="visible"/>
                                      </p:to>
                                    </p:set>
                                    <p:animEffect transition="in" filter="wipe(left)">
                                      <p:cBhvr>
                                        <p:cTn id="32" dur="500"/>
                                        <p:tgtEl>
                                          <p:spTgt spid="90420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904212"/>
                                        </p:tgtEl>
                                        <p:attrNameLst>
                                          <p:attrName>style.visibility</p:attrName>
                                        </p:attrNameLst>
                                      </p:cBhvr>
                                      <p:to>
                                        <p:strVal val="visible"/>
                                      </p:to>
                                    </p:set>
                                    <p:animEffect transition="in" filter="wipe(left)">
                                      <p:cBhvr>
                                        <p:cTn id="37" dur="500"/>
                                        <p:tgtEl>
                                          <p:spTgt spid="90421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904211"/>
                                        </p:tgtEl>
                                        <p:attrNameLst>
                                          <p:attrName>style.visibility</p:attrName>
                                        </p:attrNameLst>
                                      </p:cBhvr>
                                      <p:to>
                                        <p:strVal val="visible"/>
                                      </p:to>
                                    </p:set>
                                    <p:animEffect transition="in" filter="wipe(left)">
                                      <p:cBhvr>
                                        <p:cTn id="42" dur="500"/>
                                        <p:tgtEl>
                                          <p:spTgt spid="9042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4206" grpId="0"/>
      <p:bldP spid="904208" grpId="0"/>
      <p:bldP spid="904210" grpId="0"/>
      <p:bldP spid="904212"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AutoShape 2">
            <a:hlinkClick r:id="" action="ppaction://hlinkshowjump?jump=previousslide" highlightClick="1"/>
          </p:cNvPr>
          <p:cNvSpPr>
            <a:spLocks noChangeArrowheads="1"/>
          </p:cNvSpPr>
          <p:nvPr/>
        </p:nvSpPr>
        <p:spPr bwMode="auto">
          <a:xfrm>
            <a:off x="9120189" y="6524625"/>
            <a:ext cx="287337" cy="215900"/>
          </a:xfrm>
          <a:prstGeom prst="actionButtonBackPrevious">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48131" name="AutoShape 3">
            <a:hlinkClick r:id="" action="ppaction://hlinkshowjump?jump=nextslide" highlightClick="1"/>
          </p:cNvPr>
          <p:cNvSpPr>
            <a:spLocks noChangeArrowheads="1"/>
          </p:cNvSpPr>
          <p:nvPr/>
        </p:nvSpPr>
        <p:spPr bwMode="auto">
          <a:xfrm>
            <a:off x="9407525" y="6524625"/>
            <a:ext cx="285750" cy="215900"/>
          </a:xfrm>
          <a:prstGeom prst="actionButtonForwardNex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48132" name="AutoShape 4">
            <a:hlinkClick r:id="" action="ppaction://hlinkshowjump?jump=firstslide" highlightClick="1"/>
          </p:cNvPr>
          <p:cNvSpPr>
            <a:spLocks noChangeArrowheads="1"/>
          </p:cNvSpPr>
          <p:nvPr/>
        </p:nvSpPr>
        <p:spPr bwMode="auto">
          <a:xfrm>
            <a:off x="9694864" y="6524625"/>
            <a:ext cx="287337" cy="215900"/>
          </a:xfrm>
          <a:prstGeom prst="actionButtonBeginning">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48133" name="AutoShape 5">
            <a:hlinkClick r:id="" action="ppaction://hlinkshowjump?jump=endshow" highlightClick="1"/>
          </p:cNvPr>
          <p:cNvSpPr>
            <a:spLocks noChangeArrowheads="1"/>
          </p:cNvSpPr>
          <p:nvPr/>
        </p:nvSpPr>
        <p:spPr bwMode="auto">
          <a:xfrm>
            <a:off x="9983789" y="6524625"/>
            <a:ext cx="287337" cy="215900"/>
          </a:xfrm>
          <a:prstGeom prst="actionButtonEnd">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48134" name="AutoShape 6">
            <a:hlinkClick r:id="rId1" action="ppaction://hlinksldjump" highlightClick="1"/>
          </p:cNvPr>
          <p:cNvSpPr>
            <a:spLocks noChangeArrowheads="1"/>
          </p:cNvSpPr>
          <p:nvPr/>
        </p:nvSpPr>
        <p:spPr bwMode="auto">
          <a:xfrm>
            <a:off x="10272714" y="6524625"/>
            <a:ext cx="288925" cy="215900"/>
          </a:xfrm>
          <a:prstGeom prst="actionButtonReturn">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905223" name="Rectangle 7"/>
          <p:cNvSpPr>
            <a:spLocks noChangeArrowheads="1"/>
          </p:cNvSpPr>
          <p:nvPr/>
        </p:nvSpPr>
        <p:spPr bwMode="auto">
          <a:xfrm>
            <a:off x="2566989" y="549276"/>
            <a:ext cx="47529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en-US" altLang="zh-CN" sz="2800">
                <a:latin typeface="楷体_GB2312" pitchFamily="49" charset="-122"/>
              </a:rPr>
              <a:t>(2) </a:t>
            </a:r>
            <a:r>
              <a:rPr lang="zh-CN" altLang="en-US" sz="2800">
                <a:latin typeface="楷体_GB2312" pitchFamily="49" charset="-122"/>
              </a:rPr>
              <a:t>给定置信度</a:t>
            </a:r>
            <a:r>
              <a:rPr lang="en-US" altLang="zh-CN" sz="2800"/>
              <a:t>1</a:t>
            </a:r>
            <a:r>
              <a:rPr lang="zh-CN" altLang="en-US" sz="2800"/>
              <a:t>－</a:t>
            </a:r>
            <a:r>
              <a:rPr lang="el-GR" altLang="zh-CN" sz="2800">
                <a:cs typeface="Times New Roman" panose="02020503050405090304" pitchFamily="18" charset="0"/>
              </a:rPr>
              <a:t>α</a:t>
            </a:r>
            <a:r>
              <a:rPr lang="zh-CN" altLang="en-US" sz="2800">
                <a:latin typeface="楷体_GB2312" pitchFamily="49" charset="-122"/>
                <a:cs typeface="Times New Roman" panose="02020503050405090304" pitchFamily="18" charset="0"/>
              </a:rPr>
              <a:t>，使</a:t>
            </a:r>
            <a:endParaRPr lang="zh-CN" altLang="el-GR" sz="2800">
              <a:latin typeface="楷体_GB2312" pitchFamily="49" charset="-122"/>
              <a:cs typeface="Times New Roman" panose="02020503050405090304" pitchFamily="18" charset="0"/>
            </a:endParaRPr>
          </a:p>
        </p:txBody>
      </p:sp>
      <p:graphicFrame>
        <p:nvGraphicFramePr>
          <p:cNvPr id="905224" name="Object 8"/>
          <p:cNvGraphicFramePr>
            <a:graphicFrameLocks noChangeAspect="1"/>
          </p:cNvGraphicFramePr>
          <p:nvPr/>
        </p:nvGraphicFramePr>
        <p:xfrm>
          <a:off x="3925889" y="1125538"/>
          <a:ext cx="3527425" cy="1058862"/>
        </p:xfrm>
        <a:graphic>
          <a:graphicData uri="http://schemas.openxmlformats.org/presentationml/2006/ole">
            <mc:AlternateContent xmlns:mc="http://schemas.openxmlformats.org/markup-compatibility/2006">
              <mc:Choice xmlns:v="urn:schemas-microsoft-com:vml" Requires="v">
                <p:oleObj spid="_x0000_s25601" name="公式" r:id="rId2" imgW="1885315" imgH="553085" progId="Equation.3">
                  <p:embed/>
                </p:oleObj>
              </mc:Choice>
              <mc:Fallback>
                <p:oleObj name="公式" r:id="rId2" imgW="1885315" imgH="553085" progId="Equation.3">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5889" y="1125538"/>
                        <a:ext cx="3527425" cy="1058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05226" name="Rectangle 10"/>
          <p:cNvSpPr>
            <a:spLocks noChangeArrowheads="1"/>
          </p:cNvSpPr>
          <p:nvPr/>
        </p:nvSpPr>
        <p:spPr bwMode="auto">
          <a:xfrm>
            <a:off x="2566989" y="2225675"/>
            <a:ext cx="390042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en-US" altLang="zh-CN" sz="2800">
                <a:latin typeface="楷体_GB2312" pitchFamily="49" charset="-122"/>
              </a:rPr>
              <a:t>(3) </a:t>
            </a:r>
            <a:r>
              <a:rPr lang="zh-CN" altLang="en-US" sz="2800">
                <a:latin typeface="楷体_GB2312" pitchFamily="49" charset="-122"/>
              </a:rPr>
              <a:t>则</a:t>
            </a:r>
            <a:r>
              <a:rPr lang="en-US" altLang="zh-CN" sz="2800" i="1"/>
              <a:t>y</a:t>
            </a:r>
            <a:r>
              <a:rPr lang="en-US" altLang="zh-CN" sz="2800" baseline="-25000"/>
              <a:t>0</a:t>
            </a:r>
            <a:r>
              <a:rPr lang="zh-CN" altLang="en-US" sz="2800">
                <a:latin typeface="楷体_GB2312" pitchFamily="49" charset="-122"/>
              </a:rPr>
              <a:t>的</a:t>
            </a:r>
            <a:r>
              <a:rPr lang="en-US" altLang="zh-CN" sz="2800"/>
              <a:t>1</a:t>
            </a:r>
            <a:r>
              <a:rPr lang="zh-CN" altLang="en-US" sz="2800"/>
              <a:t>－</a:t>
            </a:r>
            <a:r>
              <a:rPr lang="el-GR" altLang="zh-CN" sz="2800">
                <a:cs typeface="Times New Roman" panose="02020503050405090304" pitchFamily="18" charset="0"/>
              </a:rPr>
              <a:t>α</a:t>
            </a:r>
            <a:r>
              <a:rPr lang="zh-CN" altLang="en-US" sz="2800">
                <a:latin typeface="楷体_GB2312" pitchFamily="49" charset="-122"/>
                <a:cs typeface="Times New Roman" panose="02020503050405090304" pitchFamily="18" charset="0"/>
              </a:rPr>
              <a:t>预测区间</a:t>
            </a:r>
            <a:endParaRPr lang="zh-CN" altLang="el-GR" sz="2800">
              <a:latin typeface="楷体_GB2312" pitchFamily="49" charset="-122"/>
              <a:cs typeface="Times New Roman" panose="02020503050405090304" pitchFamily="18" charset="0"/>
            </a:endParaRPr>
          </a:p>
        </p:txBody>
      </p:sp>
      <p:graphicFrame>
        <p:nvGraphicFramePr>
          <p:cNvPr id="905227" name="Object 11"/>
          <p:cNvGraphicFramePr>
            <a:graphicFrameLocks noChangeAspect="1"/>
          </p:cNvGraphicFramePr>
          <p:nvPr/>
        </p:nvGraphicFramePr>
        <p:xfrm>
          <a:off x="3216275" y="2781301"/>
          <a:ext cx="5081588" cy="1058863"/>
        </p:xfrm>
        <a:graphic>
          <a:graphicData uri="http://schemas.openxmlformats.org/presentationml/2006/ole">
            <mc:AlternateContent xmlns:mc="http://schemas.openxmlformats.org/markup-compatibility/2006">
              <mc:Choice xmlns:v="urn:schemas-microsoft-com:vml" Requires="v">
                <p:oleObj spid="_x0000_s2" name="公式" r:id="rId4" imgW="2731770" imgH="553085" progId="Equation.3">
                  <p:embed/>
                </p:oleObj>
              </mc:Choice>
              <mc:Fallback>
                <p:oleObj name="公式" r:id="rId4" imgW="2731770" imgH="553085" progId="Equation.3">
                  <p:embed/>
                  <p:pic>
                    <p:nvPicPr>
                      <p:cNvPr id="0"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16275" y="2781301"/>
                        <a:ext cx="5081588" cy="1058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05230" name="Rectangle 14"/>
          <p:cNvSpPr>
            <a:spLocks noChangeArrowheads="1"/>
          </p:cNvSpPr>
          <p:nvPr/>
        </p:nvSpPr>
        <p:spPr bwMode="auto">
          <a:xfrm>
            <a:off x="2208214" y="4292601"/>
            <a:ext cx="59531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zh-CN" altLang="en-US" sz="2800"/>
              <a:t>可以看出在</a:t>
            </a:r>
            <a:r>
              <a:rPr lang="en-US" altLang="zh-CN" sz="2800" i="1">
                <a:ea typeface="宋体" pitchFamily="2" charset="-122"/>
              </a:rPr>
              <a:t>x</a:t>
            </a:r>
            <a:r>
              <a:rPr lang="en-US" altLang="zh-CN" sz="2800" baseline="-25000">
                <a:ea typeface="宋体" pitchFamily="2" charset="-122"/>
              </a:rPr>
              <a:t>0</a:t>
            </a:r>
            <a:r>
              <a:rPr lang="zh-CN" altLang="en-US" sz="2800"/>
              <a:t>处</a:t>
            </a:r>
            <a:r>
              <a:rPr lang="en-US" altLang="zh-CN" sz="2800" i="1">
                <a:ea typeface="宋体" pitchFamily="2" charset="-122"/>
              </a:rPr>
              <a:t>y</a:t>
            </a:r>
            <a:r>
              <a:rPr lang="zh-CN" altLang="en-US" sz="2800"/>
              <a:t>的置信区间的长度为</a:t>
            </a:r>
            <a:endParaRPr lang="zh-CN" altLang="en-US" sz="2800"/>
          </a:p>
        </p:txBody>
      </p:sp>
      <p:grpSp>
        <p:nvGrpSpPr>
          <p:cNvPr id="905231" name="Group 15"/>
          <p:cNvGrpSpPr/>
          <p:nvPr/>
        </p:nvGrpSpPr>
        <p:grpSpPr bwMode="auto">
          <a:xfrm>
            <a:off x="2208213" y="4935539"/>
            <a:ext cx="7993062" cy="1373187"/>
            <a:chOff x="385" y="3385"/>
            <a:chExt cx="5035" cy="865"/>
          </a:xfrm>
        </p:grpSpPr>
        <p:graphicFrame>
          <p:nvGraphicFramePr>
            <p:cNvPr id="48143" name="Object 16"/>
            <p:cNvGraphicFramePr>
              <a:graphicFrameLocks noChangeAspect="1"/>
            </p:cNvGraphicFramePr>
            <p:nvPr/>
          </p:nvGraphicFramePr>
          <p:xfrm>
            <a:off x="703" y="3385"/>
            <a:ext cx="680" cy="357"/>
          </p:xfrm>
          <a:graphic>
            <a:graphicData uri="http://schemas.openxmlformats.org/presentationml/2006/ole">
              <mc:AlternateContent xmlns:mc="http://schemas.openxmlformats.org/markup-compatibility/2006">
                <mc:Choice xmlns:v="urn:schemas-microsoft-com:vml" Requires="v">
                  <p:oleObj spid="_x0000_s3" name="公式" r:id="rId6" imgW="485140" imgH="281940" progId="Equation.3">
                    <p:embed/>
                  </p:oleObj>
                </mc:Choice>
                <mc:Fallback>
                  <p:oleObj name="公式" r:id="rId6" imgW="485140" imgH="281940" progId="Equation.3">
                    <p:embed/>
                    <p:pic>
                      <p:nvPicPr>
                        <p:cNvPr id="0" name="Object 1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3" y="3385"/>
                          <a:ext cx="68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8144" name="Rectangle 17"/>
            <p:cNvSpPr>
              <a:spLocks noChangeArrowheads="1"/>
            </p:cNvSpPr>
            <p:nvPr/>
          </p:nvSpPr>
          <p:spPr bwMode="auto">
            <a:xfrm>
              <a:off x="385" y="3385"/>
              <a:ext cx="5035" cy="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en-US" altLang="zh-CN" sz="2800" dirty="0">
                  <a:latin typeface="楷体_GB2312" pitchFamily="49" charset="-122"/>
                </a:rPr>
                <a:t> </a:t>
              </a:r>
              <a:r>
                <a:rPr lang="zh-CN" altLang="en-US" sz="2800" dirty="0">
                  <a:latin typeface="楷体_GB2312" pitchFamily="49" charset="-122"/>
                </a:rPr>
                <a:t>当           时置信区间的长度最短，估计最精确，置信区间愈长，估计的精度愈差。</a:t>
              </a:r>
              <a:endParaRPr lang="zh-CN" altLang="en-US" sz="2800" dirty="0">
                <a:latin typeface="楷体_GB2312" pitchFamily="49" charset="-122"/>
              </a:endParaRPr>
            </a:p>
            <a:p>
              <a:pPr eaLnBrk="1" hangingPunct="1">
                <a:spcBef>
                  <a:spcPct val="0"/>
                </a:spcBef>
              </a:pPr>
              <a:endParaRPr lang="en-US" altLang="zh-CN" sz="2800" dirty="0">
                <a:latin typeface="楷体_GB2312" pitchFamily="49" charset="-122"/>
              </a:endParaRPr>
            </a:p>
          </p:txBody>
        </p:sp>
      </p:grpSp>
      <p:graphicFrame>
        <p:nvGraphicFramePr>
          <p:cNvPr id="905235" name="Object 19"/>
          <p:cNvGraphicFramePr>
            <a:graphicFrameLocks noChangeAspect="1"/>
          </p:cNvGraphicFramePr>
          <p:nvPr/>
        </p:nvGraphicFramePr>
        <p:xfrm>
          <a:off x="8040689" y="4240926"/>
          <a:ext cx="1859586" cy="775138"/>
        </p:xfrm>
        <a:graphic>
          <a:graphicData uri="http://schemas.openxmlformats.org/presentationml/2006/ole">
            <mc:AlternateContent xmlns:mc="http://schemas.openxmlformats.org/markup-compatibility/2006">
              <mc:Choice xmlns:v="urn:schemas-microsoft-com:vml" Requires="v">
                <p:oleObj spid="_x0000_s4" name="公式" r:id="rId8" imgW="779145" imgH="304800" progId="Equation.3">
                  <p:embed/>
                </p:oleObj>
              </mc:Choice>
              <mc:Fallback>
                <p:oleObj name="公式" r:id="rId8" imgW="779145" imgH="304800" progId="Equation.3">
                  <p:embed/>
                  <p:pic>
                    <p:nvPicPr>
                      <p:cNvPr id="0" name="Object 1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040689" y="4240926"/>
                        <a:ext cx="1859586" cy="775138"/>
                      </a:xfrm>
                      <a:prstGeom prst="rect">
                        <a:avLst/>
                      </a:prstGeom>
                      <a:noFill/>
                      <a:ln>
                        <a:noFill/>
                      </a:ln>
                    </p:spPr>
                  </p:pic>
                </p:oleObj>
              </mc:Fallback>
            </mc:AlternateContent>
          </a:graphicData>
        </a:graphic>
      </p:graphicFrame>
      <p:graphicFrame>
        <p:nvGraphicFramePr>
          <p:cNvPr id="905236" name="Object 20"/>
          <p:cNvGraphicFramePr>
            <a:graphicFrameLocks noChangeAspect="1"/>
          </p:cNvGraphicFramePr>
          <p:nvPr/>
        </p:nvGraphicFramePr>
        <p:xfrm>
          <a:off x="6959601" y="1916114"/>
          <a:ext cx="3121025" cy="1042987"/>
        </p:xfrm>
        <a:graphic>
          <a:graphicData uri="http://schemas.openxmlformats.org/presentationml/2006/ole">
            <mc:AlternateContent xmlns:mc="http://schemas.openxmlformats.org/markup-compatibility/2006">
              <mc:Choice xmlns:v="urn:schemas-microsoft-com:vml" Requires="v">
                <p:oleObj spid="_x0000_s5" name="公式" r:id="rId10" imgW="1242060" imgH="394970" progId="Equation.3">
                  <p:embed/>
                </p:oleObj>
              </mc:Choice>
              <mc:Fallback>
                <p:oleObj name="公式" r:id="rId10" imgW="1242060" imgH="394970" progId="Equation.3">
                  <p:embed/>
                  <p:pic>
                    <p:nvPicPr>
                      <p:cNvPr id="0" name="Object 2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959601" y="1916114"/>
                        <a:ext cx="3121025" cy="1042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05223"/>
                                        </p:tgtEl>
                                        <p:attrNameLst>
                                          <p:attrName>style.visibility</p:attrName>
                                        </p:attrNameLst>
                                      </p:cBhvr>
                                      <p:to>
                                        <p:strVal val="visible"/>
                                      </p:to>
                                    </p:set>
                                    <p:animEffect transition="in" filter="wipe(left)">
                                      <p:cBhvr>
                                        <p:cTn id="7" dur="500"/>
                                        <p:tgtEl>
                                          <p:spTgt spid="9052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05224"/>
                                        </p:tgtEl>
                                        <p:attrNameLst>
                                          <p:attrName>style.visibility</p:attrName>
                                        </p:attrNameLst>
                                      </p:cBhvr>
                                      <p:to>
                                        <p:strVal val="visible"/>
                                      </p:to>
                                    </p:set>
                                    <p:animEffect transition="in" filter="wipe(left)">
                                      <p:cBhvr>
                                        <p:cTn id="12" dur="500"/>
                                        <p:tgtEl>
                                          <p:spTgt spid="90522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05226"/>
                                        </p:tgtEl>
                                        <p:attrNameLst>
                                          <p:attrName>style.visibility</p:attrName>
                                        </p:attrNameLst>
                                      </p:cBhvr>
                                      <p:to>
                                        <p:strVal val="visible"/>
                                      </p:to>
                                    </p:set>
                                    <p:animEffect transition="in" filter="wipe(left)">
                                      <p:cBhvr>
                                        <p:cTn id="17" dur="500"/>
                                        <p:tgtEl>
                                          <p:spTgt spid="90522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05227"/>
                                        </p:tgtEl>
                                        <p:attrNameLst>
                                          <p:attrName>style.visibility</p:attrName>
                                        </p:attrNameLst>
                                      </p:cBhvr>
                                      <p:to>
                                        <p:strVal val="visible"/>
                                      </p:to>
                                    </p:set>
                                    <p:animEffect transition="in" filter="wipe(left)">
                                      <p:cBhvr>
                                        <p:cTn id="22" dur="500"/>
                                        <p:tgtEl>
                                          <p:spTgt spid="90522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05236"/>
                                        </p:tgtEl>
                                        <p:attrNameLst>
                                          <p:attrName>style.visibility</p:attrName>
                                        </p:attrNameLst>
                                      </p:cBhvr>
                                      <p:to>
                                        <p:strVal val="visible"/>
                                      </p:to>
                                    </p:set>
                                    <p:animEffect transition="in" filter="wipe(left)">
                                      <p:cBhvr>
                                        <p:cTn id="27" dur="500"/>
                                        <p:tgtEl>
                                          <p:spTgt spid="90523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05230"/>
                                        </p:tgtEl>
                                        <p:attrNameLst>
                                          <p:attrName>style.visibility</p:attrName>
                                        </p:attrNameLst>
                                      </p:cBhvr>
                                      <p:to>
                                        <p:strVal val="visible"/>
                                      </p:to>
                                    </p:set>
                                    <p:animEffect transition="in" filter="wipe(left)">
                                      <p:cBhvr>
                                        <p:cTn id="32" dur="500"/>
                                        <p:tgtEl>
                                          <p:spTgt spid="905230"/>
                                        </p:tgtEl>
                                      </p:cBhvr>
                                    </p:animEffect>
                                  </p:childTnLst>
                                </p:cTn>
                              </p:par>
                            </p:childTnLst>
                          </p:cTn>
                        </p:par>
                        <p:par>
                          <p:cTn id="33" fill="hold">
                            <p:stCondLst>
                              <p:cond delay="500"/>
                            </p:stCondLst>
                            <p:childTnLst>
                              <p:par>
                                <p:cTn id="34" presetID="22" presetClass="entr" presetSubtype="8" fill="hold" nodeType="afterEffect">
                                  <p:stCondLst>
                                    <p:cond delay="0"/>
                                  </p:stCondLst>
                                  <p:childTnLst>
                                    <p:set>
                                      <p:cBhvr>
                                        <p:cTn id="35" dur="1" fill="hold">
                                          <p:stCondLst>
                                            <p:cond delay="0"/>
                                          </p:stCondLst>
                                        </p:cTn>
                                        <p:tgtEl>
                                          <p:spTgt spid="905235"/>
                                        </p:tgtEl>
                                        <p:attrNameLst>
                                          <p:attrName>style.visibility</p:attrName>
                                        </p:attrNameLst>
                                      </p:cBhvr>
                                      <p:to>
                                        <p:strVal val="visible"/>
                                      </p:to>
                                    </p:set>
                                    <p:animEffect transition="in" filter="wipe(left)">
                                      <p:cBhvr>
                                        <p:cTn id="36" dur="500"/>
                                        <p:tgtEl>
                                          <p:spTgt spid="905235"/>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905231"/>
                                        </p:tgtEl>
                                        <p:attrNameLst>
                                          <p:attrName>style.visibility</p:attrName>
                                        </p:attrNameLst>
                                      </p:cBhvr>
                                      <p:to>
                                        <p:strVal val="visible"/>
                                      </p:to>
                                    </p:set>
                                    <p:animEffect transition="in" filter="wipe(left)">
                                      <p:cBhvr>
                                        <p:cTn id="41" dur="500"/>
                                        <p:tgtEl>
                                          <p:spTgt spid="9052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5223" grpId="0"/>
      <p:bldP spid="905226" grpId="0"/>
      <p:bldP spid="90523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AutoShape 2">
            <a:hlinkClick r:id="" action="ppaction://hlinkshowjump?jump=previousslide" highlightClick="1"/>
          </p:cNvPr>
          <p:cNvSpPr>
            <a:spLocks noChangeArrowheads="1"/>
          </p:cNvSpPr>
          <p:nvPr/>
        </p:nvSpPr>
        <p:spPr bwMode="auto">
          <a:xfrm>
            <a:off x="9120189" y="6524625"/>
            <a:ext cx="287337" cy="215900"/>
          </a:xfrm>
          <a:prstGeom prst="actionButtonBackPrevious">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49155" name="AutoShape 3">
            <a:hlinkClick r:id="" action="ppaction://hlinkshowjump?jump=nextslide" highlightClick="1"/>
          </p:cNvPr>
          <p:cNvSpPr>
            <a:spLocks noChangeArrowheads="1"/>
          </p:cNvSpPr>
          <p:nvPr/>
        </p:nvSpPr>
        <p:spPr bwMode="auto">
          <a:xfrm>
            <a:off x="9407525" y="6524625"/>
            <a:ext cx="285750" cy="215900"/>
          </a:xfrm>
          <a:prstGeom prst="actionButtonForwardNex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49156" name="AutoShape 4">
            <a:hlinkClick r:id="" action="ppaction://hlinkshowjump?jump=firstslide" highlightClick="1"/>
          </p:cNvPr>
          <p:cNvSpPr>
            <a:spLocks noChangeArrowheads="1"/>
          </p:cNvSpPr>
          <p:nvPr/>
        </p:nvSpPr>
        <p:spPr bwMode="auto">
          <a:xfrm>
            <a:off x="9694864" y="6524625"/>
            <a:ext cx="287337" cy="215900"/>
          </a:xfrm>
          <a:prstGeom prst="actionButtonBeginning">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49157" name="AutoShape 5">
            <a:hlinkClick r:id="" action="ppaction://hlinkshowjump?jump=endshow" highlightClick="1"/>
          </p:cNvPr>
          <p:cNvSpPr>
            <a:spLocks noChangeArrowheads="1"/>
          </p:cNvSpPr>
          <p:nvPr/>
        </p:nvSpPr>
        <p:spPr bwMode="auto">
          <a:xfrm>
            <a:off x="9983789" y="6524625"/>
            <a:ext cx="287337" cy="215900"/>
          </a:xfrm>
          <a:prstGeom prst="actionButtonEnd">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49158" name="AutoShape 6">
            <a:hlinkClick r:id="rId1" action="ppaction://hlinksldjump" highlightClick="1"/>
          </p:cNvPr>
          <p:cNvSpPr>
            <a:spLocks noChangeArrowheads="1"/>
          </p:cNvSpPr>
          <p:nvPr/>
        </p:nvSpPr>
        <p:spPr bwMode="auto">
          <a:xfrm>
            <a:off x="10272714" y="6524625"/>
            <a:ext cx="288925" cy="215900"/>
          </a:xfrm>
          <a:prstGeom prst="actionButtonReturn">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grpSp>
        <p:nvGrpSpPr>
          <p:cNvPr id="946193" name="Group 17"/>
          <p:cNvGrpSpPr/>
          <p:nvPr/>
        </p:nvGrpSpPr>
        <p:grpSpPr bwMode="auto">
          <a:xfrm>
            <a:off x="2876626" y="1614993"/>
            <a:ext cx="5410791" cy="1021724"/>
            <a:chOff x="1067" y="1763"/>
            <a:chExt cx="3247" cy="519"/>
          </a:xfrm>
        </p:grpSpPr>
        <p:graphicFrame>
          <p:nvGraphicFramePr>
            <p:cNvPr id="49167" name="Object 18"/>
            <p:cNvGraphicFramePr>
              <a:graphicFrameLocks noChangeAspect="1"/>
            </p:cNvGraphicFramePr>
            <p:nvPr/>
          </p:nvGraphicFramePr>
          <p:xfrm>
            <a:off x="1067" y="1807"/>
            <a:ext cx="1216" cy="475"/>
          </p:xfrm>
          <a:graphic>
            <a:graphicData uri="http://schemas.openxmlformats.org/presentationml/2006/ole">
              <mc:AlternateContent xmlns:mc="http://schemas.openxmlformats.org/markup-compatibility/2006">
                <mc:Choice xmlns:v="urn:schemas-microsoft-com:vml" Requires="v">
                  <p:oleObj spid="_x0000_s25601" name="公式" r:id="rId2" imgW="789940" imgH="293370" progId="Equation.3">
                    <p:embed/>
                  </p:oleObj>
                </mc:Choice>
                <mc:Fallback>
                  <p:oleObj name="公式" r:id="rId2" imgW="789940" imgH="293370" progId="Equation.3">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7" y="1807"/>
                          <a:ext cx="1216" cy="475"/>
                        </a:xfrm>
                        <a:prstGeom prst="rect">
                          <a:avLst/>
                        </a:prstGeom>
                        <a:noFill/>
                        <a:ln>
                          <a:noFill/>
                        </a:ln>
                      </p:spPr>
                    </p:pic>
                  </p:oleObj>
                </mc:Fallback>
              </mc:AlternateContent>
            </a:graphicData>
          </a:graphic>
        </p:graphicFrame>
        <p:graphicFrame>
          <p:nvGraphicFramePr>
            <p:cNvPr id="49168" name="Object 19"/>
            <p:cNvGraphicFramePr>
              <a:graphicFrameLocks noChangeAspect="1"/>
            </p:cNvGraphicFramePr>
            <p:nvPr/>
          </p:nvGraphicFramePr>
          <p:xfrm>
            <a:off x="2460" y="1802"/>
            <a:ext cx="680" cy="318"/>
          </p:xfrm>
          <a:graphic>
            <a:graphicData uri="http://schemas.openxmlformats.org/presentationml/2006/ole">
              <mc:AlternateContent xmlns:mc="http://schemas.openxmlformats.org/markup-compatibility/2006">
                <mc:Choice xmlns:v="urn:schemas-microsoft-com:vml" Requires="v">
                  <p:oleObj spid="_x0000_s2" name="公式" r:id="rId4" imgW="485140" imgH="281940" progId="Equation.3">
                    <p:embed/>
                  </p:oleObj>
                </mc:Choice>
                <mc:Fallback>
                  <p:oleObj name="公式" r:id="rId4" imgW="485140" imgH="281940" progId="Equation.3">
                    <p:embed/>
                    <p:pic>
                      <p:nvPicPr>
                        <p:cNvPr id="0" name="Object 1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60" y="1802"/>
                          <a:ext cx="680"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9169" name="Object 20"/>
            <p:cNvGraphicFramePr>
              <a:graphicFrameLocks noChangeAspect="1"/>
            </p:cNvGraphicFramePr>
            <p:nvPr/>
          </p:nvGraphicFramePr>
          <p:xfrm>
            <a:off x="3575" y="1763"/>
            <a:ext cx="739" cy="469"/>
          </p:xfrm>
          <a:graphic>
            <a:graphicData uri="http://schemas.openxmlformats.org/presentationml/2006/ole">
              <mc:AlternateContent xmlns:mc="http://schemas.openxmlformats.org/markup-compatibility/2006">
                <mc:Choice xmlns:v="urn:schemas-microsoft-com:vml" Requires="v">
                  <p:oleObj spid="_x0000_s3" name="Equation" r:id="rId6" imgW="12801600" imgH="9448800" progId="Equation.DSMT4">
                    <p:embed/>
                  </p:oleObj>
                </mc:Choice>
                <mc:Fallback>
                  <p:oleObj name="Equation" r:id="rId6" imgW="12801600" imgH="9448800" progId="Equation.DSMT4">
                    <p:embed/>
                    <p:pic>
                      <p:nvPicPr>
                        <p:cNvPr id="0" name="Object 20"/>
                        <p:cNvPicPr>
                          <a:picLocks noChangeAspect="1" noChangeArrowheads="1"/>
                        </p:cNvPicPr>
                        <p:nvPr/>
                      </p:nvPicPr>
                      <p:blipFill>
                        <a:blip r:embed="rId7"/>
                        <a:srcRect/>
                        <a:stretch>
                          <a:fillRect/>
                        </a:stretch>
                      </p:blipFill>
                      <p:spPr bwMode="auto">
                        <a:xfrm>
                          <a:off x="3575" y="1763"/>
                          <a:ext cx="739" cy="469"/>
                        </a:xfrm>
                        <a:prstGeom prst="rect">
                          <a:avLst/>
                        </a:prstGeom>
                        <a:noFill/>
                        <a:ln>
                          <a:noFill/>
                        </a:ln>
                      </p:spPr>
                    </p:pic>
                  </p:oleObj>
                </mc:Fallback>
              </mc:AlternateContent>
            </a:graphicData>
          </a:graphic>
        </p:graphicFrame>
      </p:grpSp>
      <p:graphicFrame>
        <p:nvGraphicFramePr>
          <p:cNvPr id="946197" name="Object 21"/>
          <p:cNvGraphicFramePr>
            <a:graphicFrameLocks noChangeAspect="1"/>
          </p:cNvGraphicFramePr>
          <p:nvPr/>
        </p:nvGraphicFramePr>
        <p:xfrm>
          <a:off x="3659189" y="3808413"/>
          <a:ext cx="2941637" cy="850900"/>
        </p:xfrm>
        <a:graphic>
          <a:graphicData uri="http://schemas.openxmlformats.org/presentationml/2006/ole">
            <mc:AlternateContent xmlns:mc="http://schemas.openxmlformats.org/markup-compatibility/2006">
              <mc:Choice xmlns:v="urn:schemas-microsoft-com:vml" Requires="v">
                <p:oleObj spid="_x0000_s4" name="公式" r:id="rId8" imgW="1140460" imgH="304800" progId="Equation.3">
                  <p:embed/>
                </p:oleObj>
              </mc:Choice>
              <mc:Fallback>
                <p:oleObj name="公式" r:id="rId8" imgW="1140460" imgH="304800" progId="Equation.3">
                  <p:embed/>
                  <p:pic>
                    <p:nvPicPr>
                      <p:cNvPr id="0" name="Object 2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59189" y="3808413"/>
                        <a:ext cx="2941637" cy="85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946198" name="Group 22"/>
          <p:cNvGrpSpPr/>
          <p:nvPr/>
        </p:nvGrpSpPr>
        <p:grpSpPr bwMode="auto">
          <a:xfrm>
            <a:off x="2279650" y="933451"/>
            <a:ext cx="5016500" cy="550863"/>
            <a:chOff x="385" y="466"/>
            <a:chExt cx="3160" cy="347"/>
          </a:xfrm>
        </p:grpSpPr>
        <p:graphicFrame>
          <p:nvGraphicFramePr>
            <p:cNvPr id="49165" name="Object 23"/>
            <p:cNvGraphicFramePr>
              <a:graphicFrameLocks noChangeAspect="1"/>
            </p:cNvGraphicFramePr>
            <p:nvPr/>
          </p:nvGraphicFramePr>
          <p:xfrm>
            <a:off x="2064" y="482"/>
            <a:ext cx="227" cy="331"/>
          </p:xfrm>
          <a:graphic>
            <a:graphicData uri="http://schemas.openxmlformats.org/presentationml/2006/ole">
              <mc:AlternateContent xmlns:mc="http://schemas.openxmlformats.org/markup-compatibility/2006">
                <mc:Choice xmlns:v="urn:schemas-microsoft-com:vml" Requires="v">
                  <p:oleObj spid="_x0000_s5" name="公式" r:id="rId10" imgW="124460" imgH="236855" progId="Equation.3">
                    <p:embed/>
                  </p:oleObj>
                </mc:Choice>
                <mc:Fallback>
                  <p:oleObj name="公式" r:id="rId10" imgW="124460" imgH="236855" progId="Equation.3">
                    <p:embed/>
                    <p:pic>
                      <p:nvPicPr>
                        <p:cNvPr id="0" name="Object 2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064" y="482"/>
                          <a:ext cx="227"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9166" name="Rectangle 24"/>
            <p:cNvSpPr>
              <a:spLocks noChangeArrowheads="1"/>
            </p:cNvSpPr>
            <p:nvPr/>
          </p:nvSpPr>
          <p:spPr bwMode="auto">
            <a:xfrm>
              <a:off x="385" y="466"/>
              <a:ext cx="316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zh-CN" altLang="en-US" sz="2800" dirty="0">
                  <a:latin typeface="楷体_GB2312" pitchFamily="49" charset="-122"/>
                </a:rPr>
                <a:t>当</a:t>
              </a:r>
              <a:r>
                <a:rPr lang="en-US" altLang="zh-CN" sz="2800" i="1" dirty="0"/>
                <a:t>n</a:t>
              </a:r>
              <a:r>
                <a:rPr lang="zh-CN" altLang="en-US" sz="2800" dirty="0">
                  <a:latin typeface="楷体_GB2312" pitchFamily="49" charset="-122"/>
                </a:rPr>
                <a:t>很大且</a:t>
              </a:r>
              <a:r>
                <a:rPr lang="en-US" altLang="zh-CN" sz="2800" i="1" dirty="0"/>
                <a:t>x</a:t>
              </a:r>
              <a:r>
                <a:rPr lang="en-US" altLang="zh-CN" sz="2800" baseline="-25000" dirty="0"/>
                <a:t>0</a:t>
              </a:r>
              <a:r>
                <a:rPr lang="zh-CN" altLang="en-US" sz="2800" dirty="0">
                  <a:latin typeface="楷体_GB2312" pitchFamily="49" charset="-122"/>
                </a:rPr>
                <a:t>位于    附近时，有</a:t>
              </a:r>
              <a:endParaRPr lang="zh-CN" altLang="en-US" sz="2800" dirty="0">
                <a:latin typeface="楷体_GB2312" pitchFamily="49" charset="-122"/>
              </a:endParaRPr>
            </a:p>
          </p:txBody>
        </p:sp>
      </p:grpSp>
      <p:grpSp>
        <p:nvGrpSpPr>
          <p:cNvPr id="946201" name="Group 25"/>
          <p:cNvGrpSpPr/>
          <p:nvPr/>
        </p:nvGrpSpPr>
        <p:grpSpPr bwMode="auto">
          <a:xfrm>
            <a:off x="2305051" y="2898778"/>
            <a:ext cx="6950076" cy="523876"/>
            <a:chOff x="492" y="1826"/>
            <a:chExt cx="4378" cy="330"/>
          </a:xfrm>
        </p:grpSpPr>
        <p:graphicFrame>
          <p:nvGraphicFramePr>
            <p:cNvPr id="49163" name="Object 26"/>
            <p:cNvGraphicFramePr>
              <a:graphicFrameLocks noChangeAspect="1"/>
            </p:cNvGraphicFramePr>
            <p:nvPr/>
          </p:nvGraphicFramePr>
          <p:xfrm>
            <a:off x="2517" y="1842"/>
            <a:ext cx="454" cy="272"/>
          </p:xfrm>
          <a:graphic>
            <a:graphicData uri="http://schemas.openxmlformats.org/presentationml/2006/ole">
              <mc:AlternateContent xmlns:mc="http://schemas.openxmlformats.org/markup-compatibility/2006">
                <mc:Choice xmlns:v="urn:schemas-microsoft-com:vml" Requires="v">
                  <p:oleObj spid="_x0000_s6" name="公式" r:id="rId12" imgW="372745" imgH="191770" progId="Equation.3">
                    <p:embed/>
                  </p:oleObj>
                </mc:Choice>
                <mc:Fallback>
                  <p:oleObj name="公式" r:id="rId12" imgW="372745" imgH="191770" progId="Equation.3">
                    <p:embed/>
                    <p:pic>
                      <p:nvPicPr>
                        <p:cNvPr id="0" name="Object 2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517" y="1842"/>
                          <a:ext cx="454"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9164" name="Rectangle 27"/>
            <p:cNvSpPr>
              <a:spLocks noChangeArrowheads="1"/>
            </p:cNvSpPr>
            <p:nvPr/>
          </p:nvSpPr>
          <p:spPr bwMode="auto">
            <a:xfrm>
              <a:off x="492" y="1826"/>
              <a:ext cx="4378"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zh-CN" altLang="en-US" sz="2800" dirty="0">
                  <a:latin typeface="楷体_GB2312" pitchFamily="49" charset="-122"/>
                </a:rPr>
                <a:t>于是</a:t>
              </a:r>
              <a:r>
                <a:rPr lang="en-US" altLang="zh-CN" sz="2800" i="1" dirty="0"/>
                <a:t>y</a:t>
              </a:r>
              <a:r>
                <a:rPr lang="en-US" altLang="zh-CN" sz="2800" baseline="-25000" dirty="0"/>
                <a:t>0</a:t>
              </a:r>
              <a:r>
                <a:rPr lang="zh-CN" altLang="en-US" sz="2800" dirty="0">
                  <a:latin typeface="楷体_GB2312" pitchFamily="49" charset="-122"/>
                </a:rPr>
                <a:t>的置信概率为       的预测区间近似为</a:t>
              </a:r>
              <a:endParaRPr lang="zh-CN" altLang="en-US" sz="2800" dirty="0">
                <a:latin typeface="楷体_GB2312" pitchFamily="49" charset="-122"/>
              </a:endParaRPr>
            </a:p>
          </p:txBody>
        </p:sp>
      </p:grpSp>
      <p:grpSp>
        <p:nvGrpSpPr>
          <p:cNvPr id="7" name="组合 6"/>
          <p:cNvGrpSpPr/>
          <p:nvPr/>
        </p:nvGrpSpPr>
        <p:grpSpPr>
          <a:xfrm>
            <a:off x="6930603" y="4559297"/>
            <a:ext cx="4776072" cy="1161055"/>
            <a:chOff x="6930603" y="4559297"/>
            <a:chExt cx="4776072" cy="1161055"/>
          </a:xfrm>
        </p:grpSpPr>
        <p:pic>
          <p:nvPicPr>
            <p:cNvPr id="8" name="图片 7"/>
            <p:cNvPicPr>
              <a:picLocks noChangeAspect="1"/>
            </p:cNvPicPr>
            <p:nvPr/>
          </p:nvPicPr>
          <p:blipFill>
            <a:blip r:embed="rId14"/>
            <a:stretch>
              <a:fillRect/>
            </a:stretch>
          </p:blipFill>
          <p:spPr>
            <a:xfrm>
              <a:off x="6969596" y="4559297"/>
              <a:ext cx="4701895" cy="1161055"/>
            </a:xfrm>
            <a:prstGeom prst="rect">
              <a:avLst/>
            </a:prstGeom>
          </p:spPr>
        </p:pic>
        <p:sp>
          <p:nvSpPr>
            <p:cNvPr id="9" name="矩形 8"/>
            <p:cNvSpPr/>
            <p:nvPr/>
          </p:nvSpPr>
          <p:spPr>
            <a:xfrm>
              <a:off x="6930603" y="4559297"/>
              <a:ext cx="4776072" cy="114294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46198"/>
                                        </p:tgtEl>
                                        <p:attrNameLst>
                                          <p:attrName>style.visibility</p:attrName>
                                        </p:attrNameLst>
                                      </p:cBhvr>
                                      <p:to>
                                        <p:strVal val="visible"/>
                                      </p:to>
                                    </p:set>
                                    <p:animEffect transition="in" filter="wipe(left)">
                                      <p:cBhvr>
                                        <p:cTn id="7" dur="500"/>
                                        <p:tgtEl>
                                          <p:spTgt spid="94619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46193"/>
                                        </p:tgtEl>
                                        <p:attrNameLst>
                                          <p:attrName>style.visibility</p:attrName>
                                        </p:attrNameLst>
                                      </p:cBhvr>
                                      <p:to>
                                        <p:strVal val="visible"/>
                                      </p:to>
                                    </p:set>
                                    <p:animEffect transition="in" filter="wipe(left)">
                                      <p:cBhvr>
                                        <p:cTn id="12" dur="500"/>
                                        <p:tgtEl>
                                          <p:spTgt spid="94619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46201"/>
                                        </p:tgtEl>
                                        <p:attrNameLst>
                                          <p:attrName>style.visibility</p:attrName>
                                        </p:attrNameLst>
                                      </p:cBhvr>
                                      <p:to>
                                        <p:strVal val="visible"/>
                                      </p:to>
                                    </p:set>
                                    <p:animEffect transition="in" filter="wipe(left)">
                                      <p:cBhvr>
                                        <p:cTn id="17" dur="500"/>
                                        <p:tgtEl>
                                          <p:spTgt spid="94620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46197"/>
                                        </p:tgtEl>
                                        <p:attrNameLst>
                                          <p:attrName>style.visibility</p:attrName>
                                        </p:attrNameLst>
                                      </p:cBhvr>
                                      <p:to>
                                        <p:strVal val="visible"/>
                                      </p:to>
                                    </p:set>
                                    <p:animEffect transition="in" filter="wipe(left)">
                                      <p:cBhvr>
                                        <p:cTn id="22" dur="500"/>
                                        <p:tgtEl>
                                          <p:spTgt spid="9461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AutoShape 2">
            <a:hlinkClick r:id="" action="ppaction://hlinkshowjump?jump=previousslide" highlightClick="1"/>
          </p:cNvPr>
          <p:cNvSpPr>
            <a:spLocks noChangeArrowheads="1"/>
          </p:cNvSpPr>
          <p:nvPr/>
        </p:nvSpPr>
        <p:spPr bwMode="auto">
          <a:xfrm>
            <a:off x="9120189" y="6524625"/>
            <a:ext cx="287337" cy="215900"/>
          </a:xfrm>
          <a:prstGeom prst="actionButtonBackPrevious">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50179" name="AutoShape 3">
            <a:hlinkClick r:id="" action="ppaction://hlinkshowjump?jump=nextslide" highlightClick="1"/>
          </p:cNvPr>
          <p:cNvSpPr>
            <a:spLocks noChangeArrowheads="1"/>
          </p:cNvSpPr>
          <p:nvPr/>
        </p:nvSpPr>
        <p:spPr bwMode="auto">
          <a:xfrm>
            <a:off x="9407525" y="6524625"/>
            <a:ext cx="285750" cy="215900"/>
          </a:xfrm>
          <a:prstGeom prst="actionButtonForwardNex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50180" name="AutoShape 4">
            <a:hlinkClick r:id="" action="ppaction://hlinkshowjump?jump=firstslide" highlightClick="1"/>
          </p:cNvPr>
          <p:cNvSpPr>
            <a:spLocks noChangeArrowheads="1"/>
          </p:cNvSpPr>
          <p:nvPr/>
        </p:nvSpPr>
        <p:spPr bwMode="auto">
          <a:xfrm>
            <a:off x="9694864" y="6524625"/>
            <a:ext cx="287337" cy="215900"/>
          </a:xfrm>
          <a:prstGeom prst="actionButtonBeginning">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50181" name="AutoShape 5">
            <a:hlinkClick r:id="" action="ppaction://hlinkshowjump?jump=endshow" highlightClick="1"/>
          </p:cNvPr>
          <p:cNvSpPr>
            <a:spLocks noChangeArrowheads="1"/>
          </p:cNvSpPr>
          <p:nvPr/>
        </p:nvSpPr>
        <p:spPr bwMode="auto">
          <a:xfrm>
            <a:off x="9983789" y="6524625"/>
            <a:ext cx="287337" cy="215900"/>
          </a:xfrm>
          <a:prstGeom prst="actionButtonEnd">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50182" name="AutoShape 6">
            <a:hlinkClick r:id="rId1" action="ppaction://hlinksldjump" highlightClick="1"/>
          </p:cNvPr>
          <p:cNvSpPr>
            <a:spLocks noChangeArrowheads="1"/>
          </p:cNvSpPr>
          <p:nvPr/>
        </p:nvSpPr>
        <p:spPr bwMode="auto">
          <a:xfrm>
            <a:off x="10272714" y="6524625"/>
            <a:ext cx="288925" cy="215900"/>
          </a:xfrm>
          <a:prstGeom prst="actionButtonReturn">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endParaRPr lang="zh-CN" altLang="en-US"/>
          </a:p>
        </p:txBody>
      </p:sp>
      <p:sp>
        <p:nvSpPr>
          <p:cNvPr id="50183" name="Rectangle 7"/>
          <p:cNvSpPr>
            <a:spLocks noChangeArrowheads="1"/>
          </p:cNvSpPr>
          <p:nvPr/>
        </p:nvSpPr>
        <p:spPr bwMode="auto">
          <a:xfrm>
            <a:off x="1703388" y="1341438"/>
            <a:ext cx="8953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kumimoji="1" sz="2000">
                <a:solidFill>
                  <a:schemeClr val="tx1"/>
                </a:solidFill>
                <a:latin typeface="Times New Roman" panose="02020503050405090304" pitchFamily="18" charset="0"/>
                <a:ea typeface="楷体_GB2312" pitchFamily="49" charset="-122"/>
              </a:defRPr>
            </a:lvl1pPr>
            <a:lvl2pPr marL="742950" indent="-285750">
              <a:spcBef>
                <a:spcPct val="50000"/>
              </a:spcBef>
              <a:defRPr kumimoji="1" sz="2000">
                <a:solidFill>
                  <a:schemeClr val="tx1"/>
                </a:solidFill>
                <a:latin typeface="Times New Roman" panose="02020503050405090304" pitchFamily="18" charset="0"/>
                <a:ea typeface="楷体_GB2312" pitchFamily="49" charset="-122"/>
              </a:defRPr>
            </a:lvl2pPr>
            <a:lvl3pPr marL="1143000" indent="-228600">
              <a:spcBef>
                <a:spcPct val="50000"/>
              </a:spcBef>
              <a:defRPr kumimoji="1" sz="2000">
                <a:solidFill>
                  <a:schemeClr val="tx1"/>
                </a:solidFill>
                <a:latin typeface="Times New Roman" panose="02020503050405090304" pitchFamily="18" charset="0"/>
                <a:ea typeface="楷体_GB2312" pitchFamily="49" charset="-122"/>
              </a:defRPr>
            </a:lvl3pPr>
            <a:lvl4pPr marL="1600200" indent="-228600">
              <a:spcBef>
                <a:spcPct val="50000"/>
              </a:spcBef>
              <a:defRPr kumimoji="1" sz="2000">
                <a:solidFill>
                  <a:schemeClr val="tx1"/>
                </a:solidFill>
                <a:latin typeface="Times New Roman" panose="02020503050405090304" pitchFamily="18" charset="0"/>
                <a:ea typeface="楷体_GB2312" pitchFamily="49" charset="-122"/>
              </a:defRPr>
            </a:lvl4pPr>
            <a:lvl5pPr marL="2057400" indent="-228600">
              <a:spcBef>
                <a:spcPct val="50000"/>
              </a:spcBef>
              <a:defRPr kumimoji="1" sz="2000">
                <a:solidFill>
                  <a:schemeClr val="tx1"/>
                </a:solidFill>
                <a:latin typeface="Times New Roman" panose="02020503050405090304" pitchFamily="18" charset="0"/>
                <a:ea typeface="楷体_GB2312" pitchFamily="49" charset="-122"/>
              </a:defRPr>
            </a:lvl5pPr>
            <a:lvl6pPr marL="25146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6pPr>
            <a:lvl7pPr marL="29718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7pPr>
            <a:lvl8pPr marL="34290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8pPr>
            <a:lvl9pPr marL="3886200" indent="-228600" eaLnBrk="0" fontAlgn="base" hangingPunct="0">
              <a:spcBef>
                <a:spcPct val="50000"/>
              </a:spcBef>
              <a:spcAft>
                <a:spcPct val="0"/>
              </a:spcAft>
              <a:defRPr kumimoji="1" sz="2000">
                <a:solidFill>
                  <a:schemeClr val="tx1"/>
                </a:solidFill>
                <a:latin typeface="Times New Roman" panose="02020503050405090304" pitchFamily="18" charset="0"/>
                <a:ea typeface="楷体_GB2312" pitchFamily="49" charset="-122"/>
              </a:defRPr>
            </a:lvl9pPr>
          </a:lstStyle>
          <a:p>
            <a:pPr eaLnBrk="1" hangingPunct="1">
              <a:spcBef>
                <a:spcPct val="0"/>
              </a:spcBef>
            </a:pPr>
            <a:r>
              <a:rPr lang="zh-CN" altLang="en-US" sz="2800">
                <a:solidFill>
                  <a:schemeClr val="accent2"/>
                </a:solidFill>
                <a:latin typeface="楷体_GB2312" pitchFamily="49" charset="-122"/>
              </a:rPr>
              <a:t>解</a:t>
            </a:r>
            <a:r>
              <a:rPr lang="zh-CN" altLang="en-US" sz="2800">
                <a:solidFill>
                  <a:schemeClr val="accent2"/>
                </a:solidFill>
                <a:latin typeface="黑体" panose="02010609060101010101" pitchFamily="49" charset="-122"/>
                <a:ea typeface="黑体" panose="02010609060101010101" pitchFamily="49" charset="-122"/>
              </a:rPr>
              <a:t>：</a:t>
            </a:r>
            <a:endParaRPr lang="zh-CN" altLang="en-US" sz="2800">
              <a:ea typeface="宋体" pitchFamily="2" charset="-122"/>
            </a:endParaRPr>
          </a:p>
        </p:txBody>
      </p:sp>
      <p:graphicFrame>
        <p:nvGraphicFramePr>
          <p:cNvPr id="945160" name="Object 8"/>
          <p:cNvGraphicFramePr>
            <a:graphicFrameLocks noChangeAspect="1"/>
          </p:cNvGraphicFramePr>
          <p:nvPr/>
        </p:nvGraphicFramePr>
        <p:xfrm>
          <a:off x="3024188" y="3130550"/>
          <a:ext cx="3484562" cy="557213"/>
        </p:xfrm>
        <a:graphic>
          <a:graphicData uri="http://schemas.openxmlformats.org/presentationml/2006/ole">
            <mc:AlternateContent xmlns:mc="http://schemas.openxmlformats.org/markup-compatibility/2006">
              <mc:Choice xmlns:v="urn:schemas-microsoft-com:vml" Requires="v">
                <p:oleObj spid="_x0000_s25601" name="Equation" r:id="rId2" imgW="35661600" imgH="5486400" progId="Equation.DSMT4">
                  <p:embed/>
                </p:oleObj>
              </mc:Choice>
              <mc:Fallback>
                <p:oleObj name="Equation" r:id="rId2" imgW="35661600" imgH="5486400" progId="Equation.DSMT4">
                  <p:embed/>
                  <p:pic>
                    <p:nvPicPr>
                      <p:cNvPr id="0" name="Object 8"/>
                      <p:cNvPicPr>
                        <a:picLocks noChangeAspect="1" noChangeArrowheads="1"/>
                      </p:cNvPicPr>
                      <p:nvPr/>
                    </p:nvPicPr>
                    <p:blipFill>
                      <a:blip r:embed="rId3"/>
                      <a:srcRect/>
                      <a:stretch>
                        <a:fillRect/>
                      </a:stretch>
                    </p:blipFill>
                    <p:spPr bwMode="auto">
                      <a:xfrm>
                        <a:off x="3024188" y="3130550"/>
                        <a:ext cx="3484562" cy="55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45163" name="Rectangle 11"/>
          <p:cNvSpPr>
            <a:spLocks noChangeArrowheads="1"/>
          </p:cNvSpPr>
          <p:nvPr/>
        </p:nvSpPr>
        <p:spPr bwMode="auto">
          <a:xfrm>
            <a:off x="2063751" y="3141663"/>
            <a:ext cx="792163" cy="501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3200">
                <a:solidFill>
                  <a:schemeClr val="tx1"/>
                </a:solidFill>
                <a:latin typeface="Times New Roman" panose="02020503050405090304" pitchFamily="18" charset="0"/>
                <a:ea typeface="宋体" pitchFamily="2" charset="-122"/>
              </a:defRPr>
            </a:lvl1pPr>
            <a:lvl2pPr marL="742950" indent="-285750">
              <a:spcBef>
                <a:spcPct val="20000"/>
              </a:spcBef>
              <a:buChar char="–"/>
              <a:defRPr kumimoji="1" sz="2800">
                <a:solidFill>
                  <a:schemeClr val="tx1"/>
                </a:solidFill>
                <a:latin typeface="Times New Roman" panose="02020503050405090304" pitchFamily="18" charset="0"/>
                <a:ea typeface="宋体" pitchFamily="2" charset="-122"/>
              </a:defRPr>
            </a:lvl2pPr>
            <a:lvl3pPr marL="1143000" indent="-228600">
              <a:spcBef>
                <a:spcPct val="20000"/>
              </a:spcBef>
              <a:buChar char="•"/>
              <a:defRPr kumimoji="1" sz="2400">
                <a:solidFill>
                  <a:schemeClr val="tx1"/>
                </a:solidFill>
                <a:latin typeface="Times New Roman" panose="02020503050405090304" pitchFamily="18" charset="0"/>
                <a:ea typeface="宋体" pitchFamily="2" charset="-122"/>
              </a:defRPr>
            </a:lvl3pPr>
            <a:lvl4pPr marL="1600200" indent="-228600">
              <a:spcBef>
                <a:spcPct val="20000"/>
              </a:spcBef>
              <a:buChar char="–"/>
              <a:defRPr kumimoji="1" sz="2000">
                <a:solidFill>
                  <a:schemeClr val="tx1"/>
                </a:solidFill>
                <a:latin typeface="Times New Roman" panose="02020503050405090304" pitchFamily="18" charset="0"/>
                <a:ea typeface="宋体" pitchFamily="2" charset="-122"/>
              </a:defRPr>
            </a:lvl4pPr>
            <a:lvl5pPr marL="2057400" indent="-228600">
              <a:spcBef>
                <a:spcPct val="20000"/>
              </a:spcBef>
              <a:buChar char="»"/>
              <a:defRPr kumimoji="1" sz="2000">
                <a:solidFill>
                  <a:schemeClr val="tx1"/>
                </a:solidFill>
                <a:latin typeface="Times New Roman" panose="02020503050405090304"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503050405090304"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503050405090304"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503050405090304"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503050405090304" pitchFamily="18" charset="0"/>
                <a:ea typeface="宋体" pitchFamily="2" charset="-122"/>
              </a:defRPr>
            </a:lvl9pPr>
          </a:lstStyle>
          <a:p>
            <a:pPr eaLnBrk="1" hangingPunct="1">
              <a:buFontTx/>
              <a:buNone/>
            </a:pPr>
            <a:r>
              <a:rPr kumimoji="0" lang="en-US" altLang="zh-CN" sz="2400"/>
              <a:t>(2)</a:t>
            </a:r>
            <a:endParaRPr lang="en-US" altLang="zh-CN" sz="2400"/>
          </a:p>
        </p:txBody>
      </p:sp>
      <p:graphicFrame>
        <p:nvGraphicFramePr>
          <p:cNvPr id="945164" name="Object 12"/>
          <p:cNvGraphicFramePr>
            <a:graphicFrameLocks noChangeAspect="1"/>
          </p:cNvGraphicFramePr>
          <p:nvPr/>
        </p:nvGraphicFramePr>
        <p:xfrm>
          <a:off x="6610350" y="3133725"/>
          <a:ext cx="1490663" cy="428625"/>
        </p:xfrm>
        <a:graphic>
          <a:graphicData uri="http://schemas.openxmlformats.org/presentationml/2006/ole">
            <mc:AlternateContent xmlns:mc="http://schemas.openxmlformats.org/markup-compatibility/2006">
              <mc:Choice xmlns:v="urn:schemas-microsoft-com:vml" Requires="v">
                <p:oleObj spid="_x0000_s2" name="Equation" r:id="rId4" imgW="15240000" imgH="4267200" progId="Equation.DSMT4">
                  <p:embed/>
                </p:oleObj>
              </mc:Choice>
              <mc:Fallback>
                <p:oleObj name="Equation" r:id="rId4" imgW="15240000" imgH="4267200" progId="Equation.DSMT4">
                  <p:embed/>
                  <p:pic>
                    <p:nvPicPr>
                      <p:cNvPr id="0" name="Object 12"/>
                      <p:cNvPicPr>
                        <a:picLocks noChangeAspect="1" noChangeArrowheads="1"/>
                      </p:cNvPicPr>
                      <p:nvPr/>
                    </p:nvPicPr>
                    <p:blipFill>
                      <a:blip r:embed="rId5"/>
                      <a:srcRect/>
                      <a:stretch>
                        <a:fillRect/>
                      </a:stretch>
                    </p:blipFill>
                    <p:spPr bwMode="auto">
                      <a:xfrm>
                        <a:off x="6610350" y="3133725"/>
                        <a:ext cx="1490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45165" name="Rectangle 13"/>
          <p:cNvSpPr>
            <a:spLocks noChangeArrowheads="1"/>
          </p:cNvSpPr>
          <p:nvPr/>
        </p:nvSpPr>
        <p:spPr bwMode="auto">
          <a:xfrm>
            <a:off x="2424114" y="1268413"/>
            <a:ext cx="649287" cy="501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3200">
                <a:solidFill>
                  <a:schemeClr val="tx1"/>
                </a:solidFill>
                <a:latin typeface="Times New Roman" panose="02020503050405090304" pitchFamily="18" charset="0"/>
                <a:ea typeface="宋体" pitchFamily="2" charset="-122"/>
              </a:defRPr>
            </a:lvl1pPr>
            <a:lvl2pPr marL="742950" indent="-285750">
              <a:spcBef>
                <a:spcPct val="20000"/>
              </a:spcBef>
              <a:buChar char="–"/>
              <a:defRPr kumimoji="1" sz="2800">
                <a:solidFill>
                  <a:schemeClr val="tx1"/>
                </a:solidFill>
                <a:latin typeface="Times New Roman" panose="02020503050405090304" pitchFamily="18" charset="0"/>
                <a:ea typeface="宋体" pitchFamily="2" charset="-122"/>
              </a:defRPr>
            </a:lvl2pPr>
            <a:lvl3pPr marL="1143000" indent="-228600">
              <a:spcBef>
                <a:spcPct val="20000"/>
              </a:spcBef>
              <a:buChar char="•"/>
              <a:defRPr kumimoji="1" sz="2400">
                <a:solidFill>
                  <a:schemeClr val="tx1"/>
                </a:solidFill>
                <a:latin typeface="Times New Roman" panose="02020503050405090304" pitchFamily="18" charset="0"/>
                <a:ea typeface="宋体" pitchFamily="2" charset="-122"/>
              </a:defRPr>
            </a:lvl3pPr>
            <a:lvl4pPr marL="1600200" indent="-228600">
              <a:spcBef>
                <a:spcPct val="20000"/>
              </a:spcBef>
              <a:buChar char="–"/>
              <a:defRPr kumimoji="1" sz="2000">
                <a:solidFill>
                  <a:schemeClr val="tx1"/>
                </a:solidFill>
                <a:latin typeface="Times New Roman" panose="02020503050405090304" pitchFamily="18" charset="0"/>
                <a:ea typeface="宋体" pitchFamily="2" charset="-122"/>
              </a:defRPr>
            </a:lvl4pPr>
            <a:lvl5pPr marL="2057400" indent="-228600">
              <a:spcBef>
                <a:spcPct val="20000"/>
              </a:spcBef>
              <a:buChar char="»"/>
              <a:defRPr kumimoji="1" sz="2000">
                <a:solidFill>
                  <a:schemeClr val="tx1"/>
                </a:solidFill>
                <a:latin typeface="Times New Roman" panose="02020503050405090304"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503050405090304"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503050405090304"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503050405090304"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503050405090304" pitchFamily="18" charset="0"/>
                <a:ea typeface="宋体" pitchFamily="2" charset="-122"/>
              </a:defRPr>
            </a:lvl9pPr>
          </a:lstStyle>
          <a:p>
            <a:pPr eaLnBrk="1" hangingPunct="1">
              <a:buFontTx/>
              <a:buNone/>
            </a:pPr>
            <a:r>
              <a:rPr kumimoji="0" lang="en-US" altLang="zh-CN" sz="2400"/>
              <a:t>(1)</a:t>
            </a:r>
            <a:endParaRPr lang="en-US" altLang="zh-CN" sz="2400"/>
          </a:p>
        </p:txBody>
      </p:sp>
      <p:graphicFrame>
        <p:nvGraphicFramePr>
          <p:cNvPr id="945166" name="Object 14"/>
          <p:cNvGraphicFramePr>
            <a:graphicFrameLocks noChangeAspect="1"/>
          </p:cNvGraphicFramePr>
          <p:nvPr/>
        </p:nvGraphicFramePr>
        <p:xfrm>
          <a:off x="3000375" y="1181100"/>
          <a:ext cx="4464050" cy="628650"/>
        </p:xfrm>
        <a:graphic>
          <a:graphicData uri="http://schemas.openxmlformats.org/presentationml/2006/ole">
            <mc:AlternateContent xmlns:mc="http://schemas.openxmlformats.org/markup-compatibility/2006">
              <mc:Choice xmlns:v="urn:schemas-microsoft-com:vml" Requires="v">
                <p:oleObj spid="_x0000_s3" name="Equation" r:id="rId6" imgW="42976800" imgH="5791200" progId="Equation.DSMT4">
                  <p:embed/>
                </p:oleObj>
              </mc:Choice>
              <mc:Fallback>
                <p:oleObj name="Equation" r:id="rId6" imgW="42976800" imgH="5791200" progId="Equation.DSMT4">
                  <p:embed/>
                  <p:pic>
                    <p:nvPicPr>
                      <p:cNvPr id="0" name="Object 14"/>
                      <p:cNvPicPr>
                        <a:picLocks noChangeAspect="1" noChangeArrowheads="1"/>
                      </p:cNvPicPr>
                      <p:nvPr/>
                    </p:nvPicPr>
                    <p:blipFill>
                      <a:blip r:embed="rId7"/>
                      <a:srcRect/>
                      <a:stretch>
                        <a:fillRect/>
                      </a:stretch>
                    </p:blipFill>
                    <p:spPr bwMode="auto">
                      <a:xfrm>
                        <a:off x="3000375" y="1181100"/>
                        <a:ext cx="4464050"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45171" name="Object 19"/>
          <p:cNvGraphicFramePr>
            <a:graphicFrameLocks noChangeAspect="1"/>
          </p:cNvGraphicFramePr>
          <p:nvPr/>
        </p:nvGraphicFramePr>
        <p:xfrm>
          <a:off x="2605088" y="4210050"/>
          <a:ext cx="6935787" cy="1119188"/>
        </p:xfrm>
        <a:graphic>
          <a:graphicData uri="http://schemas.openxmlformats.org/presentationml/2006/ole">
            <mc:AlternateContent xmlns:mc="http://schemas.openxmlformats.org/markup-compatibility/2006">
              <mc:Choice xmlns:v="urn:schemas-microsoft-com:vml" Requires="v">
                <p:oleObj spid="_x0000_s4" name="Equation" r:id="rId8" imgW="74676000" imgH="11887200" progId="Equation.DSMT4">
                  <p:embed/>
                </p:oleObj>
              </mc:Choice>
              <mc:Fallback>
                <p:oleObj name="Equation" r:id="rId8" imgW="74676000" imgH="11887200" progId="Equation.DSMT4">
                  <p:embed/>
                  <p:pic>
                    <p:nvPicPr>
                      <p:cNvPr id="0" name="Object 19"/>
                      <p:cNvPicPr>
                        <a:picLocks noChangeAspect="1" noChangeArrowheads="1"/>
                      </p:cNvPicPr>
                      <p:nvPr/>
                    </p:nvPicPr>
                    <p:blipFill>
                      <a:blip r:embed="rId9"/>
                      <a:srcRect/>
                      <a:stretch>
                        <a:fillRect/>
                      </a:stretch>
                    </p:blipFill>
                    <p:spPr bwMode="auto">
                      <a:xfrm>
                        <a:off x="2605088" y="4210050"/>
                        <a:ext cx="6935787" cy="1119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45172" name="Rectangle 20"/>
          <p:cNvSpPr>
            <a:spLocks noChangeArrowheads="1"/>
          </p:cNvSpPr>
          <p:nvPr/>
        </p:nvSpPr>
        <p:spPr bwMode="auto">
          <a:xfrm>
            <a:off x="2208214" y="5300663"/>
            <a:ext cx="4897437" cy="501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3200">
                <a:solidFill>
                  <a:schemeClr val="tx1"/>
                </a:solidFill>
                <a:latin typeface="Times New Roman" panose="02020503050405090304" pitchFamily="18" charset="0"/>
                <a:ea typeface="宋体" pitchFamily="2" charset="-122"/>
              </a:defRPr>
            </a:lvl1pPr>
            <a:lvl2pPr marL="742950" indent="-285750">
              <a:spcBef>
                <a:spcPct val="20000"/>
              </a:spcBef>
              <a:buChar char="–"/>
              <a:defRPr kumimoji="1" sz="2800">
                <a:solidFill>
                  <a:schemeClr val="tx1"/>
                </a:solidFill>
                <a:latin typeface="Times New Roman" panose="02020503050405090304" pitchFamily="18" charset="0"/>
                <a:ea typeface="宋体" pitchFamily="2" charset="-122"/>
              </a:defRPr>
            </a:lvl2pPr>
            <a:lvl3pPr marL="1143000" indent="-228600">
              <a:spcBef>
                <a:spcPct val="20000"/>
              </a:spcBef>
              <a:buChar char="•"/>
              <a:defRPr kumimoji="1" sz="2400">
                <a:solidFill>
                  <a:schemeClr val="tx1"/>
                </a:solidFill>
                <a:latin typeface="Times New Roman" panose="02020503050405090304" pitchFamily="18" charset="0"/>
                <a:ea typeface="宋体" pitchFamily="2" charset="-122"/>
              </a:defRPr>
            </a:lvl3pPr>
            <a:lvl4pPr marL="1600200" indent="-228600">
              <a:spcBef>
                <a:spcPct val="20000"/>
              </a:spcBef>
              <a:buChar char="–"/>
              <a:defRPr kumimoji="1" sz="2000">
                <a:solidFill>
                  <a:schemeClr val="tx1"/>
                </a:solidFill>
                <a:latin typeface="Times New Roman" panose="02020503050405090304" pitchFamily="18" charset="0"/>
                <a:ea typeface="宋体" pitchFamily="2" charset="-122"/>
              </a:defRPr>
            </a:lvl4pPr>
            <a:lvl5pPr marL="2057400" indent="-228600">
              <a:spcBef>
                <a:spcPct val="20000"/>
              </a:spcBef>
              <a:buChar char="»"/>
              <a:defRPr kumimoji="1" sz="2000">
                <a:solidFill>
                  <a:schemeClr val="tx1"/>
                </a:solidFill>
                <a:latin typeface="Times New Roman" panose="02020503050405090304"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503050405090304"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503050405090304"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503050405090304"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503050405090304" pitchFamily="18" charset="0"/>
                <a:ea typeface="宋体" pitchFamily="2" charset="-122"/>
              </a:defRPr>
            </a:lvl9pPr>
          </a:lstStyle>
          <a:p>
            <a:pPr eaLnBrk="1" hangingPunct="1">
              <a:buFontTx/>
              <a:buNone/>
            </a:pPr>
            <a:r>
              <a:rPr kumimoji="0" lang="zh-CN" altLang="en-US" sz="2400" dirty="0">
                <a:ea typeface="楷体_GB2312" pitchFamily="49" charset="-122"/>
                <a:cs typeface="Times New Roman" panose="02020503050405090304" pitchFamily="18" charset="0"/>
              </a:rPr>
              <a:t>于是</a:t>
            </a:r>
            <a:r>
              <a:rPr kumimoji="0" lang="en-US" altLang="zh-CN" sz="2400" i="1" dirty="0">
                <a:ea typeface="楷体_GB2312" pitchFamily="49" charset="-122"/>
                <a:cs typeface="Times New Roman" panose="02020503050405090304" pitchFamily="18" charset="0"/>
              </a:rPr>
              <a:t>y</a:t>
            </a:r>
            <a:r>
              <a:rPr kumimoji="0" lang="en-US" altLang="zh-CN" sz="2400" baseline="-25000" dirty="0">
                <a:ea typeface="楷体_GB2312" pitchFamily="49" charset="-122"/>
                <a:cs typeface="Times New Roman" panose="02020503050405090304" pitchFamily="18" charset="0"/>
              </a:rPr>
              <a:t>0</a:t>
            </a:r>
            <a:r>
              <a:rPr kumimoji="0" lang="zh-CN" altLang="en-US" sz="2400" dirty="0">
                <a:ea typeface="楷体_GB2312" pitchFamily="49" charset="-122"/>
                <a:cs typeface="Times New Roman" panose="02020503050405090304" pitchFamily="18" charset="0"/>
              </a:rPr>
              <a:t>的</a:t>
            </a:r>
            <a:r>
              <a:rPr kumimoji="0" lang="en-US" altLang="zh-CN" sz="2400" dirty="0">
                <a:ea typeface="楷体_GB2312" pitchFamily="49" charset="-122"/>
                <a:cs typeface="Times New Roman" panose="02020503050405090304" pitchFamily="18" charset="0"/>
              </a:rPr>
              <a:t>95%</a:t>
            </a:r>
            <a:r>
              <a:rPr kumimoji="0" lang="zh-CN" altLang="en-US" sz="2400" dirty="0">
                <a:ea typeface="楷体_GB2312" pitchFamily="49" charset="-122"/>
                <a:cs typeface="Times New Roman" panose="02020503050405090304" pitchFamily="18" charset="0"/>
              </a:rPr>
              <a:t>预测区间为</a:t>
            </a:r>
            <a:endParaRPr lang="zh-CN" altLang="en-US" sz="2400" dirty="0">
              <a:ea typeface="楷体_GB2312" pitchFamily="49" charset="-122"/>
              <a:cs typeface="Times New Roman" panose="02020503050405090304" pitchFamily="18" charset="0"/>
            </a:endParaRPr>
          </a:p>
        </p:txBody>
      </p:sp>
      <p:sp>
        <p:nvSpPr>
          <p:cNvPr id="50191" name="Rectangle 21"/>
          <p:cNvSpPr>
            <a:spLocks noGrp="1" noChangeArrowheads="1"/>
          </p:cNvSpPr>
          <p:nvPr>
            <p:ph idx="1"/>
          </p:nvPr>
        </p:nvSpPr>
        <p:spPr>
          <a:xfrm>
            <a:off x="1703388" y="422276"/>
            <a:ext cx="8741267" cy="487363"/>
          </a:xfrm>
          <a:noFill/>
        </p:spPr>
        <p:txBody>
          <a:bodyPr>
            <a:noAutofit/>
          </a:bodyPr>
          <a:lstStyle/>
          <a:p>
            <a:pPr eaLnBrk="1" hangingPunct="1">
              <a:lnSpc>
                <a:spcPct val="90000"/>
              </a:lnSpc>
              <a:buFontTx/>
              <a:buNone/>
            </a:pPr>
            <a:r>
              <a:rPr lang="zh-CN" altLang="en-US" sz="2800" b="1" dirty="0">
                <a:solidFill>
                  <a:srgbClr val="0000FF"/>
                </a:solidFill>
                <a:latin typeface="Times New Roman" panose="02020503050405090304" pitchFamily="18" charset="0"/>
                <a:ea typeface="楷体_GB2312" pitchFamily="49" charset="-122"/>
                <a:cs typeface="Times New Roman" panose="02020503050405090304" pitchFamily="18" charset="0"/>
              </a:rPr>
              <a:t>例</a:t>
            </a:r>
            <a:r>
              <a:rPr lang="en-US" altLang="zh-CN" sz="2800" b="1" dirty="0">
                <a:solidFill>
                  <a:srgbClr val="0000FF"/>
                </a:solidFill>
                <a:latin typeface="Times New Roman" panose="02020503050405090304" pitchFamily="18" charset="0"/>
                <a:ea typeface="楷体_GB2312" pitchFamily="49" charset="-122"/>
                <a:cs typeface="Times New Roman" panose="02020503050405090304" pitchFamily="18" charset="0"/>
              </a:rPr>
              <a:t>4</a:t>
            </a:r>
            <a:r>
              <a:rPr lang="en-US" altLang="zh-CN" sz="2800" dirty="0">
                <a:latin typeface="Times New Roman" panose="02020503050405090304" pitchFamily="18" charset="0"/>
                <a:ea typeface="楷体_GB2312" pitchFamily="49" charset="-122"/>
                <a:cs typeface="Times New Roman" panose="02020503050405090304" pitchFamily="18" charset="0"/>
              </a:rPr>
              <a:t> </a:t>
            </a:r>
            <a:r>
              <a:rPr lang="zh-CN" altLang="en-US" sz="2800" dirty="0">
                <a:latin typeface="Times New Roman" panose="02020503050405090304" pitchFamily="18" charset="0"/>
                <a:ea typeface="楷体_GB2312" pitchFamily="49" charset="-122"/>
                <a:cs typeface="Times New Roman" panose="02020503050405090304" pitchFamily="18" charset="0"/>
              </a:rPr>
              <a:t>在例</a:t>
            </a:r>
            <a:r>
              <a:rPr lang="en-US" altLang="zh-CN" sz="2800" dirty="0">
                <a:latin typeface="Times New Roman" panose="02020503050405090304" pitchFamily="18" charset="0"/>
                <a:ea typeface="楷体_GB2312" pitchFamily="49" charset="-122"/>
                <a:cs typeface="Times New Roman" panose="02020503050405090304" pitchFamily="18" charset="0"/>
              </a:rPr>
              <a:t>2</a:t>
            </a:r>
            <a:r>
              <a:rPr lang="zh-CN" altLang="en-US" sz="2800" dirty="0">
                <a:latin typeface="Times New Roman" panose="02020503050405090304" pitchFamily="18" charset="0"/>
                <a:ea typeface="楷体_GB2312" pitchFamily="49" charset="-122"/>
                <a:cs typeface="Times New Roman" panose="02020503050405090304" pitchFamily="18" charset="0"/>
              </a:rPr>
              <a:t>中，给定</a:t>
            </a:r>
            <a:r>
              <a:rPr lang="en-US" altLang="zh-CN" sz="2800" i="1" dirty="0">
                <a:latin typeface="Times New Roman" panose="02020503050405090304" pitchFamily="18" charset="0"/>
                <a:ea typeface="楷体_GB2312" pitchFamily="49" charset="-122"/>
                <a:cs typeface="Times New Roman" panose="02020503050405090304" pitchFamily="18" charset="0"/>
              </a:rPr>
              <a:t>x</a:t>
            </a:r>
            <a:r>
              <a:rPr lang="en-US" altLang="zh-CN" sz="2800" baseline="-25000" dirty="0">
                <a:latin typeface="Times New Roman" panose="02020503050405090304" pitchFamily="18" charset="0"/>
                <a:ea typeface="楷体_GB2312" pitchFamily="49" charset="-122"/>
                <a:cs typeface="Times New Roman" panose="02020503050405090304" pitchFamily="18" charset="0"/>
              </a:rPr>
              <a:t>0</a:t>
            </a:r>
            <a:r>
              <a:rPr lang="en-US" altLang="zh-CN" sz="2800" dirty="0">
                <a:latin typeface="Times New Roman" panose="02020503050405090304" pitchFamily="18" charset="0"/>
                <a:ea typeface="楷体_GB2312" pitchFamily="49" charset="-122"/>
                <a:cs typeface="Times New Roman" panose="02020503050405090304" pitchFamily="18" charset="0"/>
              </a:rPr>
              <a:t>=225(kg),</a:t>
            </a:r>
            <a:r>
              <a:rPr lang="zh-CN" altLang="en-US" sz="2800" dirty="0">
                <a:latin typeface="Times New Roman" panose="02020503050405090304" pitchFamily="18" charset="0"/>
                <a:ea typeface="楷体_GB2312" pitchFamily="49" charset="-122"/>
                <a:cs typeface="Times New Roman" panose="02020503050405090304" pitchFamily="18" charset="0"/>
              </a:rPr>
              <a:t>试求</a:t>
            </a:r>
            <a:r>
              <a:rPr lang="en-US" altLang="zh-CN" sz="2800" i="1" dirty="0">
                <a:latin typeface="Times New Roman" panose="02020503050405090304" pitchFamily="18" charset="0"/>
                <a:ea typeface="楷体_GB2312" pitchFamily="49" charset="-122"/>
                <a:cs typeface="Times New Roman" panose="02020503050405090304" pitchFamily="18" charset="0"/>
              </a:rPr>
              <a:t>y</a:t>
            </a:r>
            <a:r>
              <a:rPr lang="en-US" altLang="zh-CN" sz="2800" baseline="-25000" dirty="0">
                <a:latin typeface="Times New Roman" panose="02020503050405090304" pitchFamily="18" charset="0"/>
                <a:ea typeface="楷体_GB2312" pitchFamily="49" charset="-122"/>
                <a:cs typeface="Times New Roman" panose="02020503050405090304" pitchFamily="18" charset="0"/>
              </a:rPr>
              <a:t>0</a:t>
            </a:r>
            <a:r>
              <a:rPr lang="zh-CN" altLang="en-US" sz="2800" dirty="0">
                <a:latin typeface="Times New Roman" panose="02020503050405090304" pitchFamily="18" charset="0"/>
                <a:ea typeface="楷体_GB2312" pitchFamily="49" charset="-122"/>
                <a:cs typeface="Times New Roman" panose="02020503050405090304" pitchFamily="18" charset="0"/>
              </a:rPr>
              <a:t>的预测值和</a:t>
            </a:r>
            <a:r>
              <a:rPr lang="en-US" altLang="zh-CN" sz="2800" dirty="0">
                <a:latin typeface="Times New Roman" panose="02020503050405090304" pitchFamily="18" charset="0"/>
                <a:ea typeface="楷体_GB2312" pitchFamily="49" charset="-122"/>
                <a:cs typeface="Times New Roman" panose="02020503050405090304" pitchFamily="18" charset="0"/>
              </a:rPr>
              <a:t>95%</a:t>
            </a:r>
            <a:r>
              <a:rPr lang="zh-CN" altLang="en-US" sz="2800" dirty="0">
                <a:latin typeface="Times New Roman" panose="02020503050405090304" pitchFamily="18" charset="0"/>
                <a:ea typeface="楷体_GB2312" pitchFamily="49" charset="-122"/>
                <a:cs typeface="Times New Roman" panose="02020503050405090304" pitchFamily="18" charset="0"/>
              </a:rPr>
              <a:t>的预测区间</a:t>
            </a:r>
            <a:endParaRPr lang="zh-CN" altLang="en-US" sz="2800" dirty="0">
              <a:latin typeface="Times New Roman" panose="02020503050405090304" pitchFamily="18" charset="0"/>
              <a:ea typeface="楷体_GB2312" pitchFamily="49" charset="-122"/>
              <a:cs typeface="Times New Roman" panose="02020503050405090304" pitchFamily="18" charset="0"/>
            </a:endParaRPr>
          </a:p>
        </p:txBody>
      </p:sp>
      <p:sp>
        <p:nvSpPr>
          <p:cNvPr id="945175" name="Rectangle 23"/>
          <p:cNvSpPr>
            <a:spLocks noChangeArrowheads="1"/>
          </p:cNvSpPr>
          <p:nvPr/>
        </p:nvSpPr>
        <p:spPr bwMode="auto">
          <a:xfrm>
            <a:off x="2351089" y="1773238"/>
            <a:ext cx="5113337" cy="501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3200">
                <a:solidFill>
                  <a:schemeClr val="tx1"/>
                </a:solidFill>
                <a:latin typeface="Times New Roman" panose="02020503050405090304" pitchFamily="18" charset="0"/>
                <a:ea typeface="宋体" pitchFamily="2" charset="-122"/>
              </a:defRPr>
            </a:lvl1pPr>
            <a:lvl2pPr marL="742950" indent="-285750">
              <a:spcBef>
                <a:spcPct val="20000"/>
              </a:spcBef>
              <a:buChar char="–"/>
              <a:defRPr kumimoji="1" sz="2800">
                <a:solidFill>
                  <a:schemeClr val="tx1"/>
                </a:solidFill>
                <a:latin typeface="Times New Roman" panose="02020503050405090304" pitchFamily="18" charset="0"/>
                <a:ea typeface="宋体" pitchFamily="2" charset="-122"/>
              </a:defRPr>
            </a:lvl2pPr>
            <a:lvl3pPr marL="1143000" indent="-228600">
              <a:spcBef>
                <a:spcPct val="20000"/>
              </a:spcBef>
              <a:buChar char="•"/>
              <a:defRPr kumimoji="1" sz="2400">
                <a:solidFill>
                  <a:schemeClr val="tx1"/>
                </a:solidFill>
                <a:latin typeface="Times New Roman" panose="02020503050405090304" pitchFamily="18" charset="0"/>
                <a:ea typeface="宋体" pitchFamily="2" charset="-122"/>
              </a:defRPr>
            </a:lvl3pPr>
            <a:lvl4pPr marL="1600200" indent="-228600">
              <a:spcBef>
                <a:spcPct val="20000"/>
              </a:spcBef>
              <a:buChar char="–"/>
              <a:defRPr kumimoji="1" sz="2000">
                <a:solidFill>
                  <a:schemeClr val="tx1"/>
                </a:solidFill>
                <a:latin typeface="Times New Roman" panose="02020503050405090304" pitchFamily="18" charset="0"/>
                <a:ea typeface="宋体" pitchFamily="2" charset="-122"/>
              </a:defRPr>
            </a:lvl4pPr>
            <a:lvl5pPr marL="2057400" indent="-228600">
              <a:spcBef>
                <a:spcPct val="20000"/>
              </a:spcBef>
              <a:buChar char="»"/>
              <a:defRPr kumimoji="1" sz="2000">
                <a:solidFill>
                  <a:schemeClr val="tx1"/>
                </a:solidFill>
                <a:latin typeface="Times New Roman" panose="02020503050405090304"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503050405090304"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503050405090304"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503050405090304"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503050405090304" pitchFamily="18" charset="0"/>
                <a:ea typeface="宋体" pitchFamily="2" charset="-122"/>
              </a:defRPr>
            </a:lvl9pPr>
          </a:lstStyle>
          <a:p>
            <a:pPr eaLnBrk="1" hangingPunct="1">
              <a:buFontTx/>
              <a:buNone/>
            </a:pPr>
            <a:r>
              <a:rPr kumimoji="0" lang="zh-CN" altLang="en-US" sz="2800" dirty="0">
                <a:ea typeface="楷体_GB2312" pitchFamily="49" charset="-122"/>
                <a:cs typeface="Times New Roman" panose="02020503050405090304" pitchFamily="18" charset="0"/>
              </a:rPr>
              <a:t>所以当</a:t>
            </a:r>
            <a:r>
              <a:rPr kumimoji="0" lang="en-US" altLang="zh-CN" sz="2800" i="1" dirty="0">
                <a:ea typeface="楷体_GB2312" pitchFamily="49" charset="-122"/>
                <a:cs typeface="Times New Roman" panose="02020503050405090304" pitchFamily="18" charset="0"/>
              </a:rPr>
              <a:t>x</a:t>
            </a:r>
            <a:r>
              <a:rPr kumimoji="0" lang="en-US" altLang="zh-CN" sz="2800" baseline="-25000" dirty="0">
                <a:ea typeface="楷体_GB2312" pitchFamily="49" charset="-122"/>
                <a:cs typeface="Times New Roman" panose="02020503050405090304" pitchFamily="18" charset="0"/>
              </a:rPr>
              <a:t>0</a:t>
            </a:r>
            <a:r>
              <a:rPr kumimoji="0" lang="en-US" altLang="zh-CN" sz="2800" dirty="0">
                <a:ea typeface="楷体_GB2312" pitchFamily="49" charset="-122"/>
                <a:cs typeface="Times New Roman" panose="02020503050405090304" pitchFamily="18" charset="0"/>
              </a:rPr>
              <a:t>=225</a:t>
            </a:r>
            <a:r>
              <a:rPr kumimoji="0" lang="zh-CN" altLang="en-US" sz="2800" dirty="0">
                <a:ea typeface="楷体_GB2312" pitchFamily="49" charset="-122"/>
                <a:cs typeface="Times New Roman" panose="02020503050405090304" pitchFamily="18" charset="0"/>
              </a:rPr>
              <a:t>时，</a:t>
            </a:r>
            <a:r>
              <a:rPr kumimoji="0" lang="en-US" altLang="zh-CN" sz="2800" i="1" dirty="0">
                <a:ea typeface="楷体_GB2312" pitchFamily="49" charset="-122"/>
                <a:cs typeface="Times New Roman" panose="02020503050405090304" pitchFamily="18" charset="0"/>
              </a:rPr>
              <a:t>y</a:t>
            </a:r>
            <a:r>
              <a:rPr kumimoji="0" lang="en-US" altLang="zh-CN" sz="2800" baseline="-25000" dirty="0">
                <a:ea typeface="楷体_GB2312" pitchFamily="49" charset="-122"/>
                <a:cs typeface="Times New Roman" panose="02020503050405090304" pitchFamily="18" charset="0"/>
              </a:rPr>
              <a:t>0</a:t>
            </a:r>
            <a:r>
              <a:rPr kumimoji="0" lang="zh-CN" altLang="en-US" sz="2800" dirty="0">
                <a:ea typeface="楷体_GB2312" pitchFamily="49" charset="-122"/>
                <a:cs typeface="Times New Roman" panose="02020503050405090304" pitchFamily="18" charset="0"/>
              </a:rPr>
              <a:t>的预测值为</a:t>
            </a:r>
            <a:endParaRPr lang="zh-CN" altLang="en-US" sz="2800" dirty="0">
              <a:ea typeface="楷体_GB2312" pitchFamily="49" charset="-122"/>
              <a:cs typeface="Times New Roman" panose="02020503050405090304" pitchFamily="18" charset="0"/>
            </a:endParaRPr>
          </a:p>
        </p:txBody>
      </p:sp>
      <p:graphicFrame>
        <p:nvGraphicFramePr>
          <p:cNvPr id="945176" name="Object 24"/>
          <p:cNvGraphicFramePr>
            <a:graphicFrameLocks noChangeAspect="1"/>
          </p:cNvGraphicFramePr>
          <p:nvPr/>
        </p:nvGraphicFramePr>
        <p:xfrm>
          <a:off x="2443163" y="2343150"/>
          <a:ext cx="6794500" cy="604838"/>
        </p:xfrm>
        <a:graphic>
          <a:graphicData uri="http://schemas.openxmlformats.org/presentationml/2006/ole">
            <mc:AlternateContent xmlns:mc="http://schemas.openxmlformats.org/markup-compatibility/2006">
              <mc:Choice xmlns:v="urn:schemas-microsoft-com:vml" Requires="v">
                <p:oleObj spid="_x0000_s5" name="Equation" r:id="rId10" imgW="69799200" imgH="6096000" progId="Equation.DSMT4">
                  <p:embed/>
                </p:oleObj>
              </mc:Choice>
              <mc:Fallback>
                <p:oleObj name="Equation" r:id="rId10" imgW="69799200" imgH="6096000" progId="Equation.DSMT4">
                  <p:embed/>
                  <p:pic>
                    <p:nvPicPr>
                      <p:cNvPr id="0" name="Object 24"/>
                      <p:cNvPicPr>
                        <a:picLocks noChangeAspect="1" noChangeArrowheads="1"/>
                      </p:cNvPicPr>
                      <p:nvPr/>
                    </p:nvPicPr>
                    <p:blipFill>
                      <a:blip r:embed="rId11"/>
                      <a:srcRect/>
                      <a:stretch>
                        <a:fillRect/>
                      </a:stretch>
                    </p:blipFill>
                    <p:spPr bwMode="auto">
                      <a:xfrm>
                        <a:off x="2443163" y="2343150"/>
                        <a:ext cx="6794500" cy="60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45178" name="Object 26"/>
          <p:cNvGraphicFramePr>
            <a:graphicFrameLocks noChangeAspect="1"/>
          </p:cNvGraphicFramePr>
          <p:nvPr/>
        </p:nvGraphicFramePr>
        <p:xfrm>
          <a:off x="2495550" y="3716338"/>
          <a:ext cx="2573338" cy="531812"/>
        </p:xfrm>
        <a:graphic>
          <a:graphicData uri="http://schemas.openxmlformats.org/presentationml/2006/ole">
            <mc:AlternateContent xmlns:mc="http://schemas.openxmlformats.org/markup-compatibility/2006">
              <mc:Choice xmlns:v="urn:schemas-microsoft-com:vml" Requires="v">
                <p:oleObj spid="_x0000_s6" name="公式" r:id="rId12" imgW="1287145" imgH="248285" progId="Equation.3">
                  <p:embed/>
                </p:oleObj>
              </mc:Choice>
              <mc:Fallback>
                <p:oleObj name="公式" r:id="rId12" imgW="1287145" imgH="248285" progId="Equation.3">
                  <p:embed/>
                  <p:pic>
                    <p:nvPicPr>
                      <p:cNvPr id="0" name="Object 2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495550" y="3716338"/>
                        <a:ext cx="2573338" cy="53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45180" name="Object 28"/>
          <p:cNvGraphicFramePr>
            <a:graphicFrameLocks noChangeAspect="1"/>
          </p:cNvGraphicFramePr>
          <p:nvPr/>
        </p:nvGraphicFramePr>
        <p:xfrm>
          <a:off x="2060575" y="5583238"/>
          <a:ext cx="7769225" cy="1073150"/>
        </p:xfrm>
        <a:graphic>
          <a:graphicData uri="http://schemas.openxmlformats.org/presentationml/2006/ole">
            <mc:AlternateContent xmlns:mc="http://schemas.openxmlformats.org/markup-compatibility/2006">
              <mc:Choice xmlns:v="urn:schemas-microsoft-com:vml" Requires="v">
                <p:oleObj spid="_x0000_s7" name="Equation" r:id="rId14" imgW="85039200" imgH="11582400" progId="Equation.DSMT4">
                  <p:embed/>
                </p:oleObj>
              </mc:Choice>
              <mc:Fallback>
                <p:oleObj name="Equation" r:id="rId14" imgW="85039200" imgH="11582400" progId="Equation.DSMT4">
                  <p:embed/>
                  <p:pic>
                    <p:nvPicPr>
                      <p:cNvPr id="0" name="Object 28"/>
                      <p:cNvPicPr>
                        <a:picLocks noChangeAspect="1" noChangeArrowheads="1"/>
                      </p:cNvPicPr>
                      <p:nvPr/>
                    </p:nvPicPr>
                    <p:blipFill>
                      <a:blip r:embed="rId15"/>
                      <a:srcRect/>
                      <a:stretch>
                        <a:fillRect/>
                      </a:stretch>
                    </p:blipFill>
                    <p:spPr bwMode="auto">
                      <a:xfrm>
                        <a:off x="2060575" y="5583238"/>
                        <a:ext cx="7769225"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45165">
                                            <p:txEl>
                                              <p:pRg st="0" end="0"/>
                                            </p:txEl>
                                          </p:spTgt>
                                        </p:tgtEl>
                                        <p:attrNameLst>
                                          <p:attrName>style.visibility</p:attrName>
                                        </p:attrNameLst>
                                      </p:cBhvr>
                                      <p:to>
                                        <p:strVal val="visible"/>
                                      </p:to>
                                    </p:set>
                                    <p:animEffect transition="in" filter="dissolve">
                                      <p:cBhvr>
                                        <p:cTn id="7" dur="500"/>
                                        <p:tgtEl>
                                          <p:spTgt spid="94516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45166"/>
                                        </p:tgtEl>
                                        <p:attrNameLst>
                                          <p:attrName>style.visibility</p:attrName>
                                        </p:attrNameLst>
                                      </p:cBhvr>
                                      <p:to>
                                        <p:strVal val="visible"/>
                                      </p:to>
                                    </p:set>
                                    <p:animEffect transition="in" filter="wipe(left)">
                                      <p:cBhvr>
                                        <p:cTn id="12" dur="500"/>
                                        <p:tgtEl>
                                          <p:spTgt spid="945166"/>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945175">
                                            <p:txEl>
                                              <p:pRg st="0" end="0"/>
                                            </p:txEl>
                                          </p:spTgt>
                                        </p:tgtEl>
                                        <p:attrNameLst>
                                          <p:attrName>style.visibility</p:attrName>
                                        </p:attrNameLst>
                                      </p:cBhvr>
                                      <p:to>
                                        <p:strVal val="visible"/>
                                      </p:to>
                                    </p:set>
                                    <p:animEffect transition="in" filter="dissolve">
                                      <p:cBhvr>
                                        <p:cTn id="16" dur="500"/>
                                        <p:tgtEl>
                                          <p:spTgt spid="945175">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945176"/>
                                        </p:tgtEl>
                                        <p:attrNameLst>
                                          <p:attrName>style.visibility</p:attrName>
                                        </p:attrNameLst>
                                      </p:cBhvr>
                                      <p:to>
                                        <p:strVal val="visible"/>
                                      </p:to>
                                    </p:set>
                                    <p:animEffect transition="in" filter="wipe(left)">
                                      <p:cBhvr>
                                        <p:cTn id="21" dur="500"/>
                                        <p:tgtEl>
                                          <p:spTgt spid="945176"/>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945163">
                                            <p:txEl>
                                              <p:pRg st="0" end="0"/>
                                            </p:txEl>
                                          </p:spTgt>
                                        </p:tgtEl>
                                        <p:attrNameLst>
                                          <p:attrName>style.visibility</p:attrName>
                                        </p:attrNameLst>
                                      </p:cBhvr>
                                      <p:to>
                                        <p:strVal val="visible"/>
                                      </p:to>
                                    </p:set>
                                    <p:animEffect transition="in" filter="dissolve">
                                      <p:cBhvr>
                                        <p:cTn id="26" dur="500"/>
                                        <p:tgtEl>
                                          <p:spTgt spid="945163">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945160"/>
                                        </p:tgtEl>
                                        <p:attrNameLst>
                                          <p:attrName>style.visibility</p:attrName>
                                        </p:attrNameLst>
                                      </p:cBhvr>
                                      <p:to>
                                        <p:strVal val="visible"/>
                                      </p:to>
                                    </p:set>
                                    <p:animEffect transition="in" filter="wipe(left)">
                                      <p:cBhvr>
                                        <p:cTn id="31" dur="500"/>
                                        <p:tgtEl>
                                          <p:spTgt spid="945160"/>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945164"/>
                                        </p:tgtEl>
                                        <p:attrNameLst>
                                          <p:attrName>style.visibility</p:attrName>
                                        </p:attrNameLst>
                                      </p:cBhvr>
                                      <p:to>
                                        <p:strVal val="visible"/>
                                      </p:to>
                                    </p:set>
                                    <p:animEffect transition="in" filter="wipe(left)">
                                      <p:cBhvr>
                                        <p:cTn id="36" dur="500"/>
                                        <p:tgtEl>
                                          <p:spTgt spid="945164"/>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945178"/>
                                        </p:tgtEl>
                                        <p:attrNameLst>
                                          <p:attrName>style.visibility</p:attrName>
                                        </p:attrNameLst>
                                      </p:cBhvr>
                                      <p:to>
                                        <p:strVal val="visible"/>
                                      </p:to>
                                    </p:set>
                                    <p:animEffect transition="in" filter="wipe(left)">
                                      <p:cBhvr>
                                        <p:cTn id="41" dur="500"/>
                                        <p:tgtEl>
                                          <p:spTgt spid="945178"/>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945171"/>
                                        </p:tgtEl>
                                        <p:attrNameLst>
                                          <p:attrName>style.visibility</p:attrName>
                                        </p:attrNameLst>
                                      </p:cBhvr>
                                      <p:to>
                                        <p:strVal val="visible"/>
                                      </p:to>
                                    </p:set>
                                    <p:animEffect transition="in" filter="wipe(left)">
                                      <p:cBhvr>
                                        <p:cTn id="46" dur="500"/>
                                        <p:tgtEl>
                                          <p:spTgt spid="945171"/>
                                        </p:tgtEl>
                                      </p:cBhvr>
                                    </p:animEffect>
                                  </p:childTnLst>
                                </p:cTn>
                              </p:par>
                            </p:childTnLst>
                          </p:cTn>
                        </p:par>
                        <p:par>
                          <p:cTn id="47" fill="hold">
                            <p:stCondLst>
                              <p:cond delay="500"/>
                            </p:stCondLst>
                            <p:childTnLst>
                              <p:par>
                                <p:cTn id="48" presetID="9" presetClass="entr" presetSubtype="0" fill="hold" grpId="0" nodeType="afterEffect">
                                  <p:stCondLst>
                                    <p:cond delay="0"/>
                                  </p:stCondLst>
                                  <p:childTnLst>
                                    <p:set>
                                      <p:cBhvr>
                                        <p:cTn id="49" dur="1" fill="hold">
                                          <p:stCondLst>
                                            <p:cond delay="0"/>
                                          </p:stCondLst>
                                        </p:cTn>
                                        <p:tgtEl>
                                          <p:spTgt spid="945172">
                                            <p:txEl>
                                              <p:pRg st="0" end="0"/>
                                            </p:txEl>
                                          </p:spTgt>
                                        </p:tgtEl>
                                        <p:attrNameLst>
                                          <p:attrName>style.visibility</p:attrName>
                                        </p:attrNameLst>
                                      </p:cBhvr>
                                      <p:to>
                                        <p:strVal val="visible"/>
                                      </p:to>
                                    </p:set>
                                    <p:animEffect transition="in" filter="dissolve">
                                      <p:cBhvr>
                                        <p:cTn id="50" dur="500"/>
                                        <p:tgtEl>
                                          <p:spTgt spid="945172">
                                            <p:txEl>
                                              <p:pRg st="0" end="0"/>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945180"/>
                                        </p:tgtEl>
                                        <p:attrNameLst>
                                          <p:attrName>style.visibility</p:attrName>
                                        </p:attrNameLst>
                                      </p:cBhvr>
                                      <p:to>
                                        <p:strVal val="visible"/>
                                      </p:to>
                                    </p:set>
                                    <p:animEffect transition="in" filter="wipe(left)">
                                      <p:cBhvr>
                                        <p:cTn id="55" dur="500"/>
                                        <p:tgtEl>
                                          <p:spTgt spid="9451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5163" grpId="0" build="p"/>
      <p:bldP spid="945165" grpId="0" build="p"/>
      <p:bldP spid="945172" grpId="0" build="p"/>
      <p:bldP spid="945175"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Text Box 2"/>
          <p:cNvSpPr txBox="1"/>
          <p:nvPr/>
        </p:nvSpPr>
        <p:spPr>
          <a:xfrm>
            <a:off x="2965450" y="601345"/>
            <a:ext cx="5715000" cy="645160"/>
          </a:xfrm>
          <a:prstGeom prst="rect">
            <a:avLst/>
          </a:prstGeom>
          <a:noFill/>
          <a:ln w="9525">
            <a:noFill/>
          </a:ln>
        </p:spPr>
        <p:txBody>
          <a:bodyPr anchor="t">
            <a:spAutoFit/>
          </a:bodyPr>
          <a:lstStyle/>
          <a:p>
            <a:r>
              <a:rPr lang="zh-CN" altLang="en-US" sz="3600" dirty="0">
                <a:latin typeface="+mj-ea"/>
                <a:ea typeface="+mj-ea"/>
                <a:cs typeface="+mj-ea"/>
              </a:rPr>
              <a:t>第三节 多元线性回归模型</a:t>
            </a:r>
            <a:endParaRPr lang="zh-CN" altLang="en-US" sz="3600" dirty="0">
              <a:latin typeface="+mj-ea"/>
              <a:ea typeface="+mj-ea"/>
              <a:cs typeface="+mj-ea"/>
            </a:endParaRPr>
          </a:p>
        </p:txBody>
      </p:sp>
      <p:sp>
        <p:nvSpPr>
          <p:cNvPr id="10242" name="Text Box 3"/>
          <p:cNvSpPr txBox="1"/>
          <p:nvPr/>
        </p:nvSpPr>
        <p:spPr>
          <a:xfrm>
            <a:off x="2346326" y="1600200"/>
            <a:ext cx="8321675" cy="1667764"/>
          </a:xfrm>
          <a:prstGeom prst="rect">
            <a:avLst/>
          </a:prstGeom>
          <a:noFill/>
          <a:ln w="9525">
            <a:noFill/>
          </a:ln>
        </p:spPr>
        <p:txBody>
          <a:bodyPr wrap="square" anchor="t">
            <a:spAutoFit/>
          </a:bodyPr>
          <a:lstStyle/>
          <a:p>
            <a:pPr algn="l" fontAlgn="auto">
              <a:lnSpc>
                <a:spcPct val="150000"/>
              </a:lnSpc>
            </a:pPr>
            <a:r>
              <a:rPr lang="zh-CN" altLang="en-US" sz="2400" dirty="0">
                <a:latin typeface="+mn-ea"/>
                <a:cs typeface="+mn-ea"/>
              </a:rPr>
              <a:t>一、多变量线性回归模型</a:t>
            </a:r>
            <a:endParaRPr lang="zh-CN" altLang="en-US" sz="2400" dirty="0">
              <a:latin typeface="+mn-ea"/>
              <a:cs typeface="+mn-ea"/>
            </a:endParaRPr>
          </a:p>
          <a:p>
            <a:pPr algn="l" fontAlgn="auto">
              <a:lnSpc>
                <a:spcPct val="150000"/>
              </a:lnSpc>
            </a:pPr>
            <a:r>
              <a:rPr lang="zh-CN" altLang="en-US" sz="2400" dirty="0">
                <a:latin typeface="+mn-ea"/>
                <a:cs typeface="+mn-ea"/>
              </a:rPr>
              <a:t>假定被解释变量与多个解释变量之间具有线性关系，</a:t>
            </a:r>
            <a:endParaRPr lang="zh-CN" altLang="en-US" sz="2400" dirty="0">
              <a:latin typeface="+mn-ea"/>
              <a:cs typeface="+mn-ea"/>
            </a:endParaRPr>
          </a:p>
          <a:p>
            <a:pPr algn="l" fontAlgn="auto">
              <a:lnSpc>
                <a:spcPct val="150000"/>
              </a:lnSpc>
            </a:pPr>
            <a:r>
              <a:rPr lang="zh-CN" altLang="en-US" sz="2400" dirty="0">
                <a:latin typeface="+mn-ea"/>
                <a:cs typeface="+mn-ea"/>
              </a:rPr>
              <a:t>是自变量的多元线性函数，称为多元线性回归模型。即 </a:t>
            </a:r>
            <a:endParaRPr lang="zh-CN" altLang="en-US" sz="2400" dirty="0">
              <a:latin typeface="+mn-ea"/>
              <a:cs typeface="+mn-ea"/>
            </a:endParaRPr>
          </a:p>
        </p:txBody>
      </p:sp>
      <p:sp>
        <p:nvSpPr>
          <p:cNvPr id="10243" name="Rectangle 9"/>
          <p:cNvSpPr/>
          <p:nvPr/>
        </p:nvSpPr>
        <p:spPr>
          <a:xfrm>
            <a:off x="4872038" y="3314700"/>
            <a:ext cx="9144000" cy="369332"/>
          </a:xfrm>
          <a:prstGeom prst="rect">
            <a:avLst/>
          </a:prstGeom>
          <a:noFill/>
          <a:ln w="9525">
            <a:noFill/>
          </a:ln>
        </p:spPr>
        <p:txBody>
          <a:bodyPr anchor="t">
            <a:spAutoFit/>
          </a:bodyPr>
          <a:lstStyle/>
          <a:p>
            <a:endParaRPr lang="zh-CN" altLang="en-US" dirty="0">
              <a:latin typeface="Tahoma" panose="020B0604030504040204" pitchFamily="34" charset="0"/>
              <a:ea typeface="宋体" pitchFamily="2" charset="-122"/>
            </a:endParaRPr>
          </a:p>
        </p:txBody>
      </p:sp>
      <p:graphicFrame>
        <p:nvGraphicFramePr>
          <p:cNvPr id="10244" name="Object 8"/>
          <p:cNvGraphicFramePr/>
          <p:nvPr/>
        </p:nvGraphicFramePr>
        <p:xfrm>
          <a:off x="3365500" y="3906838"/>
          <a:ext cx="5457825" cy="561975"/>
        </p:xfrm>
        <a:graphic>
          <a:graphicData uri="http://schemas.openxmlformats.org/presentationml/2006/ole">
            <mc:AlternateContent xmlns:mc="http://schemas.openxmlformats.org/markup-compatibility/2006">
              <mc:Choice xmlns:v="urn:schemas-microsoft-com:vml" Requires="v">
                <p:oleObj spid="_x0000_s25601" name="Equation" r:id="rId1" imgW="53340000" imgH="5486400" progId="Equation.DSMT4">
                  <p:embed/>
                </p:oleObj>
              </mc:Choice>
              <mc:Fallback>
                <p:oleObj name="Equation" r:id="rId1" imgW="53340000" imgH="5486400" progId="Equation.DSMT4">
                  <p:embed/>
                  <p:pic>
                    <p:nvPicPr>
                      <p:cNvPr id="0" name="图片 3131"/>
                      <p:cNvPicPr/>
                      <p:nvPr/>
                    </p:nvPicPr>
                    <p:blipFill>
                      <a:blip r:embed="rId2"/>
                      <a:stretch>
                        <a:fillRect/>
                      </a:stretch>
                    </p:blipFill>
                    <p:spPr>
                      <a:xfrm>
                        <a:off x="3365500" y="3906838"/>
                        <a:ext cx="5457825" cy="561975"/>
                      </a:xfrm>
                      <a:prstGeom prst="rect">
                        <a:avLst/>
                      </a:prstGeom>
                      <a:noFill/>
                      <a:ln w="38100">
                        <a:noFill/>
                        <a:miter/>
                      </a:ln>
                    </p:spPr>
                  </p:pic>
                </p:oleObj>
              </mc:Fallback>
            </mc:AlternateContent>
          </a:graphicData>
        </a:graphic>
      </p:graphicFrame>
      <p:sp>
        <p:nvSpPr>
          <p:cNvPr id="10245" name="灯片编号占位符 7"/>
          <p:cNvSpPr>
            <a:spLocks noGrp="1"/>
          </p:cNvSpPr>
          <p:nvPr>
            <p:ph type="sldNum" sz="quarter" idx="12"/>
          </p:nvPr>
        </p:nvSpPr>
        <p:spPr/>
        <p:txBody>
          <a:bodyPr vert="horz" wrap="square" lIns="91440" tIns="45720" rIns="91440" bIns="45720" rtlCol="0" anchor="b">
            <a:norm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algn="r"/>
            <a:fld id="{9A0DB2DC-4C9A-4742-B13C-FB6460FD3503}" type="slidenum">
              <a:rPr lang="en-US" altLang="zh-CN" sz="1400" dirty="0"/>
            </a:fld>
            <a:endParaRPr lang="en-US" altLang="zh-CN"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Text Box 2"/>
          <p:cNvSpPr txBox="1"/>
          <p:nvPr/>
        </p:nvSpPr>
        <p:spPr>
          <a:xfrm>
            <a:off x="1812925" y="395289"/>
            <a:ext cx="692150" cy="396875"/>
          </a:xfrm>
          <a:prstGeom prst="rect">
            <a:avLst/>
          </a:prstGeom>
          <a:noFill/>
          <a:ln w="9525">
            <a:noFill/>
          </a:ln>
        </p:spPr>
        <p:txBody>
          <a:bodyPr wrap="none" anchor="t">
            <a:spAutoFit/>
          </a:bodyPr>
          <a:lstStyle/>
          <a:p>
            <a:r>
              <a:rPr lang="en-US" altLang="zh-CN" sz="2000" dirty="0">
                <a:latin typeface="Times New Roman" panose="02020503050405090304" pitchFamily="18" charset="0"/>
                <a:ea typeface="宋体" pitchFamily="2" charset="-122"/>
              </a:rPr>
              <a:t>        </a:t>
            </a:r>
            <a:endParaRPr lang="en-US" altLang="zh-CN" sz="2000" dirty="0">
              <a:latin typeface="Times New Roman" panose="02020503050405090304" pitchFamily="18" charset="0"/>
              <a:ea typeface="宋体" pitchFamily="2" charset="-122"/>
            </a:endParaRPr>
          </a:p>
        </p:txBody>
      </p:sp>
      <p:graphicFrame>
        <p:nvGraphicFramePr>
          <p:cNvPr id="11266" name="Object 3"/>
          <p:cNvGraphicFramePr/>
          <p:nvPr/>
        </p:nvGraphicFramePr>
        <p:xfrm>
          <a:off x="3505200" y="3167063"/>
          <a:ext cx="4476750" cy="2422525"/>
        </p:xfrm>
        <a:graphic>
          <a:graphicData uri="http://schemas.openxmlformats.org/presentationml/2006/ole">
            <mc:AlternateContent xmlns:mc="http://schemas.openxmlformats.org/markup-compatibility/2006">
              <mc:Choice xmlns:v="urn:schemas-microsoft-com:vml" Requires="v">
                <p:oleObj spid="_x0000_s25601" name="Equation" r:id="rId1" imgW="1676400" imgH="914400" progId="Equation.3">
                  <p:embed/>
                </p:oleObj>
              </mc:Choice>
              <mc:Fallback>
                <p:oleObj name="Equation" r:id="rId1" imgW="1676400" imgH="914400" progId="Equation.3">
                  <p:embed/>
                  <p:pic>
                    <p:nvPicPr>
                      <p:cNvPr id="0" name="图片 3128"/>
                      <p:cNvPicPr/>
                      <p:nvPr/>
                    </p:nvPicPr>
                    <p:blipFill>
                      <a:blip r:embed="rId2"/>
                      <a:stretch>
                        <a:fillRect/>
                      </a:stretch>
                    </p:blipFill>
                    <p:spPr>
                      <a:xfrm>
                        <a:off x="3505200" y="3167063"/>
                        <a:ext cx="4476750" cy="2422525"/>
                      </a:xfrm>
                      <a:prstGeom prst="rect">
                        <a:avLst/>
                      </a:prstGeom>
                      <a:noFill/>
                      <a:ln w="38100">
                        <a:noFill/>
                        <a:miter/>
                      </a:ln>
                    </p:spPr>
                  </p:pic>
                </p:oleObj>
              </mc:Fallback>
            </mc:AlternateContent>
          </a:graphicData>
        </a:graphic>
      </p:graphicFrame>
      <p:sp>
        <p:nvSpPr>
          <p:cNvPr id="11267" name="Text Box 10"/>
          <p:cNvSpPr txBox="1"/>
          <p:nvPr/>
        </p:nvSpPr>
        <p:spPr>
          <a:xfrm>
            <a:off x="2246587" y="1213946"/>
            <a:ext cx="8352200" cy="559897"/>
          </a:xfrm>
          <a:prstGeom prst="rect">
            <a:avLst/>
          </a:prstGeom>
          <a:noFill/>
          <a:ln w="9525">
            <a:noFill/>
          </a:ln>
        </p:spPr>
        <p:txBody>
          <a:bodyPr wrap="square" anchor="t">
            <a:spAutoFit/>
          </a:bodyPr>
          <a:lstStyle/>
          <a:p>
            <a:pPr>
              <a:lnSpc>
                <a:spcPct val="120000"/>
              </a:lnSpc>
            </a:pPr>
            <a:r>
              <a:rPr lang="zh-CN" altLang="en-US" sz="2800" dirty="0">
                <a:latin typeface="Times New Roman" panose="02020503050405090304" pitchFamily="18" charset="0"/>
                <a:ea typeface="黑体" panose="02010609060101010101" pitchFamily="49" charset="-122"/>
                <a:cs typeface="Times New Roman" panose="02020503050405090304" pitchFamily="18" charset="0"/>
              </a:rPr>
              <a:t>假定有</a:t>
            </a:r>
            <a:r>
              <a:rPr lang="en-US" altLang="zh-CN" sz="2800" i="1" dirty="0">
                <a:latin typeface="Times New Roman" panose="02020503050405090304" pitchFamily="18" charset="0"/>
                <a:ea typeface="黑体" panose="02010609060101010101" pitchFamily="49" charset="-122"/>
                <a:cs typeface="Times New Roman" panose="02020503050405090304" pitchFamily="18" charset="0"/>
              </a:rPr>
              <a:t>n</a:t>
            </a:r>
            <a:r>
              <a:rPr lang="zh-CN" altLang="en-US" sz="2800" dirty="0">
                <a:latin typeface="Times New Roman" panose="02020503050405090304" pitchFamily="18" charset="0"/>
                <a:ea typeface="黑体" panose="02010609060101010101" pitchFamily="49" charset="-122"/>
                <a:cs typeface="Times New Roman" panose="02020503050405090304" pitchFamily="18" charset="0"/>
              </a:rPr>
              <a:t>组观测值，则可写成矩阵形式：</a:t>
            </a:r>
            <a:endParaRPr lang="zh-CN" altLang="en-US" sz="2800" baseline="-25000" dirty="0">
              <a:latin typeface="Times New Roman" panose="02020503050405090304" pitchFamily="18" charset="0"/>
              <a:ea typeface="黑体" panose="02010609060101010101" pitchFamily="49" charset="-122"/>
              <a:cs typeface="Times New Roman" panose="02020503050405090304" pitchFamily="18" charset="0"/>
            </a:endParaRPr>
          </a:p>
        </p:txBody>
      </p:sp>
      <p:graphicFrame>
        <p:nvGraphicFramePr>
          <p:cNvPr id="11268" name="Object 11"/>
          <p:cNvGraphicFramePr/>
          <p:nvPr/>
        </p:nvGraphicFramePr>
        <p:xfrm>
          <a:off x="4287838" y="2268538"/>
          <a:ext cx="1552575" cy="444500"/>
        </p:xfrm>
        <a:graphic>
          <a:graphicData uri="http://schemas.openxmlformats.org/presentationml/2006/ole">
            <mc:AlternateContent xmlns:mc="http://schemas.openxmlformats.org/markup-compatibility/2006">
              <mc:Choice xmlns:v="urn:schemas-microsoft-com:vml" Requires="v">
                <p:oleObj spid="_x0000_s2" name="Equation" r:id="rId3" imgW="17068800" imgH="4876800" progId="Equation.DSMT4">
                  <p:embed/>
                </p:oleObj>
              </mc:Choice>
              <mc:Fallback>
                <p:oleObj name="Equation" r:id="rId3" imgW="17068800" imgH="4876800" progId="Equation.DSMT4">
                  <p:embed/>
                  <p:pic>
                    <p:nvPicPr>
                      <p:cNvPr id="0" name="图片 3130"/>
                      <p:cNvPicPr/>
                      <p:nvPr/>
                    </p:nvPicPr>
                    <p:blipFill>
                      <a:blip r:embed="rId4"/>
                      <a:stretch>
                        <a:fillRect/>
                      </a:stretch>
                    </p:blipFill>
                    <p:spPr>
                      <a:xfrm>
                        <a:off x="4287838" y="2268538"/>
                        <a:ext cx="1552575" cy="444500"/>
                      </a:xfrm>
                      <a:prstGeom prst="rect">
                        <a:avLst/>
                      </a:prstGeom>
                      <a:noFill/>
                      <a:ln w="38100">
                        <a:noFill/>
                        <a:miter/>
                      </a:ln>
                    </p:spPr>
                  </p:pic>
                </p:oleObj>
              </mc:Fallback>
            </mc:AlternateContent>
          </a:graphicData>
        </a:graphic>
      </p:graphicFrame>
      <p:sp>
        <p:nvSpPr>
          <p:cNvPr id="11269" name="灯片编号占位符 7"/>
          <p:cNvSpPr>
            <a:spLocks noGrp="1"/>
          </p:cNvSpPr>
          <p:nvPr>
            <p:ph type="sldNum" sz="quarter" idx="12"/>
          </p:nvPr>
        </p:nvSpPr>
        <p:spPr/>
        <p:txBody>
          <a:bodyPr vert="horz" wrap="square" lIns="91440" tIns="45720" rIns="91440" bIns="45720" rtlCol="0" anchor="b">
            <a:norm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algn="r"/>
            <a:fld id="{9A0DB2DC-4C9A-4742-B13C-FB6460FD3503}" type="slidenum">
              <a:rPr lang="en-US" altLang="zh-CN" sz="1400" dirty="0"/>
            </a:fld>
            <a:endParaRPr lang="en-US" altLang="zh-CN" sz="1400" dirty="0"/>
          </a:p>
        </p:txBody>
      </p:sp>
      <p:sp>
        <p:nvSpPr>
          <p:cNvPr id="3" name="文本框 2"/>
          <p:cNvSpPr txBox="1"/>
          <p:nvPr/>
        </p:nvSpPr>
        <p:spPr>
          <a:xfrm>
            <a:off x="3574077" y="5100145"/>
            <a:ext cx="189187" cy="492443"/>
          </a:xfrm>
          <a:prstGeom prst="rect">
            <a:avLst/>
          </a:prstGeom>
          <a:solidFill>
            <a:srgbClr val="FFFFFF"/>
          </a:solidFill>
        </p:spPr>
        <p:txBody>
          <a:bodyPr wrap="square" lIns="0" tIns="0" rIns="0" bIns="0" rtlCol="0">
            <a:spAutoFit/>
          </a:bodyPr>
          <a:lstStyle/>
          <a:p>
            <a:r>
              <a:rPr lang="zh-CN" altLang="en-US" sz="3200" dirty="0">
                <a:sym typeface="Symbol" panose="05050102010706020507" pitchFamily="18" charset="2"/>
              </a:rPr>
              <a:t></a:t>
            </a:r>
            <a:endParaRPr lang="zh-CN" altLang="en-US" sz="3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Text Box 2"/>
          <p:cNvSpPr txBox="1"/>
          <p:nvPr/>
        </p:nvSpPr>
        <p:spPr>
          <a:xfrm>
            <a:off x="1812925" y="395289"/>
            <a:ext cx="692150" cy="396875"/>
          </a:xfrm>
          <a:prstGeom prst="rect">
            <a:avLst/>
          </a:prstGeom>
          <a:noFill/>
          <a:ln w="9525">
            <a:noFill/>
          </a:ln>
        </p:spPr>
        <p:txBody>
          <a:bodyPr wrap="none" anchor="t">
            <a:spAutoFit/>
          </a:bodyPr>
          <a:lstStyle/>
          <a:p>
            <a:r>
              <a:rPr lang="en-US" altLang="zh-CN" sz="2000" dirty="0">
                <a:latin typeface="Times New Roman" panose="02020503050405090304" pitchFamily="18" charset="0"/>
                <a:ea typeface="宋体" pitchFamily="2" charset="-122"/>
              </a:rPr>
              <a:t>        </a:t>
            </a:r>
            <a:endParaRPr lang="en-US" altLang="zh-CN" sz="2000" dirty="0">
              <a:latin typeface="Times New Roman" panose="02020503050405090304" pitchFamily="18" charset="0"/>
              <a:ea typeface="宋体" pitchFamily="2" charset="-122"/>
            </a:endParaRPr>
          </a:p>
        </p:txBody>
      </p:sp>
      <p:sp>
        <p:nvSpPr>
          <p:cNvPr id="12290" name="Text Box 5"/>
          <p:cNvSpPr txBox="1"/>
          <p:nvPr/>
        </p:nvSpPr>
        <p:spPr>
          <a:xfrm>
            <a:off x="2152651" y="395606"/>
            <a:ext cx="8321675" cy="604781"/>
          </a:xfrm>
          <a:prstGeom prst="rect">
            <a:avLst/>
          </a:prstGeom>
          <a:noFill/>
          <a:ln w="9525">
            <a:noFill/>
          </a:ln>
        </p:spPr>
        <p:txBody>
          <a:bodyPr anchor="t">
            <a:spAutoFit/>
          </a:bodyPr>
          <a:lstStyle/>
          <a:p>
            <a:pPr>
              <a:lnSpc>
                <a:spcPct val="120000"/>
              </a:lnSpc>
            </a:pPr>
            <a:r>
              <a:rPr lang="zh-CN" altLang="en-US" sz="3200" dirty="0">
                <a:latin typeface="黑体" panose="02010609060101010101" pitchFamily="49" charset="-122"/>
                <a:ea typeface="黑体" panose="02010609060101010101" pitchFamily="49" charset="-122"/>
                <a:cs typeface="黑体" panose="02010609060101010101" pitchFamily="49" charset="-122"/>
              </a:rPr>
              <a:t>二、多元线性回归模型的</a:t>
            </a:r>
            <a:r>
              <a:rPr lang="zh-CN" altLang="en-US" sz="3200" b="1" dirty="0">
                <a:solidFill>
                  <a:srgbClr val="FF0000"/>
                </a:solidFill>
                <a:latin typeface="黑体" panose="02010609060101010101" pitchFamily="49" charset="-122"/>
                <a:ea typeface="黑体" panose="02010609060101010101" pitchFamily="49" charset="-122"/>
                <a:cs typeface="黑体" panose="02010609060101010101" pitchFamily="49" charset="-122"/>
              </a:rPr>
              <a:t>基本假定</a:t>
            </a:r>
            <a:r>
              <a:rPr lang="zh-CN" altLang="en-US" sz="3200" dirty="0">
                <a:latin typeface="黑体" panose="02010609060101010101" pitchFamily="49" charset="-122"/>
                <a:ea typeface="黑体" panose="02010609060101010101" pitchFamily="49" charset="-122"/>
                <a:cs typeface="黑体" panose="02010609060101010101" pitchFamily="49" charset="-122"/>
              </a:rPr>
              <a:t>        </a:t>
            </a:r>
            <a:endParaRPr lang="zh-CN" altLang="en-US" sz="3200" dirty="0">
              <a:latin typeface="黑体" panose="02010609060101010101" pitchFamily="49" charset="-122"/>
              <a:ea typeface="黑体" panose="02010609060101010101" pitchFamily="49" charset="-122"/>
              <a:cs typeface="黑体" panose="02010609060101010101" pitchFamily="49" charset="-122"/>
            </a:endParaRPr>
          </a:p>
        </p:txBody>
      </p:sp>
      <p:graphicFrame>
        <p:nvGraphicFramePr>
          <p:cNvPr id="12291" name="Object 6"/>
          <p:cNvGraphicFramePr/>
          <p:nvPr/>
        </p:nvGraphicFramePr>
        <p:xfrm>
          <a:off x="6661150" y="1831975"/>
          <a:ext cx="1146175" cy="471488"/>
        </p:xfrm>
        <a:graphic>
          <a:graphicData uri="http://schemas.openxmlformats.org/presentationml/2006/ole">
            <mc:AlternateContent xmlns:mc="http://schemas.openxmlformats.org/markup-compatibility/2006">
              <mc:Choice xmlns:v="urn:schemas-microsoft-com:vml" Requires="v">
                <p:oleObj spid="_x0000_s25601" name="Equation" r:id="rId1" imgW="14020800" imgH="6096000" progId="Equation.DSMT4">
                  <p:embed/>
                </p:oleObj>
              </mc:Choice>
              <mc:Fallback>
                <p:oleObj name="Equation" r:id="rId1" imgW="14020800" imgH="6096000" progId="Equation.DSMT4">
                  <p:embed/>
                  <p:pic>
                    <p:nvPicPr>
                      <p:cNvPr id="0" name="图片 3127"/>
                      <p:cNvPicPr/>
                      <p:nvPr/>
                    </p:nvPicPr>
                    <p:blipFill>
                      <a:blip r:embed="rId2"/>
                      <a:stretch>
                        <a:fillRect/>
                      </a:stretch>
                    </p:blipFill>
                    <p:spPr>
                      <a:xfrm>
                        <a:off x="6661150" y="1831975"/>
                        <a:ext cx="1146175" cy="471488"/>
                      </a:xfrm>
                      <a:prstGeom prst="rect">
                        <a:avLst/>
                      </a:prstGeom>
                      <a:noFill/>
                      <a:ln w="38100">
                        <a:noFill/>
                        <a:miter/>
                      </a:ln>
                    </p:spPr>
                  </p:pic>
                </p:oleObj>
              </mc:Fallback>
            </mc:AlternateContent>
          </a:graphicData>
        </a:graphic>
      </p:graphicFrame>
      <p:graphicFrame>
        <p:nvGraphicFramePr>
          <p:cNvPr id="12293" name="Object 8"/>
          <p:cNvGraphicFramePr/>
          <p:nvPr/>
        </p:nvGraphicFramePr>
        <p:xfrm>
          <a:off x="2514600" y="3225800"/>
          <a:ext cx="7372350" cy="3236913"/>
        </p:xfrm>
        <a:graphic>
          <a:graphicData uri="http://schemas.openxmlformats.org/presentationml/2006/ole">
            <mc:AlternateContent xmlns:mc="http://schemas.openxmlformats.org/markup-compatibility/2006">
              <mc:Choice xmlns:v="urn:schemas-microsoft-com:vml" Requires="v">
                <p:oleObj spid="_x0000_s2" name="Equation" r:id="rId3" imgW="85648800" imgH="45720000" progId="Equation.DSMT4">
                  <p:embed/>
                </p:oleObj>
              </mc:Choice>
              <mc:Fallback>
                <p:oleObj name="Equation" r:id="rId3" imgW="85648800" imgH="45720000" progId="Equation.DSMT4">
                  <p:embed/>
                  <p:pic>
                    <p:nvPicPr>
                      <p:cNvPr id="0" name="图片 3129"/>
                      <p:cNvPicPr/>
                      <p:nvPr/>
                    </p:nvPicPr>
                    <p:blipFill>
                      <a:blip r:embed="rId4"/>
                      <a:stretch>
                        <a:fillRect/>
                      </a:stretch>
                    </p:blipFill>
                    <p:spPr>
                      <a:xfrm>
                        <a:off x="2514600" y="3225800"/>
                        <a:ext cx="7372350" cy="3236913"/>
                      </a:xfrm>
                      <a:prstGeom prst="rect">
                        <a:avLst/>
                      </a:prstGeom>
                      <a:noFill/>
                      <a:ln w="38100">
                        <a:noFill/>
                        <a:miter/>
                      </a:ln>
                    </p:spPr>
                  </p:pic>
                </p:oleObj>
              </mc:Fallback>
            </mc:AlternateContent>
          </a:graphicData>
        </a:graphic>
      </p:graphicFrame>
      <p:sp>
        <p:nvSpPr>
          <p:cNvPr id="12294" name="Text Box 9"/>
          <p:cNvSpPr txBox="1"/>
          <p:nvPr/>
        </p:nvSpPr>
        <p:spPr>
          <a:xfrm>
            <a:off x="2514600" y="2601596"/>
            <a:ext cx="3724096" cy="476669"/>
          </a:xfrm>
          <a:prstGeom prst="rect">
            <a:avLst/>
          </a:prstGeom>
          <a:noFill/>
          <a:ln w="9525">
            <a:noFill/>
          </a:ln>
        </p:spPr>
        <p:txBody>
          <a:bodyPr wrap="none" anchor="t">
            <a:spAutoFit/>
          </a:bodyPr>
          <a:lstStyle/>
          <a:p>
            <a:pPr>
              <a:lnSpc>
                <a:spcPct val="120000"/>
              </a:lnSpc>
            </a:pPr>
            <a:r>
              <a:rPr lang="en-US" altLang="zh-CN" sz="2400" dirty="0">
                <a:latin typeface="黑体" panose="02010609060101010101" pitchFamily="49" charset="-122"/>
                <a:ea typeface="黑体" panose="02010609060101010101" pitchFamily="49" charset="-122"/>
              </a:rPr>
              <a:t>2</a:t>
            </a:r>
            <a:r>
              <a:rPr lang="zh-CN" altLang="en-US" sz="2400" dirty="0">
                <a:latin typeface="黑体" panose="02010609060101010101" pitchFamily="49" charset="-122"/>
                <a:ea typeface="黑体" panose="02010609060101010101" pitchFamily="49" charset="-122"/>
              </a:rPr>
              <a:t>、同方差性；无自相关。</a:t>
            </a:r>
            <a:endParaRPr lang="zh-CN" altLang="en-US" sz="2400" dirty="0">
              <a:latin typeface="黑体" panose="02010609060101010101" pitchFamily="49" charset="-122"/>
              <a:ea typeface="黑体" panose="02010609060101010101" pitchFamily="49" charset="-122"/>
            </a:endParaRPr>
          </a:p>
        </p:txBody>
      </p:sp>
      <p:sp>
        <p:nvSpPr>
          <p:cNvPr id="12295" name="灯片编号占位符 9"/>
          <p:cNvSpPr>
            <a:spLocks noGrp="1"/>
          </p:cNvSpPr>
          <p:nvPr>
            <p:ph type="sldNum" sz="quarter" idx="12"/>
          </p:nvPr>
        </p:nvSpPr>
        <p:spPr/>
        <p:txBody>
          <a:bodyPr vert="horz" wrap="square" lIns="91440" tIns="45720" rIns="91440" bIns="45720" rtlCol="0" anchor="b">
            <a:no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algn="r"/>
            <a:fld id="{9A0DB2DC-4C9A-4742-B13C-FB6460FD3503}" type="slidenum">
              <a:rPr lang="en-US" altLang="zh-CN" sz="2400" dirty="0">
                <a:latin typeface="黑体" panose="02010609060101010101" pitchFamily="49" charset="-122"/>
                <a:ea typeface="黑体" panose="02010609060101010101" pitchFamily="49" charset="-122"/>
              </a:rPr>
            </a:fld>
            <a:endParaRPr lang="en-US" altLang="zh-CN" sz="2400" dirty="0">
              <a:latin typeface="黑体" panose="02010609060101010101" pitchFamily="49" charset="-122"/>
              <a:ea typeface="黑体" panose="02010609060101010101" pitchFamily="49" charset="-122"/>
            </a:endParaRPr>
          </a:p>
        </p:txBody>
      </p:sp>
      <p:sp>
        <p:nvSpPr>
          <p:cNvPr id="3" name="文本框 2"/>
          <p:cNvSpPr txBox="1"/>
          <p:nvPr/>
        </p:nvSpPr>
        <p:spPr>
          <a:xfrm>
            <a:off x="2514600" y="1837056"/>
            <a:ext cx="3992880" cy="460375"/>
          </a:xfrm>
          <a:prstGeom prst="rect">
            <a:avLst/>
          </a:prstGeom>
          <a:noFill/>
        </p:spPr>
        <p:txBody>
          <a:bodyPr wrap="none" rtlCol="0" anchor="t">
            <a:spAutoFit/>
          </a:bodyPr>
          <a:lstStyle/>
          <a:p>
            <a:r>
              <a:rPr lang="en-US" altLang="zh-CN" sz="2400" dirty="0">
                <a:latin typeface="黑体" panose="02010609060101010101" pitchFamily="49" charset="-122"/>
                <a:ea typeface="黑体" panose="02010609060101010101" pitchFamily="49" charset="-122"/>
                <a:cs typeface="黑体" panose="02010609060101010101" pitchFamily="49" charset="-122"/>
                <a:sym typeface="+mn-ea"/>
              </a:rPr>
              <a:t>1</a:t>
            </a:r>
            <a:r>
              <a:rPr lang="zh-CN" altLang="en-US" sz="2400" dirty="0">
                <a:latin typeface="黑体" panose="02010609060101010101" pitchFamily="49" charset="-122"/>
                <a:ea typeface="黑体" panose="02010609060101010101" pitchFamily="49" charset="-122"/>
                <a:cs typeface="黑体" panose="02010609060101010101" pitchFamily="49" charset="-122"/>
                <a:sym typeface="+mn-ea"/>
              </a:rPr>
              <a:t>、随机误差项的零均值假定</a:t>
            </a:r>
            <a:endParaRPr lang="zh-CN" altLang="en-US" sz="2400" dirty="0">
              <a:latin typeface="黑体" panose="02010609060101010101" pitchFamily="49" charset="-122"/>
              <a:ea typeface="黑体" panose="02010609060101010101" pitchFamily="49" charset="-122"/>
              <a:cs typeface="黑体" panose="02010609060101010101" pitchFamily="49" charset="-122"/>
              <a:sym typeface="+mn-ea"/>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313" name="Object 3"/>
          <p:cNvGraphicFramePr/>
          <p:nvPr/>
        </p:nvGraphicFramePr>
        <p:xfrm>
          <a:off x="6583363" y="2511425"/>
          <a:ext cx="1833562" cy="495300"/>
        </p:xfrm>
        <a:graphic>
          <a:graphicData uri="http://schemas.openxmlformats.org/presentationml/2006/ole">
            <mc:AlternateContent xmlns:mc="http://schemas.openxmlformats.org/markup-compatibility/2006">
              <mc:Choice xmlns:v="urn:schemas-microsoft-com:vml" Requires="v">
                <p:oleObj spid="_x0000_s25601" name="Equation" r:id="rId1" imgW="20726400" imgH="5486400" progId="Equation.DSMT4">
                  <p:embed/>
                </p:oleObj>
              </mc:Choice>
              <mc:Fallback>
                <p:oleObj name="Equation" r:id="rId1" imgW="20726400" imgH="5486400" progId="Equation.DSMT4">
                  <p:embed/>
                  <p:pic>
                    <p:nvPicPr>
                      <p:cNvPr id="0" name="图片 3132"/>
                      <p:cNvPicPr/>
                      <p:nvPr/>
                    </p:nvPicPr>
                    <p:blipFill>
                      <a:blip r:embed="rId2"/>
                      <a:stretch>
                        <a:fillRect/>
                      </a:stretch>
                    </p:blipFill>
                    <p:spPr>
                      <a:xfrm>
                        <a:off x="6583363" y="2511425"/>
                        <a:ext cx="1833562" cy="495300"/>
                      </a:xfrm>
                      <a:prstGeom prst="rect">
                        <a:avLst/>
                      </a:prstGeom>
                      <a:noFill/>
                      <a:ln w="38100">
                        <a:noFill/>
                        <a:miter/>
                      </a:ln>
                    </p:spPr>
                  </p:pic>
                </p:oleObj>
              </mc:Fallback>
            </mc:AlternateContent>
          </a:graphicData>
        </a:graphic>
      </p:graphicFrame>
      <p:sp>
        <p:nvSpPr>
          <p:cNvPr id="13314" name="Text Box 5"/>
          <p:cNvSpPr txBox="1"/>
          <p:nvPr/>
        </p:nvSpPr>
        <p:spPr>
          <a:xfrm>
            <a:off x="2454166" y="3492062"/>
            <a:ext cx="8065136" cy="945041"/>
          </a:xfrm>
          <a:prstGeom prst="rect">
            <a:avLst/>
          </a:prstGeom>
          <a:noFill/>
          <a:ln w="9525">
            <a:noFill/>
          </a:ln>
        </p:spPr>
        <p:txBody>
          <a:bodyPr wrap="square" anchor="t">
            <a:spAutoFit/>
          </a:bodyPr>
          <a:lstStyle/>
          <a:p>
            <a:pPr>
              <a:lnSpc>
                <a:spcPct val="120000"/>
              </a:lnSpc>
            </a:pPr>
            <a:r>
              <a:rPr lang="en-US" altLang="zh-CN" sz="2400" dirty="0">
                <a:latin typeface="Times New Roman" panose="02020503050405090304" pitchFamily="18" charset="0"/>
                <a:ea typeface="黑体" panose="02010609060101010101" pitchFamily="49" charset="-122"/>
                <a:cs typeface="Times New Roman" panose="02020503050405090304" pitchFamily="18" charset="0"/>
              </a:rPr>
              <a:t>5</a:t>
            </a:r>
            <a:r>
              <a:rPr lang="zh-CN" altLang="en-US" sz="2400" dirty="0">
                <a:latin typeface="Times New Roman" panose="02020503050405090304" pitchFamily="18" charset="0"/>
                <a:ea typeface="黑体" panose="02010609060101010101" pitchFamily="49" charset="-122"/>
                <a:cs typeface="Times New Roman" panose="02020503050405090304" pitchFamily="18" charset="0"/>
              </a:rPr>
              <a:t>、自变量之间不存在</a:t>
            </a:r>
            <a:r>
              <a:rPr lang="zh-CN" altLang="en-US" sz="2400" dirty="0">
                <a:solidFill>
                  <a:srgbClr val="FF0000"/>
                </a:solidFill>
                <a:latin typeface="Times New Roman" panose="02020503050405090304" pitchFamily="18" charset="0"/>
                <a:ea typeface="黑体" panose="02010609060101010101" pitchFamily="49" charset="-122"/>
                <a:cs typeface="Times New Roman" panose="02020503050405090304" pitchFamily="18" charset="0"/>
              </a:rPr>
              <a:t>多重共线性</a:t>
            </a:r>
            <a:r>
              <a:rPr lang="zh-CN" altLang="en-US" sz="2400" dirty="0">
                <a:latin typeface="Times New Roman" panose="02020503050405090304" pitchFamily="18" charset="0"/>
                <a:ea typeface="黑体" panose="02010609060101010101" pitchFamily="49" charset="-122"/>
                <a:cs typeface="Times New Roman" panose="02020503050405090304" pitchFamily="18" charset="0"/>
              </a:rPr>
              <a:t>，</a:t>
            </a:r>
            <a:endParaRPr lang="zh-CN" altLang="en-US" sz="2400" dirty="0">
              <a:latin typeface="Times New Roman" panose="02020503050405090304" pitchFamily="18" charset="0"/>
              <a:ea typeface="黑体" panose="02010609060101010101" pitchFamily="49" charset="-122"/>
              <a:cs typeface="Times New Roman" panose="02020503050405090304" pitchFamily="18" charset="0"/>
            </a:endParaRPr>
          </a:p>
          <a:p>
            <a:pPr>
              <a:lnSpc>
                <a:spcPct val="120000"/>
              </a:lnSpc>
            </a:pPr>
            <a:r>
              <a:rPr lang="zh-CN" altLang="en-US" sz="2400" dirty="0">
                <a:latin typeface="Times New Roman" panose="02020503050405090304" pitchFamily="18" charset="0"/>
                <a:ea typeface="黑体" panose="02010609060101010101" pitchFamily="49" charset="-122"/>
                <a:cs typeface="Times New Roman" panose="02020503050405090304" pitchFamily="18" charset="0"/>
              </a:rPr>
              <a:t>即</a:t>
            </a:r>
            <a:r>
              <a:rPr lang="en-US" altLang="zh-CN" sz="2400" i="1" dirty="0">
                <a:latin typeface="Times New Roman" panose="02020503050405090304" pitchFamily="18" charset="0"/>
                <a:ea typeface="黑体" panose="02010609060101010101" pitchFamily="49" charset="-122"/>
                <a:cs typeface="Times New Roman" panose="02020503050405090304" pitchFamily="18" charset="0"/>
              </a:rPr>
              <a:t>X</a:t>
            </a:r>
            <a:r>
              <a:rPr lang="en-US" altLang="zh-CN" sz="2400" i="1" baseline="-25000" dirty="0">
                <a:latin typeface="Times New Roman" panose="02020503050405090304" pitchFamily="18" charset="0"/>
                <a:ea typeface="黑体" panose="02010609060101010101" pitchFamily="49" charset="-122"/>
                <a:cs typeface="Times New Roman" panose="02020503050405090304" pitchFamily="18" charset="0"/>
              </a:rPr>
              <a:t>i</a:t>
            </a:r>
            <a:r>
              <a:rPr lang="en-US" altLang="zh-CN" sz="2400" baseline="-25000" dirty="0">
                <a:latin typeface="Times New Roman" panose="02020503050405090304" pitchFamily="18" charset="0"/>
                <a:ea typeface="黑体" panose="02010609060101010101" pitchFamily="49" charset="-122"/>
                <a:cs typeface="Times New Roman" panose="02020503050405090304" pitchFamily="18" charset="0"/>
              </a:rPr>
              <a:t> </a:t>
            </a:r>
            <a:r>
              <a:rPr lang="en-US" altLang="zh-CN" sz="2400" dirty="0">
                <a:latin typeface="Times New Roman" panose="02020503050405090304" pitchFamily="18" charset="0"/>
                <a:ea typeface="黑体" panose="02010609060101010101" pitchFamily="49" charset="-122"/>
                <a:cs typeface="Times New Roman" panose="02020503050405090304" pitchFamily="18" charset="0"/>
              </a:rPr>
              <a:t>(</a:t>
            </a:r>
            <a:r>
              <a:rPr lang="en-US" altLang="zh-CN" sz="2400" i="1" dirty="0">
                <a:latin typeface="Times New Roman" panose="02020503050405090304" pitchFamily="18" charset="0"/>
                <a:ea typeface="黑体" panose="02010609060101010101" pitchFamily="49" charset="-122"/>
                <a:cs typeface="Times New Roman" panose="02020503050405090304" pitchFamily="18" charset="0"/>
              </a:rPr>
              <a:t>i</a:t>
            </a:r>
            <a:r>
              <a:rPr lang="en-US" altLang="zh-CN" sz="2400" dirty="0">
                <a:latin typeface="Times New Roman" panose="02020503050405090304" pitchFamily="18" charset="0"/>
                <a:ea typeface="黑体" panose="02010609060101010101" pitchFamily="49" charset="-122"/>
                <a:cs typeface="Times New Roman" panose="02020503050405090304" pitchFamily="18" charset="0"/>
              </a:rPr>
              <a:t> = 1,2,3, …,</a:t>
            </a:r>
            <a:r>
              <a:rPr lang="en-US" altLang="zh-CN" sz="2400" i="1" dirty="0">
                <a:latin typeface="Times New Roman" panose="02020503050405090304" pitchFamily="18" charset="0"/>
                <a:ea typeface="黑体" panose="02010609060101010101" pitchFamily="49" charset="-122"/>
                <a:cs typeface="Times New Roman" panose="02020503050405090304" pitchFamily="18" charset="0"/>
              </a:rPr>
              <a:t>k</a:t>
            </a:r>
            <a:r>
              <a:rPr lang="en-US" altLang="zh-CN" sz="2400" dirty="0">
                <a:latin typeface="Times New Roman" panose="02020503050405090304" pitchFamily="18" charset="0"/>
                <a:ea typeface="黑体" panose="02010609060101010101" pitchFamily="49" charset="-122"/>
                <a:cs typeface="Times New Roman" panose="02020503050405090304" pitchFamily="18" charset="0"/>
              </a:rPr>
              <a:t> )</a:t>
            </a:r>
            <a:r>
              <a:rPr lang="zh-CN" altLang="en-US" sz="2400" dirty="0">
                <a:latin typeface="Times New Roman" panose="02020503050405090304" pitchFamily="18" charset="0"/>
                <a:ea typeface="黑体" panose="02010609060101010101" pitchFamily="49" charset="-122"/>
                <a:cs typeface="Times New Roman" panose="02020503050405090304" pitchFamily="18" charset="0"/>
              </a:rPr>
              <a:t>之间不存在线性关系。</a:t>
            </a:r>
            <a:endParaRPr lang="zh-CN" altLang="en-US" sz="2400" dirty="0">
              <a:latin typeface="Times New Roman" panose="02020503050405090304" pitchFamily="18" charset="0"/>
              <a:ea typeface="黑体" panose="02010609060101010101" pitchFamily="49" charset="-122"/>
              <a:cs typeface="Times New Roman" panose="02020503050405090304" pitchFamily="18" charset="0"/>
            </a:endParaRPr>
          </a:p>
        </p:txBody>
      </p:sp>
      <p:sp>
        <p:nvSpPr>
          <p:cNvPr id="13315" name="Rectangle 12"/>
          <p:cNvSpPr/>
          <p:nvPr/>
        </p:nvSpPr>
        <p:spPr>
          <a:xfrm>
            <a:off x="2438401" y="784861"/>
            <a:ext cx="6793865" cy="460375"/>
          </a:xfrm>
          <a:prstGeom prst="rect">
            <a:avLst/>
          </a:prstGeom>
          <a:noFill/>
          <a:ln w="9525">
            <a:noFill/>
          </a:ln>
        </p:spPr>
        <p:txBody>
          <a:bodyPr wrap="square" anchor="t">
            <a:spAutoFit/>
          </a:bodyPr>
          <a:lstStyle/>
          <a:p>
            <a:r>
              <a:rPr lang="en-US" altLang="zh-CN" sz="2400" dirty="0">
                <a:latin typeface="黑体" panose="02010609060101010101" pitchFamily="49" charset="-122"/>
                <a:ea typeface="黑体" panose="02010609060101010101" pitchFamily="49" charset="-122"/>
                <a:cs typeface="黑体" panose="02010609060101010101" pitchFamily="49" charset="-122"/>
              </a:rPr>
              <a:t>3</a:t>
            </a:r>
            <a:r>
              <a:rPr lang="zh-CN" altLang="en-US" sz="2400" dirty="0">
                <a:latin typeface="黑体" panose="02010609060101010101" pitchFamily="49" charset="-122"/>
                <a:ea typeface="黑体" panose="02010609060101010101" pitchFamily="49" charset="-122"/>
                <a:cs typeface="黑体" panose="02010609060101010101" pitchFamily="49" charset="-122"/>
              </a:rPr>
              <a:t>、随机误差项与自变量不相关 </a:t>
            </a:r>
            <a:endParaRPr lang="zh-CN" altLang="en-US" sz="2400" dirty="0">
              <a:latin typeface="黑体" panose="02010609060101010101" pitchFamily="49" charset="-122"/>
              <a:ea typeface="黑体" panose="02010609060101010101" pitchFamily="49" charset="-122"/>
              <a:cs typeface="黑体" panose="02010609060101010101" pitchFamily="49" charset="-122"/>
            </a:endParaRPr>
          </a:p>
        </p:txBody>
      </p:sp>
      <p:sp>
        <p:nvSpPr>
          <p:cNvPr id="13316" name="灯片编号占位符 6"/>
          <p:cNvSpPr>
            <a:spLocks noGrp="1"/>
          </p:cNvSpPr>
          <p:nvPr>
            <p:ph type="sldNum" sz="quarter" idx="12"/>
          </p:nvPr>
        </p:nvSpPr>
        <p:spPr/>
        <p:txBody>
          <a:bodyPr vert="horz" wrap="square" lIns="91440" tIns="45720" rIns="91440" bIns="45720" rtlCol="0" anchor="b">
            <a:norm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algn="r"/>
            <a:fld id="{9A0DB2DC-4C9A-4742-B13C-FB6460FD3503}" type="slidenum">
              <a:rPr lang="en-US" altLang="zh-CN" sz="1400" dirty="0"/>
            </a:fld>
            <a:endParaRPr lang="en-US" altLang="zh-CN" sz="1400" dirty="0"/>
          </a:p>
        </p:txBody>
      </p:sp>
      <p:graphicFrame>
        <p:nvGraphicFramePr>
          <p:cNvPr id="2" name="Object 3"/>
          <p:cNvGraphicFramePr/>
          <p:nvPr/>
        </p:nvGraphicFramePr>
        <p:xfrm>
          <a:off x="2605088" y="1633538"/>
          <a:ext cx="5205412" cy="523875"/>
        </p:xfrm>
        <a:graphic>
          <a:graphicData uri="http://schemas.openxmlformats.org/presentationml/2006/ole">
            <mc:AlternateContent xmlns:mc="http://schemas.openxmlformats.org/markup-compatibility/2006">
              <mc:Choice xmlns:v="urn:schemas-microsoft-com:vml" Requires="v">
                <p:oleObj spid="_x0000_s3" name="Equation" r:id="rId3" imgW="58826400" imgH="5791200" progId="Equation.DSMT4">
                  <p:embed/>
                </p:oleObj>
              </mc:Choice>
              <mc:Fallback>
                <p:oleObj name="Equation" r:id="rId3" imgW="58826400" imgH="5791200" progId="Equation.DSMT4">
                  <p:embed/>
                  <p:pic>
                    <p:nvPicPr>
                      <p:cNvPr id="0" name="图片 3132"/>
                      <p:cNvPicPr/>
                      <p:nvPr/>
                    </p:nvPicPr>
                    <p:blipFill>
                      <a:blip r:embed="rId4"/>
                      <a:stretch>
                        <a:fillRect/>
                      </a:stretch>
                    </p:blipFill>
                    <p:spPr>
                      <a:xfrm>
                        <a:off x="2605088" y="1633538"/>
                        <a:ext cx="5205412" cy="523875"/>
                      </a:xfrm>
                      <a:prstGeom prst="rect">
                        <a:avLst/>
                      </a:prstGeom>
                      <a:noFill/>
                      <a:ln w="38100">
                        <a:noFill/>
                        <a:miter/>
                      </a:ln>
                    </p:spPr>
                  </p:pic>
                </p:oleObj>
              </mc:Fallback>
            </mc:AlternateContent>
          </a:graphicData>
        </a:graphic>
      </p:graphicFrame>
      <p:sp>
        <p:nvSpPr>
          <p:cNvPr id="4" name="文本框 3"/>
          <p:cNvSpPr txBox="1"/>
          <p:nvPr/>
        </p:nvSpPr>
        <p:spPr>
          <a:xfrm>
            <a:off x="2438400" y="2545716"/>
            <a:ext cx="3992880" cy="460375"/>
          </a:xfrm>
          <a:prstGeom prst="rect">
            <a:avLst/>
          </a:prstGeom>
          <a:noFill/>
        </p:spPr>
        <p:txBody>
          <a:bodyPr wrap="none" rtlCol="0" anchor="t">
            <a:spAutoFit/>
          </a:bodyPr>
          <a:lstStyle/>
          <a:p>
            <a:r>
              <a:rPr lang="en-US" altLang="zh-CN" sz="2400" dirty="0">
                <a:latin typeface="黑体" panose="02010609060101010101" pitchFamily="49" charset="-122"/>
                <a:ea typeface="黑体" panose="02010609060101010101" pitchFamily="49" charset="-122"/>
                <a:cs typeface="黑体" panose="02010609060101010101" pitchFamily="49" charset="-122"/>
                <a:sym typeface="+mn-ea"/>
              </a:rPr>
              <a:t>4</a:t>
            </a:r>
            <a:r>
              <a:rPr lang="zh-CN" altLang="en-US" sz="2400" dirty="0">
                <a:latin typeface="黑体" panose="02010609060101010101" pitchFamily="49" charset="-122"/>
                <a:ea typeface="黑体" panose="02010609060101010101" pitchFamily="49" charset="-122"/>
                <a:cs typeface="黑体" panose="02010609060101010101" pitchFamily="49" charset="-122"/>
                <a:sym typeface="+mn-ea"/>
              </a:rPr>
              <a:t>、随机误差项服从正态分布</a:t>
            </a:r>
            <a:endParaRPr lang="zh-CN" altLang="en-US" sz="2400" dirty="0">
              <a:latin typeface="黑体" panose="02010609060101010101" pitchFamily="49" charset="-122"/>
              <a:ea typeface="黑体" panose="02010609060101010101" pitchFamily="49" charset="-122"/>
              <a:cs typeface="黑体" panose="02010609060101010101" pitchFamily="49" charset="-122"/>
              <a:sym typeface="+mn-ea"/>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Text Box 2"/>
          <p:cNvSpPr txBox="1"/>
          <p:nvPr/>
        </p:nvSpPr>
        <p:spPr>
          <a:xfrm>
            <a:off x="2277746" y="2249171"/>
            <a:ext cx="7637145" cy="476669"/>
          </a:xfrm>
          <a:prstGeom prst="rect">
            <a:avLst/>
          </a:prstGeom>
          <a:noFill/>
          <a:ln w="9525">
            <a:noFill/>
          </a:ln>
        </p:spPr>
        <p:txBody>
          <a:bodyPr wrap="square" anchor="t">
            <a:spAutoFit/>
          </a:bodyPr>
          <a:lstStyle/>
          <a:p>
            <a:pPr>
              <a:lnSpc>
                <a:spcPct val="120000"/>
              </a:lnSpc>
            </a:pPr>
            <a:r>
              <a:rPr lang="zh-CN" altLang="en-US" sz="2400" dirty="0">
                <a:latin typeface="黑体" panose="02010609060101010101" pitchFamily="49" charset="-122"/>
                <a:ea typeface="黑体" panose="02010609060101010101" pitchFamily="49" charset="-122"/>
                <a:cs typeface="黑体" panose="02010609060101010101" pitchFamily="49" charset="-122"/>
              </a:rPr>
              <a:t>根据</a:t>
            </a:r>
            <a:r>
              <a:rPr lang="zh-CN" altLang="en-US" sz="2400" dirty="0">
                <a:solidFill>
                  <a:srgbClr val="FF0000"/>
                </a:solidFill>
                <a:latin typeface="黑体" panose="02010609060101010101" pitchFamily="49" charset="-122"/>
                <a:ea typeface="黑体" panose="02010609060101010101" pitchFamily="49" charset="-122"/>
                <a:cs typeface="黑体" panose="02010609060101010101" pitchFamily="49" charset="-122"/>
              </a:rPr>
              <a:t>误差平方和最小化</a:t>
            </a:r>
            <a:r>
              <a:rPr lang="zh-CN" altLang="en-US" sz="2400" dirty="0">
                <a:latin typeface="黑体" panose="02010609060101010101" pitchFamily="49" charset="-122"/>
                <a:ea typeface="黑体" panose="02010609060101010101" pitchFamily="49" charset="-122"/>
                <a:cs typeface="黑体" panose="02010609060101010101" pitchFamily="49" charset="-122"/>
              </a:rPr>
              <a:t>的原理，解出参数的估计量。</a:t>
            </a:r>
            <a:endParaRPr lang="zh-CN" altLang="en-US" sz="2400" dirty="0">
              <a:latin typeface="黑体" panose="02010609060101010101" pitchFamily="49" charset="-122"/>
              <a:ea typeface="黑体" panose="02010609060101010101" pitchFamily="49" charset="-122"/>
              <a:cs typeface="黑体" panose="02010609060101010101" pitchFamily="49" charset="-122"/>
            </a:endParaRPr>
          </a:p>
        </p:txBody>
      </p:sp>
      <p:sp>
        <p:nvSpPr>
          <p:cNvPr id="14338" name="Text Box 5"/>
          <p:cNvSpPr txBox="1"/>
          <p:nvPr/>
        </p:nvSpPr>
        <p:spPr>
          <a:xfrm>
            <a:off x="2270761" y="391796"/>
            <a:ext cx="3869055" cy="604781"/>
          </a:xfrm>
          <a:prstGeom prst="rect">
            <a:avLst/>
          </a:prstGeom>
          <a:noFill/>
          <a:ln w="9525">
            <a:noFill/>
          </a:ln>
        </p:spPr>
        <p:txBody>
          <a:bodyPr wrap="square" anchor="t">
            <a:spAutoFit/>
          </a:bodyPr>
          <a:lstStyle/>
          <a:p>
            <a:pPr>
              <a:lnSpc>
                <a:spcPct val="120000"/>
              </a:lnSpc>
            </a:pPr>
            <a:r>
              <a:rPr lang="zh-CN" altLang="en-US" sz="3200" b="1" dirty="0">
                <a:latin typeface="黑体" panose="02010609060101010101" pitchFamily="49" charset="-122"/>
                <a:ea typeface="黑体" panose="02010609060101010101" pitchFamily="49" charset="-122"/>
              </a:rPr>
              <a:t>三、参数估计</a:t>
            </a:r>
            <a:endParaRPr lang="zh-CN" altLang="en-US" sz="3200" b="1" dirty="0">
              <a:latin typeface="黑体" panose="02010609060101010101" pitchFamily="49" charset="-122"/>
              <a:ea typeface="黑体" panose="02010609060101010101" pitchFamily="49" charset="-122"/>
            </a:endParaRPr>
          </a:p>
        </p:txBody>
      </p:sp>
      <p:graphicFrame>
        <p:nvGraphicFramePr>
          <p:cNvPr id="14339" name="Object 6"/>
          <p:cNvGraphicFramePr/>
          <p:nvPr/>
        </p:nvGraphicFramePr>
        <p:xfrm>
          <a:off x="2322513" y="3098800"/>
          <a:ext cx="7162800" cy="2476500"/>
        </p:xfrm>
        <a:graphic>
          <a:graphicData uri="http://schemas.openxmlformats.org/presentationml/2006/ole">
            <mc:AlternateContent xmlns:mc="http://schemas.openxmlformats.org/markup-compatibility/2006">
              <mc:Choice xmlns:v="urn:schemas-microsoft-com:vml" Requires="v">
                <p:oleObj spid="_x0000_s25601" name="Equation" r:id="rId1" imgW="89306400" imgH="29260800" progId="Equation.DSMT4">
                  <p:embed/>
                </p:oleObj>
              </mc:Choice>
              <mc:Fallback>
                <p:oleObj name="Equation" r:id="rId1" imgW="89306400" imgH="29260800" progId="Equation.DSMT4">
                  <p:embed/>
                  <p:pic>
                    <p:nvPicPr>
                      <p:cNvPr id="0" name="图片 3133"/>
                      <p:cNvPicPr/>
                      <p:nvPr/>
                    </p:nvPicPr>
                    <p:blipFill>
                      <a:blip r:embed="rId2"/>
                      <a:stretch>
                        <a:fillRect/>
                      </a:stretch>
                    </p:blipFill>
                    <p:spPr>
                      <a:xfrm>
                        <a:off x="2322513" y="3098800"/>
                        <a:ext cx="7162800" cy="2476500"/>
                      </a:xfrm>
                      <a:prstGeom prst="rect">
                        <a:avLst/>
                      </a:prstGeom>
                      <a:noFill/>
                      <a:ln w="38100">
                        <a:noFill/>
                        <a:miter/>
                      </a:ln>
                    </p:spPr>
                  </p:pic>
                </p:oleObj>
              </mc:Fallback>
            </mc:AlternateContent>
          </a:graphicData>
        </a:graphic>
      </p:graphicFrame>
      <p:sp>
        <p:nvSpPr>
          <p:cNvPr id="14340" name="Rectangle 9"/>
          <p:cNvSpPr/>
          <p:nvPr/>
        </p:nvSpPr>
        <p:spPr>
          <a:xfrm>
            <a:off x="2270761" y="1313181"/>
            <a:ext cx="5041265" cy="460375"/>
          </a:xfrm>
          <a:prstGeom prst="rect">
            <a:avLst/>
          </a:prstGeom>
          <a:noFill/>
          <a:ln w="9525">
            <a:noFill/>
          </a:ln>
        </p:spPr>
        <p:txBody>
          <a:bodyPr wrap="square" anchor="t">
            <a:spAutoFit/>
          </a:bodyPr>
          <a:lstStyle/>
          <a:p>
            <a:r>
              <a:rPr lang="zh-CN" altLang="en-US" sz="2400" dirty="0">
                <a:latin typeface="黑体" panose="02010609060101010101" pitchFamily="49" charset="-122"/>
                <a:ea typeface="黑体" panose="02010609060101010101" pitchFamily="49" charset="-122"/>
                <a:cs typeface="黑体" panose="02010609060101010101" pitchFamily="49" charset="-122"/>
              </a:rPr>
              <a:t>一、参数的最小二乘估计 </a:t>
            </a:r>
            <a:endParaRPr lang="zh-CN" altLang="en-US" sz="2400" dirty="0">
              <a:latin typeface="黑体" panose="02010609060101010101" pitchFamily="49" charset="-122"/>
              <a:ea typeface="黑体" panose="02010609060101010101" pitchFamily="49" charset="-122"/>
              <a:cs typeface="黑体" panose="02010609060101010101" pitchFamily="49" charset="-122"/>
            </a:endParaRPr>
          </a:p>
        </p:txBody>
      </p:sp>
      <p:sp>
        <p:nvSpPr>
          <p:cNvPr id="14341" name="灯片编号占位符 7"/>
          <p:cNvSpPr>
            <a:spLocks noGrp="1"/>
          </p:cNvSpPr>
          <p:nvPr>
            <p:ph type="sldNum" sz="quarter" idx="12"/>
          </p:nvPr>
        </p:nvSpPr>
        <p:spPr/>
        <p:txBody>
          <a:bodyPr vert="horz" wrap="square" lIns="91440" tIns="45720" rIns="91440" bIns="45720" rtlCol="0" anchor="b">
            <a:no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algn="r"/>
            <a:fld id="{9A0DB2DC-4C9A-4742-B13C-FB6460FD3503}" type="slidenum">
              <a:rPr lang="en-US" altLang="zh-CN" sz="2400" dirty="0">
                <a:latin typeface="黑体" panose="02010609060101010101" pitchFamily="49" charset="-122"/>
                <a:ea typeface="黑体" panose="02010609060101010101" pitchFamily="49" charset="-122"/>
              </a:rPr>
            </a:fld>
            <a:endParaRPr lang="en-US" altLang="zh-CN" sz="2400" dirty="0">
              <a:latin typeface="黑体" panose="02010609060101010101" pitchFamily="49" charset="-122"/>
              <a:ea typeface="黑体" panose="02010609060101010101" pitchFamily="49"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361" name="Object 2"/>
          <p:cNvGraphicFramePr/>
          <p:nvPr/>
        </p:nvGraphicFramePr>
        <p:xfrm>
          <a:off x="3049622" y="1942641"/>
          <a:ext cx="4910137" cy="2589213"/>
        </p:xfrm>
        <a:graphic>
          <a:graphicData uri="http://schemas.openxmlformats.org/presentationml/2006/ole">
            <mc:AlternateContent xmlns:mc="http://schemas.openxmlformats.org/markup-compatibility/2006">
              <mc:Choice xmlns:v="urn:schemas-microsoft-com:vml" Requires="v">
                <p:oleObj spid="_x0000_s25601" name="Equation" r:id="rId1" imgW="48768000" imgH="29870400" progId="Equation.DSMT4">
                  <p:embed/>
                </p:oleObj>
              </mc:Choice>
              <mc:Fallback>
                <p:oleObj name="Equation" r:id="rId1" imgW="48768000" imgH="29870400" progId="Equation.DSMT4">
                  <p:embed/>
                  <p:pic>
                    <p:nvPicPr>
                      <p:cNvPr id="0" name="图片 3145"/>
                      <p:cNvPicPr/>
                      <p:nvPr/>
                    </p:nvPicPr>
                    <p:blipFill>
                      <a:blip r:embed="rId2"/>
                      <a:stretch>
                        <a:fillRect/>
                      </a:stretch>
                    </p:blipFill>
                    <p:spPr>
                      <a:xfrm>
                        <a:off x="3049622" y="1942641"/>
                        <a:ext cx="4910137" cy="2589213"/>
                      </a:xfrm>
                      <a:prstGeom prst="rect">
                        <a:avLst/>
                      </a:prstGeom>
                      <a:noFill/>
                      <a:ln w="38100">
                        <a:noFill/>
                        <a:miter/>
                      </a:ln>
                    </p:spPr>
                  </p:pic>
                </p:oleObj>
              </mc:Fallback>
            </mc:AlternateContent>
          </a:graphicData>
        </a:graphic>
      </p:graphicFrame>
      <p:sp>
        <p:nvSpPr>
          <p:cNvPr id="15362" name="Text Box 3"/>
          <p:cNvSpPr txBox="1"/>
          <p:nvPr/>
        </p:nvSpPr>
        <p:spPr>
          <a:xfrm>
            <a:off x="3099435" y="918211"/>
            <a:ext cx="3978910" cy="476669"/>
          </a:xfrm>
          <a:prstGeom prst="rect">
            <a:avLst/>
          </a:prstGeom>
          <a:noFill/>
          <a:ln w="9525">
            <a:noFill/>
          </a:ln>
        </p:spPr>
        <p:txBody>
          <a:bodyPr wrap="square" anchor="t">
            <a:spAutoFit/>
          </a:bodyPr>
          <a:lstStyle/>
          <a:p>
            <a:pPr>
              <a:lnSpc>
                <a:spcPct val="120000"/>
              </a:lnSpc>
            </a:pPr>
            <a:r>
              <a:rPr lang="zh-CN" altLang="en-US" sz="2400" dirty="0">
                <a:latin typeface="黑体" panose="02010609060101010101" pitchFamily="49" charset="-122"/>
                <a:ea typeface="黑体" panose="02010609060101010101" pitchFamily="49" charset="-122"/>
              </a:rPr>
              <a:t>如果直接用矩阵微分，则</a:t>
            </a:r>
            <a:endParaRPr lang="zh-CN" altLang="en-US" sz="2400" dirty="0">
              <a:latin typeface="黑体" panose="02010609060101010101" pitchFamily="49" charset="-122"/>
              <a:ea typeface="黑体" panose="02010609060101010101" pitchFamily="49" charset="-122"/>
            </a:endParaRPr>
          </a:p>
        </p:txBody>
      </p:sp>
      <p:sp>
        <p:nvSpPr>
          <p:cNvPr id="15370" name="Rectangle 13"/>
          <p:cNvSpPr/>
          <p:nvPr/>
        </p:nvSpPr>
        <p:spPr>
          <a:xfrm>
            <a:off x="5885904" y="3492181"/>
            <a:ext cx="2599216" cy="523220"/>
          </a:xfrm>
          <a:prstGeom prst="rect">
            <a:avLst/>
          </a:prstGeom>
          <a:noFill/>
          <a:ln w="9525">
            <a:noFill/>
          </a:ln>
        </p:spPr>
        <p:txBody>
          <a:bodyPr wrap="square" anchor="t">
            <a:spAutoFit/>
          </a:bodyPr>
          <a:lstStyle/>
          <a:p>
            <a:r>
              <a:rPr lang="zh-CN" altLang="en-US" sz="2800" dirty="0">
                <a:solidFill>
                  <a:srgbClr val="FF0000"/>
                </a:solidFill>
                <a:latin typeface="Tahoma" panose="020B0604030504040204" pitchFamily="34" charset="0"/>
                <a:ea typeface="宋体" pitchFamily="2" charset="-122"/>
              </a:rPr>
              <a:t>正规方程组</a:t>
            </a:r>
            <a:endParaRPr lang="zh-CN" altLang="en-US" sz="2800" dirty="0">
              <a:solidFill>
                <a:srgbClr val="FF0000"/>
              </a:solidFill>
              <a:latin typeface="Tahoma" panose="020B0604030504040204" pitchFamily="34" charset="0"/>
              <a:ea typeface="宋体" pitchFamily="2" charset="-122"/>
            </a:endParaRPr>
          </a:p>
        </p:txBody>
      </p:sp>
      <p:sp>
        <p:nvSpPr>
          <p:cNvPr id="15372" name="灯片编号占位符 14"/>
          <p:cNvSpPr>
            <a:spLocks noGrp="1"/>
          </p:cNvSpPr>
          <p:nvPr>
            <p:ph type="sldNum" sz="quarter" idx="12"/>
          </p:nvPr>
        </p:nvSpPr>
        <p:spPr/>
        <p:txBody>
          <a:bodyPr vert="horz" wrap="square" lIns="91440" tIns="45720" rIns="91440" bIns="45720" rtlCol="0" anchor="b">
            <a:no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algn="r"/>
            <a:fld id="{9A0DB2DC-4C9A-4742-B13C-FB6460FD3503}" type="slidenum">
              <a:rPr lang="en-US" altLang="zh-CN" sz="2400" dirty="0">
                <a:latin typeface="黑体" panose="02010609060101010101" pitchFamily="49" charset="-122"/>
                <a:ea typeface="黑体" panose="02010609060101010101" pitchFamily="49" charset="-122"/>
              </a:rPr>
            </a:fld>
            <a:endParaRPr lang="en-US" altLang="zh-CN" sz="2400" dirty="0">
              <a:latin typeface="黑体" panose="02010609060101010101" pitchFamily="49" charset="-122"/>
              <a:ea typeface="黑体" panose="02010609060101010101" pitchFamily="49" charset="-122"/>
            </a:endParaRPr>
          </a:p>
        </p:txBody>
      </p:sp>
      <p:sp>
        <p:nvSpPr>
          <p:cNvPr id="2" name="Rectangle 13"/>
          <p:cNvSpPr/>
          <p:nvPr/>
        </p:nvSpPr>
        <p:spPr>
          <a:xfrm>
            <a:off x="2374816" y="5584335"/>
            <a:ext cx="6441380" cy="523220"/>
          </a:xfrm>
          <a:prstGeom prst="rect">
            <a:avLst/>
          </a:prstGeom>
          <a:noFill/>
          <a:ln w="9525">
            <a:noFill/>
          </a:ln>
        </p:spPr>
        <p:txBody>
          <a:bodyPr wrap="square" anchor="t">
            <a:spAutoFit/>
          </a:bodyPr>
          <a:lstStyle/>
          <a:p>
            <a:r>
              <a:rPr lang="zh-CN" altLang="en-US" sz="2800" dirty="0">
                <a:latin typeface="Tahoma" panose="020B0604030504040204" pitchFamily="34" charset="0"/>
                <a:ea typeface="宋体" pitchFamily="2" charset="-122"/>
              </a:rPr>
              <a:t>极大似然估计法可以获得相同的结果</a:t>
            </a:r>
            <a:endParaRPr lang="zh-CN" altLang="en-US" sz="2800" dirty="0">
              <a:latin typeface="Tahoma" panose="020B0604030504040204" pitchFamily="34" charset="0"/>
              <a:ea typeface="宋体" pitchFamily="2"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363" name="Group 4"/>
          <p:cNvGrpSpPr/>
          <p:nvPr/>
        </p:nvGrpSpPr>
        <p:grpSpPr>
          <a:xfrm>
            <a:off x="1967231" y="445135"/>
            <a:ext cx="2501353" cy="476250"/>
            <a:chOff x="192" y="192"/>
            <a:chExt cx="2194" cy="300"/>
          </a:xfrm>
        </p:grpSpPr>
        <p:sp>
          <p:nvSpPr>
            <p:cNvPr id="15364" name="Text Box 5"/>
            <p:cNvSpPr txBox="1"/>
            <p:nvPr/>
          </p:nvSpPr>
          <p:spPr>
            <a:xfrm>
              <a:off x="192" y="192"/>
              <a:ext cx="2194" cy="300"/>
            </a:xfrm>
            <a:prstGeom prst="rect">
              <a:avLst/>
            </a:prstGeom>
            <a:noFill/>
            <a:ln w="9525">
              <a:noFill/>
            </a:ln>
          </p:spPr>
          <p:txBody>
            <a:bodyPr wrap="square" anchor="t">
              <a:spAutoFit/>
            </a:bodyPr>
            <a:lstStyle/>
            <a:p>
              <a:pPr>
                <a:lnSpc>
                  <a:spcPct val="120000"/>
                </a:lnSpc>
              </a:pPr>
              <a:r>
                <a:rPr lang="zh-CN" altLang="en-US" sz="2400" dirty="0">
                  <a:latin typeface="黑体" panose="02010609060101010101" pitchFamily="49" charset="-122"/>
                  <a:ea typeface="黑体" panose="02010609060101010101" pitchFamily="49" charset="-122"/>
                  <a:cs typeface="黑体" panose="02010609060101010101" pitchFamily="49" charset="-122"/>
                </a:rPr>
                <a:t>二、  的估计量        </a:t>
              </a:r>
              <a:endParaRPr lang="zh-CN" altLang="en-US" sz="2400" dirty="0">
                <a:latin typeface="黑体" panose="02010609060101010101" pitchFamily="49" charset="-122"/>
                <a:ea typeface="黑体" panose="02010609060101010101" pitchFamily="49" charset="-122"/>
                <a:cs typeface="黑体" panose="02010609060101010101" pitchFamily="49" charset="-122"/>
              </a:endParaRPr>
            </a:p>
          </p:txBody>
        </p:sp>
        <p:graphicFrame>
          <p:nvGraphicFramePr>
            <p:cNvPr id="15365" name="Object 6"/>
            <p:cNvGraphicFramePr/>
            <p:nvPr/>
          </p:nvGraphicFramePr>
          <p:xfrm>
            <a:off x="718" y="282"/>
            <a:ext cx="228" cy="209"/>
          </p:xfrm>
          <a:graphic>
            <a:graphicData uri="http://schemas.openxmlformats.org/presentationml/2006/ole">
              <mc:AlternateContent xmlns:mc="http://schemas.openxmlformats.org/markup-compatibility/2006">
                <mc:Choice xmlns:v="urn:schemas-microsoft-com:vml" Requires="v">
                  <p:oleObj spid="_x0000_s25601" name="" r:id="rId1" imgW="152400" imgH="139700" progId="Equation.3">
                    <p:embed/>
                  </p:oleObj>
                </mc:Choice>
                <mc:Fallback>
                  <p:oleObj name="" r:id="rId1" imgW="152400" imgH="139700" progId="Equation.3">
                    <p:embed/>
                    <p:pic>
                      <p:nvPicPr>
                        <p:cNvPr id="0" name="图片 3142"/>
                        <p:cNvPicPr/>
                        <p:nvPr/>
                      </p:nvPicPr>
                      <p:blipFill>
                        <a:blip r:embed="rId2"/>
                        <a:stretch>
                          <a:fillRect/>
                        </a:stretch>
                      </p:blipFill>
                      <p:spPr>
                        <a:xfrm>
                          <a:off x="718" y="282"/>
                          <a:ext cx="228" cy="209"/>
                        </a:xfrm>
                        <a:prstGeom prst="rect">
                          <a:avLst/>
                        </a:prstGeom>
                        <a:noFill/>
                        <a:ln w="38100">
                          <a:noFill/>
                          <a:miter/>
                        </a:ln>
                      </p:spPr>
                    </p:pic>
                  </p:oleObj>
                </mc:Fallback>
              </mc:AlternateContent>
            </a:graphicData>
          </a:graphic>
        </p:graphicFrame>
      </p:grpSp>
      <p:graphicFrame>
        <p:nvGraphicFramePr>
          <p:cNvPr id="2" name="对象 1">
            <a:hlinkClick r:id="" action="ppaction://ole?verb=0"/>
          </p:cNvPr>
          <p:cNvGraphicFramePr>
            <a:graphicFrameLocks noChangeAspect="1"/>
          </p:cNvGraphicFramePr>
          <p:nvPr/>
        </p:nvGraphicFramePr>
        <p:xfrm>
          <a:off x="1798638" y="1320800"/>
          <a:ext cx="3886200" cy="4214813"/>
        </p:xfrm>
        <a:graphic>
          <a:graphicData uri="http://schemas.openxmlformats.org/presentationml/2006/ole">
            <mc:AlternateContent xmlns:mc="http://schemas.openxmlformats.org/markup-compatibility/2006">
              <mc:Choice xmlns:v="urn:schemas-microsoft-com:vml" Requires="v">
                <p:oleObj spid="_x0000_s3" name="Equation" r:id="rId3" imgW="43281600" imgH="46939200" progId="Equation.DSMT4">
                  <p:embed/>
                </p:oleObj>
              </mc:Choice>
              <mc:Fallback>
                <p:oleObj name="Equation" r:id="rId3" imgW="43281600" imgH="46939200" progId="Equation.DSMT4">
                  <p:embed/>
                  <p:pic>
                    <p:nvPicPr>
                      <p:cNvPr id="0" name="图片 1024"/>
                      <p:cNvPicPr/>
                      <p:nvPr/>
                    </p:nvPicPr>
                    <p:blipFill>
                      <a:blip r:embed="rId4"/>
                      <a:stretch>
                        <a:fillRect/>
                      </a:stretch>
                    </p:blipFill>
                    <p:spPr>
                      <a:xfrm>
                        <a:off x="1798638" y="1320800"/>
                        <a:ext cx="3886200" cy="4214813"/>
                      </a:xfrm>
                      <a:prstGeom prst="rect">
                        <a:avLst/>
                      </a:prstGeom>
                    </p:spPr>
                  </p:pic>
                </p:oleObj>
              </mc:Fallback>
            </mc:AlternateContent>
          </a:graphicData>
        </a:graphic>
      </p:graphicFrame>
      <p:graphicFrame>
        <p:nvGraphicFramePr>
          <p:cNvPr id="4" name="对象 3">
            <a:hlinkClick r:id="" action="ppaction://ole?verb=0"/>
          </p:cNvPr>
          <p:cNvGraphicFramePr>
            <a:graphicFrameLocks noChangeAspect="1"/>
          </p:cNvGraphicFramePr>
          <p:nvPr/>
        </p:nvGraphicFramePr>
        <p:xfrm>
          <a:off x="5610225" y="698500"/>
          <a:ext cx="4600575" cy="1111250"/>
        </p:xfrm>
        <a:graphic>
          <a:graphicData uri="http://schemas.openxmlformats.org/presentationml/2006/ole">
            <mc:AlternateContent xmlns:mc="http://schemas.openxmlformats.org/markup-compatibility/2006">
              <mc:Choice xmlns:v="urn:schemas-microsoft-com:vml" Requires="v">
                <p:oleObj spid="_x0000_s5" name="Equation" r:id="rId5" imgW="45415200" imgH="10972800" progId="Equation.DSMT4">
                  <p:embed/>
                </p:oleObj>
              </mc:Choice>
              <mc:Fallback>
                <p:oleObj name="Equation" r:id="rId5" imgW="45415200" imgH="10972800" progId="Equation.DSMT4">
                  <p:embed/>
                  <p:pic>
                    <p:nvPicPr>
                      <p:cNvPr id="0" name="图片 1025"/>
                      <p:cNvPicPr/>
                      <p:nvPr/>
                    </p:nvPicPr>
                    <p:blipFill>
                      <a:blip r:embed="rId6"/>
                      <a:stretch>
                        <a:fillRect/>
                      </a:stretch>
                    </p:blipFill>
                    <p:spPr>
                      <a:xfrm>
                        <a:off x="5610225" y="698500"/>
                        <a:ext cx="4600575" cy="1111250"/>
                      </a:xfrm>
                      <a:prstGeom prst="rect">
                        <a:avLst/>
                      </a:prstGeom>
                    </p:spPr>
                  </p:pic>
                </p:oleObj>
              </mc:Fallback>
            </mc:AlternateContent>
          </a:graphicData>
        </a:graphic>
      </p:graphicFrame>
      <p:graphicFrame>
        <p:nvGraphicFramePr>
          <p:cNvPr id="6" name="对象 5">
            <a:hlinkClick r:id="" action="ppaction://ole?verb=0"/>
          </p:cNvPr>
          <p:cNvGraphicFramePr>
            <a:graphicFrameLocks noChangeAspect="1"/>
          </p:cNvGraphicFramePr>
          <p:nvPr/>
        </p:nvGraphicFramePr>
        <p:xfrm>
          <a:off x="5818188" y="2127250"/>
          <a:ext cx="4525962" cy="2139950"/>
        </p:xfrm>
        <a:graphic>
          <a:graphicData uri="http://schemas.openxmlformats.org/presentationml/2006/ole">
            <mc:AlternateContent xmlns:mc="http://schemas.openxmlformats.org/markup-compatibility/2006">
              <mc:Choice xmlns:v="urn:schemas-microsoft-com:vml" Requires="v">
                <p:oleObj spid="_x0000_s7" name="Equation" r:id="rId7" imgW="50292000" imgH="23774400" progId="Equation.DSMT4">
                  <p:embed/>
                </p:oleObj>
              </mc:Choice>
              <mc:Fallback>
                <p:oleObj name="Equation" r:id="rId7" imgW="50292000" imgH="23774400" progId="Equation.DSMT4">
                  <p:embed/>
                  <p:pic>
                    <p:nvPicPr>
                      <p:cNvPr id="0" name="图片 1026"/>
                      <p:cNvPicPr/>
                      <p:nvPr/>
                    </p:nvPicPr>
                    <p:blipFill>
                      <a:blip r:embed="rId8"/>
                      <a:stretch>
                        <a:fillRect/>
                      </a:stretch>
                    </p:blipFill>
                    <p:spPr>
                      <a:xfrm>
                        <a:off x="5818188" y="2127250"/>
                        <a:ext cx="4525962" cy="2139950"/>
                      </a:xfrm>
                      <a:prstGeom prst="rect">
                        <a:avLst/>
                      </a:prstGeom>
                    </p:spPr>
                  </p:pic>
                </p:oleObj>
              </mc:Fallback>
            </mc:AlternateContent>
          </a:graphicData>
        </a:graphic>
      </p:graphicFrame>
      <p:graphicFrame>
        <p:nvGraphicFramePr>
          <p:cNvPr id="8" name="Object 12"/>
          <p:cNvGraphicFramePr/>
          <p:nvPr/>
        </p:nvGraphicFramePr>
        <p:xfrm>
          <a:off x="5953761" y="4791711"/>
          <a:ext cx="2794635" cy="1083945"/>
        </p:xfrm>
        <a:graphic>
          <a:graphicData uri="http://schemas.openxmlformats.org/presentationml/2006/ole">
            <mc:AlternateContent xmlns:mc="http://schemas.openxmlformats.org/markup-compatibility/2006">
              <mc:Choice xmlns:v="urn:schemas-microsoft-com:vml" Requires="v">
                <p:oleObj spid="_x0000_s9" name="Equation" r:id="rId9" imgW="30784800" imgH="10058400" progId="Equation.DSMT4">
                  <p:embed/>
                </p:oleObj>
              </mc:Choice>
              <mc:Fallback>
                <p:oleObj name="Equation" r:id="rId9" imgW="30784800" imgH="10058400" progId="Equation.DSMT4">
                  <p:embed/>
                  <p:pic>
                    <p:nvPicPr>
                      <p:cNvPr id="0" name="图片 3138"/>
                      <p:cNvPicPr/>
                      <p:nvPr/>
                    </p:nvPicPr>
                    <p:blipFill>
                      <a:blip r:embed="rId10"/>
                      <a:stretch>
                        <a:fillRect/>
                      </a:stretch>
                    </p:blipFill>
                    <p:spPr>
                      <a:xfrm>
                        <a:off x="5953761" y="4791711"/>
                        <a:ext cx="2794635" cy="1083945"/>
                      </a:xfrm>
                      <a:prstGeom prst="rect">
                        <a:avLst/>
                      </a:prstGeom>
                      <a:solidFill>
                        <a:schemeClr val="accent2">
                          <a:lumMod val="20000"/>
                          <a:lumOff val="80000"/>
                        </a:schemeClr>
                      </a:solidFill>
                      <a:ln w="38100">
                        <a:noFill/>
                        <a:miter/>
                      </a:ln>
                    </p:spPr>
                  </p:pic>
                </p:oleObj>
              </mc:Fallback>
            </mc:AlternateContent>
          </a:graphicData>
        </a:graphic>
      </p:graphicFrame>
      <p:sp>
        <p:nvSpPr>
          <p:cNvPr id="10" name="文本框 9"/>
          <p:cNvSpPr txBox="1"/>
          <p:nvPr/>
        </p:nvSpPr>
        <p:spPr>
          <a:xfrm>
            <a:off x="2106295" y="5875656"/>
            <a:ext cx="2773680" cy="460375"/>
          </a:xfrm>
          <a:prstGeom prst="rect">
            <a:avLst/>
          </a:prstGeom>
          <a:noFill/>
        </p:spPr>
        <p:txBody>
          <a:bodyPr wrap="square" rtlCol="0">
            <a:spAutoFit/>
          </a:bodyPr>
          <a:lstStyle/>
          <a:p>
            <a:r>
              <a:rPr lang="en-US" altLang="zh-CN" sz="2400"/>
              <a:t>P</a:t>
            </a:r>
            <a:r>
              <a:rPr lang="zh-CN" altLang="en-US" sz="2400"/>
              <a:t>是对称幂等阵</a:t>
            </a:r>
            <a:endParaRPr lang="zh-CN" altLang="en-US" sz="2400"/>
          </a:p>
        </p:txBody>
      </p:sp>
      <p:pic>
        <p:nvPicPr>
          <p:cNvPr id="11" name="图片 10"/>
          <p:cNvPicPr>
            <a:picLocks noChangeAspect="1"/>
          </p:cNvPicPr>
          <p:nvPr/>
        </p:nvPicPr>
        <p:blipFill>
          <a:blip r:embed="rId11"/>
          <a:stretch>
            <a:fillRect/>
          </a:stretch>
        </p:blipFill>
        <p:spPr>
          <a:xfrm>
            <a:off x="588670" y="1809750"/>
            <a:ext cx="1457844" cy="280437"/>
          </a:xfrm>
          <a:prstGeom prst="rect">
            <a:avLst/>
          </a:prstGeom>
        </p:spPr>
      </p:pic>
      <p:sp>
        <p:nvSpPr>
          <p:cNvPr id="12" name="矩形 11"/>
          <p:cNvSpPr/>
          <p:nvPr/>
        </p:nvSpPr>
        <p:spPr>
          <a:xfrm>
            <a:off x="588670" y="1809750"/>
            <a:ext cx="1457844" cy="28043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409" name="Group 2"/>
          <p:cNvGrpSpPr/>
          <p:nvPr/>
        </p:nvGrpSpPr>
        <p:grpSpPr>
          <a:xfrm>
            <a:off x="2045971" y="568960"/>
            <a:ext cx="5051425" cy="506413"/>
            <a:chOff x="358" y="30"/>
            <a:chExt cx="3182" cy="319"/>
          </a:xfrm>
        </p:grpSpPr>
        <p:sp>
          <p:nvSpPr>
            <p:cNvPr id="17410" name="Text Box 3"/>
            <p:cNvSpPr txBox="1"/>
            <p:nvPr/>
          </p:nvSpPr>
          <p:spPr>
            <a:xfrm>
              <a:off x="358" y="38"/>
              <a:ext cx="3182" cy="311"/>
            </a:xfrm>
            <a:prstGeom prst="rect">
              <a:avLst/>
            </a:prstGeom>
            <a:noFill/>
            <a:ln w="9525">
              <a:noFill/>
            </a:ln>
          </p:spPr>
          <p:txBody>
            <a:bodyPr wrap="square" anchor="t">
              <a:spAutoFit/>
            </a:bodyPr>
            <a:lstStyle/>
            <a:p>
              <a:pPr>
                <a:lnSpc>
                  <a:spcPct val="120000"/>
                </a:lnSpc>
              </a:pPr>
              <a:r>
                <a:rPr lang="zh-CN" altLang="en-US" sz="2400" dirty="0">
                  <a:latin typeface="Times New Roman" panose="02020503050405090304" pitchFamily="18" charset="0"/>
                  <a:ea typeface="黑体" panose="02010609060101010101" pitchFamily="49" charset="-122"/>
                  <a:cs typeface="Times New Roman" panose="02020503050405090304" pitchFamily="18" charset="0"/>
                </a:rPr>
                <a:t>四、</a:t>
              </a:r>
              <a:r>
                <a:rPr lang="en-US" altLang="zh-CN" sz="2400" dirty="0">
                  <a:latin typeface="Times New Roman" panose="02020503050405090304" pitchFamily="18" charset="0"/>
                  <a:ea typeface="黑体" panose="02010609060101010101" pitchFamily="49" charset="-122"/>
                  <a:cs typeface="Times New Roman" panose="02020503050405090304" pitchFamily="18" charset="0"/>
                </a:rPr>
                <a:t>OLS</a:t>
              </a:r>
              <a:r>
                <a:rPr lang="zh-CN" altLang="en-US" sz="2400" dirty="0">
                  <a:latin typeface="Times New Roman" panose="02020503050405090304" pitchFamily="18" charset="0"/>
                  <a:ea typeface="黑体" panose="02010609060101010101" pitchFamily="49" charset="-122"/>
                  <a:cs typeface="Times New Roman" panose="02020503050405090304" pitchFamily="18" charset="0"/>
                </a:rPr>
                <a:t>估计   的性质：</a:t>
              </a:r>
              <a:endParaRPr lang="zh-CN" altLang="en-US" sz="2400" dirty="0">
                <a:latin typeface="Times New Roman" panose="02020503050405090304" pitchFamily="18" charset="0"/>
                <a:ea typeface="黑体" panose="02010609060101010101" pitchFamily="49" charset="-122"/>
                <a:cs typeface="Times New Roman" panose="02020503050405090304" pitchFamily="18" charset="0"/>
              </a:endParaRPr>
            </a:p>
          </p:txBody>
        </p:sp>
        <p:graphicFrame>
          <p:nvGraphicFramePr>
            <p:cNvPr id="17411" name="Object 4"/>
            <p:cNvGraphicFramePr/>
            <p:nvPr/>
          </p:nvGraphicFramePr>
          <p:xfrm>
            <a:off x="1567" y="30"/>
            <a:ext cx="180" cy="288"/>
          </p:xfrm>
          <a:graphic>
            <a:graphicData uri="http://schemas.openxmlformats.org/presentationml/2006/ole">
              <mc:AlternateContent xmlns:mc="http://schemas.openxmlformats.org/markup-compatibility/2006">
                <mc:Choice xmlns:v="urn:schemas-microsoft-com:vml" Requires="v">
                  <p:oleObj spid="_x0000_s25601" name="" r:id="rId1" imgW="127000" imgH="202565" progId="Equation.3">
                    <p:embed/>
                  </p:oleObj>
                </mc:Choice>
                <mc:Fallback>
                  <p:oleObj name="" r:id="rId1" imgW="127000" imgH="202565" progId="Equation.3">
                    <p:embed/>
                    <p:pic>
                      <p:nvPicPr>
                        <p:cNvPr id="0" name="图片 3143"/>
                        <p:cNvPicPr/>
                        <p:nvPr/>
                      </p:nvPicPr>
                      <p:blipFill>
                        <a:blip r:embed="rId2"/>
                        <a:stretch>
                          <a:fillRect/>
                        </a:stretch>
                      </p:blipFill>
                      <p:spPr>
                        <a:xfrm>
                          <a:off x="1567" y="30"/>
                          <a:ext cx="180" cy="288"/>
                        </a:xfrm>
                        <a:prstGeom prst="rect">
                          <a:avLst/>
                        </a:prstGeom>
                        <a:noFill/>
                        <a:ln w="38100">
                          <a:noFill/>
                          <a:miter/>
                        </a:ln>
                      </p:spPr>
                    </p:pic>
                  </p:oleObj>
                </mc:Fallback>
              </mc:AlternateContent>
            </a:graphicData>
          </a:graphic>
        </p:graphicFrame>
      </p:grpSp>
      <p:sp>
        <p:nvSpPr>
          <p:cNvPr id="17413" name="灯片编号占位符 7"/>
          <p:cNvSpPr>
            <a:spLocks noGrp="1"/>
          </p:cNvSpPr>
          <p:nvPr>
            <p:ph type="sldNum" sz="quarter" idx="12"/>
          </p:nvPr>
        </p:nvSpPr>
        <p:spPr/>
        <p:txBody>
          <a:bodyPr vert="horz" wrap="square" lIns="91440" tIns="45720" rIns="91440" bIns="45720" rtlCol="0" anchor="b">
            <a:norm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algn="r"/>
            <a:fld id="{9A0DB2DC-4C9A-4742-B13C-FB6460FD3503}" type="slidenum">
              <a:rPr lang="en-US" altLang="zh-CN" sz="1400" dirty="0"/>
            </a:fld>
            <a:endParaRPr lang="en-US" altLang="zh-CN" sz="1400" dirty="0"/>
          </a:p>
        </p:txBody>
      </p:sp>
      <p:sp>
        <p:nvSpPr>
          <p:cNvPr id="2" name="文本框 1"/>
          <p:cNvSpPr txBox="1"/>
          <p:nvPr/>
        </p:nvSpPr>
        <p:spPr>
          <a:xfrm>
            <a:off x="2423795" y="1562736"/>
            <a:ext cx="1569660" cy="476669"/>
          </a:xfrm>
          <a:prstGeom prst="rect">
            <a:avLst/>
          </a:prstGeom>
          <a:noFill/>
        </p:spPr>
        <p:txBody>
          <a:bodyPr wrap="none" rtlCol="0" anchor="t">
            <a:spAutoFit/>
          </a:bodyPr>
          <a:lstStyle/>
          <a:p>
            <a:pPr>
              <a:lnSpc>
                <a:spcPct val="120000"/>
              </a:lnSpc>
            </a:pPr>
            <a:r>
              <a:rPr lang="en-US" altLang="zh-CN" sz="2400" dirty="0">
                <a:latin typeface="黑体" panose="02010609060101010101" pitchFamily="49" charset="-122"/>
                <a:ea typeface="黑体" panose="02010609060101010101" pitchFamily="49" charset="-122"/>
                <a:cs typeface="黑体" panose="02010609060101010101" pitchFamily="49" charset="-122"/>
                <a:sym typeface="+mn-ea"/>
              </a:rPr>
              <a:t>1</a:t>
            </a:r>
            <a:r>
              <a:rPr lang="zh-CN" altLang="en-US" sz="2400" dirty="0">
                <a:latin typeface="黑体" panose="02010609060101010101" pitchFamily="49" charset="-122"/>
                <a:ea typeface="黑体" panose="02010609060101010101" pitchFamily="49" charset="-122"/>
                <a:cs typeface="黑体" panose="02010609060101010101" pitchFamily="49" charset="-122"/>
                <a:sym typeface="+mn-ea"/>
              </a:rPr>
              <a:t>，线性性</a:t>
            </a:r>
            <a:endParaRPr lang="zh-CN" altLang="en-US" sz="2400" dirty="0">
              <a:latin typeface="黑体" panose="02010609060101010101" pitchFamily="49" charset="-122"/>
              <a:ea typeface="黑体" panose="02010609060101010101" pitchFamily="49" charset="-122"/>
              <a:cs typeface="黑体" panose="02010609060101010101" pitchFamily="49" charset="-122"/>
              <a:sym typeface="+mn-ea"/>
            </a:endParaRPr>
          </a:p>
        </p:txBody>
      </p:sp>
      <p:graphicFrame>
        <p:nvGraphicFramePr>
          <p:cNvPr id="5" name="对象 4"/>
          <p:cNvGraphicFramePr/>
          <p:nvPr/>
        </p:nvGraphicFramePr>
        <p:xfrm>
          <a:off x="4641850" y="1454786"/>
          <a:ext cx="2757170" cy="641985"/>
        </p:xfrm>
        <a:graphic>
          <a:graphicData uri="http://schemas.openxmlformats.org/presentationml/2006/ole">
            <mc:AlternateContent xmlns:mc="http://schemas.openxmlformats.org/markup-compatibility/2006">
              <mc:Choice xmlns:v="urn:schemas-microsoft-com:vml" Requires="v">
                <p:oleObj spid="_x0000_s3" name="" r:id="rId3" imgW="2188210" imgH="534035" progId="Equation.KSEE3">
                  <p:embed/>
                </p:oleObj>
              </mc:Choice>
              <mc:Fallback>
                <p:oleObj name="" r:id="rId3" imgW="2188210" imgH="534035" progId="Equation.KSEE3">
                  <p:embed/>
                  <p:pic>
                    <p:nvPicPr>
                      <p:cNvPr id="0" name="图片 5"/>
                      <p:cNvPicPr/>
                      <p:nvPr/>
                    </p:nvPicPr>
                    <p:blipFill>
                      <a:blip r:embed="rId4"/>
                      <a:stretch>
                        <a:fillRect/>
                      </a:stretch>
                    </p:blipFill>
                    <p:spPr>
                      <a:xfrm>
                        <a:off x="4641850" y="1454786"/>
                        <a:ext cx="2757170" cy="641985"/>
                      </a:xfrm>
                      <a:prstGeom prst="rect">
                        <a:avLst/>
                      </a:prstGeom>
                    </p:spPr>
                  </p:pic>
                </p:oleObj>
              </mc:Fallback>
            </mc:AlternateContent>
          </a:graphicData>
        </a:graphic>
      </p:graphicFrame>
      <p:sp>
        <p:nvSpPr>
          <p:cNvPr id="10" name="文本框 9"/>
          <p:cNvSpPr txBox="1"/>
          <p:nvPr/>
        </p:nvSpPr>
        <p:spPr>
          <a:xfrm>
            <a:off x="2423795" y="3230246"/>
            <a:ext cx="1569660" cy="476669"/>
          </a:xfrm>
          <a:prstGeom prst="rect">
            <a:avLst/>
          </a:prstGeom>
          <a:noFill/>
        </p:spPr>
        <p:txBody>
          <a:bodyPr wrap="none" rtlCol="0" anchor="t">
            <a:spAutoFit/>
          </a:bodyPr>
          <a:lstStyle/>
          <a:p>
            <a:pPr>
              <a:lnSpc>
                <a:spcPct val="120000"/>
              </a:lnSpc>
            </a:pPr>
            <a:r>
              <a:rPr lang="en-US" altLang="zh-CN" sz="2400" dirty="0">
                <a:latin typeface="黑体" panose="02010609060101010101" pitchFamily="49" charset="-122"/>
                <a:ea typeface="黑体" panose="02010609060101010101" pitchFamily="49" charset="-122"/>
                <a:cs typeface="黑体" panose="02010609060101010101" pitchFamily="49" charset="-122"/>
                <a:sym typeface="+mn-ea"/>
              </a:rPr>
              <a:t>2</a:t>
            </a:r>
            <a:r>
              <a:rPr lang="zh-CN" altLang="en-US" sz="2400" dirty="0">
                <a:latin typeface="黑体" panose="02010609060101010101" pitchFamily="49" charset="-122"/>
                <a:ea typeface="黑体" panose="02010609060101010101" pitchFamily="49" charset="-122"/>
                <a:cs typeface="黑体" panose="02010609060101010101" pitchFamily="49" charset="-122"/>
                <a:sym typeface="+mn-ea"/>
              </a:rPr>
              <a:t>，无偏性</a:t>
            </a:r>
            <a:endParaRPr lang="zh-CN" altLang="en-US" sz="2400" dirty="0">
              <a:latin typeface="黑体" panose="02010609060101010101" pitchFamily="49" charset="-122"/>
              <a:ea typeface="黑体" panose="02010609060101010101" pitchFamily="49" charset="-122"/>
              <a:cs typeface="黑体" panose="02010609060101010101" pitchFamily="49" charset="-122"/>
              <a:sym typeface="+mn-ea"/>
            </a:endParaRPr>
          </a:p>
        </p:txBody>
      </p:sp>
      <p:graphicFrame>
        <p:nvGraphicFramePr>
          <p:cNvPr id="11" name="对象 10"/>
          <p:cNvGraphicFramePr/>
          <p:nvPr/>
        </p:nvGraphicFramePr>
        <p:xfrm>
          <a:off x="4287520" y="3209291"/>
          <a:ext cx="1959610" cy="575945"/>
        </p:xfrm>
        <a:graphic>
          <a:graphicData uri="http://schemas.openxmlformats.org/presentationml/2006/ole">
            <mc:AlternateContent xmlns:mc="http://schemas.openxmlformats.org/markup-compatibility/2006">
              <mc:Choice xmlns:v="urn:schemas-microsoft-com:vml" Requires="v">
                <p:oleObj spid="_x0000_s4" name="" r:id="rId5" imgW="1365250" imgH="519430" progId="Equation.KSEE3">
                  <p:embed/>
                </p:oleObj>
              </mc:Choice>
              <mc:Fallback>
                <p:oleObj name="" r:id="rId5" imgW="1365250" imgH="519430" progId="Equation.KSEE3">
                  <p:embed/>
                  <p:pic>
                    <p:nvPicPr>
                      <p:cNvPr id="0" name="图片 7"/>
                      <p:cNvPicPr/>
                      <p:nvPr/>
                    </p:nvPicPr>
                    <p:blipFill>
                      <a:blip r:embed="rId6"/>
                      <a:stretch>
                        <a:fillRect/>
                      </a:stretch>
                    </p:blipFill>
                    <p:spPr>
                      <a:xfrm>
                        <a:off x="4287520" y="3209291"/>
                        <a:ext cx="1959610" cy="575945"/>
                      </a:xfrm>
                      <a:prstGeom prst="rect">
                        <a:avLst/>
                      </a:prstGeom>
                    </p:spPr>
                  </p:pic>
                </p:oleObj>
              </mc:Fallback>
            </mc:AlternateContent>
          </a:graphicData>
        </a:graphic>
      </p:graphicFrame>
      <p:sp>
        <p:nvSpPr>
          <p:cNvPr id="13" name="文本框 12"/>
          <p:cNvSpPr txBox="1"/>
          <p:nvPr/>
        </p:nvSpPr>
        <p:spPr>
          <a:xfrm>
            <a:off x="2423796" y="2295526"/>
            <a:ext cx="7263527" cy="476669"/>
          </a:xfrm>
          <a:prstGeom prst="rect">
            <a:avLst/>
          </a:prstGeom>
          <a:noFill/>
        </p:spPr>
        <p:txBody>
          <a:bodyPr wrap="none" rtlCol="0" anchor="t">
            <a:spAutoFit/>
          </a:bodyPr>
          <a:lstStyle/>
          <a:p>
            <a:pPr>
              <a:lnSpc>
                <a:spcPct val="120000"/>
              </a:lnSpc>
            </a:pPr>
            <a:r>
              <a:rPr lang="zh-CN" altLang="en-US" sz="2400" dirty="0">
                <a:latin typeface="黑体" panose="02010609060101010101" pitchFamily="49" charset="-122"/>
                <a:ea typeface="黑体" panose="02010609060101010101" pitchFamily="49" charset="-122"/>
                <a:cs typeface="黑体" panose="02010609060101010101" pitchFamily="49" charset="-122"/>
                <a:sym typeface="+mn-ea"/>
              </a:rPr>
              <a:t>参数的最小二乘估计量是因变量观测值的线性函数。</a:t>
            </a:r>
            <a:endParaRPr lang="zh-CN" altLang="en-US" sz="2400" dirty="0">
              <a:latin typeface="黑体" panose="02010609060101010101" pitchFamily="49" charset="-122"/>
              <a:ea typeface="黑体" panose="02010609060101010101" pitchFamily="49" charset="-122"/>
              <a:cs typeface="黑体" panose="02010609060101010101" pitchFamily="49" charset="-122"/>
              <a:sym typeface="+mn-ea"/>
            </a:endParaRPr>
          </a:p>
        </p:txBody>
      </p:sp>
      <p:graphicFrame>
        <p:nvGraphicFramePr>
          <p:cNvPr id="14" name="对象 13"/>
          <p:cNvGraphicFramePr/>
          <p:nvPr/>
        </p:nvGraphicFramePr>
        <p:xfrm>
          <a:off x="2601913" y="3784600"/>
          <a:ext cx="6956425" cy="1987550"/>
        </p:xfrm>
        <a:graphic>
          <a:graphicData uri="http://schemas.openxmlformats.org/presentationml/2006/ole">
            <mc:AlternateContent xmlns:mc="http://schemas.openxmlformats.org/markup-compatibility/2006">
              <mc:Choice xmlns:v="urn:schemas-microsoft-com:vml" Requires="v">
                <p:oleObj spid="_x0000_s6" name="Equation" r:id="rId7" imgW="55168800" imgH="17983200" progId="Equation.DSMT4">
                  <p:embed/>
                </p:oleObj>
              </mc:Choice>
              <mc:Fallback>
                <p:oleObj name="Equation" r:id="rId7" imgW="55168800" imgH="17983200" progId="Equation.DSMT4">
                  <p:embed/>
                  <p:pic>
                    <p:nvPicPr>
                      <p:cNvPr id="0" name="图片 7"/>
                      <p:cNvPicPr/>
                      <p:nvPr/>
                    </p:nvPicPr>
                    <p:blipFill>
                      <a:blip r:embed="rId8"/>
                      <a:stretch>
                        <a:fillRect/>
                      </a:stretch>
                    </p:blipFill>
                    <p:spPr>
                      <a:xfrm>
                        <a:off x="2601913" y="3784600"/>
                        <a:ext cx="6956425" cy="1987550"/>
                      </a:xfrm>
                      <a:prstGeom prst="rect">
                        <a:avLst/>
                      </a:prstGeom>
                    </p:spPr>
                  </p:pic>
                </p:oleObj>
              </mc:Fallback>
            </mc:AlternateContent>
          </a:graphicData>
        </a:graphic>
      </p:graphicFrame>
      <p:graphicFrame>
        <p:nvGraphicFramePr>
          <p:cNvPr id="16" name="对象 15"/>
          <p:cNvGraphicFramePr/>
          <p:nvPr/>
        </p:nvGraphicFramePr>
        <p:xfrm>
          <a:off x="2689225" y="5772150"/>
          <a:ext cx="3575050" cy="714375"/>
        </p:xfrm>
        <a:graphic>
          <a:graphicData uri="http://schemas.openxmlformats.org/presentationml/2006/ole">
            <mc:AlternateContent xmlns:mc="http://schemas.openxmlformats.org/markup-compatibility/2006">
              <mc:Choice xmlns:v="urn:schemas-microsoft-com:vml" Requires="v">
                <p:oleObj spid="_x0000_s7" name="Equation" r:id="rId9" imgW="33832800" imgH="5791200" progId="Equation.DSMT4">
                  <p:embed/>
                </p:oleObj>
              </mc:Choice>
              <mc:Fallback>
                <p:oleObj name="Equation" r:id="rId9" imgW="33832800" imgH="5791200" progId="Equation.DSMT4">
                  <p:embed/>
                  <p:pic>
                    <p:nvPicPr>
                      <p:cNvPr id="0" name="图片 16"/>
                      <p:cNvPicPr/>
                      <p:nvPr/>
                    </p:nvPicPr>
                    <p:blipFill>
                      <a:blip r:embed="rId10"/>
                      <a:stretch>
                        <a:fillRect/>
                      </a:stretch>
                    </p:blipFill>
                    <p:spPr>
                      <a:xfrm>
                        <a:off x="2689225" y="5772150"/>
                        <a:ext cx="3575050" cy="714375"/>
                      </a:xfrm>
                      <a:prstGeom prst="rect">
                        <a:avLst/>
                      </a:prstGeom>
                    </p:spPr>
                  </p:pic>
                </p:oleObj>
              </mc:Fallback>
            </mc:AlternateContent>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423795" y="319406"/>
            <a:ext cx="2518638" cy="540725"/>
          </a:xfrm>
          <a:prstGeom prst="rect">
            <a:avLst/>
          </a:prstGeom>
          <a:noFill/>
        </p:spPr>
        <p:txBody>
          <a:bodyPr wrap="none" rtlCol="0" anchor="t">
            <a:spAutoFit/>
          </a:bodyPr>
          <a:lstStyle/>
          <a:p>
            <a:pPr>
              <a:lnSpc>
                <a:spcPct val="120000"/>
              </a:lnSpc>
            </a:pPr>
            <a:r>
              <a:rPr lang="en-US" altLang="zh-CN" sz="2800" dirty="0">
                <a:latin typeface="黑体" panose="02010609060101010101" pitchFamily="49" charset="-122"/>
                <a:ea typeface="黑体" panose="02010609060101010101" pitchFamily="49" charset="-122"/>
                <a:cs typeface="黑体" panose="02010609060101010101" pitchFamily="49" charset="-122"/>
                <a:sym typeface="+mn-ea"/>
              </a:rPr>
              <a:t>3</a:t>
            </a:r>
            <a:r>
              <a:rPr lang="zh-CN" altLang="en-US" sz="2800" dirty="0">
                <a:latin typeface="黑体" panose="02010609060101010101" pitchFamily="49" charset="-122"/>
                <a:ea typeface="黑体" panose="02010609060101010101" pitchFamily="49" charset="-122"/>
                <a:cs typeface="黑体" panose="02010609060101010101" pitchFamily="49" charset="-122"/>
                <a:sym typeface="+mn-ea"/>
              </a:rPr>
              <a:t>，最小方差性</a:t>
            </a:r>
            <a:endParaRPr lang="zh-CN" altLang="en-US" sz="2800" dirty="0">
              <a:latin typeface="黑体" panose="02010609060101010101" pitchFamily="49" charset="-122"/>
              <a:ea typeface="黑体" panose="02010609060101010101" pitchFamily="49" charset="-122"/>
              <a:cs typeface="黑体" panose="02010609060101010101" pitchFamily="49" charset="-122"/>
              <a:sym typeface="+mn-ea"/>
            </a:endParaRPr>
          </a:p>
        </p:txBody>
      </p:sp>
      <p:graphicFrame>
        <p:nvGraphicFramePr>
          <p:cNvPr id="16385" name="Object 2"/>
          <p:cNvGraphicFramePr/>
          <p:nvPr/>
        </p:nvGraphicFramePr>
        <p:xfrm>
          <a:off x="2811463" y="1006475"/>
          <a:ext cx="6146800" cy="3886200"/>
        </p:xfrm>
        <a:graphic>
          <a:graphicData uri="http://schemas.openxmlformats.org/presentationml/2006/ole">
            <mc:AlternateContent xmlns:mc="http://schemas.openxmlformats.org/markup-compatibility/2006">
              <mc:Choice xmlns:v="urn:schemas-microsoft-com:vml" Requires="v">
                <p:oleObj spid="_x0000_s25601" name="Equation" r:id="rId1" imgW="63093600" imgH="48768000" progId="Equation.DSMT4">
                  <p:embed/>
                </p:oleObj>
              </mc:Choice>
              <mc:Fallback>
                <p:oleObj name="Equation" r:id="rId1" imgW="63093600" imgH="48768000" progId="Equation.DSMT4">
                  <p:embed/>
                  <p:pic>
                    <p:nvPicPr>
                      <p:cNvPr id="0" name="图片 3139"/>
                      <p:cNvPicPr/>
                      <p:nvPr/>
                    </p:nvPicPr>
                    <p:blipFill>
                      <a:blip r:embed="rId2"/>
                      <a:stretch>
                        <a:fillRect/>
                      </a:stretch>
                    </p:blipFill>
                    <p:spPr>
                      <a:xfrm>
                        <a:off x="2811463" y="1006475"/>
                        <a:ext cx="6146800" cy="3886200"/>
                      </a:xfrm>
                      <a:prstGeom prst="rect">
                        <a:avLst/>
                      </a:prstGeom>
                      <a:noFill/>
                      <a:ln w="38100">
                        <a:noFill/>
                        <a:miter/>
                      </a:ln>
                    </p:spPr>
                  </p:pic>
                </p:oleObj>
              </mc:Fallback>
            </mc:AlternateContent>
          </a:graphicData>
        </a:graphic>
      </p:graphicFrame>
      <p:graphicFrame>
        <p:nvGraphicFramePr>
          <p:cNvPr id="16386" name="Object 3"/>
          <p:cNvGraphicFramePr/>
          <p:nvPr/>
        </p:nvGraphicFramePr>
        <p:xfrm>
          <a:off x="2181225" y="5191125"/>
          <a:ext cx="7827963" cy="1039813"/>
        </p:xfrm>
        <a:graphic>
          <a:graphicData uri="http://schemas.openxmlformats.org/presentationml/2006/ole">
            <mc:AlternateContent xmlns:mc="http://schemas.openxmlformats.org/markup-compatibility/2006">
              <mc:Choice xmlns:v="urn:schemas-microsoft-com:vml" Requires="v">
                <p:oleObj spid="_x0000_s2" name="Equation" r:id="rId3" imgW="72847200" imgH="12801600" progId="Equation.DSMT4">
                  <p:embed/>
                </p:oleObj>
              </mc:Choice>
              <mc:Fallback>
                <p:oleObj name="Equation" r:id="rId3" imgW="72847200" imgH="12801600" progId="Equation.DSMT4">
                  <p:embed/>
                  <p:pic>
                    <p:nvPicPr>
                      <p:cNvPr id="0" name="图片 3141"/>
                      <p:cNvPicPr/>
                      <p:nvPr/>
                    </p:nvPicPr>
                    <p:blipFill>
                      <a:blip r:embed="rId4"/>
                      <a:stretch>
                        <a:fillRect/>
                      </a:stretch>
                    </p:blipFill>
                    <p:spPr>
                      <a:xfrm>
                        <a:off x="2181225" y="5191125"/>
                        <a:ext cx="7827963" cy="1039813"/>
                      </a:xfrm>
                      <a:prstGeom prst="rect">
                        <a:avLst/>
                      </a:prstGeom>
                      <a:noFill/>
                      <a:ln w="38100">
                        <a:noFill/>
                        <a:miter/>
                      </a:ln>
                    </p:spPr>
                  </p:pic>
                </p:oleObj>
              </mc:Fallback>
            </mc:AlternateContent>
          </a:graphicData>
        </a:graphic>
      </p:graphicFrame>
      <p:grpSp>
        <p:nvGrpSpPr>
          <p:cNvPr id="5" name="组合 4"/>
          <p:cNvGrpSpPr/>
          <p:nvPr/>
        </p:nvGrpSpPr>
        <p:grpSpPr>
          <a:xfrm>
            <a:off x="5328744" y="323215"/>
            <a:ext cx="3977456" cy="534035"/>
            <a:chOff x="4761185" y="293487"/>
            <a:chExt cx="3977456" cy="534035"/>
          </a:xfrm>
        </p:grpSpPr>
        <p:graphicFrame>
          <p:nvGraphicFramePr>
            <p:cNvPr id="17412" name="Object 5"/>
            <p:cNvGraphicFramePr/>
            <p:nvPr/>
          </p:nvGraphicFramePr>
          <p:xfrm>
            <a:off x="6405521" y="293487"/>
            <a:ext cx="1022985" cy="534035"/>
          </p:xfrm>
          <a:graphic>
            <a:graphicData uri="http://schemas.openxmlformats.org/presentationml/2006/ole">
              <mc:AlternateContent xmlns:mc="http://schemas.openxmlformats.org/markup-compatibility/2006">
                <mc:Choice xmlns:v="urn:schemas-microsoft-com:vml" Requires="v">
                  <p:oleObj spid="_x0000_s3" name="" r:id="rId5" imgW="457200" imgH="241300" progId="Equation.3">
                    <p:embed/>
                  </p:oleObj>
                </mc:Choice>
                <mc:Fallback>
                  <p:oleObj name="" r:id="rId5" imgW="457200" imgH="241300" progId="Equation.3">
                    <p:embed/>
                    <p:pic>
                      <p:nvPicPr>
                        <p:cNvPr id="0" name="图片 3135"/>
                        <p:cNvPicPr/>
                        <p:nvPr/>
                      </p:nvPicPr>
                      <p:blipFill>
                        <a:blip r:embed="rId6"/>
                        <a:stretch>
                          <a:fillRect/>
                        </a:stretch>
                      </p:blipFill>
                      <p:spPr>
                        <a:xfrm>
                          <a:off x="6405521" y="293487"/>
                          <a:ext cx="1022985" cy="534035"/>
                        </a:xfrm>
                        <a:prstGeom prst="rect">
                          <a:avLst/>
                        </a:prstGeom>
                        <a:noFill/>
                        <a:ln w="38100">
                          <a:noFill/>
                          <a:miter/>
                        </a:ln>
                      </p:spPr>
                    </p:pic>
                  </p:oleObj>
                </mc:Fallback>
              </mc:AlternateContent>
            </a:graphicData>
          </a:graphic>
        </p:graphicFrame>
        <p:sp>
          <p:nvSpPr>
            <p:cNvPr id="9" name="文本框 8"/>
            <p:cNvSpPr txBox="1"/>
            <p:nvPr/>
          </p:nvSpPr>
          <p:spPr>
            <a:xfrm>
              <a:off x="7322869" y="293487"/>
              <a:ext cx="1415772" cy="476669"/>
            </a:xfrm>
            <a:prstGeom prst="rect">
              <a:avLst/>
            </a:prstGeom>
            <a:noFill/>
          </p:spPr>
          <p:txBody>
            <a:bodyPr wrap="none" rtlCol="0" anchor="t">
              <a:spAutoFit/>
            </a:bodyPr>
            <a:lstStyle/>
            <a:p>
              <a:pPr>
                <a:lnSpc>
                  <a:spcPct val="120000"/>
                </a:lnSpc>
              </a:pPr>
              <a:r>
                <a:rPr lang="zh-CN" altLang="en-US" sz="2400" dirty="0">
                  <a:latin typeface="黑体" panose="02010609060101010101" pitchFamily="49" charset="-122"/>
                  <a:ea typeface="黑体" panose="02010609060101010101" pitchFamily="49" charset="-122"/>
                  <a:cs typeface="黑体" panose="02010609060101010101" pitchFamily="49" charset="-122"/>
                  <a:sym typeface="+mn-ea"/>
                </a:rPr>
                <a:t>达到最小</a:t>
              </a:r>
              <a:endParaRPr lang="zh-CN" altLang="en-US" sz="2400" dirty="0">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6" name="文本框 5"/>
            <p:cNvSpPr txBox="1"/>
            <p:nvPr/>
          </p:nvSpPr>
          <p:spPr>
            <a:xfrm>
              <a:off x="4761185" y="337760"/>
              <a:ext cx="1749973" cy="461665"/>
            </a:xfrm>
            <a:prstGeom prst="rect">
              <a:avLst/>
            </a:prstGeom>
            <a:noFill/>
          </p:spPr>
          <p:txBody>
            <a:bodyPr wrap="square">
              <a:spAutoFit/>
            </a:bodyPr>
            <a:lstStyle/>
            <a:p>
              <a:r>
                <a:rPr lang="zh-CN" altLang="en-US" sz="2400" dirty="0">
                  <a:latin typeface="黑体" panose="02010609060101010101" pitchFamily="49" charset="-122"/>
                  <a:ea typeface="黑体" panose="02010609060101010101" pitchFamily="49" charset="-122"/>
                  <a:cs typeface="黑体" panose="02010609060101010101" pitchFamily="49" charset="-122"/>
                  <a:sym typeface="+mn-ea"/>
                </a:rPr>
                <a:t>无偏估计中</a:t>
              </a:r>
              <a:endParaRPr lang="zh-CN" altLang="en-US" sz="2400" dirty="0"/>
            </a:p>
          </p:txBody>
        </p:sp>
      </p:gr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ext Box 2"/>
          <p:cNvSpPr txBox="1"/>
          <p:nvPr/>
        </p:nvSpPr>
        <p:spPr>
          <a:xfrm>
            <a:off x="635998" y="1383666"/>
            <a:ext cx="4496435" cy="476669"/>
          </a:xfrm>
          <a:prstGeom prst="rect">
            <a:avLst/>
          </a:prstGeom>
          <a:noFill/>
          <a:ln w="9525">
            <a:noFill/>
          </a:ln>
        </p:spPr>
        <p:txBody>
          <a:bodyPr wrap="square" anchor="t">
            <a:spAutoFit/>
          </a:bodyPr>
          <a:lstStyle/>
          <a:p>
            <a:pPr>
              <a:lnSpc>
                <a:spcPct val="120000"/>
              </a:lnSpc>
            </a:pPr>
            <a:r>
              <a:rPr lang="zh-CN" altLang="en-US" sz="2400" dirty="0">
                <a:latin typeface="黑体" panose="02010609060101010101" pitchFamily="49" charset="-122"/>
                <a:ea typeface="黑体" panose="02010609060101010101" pitchFamily="49" charset="-122"/>
                <a:cs typeface="黑体" panose="02010609060101010101" pitchFamily="49" charset="-122"/>
              </a:rPr>
              <a:t>（一）拟合优度检验：</a:t>
            </a:r>
            <a:endParaRPr lang="zh-CN" altLang="en-US" sz="2400" dirty="0">
              <a:latin typeface="黑体" panose="02010609060101010101" pitchFamily="49" charset="-122"/>
              <a:ea typeface="黑体" panose="02010609060101010101" pitchFamily="49" charset="-122"/>
              <a:cs typeface="黑体" panose="02010609060101010101" pitchFamily="49" charset="-122"/>
            </a:endParaRPr>
          </a:p>
        </p:txBody>
      </p:sp>
      <p:graphicFrame>
        <p:nvGraphicFramePr>
          <p:cNvPr id="18434" name="Object 3"/>
          <p:cNvGraphicFramePr/>
          <p:nvPr/>
        </p:nvGraphicFramePr>
        <p:xfrm>
          <a:off x="3294063" y="2887586"/>
          <a:ext cx="7258050" cy="630237"/>
        </p:xfrm>
        <a:graphic>
          <a:graphicData uri="http://schemas.openxmlformats.org/presentationml/2006/ole">
            <mc:AlternateContent xmlns:mc="http://schemas.openxmlformats.org/markup-compatibility/2006">
              <mc:Choice xmlns:v="urn:schemas-microsoft-com:vml" Requires="v">
                <p:oleObj spid="_x0000_s25601" name="Equation" r:id="rId1" imgW="81381600" imgH="6705600" progId="Equation.DSMT4">
                  <p:embed/>
                </p:oleObj>
              </mc:Choice>
              <mc:Fallback>
                <p:oleObj name="Equation" r:id="rId1" imgW="81381600" imgH="6705600" progId="Equation.DSMT4">
                  <p:embed/>
                  <p:pic>
                    <p:nvPicPr>
                      <p:cNvPr id="0" name="图片 3144"/>
                      <p:cNvPicPr/>
                      <p:nvPr/>
                    </p:nvPicPr>
                    <p:blipFill>
                      <a:blip r:embed="rId2"/>
                      <a:stretch>
                        <a:fillRect/>
                      </a:stretch>
                    </p:blipFill>
                    <p:spPr>
                      <a:xfrm>
                        <a:off x="3294063" y="2887586"/>
                        <a:ext cx="7258050" cy="630237"/>
                      </a:xfrm>
                      <a:prstGeom prst="rect">
                        <a:avLst/>
                      </a:prstGeom>
                      <a:noFill/>
                      <a:ln w="38100">
                        <a:noFill/>
                        <a:miter/>
                      </a:ln>
                    </p:spPr>
                  </p:pic>
                </p:oleObj>
              </mc:Fallback>
            </mc:AlternateContent>
          </a:graphicData>
        </a:graphic>
      </p:graphicFrame>
      <p:graphicFrame>
        <p:nvGraphicFramePr>
          <p:cNvPr id="18435" name="Object 4"/>
          <p:cNvGraphicFramePr/>
          <p:nvPr/>
        </p:nvGraphicFramePr>
        <p:xfrm>
          <a:off x="3294063" y="4897438"/>
          <a:ext cx="5810250" cy="1609725"/>
        </p:xfrm>
        <a:graphic>
          <a:graphicData uri="http://schemas.openxmlformats.org/presentationml/2006/ole">
            <mc:AlternateContent xmlns:mc="http://schemas.openxmlformats.org/markup-compatibility/2006">
              <mc:Choice xmlns:v="urn:schemas-microsoft-com:vml" Requires="v">
                <p:oleObj spid="_x0000_s2" name="Equation" r:id="rId3" imgW="66141600" imgH="16459200" progId="Equation.DSMT4">
                  <p:embed/>
                </p:oleObj>
              </mc:Choice>
              <mc:Fallback>
                <p:oleObj name="Equation" r:id="rId3" imgW="66141600" imgH="16459200" progId="Equation.DSMT4">
                  <p:embed/>
                  <p:pic>
                    <p:nvPicPr>
                      <p:cNvPr id="0" name="图片 3137"/>
                      <p:cNvPicPr/>
                      <p:nvPr/>
                    </p:nvPicPr>
                    <p:blipFill>
                      <a:blip r:embed="rId4"/>
                      <a:stretch>
                        <a:fillRect/>
                      </a:stretch>
                    </p:blipFill>
                    <p:spPr>
                      <a:xfrm>
                        <a:off x="3294063" y="4897438"/>
                        <a:ext cx="5810250" cy="1609725"/>
                      </a:xfrm>
                      <a:prstGeom prst="rect">
                        <a:avLst/>
                      </a:prstGeom>
                      <a:noFill/>
                      <a:ln w="38100">
                        <a:noFill/>
                        <a:miter/>
                      </a:ln>
                    </p:spPr>
                  </p:pic>
                </p:oleObj>
              </mc:Fallback>
            </mc:AlternateContent>
          </a:graphicData>
        </a:graphic>
      </p:graphicFrame>
      <p:sp>
        <p:nvSpPr>
          <p:cNvPr id="18436" name="Text Box 44"/>
          <p:cNvSpPr txBox="1"/>
          <p:nvPr/>
        </p:nvSpPr>
        <p:spPr>
          <a:xfrm>
            <a:off x="2794635" y="454661"/>
            <a:ext cx="5982970" cy="706755"/>
          </a:xfrm>
          <a:prstGeom prst="rect">
            <a:avLst/>
          </a:prstGeom>
          <a:noFill/>
          <a:ln w="9525">
            <a:noFill/>
          </a:ln>
        </p:spPr>
        <p:txBody>
          <a:bodyPr wrap="square" anchor="t">
            <a:spAutoFit/>
          </a:bodyPr>
          <a:lstStyle/>
          <a:p>
            <a:pPr>
              <a:spcBef>
                <a:spcPct val="50000"/>
              </a:spcBef>
            </a:pPr>
            <a:r>
              <a:rPr lang="zh-CN" altLang="en-US" sz="4000" dirty="0">
                <a:latin typeface="黑体" panose="02010609060101010101" pitchFamily="49" charset="-122"/>
                <a:ea typeface="黑体" panose="02010609060101010101" pitchFamily="49" charset="-122"/>
              </a:rPr>
              <a:t>四、多元回归模型的检验</a:t>
            </a:r>
            <a:endParaRPr lang="zh-CN" altLang="en-US" sz="4000" dirty="0">
              <a:latin typeface="黑体" panose="02010609060101010101" pitchFamily="49" charset="-122"/>
              <a:ea typeface="黑体" panose="02010609060101010101" pitchFamily="49" charset="-122"/>
            </a:endParaRPr>
          </a:p>
        </p:txBody>
      </p:sp>
      <p:sp>
        <p:nvSpPr>
          <p:cNvPr id="18437" name="灯片编号占位符 7"/>
          <p:cNvSpPr>
            <a:spLocks noGrp="1"/>
          </p:cNvSpPr>
          <p:nvPr>
            <p:ph type="sldNum" sz="quarter" idx="12"/>
          </p:nvPr>
        </p:nvSpPr>
        <p:spPr/>
        <p:txBody>
          <a:bodyPr vert="horz" wrap="square" lIns="91440" tIns="45720" rIns="91440" bIns="45720" rtlCol="0" anchor="b">
            <a:norm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algn="r"/>
            <a:fld id="{9A0DB2DC-4C9A-4742-B13C-FB6460FD3503}" type="slidenum">
              <a:rPr lang="en-US" altLang="zh-CN" sz="1400" dirty="0"/>
            </a:fld>
            <a:endParaRPr lang="en-US" altLang="zh-CN" sz="1400" dirty="0"/>
          </a:p>
        </p:txBody>
      </p:sp>
      <p:sp>
        <p:nvSpPr>
          <p:cNvPr id="3" name="文本框 2"/>
          <p:cNvSpPr txBox="1"/>
          <p:nvPr/>
        </p:nvSpPr>
        <p:spPr>
          <a:xfrm>
            <a:off x="1052558" y="2020571"/>
            <a:ext cx="2800767" cy="476669"/>
          </a:xfrm>
          <a:prstGeom prst="rect">
            <a:avLst/>
          </a:prstGeom>
          <a:noFill/>
        </p:spPr>
        <p:txBody>
          <a:bodyPr wrap="none" rtlCol="0" anchor="t">
            <a:spAutoFit/>
          </a:bodyPr>
          <a:lstStyle/>
          <a:p>
            <a:pPr>
              <a:lnSpc>
                <a:spcPct val="120000"/>
              </a:lnSpc>
            </a:pPr>
            <a:r>
              <a:rPr lang="en-US" altLang="zh-CN" sz="2400" dirty="0">
                <a:latin typeface="黑体" panose="02010609060101010101" pitchFamily="49" charset="-122"/>
                <a:ea typeface="黑体" panose="02010609060101010101" pitchFamily="49" charset="-122"/>
                <a:cs typeface="黑体" panose="02010609060101010101" pitchFamily="49" charset="-122"/>
                <a:sym typeface="+mn-ea"/>
              </a:rPr>
              <a:t>1</a:t>
            </a:r>
            <a:r>
              <a:rPr lang="zh-CN" altLang="en-US" sz="2400" dirty="0">
                <a:latin typeface="黑体" panose="02010609060101010101" pitchFamily="49" charset="-122"/>
                <a:ea typeface="黑体" panose="02010609060101010101" pitchFamily="49" charset="-122"/>
                <a:cs typeface="黑体" panose="02010609060101010101" pitchFamily="49" charset="-122"/>
                <a:sym typeface="+mn-ea"/>
              </a:rPr>
              <a:t>，平方和的分解：</a:t>
            </a:r>
            <a:endParaRPr lang="zh-CN" altLang="en-US" sz="2400" dirty="0">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4" name="文本框 3"/>
          <p:cNvSpPr txBox="1"/>
          <p:nvPr/>
        </p:nvSpPr>
        <p:spPr>
          <a:xfrm>
            <a:off x="1335352" y="2934733"/>
            <a:ext cx="2031325" cy="461665"/>
          </a:xfrm>
          <a:prstGeom prst="rect">
            <a:avLst/>
          </a:prstGeom>
          <a:noFill/>
        </p:spPr>
        <p:txBody>
          <a:bodyPr wrap="none" rtlCol="0" anchor="t">
            <a:spAutoFit/>
          </a:bodyPr>
          <a:lstStyle/>
          <a:p>
            <a:r>
              <a:rPr lang="zh-CN" altLang="en-US" sz="2400" dirty="0">
                <a:latin typeface="黑体" panose="02010609060101010101" pitchFamily="49" charset="-122"/>
                <a:ea typeface="黑体" panose="02010609060101010101" pitchFamily="49" charset="-122"/>
                <a:cs typeface="黑体" panose="02010609060101010101" pitchFamily="49" charset="-122"/>
                <a:sym typeface="+mn-ea"/>
              </a:rPr>
              <a:t>总偏差平方和</a:t>
            </a:r>
            <a:endParaRPr lang="zh-CN" altLang="en-US" sz="2400" dirty="0">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5" name="文本框 4"/>
          <p:cNvSpPr txBox="1"/>
          <p:nvPr/>
        </p:nvSpPr>
        <p:spPr>
          <a:xfrm>
            <a:off x="1580515" y="4131708"/>
            <a:ext cx="1706880" cy="460375"/>
          </a:xfrm>
          <a:prstGeom prst="rect">
            <a:avLst/>
          </a:prstGeom>
          <a:noFill/>
        </p:spPr>
        <p:txBody>
          <a:bodyPr wrap="none" rtlCol="0" anchor="t">
            <a:spAutoFit/>
          </a:bodyPr>
          <a:lstStyle/>
          <a:p>
            <a:r>
              <a:rPr lang="zh-CN" altLang="en-US" sz="2400" dirty="0">
                <a:latin typeface="黑体" panose="02010609060101010101" pitchFamily="49" charset="-122"/>
                <a:ea typeface="黑体" panose="02010609060101010101" pitchFamily="49" charset="-122"/>
                <a:cs typeface="黑体" panose="02010609060101010101" pitchFamily="49" charset="-122"/>
                <a:sym typeface="+mn-ea"/>
              </a:rPr>
              <a:t>残差平方和</a:t>
            </a:r>
            <a:endParaRPr lang="zh-CN" altLang="en-US" sz="2400" dirty="0">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6" name="文本框 5"/>
          <p:cNvSpPr txBox="1"/>
          <p:nvPr/>
        </p:nvSpPr>
        <p:spPr>
          <a:xfrm>
            <a:off x="1580515" y="5166123"/>
            <a:ext cx="1706880" cy="460375"/>
          </a:xfrm>
          <a:prstGeom prst="rect">
            <a:avLst/>
          </a:prstGeom>
          <a:noFill/>
        </p:spPr>
        <p:txBody>
          <a:bodyPr wrap="none" rtlCol="0" anchor="t">
            <a:spAutoFit/>
          </a:bodyPr>
          <a:lstStyle/>
          <a:p>
            <a:r>
              <a:rPr lang="zh-CN" altLang="en-US" sz="2400" dirty="0">
                <a:latin typeface="黑体" panose="02010609060101010101" pitchFamily="49" charset="-122"/>
                <a:ea typeface="黑体" panose="02010609060101010101" pitchFamily="49" charset="-122"/>
                <a:cs typeface="黑体" panose="02010609060101010101" pitchFamily="49" charset="-122"/>
                <a:sym typeface="+mn-ea"/>
              </a:rPr>
              <a:t>回归平方和</a:t>
            </a:r>
            <a:endParaRPr lang="zh-CN" altLang="en-US" sz="2400" dirty="0">
              <a:latin typeface="黑体" panose="02010609060101010101" pitchFamily="49" charset="-122"/>
              <a:ea typeface="黑体" panose="02010609060101010101" pitchFamily="49" charset="-122"/>
              <a:cs typeface="黑体" panose="02010609060101010101" pitchFamily="49" charset="-122"/>
              <a:sym typeface="+mn-ea"/>
            </a:endParaRPr>
          </a:p>
        </p:txBody>
      </p:sp>
      <p:graphicFrame>
        <p:nvGraphicFramePr>
          <p:cNvPr id="7" name="对象 6"/>
          <p:cNvGraphicFramePr/>
          <p:nvPr/>
        </p:nvGraphicFramePr>
        <p:xfrm>
          <a:off x="3287395" y="4013892"/>
          <a:ext cx="6505575" cy="693738"/>
        </p:xfrm>
        <a:graphic>
          <a:graphicData uri="http://schemas.openxmlformats.org/presentationml/2006/ole">
            <mc:AlternateContent xmlns:mc="http://schemas.openxmlformats.org/markup-compatibility/2006">
              <mc:Choice xmlns:v="urn:schemas-microsoft-com:vml" Requires="v">
                <p:oleObj spid="_x0000_s8" name="Equation" r:id="rId5" imgW="71323200" imgH="7010400" progId="Equation.DSMT4">
                  <p:embed/>
                </p:oleObj>
              </mc:Choice>
              <mc:Fallback>
                <p:oleObj name="Equation" r:id="rId5" imgW="71323200" imgH="7010400" progId="Equation.DSMT4">
                  <p:embed/>
                  <p:pic>
                    <p:nvPicPr>
                      <p:cNvPr id="0" name="图片 6"/>
                      <p:cNvPicPr/>
                      <p:nvPr/>
                    </p:nvPicPr>
                    <p:blipFill>
                      <a:blip r:embed="rId6"/>
                      <a:stretch>
                        <a:fillRect/>
                      </a:stretch>
                    </p:blipFill>
                    <p:spPr>
                      <a:xfrm>
                        <a:off x="3287395" y="4013892"/>
                        <a:ext cx="6505575" cy="693738"/>
                      </a:xfrm>
                      <a:prstGeom prst="rect">
                        <a:avLst/>
                      </a:prstGeom>
                    </p:spPr>
                  </p:pic>
                </p:oleObj>
              </mc:Fallback>
            </mc:AlternateContent>
          </a:graphicData>
        </a:graphic>
      </p:graphicFrame>
      <p:graphicFrame>
        <p:nvGraphicFramePr>
          <p:cNvPr id="9" name="Object 1040"/>
          <p:cNvGraphicFramePr>
            <a:graphicFrameLocks noChangeAspect="1"/>
          </p:cNvGraphicFramePr>
          <p:nvPr/>
        </p:nvGraphicFramePr>
        <p:xfrm>
          <a:off x="4268788" y="1287463"/>
          <a:ext cx="7159625" cy="1249362"/>
        </p:xfrm>
        <a:graphic>
          <a:graphicData uri="http://schemas.openxmlformats.org/presentationml/2006/ole">
            <mc:AlternateContent xmlns:mc="http://schemas.openxmlformats.org/markup-compatibility/2006">
              <mc:Choice xmlns:v="urn:schemas-microsoft-com:vml" Requires="v">
                <p:oleObj spid="_x0000_s10" name="Equation" r:id="rId7" imgW="59436000" imgH="10363200" progId="Equation.DSMT4">
                  <p:embed/>
                </p:oleObj>
              </mc:Choice>
              <mc:Fallback>
                <p:oleObj name="Equation" r:id="rId7" imgW="59436000" imgH="10363200" progId="Equation.DSMT4">
                  <p:embed/>
                  <p:pic>
                    <p:nvPicPr>
                      <p:cNvPr id="0" name="Object 1040"/>
                      <p:cNvPicPr>
                        <a:picLocks noChangeAspect="1" noChangeArrowheads="1"/>
                      </p:cNvPicPr>
                      <p:nvPr/>
                    </p:nvPicPr>
                    <p:blipFill>
                      <a:blip r:embed="rId8"/>
                      <a:srcRect/>
                      <a:stretch>
                        <a:fillRect/>
                      </a:stretch>
                    </p:blipFill>
                    <p:spPr bwMode="auto">
                      <a:xfrm>
                        <a:off x="4268788" y="1287463"/>
                        <a:ext cx="7159625" cy="1249362"/>
                      </a:xfrm>
                      <a:prstGeom prst="rect">
                        <a:avLst/>
                      </a:prstGeom>
                      <a:noFill/>
                      <a:ln>
                        <a:noFill/>
                      </a:ln>
                      <a:effectLst/>
                    </p:spPr>
                  </p:pic>
                </p:oleObj>
              </mc:Fallback>
            </mc:AlternateContent>
          </a:graphicData>
        </a:graphic>
      </p:graphicFrame>
      <p:sp>
        <p:nvSpPr>
          <p:cNvPr id="11" name="矩形 10"/>
          <p:cNvSpPr/>
          <p:nvPr/>
        </p:nvSpPr>
        <p:spPr>
          <a:xfrm>
            <a:off x="4193628" y="1300764"/>
            <a:ext cx="7195719" cy="124825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5013433" y="2099401"/>
            <a:ext cx="951909" cy="523220"/>
          </a:xfrm>
          <a:prstGeom prst="rect">
            <a:avLst/>
          </a:prstGeom>
          <a:noFill/>
        </p:spPr>
        <p:txBody>
          <a:bodyPr wrap="square" rtlCol="0">
            <a:spAutoFit/>
          </a:bodyPr>
          <a:lstStyle/>
          <a:p>
            <a:r>
              <a:rPr lang="en-US" altLang="zh-CN" sz="2800" i="1" dirty="0">
                <a:solidFill>
                  <a:srgbClr val="FF0000"/>
                </a:solidFill>
                <a:latin typeface="Times New Roman" panose="02020503050405090304" pitchFamily="18" charset="0"/>
                <a:cs typeface="Times New Roman" panose="02020503050405090304" pitchFamily="18" charset="0"/>
              </a:rPr>
              <a:t>TSS</a:t>
            </a:r>
            <a:endParaRPr lang="zh-CN" altLang="en-US" sz="2800" i="1" dirty="0">
              <a:solidFill>
                <a:srgbClr val="FF0000"/>
              </a:solidFill>
              <a:latin typeface="Times New Roman" panose="02020503050405090304" pitchFamily="18" charset="0"/>
              <a:cs typeface="Times New Roman" panose="02020503050405090304" pitchFamily="18" charset="0"/>
            </a:endParaRPr>
          </a:p>
        </p:txBody>
      </p:sp>
      <p:sp>
        <p:nvSpPr>
          <p:cNvPr id="13" name="文本框 12"/>
          <p:cNvSpPr txBox="1"/>
          <p:nvPr/>
        </p:nvSpPr>
        <p:spPr>
          <a:xfrm>
            <a:off x="7467598" y="2134214"/>
            <a:ext cx="951909" cy="523220"/>
          </a:xfrm>
          <a:prstGeom prst="rect">
            <a:avLst/>
          </a:prstGeom>
          <a:noFill/>
        </p:spPr>
        <p:txBody>
          <a:bodyPr wrap="square" rtlCol="0">
            <a:spAutoFit/>
          </a:bodyPr>
          <a:lstStyle/>
          <a:p>
            <a:r>
              <a:rPr lang="en-US" altLang="zh-CN" sz="2800" i="1" dirty="0">
                <a:solidFill>
                  <a:srgbClr val="FF0000"/>
                </a:solidFill>
                <a:latin typeface="Times New Roman" panose="02020503050405090304" pitchFamily="18" charset="0"/>
                <a:cs typeface="Times New Roman" panose="02020503050405090304" pitchFamily="18" charset="0"/>
              </a:rPr>
              <a:t>ESS</a:t>
            </a:r>
            <a:endParaRPr lang="zh-CN" altLang="en-US" sz="2800" i="1" dirty="0">
              <a:solidFill>
                <a:srgbClr val="FF0000"/>
              </a:solidFill>
              <a:latin typeface="Times New Roman" panose="02020503050405090304" pitchFamily="18" charset="0"/>
              <a:cs typeface="Times New Roman" panose="02020503050405090304" pitchFamily="18" charset="0"/>
            </a:endParaRPr>
          </a:p>
        </p:txBody>
      </p:sp>
      <p:sp>
        <p:nvSpPr>
          <p:cNvPr id="14" name="文本框 13"/>
          <p:cNvSpPr txBox="1"/>
          <p:nvPr/>
        </p:nvSpPr>
        <p:spPr>
          <a:xfrm>
            <a:off x="9916508" y="2108980"/>
            <a:ext cx="951909" cy="523220"/>
          </a:xfrm>
          <a:prstGeom prst="rect">
            <a:avLst/>
          </a:prstGeom>
          <a:noFill/>
        </p:spPr>
        <p:txBody>
          <a:bodyPr wrap="square" rtlCol="0">
            <a:spAutoFit/>
          </a:bodyPr>
          <a:lstStyle/>
          <a:p>
            <a:r>
              <a:rPr lang="en-US" altLang="zh-CN" sz="2800" i="1" dirty="0">
                <a:solidFill>
                  <a:srgbClr val="FF0000"/>
                </a:solidFill>
                <a:latin typeface="Times New Roman" panose="02020503050405090304" pitchFamily="18" charset="0"/>
                <a:cs typeface="Times New Roman" panose="02020503050405090304" pitchFamily="18" charset="0"/>
              </a:rPr>
              <a:t>MSS</a:t>
            </a:r>
            <a:endParaRPr lang="zh-CN" altLang="en-US" sz="2800" i="1" dirty="0">
              <a:solidFill>
                <a:srgbClr val="FF0000"/>
              </a:solidFill>
              <a:latin typeface="Times New Roman" panose="02020503050405090304" pitchFamily="18" charset="0"/>
              <a:cs typeface="Times New Roman" panose="02020503050405090304" pitchFamily="18"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ext Box 2"/>
          <p:cNvSpPr txBox="1"/>
          <p:nvPr/>
        </p:nvSpPr>
        <p:spPr>
          <a:xfrm>
            <a:off x="1972946" y="2650490"/>
            <a:ext cx="8737461" cy="1684244"/>
          </a:xfrm>
          <a:prstGeom prst="rect">
            <a:avLst/>
          </a:prstGeom>
          <a:noFill/>
          <a:ln w="9525">
            <a:noFill/>
          </a:ln>
        </p:spPr>
        <p:txBody>
          <a:bodyPr wrap="square" anchor="t">
            <a:spAutoFit/>
          </a:bodyPr>
          <a:lstStyle/>
          <a:p>
            <a:pPr fontAlgn="auto">
              <a:lnSpc>
                <a:spcPct val="150000"/>
              </a:lnSpc>
            </a:pPr>
            <a:r>
              <a:rPr lang="en-US" altLang="zh-CN" sz="2400" dirty="0">
                <a:latin typeface="Times New Roman" panose="02020503050405090304" pitchFamily="18" charset="0"/>
                <a:ea typeface="黑体" panose="02010609060101010101" pitchFamily="49" charset="-122"/>
                <a:cs typeface="Times New Roman" panose="02020503050405090304" pitchFamily="18" charset="0"/>
              </a:rPr>
              <a:t>3</a:t>
            </a:r>
            <a:r>
              <a:rPr lang="zh-CN" altLang="en-US" sz="2400" dirty="0">
                <a:latin typeface="Times New Roman" panose="02020503050405090304" pitchFamily="18" charset="0"/>
                <a:ea typeface="黑体" panose="02010609060101010101" pitchFamily="49" charset="-122"/>
                <a:cs typeface="Times New Roman" panose="02020503050405090304" pitchFamily="18" charset="0"/>
              </a:rPr>
              <a:t>，校正的</a:t>
            </a:r>
            <a:r>
              <a:rPr lang="en-US" altLang="zh-CN" sz="2400" i="1" dirty="0">
                <a:latin typeface="Times New Roman" panose="02020503050405090304" pitchFamily="18" charset="0"/>
                <a:ea typeface="黑体" panose="02010609060101010101" pitchFamily="49" charset="-122"/>
                <a:cs typeface="Times New Roman" panose="02020503050405090304" pitchFamily="18" charset="0"/>
              </a:rPr>
              <a:t>R</a:t>
            </a:r>
            <a:r>
              <a:rPr lang="en-US" altLang="zh-CN" sz="2400" baseline="30000" dirty="0">
                <a:latin typeface="Times New Roman" panose="02020503050405090304" pitchFamily="18" charset="0"/>
                <a:ea typeface="黑体" panose="02010609060101010101" pitchFamily="49" charset="-122"/>
                <a:cs typeface="Times New Roman" panose="02020503050405090304" pitchFamily="18" charset="0"/>
              </a:rPr>
              <a:t>2</a:t>
            </a:r>
            <a:r>
              <a:rPr lang="en-US" altLang="zh-CN" sz="2400" dirty="0">
                <a:latin typeface="Times New Roman" panose="02020503050405090304" pitchFamily="18" charset="0"/>
                <a:ea typeface="黑体" panose="02010609060101010101" pitchFamily="49" charset="-122"/>
                <a:cs typeface="Times New Roman" panose="02020503050405090304" pitchFamily="18" charset="0"/>
              </a:rPr>
              <a:t> </a:t>
            </a:r>
            <a:r>
              <a:rPr lang="zh-CN" altLang="en-US" sz="2400" dirty="0">
                <a:latin typeface="Times New Roman" panose="02020503050405090304" pitchFamily="18" charset="0"/>
                <a:ea typeface="黑体" panose="02010609060101010101" pitchFamily="49" charset="-122"/>
                <a:cs typeface="Times New Roman" panose="02020503050405090304" pitchFamily="18" charset="0"/>
              </a:rPr>
              <a:t>：</a:t>
            </a:r>
            <a:endParaRPr lang="zh-CN" altLang="en-US" sz="2400" dirty="0">
              <a:latin typeface="Times New Roman" panose="02020503050405090304" pitchFamily="18" charset="0"/>
              <a:ea typeface="黑体" panose="02010609060101010101" pitchFamily="49" charset="-122"/>
              <a:cs typeface="Times New Roman" panose="02020503050405090304" pitchFamily="18" charset="0"/>
            </a:endParaRPr>
          </a:p>
          <a:p>
            <a:pPr fontAlgn="auto">
              <a:lnSpc>
                <a:spcPct val="150000"/>
              </a:lnSpc>
            </a:pPr>
            <a:r>
              <a:rPr lang="zh-CN" altLang="en-US" sz="2400" dirty="0">
                <a:latin typeface="Times New Roman" panose="02020503050405090304" pitchFamily="18" charset="0"/>
                <a:ea typeface="黑体" panose="02010609060101010101" pitchFamily="49" charset="-122"/>
                <a:cs typeface="Times New Roman" panose="02020503050405090304" pitchFamily="18" charset="0"/>
              </a:rPr>
              <a:t> 使用中发现，</a:t>
            </a:r>
            <a:r>
              <a:rPr lang="en-US" altLang="zh-CN" sz="2400" i="1" dirty="0">
                <a:latin typeface="Times New Roman" panose="02020503050405090304" pitchFamily="18" charset="0"/>
                <a:ea typeface="黑体" panose="02010609060101010101" pitchFamily="49" charset="-122"/>
                <a:cs typeface="Times New Roman" panose="02020503050405090304" pitchFamily="18" charset="0"/>
              </a:rPr>
              <a:t>R</a:t>
            </a:r>
            <a:r>
              <a:rPr lang="en-US" altLang="zh-CN" sz="2400" baseline="30000" dirty="0">
                <a:latin typeface="Times New Roman" panose="02020503050405090304" pitchFamily="18" charset="0"/>
                <a:ea typeface="黑体" panose="02010609060101010101" pitchFamily="49" charset="-122"/>
                <a:cs typeface="Times New Roman" panose="02020503050405090304" pitchFamily="18" charset="0"/>
              </a:rPr>
              <a:t>2 </a:t>
            </a:r>
            <a:r>
              <a:rPr lang="zh-CN" altLang="en-US" sz="2400" dirty="0">
                <a:latin typeface="Times New Roman" panose="02020503050405090304" pitchFamily="18" charset="0"/>
                <a:ea typeface="黑体" panose="02010609060101010101" pitchFamily="49" charset="-122"/>
                <a:cs typeface="Times New Roman" panose="02020503050405090304" pitchFamily="18" charset="0"/>
              </a:rPr>
              <a:t>随解释变量的增加而可能提高（不可能降低）。于是可定义：</a:t>
            </a:r>
            <a:endParaRPr lang="zh-CN" altLang="en-US" sz="2400" dirty="0">
              <a:latin typeface="Times New Roman" panose="02020503050405090304" pitchFamily="18" charset="0"/>
              <a:ea typeface="黑体" panose="02010609060101010101" pitchFamily="49" charset="-122"/>
              <a:cs typeface="Times New Roman" panose="02020503050405090304" pitchFamily="18" charset="0"/>
            </a:endParaRPr>
          </a:p>
        </p:txBody>
      </p:sp>
      <p:graphicFrame>
        <p:nvGraphicFramePr>
          <p:cNvPr id="19458" name="Object 10"/>
          <p:cNvGraphicFramePr/>
          <p:nvPr/>
        </p:nvGraphicFramePr>
        <p:xfrm>
          <a:off x="2978259" y="4728233"/>
          <a:ext cx="6039616" cy="860644"/>
        </p:xfrm>
        <a:graphic>
          <a:graphicData uri="http://schemas.openxmlformats.org/presentationml/2006/ole">
            <mc:AlternateContent xmlns:mc="http://schemas.openxmlformats.org/markup-compatibility/2006">
              <mc:Choice xmlns:v="urn:schemas-microsoft-com:vml" Requires="v">
                <p:oleObj spid="_x0000_s25601" name="Equation" r:id="rId1" imgW="67665600" imgH="10058400" progId="Equation.DSMT4">
                  <p:embed/>
                </p:oleObj>
              </mc:Choice>
              <mc:Fallback>
                <p:oleObj name="Equation" r:id="rId1" imgW="67665600" imgH="10058400" progId="Equation.DSMT4">
                  <p:embed/>
                  <p:pic>
                    <p:nvPicPr>
                      <p:cNvPr id="0" name="图片 3152"/>
                      <p:cNvPicPr/>
                      <p:nvPr/>
                    </p:nvPicPr>
                    <p:blipFill>
                      <a:blip r:embed="rId2"/>
                      <a:stretch>
                        <a:fillRect/>
                      </a:stretch>
                    </p:blipFill>
                    <p:spPr>
                      <a:xfrm>
                        <a:off x="2978259" y="4728233"/>
                        <a:ext cx="6039616" cy="860644"/>
                      </a:xfrm>
                      <a:prstGeom prst="rect">
                        <a:avLst/>
                      </a:prstGeom>
                      <a:noFill/>
                      <a:ln w="38100">
                        <a:noFill/>
                        <a:miter/>
                      </a:ln>
                    </p:spPr>
                  </p:pic>
                </p:oleObj>
              </mc:Fallback>
            </mc:AlternateContent>
          </a:graphicData>
        </a:graphic>
      </p:graphicFrame>
      <p:graphicFrame>
        <p:nvGraphicFramePr>
          <p:cNvPr id="19459" name="Object 11"/>
          <p:cNvGraphicFramePr/>
          <p:nvPr/>
        </p:nvGraphicFramePr>
        <p:xfrm>
          <a:off x="3838575" y="1587500"/>
          <a:ext cx="4518025" cy="968375"/>
        </p:xfrm>
        <a:graphic>
          <a:graphicData uri="http://schemas.openxmlformats.org/presentationml/2006/ole">
            <mc:AlternateContent xmlns:mc="http://schemas.openxmlformats.org/markup-compatibility/2006">
              <mc:Choice xmlns:v="urn:schemas-microsoft-com:vml" Requires="v">
                <p:oleObj spid="_x0000_s2" name="Equation" r:id="rId3" imgW="47244000" imgH="10363200" progId="Equation.DSMT4">
                  <p:embed/>
                </p:oleObj>
              </mc:Choice>
              <mc:Fallback>
                <p:oleObj name="Equation" r:id="rId3" imgW="47244000" imgH="10363200" progId="Equation.DSMT4">
                  <p:embed/>
                  <p:pic>
                    <p:nvPicPr>
                      <p:cNvPr id="0" name="图片 3157"/>
                      <p:cNvPicPr/>
                      <p:nvPr/>
                    </p:nvPicPr>
                    <p:blipFill>
                      <a:blip r:embed="rId4"/>
                      <a:stretch>
                        <a:fillRect/>
                      </a:stretch>
                    </p:blipFill>
                    <p:spPr>
                      <a:xfrm>
                        <a:off x="3838575" y="1587500"/>
                        <a:ext cx="4518025" cy="968375"/>
                      </a:xfrm>
                      <a:prstGeom prst="rect">
                        <a:avLst/>
                      </a:prstGeom>
                      <a:noFill/>
                      <a:ln w="38100">
                        <a:noFill/>
                        <a:miter/>
                      </a:ln>
                    </p:spPr>
                  </p:pic>
                </p:oleObj>
              </mc:Fallback>
            </mc:AlternateContent>
          </a:graphicData>
        </a:graphic>
      </p:graphicFrame>
      <p:sp>
        <p:nvSpPr>
          <p:cNvPr id="19460" name="灯片编号占位符 6"/>
          <p:cNvSpPr>
            <a:spLocks noGrp="1"/>
          </p:cNvSpPr>
          <p:nvPr>
            <p:ph type="sldNum" sz="quarter" idx="12"/>
          </p:nvPr>
        </p:nvSpPr>
        <p:spPr/>
        <p:txBody>
          <a:bodyPr vert="horz" wrap="square" lIns="91440" tIns="45720" rIns="91440" bIns="45720" rtlCol="0" anchor="b">
            <a:norm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algn="r"/>
            <a:fld id="{9A0DB2DC-4C9A-4742-B13C-FB6460FD3503}" type="slidenum">
              <a:rPr lang="en-US" altLang="zh-CN" sz="1400" dirty="0"/>
            </a:fld>
            <a:endParaRPr lang="en-US" altLang="zh-CN" sz="1400" dirty="0"/>
          </a:p>
        </p:txBody>
      </p:sp>
      <p:sp>
        <p:nvSpPr>
          <p:cNvPr id="4" name="文本框 3"/>
          <p:cNvSpPr txBox="1"/>
          <p:nvPr/>
        </p:nvSpPr>
        <p:spPr>
          <a:xfrm>
            <a:off x="1973580" y="1033146"/>
            <a:ext cx="2287806" cy="461665"/>
          </a:xfrm>
          <a:prstGeom prst="rect">
            <a:avLst/>
          </a:prstGeom>
          <a:noFill/>
        </p:spPr>
        <p:txBody>
          <a:bodyPr wrap="none" rtlCol="0" anchor="t">
            <a:spAutoFit/>
          </a:bodyPr>
          <a:lstStyle/>
          <a:p>
            <a:r>
              <a:rPr lang="en-US" altLang="zh-CN" sz="2400" dirty="0">
                <a:latin typeface="Times New Roman" panose="02020503050405090304" pitchFamily="18" charset="0"/>
                <a:ea typeface="黑体" panose="02010609060101010101" pitchFamily="49" charset="-122"/>
                <a:cs typeface="Times New Roman" panose="02020503050405090304" pitchFamily="18" charset="0"/>
                <a:sym typeface="+mn-ea"/>
              </a:rPr>
              <a:t>2</a:t>
            </a:r>
            <a:r>
              <a:rPr lang="zh-CN" altLang="en-US" sz="2400" dirty="0">
                <a:latin typeface="Times New Roman" panose="02020503050405090304" pitchFamily="18" charset="0"/>
                <a:ea typeface="黑体" panose="02010609060101010101" pitchFamily="49" charset="-122"/>
                <a:cs typeface="Times New Roman" panose="02020503050405090304" pitchFamily="18" charset="0"/>
                <a:sym typeface="+mn-ea"/>
              </a:rPr>
              <a:t>、决定系数</a:t>
            </a:r>
            <a:r>
              <a:rPr lang="en-US" altLang="zh-CN" sz="2400" i="1" dirty="0">
                <a:latin typeface="Times New Roman" panose="02020503050405090304" pitchFamily="18" charset="0"/>
                <a:ea typeface="黑体" panose="02010609060101010101" pitchFamily="49" charset="-122"/>
                <a:cs typeface="Times New Roman" panose="02020503050405090304" pitchFamily="18" charset="0"/>
                <a:sym typeface="+mn-ea"/>
              </a:rPr>
              <a:t>R</a:t>
            </a:r>
            <a:r>
              <a:rPr lang="en-US" altLang="zh-CN" sz="2400" baseline="30000" dirty="0">
                <a:latin typeface="Times New Roman" panose="02020503050405090304" pitchFamily="18" charset="0"/>
                <a:ea typeface="黑体" panose="02010609060101010101" pitchFamily="49" charset="-122"/>
                <a:cs typeface="Times New Roman" panose="02020503050405090304" pitchFamily="18" charset="0"/>
                <a:sym typeface="+mn-ea"/>
              </a:rPr>
              <a:t>2</a:t>
            </a:r>
            <a:r>
              <a:rPr lang="en-US" altLang="zh-CN" sz="2400" dirty="0">
                <a:latin typeface="Times New Roman" panose="02020503050405090304" pitchFamily="18" charset="0"/>
                <a:ea typeface="黑体" panose="02010609060101010101" pitchFamily="49" charset="-122"/>
                <a:cs typeface="Times New Roman" panose="02020503050405090304" pitchFamily="18" charset="0"/>
                <a:sym typeface="+mn-ea"/>
              </a:rPr>
              <a:t> </a:t>
            </a:r>
            <a:endParaRPr lang="en-US" altLang="zh-CN" sz="2400" dirty="0">
              <a:latin typeface="Times New Roman" panose="02020503050405090304" pitchFamily="18" charset="0"/>
              <a:ea typeface="黑体" panose="02010609060101010101" pitchFamily="49" charset="-122"/>
              <a:cs typeface="Times New Roman" panose="02020503050405090304" pitchFamily="18" charset="0"/>
              <a:sym typeface="+mn-ea"/>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291715" y="1037590"/>
            <a:ext cx="6955750" cy="2790572"/>
          </a:xfrm>
          <a:prstGeom prst="rect">
            <a:avLst/>
          </a:prstGeom>
          <a:noFill/>
        </p:spPr>
        <p:txBody>
          <a:bodyPr wrap="none" rtlCol="0">
            <a:spAutoFit/>
          </a:bodyPr>
          <a:lstStyle/>
          <a:p>
            <a:pPr fontAlgn="auto">
              <a:lnSpc>
                <a:spcPct val="150000"/>
              </a:lnSpc>
            </a:pPr>
            <a:r>
              <a:rPr lang="zh-CN" altLang="en-US" sz="2400" dirty="0"/>
              <a:t>决定系数或者校正的决定系数，只能说明在给定的</a:t>
            </a:r>
            <a:endParaRPr lang="zh-CN" altLang="en-US" sz="2400" dirty="0"/>
          </a:p>
          <a:p>
            <a:pPr fontAlgn="auto">
              <a:lnSpc>
                <a:spcPct val="150000"/>
              </a:lnSpc>
            </a:pPr>
            <a:r>
              <a:rPr lang="zh-CN" altLang="en-US" sz="2400" dirty="0"/>
              <a:t>样本条件下，</a:t>
            </a:r>
            <a:r>
              <a:rPr lang="zh-CN" altLang="en-US" sz="2400" dirty="0">
                <a:solidFill>
                  <a:srgbClr val="FF0000"/>
                </a:solidFill>
              </a:rPr>
              <a:t>回归方程对样本观测值的拟合优度</a:t>
            </a:r>
            <a:r>
              <a:rPr lang="zh-CN" altLang="en-US" sz="2400" dirty="0"/>
              <a:t>，</a:t>
            </a:r>
            <a:endParaRPr lang="zh-CN" altLang="en-US" sz="2400" dirty="0"/>
          </a:p>
          <a:p>
            <a:pPr fontAlgn="auto">
              <a:lnSpc>
                <a:spcPct val="150000"/>
              </a:lnSpc>
            </a:pPr>
            <a:r>
              <a:rPr lang="zh-CN" altLang="en-US" sz="2400" dirty="0"/>
              <a:t>并</a:t>
            </a:r>
            <a:r>
              <a:rPr lang="zh-CN" altLang="en-US" sz="2400" dirty="0">
                <a:solidFill>
                  <a:srgbClr val="FF0000"/>
                </a:solidFill>
              </a:rPr>
              <a:t>不能方便地</a:t>
            </a:r>
            <a:r>
              <a:rPr lang="zh-CN" altLang="en-US" sz="2400" dirty="0"/>
              <a:t>做出对总体模型的推测。</a:t>
            </a:r>
            <a:endParaRPr lang="zh-CN" altLang="en-US" sz="2400" dirty="0"/>
          </a:p>
          <a:p>
            <a:pPr fontAlgn="auto">
              <a:lnSpc>
                <a:spcPct val="150000"/>
              </a:lnSpc>
            </a:pPr>
            <a:r>
              <a:rPr lang="zh-CN" altLang="en-US" sz="2400" dirty="0"/>
              <a:t>故不单凭此来选择模型，还需要对回归方程和模型</a:t>
            </a:r>
            <a:endParaRPr lang="zh-CN" altLang="en-US" sz="2400" dirty="0"/>
          </a:p>
          <a:p>
            <a:pPr fontAlgn="auto">
              <a:lnSpc>
                <a:spcPct val="150000"/>
              </a:lnSpc>
            </a:pPr>
            <a:r>
              <a:rPr lang="zh-CN" altLang="en-US" sz="2400" dirty="0"/>
              <a:t>中各参数的估计量做显著性检验。</a:t>
            </a:r>
            <a:endParaRPr lang="zh-CN" altLang="en-US" sz="24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p:cNvSpPr>
            <a:spLocks noGrp="1"/>
          </p:cNvSpPr>
          <p:nvPr>
            <p:ph type="sldNum" sz="quarter" idx="12"/>
          </p:nvPr>
        </p:nvSpPr>
        <p:spPr/>
        <p:txBody>
          <a:bodyPr/>
          <a:lstStyle/>
          <a:p>
            <a:fld id="{F44E12A4-8ECC-4F71-A97B-51C6C6967CB3}" type="slidenum">
              <a:rPr lang="en-US" altLang="zh-CN"/>
            </a:fld>
            <a:endParaRPr lang="en-US" altLang="zh-CN"/>
          </a:p>
        </p:txBody>
      </p:sp>
      <p:sp>
        <p:nvSpPr>
          <p:cNvPr id="441346" name="Text Box 2"/>
          <p:cNvSpPr txBox="1">
            <a:spLocks noChangeArrowheads="1"/>
          </p:cNvSpPr>
          <p:nvPr/>
        </p:nvSpPr>
        <p:spPr bwMode="auto">
          <a:xfrm>
            <a:off x="1905000" y="708686"/>
            <a:ext cx="904415" cy="483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70000"/>
              </a:lnSpc>
            </a:pPr>
            <a:r>
              <a:rPr lang="zh-CN" altLang="en-US" sz="3600" b="1" dirty="0"/>
              <a:t>例</a:t>
            </a:r>
            <a:r>
              <a:rPr lang="en-US" altLang="zh-CN" sz="3600" b="1" dirty="0"/>
              <a:t>5</a:t>
            </a:r>
            <a:endParaRPr lang="zh-CN" altLang="en-US" sz="3600" b="1" dirty="0">
              <a:solidFill>
                <a:srgbClr val="0000FF"/>
              </a:solidFill>
            </a:endParaRPr>
          </a:p>
        </p:txBody>
      </p:sp>
      <p:sp>
        <p:nvSpPr>
          <p:cNvPr id="441347" name="Line 3"/>
          <p:cNvSpPr>
            <a:spLocks noChangeShapeType="1"/>
          </p:cNvSpPr>
          <p:nvPr/>
        </p:nvSpPr>
        <p:spPr bwMode="auto">
          <a:xfrm>
            <a:off x="1905000" y="1371600"/>
            <a:ext cx="8534400" cy="0"/>
          </a:xfrm>
          <a:prstGeom prst="line">
            <a:avLst/>
          </a:prstGeom>
          <a:noFill/>
          <a:ln w="28575">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1348" name="Text Box 4"/>
          <p:cNvSpPr txBox="1">
            <a:spLocks noChangeArrowheads="1"/>
          </p:cNvSpPr>
          <p:nvPr/>
        </p:nvSpPr>
        <p:spPr bwMode="auto">
          <a:xfrm>
            <a:off x="1905001" y="1447800"/>
            <a:ext cx="8397875"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200" b="1" dirty="0">
                <a:latin typeface="Times New Roman" panose="02020503050405090304" pitchFamily="18" charset="0"/>
                <a:cs typeface="Times New Roman" panose="02020503050405090304" pitchFamily="18" charset="0"/>
              </a:rPr>
              <a:t>设因变量</a:t>
            </a:r>
            <a:r>
              <a:rPr lang="en-US" altLang="zh-CN" sz="3200" b="1" i="1" dirty="0">
                <a:latin typeface="Times New Roman" panose="02020503050405090304" pitchFamily="18" charset="0"/>
                <a:cs typeface="Times New Roman" panose="02020503050405090304" pitchFamily="18" charset="0"/>
              </a:rPr>
              <a:t>Y</a:t>
            </a:r>
            <a:r>
              <a:rPr lang="zh-CN" altLang="en-US" sz="3200" b="1" dirty="0">
                <a:latin typeface="Times New Roman" panose="02020503050405090304" pitchFamily="18" charset="0"/>
                <a:cs typeface="Times New Roman" panose="02020503050405090304" pitchFamily="18" charset="0"/>
              </a:rPr>
              <a:t>与</a:t>
            </a:r>
            <a:r>
              <a:rPr lang="en-US" altLang="zh-CN" sz="3200" b="1" i="1" dirty="0">
                <a:latin typeface="Times New Roman" panose="02020503050405090304" pitchFamily="18" charset="0"/>
                <a:cs typeface="Times New Roman" panose="02020503050405090304" pitchFamily="18" charset="0"/>
              </a:rPr>
              <a:t>x</a:t>
            </a:r>
            <a:r>
              <a:rPr lang="en-US" altLang="zh-CN" sz="3200" b="1" baseline="-20000" dirty="0">
                <a:latin typeface="Times New Roman" panose="02020503050405090304" pitchFamily="18" charset="0"/>
                <a:cs typeface="Times New Roman" panose="02020503050405090304" pitchFamily="18" charset="0"/>
              </a:rPr>
              <a:t>1 </a:t>
            </a:r>
            <a:r>
              <a:rPr lang="en-US" altLang="zh-CN" sz="3200" b="1" dirty="0">
                <a:latin typeface="Times New Roman" panose="02020503050405090304" pitchFamily="18" charset="0"/>
                <a:cs typeface="Times New Roman" panose="02020503050405090304" pitchFamily="18" charset="0"/>
              </a:rPr>
              <a:t>,</a:t>
            </a:r>
            <a:r>
              <a:rPr lang="en-US" altLang="zh-CN" sz="3200" b="1" baseline="-20000" dirty="0">
                <a:latin typeface="Times New Roman" panose="02020503050405090304" pitchFamily="18" charset="0"/>
                <a:cs typeface="Times New Roman" panose="02020503050405090304" pitchFamily="18" charset="0"/>
              </a:rPr>
              <a:t> </a:t>
            </a:r>
            <a:r>
              <a:rPr lang="en-US" altLang="zh-CN" sz="3200" b="1" i="1" dirty="0">
                <a:latin typeface="Times New Roman" panose="02020503050405090304" pitchFamily="18" charset="0"/>
                <a:cs typeface="Times New Roman" panose="02020503050405090304" pitchFamily="18" charset="0"/>
              </a:rPr>
              <a:t>x</a:t>
            </a:r>
            <a:r>
              <a:rPr lang="en-US" altLang="zh-CN" sz="3200" b="1" baseline="-20000" dirty="0">
                <a:latin typeface="Times New Roman" panose="02020503050405090304" pitchFamily="18" charset="0"/>
                <a:cs typeface="Times New Roman" panose="02020503050405090304" pitchFamily="18" charset="0"/>
              </a:rPr>
              <a:t>2</a:t>
            </a:r>
            <a:r>
              <a:rPr lang="zh-CN" altLang="en-US" sz="3200" b="1" dirty="0">
                <a:latin typeface="Times New Roman" panose="02020503050405090304" pitchFamily="18" charset="0"/>
                <a:cs typeface="Times New Roman" panose="02020503050405090304" pitchFamily="18" charset="0"/>
              </a:rPr>
              <a:t>线性相关</a:t>
            </a:r>
            <a:r>
              <a:rPr lang="en-US" altLang="zh-CN" sz="3200" b="1" dirty="0">
                <a:latin typeface="Times New Roman" panose="02020503050405090304" pitchFamily="18" charset="0"/>
                <a:cs typeface="Times New Roman" panose="02020503050405090304" pitchFamily="18" charset="0"/>
              </a:rPr>
              <a:t>,</a:t>
            </a:r>
            <a:r>
              <a:rPr lang="en-US" altLang="zh-CN" sz="3200" b="1" i="1" dirty="0">
                <a:latin typeface="Times New Roman" panose="02020503050405090304" pitchFamily="18" charset="0"/>
                <a:cs typeface="Times New Roman" panose="02020503050405090304" pitchFamily="18" charset="0"/>
              </a:rPr>
              <a:t>n</a:t>
            </a:r>
            <a:r>
              <a:rPr lang="en-US" altLang="zh-CN" sz="3200" b="1" dirty="0">
                <a:latin typeface="Times New Roman" panose="02020503050405090304" pitchFamily="18" charset="0"/>
                <a:cs typeface="Times New Roman" panose="02020503050405090304" pitchFamily="18" charset="0"/>
              </a:rPr>
              <a:t>=5</a:t>
            </a:r>
            <a:r>
              <a:rPr lang="zh-CN" altLang="en-US" sz="3200" b="1" dirty="0">
                <a:latin typeface="Times New Roman" panose="02020503050405090304" pitchFamily="18" charset="0"/>
                <a:cs typeface="Times New Roman" panose="02020503050405090304" pitchFamily="18" charset="0"/>
              </a:rPr>
              <a:t>次观测数据如下</a:t>
            </a:r>
            <a:r>
              <a:rPr lang="en-US" altLang="zh-CN" sz="3200" b="1" dirty="0">
                <a:latin typeface="Times New Roman" panose="02020503050405090304" pitchFamily="18" charset="0"/>
                <a:cs typeface="Times New Roman" panose="02020503050405090304" pitchFamily="18" charset="0"/>
              </a:rPr>
              <a:t>:</a:t>
            </a:r>
            <a:endParaRPr lang="en-US" altLang="zh-CN" sz="3200" b="1" dirty="0">
              <a:latin typeface="Times New Roman" panose="02020503050405090304" pitchFamily="18" charset="0"/>
              <a:cs typeface="Times New Roman" panose="02020503050405090304" pitchFamily="18" charset="0"/>
            </a:endParaRPr>
          </a:p>
        </p:txBody>
      </p:sp>
      <p:sp>
        <p:nvSpPr>
          <p:cNvPr id="441355" name="Text Box 11"/>
          <p:cNvSpPr txBox="1">
            <a:spLocks noChangeArrowheads="1"/>
          </p:cNvSpPr>
          <p:nvPr/>
        </p:nvSpPr>
        <p:spPr bwMode="auto">
          <a:xfrm>
            <a:off x="3276600" y="2419707"/>
            <a:ext cx="2438400" cy="2435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80000"/>
              </a:lnSpc>
            </a:pPr>
            <a:r>
              <a:rPr lang="en-US" altLang="zh-CN" sz="3200" b="1" i="1" dirty="0">
                <a:latin typeface="Times New Roman" panose="02020503050405090304" pitchFamily="18" charset="0"/>
                <a:cs typeface="Times New Roman" panose="02020503050405090304" pitchFamily="18" charset="0"/>
              </a:rPr>
              <a:t>x</a:t>
            </a:r>
            <a:r>
              <a:rPr lang="en-US" altLang="zh-CN" sz="3200" b="1" baseline="-20000" dirty="0">
                <a:latin typeface="Times New Roman" panose="02020503050405090304" pitchFamily="18" charset="0"/>
                <a:cs typeface="Times New Roman" panose="02020503050405090304" pitchFamily="18" charset="0"/>
              </a:rPr>
              <a:t>1     </a:t>
            </a:r>
            <a:r>
              <a:rPr lang="en-US" altLang="zh-CN" sz="3200" b="1" i="1" dirty="0">
                <a:latin typeface="Times New Roman" panose="02020503050405090304" pitchFamily="18" charset="0"/>
                <a:cs typeface="Times New Roman" panose="02020503050405090304" pitchFamily="18" charset="0"/>
              </a:rPr>
              <a:t>x</a:t>
            </a:r>
            <a:r>
              <a:rPr lang="en-US" altLang="zh-CN" sz="3200" b="1" baseline="-20000" dirty="0">
                <a:latin typeface="Times New Roman" panose="02020503050405090304" pitchFamily="18" charset="0"/>
                <a:cs typeface="Times New Roman" panose="02020503050405090304" pitchFamily="18" charset="0"/>
              </a:rPr>
              <a:t>2      </a:t>
            </a:r>
            <a:r>
              <a:rPr lang="en-US" altLang="zh-CN" sz="3200" b="1" i="1" dirty="0">
                <a:latin typeface="Times New Roman" panose="02020503050405090304" pitchFamily="18" charset="0"/>
                <a:cs typeface="Times New Roman" panose="02020503050405090304" pitchFamily="18" charset="0"/>
              </a:rPr>
              <a:t>Y</a:t>
            </a:r>
            <a:r>
              <a:rPr lang="en-US" altLang="zh-CN" sz="3200" b="1" baseline="-20000" dirty="0">
                <a:latin typeface="Times New Roman" panose="02020503050405090304" pitchFamily="18" charset="0"/>
                <a:cs typeface="Times New Roman" panose="02020503050405090304" pitchFamily="18" charset="0"/>
              </a:rPr>
              <a:t> </a:t>
            </a:r>
            <a:endParaRPr lang="en-US" altLang="zh-CN" sz="3200" b="1" baseline="-20000" dirty="0">
              <a:latin typeface="Times New Roman" panose="02020503050405090304" pitchFamily="18" charset="0"/>
              <a:cs typeface="Times New Roman" panose="02020503050405090304" pitchFamily="18" charset="0"/>
            </a:endParaRPr>
          </a:p>
          <a:p>
            <a:pPr>
              <a:lnSpc>
                <a:spcPct val="80000"/>
              </a:lnSpc>
            </a:pPr>
            <a:r>
              <a:rPr lang="en-US" altLang="zh-CN" sz="3200" b="1" dirty="0">
                <a:latin typeface="Times New Roman" panose="02020503050405090304" pitchFamily="18" charset="0"/>
                <a:cs typeface="Times New Roman" panose="02020503050405090304" pitchFamily="18" charset="0"/>
              </a:rPr>
              <a:t>0    -1     1</a:t>
            </a:r>
            <a:endParaRPr lang="en-US" altLang="zh-CN" sz="3200" b="1" dirty="0">
              <a:latin typeface="Times New Roman" panose="02020503050405090304" pitchFamily="18" charset="0"/>
              <a:cs typeface="Times New Roman" panose="02020503050405090304" pitchFamily="18" charset="0"/>
            </a:endParaRPr>
          </a:p>
          <a:p>
            <a:pPr>
              <a:lnSpc>
                <a:spcPct val="80000"/>
              </a:lnSpc>
            </a:pPr>
            <a:r>
              <a:rPr lang="en-US" altLang="zh-CN" sz="3200" b="1" dirty="0">
                <a:latin typeface="Times New Roman" panose="02020503050405090304" pitchFamily="18" charset="0"/>
                <a:cs typeface="Times New Roman" panose="02020503050405090304" pitchFamily="18" charset="0"/>
              </a:rPr>
              <a:t>1    -1     4</a:t>
            </a:r>
            <a:endParaRPr lang="en-US" altLang="zh-CN" sz="3200" b="1" dirty="0">
              <a:latin typeface="Times New Roman" panose="02020503050405090304" pitchFamily="18" charset="0"/>
              <a:cs typeface="Times New Roman" panose="02020503050405090304" pitchFamily="18" charset="0"/>
            </a:endParaRPr>
          </a:p>
          <a:p>
            <a:pPr>
              <a:lnSpc>
                <a:spcPct val="80000"/>
              </a:lnSpc>
            </a:pPr>
            <a:r>
              <a:rPr lang="en-US" altLang="zh-CN" sz="3200" b="1" dirty="0">
                <a:latin typeface="Times New Roman" panose="02020503050405090304" pitchFamily="18" charset="0"/>
                <a:cs typeface="Times New Roman" panose="02020503050405090304" pitchFamily="18" charset="0"/>
              </a:rPr>
              <a:t>2     2     3  </a:t>
            </a:r>
            <a:endParaRPr lang="en-US" altLang="zh-CN" sz="3200" b="1" dirty="0">
              <a:latin typeface="Times New Roman" panose="02020503050405090304" pitchFamily="18" charset="0"/>
              <a:cs typeface="Times New Roman" panose="02020503050405090304" pitchFamily="18" charset="0"/>
            </a:endParaRPr>
          </a:p>
          <a:p>
            <a:pPr>
              <a:lnSpc>
                <a:spcPct val="80000"/>
              </a:lnSpc>
            </a:pPr>
            <a:r>
              <a:rPr lang="en-US" altLang="zh-CN" sz="3200" b="1" dirty="0">
                <a:latin typeface="Times New Roman" panose="02020503050405090304" pitchFamily="18" charset="0"/>
                <a:cs typeface="Times New Roman" panose="02020503050405090304" pitchFamily="18" charset="0"/>
              </a:rPr>
              <a:t>3     3     8</a:t>
            </a:r>
            <a:endParaRPr lang="en-US" altLang="zh-CN" sz="3200" b="1" dirty="0">
              <a:latin typeface="Times New Roman" panose="02020503050405090304" pitchFamily="18" charset="0"/>
              <a:cs typeface="Times New Roman" panose="02020503050405090304" pitchFamily="18" charset="0"/>
            </a:endParaRPr>
          </a:p>
          <a:p>
            <a:pPr>
              <a:lnSpc>
                <a:spcPct val="80000"/>
              </a:lnSpc>
            </a:pPr>
            <a:r>
              <a:rPr lang="en-US" altLang="zh-CN" sz="3200" b="1" dirty="0">
                <a:latin typeface="Times New Roman" panose="02020503050405090304" pitchFamily="18" charset="0"/>
                <a:cs typeface="Times New Roman" panose="02020503050405090304" pitchFamily="18" charset="0"/>
              </a:rPr>
              <a:t>4     2     9</a:t>
            </a:r>
            <a:endParaRPr lang="en-US" altLang="zh-CN" sz="3200" b="1" dirty="0">
              <a:latin typeface="Times New Roman" panose="02020503050405090304" pitchFamily="18" charset="0"/>
              <a:cs typeface="Times New Roman" panose="02020503050405090304" pitchFamily="18" charset="0"/>
            </a:endParaRPr>
          </a:p>
        </p:txBody>
      </p:sp>
      <p:sp>
        <p:nvSpPr>
          <p:cNvPr id="441356" name="Line 12"/>
          <p:cNvSpPr>
            <a:spLocks noChangeShapeType="1"/>
          </p:cNvSpPr>
          <p:nvPr/>
        </p:nvSpPr>
        <p:spPr bwMode="auto">
          <a:xfrm>
            <a:off x="3048000" y="2851028"/>
            <a:ext cx="21336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1357" name="Line 13"/>
          <p:cNvSpPr>
            <a:spLocks noChangeShapeType="1"/>
          </p:cNvSpPr>
          <p:nvPr/>
        </p:nvSpPr>
        <p:spPr bwMode="auto">
          <a:xfrm>
            <a:off x="4495800" y="2495906"/>
            <a:ext cx="0" cy="2362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1358" name="Text Box 14"/>
          <p:cNvSpPr txBox="1">
            <a:spLocks noChangeArrowheads="1"/>
          </p:cNvSpPr>
          <p:nvPr/>
        </p:nvSpPr>
        <p:spPr bwMode="auto">
          <a:xfrm>
            <a:off x="5735639" y="2638781"/>
            <a:ext cx="42830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200" b="1" dirty="0">
                <a:latin typeface="Times New Roman" panose="02020503050405090304" pitchFamily="18" charset="0"/>
                <a:cs typeface="Times New Roman" panose="02020503050405090304" pitchFamily="18" charset="0"/>
              </a:rPr>
              <a:t>设</a:t>
            </a:r>
            <a:r>
              <a:rPr lang="en-US" altLang="zh-CN" sz="3200" b="1" i="1" dirty="0">
                <a:latin typeface="Times New Roman" panose="02020503050405090304" pitchFamily="18" charset="0"/>
                <a:cs typeface="Times New Roman" panose="02020503050405090304" pitchFamily="18" charset="0"/>
              </a:rPr>
              <a:t>n</a:t>
            </a:r>
            <a:r>
              <a:rPr lang="zh-CN" altLang="en-US" sz="3200" b="1" dirty="0">
                <a:latin typeface="Times New Roman" panose="02020503050405090304" pitchFamily="18" charset="0"/>
                <a:cs typeface="Times New Roman" panose="02020503050405090304" pitchFamily="18" charset="0"/>
              </a:rPr>
              <a:t>次观测数据满足</a:t>
            </a:r>
            <a:r>
              <a:rPr lang="en-US" altLang="zh-CN" sz="3200" b="1" dirty="0">
                <a:latin typeface="Times New Roman" panose="02020503050405090304" pitchFamily="18" charset="0"/>
                <a:cs typeface="Times New Roman" panose="02020503050405090304" pitchFamily="18" charset="0"/>
              </a:rPr>
              <a:t>:</a:t>
            </a:r>
            <a:endParaRPr lang="en-US" altLang="zh-CN" sz="3200" b="1" dirty="0">
              <a:latin typeface="Times New Roman" panose="02020503050405090304" pitchFamily="18" charset="0"/>
              <a:cs typeface="Times New Roman" panose="02020503050405090304" pitchFamily="18" charset="0"/>
            </a:endParaRPr>
          </a:p>
        </p:txBody>
      </p:sp>
      <p:graphicFrame>
        <p:nvGraphicFramePr>
          <p:cNvPr id="441359" name="Object 15"/>
          <p:cNvGraphicFramePr>
            <a:graphicFrameLocks noChangeAspect="1"/>
          </p:cNvGraphicFramePr>
          <p:nvPr/>
        </p:nvGraphicFramePr>
        <p:xfrm>
          <a:off x="5662613" y="3255963"/>
          <a:ext cx="4675187" cy="1414462"/>
        </p:xfrm>
        <a:graphic>
          <a:graphicData uri="http://schemas.openxmlformats.org/presentationml/2006/ole">
            <mc:AlternateContent xmlns:mc="http://schemas.openxmlformats.org/markup-compatibility/2006">
              <mc:Choice xmlns:v="urn:schemas-microsoft-com:vml" Requires="v">
                <p:oleObj spid="_x0000_s25601" name="Equation" r:id="rId1" imgW="36271200" imgH="10972800" progId="Equation.DSMT4">
                  <p:embed/>
                </p:oleObj>
              </mc:Choice>
              <mc:Fallback>
                <p:oleObj name="Equation" r:id="rId1" imgW="36271200" imgH="10972800" progId="Equation.DSMT4">
                  <p:embed/>
                  <p:pic>
                    <p:nvPicPr>
                      <p:cNvPr id="0" name="Object 15"/>
                      <p:cNvPicPr>
                        <a:picLocks noChangeAspect="1" noChangeArrowheads="1"/>
                      </p:cNvPicPr>
                      <p:nvPr/>
                    </p:nvPicPr>
                    <p:blipFill>
                      <a:blip r:embed="rId2"/>
                      <a:srcRect/>
                      <a:stretch>
                        <a:fillRect/>
                      </a:stretch>
                    </p:blipFill>
                    <p:spPr bwMode="auto">
                      <a:xfrm>
                        <a:off x="5662613" y="3255963"/>
                        <a:ext cx="4675187" cy="1414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1360" name="Text Box 16"/>
          <p:cNvSpPr txBox="1">
            <a:spLocks noChangeArrowheads="1"/>
          </p:cNvSpPr>
          <p:nvPr/>
        </p:nvSpPr>
        <p:spPr bwMode="auto">
          <a:xfrm>
            <a:off x="1905001" y="4858107"/>
            <a:ext cx="8474075" cy="184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en-US" altLang="zh-CN" sz="3200" b="1" dirty="0">
                <a:latin typeface="Times New Roman" panose="02020503050405090304" pitchFamily="18" charset="0"/>
                <a:cs typeface="Times New Roman" panose="02020503050405090304" pitchFamily="18" charset="0"/>
              </a:rPr>
              <a:t>(1)</a:t>
            </a:r>
            <a:r>
              <a:rPr lang="zh-CN" altLang="en-US" sz="3200" b="1" dirty="0">
                <a:latin typeface="Times New Roman" panose="02020503050405090304" pitchFamily="18" charset="0"/>
                <a:cs typeface="Times New Roman" panose="02020503050405090304" pitchFamily="18" charset="0"/>
              </a:rPr>
              <a:t>试求参数</a:t>
            </a:r>
            <a:r>
              <a:rPr lang="zh-CN" altLang="en-US" sz="3200" b="1" i="1" dirty="0">
                <a:latin typeface="Times New Roman" panose="02020503050405090304" pitchFamily="18" charset="0"/>
                <a:cs typeface="Times New Roman" panose="02020503050405090304" pitchFamily="18" charset="0"/>
                <a:sym typeface="Symbol" panose="05050102010706020507" pitchFamily="18" charset="2"/>
              </a:rPr>
              <a:t></a:t>
            </a:r>
            <a:r>
              <a:rPr lang="en-US" altLang="zh-CN" sz="3200" b="1" baseline="-20000" dirty="0">
                <a:latin typeface="Times New Roman" panose="02020503050405090304" pitchFamily="18" charset="0"/>
                <a:cs typeface="Times New Roman" panose="02020503050405090304" pitchFamily="18" charset="0"/>
                <a:sym typeface="Symbol" panose="05050102010706020507" pitchFamily="18" charset="2"/>
              </a:rPr>
              <a:t>0 </a:t>
            </a:r>
            <a:r>
              <a:rPr lang="en-US" altLang="zh-CN" sz="3200" b="1" dirty="0">
                <a:latin typeface="Times New Roman" panose="02020503050405090304" pitchFamily="18" charset="0"/>
                <a:cs typeface="Times New Roman" panose="02020503050405090304" pitchFamily="18" charset="0"/>
              </a:rPr>
              <a:t>, </a:t>
            </a:r>
            <a:r>
              <a:rPr lang="en-US" altLang="zh-CN" sz="3200" b="1" i="1" dirty="0">
                <a:latin typeface="Times New Roman" panose="02020503050405090304" pitchFamily="18" charset="0"/>
                <a:cs typeface="Times New Roman" panose="02020503050405090304" pitchFamily="18" charset="0"/>
                <a:sym typeface="Symbol" panose="05050102010706020507" pitchFamily="18" charset="2"/>
              </a:rPr>
              <a:t></a:t>
            </a:r>
            <a:r>
              <a:rPr lang="en-US" altLang="zh-CN" sz="3200" b="1" baseline="-20000" dirty="0">
                <a:latin typeface="Times New Roman" panose="02020503050405090304" pitchFamily="18" charset="0"/>
                <a:cs typeface="Times New Roman" panose="02020503050405090304" pitchFamily="18" charset="0"/>
                <a:sym typeface="Symbol" panose="05050102010706020507" pitchFamily="18" charset="2"/>
              </a:rPr>
              <a:t>1 </a:t>
            </a:r>
            <a:r>
              <a:rPr lang="en-US" altLang="zh-CN" sz="3200" b="1" dirty="0">
                <a:latin typeface="Times New Roman" panose="02020503050405090304" pitchFamily="18" charset="0"/>
                <a:cs typeface="Times New Roman" panose="02020503050405090304" pitchFamily="18" charset="0"/>
              </a:rPr>
              <a:t>,</a:t>
            </a:r>
            <a:r>
              <a:rPr lang="en-US" altLang="zh-CN" sz="3200" b="1" i="1" dirty="0">
                <a:latin typeface="Times New Roman" panose="02020503050405090304" pitchFamily="18" charset="0"/>
                <a:cs typeface="Times New Roman" panose="02020503050405090304" pitchFamily="18" charset="0"/>
                <a:sym typeface="Symbol" panose="05050102010706020507" pitchFamily="18" charset="2"/>
              </a:rPr>
              <a:t></a:t>
            </a:r>
            <a:r>
              <a:rPr lang="en-US" altLang="zh-CN" sz="3200" b="1" baseline="-20000" dirty="0">
                <a:latin typeface="Times New Roman" panose="02020503050405090304" pitchFamily="18" charset="0"/>
                <a:cs typeface="Times New Roman" panose="02020503050405090304" pitchFamily="18" charset="0"/>
                <a:sym typeface="Symbol" panose="05050102010706020507" pitchFamily="18" charset="2"/>
              </a:rPr>
              <a:t>2 </a:t>
            </a:r>
            <a:r>
              <a:rPr lang="zh-CN" altLang="en-US" sz="3200" b="1" dirty="0">
                <a:latin typeface="Times New Roman" panose="02020503050405090304" pitchFamily="18" charset="0"/>
                <a:cs typeface="Times New Roman" panose="02020503050405090304" pitchFamily="18" charset="0"/>
              </a:rPr>
              <a:t>的最小二乘估计</a:t>
            </a:r>
            <a:r>
              <a:rPr lang="en-US" altLang="zh-CN" sz="3200" b="1" dirty="0">
                <a:latin typeface="Times New Roman" panose="02020503050405090304" pitchFamily="18" charset="0"/>
                <a:cs typeface="Times New Roman" panose="02020503050405090304" pitchFamily="18" charset="0"/>
              </a:rPr>
              <a:t>;</a:t>
            </a:r>
            <a:endParaRPr lang="en-US" altLang="zh-CN" sz="3200" b="1" dirty="0">
              <a:latin typeface="Times New Roman" panose="02020503050405090304" pitchFamily="18" charset="0"/>
              <a:cs typeface="Times New Roman" panose="02020503050405090304" pitchFamily="18" charset="0"/>
            </a:endParaRPr>
          </a:p>
          <a:p>
            <a:pPr>
              <a:lnSpc>
                <a:spcPct val="120000"/>
              </a:lnSpc>
            </a:pPr>
            <a:r>
              <a:rPr lang="en-US" altLang="zh-CN" sz="3200" b="1" dirty="0">
                <a:latin typeface="Times New Roman" panose="02020503050405090304" pitchFamily="18" charset="0"/>
                <a:cs typeface="Times New Roman" panose="02020503050405090304" pitchFamily="18" charset="0"/>
              </a:rPr>
              <a:t>(2) </a:t>
            </a:r>
            <a:r>
              <a:rPr lang="zh-CN" altLang="en-US" sz="3200" b="1" dirty="0">
                <a:latin typeface="Times New Roman" panose="02020503050405090304" pitchFamily="18" charset="0"/>
                <a:cs typeface="Times New Roman" panose="02020503050405090304" pitchFamily="18" charset="0"/>
              </a:rPr>
              <a:t>计算</a:t>
            </a:r>
            <a:endParaRPr lang="zh-CN" altLang="en-US" sz="3200" b="1" dirty="0">
              <a:latin typeface="Times New Roman" panose="02020503050405090304" pitchFamily="18" charset="0"/>
              <a:cs typeface="Times New Roman" panose="02020503050405090304" pitchFamily="18" charset="0"/>
            </a:endParaRPr>
          </a:p>
          <a:p>
            <a:pPr>
              <a:lnSpc>
                <a:spcPct val="120000"/>
              </a:lnSpc>
            </a:pPr>
            <a:r>
              <a:rPr lang="en-US" altLang="zh-CN" sz="3200" b="1" dirty="0">
                <a:latin typeface="Times New Roman" panose="02020503050405090304" pitchFamily="18" charset="0"/>
                <a:cs typeface="Times New Roman" panose="02020503050405090304" pitchFamily="18" charset="0"/>
              </a:rPr>
              <a:t>(3) </a:t>
            </a:r>
            <a:r>
              <a:rPr lang="zh-CN" altLang="en-US" sz="3200" b="1" dirty="0">
                <a:latin typeface="Times New Roman" panose="02020503050405090304" pitchFamily="18" charset="0"/>
                <a:cs typeface="Times New Roman" panose="02020503050405090304" pitchFamily="18" charset="0"/>
              </a:rPr>
              <a:t>计算回归平方和</a:t>
            </a:r>
            <a:r>
              <a:rPr lang="en-US" altLang="zh-CN" sz="3200" b="1" i="1" dirty="0">
                <a:latin typeface="Times New Roman" panose="02020503050405090304" pitchFamily="18" charset="0"/>
                <a:cs typeface="Times New Roman" panose="02020503050405090304" pitchFamily="18" charset="0"/>
              </a:rPr>
              <a:t>U</a:t>
            </a:r>
            <a:r>
              <a:rPr lang="zh-CN" altLang="en-US" sz="3200" b="1" dirty="0">
                <a:latin typeface="Times New Roman" panose="02020503050405090304" pitchFamily="18" charset="0"/>
                <a:cs typeface="Times New Roman" panose="02020503050405090304" pitchFamily="18" charset="0"/>
              </a:rPr>
              <a:t>及决定系数</a:t>
            </a:r>
            <a:r>
              <a:rPr lang="en-US" altLang="zh-CN" sz="3200" b="1" i="1" dirty="0">
                <a:latin typeface="Times New Roman" panose="02020503050405090304" pitchFamily="18" charset="0"/>
                <a:cs typeface="Times New Roman" panose="02020503050405090304" pitchFamily="18" charset="0"/>
              </a:rPr>
              <a:t>R</a:t>
            </a:r>
            <a:r>
              <a:rPr lang="en-US" altLang="zh-CN" sz="3200" b="1" baseline="18000" dirty="0">
                <a:latin typeface="Times New Roman" panose="02020503050405090304" pitchFamily="18" charset="0"/>
                <a:cs typeface="Times New Roman" panose="02020503050405090304" pitchFamily="18" charset="0"/>
              </a:rPr>
              <a:t>2 </a:t>
            </a:r>
            <a:r>
              <a:rPr lang="en-US" altLang="zh-CN" sz="3200" b="1" dirty="0">
                <a:latin typeface="Times New Roman" panose="02020503050405090304" pitchFamily="18" charset="0"/>
                <a:cs typeface="Times New Roman" panose="02020503050405090304" pitchFamily="18" charset="0"/>
              </a:rPr>
              <a:t>.</a:t>
            </a:r>
            <a:endParaRPr lang="en-US" altLang="zh-CN" sz="3200" b="1" dirty="0">
              <a:latin typeface="Times New Roman" panose="02020503050405090304" pitchFamily="18" charset="0"/>
              <a:cs typeface="Times New Roman" panose="02020503050405090304" pitchFamily="18" charset="0"/>
            </a:endParaRPr>
          </a:p>
        </p:txBody>
      </p:sp>
      <p:graphicFrame>
        <p:nvGraphicFramePr>
          <p:cNvPr id="441361" name="Object 17"/>
          <p:cNvGraphicFramePr>
            <a:graphicFrameLocks noChangeAspect="1"/>
          </p:cNvGraphicFramePr>
          <p:nvPr/>
        </p:nvGraphicFramePr>
        <p:xfrm>
          <a:off x="3429000" y="5391507"/>
          <a:ext cx="6553200" cy="784225"/>
        </p:xfrm>
        <a:graphic>
          <a:graphicData uri="http://schemas.openxmlformats.org/presentationml/2006/ole">
            <mc:AlternateContent xmlns:mc="http://schemas.openxmlformats.org/markup-compatibility/2006">
              <mc:Choice xmlns:v="urn:schemas-microsoft-com:vml" Requires="v">
                <p:oleObj spid="_x0000_s3" name="Equation" r:id="rId3" imgW="2120900" imgH="254000" progId="Equation.3">
                  <p:embed/>
                </p:oleObj>
              </mc:Choice>
              <mc:Fallback>
                <p:oleObj name="Equation" r:id="rId3" imgW="2120900" imgH="254000" progId="Equation.3">
                  <p:embed/>
                  <p:pic>
                    <p:nvPicPr>
                      <p:cNvPr id="0" name="Object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9000" y="5391507"/>
                        <a:ext cx="6553200" cy="784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41360">
                                            <p:txEl>
                                              <p:pRg st="0" end="0"/>
                                            </p:txEl>
                                          </p:spTgt>
                                        </p:tgtEl>
                                        <p:attrNameLst>
                                          <p:attrName>style.visibility</p:attrName>
                                        </p:attrNameLst>
                                      </p:cBhvr>
                                      <p:to>
                                        <p:strVal val="visible"/>
                                      </p:to>
                                    </p:set>
                                    <p:anim calcmode="lin" valueType="num">
                                      <p:cBhvr additive="base">
                                        <p:cTn id="7" dur="500" fill="hold"/>
                                        <p:tgtEl>
                                          <p:spTgt spid="44136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4136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41360">
                                            <p:txEl>
                                              <p:pRg st="1" end="1"/>
                                            </p:txEl>
                                          </p:spTgt>
                                        </p:tgtEl>
                                        <p:attrNameLst>
                                          <p:attrName>style.visibility</p:attrName>
                                        </p:attrNameLst>
                                      </p:cBhvr>
                                      <p:to>
                                        <p:strVal val="visible"/>
                                      </p:to>
                                    </p:set>
                                    <p:anim calcmode="lin" valueType="num">
                                      <p:cBhvr additive="base">
                                        <p:cTn id="13" dur="500" fill="hold"/>
                                        <p:tgtEl>
                                          <p:spTgt spid="44136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41360">
                                            <p:txEl>
                                              <p:pRg st="1" end="1"/>
                                            </p:txEl>
                                          </p:spTgt>
                                        </p:tgtEl>
                                        <p:attrNameLst>
                                          <p:attrName>ppt_y</p:attrName>
                                        </p:attrNameLst>
                                      </p:cBhvr>
                                      <p:tavLst>
                                        <p:tav tm="0">
                                          <p:val>
                                            <p:strVal val="1+#ppt_h/2"/>
                                          </p:val>
                                        </p:tav>
                                        <p:tav tm="100000">
                                          <p:val>
                                            <p:strVal val="#ppt_y"/>
                                          </p:val>
                                        </p:tav>
                                      </p:tavLst>
                                    </p:anim>
                                  </p:childTnLst>
                                </p:cTn>
                              </p:par>
                            </p:childTnLst>
                          </p:cTn>
                        </p:par>
                        <p:par>
                          <p:cTn id="15" fill="hold">
                            <p:stCondLst>
                              <p:cond delay="500"/>
                            </p:stCondLst>
                            <p:childTnLst>
                              <p:par>
                                <p:cTn id="16" presetID="2" presetClass="entr" presetSubtype="4" fill="hold" nodeType="afterEffect">
                                  <p:stCondLst>
                                    <p:cond delay="0"/>
                                  </p:stCondLst>
                                  <p:childTnLst>
                                    <p:set>
                                      <p:cBhvr>
                                        <p:cTn id="17" dur="1" fill="hold">
                                          <p:stCondLst>
                                            <p:cond delay="0"/>
                                          </p:stCondLst>
                                        </p:cTn>
                                        <p:tgtEl>
                                          <p:spTgt spid="441361"/>
                                        </p:tgtEl>
                                        <p:attrNameLst>
                                          <p:attrName>style.visibility</p:attrName>
                                        </p:attrNameLst>
                                      </p:cBhvr>
                                      <p:to>
                                        <p:strVal val="visible"/>
                                      </p:to>
                                    </p:set>
                                    <p:anim calcmode="lin" valueType="num">
                                      <p:cBhvr additive="base">
                                        <p:cTn id="18" dur="500" fill="hold"/>
                                        <p:tgtEl>
                                          <p:spTgt spid="441361"/>
                                        </p:tgtEl>
                                        <p:attrNameLst>
                                          <p:attrName>ppt_x</p:attrName>
                                        </p:attrNameLst>
                                      </p:cBhvr>
                                      <p:tavLst>
                                        <p:tav tm="0">
                                          <p:val>
                                            <p:strVal val="#ppt_x"/>
                                          </p:val>
                                        </p:tav>
                                        <p:tav tm="100000">
                                          <p:val>
                                            <p:strVal val="#ppt_x"/>
                                          </p:val>
                                        </p:tav>
                                      </p:tavLst>
                                    </p:anim>
                                    <p:anim calcmode="lin" valueType="num">
                                      <p:cBhvr additive="base">
                                        <p:cTn id="19" dur="500" fill="hold"/>
                                        <p:tgtEl>
                                          <p:spTgt spid="441361"/>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441360">
                                            <p:txEl>
                                              <p:pRg st="2" end="2"/>
                                            </p:txEl>
                                          </p:spTgt>
                                        </p:tgtEl>
                                        <p:attrNameLst>
                                          <p:attrName>style.visibility</p:attrName>
                                        </p:attrNameLst>
                                      </p:cBhvr>
                                      <p:to>
                                        <p:strVal val="visible"/>
                                      </p:to>
                                    </p:set>
                                    <p:anim calcmode="lin" valueType="num">
                                      <p:cBhvr additive="base">
                                        <p:cTn id="24" dur="500" fill="hold"/>
                                        <p:tgtEl>
                                          <p:spTgt spid="441360">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441360">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p:cNvSpPr>
            <a:spLocks noGrp="1"/>
          </p:cNvSpPr>
          <p:nvPr>
            <p:ph type="sldNum" sz="quarter" idx="12"/>
          </p:nvPr>
        </p:nvSpPr>
        <p:spPr/>
        <p:txBody>
          <a:bodyPr/>
          <a:lstStyle/>
          <a:p>
            <a:fld id="{7F258A79-95B0-4543-B66B-E68835D76AD8}" type="slidenum">
              <a:rPr lang="en-US" altLang="zh-CN"/>
            </a:fld>
            <a:endParaRPr lang="en-US" altLang="zh-CN"/>
          </a:p>
        </p:txBody>
      </p:sp>
      <p:sp>
        <p:nvSpPr>
          <p:cNvPr id="466947" name="Line 3"/>
          <p:cNvSpPr>
            <a:spLocks noChangeShapeType="1"/>
          </p:cNvSpPr>
          <p:nvPr/>
        </p:nvSpPr>
        <p:spPr bwMode="auto">
          <a:xfrm>
            <a:off x="1905000" y="1371600"/>
            <a:ext cx="8534400" cy="0"/>
          </a:xfrm>
          <a:prstGeom prst="line">
            <a:avLst/>
          </a:prstGeom>
          <a:noFill/>
          <a:ln w="28575">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6954" name="Text Box 10"/>
          <p:cNvSpPr txBox="1">
            <a:spLocks noChangeArrowheads="1"/>
          </p:cNvSpPr>
          <p:nvPr/>
        </p:nvSpPr>
        <p:spPr bwMode="auto">
          <a:xfrm>
            <a:off x="1919289" y="1341439"/>
            <a:ext cx="8474075" cy="624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en-US" altLang="zh-CN" sz="3200" b="1" dirty="0">
                <a:latin typeface="Times New Roman" panose="02020503050405090304" pitchFamily="18" charset="0"/>
                <a:cs typeface="Times New Roman" panose="02020503050405090304" pitchFamily="18" charset="0"/>
              </a:rPr>
              <a:t>(1) </a:t>
            </a:r>
            <a:r>
              <a:rPr lang="zh-CN" altLang="en-US" sz="3200" b="1" dirty="0">
                <a:latin typeface="Times New Roman" panose="02020503050405090304" pitchFamily="18" charset="0"/>
                <a:cs typeface="Times New Roman" panose="02020503050405090304" pitchFamily="18" charset="0"/>
              </a:rPr>
              <a:t>试求参数</a:t>
            </a:r>
            <a:r>
              <a:rPr lang="zh-CN" altLang="en-US" sz="3200" b="1" i="1" dirty="0">
                <a:latin typeface="Times New Roman" panose="02020503050405090304" pitchFamily="18" charset="0"/>
                <a:cs typeface="Times New Roman" panose="02020503050405090304" pitchFamily="18" charset="0"/>
                <a:sym typeface="Symbol" panose="05050102010706020507" pitchFamily="18" charset="2"/>
              </a:rPr>
              <a:t></a:t>
            </a:r>
            <a:r>
              <a:rPr lang="en-US" altLang="zh-CN" sz="3200" b="1" baseline="-20000" dirty="0">
                <a:latin typeface="Times New Roman" panose="02020503050405090304" pitchFamily="18" charset="0"/>
                <a:cs typeface="Times New Roman" panose="02020503050405090304" pitchFamily="18" charset="0"/>
                <a:sym typeface="Symbol" panose="05050102010706020507" pitchFamily="18" charset="2"/>
              </a:rPr>
              <a:t>0 </a:t>
            </a:r>
            <a:r>
              <a:rPr lang="en-US" altLang="zh-CN" sz="3200" b="1" dirty="0">
                <a:latin typeface="Times New Roman" panose="02020503050405090304" pitchFamily="18" charset="0"/>
                <a:cs typeface="Times New Roman" panose="02020503050405090304" pitchFamily="18" charset="0"/>
              </a:rPr>
              <a:t>, </a:t>
            </a:r>
            <a:r>
              <a:rPr lang="en-US" altLang="zh-CN" sz="3200" b="1" i="1" dirty="0">
                <a:latin typeface="Times New Roman" panose="02020503050405090304" pitchFamily="18" charset="0"/>
                <a:cs typeface="Times New Roman" panose="02020503050405090304" pitchFamily="18" charset="0"/>
                <a:sym typeface="Symbol" panose="05050102010706020507" pitchFamily="18" charset="2"/>
              </a:rPr>
              <a:t></a:t>
            </a:r>
            <a:r>
              <a:rPr lang="en-US" altLang="zh-CN" sz="3200" b="1" baseline="-20000" dirty="0">
                <a:latin typeface="Times New Roman" panose="02020503050405090304" pitchFamily="18" charset="0"/>
                <a:cs typeface="Times New Roman" panose="02020503050405090304" pitchFamily="18" charset="0"/>
                <a:sym typeface="Symbol" panose="05050102010706020507" pitchFamily="18" charset="2"/>
              </a:rPr>
              <a:t>1 </a:t>
            </a:r>
            <a:r>
              <a:rPr lang="en-US" altLang="zh-CN" sz="3200" b="1" dirty="0">
                <a:latin typeface="Times New Roman" panose="02020503050405090304" pitchFamily="18" charset="0"/>
                <a:cs typeface="Times New Roman" panose="02020503050405090304" pitchFamily="18" charset="0"/>
              </a:rPr>
              <a:t>,</a:t>
            </a:r>
            <a:r>
              <a:rPr lang="en-US" altLang="zh-CN" sz="3200" b="1" i="1" dirty="0">
                <a:latin typeface="Times New Roman" panose="02020503050405090304" pitchFamily="18" charset="0"/>
                <a:cs typeface="Times New Roman" panose="02020503050405090304" pitchFamily="18" charset="0"/>
                <a:sym typeface="Symbol" panose="05050102010706020507" pitchFamily="18" charset="2"/>
              </a:rPr>
              <a:t></a:t>
            </a:r>
            <a:r>
              <a:rPr lang="en-US" altLang="zh-CN" sz="3200" b="1" baseline="-20000" dirty="0">
                <a:latin typeface="Times New Roman" panose="02020503050405090304" pitchFamily="18" charset="0"/>
                <a:cs typeface="Times New Roman" panose="02020503050405090304" pitchFamily="18" charset="0"/>
                <a:sym typeface="Symbol" panose="05050102010706020507" pitchFamily="18" charset="2"/>
              </a:rPr>
              <a:t>2 </a:t>
            </a:r>
            <a:r>
              <a:rPr lang="zh-CN" altLang="en-US" sz="3200" b="1" dirty="0">
                <a:latin typeface="Times New Roman" panose="02020503050405090304" pitchFamily="18" charset="0"/>
                <a:cs typeface="Times New Roman" panose="02020503050405090304" pitchFamily="18" charset="0"/>
              </a:rPr>
              <a:t>的最小二乘估计</a:t>
            </a:r>
            <a:r>
              <a:rPr lang="en-US" altLang="zh-CN" sz="3200" b="1" dirty="0">
                <a:latin typeface="Times New Roman" panose="02020503050405090304" pitchFamily="18" charset="0"/>
                <a:cs typeface="Times New Roman" panose="02020503050405090304" pitchFamily="18" charset="0"/>
              </a:rPr>
              <a:t>;</a:t>
            </a:r>
            <a:endParaRPr lang="en-US" altLang="zh-CN" sz="3200" b="1" dirty="0">
              <a:latin typeface="Times New Roman" panose="02020503050405090304" pitchFamily="18" charset="0"/>
              <a:cs typeface="Times New Roman" panose="02020503050405090304" pitchFamily="18" charset="0"/>
            </a:endParaRPr>
          </a:p>
        </p:txBody>
      </p:sp>
      <p:sp>
        <p:nvSpPr>
          <p:cNvPr id="466956" name="Text Box 12"/>
          <p:cNvSpPr txBox="1">
            <a:spLocks noChangeArrowheads="1"/>
          </p:cNvSpPr>
          <p:nvPr/>
        </p:nvSpPr>
        <p:spPr bwMode="auto">
          <a:xfrm>
            <a:off x="2424114" y="1989139"/>
            <a:ext cx="66960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3200" b="1" dirty="0">
                <a:latin typeface="Times New Roman" panose="02020503050405090304" pitchFamily="18" charset="0"/>
                <a:cs typeface="Times New Roman" panose="02020503050405090304" pitchFamily="18" charset="0"/>
              </a:rPr>
              <a:t>假设</a:t>
            </a:r>
            <a:r>
              <a:rPr lang="en-US" altLang="zh-CN" sz="3200" b="1" i="1" dirty="0">
                <a:latin typeface="Times New Roman" panose="02020503050405090304" pitchFamily="18" charset="0"/>
                <a:cs typeface="Times New Roman" panose="02020503050405090304" pitchFamily="18" charset="0"/>
              </a:rPr>
              <a:t>n=</a:t>
            </a:r>
            <a:r>
              <a:rPr lang="en-US" altLang="zh-CN" sz="3200" b="1" dirty="0">
                <a:latin typeface="Times New Roman" panose="02020503050405090304" pitchFamily="18" charset="0"/>
                <a:cs typeface="Times New Roman" panose="02020503050405090304" pitchFamily="18" charset="0"/>
              </a:rPr>
              <a:t>5</a:t>
            </a:r>
            <a:r>
              <a:rPr lang="zh-CN" altLang="en-US" sz="3200" b="1" dirty="0">
                <a:latin typeface="Times New Roman" panose="02020503050405090304" pitchFamily="18" charset="0"/>
                <a:cs typeface="Times New Roman" panose="02020503050405090304" pitchFamily="18" charset="0"/>
              </a:rPr>
              <a:t>次观测数据满足</a:t>
            </a:r>
            <a:r>
              <a:rPr lang="en-US" altLang="zh-CN" sz="3200" b="1" dirty="0">
                <a:latin typeface="Times New Roman" panose="02020503050405090304" pitchFamily="18" charset="0"/>
                <a:cs typeface="Times New Roman" panose="02020503050405090304" pitchFamily="18" charset="0"/>
              </a:rPr>
              <a:t>:</a:t>
            </a:r>
            <a:endParaRPr lang="en-US" altLang="zh-CN" sz="3200" b="1" dirty="0">
              <a:latin typeface="Times New Roman" panose="02020503050405090304" pitchFamily="18" charset="0"/>
              <a:cs typeface="Times New Roman" panose="02020503050405090304" pitchFamily="18" charset="0"/>
            </a:endParaRPr>
          </a:p>
        </p:txBody>
      </p:sp>
      <p:graphicFrame>
        <p:nvGraphicFramePr>
          <p:cNvPr id="466957" name="Object 13"/>
          <p:cNvGraphicFramePr>
            <a:graphicFrameLocks noChangeAspect="1"/>
          </p:cNvGraphicFramePr>
          <p:nvPr/>
        </p:nvGraphicFramePr>
        <p:xfrm>
          <a:off x="2357438" y="2578100"/>
          <a:ext cx="6908800" cy="695325"/>
        </p:xfrm>
        <a:graphic>
          <a:graphicData uri="http://schemas.openxmlformats.org/presentationml/2006/ole">
            <mc:AlternateContent xmlns:mc="http://schemas.openxmlformats.org/markup-compatibility/2006">
              <mc:Choice xmlns:v="urn:schemas-microsoft-com:vml" Requires="v">
                <p:oleObj spid="_x0000_s25601" name="Equation" r:id="rId1" imgW="54559200" imgH="5486400" progId="Equation.DSMT4">
                  <p:embed/>
                </p:oleObj>
              </mc:Choice>
              <mc:Fallback>
                <p:oleObj name="Equation" r:id="rId1" imgW="54559200" imgH="5486400" progId="Equation.DSMT4">
                  <p:embed/>
                  <p:pic>
                    <p:nvPicPr>
                      <p:cNvPr id="0" name="Object 13"/>
                      <p:cNvPicPr>
                        <a:picLocks noChangeAspect="1" noChangeArrowheads="1"/>
                      </p:cNvPicPr>
                      <p:nvPr/>
                    </p:nvPicPr>
                    <p:blipFill>
                      <a:blip r:embed="rId2"/>
                      <a:srcRect/>
                      <a:stretch>
                        <a:fillRect/>
                      </a:stretch>
                    </p:blipFill>
                    <p:spPr bwMode="auto">
                      <a:xfrm>
                        <a:off x="2357438" y="2578100"/>
                        <a:ext cx="6908800" cy="695325"/>
                      </a:xfrm>
                      <a:prstGeom prst="rect">
                        <a:avLst/>
                      </a:prstGeom>
                      <a:noFill/>
                      <a:ln>
                        <a:noFill/>
                      </a:ln>
                      <a:effectLst/>
                    </p:spPr>
                  </p:pic>
                </p:oleObj>
              </mc:Fallback>
            </mc:AlternateContent>
          </a:graphicData>
        </a:graphic>
      </p:graphicFrame>
      <p:graphicFrame>
        <p:nvGraphicFramePr>
          <p:cNvPr id="466958" name="Object 14"/>
          <p:cNvGraphicFramePr>
            <a:graphicFrameLocks noChangeAspect="1"/>
          </p:cNvGraphicFramePr>
          <p:nvPr/>
        </p:nvGraphicFramePr>
        <p:xfrm>
          <a:off x="2071825" y="3133725"/>
          <a:ext cx="7481778" cy="3724275"/>
        </p:xfrm>
        <a:graphic>
          <a:graphicData uri="http://schemas.openxmlformats.org/presentationml/2006/ole">
            <mc:AlternateContent xmlns:mc="http://schemas.openxmlformats.org/markup-compatibility/2006">
              <mc:Choice xmlns:v="urn:schemas-microsoft-com:vml" Requires="v">
                <p:oleObj spid="_x0000_s3" name="Equation" r:id="rId3" imgW="73761600" imgH="39624000" progId="Equation.DSMT4">
                  <p:embed/>
                </p:oleObj>
              </mc:Choice>
              <mc:Fallback>
                <p:oleObj name="Equation" r:id="rId3" imgW="73761600" imgH="39624000" progId="Equation.DSMT4">
                  <p:embed/>
                  <p:pic>
                    <p:nvPicPr>
                      <p:cNvPr id="0" name="Object 14"/>
                      <p:cNvPicPr>
                        <a:picLocks noChangeAspect="1" noChangeArrowheads="1"/>
                      </p:cNvPicPr>
                      <p:nvPr/>
                    </p:nvPicPr>
                    <p:blipFill>
                      <a:blip r:embed="rId4"/>
                      <a:srcRect/>
                      <a:stretch>
                        <a:fillRect/>
                      </a:stretch>
                    </p:blipFill>
                    <p:spPr bwMode="auto">
                      <a:xfrm>
                        <a:off x="2071825" y="3133725"/>
                        <a:ext cx="7481778" cy="3724275"/>
                      </a:xfrm>
                      <a:prstGeom prst="rect">
                        <a:avLst/>
                      </a:prstGeom>
                      <a:noFill/>
                      <a:ln>
                        <a:noFill/>
                      </a:ln>
                      <a:effectLst/>
                    </p:spPr>
                  </p:pic>
                </p:oleObj>
              </mc:Fallback>
            </mc:AlternateContent>
          </a:graphicData>
        </a:graphic>
      </p:graphicFrame>
      <p:sp>
        <p:nvSpPr>
          <p:cNvPr id="466959" name="Line 15"/>
          <p:cNvSpPr>
            <a:spLocks noChangeShapeType="1"/>
          </p:cNvSpPr>
          <p:nvPr/>
        </p:nvSpPr>
        <p:spPr bwMode="auto">
          <a:xfrm>
            <a:off x="3935413" y="4724401"/>
            <a:ext cx="0" cy="1800225"/>
          </a:xfrm>
          <a:prstGeom prst="line">
            <a:avLst/>
          </a:prstGeom>
          <a:noFill/>
          <a:ln w="9525" cap="rnd">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66956">
                                            <p:txEl>
                                              <p:pRg st="0" end="0"/>
                                            </p:txEl>
                                          </p:spTgt>
                                        </p:tgtEl>
                                        <p:attrNameLst>
                                          <p:attrName>style.visibility</p:attrName>
                                        </p:attrNameLst>
                                      </p:cBhvr>
                                      <p:to>
                                        <p:strVal val="visible"/>
                                      </p:to>
                                    </p:set>
                                    <p:animEffect transition="in" filter="box(in)">
                                      <p:cBhvr>
                                        <p:cTn id="7" dur="500"/>
                                        <p:tgtEl>
                                          <p:spTgt spid="466956">
                                            <p:txEl>
                                              <p:pRg st="0" end="0"/>
                                            </p:txEl>
                                          </p:spTgt>
                                        </p:tgtEl>
                                      </p:cBhvr>
                                    </p:animEffect>
                                  </p:childTnLst>
                                </p:cTn>
                              </p:par>
                            </p:childTnLst>
                          </p:cTn>
                        </p:par>
                        <p:par>
                          <p:cTn id="8" fill="hold">
                            <p:stCondLst>
                              <p:cond delay="500"/>
                            </p:stCondLst>
                            <p:childTnLst>
                              <p:par>
                                <p:cTn id="9" presetID="4" presetClass="entr" presetSubtype="32" fill="hold" nodeType="afterEffect">
                                  <p:stCondLst>
                                    <p:cond delay="0"/>
                                  </p:stCondLst>
                                  <p:childTnLst>
                                    <p:set>
                                      <p:cBhvr>
                                        <p:cTn id="10" dur="1" fill="hold">
                                          <p:stCondLst>
                                            <p:cond delay="0"/>
                                          </p:stCondLst>
                                        </p:cTn>
                                        <p:tgtEl>
                                          <p:spTgt spid="466957"/>
                                        </p:tgtEl>
                                        <p:attrNameLst>
                                          <p:attrName>style.visibility</p:attrName>
                                        </p:attrNameLst>
                                      </p:cBhvr>
                                      <p:to>
                                        <p:strVal val="visible"/>
                                      </p:to>
                                    </p:set>
                                    <p:animEffect transition="in" filter="box(out)">
                                      <p:cBhvr>
                                        <p:cTn id="11" dur="500"/>
                                        <p:tgtEl>
                                          <p:spTgt spid="466957"/>
                                        </p:tgtEl>
                                      </p:cBhvr>
                                    </p:animEffect>
                                  </p:childTnLst>
                                </p:cTn>
                              </p:par>
                            </p:childTnLst>
                          </p:cTn>
                        </p:par>
                      </p:childTnLst>
                    </p:cTn>
                  </p:par>
                  <p:par>
                    <p:cTn id="12" fill="hold">
                      <p:stCondLst>
                        <p:cond delay="indefinite"/>
                      </p:stCondLst>
                      <p:childTnLst>
                        <p:par>
                          <p:cTn id="13" fill="hold">
                            <p:stCondLst>
                              <p:cond delay="0"/>
                            </p:stCondLst>
                            <p:childTnLst>
                              <p:par>
                                <p:cTn id="14" presetID="12" presetClass="entr" presetSubtype="4" fill="hold" nodeType="clickEffect">
                                  <p:stCondLst>
                                    <p:cond delay="0"/>
                                  </p:stCondLst>
                                  <p:childTnLst>
                                    <p:set>
                                      <p:cBhvr>
                                        <p:cTn id="15" dur="1" fill="hold">
                                          <p:stCondLst>
                                            <p:cond delay="0"/>
                                          </p:stCondLst>
                                        </p:cTn>
                                        <p:tgtEl>
                                          <p:spTgt spid="466958"/>
                                        </p:tgtEl>
                                        <p:attrNameLst>
                                          <p:attrName>style.visibility</p:attrName>
                                        </p:attrNameLst>
                                      </p:cBhvr>
                                      <p:to>
                                        <p:strVal val="visible"/>
                                      </p:to>
                                    </p:set>
                                    <p:animEffect transition="in" filter="slide(fromBottom)">
                                      <p:cBhvr>
                                        <p:cTn id="16" dur="500"/>
                                        <p:tgtEl>
                                          <p:spTgt spid="466958"/>
                                        </p:tgtEl>
                                      </p:cBhvr>
                                    </p:animEffect>
                                  </p:childTnLst>
                                </p:cTn>
                              </p:par>
                            </p:childTnLst>
                          </p:cTn>
                        </p:par>
                        <p:par>
                          <p:cTn id="17" fill="hold">
                            <p:stCondLst>
                              <p:cond delay="500"/>
                            </p:stCondLst>
                            <p:childTnLst>
                              <p:par>
                                <p:cTn id="18" presetID="1" presetClass="entr" presetSubtype="0" fill="hold" nodeType="afterEffect">
                                  <p:stCondLst>
                                    <p:cond delay="0"/>
                                  </p:stCondLst>
                                  <p:childTnLst>
                                    <p:set>
                                      <p:cBhvr>
                                        <p:cTn id="19" dur="1" fill="hold">
                                          <p:stCondLst>
                                            <p:cond delay="0"/>
                                          </p:stCondLst>
                                        </p:cTn>
                                        <p:tgtEl>
                                          <p:spTgt spid="4669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p:cNvSpPr>
            <a:spLocks noGrp="1"/>
          </p:cNvSpPr>
          <p:nvPr>
            <p:ph type="sldNum" sz="quarter" idx="12"/>
          </p:nvPr>
        </p:nvSpPr>
        <p:spPr/>
        <p:txBody>
          <a:bodyPr/>
          <a:lstStyle/>
          <a:p>
            <a:fld id="{A833A5A4-A73B-4096-8B38-6DFB9B331D5C}" type="slidenum">
              <a:rPr lang="en-US" altLang="zh-CN"/>
            </a:fld>
            <a:endParaRPr lang="en-US" altLang="zh-CN"/>
          </a:p>
        </p:txBody>
      </p:sp>
      <p:sp>
        <p:nvSpPr>
          <p:cNvPr id="467971" name="Line 3"/>
          <p:cNvSpPr>
            <a:spLocks noChangeShapeType="1"/>
          </p:cNvSpPr>
          <p:nvPr/>
        </p:nvSpPr>
        <p:spPr bwMode="auto">
          <a:xfrm>
            <a:off x="1905000" y="1371600"/>
            <a:ext cx="8534400" cy="0"/>
          </a:xfrm>
          <a:prstGeom prst="line">
            <a:avLst/>
          </a:prstGeom>
          <a:noFill/>
          <a:ln w="28575">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7973" name="Text Box 5"/>
          <p:cNvSpPr txBox="1">
            <a:spLocks noChangeArrowheads="1"/>
          </p:cNvSpPr>
          <p:nvPr/>
        </p:nvSpPr>
        <p:spPr bwMode="auto">
          <a:xfrm>
            <a:off x="1774825" y="1360489"/>
            <a:ext cx="86423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dirty="0"/>
              <a:t>  </a:t>
            </a:r>
            <a:r>
              <a:rPr lang="zh-CN" altLang="en-US" sz="3200" b="1" dirty="0">
                <a:solidFill>
                  <a:srgbClr val="CC3300"/>
                </a:solidFill>
              </a:rPr>
              <a:t>解</a:t>
            </a:r>
            <a:r>
              <a:rPr lang="en-US" altLang="zh-CN" sz="3200" b="1" dirty="0">
                <a:solidFill>
                  <a:srgbClr val="CC3300"/>
                </a:solidFill>
              </a:rPr>
              <a:t>:</a:t>
            </a:r>
            <a:r>
              <a:rPr lang="zh-CN" altLang="en-US" sz="2800" b="1" dirty="0"/>
              <a:t>因</a:t>
            </a:r>
            <a:endParaRPr lang="zh-CN" altLang="en-US" sz="2800" b="1" dirty="0"/>
          </a:p>
        </p:txBody>
      </p:sp>
      <p:graphicFrame>
        <p:nvGraphicFramePr>
          <p:cNvPr id="467974" name="Object 6"/>
          <p:cNvGraphicFramePr>
            <a:graphicFrameLocks noChangeAspect="1"/>
          </p:cNvGraphicFramePr>
          <p:nvPr/>
        </p:nvGraphicFramePr>
        <p:xfrm>
          <a:off x="3421117" y="1285875"/>
          <a:ext cx="5203771" cy="1694925"/>
        </p:xfrm>
        <a:graphic>
          <a:graphicData uri="http://schemas.openxmlformats.org/presentationml/2006/ole">
            <mc:AlternateContent xmlns:mc="http://schemas.openxmlformats.org/markup-compatibility/2006">
              <mc:Choice xmlns:v="urn:schemas-microsoft-com:vml" Requires="v">
                <p:oleObj spid="_x0000_s25601" name="Equation" r:id="rId1" imgW="52425600" imgH="17068800" progId="Equation.DSMT4">
                  <p:embed/>
                </p:oleObj>
              </mc:Choice>
              <mc:Fallback>
                <p:oleObj name="Equation" r:id="rId1" imgW="52425600" imgH="17068800" progId="Equation.DSMT4">
                  <p:embed/>
                  <p:pic>
                    <p:nvPicPr>
                      <p:cNvPr id="0" name="Object 6"/>
                      <p:cNvPicPr>
                        <a:picLocks noChangeAspect="1" noChangeArrowheads="1"/>
                      </p:cNvPicPr>
                      <p:nvPr/>
                    </p:nvPicPr>
                    <p:blipFill>
                      <a:blip r:embed="rId2"/>
                      <a:srcRect/>
                      <a:stretch>
                        <a:fillRect/>
                      </a:stretch>
                    </p:blipFill>
                    <p:spPr bwMode="auto">
                      <a:xfrm>
                        <a:off x="3421117" y="1285875"/>
                        <a:ext cx="5203771" cy="1694925"/>
                      </a:xfrm>
                      <a:prstGeom prst="rect">
                        <a:avLst/>
                      </a:prstGeom>
                      <a:noFill/>
                      <a:ln>
                        <a:noFill/>
                      </a:ln>
                      <a:effectLst/>
                    </p:spPr>
                  </p:pic>
                </p:oleObj>
              </mc:Fallback>
            </mc:AlternateContent>
          </a:graphicData>
        </a:graphic>
      </p:graphicFrame>
      <p:graphicFrame>
        <p:nvGraphicFramePr>
          <p:cNvPr id="467975" name="Object 7"/>
          <p:cNvGraphicFramePr>
            <a:graphicFrameLocks noChangeAspect="1"/>
          </p:cNvGraphicFramePr>
          <p:nvPr/>
        </p:nvGraphicFramePr>
        <p:xfrm>
          <a:off x="2238703" y="2882899"/>
          <a:ext cx="7560935" cy="1566863"/>
        </p:xfrm>
        <a:graphic>
          <a:graphicData uri="http://schemas.openxmlformats.org/presentationml/2006/ole">
            <mc:AlternateContent xmlns:mc="http://schemas.openxmlformats.org/markup-compatibility/2006">
              <mc:Choice xmlns:v="urn:schemas-microsoft-com:vml" Requires="v">
                <p:oleObj spid="_x0000_s3" name="Equation" r:id="rId3" imgW="80162400" imgH="17068800" progId="Equation.DSMT4">
                  <p:embed/>
                </p:oleObj>
              </mc:Choice>
              <mc:Fallback>
                <p:oleObj name="Equation" r:id="rId3" imgW="80162400" imgH="17068800" progId="Equation.DSMT4">
                  <p:embed/>
                  <p:pic>
                    <p:nvPicPr>
                      <p:cNvPr id="0" name="Object 7"/>
                      <p:cNvPicPr>
                        <a:picLocks noChangeAspect="1" noChangeArrowheads="1"/>
                      </p:cNvPicPr>
                      <p:nvPr/>
                    </p:nvPicPr>
                    <p:blipFill>
                      <a:blip r:embed="rId4"/>
                      <a:srcRect/>
                      <a:stretch>
                        <a:fillRect/>
                      </a:stretch>
                    </p:blipFill>
                    <p:spPr bwMode="auto">
                      <a:xfrm>
                        <a:off x="2238703" y="2882899"/>
                        <a:ext cx="7560935" cy="1566863"/>
                      </a:xfrm>
                      <a:prstGeom prst="rect">
                        <a:avLst/>
                      </a:prstGeom>
                      <a:noFill/>
                      <a:ln>
                        <a:noFill/>
                      </a:ln>
                      <a:effectLst/>
                    </p:spPr>
                  </p:pic>
                </p:oleObj>
              </mc:Fallback>
            </mc:AlternateContent>
          </a:graphicData>
        </a:graphic>
      </p:graphicFrame>
      <p:sp>
        <p:nvSpPr>
          <p:cNvPr id="467976" name="Text Box 8"/>
          <p:cNvSpPr txBox="1">
            <a:spLocks noChangeArrowheads="1"/>
          </p:cNvSpPr>
          <p:nvPr/>
        </p:nvSpPr>
        <p:spPr bwMode="auto">
          <a:xfrm>
            <a:off x="1919288" y="4365625"/>
            <a:ext cx="7848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200" b="1" dirty="0">
                <a:latin typeface="Times New Roman" panose="02020503050405090304" pitchFamily="18" charset="0"/>
                <a:cs typeface="Times New Roman" panose="02020503050405090304" pitchFamily="18" charset="0"/>
              </a:rPr>
              <a:t>所以参数</a:t>
            </a:r>
            <a:r>
              <a:rPr lang="zh-CN" altLang="en-US" sz="3200" b="1" i="1" dirty="0">
                <a:latin typeface="Times New Roman" panose="02020503050405090304" pitchFamily="18" charset="0"/>
                <a:cs typeface="Times New Roman" panose="02020503050405090304" pitchFamily="18" charset="0"/>
                <a:sym typeface="Symbol" panose="05050102010706020507" pitchFamily="18" charset="2"/>
              </a:rPr>
              <a:t></a:t>
            </a:r>
            <a:r>
              <a:rPr lang="en-US" altLang="zh-CN" sz="3200" b="1" baseline="-20000" dirty="0">
                <a:latin typeface="Times New Roman" panose="02020503050405090304" pitchFamily="18" charset="0"/>
                <a:cs typeface="Times New Roman" panose="02020503050405090304" pitchFamily="18" charset="0"/>
                <a:sym typeface="Symbol" panose="05050102010706020507" pitchFamily="18" charset="2"/>
              </a:rPr>
              <a:t>0 </a:t>
            </a:r>
            <a:r>
              <a:rPr lang="en-US" altLang="zh-CN" sz="3200" b="1" dirty="0">
                <a:latin typeface="Times New Roman" panose="02020503050405090304" pitchFamily="18" charset="0"/>
                <a:cs typeface="Times New Roman" panose="02020503050405090304" pitchFamily="18" charset="0"/>
              </a:rPr>
              <a:t>, </a:t>
            </a:r>
            <a:r>
              <a:rPr lang="en-US" altLang="zh-CN" sz="3200" b="1" i="1" dirty="0">
                <a:latin typeface="Times New Roman" panose="02020503050405090304" pitchFamily="18" charset="0"/>
                <a:cs typeface="Times New Roman" panose="02020503050405090304" pitchFamily="18" charset="0"/>
                <a:sym typeface="Symbol" panose="05050102010706020507" pitchFamily="18" charset="2"/>
              </a:rPr>
              <a:t></a:t>
            </a:r>
            <a:r>
              <a:rPr lang="en-US" altLang="zh-CN" sz="3200" b="1" baseline="-20000" dirty="0">
                <a:latin typeface="Times New Roman" panose="02020503050405090304" pitchFamily="18" charset="0"/>
                <a:cs typeface="Times New Roman" panose="02020503050405090304" pitchFamily="18" charset="0"/>
                <a:sym typeface="Symbol" panose="05050102010706020507" pitchFamily="18" charset="2"/>
              </a:rPr>
              <a:t>1 </a:t>
            </a:r>
            <a:r>
              <a:rPr lang="en-US" altLang="zh-CN" sz="3200" b="1" dirty="0">
                <a:latin typeface="Times New Roman" panose="02020503050405090304" pitchFamily="18" charset="0"/>
                <a:cs typeface="Times New Roman" panose="02020503050405090304" pitchFamily="18" charset="0"/>
              </a:rPr>
              <a:t>,</a:t>
            </a:r>
            <a:r>
              <a:rPr lang="en-US" altLang="zh-CN" sz="3200" b="1" i="1" dirty="0">
                <a:latin typeface="Times New Roman" panose="02020503050405090304" pitchFamily="18" charset="0"/>
                <a:cs typeface="Times New Roman" panose="02020503050405090304" pitchFamily="18" charset="0"/>
                <a:sym typeface="Symbol" panose="05050102010706020507" pitchFamily="18" charset="2"/>
              </a:rPr>
              <a:t></a:t>
            </a:r>
            <a:r>
              <a:rPr lang="en-US" altLang="zh-CN" sz="3200" b="1" baseline="-20000" dirty="0">
                <a:latin typeface="Times New Roman" panose="02020503050405090304" pitchFamily="18" charset="0"/>
                <a:cs typeface="Times New Roman" panose="02020503050405090304" pitchFamily="18" charset="0"/>
                <a:sym typeface="Symbol" panose="05050102010706020507" pitchFamily="18" charset="2"/>
              </a:rPr>
              <a:t>2 </a:t>
            </a:r>
            <a:r>
              <a:rPr lang="zh-CN" altLang="en-US" sz="3200" b="1" dirty="0">
                <a:latin typeface="Times New Roman" panose="02020503050405090304" pitchFamily="18" charset="0"/>
                <a:cs typeface="Times New Roman" panose="02020503050405090304" pitchFamily="18" charset="0"/>
              </a:rPr>
              <a:t>的最小二乘估计</a:t>
            </a:r>
            <a:r>
              <a:rPr lang="en-US" altLang="zh-CN" sz="3200" b="1" dirty="0">
                <a:latin typeface="Times New Roman" panose="02020503050405090304" pitchFamily="18" charset="0"/>
                <a:cs typeface="Times New Roman" panose="02020503050405090304" pitchFamily="18" charset="0"/>
              </a:rPr>
              <a:t>:</a:t>
            </a:r>
            <a:endParaRPr lang="en-US" altLang="zh-CN" sz="3200" b="1" dirty="0">
              <a:latin typeface="Times New Roman" panose="02020503050405090304" pitchFamily="18" charset="0"/>
              <a:cs typeface="Times New Roman" panose="02020503050405090304" pitchFamily="18" charset="0"/>
            </a:endParaRPr>
          </a:p>
        </p:txBody>
      </p:sp>
      <p:graphicFrame>
        <p:nvGraphicFramePr>
          <p:cNvPr id="467977" name="Object 9"/>
          <p:cNvGraphicFramePr>
            <a:graphicFrameLocks noChangeAspect="1"/>
          </p:cNvGraphicFramePr>
          <p:nvPr/>
        </p:nvGraphicFramePr>
        <p:xfrm>
          <a:off x="2593428" y="4945062"/>
          <a:ext cx="6201322" cy="1730375"/>
        </p:xfrm>
        <a:graphic>
          <a:graphicData uri="http://schemas.openxmlformats.org/presentationml/2006/ole">
            <mc:AlternateContent xmlns:mc="http://schemas.openxmlformats.org/markup-compatibility/2006">
              <mc:Choice xmlns:v="urn:schemas-microsoft-com:vml" Requires="v">
                <p:oleObj spid="_x0000_s4" name="Equation" r:id="rId5" imgW="55168800" imgH="17068800" progId="Equation.DSMT4">
                  <p:embed/>
                </p:oleObj>
              </mc:Choice>
              <mc:Fallback>
                <p:oleObj name="Equation" r:id="rId5" imgW="55168800" imgH="17068800" progId="Equation.DSMT4">
                  <p:embed/>
                  <p:pic>
                    <p:nvPicPr>
                      <p:cNvPr id="0" name="Object 9"/>
                      <p:cNvPicPr>
                        <a:picLocks noChangeAspect="1" noChangeArrowheads="1"/>
                      </p:cNvPicPr>
                      <p:nvPr/>
                    </p:nvPicPr>
                    <p:blipFill>
                      <a:blip r:embed="rId6"/>
                      <a:srcRect/>
                      <a:stretch>
                        <a:fillRect/>
                      </a:stretch>
                    </p:blipFill>
                    <p:spPr bwMode="auto">
                      <a:xfrm>
                        <a:off x="2593428" y="4945062"/>
                        <a:ext cx="6201322" cy="1730375"/>
                      </a:xfrm>
                      <a:prstGeom prst="rect">
                        <a:avLst/>
                      </a:prstGeom>
                      <a:noFill/>
                      <a:ln>
                        <a:noFill/>
                      </a:ln>
                      <a:effec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467975"/>
                                        </p:tgtEl>
                                        <p:attrNameLst>
                                          <p:attrName>style.visibility</p:attrName>
                                        </p:attrNameLst>
                                      </p:cBhvr>
                                      <p:to>
                                        <p:strVal val="visible"/>
                                      </p:to>
                                    </p:set>
                                    <p:anim calcmode="lin" valueType="num">
                                      <p:cBhvr>
                                        <p:cTn id="7" dur="1000" fill="hold"/>
                                        <p:tgtEl>
                                          <p:spTgt spid="467975"/>
                                        </p:tgtEl>
                                        <p:attrNameLst>
                                          <p:attrName>ppt_w</p:attrName>
                                        </p:attrNameLst>
                                      </p:cBhvr>
                                      <p:tavLst>
                                        <p:tav tm="0">
                                          <p:val>
                                            <p:strVal val="#ppt_w*0.70"/>
                                          </p:val>
                                        </p:tav>
                                        <p:tav tm="100000">
                                          <p:val>
                                            <p:strVal val="#ppt_w"/>
                                          </p:val>
                                        </p:tav>
                                      </p:tavLst>
                                    </p:anim>
                                    <p:anim calcmode="lin" valueType="num">
                                      <p:cBhvr>
                                        <p:cTn id="8" dur="1000" fill="hold"/>
                                        <p:tgtEl>
                                          <p:spTgt spid="467975"/>
                                        </p:tgtEl>
                                        <p:attrNameLst>
                                          <p:attrName>ppt_h</p:attrName>
                                        </p:attrNameLst>
                                      </p:cBhvr>
                                      <p:tavLst>
                                        <p:tav tm="0">
                                          <p:val>
                                            <p:strVal val="#ppt_h"/>
                                          </p:val>
                                        </p:tav>
                                        <p:tav tm="100000">
                                          <p:val>
                                            <p:strVal val="#ppt_h"/>
                                          </p:val>
                                        </p:tav>
                                      </p:tavLst>
                                    </p:anim>
                                    <p:animEffect transition="in" filter="fade">
                                      <p:cBhvr>
                                        <p:cTn id="9" dur="1000"/>
                                        <p:tgtEl>
                                          <p:spTgt spid="467975"/>
                                        </p:tgtEl>
                                      </p:cBhvr>
                                    </p:animEffect>
                                  </p:childTnLst>
                                </p:cTn>
                              </p:par>
                            </p:childTnLst>
                          </p:cTn>
                        </p:par>
                      </p:childTnLst>
                    </p:cTn>
                  </p:par>
                  <p:par>
                    <p:cTn id="10" fill="hold">
                      <p:stCondLst>
                        <p:cond delay="indefinite"/>
                      </p:stCondLst>
                      <p:childTnLst>
                        <p:par>
                          <p:cTn id="11" fill="hold">
                            <p:stCondLst>
                              <p:cond delay="0"/>
                            </p:stCondLst>
                            <p:childTnLst>
                              <p:par>
                                <p:cTn id="12" presetID="18" presetClass="entr" presetSubtype="12" fill="hold" grpId="0" nodeType="clickEffect">
                                  <p:stCondLst>
                                    <p:cond delay="0"/>
                                  </p:stCondLst>
                                  <p:childTnLst>
                                    <p:set>
                                      <p:cBhvr>
                                        <p:cTn id="13" dur="1" fill="hold">
                                          <p:stCondLst>
                                            <p:cond delay="0"/>
                                          </p:stCondLst>
                                        </p:cTn>
                                        <p:tgtEl>
                                          <p:spTgt spid="467976"/>
                                        </p:tgtEl>
                                        <p:attrNameLst>
                                          <p:attrName>style.visibility</p:attrName>
                                        </p:attrNameLst>
                                      </p:cBhvr>
                                      <p:to>
                                        <p:strVal val="visible"/>
                                      </p:to>
                                    </p:set>
                                    <p:animEffect transition="in" filter="strips(downLeft)">
                                      <p:cBhvr>
                                        <p:cTn id="14" dur="500"/>
                                        <p:tgtEl>
                                          <p:spTgt spid="467976"/>
                                        </p:tgtEl>
                                      </p:cBhvr>
                                    </p:animEffect>
                                  </p:childTnLst>
                                </p:cTn>
                              </p:par>
                            </p:childTnLst>
                          </p:cTn>
                        </p:par>
                        <p:par>
                          <p:cTn id="15" fill="hold">
                            <p:stCondLst>
                              <p:cond delay="500"/>
                            </p:stCondLst>
                            <p:childTnLst>
                              <p:par>
                                <p:cTn id="16" presetID="2" presetClass="entr" presetSubtype="4" fill="hold" nodeType="afterEffect">
                                  <p:stCondLst>
                                    <p:cond delay="0"/>
                                  </p:stCondLst>
                                  <p:childTnLst>
                                    <p:set>
                                      <p:cBhvr>
                                        <p:cTn id="17" dur="1" fill="hold">
                                          <p:stCondLst>
                                            <p:cond delay="0"/>
                                          </p:stCondLst>
                                        </p:cTn>
                                        <p:tgtEl>
                                          <p:spTgt spid="467977"/>
                                        </p:tgtEl>
                                        <p:attrNameLst>
                                          <p:attrName>style.visibility</p:attrName>
                                        </p:attrNameLst>
                                      </p:cBhvr>
                                      <p:to>
                                        <p:strVal val="visible"/>
                                      </p:to>
                                    </p:set>
                                    <p:anim calcmode="lin" valueType="num">
                                      <p:cBhvr additive="base">
                                        <p:cTn id="18" dur="500" fill="hold"/>
                                        <p:tgtEl>
                                          <p:spTgt spid="467977"/>
                                        </p:tgtEl>
                                        <p:attrNameLst>
                                          <p:attrName>ppt_x</p:attrName>
                                        </p:attrNameLst>
                                      </p:cBhvr>
                                      <p:tavLst>
                                        <p:tav tm="0">
                                          <p:val>
                                            <p:strVal val="#ppt_x"/>
                                          </p:val>
                                        </p:tav>
                                        <p:tav tm="100000">
                                          <p:val>
                                            <p:strVal val="#ppt_x"/>
                                          </p:val>
                                        </p:tav>
                                      </p:tavLst>
                                    </p:anim>
                                    <p:anim calcmode="lin" valueType="num">
                                      <p:cBhvr additive="base">
                                        <p:cTn id="19" dur="500" fill="hold"/>
                                        <p:tgtEl>
                                          <p:spTgt spid="46797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7976"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p:cNvSpPr>
            <a:spLocks noGrp="1"/>
          </p:cNvSpPr>
          <p:nvPr>
            <p:ph type="sldNum" sz="quarter" idx="12"/>
          </p:nvPr>
        </p:nvSpPr>
        <p:spPr/>
        <p:txBody>
          <a:bodyPr/>
          <a:lstStyle/>
          <a:p>
            <a:fld id="{4369D50A-5DA2-4788-96E7-9ED742B9D498}" type="slidenum">
              <a:rPr lang="en-US" altLang="zh-CN"/>
            </a:fld>
            <a:endParaRPr lang="en-US" altLang="zh-CN"/>
          </a:p>
        </p:txBody>
      </p:sp>
      <p:sp>
        <p:nvSpPr>
          <p:cNvPr id="468995" name="Line 3"/>
          <p:cNvSpPr>
            <a:spLocks noChangeShapeType="1"/>
          </p:cNvSpPr>
          <p:nvPr/>
        </p:nvSpPr>
        <p:spPr bwMode="auto">
          <a:xfrm>
            <a:off x="1905000" y="1371600"/>
            <a:ext cx="8534400" cy="0"/>
          </a:xfrm>
          <a:prstGeom prst="line">
            <a:avLst/>
          </a:prstGeom>
          <a:noFill/>
          <a:ln w="28575">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8996" name="Text Box 4"/>
          <p:cNvSpPr txBox="1">
            <a:spLocks noChangeArrowheads="1"/>
          </p:cNvSpPr>
          <p:nvPr/>
        </p:nvSpPr>
        <p:spPr bwMode="auto">
          <a:xfrm>
            <a:off x="1971675" y="1433514"/>
            <a:ext cx="8516938"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200" b="1"/>
              <a:t>(2)</a:t>
            </a:r>
            <a:r>
              <a:rPr lang="zh-CN" altLang="en-US" sz="3200" b="1"/>
              <a:t>由</a:t>
            </a:r>
            <a:endParaRPr lang="zh-CN" altLang="en-US" sz="3200" b="1"/>
          </a:p>
        </p:txBody>
      </p:sp>
      <p:graphicFrame>
        <p:nvGraphicFramePr>
          <p:cNvPr id="468997" name="Object 5"/>
          <p:cNvGraphicFramePr>
            <a:graphicFrameLocks noChangeAspect="1"/>
          </p:cNvGraphicFramePr>
          <p:nvPr/>
        </p:nvGraphicFramePr>
        <p:xfrm>
          <a:off x="3143250" y="1393825"/>
          <a:ext cx="6756400" cy="787400"/>
        </p:xfrm>
        <a:graphic>
          <a:graphicData uri="http://schemas.openxmlformats.org/presentationml/2006/ole">
            <mc:AlternateContent xmlns:mc="http://schemas.openxmlformats.org/markup-compatibility/2006">
              <mc:Choice xmlns:v="urn:schemas-microsoft-com:vml" Requires="v">
                <p:oleObj spid="_x0000_s25601" name="公式" r:id="rId1" imgW="2184400" imgH="254000" progId="Equation.3">
                  <p:embed/>
                </p:oleObj>
              </mc:Choice>
              <mc:Fallback>
                <p:oleObj name="公式" r:id="rId1" imgW="2184400" imgH="2540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3250" y="1393825"/>
                        <a:ext cx="6756400" cy="787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8998" name="Object 6"/>
          <p:cNvGraphicFramePr>
            <a:graphicFrameLocks noChangeAspect="1"/>
          </p:cNvGraphicFramePr>
          <p:nvPr/>
        </p:nvGraphicFramePr>
        <p:xfrm>
          <a:off x="3143250" y="1989138"/>
          <a:ext cx="6337300" cy="1346200"/>
        </p:xfrm>
        <a:graphic>
          <a:graphicData uri="http://schemas.openxmlformats.org/presentationml/2006/ole">
            <mc:AlternateContent xmlns:mc="http://schemas.openxmlformats.org/markup-compatibility/2006">
              <mc:Choice xmlns:v="urn:schemas-microsoft-com:vml" Requires="v">
                <p:oleObj spid="_x0000_s3" name="公式" r:id="rId3" imgW="2032000" imgH="431800" progId="Equation.3">
                  <p:embed/>
                </p:oleObj>
              </mc:Choice>
              <mc:Fallback>
                <p:oleObj name="公式" r:id="rId3" imgW="2032000" imgH="4318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43250" y="1989138"/>
                        <a:ext cx="6337300" cy="1346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8999" name="Text Box 7"/>
          <p:cNvSpPr txBox="1">
            <a:spLocks noChangeArrowheads="1"/>
          </p:cNvSpPr>
          <p:nvPr/>
        </p:nvSpPr>
        <p:spPr bwMode="auto">
          <a:xfrm>
            <a:off x="1919288" y="3141663"/>
            <a:ext cx="80137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600" b="1"/>
              <a:t>经计算可得</a:t>
            </a:r>
            <a:r>
              <a:rPr lang="en-US" altLang="zh-CN" sz="3600" b="1"/>
              <a:t>:</a:t>
            </a:r>
            <a:endParaRPr lang="en-US" altLang="zh-CN" sz="3600" b="1"/>
          </a:p>
        </p:txBody>
      </p:sp>
      <p:graphicFrame>
        <p:nvGraphicFramePr>
          <p:cNvPr id="469000" name="Object 8"/>
          <p:cNvGraphicFramePr>
            <a:graphicFrameLocks noChangeAspect="1"/>
          </p:cNvGraphicFramePr>
          <p:nvPr/>
        </p:nvGraphicFramePr>
        <p:xfrm>
          <a:off x="2640013" y="3213100"/>
          <a:ext cx="7848600" cy="2946400"/>
        </p:xfrm>
        <a:graphic>
          <a:graphicData uri="http://schemas.openxmlformats.org/presentationml/2006/ole">
            <mc:AlternateContent xmlns:mc="http://schemas.openxmlformats.org/markup-compatibility/2006">
              <mc:Choice xmlns:v="urn:schemas-microsoft-com:vml" Requires="v">
                <p:oleObj spid="_x0000_s4" name="公式" r:id="rId5" imgW="2844800" imgH="1066800" progId="Equation.3">
                  <p:embed/>
                </p:oleObj>
              </mc:Choice>
              <mc:Fallback>
                <p:oleObj name="公式" r:id="rId5" imgW="2844800" imgH="10668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40013" y="3213100"/>
                        <a:ext cx="7848600" cy="294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9001" name="Text Box 9"/>
          <p:cNvSpPr txBox="1">
            <a:spLocks noChangeArrowheads="1"/>
          </p:cNvSpPr>
          <p:nvPr/>
        </p:nvSpPr>
        <p:spPr bwMode="auto">
          <a:xfrm>
            <a:off x="1774826" y="4868864"/>
            <a:ext cx="65008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200" b="1"/>
              <a:t>残差平方和</a:t>
            </a:r>
            <a:r>
              <a:rPr lang="en-US" altLang="zh-CN" sz="3200" b="1" i="1"/>
              <a:t>Q</a:t>
            </a:r>
            <a:r>
              <a:rPr lang="zh-CN" altLang="en-US" sz="3200" b="1"/>
              <a:t>为</a:t>
            </a:r>
            <a:endParaRPr lang="zh-CN" altLang="en-US" sz="32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899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8" presetClass="entr" presetSubtype="12" fill="hold" nodeType="clickEffect">
                                  <p:stCondLst>
                                    <p:cond delay="0"/>
                                  </p:stCondLst>
                                  <p:childTnLst>
                                    <p:set>
                                      <p:cBhvr>
                                        <p:cTn id="10" dur="1" fill="hold">
                                          <p:stCondLst>
                                            <p:cond delay="0"/>
                                          </p:stCondLst>
                                        </p:cTn>
                                        <p:tgtEl>
                                          <p:spTgt spid="469000"/>
                                        </p:tgtEl>
                                        <p:attrNameLst>
                                          <p:attrName>style.visibility</p:attrName>
                                        </p:attrNameLst>
                                      </p:cBhvr>
                                      <p:to>
                                        <p:strVal val="visible"/>
                                      </p:to>
                                    </p:set>
                                    <p:animEffect transition="in" filter="strips(downLeft)">
                                      <p:cBhvr>
                                        <p:cTn id="11" dur="500"/>
                                        <p:tgtEl>
                                          <p:spTgt spid="469000"/>
                                        </p:tgtEl>
                                      </p:cBhvr>
                                    </p:animEffect>
                                  </p:childTnLst>
                                </p:cTn>
                              </p:par>
                            </p:childTnLst>
                          </p:cTn>
                        </p:par>
                        <p:par>
                          <p:cTn id="12" fill="hold">
                            <p:stCondLst>
                              <p:cond delay="500"/>
                            </p:stCondLst>
                            <p:childTnLst>
                              <p:par>
                                <p:cTn id="13" presetID="1" presetClass="entr" presetSubtype="0" fill="hold" grpId="0" nodeType="afterEffect">
                                  <p:stCondLst>
                                    <p:cond delay="0"/>
                                  </p:stCondLst>
                                  <p:childTnLst>
                                    <p:set>
                                      <p:cBhvr>
                                        <p:cTn id="14" dur="1" fill="hold">
                                          <p:stCondLst>
                                            <p:cond delay="0"/>
                                          </p:stCondLst>
                                        </p:cTn>
                                        <p:tgtEl>
                                          <p:spTgt spid="4690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8999" grpId="0"/>
      <p:bldP spid="469001"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p:cNvSpPr>
            <a:spLocks noGrp="1"/>
          </p:cNvSpPr>
          <p:nvPr>
            <p:ph type="sldNum" sz="quarter" idx="12"/>
          </p:nvPr>
        </p:nvSpPr>
        <p:spPr/>
        <p:txBody>
          <a:bodyPr/>
          <a:lstStyle/>
          <a:p>
            <a:fld id="{072DC624-2ECC-4438-A5B3-876E71F10994}" type="slidenum">
              <a:rPr lang="en-US" altLang="zh-CN"/>
            </a:fld>
            <a:endParaRPr lang="en-US" altLang="zh-CN"/>
          </a:p>
        </p:txBody>
      </p:sp>
      <p:sp>
        <p:nvSpPr>
          <p:cNvPr id="470019" name="Line 3"/>
          <p:cNvSpPr>
            <a:spLocks noChangeShapeType="1"/>
          </p:cNvSpPr>
          <p:nvPr/>
        </p:nvSpPr>
        <p:spPr bwMode="auto">
          <a:xfrm>
            <a:off x="1905000" y="1371600"/>
            <a:ext cx="8534400" cy="0"/>
          </a:xfrm>
          <a:prstGeom prst="line">
            <a:avLst/>
          </a:prstGeom>
          <a:noFill/>
          <a:ln w="28575">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470020" name="Object 4"/>
          <p:cNvGraphicFramePr>
            <a:graphicFrameLocks noChangeAspect="1"/>
          </p:cNvGraphicFramePr>
          <p:nvPr/>
        </p:nvGraphicFramePr>
        <p:xfrm>
          <a:off x="4079875" y="1844675"/>
          <a:ext cx="5761038" cy="3754438"/>
        </p:xfrm>
        <a:graphic>
          <a:graphicData uri="http://schemas.openxmlformats.org/presentationml/2006/ole">
            <mc:AlternateContent xmlns:mc="http://schemas.openxmlformats.org/markup-compatibility/2006">
              <mc:Choice xmlns:v="urn:schemas-microsoft-com:vml" Requires="v">
                <p:oleObj spid="_x0000_s25601" name="公式" r:id="rId1" imgW="1511300" imgH="1371600" progId="Equation.3">
                  <p:embed/>
                </p:oleObj>
              </mc:Choice>
              <mc:Fallback>
                <p:oleObj name="公式" r:id="rId1" imgW="1511300" imgH="13716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79875" y="1844675"/>
                        <a:ext cx="5761038" cy="3754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0021" name="Text Box 5"/>
          <p:cNvSpPr txBox="1">
            <a:spLocks noChangeArrowheads="1"/>
          </p:cNvSpPr>
          <p:nvPr/>
        </p:nvSpPr>
        <p:spPr bwMode="auto">
          <a:xfrm>
            <a:off x="1847850" y="1412875"/>
            <a:ext cx="85169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200" b="1"/>
              <a:t> (3)</a:t>
            </a:r>
            <a:r>
              <a:rPr lang="zh-CN" altLang="en-US" sz="3200" b="1"/>
              <a:t>计算回归平方和</a:t>
            </a:r>
            <a:r>
              <a:rPr lang="en-US" altLang="zh-CN" sz="3200" b="1" i="1"/>
              <a:t>U</a:t>
            </a:r>
            <a:r>
              <a:rPr lang="zh-CN" altLang="en-US" sz="3200" b="1"/>
              <a:t>及决定系数</a:t>
            </a:r>
            <a:r>
              <a:rPr lang="en-US" altLang="zh-CN" sz="3200" b="1" i="1"/>
              <a:t>R</a:t>
            </a:r>
            <a:r>
              <a:rPr lang="en-US" altLang="zh-CN" sz="3200" b="1" baseline="18000"/>
              <a:t>2 </a:t>
            </a:r>
            <a:r>
              <a:rPr lang="en-US" altLang="zh-CN" sz="3200" b="1"/>
              <a:t>:</a:t>
            </a:r>
            <a:endParaRPr lang="en-US" altLang="zh-CN" sz="3200" b="1"/>
          </a:p>
        </p:txBody>
      </p:sp>
      <p:sp>
        <p:nvSpPr>
          <p:cNvPr id="470022" name="Text Box 6"/>
          <p:cNvSpPr txBox="1">
            <a:spLocks noChangeArrowheads="1"/>
          </p:cNvSpPr>
          <p:nvPr/>
        </p:nvSpPr>
        <p:spPr bwMode="auto">
          <a:xfrm>
            <a:off x="1774825" y="2152650"/>
            <a:ext cx="234872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a:t>总偏差平方和</a:t>
            </a:r>
            <a:endParaRPr lang="zh-CN" altLang="en-US" sz="2800" b="1"/>
          </a:p>
        </p:txBody>
      </p:sp>
      <p:sp>
        <p:nvSpPr>
          <p:cNvPr id="470023" name="Text Box 7"/>
          <p:cNvSpPr txBox="1">
            <a:spLocks noChangeArrowheads="1"/>
          </p:cNvSpPr>
          <p:nvPr/>
        </p:nvSpPr>
        <p:spPr bwMode="auto">
          <a:xfrm>
            <a:off x="1774826" y="2924175"/>
            <a:ext cx="83724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200" b="1"/>
              <a:t>由平方和分解公式可得回归平方和</a:t>
            </a:r>
            <a:r>
              <a:rPr lang="en-US" altLang="zh-CN" sz="3200" b="1" i="1"/>
              <a:t>U</a:t>
            </a:r>
            <a:r>
              <a:rPr lang="zh-CN" altLang="en-US" sz="3200" b="1"/>
              <a:t>为</a:t>
            </a:r>
            <a:r>
              <a:rPr lang="en-US" altLang="zh-CN" sz="3200" b="1"/>
              <a:t>:</a:t>
            </a:r>
            <a:endParaRPr lang="en-US" altLang="zh-CN" sz="3200" b="1"/>
          </a:p>
        </p:txBody>
      </p:sp>
      <p:sp>
        <p:nvSpPr>
          <p:cNvPr id="470024" name="Text Box 8"/>
          <p:cNvSpPr txBox="1">
            <a:spLocks noChangeArrowheads="1"/>
          </p:cNvSpPr>
          <p:nvPr/>
        </p:nvSpPr>
        <p:spPr bwMode="auto">
          <a:xfrm>
            <a:off x="1827213" y="4575176"/>
            <a:ext cx="238078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200" b="1"/>
              <a:t>决定系数为</a:t>
            </a:r>
            <a:r>
              <a:rPr lang="en-US" altLang="zh-CN" sz="3200" b="1"/>
              <a:t>:</a:t>
            </a:r>
            <a:endParaRPr lang="en-US" altLang="zh-CN" sz="32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470020"/>
                                        </p:tgtEl>
                                        <p:attrNameLst>
                                          <p:attrName>style.visibility</p:attrName>
                                        </p:attrNameLst>
                                      </p:cBhvr>
                                      <p:to>
                                        <p:strVal val="visible"/>
                                      </p:to>
                                    </p:set>
                                    <p:animEffect transition="in" filter="strips(downLeft)">
                                      <p:cBhvr>
                                        <p:cTn id="7" dur="500"/>
                                        <p:tgtEl>
                                          <p:spTgt spid="470020"/>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470022"/>
                                        </p:tgtEl>
                                        <p:attrNameLst>
                                          <p:attrName>style.visibility</p:attrName>
                                        </p:attrNameLst>
                                      </p:cBhvr>
                                      <p:to>
                                        <p:strVal val="visible"/>
                                      </p:to>
                                    </p:set>
                                  </p:childTnLst>
                                </p:cTn>
                              </p:par>
                            </p:childTnLst>
                          </p:cTn>
                        </p:par>
                        <p:par>
                          <p:cTn id="11" fill="hold">
                            <p:stCondLst>
                              <p:cond delay="500"/>
                            </p:stCondLst>
                            <p:childTnLst>
                              <p:par>
                                <p:cTn id="12" presetID="1" presetClass="entr" presetSubtype="0" fill="hold" grpId="0" nodeType="afterEffect">
                                  <p:stCondLst>
                                    <p:cond delay="0"/>
                                  </p:stCondLst>
                                  <p:childTnLst>
                                    <p:set>
                                      <p:cBhvr>
                                        <p:cTn id="13" dur="1" fill="hold">
                                          <p:stCondLst>
                                            <p:cond delay="0"/>
                                          </p:stCondLst>
                                        </p:cTn>
                                        <p:tgtEl>
                                          <p:spTgt spid="470023"/>
                                        </p:tgtEl>
                                        <p:attrNameLst>
                                          <p:attrName>style.visibility</p:attrName>
                                        </p:attrNameLst>
                                      </p:cBhvr>
                                      <p:to>
                                        <p:strVal val="visible"/>
                                      </p:to>
                                    </p:set>
                                  </p:childTnLst>
                                </p:cTn>
                              </p:par>
                            </p:childTnLst>
                          </p:cTn>
                        </p:par>
                        <p:par>
                          <p:cTn id="14" fill="hold">
                            <p:stCondLst>
                              <p:cond delay="500"/>
                            </p:stCondLst>
                            <p:childTnLst>
                              <p:par>
                                <p:cTn id="15" presetID="1" presetClass="entr" presetSubtype="0" fill="hold" grpId="0" nodeType="afterEffect">
                                  <p:stCondLst>
                                    <p:cond delay="0"/>
                                  </p:stCondLst>
                                  <p:childTnLst>
                                    <p:set>
                                      <p:cBhvr>
                                        <p:cTn id="16" dur="1" fill="hold">
                                          <p:stCondLst>
                                            <p:cond delay="0"/>
                                          </p:stCondLst>
                                        </p:cTn>
                                        <p:tgtEl>
                                          <p:spTgt spid="470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0022" grpId="0"/>
      <p:bldP spid="470023" grpId="0"/>
      <p:bldP spid="470024"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ext Box 4"/>
          <p:cNvSpPr txBox="1"/>
          <p:nvPr/>
        </p:nvSpPr>
        <p:spPr>
          <a:xfrm>
            <a:off x="1935481" y="735331"/>
            <a:ext cx="8321675" cy="919867"/>
          </a:xfrm>
          <a:prstGeom prst="rect">
            <a:avLst/>
          </a:prstGeom>
          <a:noFill/>
          <a:ln w="9525">
            <a:noFill/>
          </a:ln>
        </p:spPr>
        <p:txBody>
          <a:bodyPr anchor="t">
            <a:spAutoFit/>
          </a:bodyPr>
          <a:lstStyle/>
          <a:p>
            <a:pPr>
              <a:lnSpc>
                <a:spcPct val="120000"/>
              </a:lnSpc>
            </a:pPr>
            <a:r>
              <a:rPr lang="zh-CN" altLang="en-US" sz="2400" dirty="0">
                <a:latin typeface="+mn-ea"/>
                <a:cs typeface="+mn-ea"/>
              </a:rPr>
              <a:t>（二）回归方程的显著性检验：</a:t>
            </a:r>
            <a:endParaRPr lang="zh-CN" altLang="en-US" sz="2400" dirty="0">
              <a:latin typeface="+mn-ea"/>
              <a:cs typeface="+mn-ea"/>
            </a:endParaRPr>
          </a:p>
          <a:p>
            <a:pPr>
              <a:lnSpc>
                <a:spcPct val="120000"/>
              </a:lnSpc>
            </a:pPr>
            <a:r>
              <a:rPr lang="zh-CN" altLang="en-US" sz="2400" dirty="0">
                <a:latin typeface="+mn-ea"/>
                <a:cs typeface="+mn-ea"/>
              </a:rPr>
              <a:t>        检验回归系数全部为零的可能性。</a:t>
            </a:r>
            <a:endParaRPr lang="zh-CN" altLang="en-US" sz="2400" dirty="0">
              <a:latin typeface="+mn-ea"/>
              <a:cs typeface="+mn-ea"/>
            </a:endParaRPr>
          </a:p>
        </p:txBody>
      </p:sp>
      <p:graphicFrame>
        <p:nvGraphicFramePr>
          <p:cNvPr id="21506" name="Object 5"/>
          <p:cNvGraphicFramePr/>
          <p:nvPr/>
        </p:nvGraphicFramePr>
        <p:xfrm>
          <a:off x="2501265" y="2032000"/>
          <a:ext cx="5640388" cy="762000"/>
        </p:xfrm>
        <a:graphic>
          <a:graphicData uri="http://schemas.openxmlformats.org/presentationml/2006/ole">
            <mc:AlternateContent xmlns:mc="http://schemas.openxmlformats.org/markup-compatibility/2006">
              <mc:Choice xmlns:v="urn:schemas-microsoft-com:vml" Requires="v">
                <p:oleObj spid="_x0000_s25601" name="" r:id="rId1" imgW="2603500" imgH="457200" progId="Equation.3">
                  <p:embed/>
                </p:oleObj>
              </mc:Choice>
              <mc:Fallback>
                <p:oleObj name="" r:id="rId1" imgW="2603500" imgH="457200" progId="Equation.3">
                  <p:embed/>
                  <p:pic>
                    <p:nvPicPr>
                      <p:cNvPr id="0" name="图片 3158"/>
                      <p:cNvPicPr/>
                      <p:nvPr/>
                    </p:nvPicPr>
                    <p:blipFill>
                      <a:blip r:embed="rId2"/>
                      <a:stretch>
                        <a:fillRect/>
                      </a:stretch>
                    </p:blipFill>
                    <p:spPr>
                      <a:xfrm>
                        <a:off x="2501265" y="2032000"/>
                        <a:ext cx="5640388" cy="762000"/>
                      </a:xfrm>
                      <a:prstGeom prst="rect">
                        <a:avLst/>
                      </a:prstGeom>
                      <a:noFill/>
                      <a:ln w="9525" cap="flat" cmpd="sng">
                        <a:solidFill>
                          <a:srgbClr val="FF0000"/>
                        </a:solidFill>
                        <a:prstDash val="solid"/>
                        <a:miter/>
                        <a:headEnd type="none" w="med" len="med"/>
                        <a:tailEnd type="none" w="med" len="med"/>
                      </a:ln>
                    </p:spPr>
                  </p:pic>
                </p:oleObj>
              </mc:Fallback>
            </mc:AlternateContent>
          </a:graphicData>
        </a:graphic>
      </p:graphicFrame>
      <mc:AlternateContent xmlns:mc="http://schemas.openxmlformats.org/markup-compatibility/2006" xmlns:a14="http://schemas.microsoft.com/office/drawing/2010/main">
        <mc:Choice Requires="a14">
          <p:graphicFrame>
            <p:nvGraphicFramePr>
              <p:cNvPr id="14345" name="表格 14344"/>
              <p:cNvGraphicFramePr/>
              <p:nvPr/>
            </p:nvGraphicFramePr>
            <p:xfrm>
              <a:off x="1981200" y="3698559"/>
              <a:ext cx="8382000" cy="1882775"/>
            </p:xfrm>
            <a:graphic>
              <a:graphicData uri="http://schemas.openxmlformats.org/drawingml/2006/table">
                <a:tbl>
                  <a:tblPr/>
                  <a:tblGrid>
                    <a:gridCol w="685800"/>
                    <a:gridCol w="3581400"/>
                    <a:gridCol w="980536"/>
                    <a:gridCol w="3134264"/>
                  </a:tblGrid>
                  <a:tr h="396875">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zh-CN" sz="2000" dirty="0">
                            <a:latin typeface="Tahoma" panose="020B0604030504040204" pitchFamily="34" charset="0"/>
                          </a:endParaRPr>
                        </a:p>
                      </a:txBody>
                      <a:tcPr>
                        <a:lnL>
                          <a:noFill/>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dirty="0">
                              <a:latin typeface="Tahoma" panose="020B0604030504040204" pitchFamily="34" charset="0"/>
                            </a:rPr>
                            <a:t>平方和</a:t>
                          </a:r>
                          <a:endParaRPr lang="zh-CN" altLang="en-US" sz="2000" dirty="0">
                            <a:latin typeface="Tahoma" panose="020B0604030504040204" pitchFamily="34"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dirty="0">
                              <a:latin typeface="Tahoma" panose="020B0604030504040204" pitchFamily="34" charset="0"/>
                            </a:rPr>
                            <a:t>自由度</a:t>
                          </a:r>
                          <a:endParaRPr lang="en-US" altLang="zh-CN" sz="2000" dirty="0">
                            <a:latin typeface="Tahoma" panose="020B0604030504040204" pitchFamily="34"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dirty="0">
                              <a:latin typeface="Cambria Math" panose="02040503050406030204" pitchFamily="18" charset="0"/>
                            </a:rPr>
                            <a:t>𝝈</a:t>
                          </a:r>
                          <a:r>
                            <a:rPr lang="en-US" altLang="zh-CN" sz="2000" baseline="30000" dirty="0">
                              <a:latin typeface="Cambria Math" panose="02040503050406030204" pitchFamily="18" charset="0"/>
                            </a:rPr>
                            <a:t>2</a:t>
                          </a:r>
                          <a:r>
                            <a:rPr lang="zh-CN" altLang="en-US" sz="2000" dirty="0">
                              <a:latin typeface="Tahoma" panose="020B0604030504040204" pitchFamily="34" charset="0"/>
                            </a:rPr>
                            <a:t>的估计量</a:t>
                          </a:r>
                          <a:endParaRPr lang="zh-CN" altLang="en-US" sz="2000" dirty="0">
                            <a:latin typeface="Tahoma" panose="020B0604030504040204" pitchFamily="34" charset="0"/>
                          </a:endParaRPr>
                        </a:p>
                      </a:txBody>
                      <a:tcPr>
                        <a:lnL w="12700" cap="flat" cmpd="sng">
                          <a:solidFill>
                            <a:schemeClr val="tx1"/>
                          </a:solidFill>
                          <a:prstDash val="solid"/>
                          <a:headEnd type="none" w="med" len="med"/>
                          <a:tailEnd type="none" w="med" len="med"/>
                        </a:lnL>
                        <a:lnR>
                          <a:noFill/>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9530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en-US" altLang="zh-CN" sz="2000" dirty="0">
                              <a:latin typeface="Tahoma" panose="020B0604030504040204" pitchFamily="34" charset="0"/>
                            </a:rPr>
                            <a:t>MSS</a:t>
                          </a:r>
                          <a:endParaRPr lang="en-US" altLang="zh-CN" sz="2000" dirty="0">
                            <a:latin typeface="Tahoma" panose="020B0604030504040204" pitchFamily="34" charset="0"/>
                          </a:endParaRPr>
                        </a:p>
                      </a:txBody>
                      <a:tcPr>
                        <a:lnL>
                          <a:noFill/>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eaLnBrk="1" hangingPunct="1">
                            <a:spcBef>
                              <a:spcPct val="20000"/>
                            </a:spcBef>
                            <a:buClr>
                              <a:schemeClr val="folHlink"/>
                            </a:buClr>
                            <a:buSzPct val="60000"/>
                            <a:buFont typeface="Wingdings" panose="05000000000000000000" pitchFamily="2" charset="2"/>
                            <a:buNone/>
                          </a:pPr>
                          <a:endParaRPr lang="zh-CN" altLang="zh-CN" sz="2000" dirty="0">
                            <a:latin typeface="Tahoma" panose="020B0604030504040204" pitchFamily="34"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2000" i="1" dirty="0">
                              <a:latin typeface="Times New Roman" panose="02020503050405090304" pitchFamily="18" charset="0"/>
                              <a:cs typeface="Times New Roman" panose="02020503050405090304" pitchFamily="18" charset="0"/>
                            </a:rPr>
                            <a:t>k</a:t>
                          </a:r>
                          <a:endParaRPr lang="en-US" altLang="zh-CN" sz="2000" i="1" dirty="0">
                            <a:latin typeface="Times New Roman" panose="02020503050405090304" pitchFamily="18" charset="0"/>
                            <a:cs typeface="Times New Roman" panose="0202050305040509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eaLnBrk="1" hangingPunct="1">
                            <a:spcBef>
                              <a:spcPct val="20000"/>
                            </a:spcBef>
                            <a:buClr>
                              <a:schemeClr val="folHlink"/>
                            </a:buClr>
                            <a:buSzPct val="60000"/>
                            <a:buFont typeface="Wingdings" panose="05000000000000000000" pitchFamily="2" charset="2"/>
                            <a:buNone/>
                          </a:pPr>
                          <a:endParaRPr lang="zh-CN" altLang="zh-CN" sz="2000" dirty="0">
                            <a:latin typeface="Tahoma" panose="020B0604030504040204" pitchFamily="34" charset="0"/>
                          </a:endParaRPr>
                        </a:p>
                      </a:txBody>
                      <a:tcPr>
                        <a:lnL w="12700" cap="flat" cmpd="sng">
                          <a:solidFill>
                            <a:schemeClr val="tx1"/>
                          </a:solidFill>
                          <a:prstDash val="solid"/>
                          <a:headEnd type="none" w="med" len="med"/>
                          <a:tailEnd type="none" w="med" len="med"/>
                        </a:lnL>
                        <a:lnR>
                          <a:noFill/>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9530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en-US" altLang="zh-CN" sz="2000" dirty="0">
                              <a:latin typeface="Tahoma" panose="020B0604030504040204" pitchFamily="34" charset="0"/>
                            </a:rPr>
                            <a:t>ESS</a:t>
                          </a:r>
                          <a:endParaRPr lang="en-US" altLang="zh-CN" sz="2000" dirty="0">
                            <a:latin typeface="Tahoma" panose="020B0604030504040204" pitchFamily="34" charset="0"/>
                          </a:endParaRPr>
                        </a:p>
                      </a:txBody>
                      <a:tcPr>
                        <a:lnL>
                          <a:noFill/>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eaLnBrk="1" hangingPunct="1">
                            <a:spcBef>
                              <a:spcPct val="20000"/>
                            </a:spcBef>
                            <a:buClr>
                              <a:schemeClr val="folHlink"/>
                            </a:buClr>
                            <a:buSzPct val="60000"/>
                            <a:buFont typeface="Wingdings" panose="05000000000000000000" pitchFamily="2" charset="2"/>
                            <a:buNone/>
                          </a:pPr>
                          <a:endParaRPr lang="zh-CN" altLang="zh-CN" sz="2000" dirty="0">
                            <a:latin typeface="Tahoma" panose="020B0604030504040204" pitchFamily="34"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2000" i="1" dirty="0">
                              <a:latin typeface="Times New Roman" panose="02020503050405090304" pitchFamily="18" charset="0"/>
                              <a:cs typeface="Times New Roman" panose="02020503050405090304" pitchFamily="18" charset="0"/>
                            </a:rPr>
                            <a:t>n</a:t>
                          </a:r>
                          <a:r>
                            <a:rPr lang="en-US" altLang="zh-CN" sz="2000" dirty="0">
                              <a:latin typeface="Times New Roman" panose="02020503050405090304" pitchFamily="18" charset="0"/>
                              <a:cs typeface="Times New Roman" panose="02020503050405090304" pitchFamily="18" charset="0"/>
                            </a:rPr>
                            <a:t>-</a:t>
                          </a:r>
                          <a:r>
                            <a:rPr lang="en-US" altLang="zh-CN" sz="2000" i="1" dirty="0">
                              <a:latin typeface="Times New Roman" panose="02020503050405090304" pitchFamily="18" charset="0"/>
                              <a:cs typeface="Times New Roman" panose="02020503050405090304" pitchFamily="18" charset="0"/>
                            </a:rPr>
                            <a:t>k</a:t>
                          </a:r>
                          <a:r>
                            <a:rPr lang="en-US" altLang="zh-CN" sz="2000" dirty="0">
                              <a:latin typeface="Times New Roman" panose="02020503050405090304" pitchFamily="18" charset="0"/>
                              <a:cs typeface="Times New Roman" panose="02020503050405090304" pitchFamily="18" charset="0"/>
                            </a:rPr>
                            <a:t>-1</a:t>
                          </a:r>
                          <a:endParaRPr lang="en-US" altLang="zh-CN" sz="2000" dirty="0">
                            <a:latin typeface="Times New Roman" panose="02020503050405090304" pitchFamily="18" charset="0"/>
                            <a:cs typeface="Times New Roman" panose="0202050305040509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eaLnBrk="1" hangingPunct="1">
                            <a:spcBef>
                              <a:spcPct val="20000"/>
                            </a:spcBef>
                            <a:buClr>
                              <a:schemeClr val="folHlink"/>
                            </a:buClr>
                            <a:buSzPct val="60000"/>
                            <a:buFont typeface="Wingdings" panose="05000000000000000000" pitchFamily="2" charset="2"/>
                            <a:buNone/>
                          </a:pPr>
                          <a:endParaRPr lang="zh-CN" altLang="zh-CN" sz="2000" dirty="0">
                            <a:latin typeface="Tahoma" panose="020B0604030504040204" pitchFamily="34" charset="0"/>
                          </a:endParaRPr>
                        </a:p>
                      </a:txBody>
                      <a:tcPr>
                        <a:lnL w="12700" cap="flat" cmpd="sng">
                          <a:solidFill>
                            <a:schemeClr val="tx1"/>
                          </a:solidFill>
                          <a:prstDash val="solid"/>
                          <a:headEnd type="none" w="med" len="med"/>
                          <a:tailEnd type="none" w="med" len="med"/>
                        </a:lnL>
                        <a:lnR>
                          <a:noFill/>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9530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en-US" altLang="zh-CN" sz="2000" dirty="0">
                              <a:latin typeface="Tahoma" panose="020B0604030504040204" pitchFamily="34" charset="0"/>
                            </a:rPr>
                            <a:t>TSS</a:t>
                          </a:r>
                          <a:endParaRPr lang="en-US" altLang="zh-CN" sz="2000" dirty="0">
                            <a:latin typeface="Tahoma" panose="020B0604030504040204" pitchFamily="34" charset="0"/>
                          </a:endParaRPr>
                        </a:p>
                      </a:txBody>
                      <a:tcPr>
                        <a:lnL>
                          <a:noFill/>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eaLnBrk="1" hangingPunct="1">
                            <a:spcBef>
                              <a:spcPct val="20000"/>
                            </a:spcBef>
                            <a:buClr>
                              <a:schemeClr val="folHlink"/>
                            </a:buClr>
                            <a:buSzPct val="60000"/>
                            <a:buFont typeface="Wingdings" panose="05000000000000000000" pitchFamily="2" charset="2"/>
                            <a:buNone/>
                          </a:pPr>
                          <a:endParaRPr lang="zh-CN" altLang="zh-CN" sz="2000" dirty="0">
                            <a:latin typeface="Tahoma" panose="020B0604030504040204" pitchFamily="34"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2000" i="1" dirty="0">
                              <a:latin typeface="Times New Roman" panose="02020503050405090304" pitchFamily="18" charset="0"/>
                              <a:cs typeface="Times New Roman" panose="02020503050405090304" pitchFamily="18" charset="0"/>
                            </a:rPr>
                            <a:t>n</a:t>
                          </a:r>
                          <a:r>
                            <a:rPr lang="en-US" altLang="zh-CN" sz="2000" dirty="0">
                              <a:latin typeface="Times New Roman" panose="02020503050405090304" pitchFamily="18" charset="0"/>
                              <a:cs typeface="Times New Roman" panose="02020503050405090304" pitchFamily="18" charset="0"/>
                            </a:rPr>
                            <a:t>-1</a:t>
                          </a:r>
                          <a:endParaRPr lang="en-US" altLang="zh-CN" sz="2000" dirty="0">
                            <a:latin typeface="Times New Roman" panose="02020503050405090304" pitchFamily="18" charset="0"/>
                            <a:cs typeface="Times New Roman" panose="0202050305040509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eaLnBrk="1" hangingPunct="1">
                            <a:spcBef>
                              <a:spcPct val="20000"/>
                            </a:spcBef>
                            <a:buClr>
                              <a:schemeClr val="folHlink"/>
                            </a:buClr>
                            <a:buSzPct val="60000"/>
                            <a:buFont typeface="Wingdings" panose="05000000000000000000" pitchFamily="2" charset="2"/>
                            <a:buNone/>
                          </a:pPr>
                          <a14:m>
                            <m:oMathPara xmlns:m="http://schemas.openxmlformats.org/officeDocument/2006/math">
                              <m:oMathParaPr>
                                <m:jc m:val="centerGroup"/>
                              </m:oMathParaPr>
                              <m:oMath xmlns:m="http://schemas.openxmlformats.org/officeDocument/2006/math">
                                <m:r>
                                  <a:rPr lang="en-US" altLang="zh-CN" sz="1800" b="1" i="0" u="none" kern="1200" baseline="0" smtClean="0">
                                    <a:solidFill>
                                      <a:schemeClr val="tx1"/>
                                    </a:solidFill>
                                    <a:latin typeface="Cambria Math" panose="02040503050406030204" pitchFamily="18" charset="0"/>
                                    <a:ea typeface="宋体" pitchFamily="2" charset="-122"/>
                                    <a:cs typeface="+mn-cs"/>
                                  </a:rPr>
                                  <m:t>(</m:t>
                                </m:r>
                                <m:r>
                                  <a:rPr lang="zh-CN" altLang="en-US" sz="1800" b="1" i="0" u="none" kern="1200" baseline="0" smtClean="0">
                                    <a:solidFill>
                                      <a:schemeClr val="tx1"/>
                                    </a:solidFill>
                                    <a:latin typeface="Cambria Math" panose="02040503050406030204" pitchFamily="18" charset="0"/>
                                    <a:ea typeface="宋体" pitchFamily="2" charset="-122"/>
                                    <a:cs typeface="+mn-cs"/>
                                  </a:rPr>
                                  <m:t>𝐘</m:t>
                                </m:r>
                                <m:r>
                                  <a:rPr lang="zh-CN" altLang="en-US" sz="1800" b="0" i="0" u="none" kern="1200" baseline="0">
                                    <a:solidFill>
                                      <a:schemeClr val="tx1"/>
                                    </a:solidFill>
                                    <a:latin typeface="Cambria Math" panose="02040503050406030204" pitchFamily="18" charset="0"/>
                                    <a:ea typeface="宋体" pitchFamily="2" charset="-122"/>
                                    <a:cs typeface="+mn-cs"/>
                                  </a:rPr>
                                  <m:t>′</m:t>
                                </m:r>
                                <m:r>
                                  <a:rPr lang="zh-CN" altLang="en-US" sz="1800" b="1" i="0" u="none" kern="1200" baseline="0">
                                    <a:solidFill>
                                      <a:schemeClr val="tx1"/>
                                    </a:solidFill>
                                    <a:latin typeface="Cambria Math" panose="02040503050406030204" pitchFamily="18" charset="0"/>
                                    <a:ea typeface="宋体" pitchFamily="2" charset="-122"/>
                                    <a:cs typeface="+mn-cs"/>
                                  </a:rPr>
                                  <m:t>𝐘</m:t>
                                </m:r>
                                <m:r>
                                  <a:rPr lang="zh-CN" altLang="en-US" sz="1800" b="0" i="0" u="none" kern="1200" baseline="0">
                                    <a:solidFill>
                                      <a:schemeClr val="tx1"/>
                                    </a:solidFill>
                                    <a:latin typeface="Cambria Math" panose="02040503050406030204" pitchFamily="18" charset="0"/>
                                    <a:ea typeface="宋体" pitchFamily="2" charset="-122"/>
                                    <a:cs typeface="+mn-cs"/>
                                  </a:rPr>
                                  <m:t>−</m:t>
                                </m:r>
                                <m:r>
                                  <a:rPr lang="zh-CN" altLang="en-US" sz="1800" b="0" i="1" u="none" kern="1200" baseline="0">
                                    <a:solidFill>
                                      <a:schemeClr val="tx1"/>
                                    </a:solidFill>
                                    <a:latin typeface="Cambria Math" panose="02040503050406030204" pitchFamily="18" charset="0"/>
                                    <a:ea typeface="宋体" pitchFamily="2" charset="-122"/>
                                    <a:cs typeface="+mn-cs"/>
                                  </a:rPr>
                                  <m:t>𝑛</m:t>
                                </m:r>
                                <m:sSup>
                                  <m:sSupPr>
                                    <m:ctrlPr>
                                      <a:rPr lang="zh-CN" altLang="en-US" sz="1800" b="0" i="1" u="none" kern="1200" baseline="0">
                                        <a:solidFill>
                                          <a:schemeClr val="tx1"/>
                                        </a:solidFill>
                                        <a:latin typeface="Cambria Math" panose="02040503050406030204" pitchFamily="18" charset="0"/>
                                        <a:ea typeface="宋体" pitchFamily="2" charset="-122"/>
                                        <a:cs typeface="+mn-cs"/>
                                      </a:rPr>
                                    </m:ctrlPr>
                                  </m:sSupPr>
                                  <m:e>
                                    <m:acc>
                                      <m:accPr>
                                        <m:chr m:val="̅"/>
                                        <m:ctrlPr>
                                          <a:rPr lang="zh-CN" altLang="en-US" sz="1800" b="0" i="1" u="none" kern="1200" baseline="0">
                                            <a:solidFill>
                                              <a:schemeClr val="tx1"/>
                                            </a:solidFill>
                                            <a:latin typeface="Cambria Math" panose="02040503050406030204" pitchFamily="18" charset="0"/>
                                            <a:ea typeface="宋体" pitchFamily="2" charset="-122"/>
                                            <a:cs typeface="+mn-cs"/>
                                          </a:rPr>
                                        </m:ctrlPr>
                                      </m:accPr>
                                      <m:e>
                                        <m:r>
                                          <a:rPr lang="zh-CN" altLang="en-US" sz="1800" b="1" i="0" u="none" kern="1200" baseline="0">
                                            <a:solidFill>
                                              <a:schemeClr val="tx1"/>
                                            </a:solidFill>
                                            <a:latin typeface="Cambria Math" panose="02040503050406030204" pitchFamily="18" charset="0"/>
                                            <a:ea typeface="宋体" pitchFamily="2" charset="-122"/>
                                            <a:cs typeface="+mn-cs"/>
                                          </a:rPr>
                                          <m:t>𝐘</m:t>
                                        </m:r>
                                      </m:e>
                                    </m:acc>
                                  </m:e>
                                  <m:sup>
                                    <m:r>
                                      <a:rPr lang="zh-CN" altLang="en-US" sz="1800" b="0" i="0" u="none" kern="1200" baseline="0">
                                        <a:solidFill>
                                          <a:schemeClr val="tx1"/>
                                        </a:solidFill>
                                        <a:latin typeface="Cambria Math" panose="02040503050406030204" pitchFamily="18" charset="0"/>
                                        <a:ea typeface="宋体" pitchFamily="2" charset="-122"/>
                                        <a:cs typeface="+mn-cs"/>
                                      </a:rPr>
                                      <m:t>2</m:t>
                                    </m:r>
                                  </m:sup>
                                </m:sSup>
                                <m:r>
                                  <a:rPr lang="en-US" altLang="zh-CN" sz="1800" b="0" i="1" u="none" kern="1200" baseline="0" smtClean="0">
                                    <a:solidFill>
                                      <a:schemeClr val="tx1"/>
                                    </a:solidFill>
                                    <a:latin typeface="Cambria Math" panose="02040503050406030204" pitchFamily="18" charset="0"/>
                                    <a:ea typeface="宋体" pitchFamily="2" charset="-122"/>
                                    <a:cs typeface="+mn-cs"/>
                                  </a:rPr>
                                  <m:t>)/(</m:t>
                                </m:r>
                                <m:r>
                                  <a:rPr lang="en-US" altLang="zh-CN" sz="1800" b="0" i="1" u="none" kern="1200" baseline="0" smtClean="0">
                                    <a:solidFill>
                                      <a:schemeClr val="tx1"/>
                                    </a:solidFill>
                                    <a:latin typeface="Cambria Math" panose="02040503050406030204" pitchFamily="18" charset="0"/>
                                    <a:ea typeface="宋体" pitchFamily="2" charset="-122"/>
                                    <a:cs typeface="+mn-cs"/>
                                  </a:rPr>
                                  <m:t>𝑛</m:t>
                                </m:r>
                                <m:r>
                                  <a:rPr lang="en-US" altLang="zh-CN" sz="1800" b="0" i="1" u="none" kern="1200" baseline="0" smtClean="0">
                                    <a:solidFill>
                                      <a:schemeClr val="tx1"/>
                                    </a:solidFill>
                                    <a:latin typeface="Cambria Math" panose="02040503050406030204" pitchFamily="18" charset="0"/>
                                    <a:ea typeface="宋体" pitchFamily="2" charset="-122"/>
                                    <a:cs typeface="+mn-cs"/>
                                  </a:rPr>
                                  <m:t>−</m:t>
                                </m:r>
                                <m:r>
                                  <a:rPr lang="en-US" altLang="zh-CN" sz="1800" b="0" i="1" u="none" kern="1200" baseline="0" smtClean="0">
                                    <a:solidFill>
                                      <a:schemeClr val="tx1"/>
                                    </a:solidFill>
                                    <a:latin typeface="Cambria Math" panose="02040503050406030204" pitchFamily="18" charset="0"/>
                                    <a:ea typeface="宋体" pitchFamily="2" charset="-122"/>
                                    <a:cs typeface="+mn-cs"/>
                                  </a:rPr>
                                  <m:t>1</m:t>
                                </m:r>
                                <m:r>
                                  <a:rPr lang="en-US" altLang="zh-CN" sz="1800" b="0" i="1" u="none" kern="1200" baseline="0" smtClean="0">
                                    <a:solidFill>
                                      <a:schemeClr val="tx1"/>
                                    </a:solidFill>
                                    <a:latin typeface="Cambria Math" panose="02040503050406030204" pitchFamily="18" charset="0"/>
                                    <a:ea typeface="宋体" pitchFamily="2" charset="-122"/>
                                    <a:cs typeface="+mn-cs"/>
                                  </a:rPr>
                                  <m:t>)</m:t>
                                </m:r>
                              </m:oMath>
                            </m:oMathPara>
                          </a14:m>
                          <a:endParaRPr lang="zh-CN" altLang="zh-CN" sz="2000" dirty="0">
                            <a:latin typeface="Times New Roman" panose="02020503050405090304" pitchFamily="18" charset="0"/>
                            <a:cs typeface="Times New Roman" panose="02020503050405090304" pitchFamily="18" charset="0"/>
                          </a:endParaRPr>
                        </a:p>
                      </a:txBody>
                      <a:tcPr>
                        <a:lnL w="12700" cap="flat" cmpd="sng">
                          <a:solidFill>
                            <a:schemeClr val="tx1"/>
                          </a:solidFill>
                          <a:prstDash val="solid"/>
                          <a:headEnd type="none" w="med" len="med"/>
                          <a:tailEnd type="none" w="med" len="med"/>
                        </a:lnL>
                        <a:lnR>
                          <a:noFill/>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mc:Choice>
        <mc:Fallback xmlns="">
          <p:graphicFrame>
            <p:nvGraphicFramePr>
              <p:cNvPr id="14345" name="表格 14344"/>
              <p:cNvGraphicFramePr/>
              <p:nvPr/>
            </p:nvGraphicFramePr>
            <p:xfrm>
              <a:off x="1981200" y="3698559"/>
              <a:ext cx="8382000" cy="1882775"/>
            </p:xfrm>
            <a:graphic>
              <a:graphicData uri="http://schemas.openxmlformats.org/drawingml/2006/table">
                <a:tbl>
                  <a:tblPr/>
                  <a:tblGrid>
                    <a:gridCol w="685800"/>
                    <a:gridCol w="3581400"/>
                    <a:gridCol w="980536"/>
                    <a:gridCol w="3134264"/>
                  </a:tblGrid>
                  <a:tr h="396875">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zh-CN" sz="2000" dirty="0">
                            <a:latin typeface="Tahoma" panose="020B0604030504040204" pitchFamily="34" charset="0"/>
                          </a:endParaRPr>
                        </a:p>
                      </a:txBody>
                      <a:tcPr>
                        <a:lnL>
                          <a:noFill/>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dirty="0">
                              <a:latin typeface="Tahoma" panose="020B0604030504040204" pitchFamily="34" charset="0"/>
                            </a:rPr>
                            <a:t>平方和</a:t>
                          </a:r>
                          <a:endParaRPr lang="zh-CN" altLang="en-US" sz="2000" dirty="0">
                            <a:latin typeface="Tahoma" panose="020B0604030504040204" pitchFamily="34"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dirty="0">
                              <a:latin typeface="Tahoma" panose="020B0604030504040204" pitchFamily="34" charset="0"/>
                            </a:rPr>
                            <a:t>自由度</a:t>
                          </a:r>
                          <a:endParaRPr lang="en-US" altLang="zh-CN" sz="2000" dirty="0">
                            <a:latin typeface="Tahoma" panose="020B0604030504040204" pitchFamily="34"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dirty="0">
                              <a:latin typeface="Cambria Math" panose="02040503050406030204" pitchFamily="18" charset="0"/>
                            </a:rPr>
                            <a:t>𝝈</a:t>
                          </a:r>
                          <a:r>
                            <a:rPr lang="en-US" altLang="zh-CN" sz="2000" baseline="30000" dirty="0">
                              <a:latin typeface="Cambria Math" panose="02040503050406030204" pitchFamily="18" charset="0"/>
                            </a:rPr>
                            <a:t>2</a:t>
                          </a:r>
                          <a:r>
                            <a:rPr lang="zh-CN" altLang="en-US" sz="2000" dirty="0">
                              <a:latin typeface="Tahoma" panose="020B0604030504040204" pitchFamily="34" charset="0"/>
                            </a:rPr>
                            <a:t>的估计量</a:t>
                          </a:r>
                          <a:endParaRPr lang="zh-CN" altLang="en-US" sz="2000" dirty="0">
                            <a:latin typeface="Tahoma" panose="020B0604030504040204" pitchFamily="34" charset="0"/>
                          </a:endParaRPr>
                        </a:p>
                      </a:txBody>
                      <a:tcPr>
                        <a:lnL w="12700" cap="flat" cmpd="sng">
                          <a:solidFill>
                            <a:schemeClr val="tx1"/>
                          </a:solidFill>
                          <a:prstDash val="solid"/>
                          <a:headEnd type="none" w="med" len="med"/>
                          <a:tailEnd type="none" w="med" len="med"/>
                        </a:lnL>
                        <a:lnR>
                          <a:noFill/>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9530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en-US" altLang="zh-CN" sz="2000" dirty="0">
                              <a:latin typeface="Tahoma" panose="020B0604030504040204" pitchFamily="34" charset="0"/>
                            </a:rPr>
                            <a:t>MSS</a:t>
                          </a:r>
                          <a:endParaRPr lang="en-US" altLang="zh-CN" sz="2000" dirty="0">
                            <a:latin typeface="Tahoma" panose="020B0604030504040204" pitchFamily="34" charset="0"/>
                          </a:endParaRPr>
                        </a:p>
                      </a:txBody>
                      <a:tcPr>
                        <a:lnL>
                          <a:noFill/>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eaLnBrk="1" hangingPunct="1">
                            <a:spcBef>
                              <a:spcPct val="20000"/>
                            </a:spcBef>
                            <a:buClr>
                              <a:schemeClr val="folHlink"/>
                            </a:buClr>
                            <a:buSzPct val="60000"/>
                            <a:buFont typeface="Wingdings" panose="05000000000000000000" pitchFamily="2" charset="2"/>
                            <a:buNone/>
                          </a:pPr>
                          <a:endParaRPr lang="zh-CN" altLang="zh-CN" sz="2000" dirty="0">
                            <a:latin typeface="Tahoma" panose="020B0604030504040204" pitchFamily="34"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2000" i="1" dirty="0">
                              <a:latin typeface="Times New Roman" panose="02020503050405090304" pitchFamily="18" charset="0"/>
                              <a:cs typeface="Times New Roman" panose="02020503050405090304" pitchFamily="18" charset="0"/>
                            </a:rPr>
                            <a:t>k</a:t>
                          </a:r>
                          <a:endParaRPr lang="en-US" altLang="zh-CN" sz="2000" i="1" dirty="0">
                            <a:latin typeface="Times New Roman" panose="02020503050405090304" pitchFamily="18" charset="0"/>
                            <a:cs typeface="Times New Roman" panose="0202050305040509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eaLnBrk="1" hangingPunct="1">
                            <a:spcBef>
                              <a:spcPct val="20000"/>
                            </a:spcBef>
                            <a:buClr>
                              <a:schemeClr val="folHlink"/>
                            </a:buClr>
                            <a:buSzPct val="60000"/>
                            <a:buFont typeface="Wingdings" panose="05000000000000000000" pitchFamily="2" charset="2"/>
                            <a:buNone/>
                          </a:pPr>
                          <a:endParaRPr lang="zh-CN" altLang="zh-CN" sz="2000" dirty="0">
                            <a:latin typeface="Tahoma" panose="020B0604030504040204" pitchFamily="34" charset="0"/>
                          </a:endParaRPr>
                        </a:p>
                      </a:txBody>
                      <a:tcPr>
                        <a:lnL w="12700" cap="flat" cmpd="sng">
                          <a:solidFill>
                            <a:schemeClr val="tx1"/>
                          </a:solidFill>
                          <a:prstDash val="solid"/>
                          <a:headEnd type="none" w="med" len="med"/>
                          <a:tailEnd type="none" w="med" len="med"/>
                        </a:lnL>
                        <a:lnR>
                          <a:noFill/>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9530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en-US" altLang="zh-CN" sz="2000" dirty="0">
                              <a:latin typeface="Tahoma" panose="020B0604030504040204" pitchFamily="34" charset="0"/>
                            </a:rPr>
                            <a:t>ESS</a:t>
                          </a:r>
                          <a:endParaRPr lang="en-US" altLang="zh-CN" sz="2000" dirty="0">
                            <a:latin typeface="Tahoma" panose="020B0604030504040204" pitchFamily="34" charset="0"/>
                          </a:endParaRPr>
                        </a:p>
                      </a:txBody>
                      <a:tcPr>
                        <a:lnL>
                          <a:noFill/>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eaLnBrk="1" hangingPunct="1">
                            <a:spcBef>
                              <a:spcPct val="20000"/>
                            </a:spcBef>
                            <a:buClr>
                              <a:schemeClr val="folHlink"/>
                            </a:buClr>
                            <a:buSzPct val="60000"/>
                            <a:buFont typeface="Wingdings" panose="05000000000000000000" pitchFamily="2" charset="2"/>
                            <a:buNone/>
                          </a:pPr>
                          <a:endParaRPr lang="zh-CN" altLang="zh-CN" sz="2000" dirty="0">
                            <a:latin typeface="Tahoma" panose="020B0604030504040204" pitchFamily="34"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2000" i="1" dirty="0">
                              <a:latin typeface="Times New Roman" panose="02020503050405090304" pitchFamily="18" charset="0"/>
                              <a:cs typeface="Times New Roman" panose="02020503050405090304" pitchFamily="18" charset="0"/>
                            </a:rPr>
                            <a:t>n</a:t>
                          </a:r>
                          <a:r>
                            <a:rPr lang="en-US" altLang="zh-CN" sz="2000" dirty="0">
                              <a:latin typeface="Times New Roman" panose="02020503050405090304" pitchFamily="18" charset="0"/>
                              <a:cs typeface="Times New Roman" panose="02020503050405090304" pitchFamily="18" charset="0"/>
                            </a:rPr>
                            <a:t>-</a:t>
                          </a:r>
                          <a:r>
                            <a:rPr lang="en-US" altLang="zh-CN" sz="2000" i="1" dirty="0">
                              <a:latin typeface="Times New Roman" panose="02020503050405090304" pitchFamily="18" charset="0"/>
                              <a:cs typeface="Times New Roman" panose="02020503050405090304" pitchFamily="18" charset="0"/>
                            </a:rPr>
                            <a:t>k</a:t>
                          </a:r>
                          <a:r>
                            <a:rPr lang="en-US" altLang="zh-CN" sz="2000" dirty="0">
                              <a:latin typeface="Times New Roman" panose="02020503050405090304" pitchFamily="18" charset="0"/>
                              <a:cs typeface="Times New Roman" panose="02020503050405090304" pitchFamily="18" charset="0"/>
                            </a:rPr>
                            <a:t>-1</a:t>
                          </a:r>
                          <a:endParaRPr lang="en-US" altLang="zh-CN" sz="2000" dirty="0">
                            <a:latin typeface="Times New Roman" panose="02020503050405090304" pitchFamily="18" charset="0"/>
                            <a:cs typeface="Times New Roman" panose="0202050305040509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eaLnBrk="1" hangingPunct="1">
                            <a:spcBef>
                              <a:spcPct val="20000"/>
                            </a:spcBef>
                            <a:buClr>
                              <a:schemeClr val="folHlink"/>
                            </a:buClr>
                            <a:buSzPct val="60000"/>
                            <a:buFont typeface="Wingdings" panose="05000000000000000000" pitchFamily="2" charset="2"/>
                            <a:buNone/>
                          </a:pPr>
                          <a:endParaRPr lang="zh-CN" altLang="zh-CN" sz="2000" dirty="0">
                            <a:latin typeface="Tahoma" panose="020B0604030504040204" pitchFamily="34" charset="0"/>
                          </a:endParaRPr>
                        </a:p>
                      </a:txBody>
                      <a:tcPr>
                        <a:lnL w="12700" cap="flat" cmpd="sng">
                          <a:solidFill>
                            <a:schemeClr val="tx1"/>
                          </a:solidFill>
                          <a:prstDash val="solid"/>
                          <a:headEnd type="none" w="med" len="med"/>
                          <a:tailEnd type="none" w="med" len="med"/>
                        </a:lnL>
                        <a:lnR>
                          <a:noFill/>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9530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en-US" altLang="zh-CN" sz="2000" dirty="0">
                              <a:latin typeface="Tahoma" panose="020B0604030504040204" pitchFamily="34" charset="0"/>
                            </a:rPr>
                            <a:t>TSS</a:t>
                          </a:r>
                          <a:endParaRPr lang="en-US" altLang="zh-CN" sz="2000" dirty="0">
                            <a:latin typeface="Tahoma" panose="020B0604030504040204" pitchFamily="34" charset="0"/>
                          </a:endParaRPr>
                        </a:p>
                      </a:txBody>
                      <a:tcPr>
                        <a:lnL>
                          <a:noFill/>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eaLnBrk="1" hangingPunct="1">
                            <a:spcBef>
                              <a:spcPct val="20000"/>
                            </a:spcBef>
                            <a:buClr>
                              <a:schemeClr val="folHlink"/>
                            </a:buClr>
                            <a:buSzPct val="60000"/>
                            <a:buFont typeface="Wingdings" panose="05000000000000000000" pitchFamily="2" charset="2"/>
                            <a:buNone/>
                          </a:pPr>
                          <a:endParaRPr lang="zh-CN" altLang="zh-CN" sz="2000" dirty="0">
                            <a:latin typeface="Tahoma" panose="020B0604030504040204" pitchFamily="34"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2000" i="1" dirty="0">
                              <a:latin typeface="Times New Roman" panose="02020503050405090304" pitchFamily="18" charset="0"/>
                              <a:cs typeface="Times New Roman" panose="02020503050405090304" pitchFamily="18" charset="0"/>
                            </a:rPr>
                            <a:t>n</a:t>
                          </a:r>
                          <a:r>
                            <a:rPr lang="en-US" altLang="zh-CN" sz="2000" dirty="0">
                              <a:latin typeface="Times New Roman" panose="02020503050405090304" pitchFamily="18" charset="0"/>
                              <a:cs typeface="Times New Roman" panose="02020503050405090304" pitchFamily="18" charset="0"/>
                            </a:rPr>
                            <a:t>-1</a:t>
                          </a:r>
                          <a:endParaRPr lang="en-US" altLang="zh-CN" sz="2000" dirty="0">
                            <a:latin typeface="Times New Roman" panose="02020503050405090304" pitchFamily="18" charset="0"/>
                            <a:cs typeface="Times New Roman" panose="0202050305040509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endParaRPr lang="zh-CN"/>
                        </a:p>
                      </a:txBody>
                      <a:tcPr>
                        <a:lnL w="12700" cap="flat" cmpd="sng">
                          <a:solidFill>
                            <a:schemeClr val="tx1"/>
                          </a:solidFill>
                          <a:prstDash val="solid"/>
                          <a:headEnd type="none" w="med" len="med"/>
                          <a:tailEnd type="none" w="med" len="med"/>
                        </a:lnL>
                        <a:lnR>
                          <a:noFill/>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blipFill>
                          <a:blip r:embed="rId3"/>
                        </a:blipFill>
                      </a:tcPr>
                    </a:tc>
                  </a:tr>
                </a:tbl>
              </a:graphicData>
            </a:graphic>
          </p:graphicFrame>
        </mc:Fallback>
      </mc:AlternateContent>
      <p:sp>
        <p:nvSpPr>
          <p:cNvPr id="21534" name="Text Box 72"/>
          <p:cNvSpPr txBox="1"/>
          <p:nvPr/>
        </p:nvSpPr>
        <p:spPr>
          <a:xfrm>
            <a:off x="4078606" y="2967674"/>
            <a:ext cx="3268267" cy="493148"/>
          </a:xfrm>
          <a:prstGeom prst="rect">
            <a:avLst/>
          </a:prstGeom>
          <a:noFill/>
          <a:ln w="9525">
            <a:noFill/>
          </a:ln>
        </p:spPr>
        <p:txBody>
          <a:bodyPr wrap="none" anchor="t">
            <a:spAutoFit/>
          </a:bodyPr>
          <a:lstStyle/>
          <a:p>
            <a:pPr>
              <a:lnSpc>
                <a:spcPct val="120000"/>
              </a:lnSpc>
            </a:pPr>
            <a:r>
              <a:rPr lang="zh-CN" altLang="en-US" sz="2400" dirty="0">
                <a:latin typeface="Times New Roman" panose="02020503050405090304" pitchFamily="18" charset="0"/>
                <a:ea typeface="黑体" panose="02010609060101010101" pitchFamily="49" charset="-122"/>
                <a:cs typeface="Times New Roman" panose="02020503050405090304" pitchFamily="18" charset="0"/>
              </a:rPr>
              <a:t>方差分析表（ </a:t>
            </a:r>
            <a:r>
              <a:rPr lang="en-US" altLang="zh-CN" sz="2400" dirty="0">
                <a:latin typeface="Times New Roman" panose="02020503050405090304" pitchFamily="18" charset="0"/>
                <a:ea typeface="黑体" panose="02010609060101010101" pitchFamily="49" charset="-122"/>
                <a:cs typeface="Times New Roman" panose="02020503050405090304" pitchFamily="18" charset="0"/>
              </a:rPr>
              <a:t>ANOVA)</a:t>
            </a:r>
            <a:endParaRPr lang="en-US" altLang="zh-CN" sz="2400" dirty="0">
              <a:latin typeface="Times New Roman" panose="02020503050405090304" pitchFamily="18" charset="0"/>
              <a:ea typeface="黑体" panose="02010609060101010101" pitchFamily="49" charset="-122"/>
              <a:cs typeface="Times New Roman" panose="02020503050405090304" pitchFamily="18" charset="0"/>
            </a:endParaRPr>
          </a:p>
        </p:txBody>
      </p:sp>
      <p:graphicFrame>
        <p:nvGraphicFramePr>
          <p:cNvPr id="21535" name="Object 73"/>
          <p:cNvGraphicFramePr/>
          <p:nvPr/>
        </p:nvGraphicFramePr>
        <p:xfrm>
          <a:off x="2657475" y="4613275"/>
          <a:ext cx="3106738" cy="422275"/>
        </p:xfrm>
        <a:graphic>
          <a:graphicData uri="http://schemas.openxmlformats.org/presentationml/2006/ole">
            <mc:AlternateContent xmlns:mc="http://schemas.openxmlformats.org/markup-compatibility/2006">
              <mc:Choice xmlns:v="urn:schemas-microsoft-com:vml" Requires="v">
                <p:oleObj spid="_x0000_s2" name="Equation" r:id="rId4" imgW="31089600" imgH="6400800" progId="Equation.DSMT4">
                  <p:embed/>
                </p:oleObj>
              </mc:Choice>
              <mc:Fallback>
                <p:oleObj name="Equation" r:id="rId4" imgW="31089600" imgH="6400800" progId="Equation.DSMT4">
                  <p:embed/>
                  <p:pic>
                    <p:nvPicPr>
                      <p:cNvPr id="0" name="图片 3153"/>
                      <p:cNvPicPr/>
                      <p:nvPr/>
                    </p:nvPicPr>
                    <p:blipFill>
                      <a:blip r:embed="rId5"/>
                      <a:stretch>
                        <a:fillRect/>
                      </a:stretch>
                    </p:blipFill>
                    <p:spPr>
                      <a:xfrm>
                        <a:off x="2657475" y="4613275"/>
                        <a:ext cx="3106738" cy="422275"/>
                      </a:xfrm>
                      <a:prstGeom prst="rect">
                        <a:avLst/>
                      </a:prstGeom>
                      <a:noFill/>
                      <a:ln w="38100">
                        <a:noFill/>
                        <a:miter/>
                      </a:ln>
                    </p:spPr>
                  </p:pic>
                </p:oleObj>
              </mc:Fallback>
            </mc:AlternateContent>
          </a:graphicData>
        </a:graphic>
      </p:graphicFrame>
      <p:graphicFrame>
        <p:nvGraphicFramePr>
          <p:cNvPr id="21536" name="Object 74"/>
          <p:cNvGraphicFramePr/>
          <p:nvPr/>
        </p:nvGraphicFramePr>
        <p:xfrm>
          <a:off x="2703513" y="4086171"/>
          <a:ext cx="3457575" cy="466725"/>
        </p:xfrm>
        <a:graphic>
          <a:graphicData uri="http://schemas.openxmlformats.org/presentationml/2006/ole">
            <mc:AlternateContent xmlns:mc="http://schemas.openxmlformats.org/markup-compatibility/2006">
              <mc:Choice xmlns:v="urn:schemas-microsoft-com:vml" Requires="v">
                <p:oleObj spid="_x0000_s3" name="Equation" r:id="rId6" imgW="40843200" imgH="7010400" progId="Equation.DSMT4">
                  <p:embed/>
                </p:oleObj>
              </mc:Choice>
              <mc:Fallback>
                <p:oleObj name="Equation" r:id="rId6" imgW="40843200" imgH="7010400" progId="Equation.DSMT4">
                  <p:embed/>
                  <p:pic>
                    <p:nvPicPr>
                      <p:cNvPr id="0" name="图片 3148"/>
                      <p:cNvPicPr/>
                      <p:nvPr/>
                    </p:nvPicPr>
                    <p:blipFill>
                      <a:blip r:embed="rId7"/>
                      <a:stretch>
                        <a:fillRect/>
                      </a:stretch>
                    </p:blipFill>
                    <p:spPr>
                      <a:xfrm>
                        <a:off x="2703513" y="4086171"/>
                        <a:ext cx="3457575" cy="466725"/>
                      </a:xfrm>
                      <a:prstGeom prst="rect">
                        <a:avLst/>
                      </a:prstGeom>
                      <a:noFill/>
                      <a:ln w="38100">
                        <a:noFill/>
                        <a:miter/>
                      </a:ln>
                    </p:spPr>
                  </p:pic>
                </p:oleObj>
              </mc:Fallback>
            </mc:AlternateContent>
          </a:graphicData>
        </a:graphic>
      </p:graphicFrame>
      <p:graphicFrame>
        <p:nvGraphicFramePr>
          <p:cNvPr id="21537" name="Object 75"/>
          <p:cNvGraphicFramePr/>
          <p:nvPr/>
        </p:nvGraphicFramePr>
        <p:xfrm>
          <a:off x="2743201" y="5070158"/>
          <a:ext cx="3090863" cy="404812"/>
        </p:xfrm>
        <a:graphic>
          <a:graphicData uri="http://schemas.openxmlformats.org/presentationml/2006/ole">
            <mc:AlternateContent xmlns:mc="http://schemas.openxmlformats.org/markup-compatibility/2006">
              <mc:Choice xmlns:v="urn:schemas-microsoft-com:vml" Requires="v">
                <p:oleObj spid="_x0000_s4" name="Equation" r:id="rId8" imgW="1522730" imgH="254000" progId="Equation.DSMT4">
                  <p:embed/>
                </p:oleObj>
              </mc:Choice>
              <mc:Fallback>
                <p:oleObj name="Equation" r:id="rId8" imgW="1522730" imgH="254000" progId="Equation.DSMT4">
                  <p:embed/>
                  <p:pic>
                    <p:nvPicPr>
                      <p:cNvPr id="0" name="图片 3150"/>
                      <p:cNvPicPr/>
                      <p:nvPr/>
                    </p:nvPicPr>
                    <p:blipFill>
                      <a:blip r:embed="rId9"/>
                      <a:stretch>
                        <a:fillRect/>
                      </a:stretch>
                    </p:blipFill>
                    <p:spPr>
                      <a:xfrm>
                        <a:off x="2743201" y="5070158"/>
                        <a:ext cx="3090863" cy="404812"/>
                      </a:xfrm>
                      <a:prstGeom prst="rect">
                        <a:avLst/>
                      </a:prstGeom>
                      <a:noFill/>
                      <a:ln w="38100">
                        <a:noFill/>
                        <a:miter/>
                      </a:ln>
                    </p:spPr>
                  </p:pic>
                </p:oleObj>
              </mc:Fallback>
            </mc:AlternateContent>
          </a:graphicData>
        </a:graphic>
      </p:graphicFrame>
      <p:graphicFrame>
        <p:nvGraphicFramePr>
          <p:cNvPr id="21538" name="Object 76"/>
          <p:cNvGraphicFramePr/>
          <p:nvPr/>
        </p:nvGraphicFramePr>
        <p:xfrm>
          <a:off x="7404100" y="4156075"/>
          <a:ext cx="2320925" cy="385763"/>
        </p:xfrm>
        <a:graphic>
          <a:graphicData uri="http://schemas.openxmlformats.org/presentationml/2006/ole">
            <mc:AlternateContent xmlns:mc="http://schemas.openxmlformats.org/markup-compatibility/2006">
              <mc:Choice xmlns:v="urn:schemas-microsoft-com:vml" Requires="v">
                <p:oleObj spid="_x0000_s5" name="Equation" r:id="rId10" imgW="27432000" imgH="5791200" progId="Equation.DSMT4">
                  <p:embed/>
                </p:oleObj>
              </mc:Choice>
              <mc:Fallback>
                <p:oleObj name="Equation" r:id="rId10" imgW="27432000" imgH="5791200" progId="Equation.DSMT4">
                  <p:embed/>
                  <p:pic>
                    <p:nvPicPr>
                      <p:cNvPr id="0" name="图片 3155"/>
                      <p:cNvPicPr/>
                      <p:nvPr/>
                    </p:nvPicPr>
                    <p:blipFill>
                      <a:blip r:embed="rId11"/>
                      <a:stretch>
                        <a:fillRect/>
                      </a:stretch>
                    </p:blipFill>
                    <p:spPr>
                      <a:xfrm>
                        <a:off x="7404100" y="4156075"/>
                        <a:ext cx="2320925" cy="385763"/>
                      </a:xfrm>
                      <a:prstGeom prst="rect">
                        <a:avLst/>
                      </a:prstGeom>
                      <a:noFill/>
                      <a:ln w="38100">
                        <a:noFill/>
                        <a:miter/>
                      </a:ln>
                    </p:spPr>
                  </p:pic>
                </p:oleObj>
              </mc:Fallback>
            </mc:AlternateContent>
          </a:graphicData>
        </a:graphic>
      </p:graphicFrame>
      <p:graphicFrame>
        <p:nvGraphicFramePr>
          <p:cNvPr id="21539" name="Object 77"/>
          <p:cNvGraphicFramePr/>
          <p:nvPr/>
        </p:nvGraphicFramePr>
        <p:xfrm>
          <a:off x="7348538" y="4662488"/>
          <a:ext cx="2921000" cy="334962"/>
        </p:xfrm>
        <a:graphic>
          <a:graphicData uri="http://schemas.openxmlformats.org/presentationml/2006/ole">
            <mc:AlternateContent xmlns:mc="http://schemas.openxmlformats.org/markup-compatibility/2006">
              <mc:Choice xmlns:v="urn:schemas-microsoft-com:vml" Requires="v">
                <p:oleObj spid="_x0000_s6" name="Equation" r:id="rId12" imgW="39624000" imgH="5791200" progId="Equation.DSMT4">
                  <p:embed/>
                </p:oleObj>
              </mc:Choice>
              <mc:Fallback>
                <p:oleObj name="Equation" r:id="rId12" imgW="39624000" imgH="5791200" progId="Equation.DSMT4">
                  <p:embed/>
                  <p:pic>
                    <p:nvPicPr>
                      <p:cNvPr id="0" name="图片 3156"/>
                      <p:cNvPicPr/>
                      <p:nvPr/>
                    </p:nvPicPr>
                    <p:blipFill>
                      <a:blip r:embed="rId13"/>
                      <a:stretch>
                        <a:fillRect/>
                      </a:stretch>
                    </p:blipFill>
                    <p:spPr>
                      <a:xfrm>
                        <a:off x="7348538" y="4662488"/>
                        <a:ext cx="2921000" cy="334962"/>
                      </a:xfrm>
                      <a:prstGeom prst="rect">
                        <a:avLst/>
                      </a:prstGeom>
                      <a:noFill/>
                      <a:ln w="38100">
                        <a:noFill/>
                        <a:miter/>
                      </a:ln>
                    </p:spPr>
                  </p:pic>
                </p:oleObj>
              </mc:Fallback>
            </mc:AlternateContent>
          </a:graphicData>
        </a:graphic>
      </p:graphicFrame>
      <p:sp>
        <p:nvSpPr>
          <p:cNvPr id="21540" name="灯片编号占位符 44"/>
          <p:cNvSpPr>
            <a:spLocks noGrp="1"/>
          </p:cNvSpPr>
          <p:nvPr>
            <p:ph type="sldNum" sz="quarter" idx="12"/>
          </p:nvPr>
        </p:nvSpPr>
        <p:spPr>
          <a:xfrm>
            <a:off x="8305800" y="6148071"/>
            <a:ext cx="2057400" cy="365125"/>
          </a:xfrm>
        </p:spPr>
        <p:txBody>
          <a:bodyPr vert="horz" wrap="square" lIns="91440" tIns="45720" rIns="91440" bIns="45720" rtlCol="0" anchor="b">
            <a:norm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algn="r"/>
            <a:fld id="{9A0DB2DC-4C9A-4742-B13C-FB6460FD3503}" type="slidenum">
              <a:rPr lang="en-US" altLang="zh-CN" sz="1400" dirty="0"/>
            </a:fld>
            <a:endParaRPr lang="en-US" altLang="zh-CN" sz="14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529" name="Object 41"/>
          <p:cNvGraphicFramePr/>
          <p:nvPr/>
        </p:nvGraphicFramePr>
        <p:xfrm>
          <a:off x="1367896" y="1316567"/>
          <a:ext cx="8221662" cy="1039813"/>
        </p:xfrm>
        <a:graphic>
          <a:graphicData uri="http://schemas.openxmlformats.org/presentationml/2006/ole">
            <mc:AlternateContent xmlns:mc="http://schemas.openxmlformats.org/markup-compatibility/2006">
              <mc:Choice xmlns:v="urn:schemas-microsoft-com:vml" Requires="v">
                <p:oleObj spid="_x0000_s25601" name="Equation" r:id="rId1" imgW="97840800" imgH="11277600" progId="Equation.DSMT4">
                  <p:embed/>
                </p:oleObj>
              </mc:Choice>
              <mc:Fallback>
                <p:oleObj name="Equation" r:id="rId1" imgW="97840800" imgH="11277600" progId="Equation.DSMT4">
                  <p:embed/>
                  <p:pic>
                    <p:nvPicPr>
                      <p:cNvPr id="0" name="图片 3165"/>
                      <p:cNvPicPr/>
                      <p:nvPr/>
                    </p:nvPicPr>
                    <p:blipFill>
                      <a:blip r:embed="rId2"/>
                      <a:stretch>
                        <a:fillRect/>
                      </a:stretch>
                    </p:blipFill>
                    <p:spPr>
                      <a:xfrm>
                        <a:off x="1367896" y="1316567"/>
                        <a:ext cx="8221662" cy="1039813"/>
                      </a:xfrm>
                      <a:prstGeom prst="rect">
                        <a:avLst/>
                      </a:prstGeom>
                      <a:noFill/>
                      <a:ln w="38100">
                        <a:noFill/>
                        <a:miter/>
                      </a:ln>
                    </p:spPr>
                  </p:pic>
                </p:oleObj>
              </mc:Fallback>
            </mc:AlternateContent>
          </a:graphicData>
        </a:graphic>
      </p:graphicFrame>
      <p:graphicFrame>
        <p:nvGraphicFramePr>
          <p:cNvPr id="22530" name="Object 42"/>
          <p:cNvGraphicFramePr/>
          <p:nvPr/>
        </p:nvGraphicFramePr>
        <p:xfrm>
          <a:off x="1960033" y="2492905"/>
          <a:ext cx="5468938" cy="1889125"/>
        </p:xfrm>
        <a:graphic>
          <a:graphicData uri="http://schemas.openxmlformats.org/presentationml/2006/ole">
            <mc:AlternateContent xmlns:mc="http://schemas.openxmlformats.org/markup-compatibility/2006">
              <mc:Choice xmlns:v="urn:schemas-microsoft-com:vml" Requires="v">
                <p:oleObj spid="_x0000_s2" name="Equation" r:id="rId3" imgW="64617600" imgH="21336000" progId="Equation.DSMT4">
                  <p:embed/>
                </p:oleObj>
              </mc:Choice>
              <mc:Fallback>
                <p:oleObj name="Equation" r:id="rId3" imgW="64617600" imgH="21336000" progId="Equation.DSMT4">
                  <p:embed/>
                  <p:pic>
                    <p:nvPicPr>
                      <p:cNvPr id="0" name="图片 3159"/>
                      <p:cNvPicPr/>
                      <p:nvPr/>
                    </p:nvPicPr>
                    <p:blipFill>
                      <a:blip r:embed="rId4"/>
                      <a:stretch>
                        <a:fillRect/>
                      </a:stretch>
                    </p:blipFill>
                    <p:spPr>
                      <a:xfrm>
                        <a:off x="1960033" y="2492905"/>
                        <a:ext cx="5468938" cy="1889125"/>
                      </a:xfrm>
                      <a:prstGeom prst="rect">
                        <a:avLst/>
                      </a:prstGeom>
                      <a:noFill/>
                      <a:ln w="38100">
                        <a:noFill/>
                        <a:miter/>
                      </a:ln>
                    </p:spPr>
                  </p:pic>
                </p:oleObj>
              </mc:Fallback>
            </mc:AlternateContent>
          </a:graphicData>
        </a:graphic>
      </p:graphicFrame>
      <p:sp>
        <p:nvSpPr>
          <p:cNvPr id="22531" name="Text Box 43"/>
          <p:cNvSpPr txBox="1"/>
          <p:nvPr/>
        </p:nvSpPr>
        <p:spPr>
          <a:xfrm>
            <a:off x="1976543" y="4504268"/>
            <a:ext cx="6803390" cy="493148"/>
          </a:xfrm>
          <a:prstGeom prst="rect">
            <a:avLst/>
          </a:prstGeom>
          <a:noFill/>
          <a:ln w="9525">
            <a:noFill/>
          </a:ln>
        </p:spPr>
        <p:txBody>
          <a:bodyPr wrap="square" anchor="t">
            <a:spAutoFit/>
          </a:bodyPr>
          <a:lstStyle/>
          <a:p>
            <a:pPr>
              <a:lnSpc>
                <a:spcPct val="120000"/>
              </a:lnSpc>
            </a:pPr>
            <a:r>
              <a:rPr lang="zh-CN" altLang="en-US" sz="2400" dirty="0">
                <a:latin typeface="Times New Roman" panose="02020503050405090304" pitchFamily="18" charset="0"/>
                <a:ea typeface="黑体" panose="02010609060101010101" pitchFamily="49" charset="-122"/>
                <a:cs typeface="Times New Roman" panose="02020503050405090304" pitchFamily="18" charset="0"/>
              </a:rPr>
              <a:t>显然，</a:t>
            </a:r>
            <a:r>
              <a:rPr lang="en-US" altLang="zh-CN" sz="2400" i="1" dirty="0">
                <a:latin typeface="Times New Roman" panose="02020503050405090304" pitchFamily="18" charset="0"/>
                <a:ea typeface="黑体" panose="02010609060101010101" pitchFamily="49" charset="-122"/>
                <a:cs typeface="Times New Roman" panose="02020503050405090304" pitchFamily="18" charset="0"/>
              </a:rPr>
              <a:t>R</a:t>
            </a:r>
            <a:r>
              <a:rPr lang="en-US" altLang="zh-CN" sz="2400" baseline="30000" dirty="0">
                <a:latin typeface="Times New Roman" panose="02020503050405090304" pitchFamily="18" charset="0"/>
                <a:ea typeface="黑体" panose="02010609060101010101" pitchFamily="49" charset="-122"/>
                <a:cs typeface="Times New Roman" panose="02020503050405090304" pitchFamily="18" charset="0"/>
              </a:rPr>
              <a:t>2</a:t>
            </a:r>
            <a:r>
              <a:rPr lang="en-US" altLang="zh-CN" sz="2400" dirty="0">
                <a:latin typeface="Times New Roman" panose="02020503050405090304" pitchFamily="18" charset="0"/>
                <a:ea typeface="黑体" panose="02010609060101010101" pitchFamily="49" charset="-122"/>
                <a:cs typeface="Times New Roman" panose="02020503050405090304" pitchFamily="18" charset="0"/>
              </a:rPr>
              <a:t> </a:t>
            </a:r>
            <a:r>
              <a:rPr lang="zh-CN" altLang="en-US" sz="2400" dirty="0">
                <a:latin typeface="Times New Roman" panose="02020503050405090304" pitchFamily="18" charset="0"/>
                <a:ea typeface="黑体" panose="02010609060101010101" pitchFamily="49" charset="-122"/>
                <a:cs typeface="Times New Roman" panose="02020503050405090304" pitchFamily="18" charset="0"/>
              </a:rPr>
              <a:t>越大，</a:t>
            </a:r>
            <a:r>
              <a:rPr lang="en-US" altLang="zh-CN" sz="2400" i="1" dirty="0">
                <a:latin typeface="Times New Roman" panose="02020503050405090304" pitchFamily="18" charset="0"/>
                <a:ea typeface="黑体" panose="02010609060101010101" pitchFamily="49" charset="-122"/>
                <a:cs typeface="Times New Roman" panose="02020503050405090304" pitchFamily="18" charset="0"/>
              </a:rPr>
              <a:t>F</a:t>
            </a:r>
            <a:r>
              <a:rPr lang="zh-CN" altLang="en-US" sz="2400" dirty="0">
                <a:latin typeface="Times New Roman" panose="02020503050405090304" pitchFamily="18" charset="0"/>
                <a:ea typeface="黑体" panose="02010609060101010101" pitchFamily="49" charset="-122"/>
                <a:cs typeface="Times New Roman" panose="02020503050405090304" pitchFamily="18" charset="0"/>
              </a:rPr>
              <a:t>越大，当</a:t>
            </a:r>
            <a:r>
              <a:rPr lang="en-US" altLang="zh-CN" sz="2400" i="1" dirty="0">
                <a:latin typeface="Times New Roman" panose="02020503050405090304" pitchFamily="18" charset="0"/>
                <a:ea typeface="黑体" panose="02010609060101010101" pitchFamily="49" charset="-122"/>
                <a:cs typeface="Times New Roman" panose="02020503050405090304" pitchFamily="18" charset="0"/>
              </a:rPr>
              <a:t>R</a:t>
            </a:r>
            <a:r>
              <a:rPr lang="en-US" altLang="zh-CN" sz="2400" baseline="30000" dirty="0">
                <a:latin typeface="Times New Roman" panose="02020503050405090304" pitchFamily="18" charset="0"/>
                <a:ea typeface="黑体" panose="02010609060101010101" pitchFamily="49" charset="-122"/>
                <a:cs typeface="Times New Roman" panose="02020503050405090304" pitchFamily="18" charset="0"/>
              </a:rPr>
              <a:t>2</a:t>
            </a:r>
            <a:r>
              <a:rPr lang="en-US" altLang="zh-CN" sz="2400" dirty="0">
                <a:latin typeface="Times New Roman" panose="02020503050405090304" pitchFamily="18" charset="0"/>
                <a:ea typeface="黑体" panose="02010609060101010101" pitchFamily="49" charset="-122"/>
                <a:cs typeface="Times New Roman" panose="02020503050405090304" pitchFamily="18" charset="0"/>
              </a:rPr>
              <a:t> =1</a:t>
            </a:r>
            <a:r>
              <a:rPr lang="zh-CN" altLang="en-US" sz="2400" dirty="0">
                <a:latin typeface="Times New Roman" panose="02020503050405090304" pitchFamily="18" charset="0"/>
                <a:ea typeface="黑体" panose="02010609060101010101" pitchFamily="49" charset="-122"/>
                <a:cs typeface="Times New Roman" panose="02020503050405090304" pitchFamily="18" charset="0"/>
              </a:rPr>
              <a:t>时，</a:t>
            </a:r>
            <a:r>
              <a:rPr lang="en-US" altLang="zh-CN" sz="2400" i="1" dirty="0">
                <a:latin typeface="Times New Roman" panose="02020503050405090304" pitchFamily="18" charset="0"/>
                <a:ea typeface="黑体" panose="02010609060101010101" pitchFamily="49" charset="-122"/>
                <a:cs typeface="Times New Roman" panose="02020503050405090304" pitchFamily="18" charset="0"/>
              </a:rPr>
              <a:t>F</a:t>
            </a:r>
            <a:r>
              <a:rPr lang="zh-CN" altLang="en-US" sz="2400" dirty="0">
                <a:latin typeface="Times New Roman" panose="02020503050405090304" pitchFamily="18" charset="0"/>
                <a:ea typeface="黑体" panose="02010609060101010101" pitchFamily="49" charset="-122"/>
                <a:cs typeface="Times New Roman" panose="02020503050405090304" pitchFamily="18" charset="0"/>
              </a:rPr>
              <a:t>无限大。</a:t>
            </a:r>
            <a:endParaRPr lang="zh-CN" altLang="en-US" sz="2400" dirty="0">
              <a:latin typeface="Times New Roman" panose="02020503050405090304" pitchFamily="18" charset="0"/>
              <a:ea typeface="黑体" panose="02010609060101010101" pitchFamily="49" charset="-122"/>
              <a:cs typeface="Times New Roman" panose="02020503050405090304" pitchFamily="18" charset="0"/>
            </a:endParaRPr>
          </a:p>
        </p:txBody>
      </p:sp>
      <p:sp>
        <p:nvSpPr>
          <p:cNvPr id="22533" name="Text Box 45"/>
          <p:cNvSpPr txBox="1"/>
          <p:nvPr/>
        </p:nvSpPr>
        <p:spPr>
          <a:xfrm>
            <a:off x="1354879" y="5212928"/>
            <a:ext cx="8245475" cy="936347"/>
          </a:xfrm>
          <a:prstGeom prst="rect">
            <a:avLst/>
          </a:prstGeom>
          <a:noFill/>
          <a:ln w="9525">
            <a:noFill/>
          </a:ln>
        </p:spPr>
        <p:txBody>
          <a:bodyPr anchor="t">
            <a:spAutoFit/>
          </a:bodyPr>
          <a:lstStyle/>
          <a:p>
            <a:pPr>
              <a:lnSpc>
                <a:spcPct val="120000"/>
              </a:lnSpc>
            </a:pPr>
            <a:r>
              <a:rPr lang="en-US" altLang="zh-CN" sz="2400" dirty="0">
                <a:latin typeface="Times New Roman" panose="02020503050405090304" pitchFamily="18" charset="0"/>
                <a:ea typeface="黑体" panose="02010609060101010101" pitchFamily="49" charset="-122"/>
                <a:cs typeface="Times New Roman" panose="02020503050405090304" pitchFamily="18" charset="0"/>
              </a:rPr>
              <a:t> </a:t>
            </a:r>
            <a:r>
              <a:rPr lang="zh-CN" altLang="en-US" sz="2400" dirty="0">
                <a:latin typeface="Times New Roman" panose="02020503050405090304" pitchFamily="18" charset="0"/>
                <a:ea typeface="黑体" panose="02010609060101010101" pitchFamily="49" charset="-122"/>
                <a:cs typeface="Times New Roman" panose="02020503050405090304" pitchFamily="18" charset="0"/>
              </a:rPr>
              <a:t>选择显著水平</a:t>
            </a:r>
            <a:r>
              <a:rPr lang="en-US" altLang="zh-CN" sz="2400" i="1" dirty="0">
                <a:latin typeface="Times New Roman" panose="02020503050405090304" pitchFamily="18" charset="0"/>
                <a:ea typeface="黑体" panose="02010609060101010101" pitchFamily="49" charset="-122"/>
                <a:cs typeface="Times New Roman" panose="02020503050405090304" pitchFamily="18" charset="0"/>
              </a:rPr>
              <a:t>α</a:t>
            </a:r>
            <a:r>
              <a:rPr lang="zh-CN" altLang="en-US" sz="2400" dirty="0">
                <a:latin typeface="Times New Roman" panose="02020503050405090304" pitchFamily="18" charset="0"/>
                <a:ea typeface="黑体" panose="02010609060101010101" pitchFamily="49" charset="-122"/>
                <a:cs typeface="Times New Roman" panose="02020503050405090304" pitchFamily="18" charset="0"/>
              </a:rPr>
              <a:t>，计算</a:t>
            </a:r>
            <a:r>
              <a:rPr lang="en-US" altLang="zh-CN" sz="2400" i="1" dirty="0">
                <a:latin typeface="Times New Roman" panose="02020503050405090304" pitchFamily="18" charset="0"/>
                <a:ea typeface="黑体" panose="02010609060101010101" pitchFamily="49" charset="-122"/>
                <a:cs typeface="Times New Roman" panose="02020503050405090304" pitchFamily="18" charset="0"/>
              </a:rPr>
              <a:t>F</a:t>
            </a:r>
            <a:r>
              <a:rPr lang="zh-CN" altLang="en-US" sz="2400" dirty="0">
                <a:latin typeface="Times New Roman" panose="02020503050405090304" pitchFamily="18" charset="0"/>
                <a:ea typeface="黑体" panose="02010609060101010101" pitchFamily="49" charset="-122"/>
                <a:cs typeface="Times New Roman" panose="02020503050405090304" pitchFamily="18" charset="0"/>
              </a:rPr>
              <a:t>统计量的值，与</a:t>
            </a:r>
            <a:r>
              <a:rPr lang="en-US" altLang="zh-CN" sz="2400" i="1" dirty="0">
                <a:latin typeface="Times New Roman" panose="02020503050405090304" pitchFamily="18" charset="0"/>
                <a:ea typeface="黑体" panose="02010609060101010101" pitchFamily="49" charset="-122"/>
                <a:cs typeface="Times New Roman" panose="02020503050405090304" pitchFamily="18" charset="0"/>
              </a:rPr>
              <a:t>F</a:t>
            </a:r>
            <a:r>
              <a:rPr lang="zh-CN" altLang="en-US" sz="2400" dirty="0">
                <a:latin typeface="Times New Roman" panose="02020503050405090304" pitchFamily="18" charset="0"/>
                <a:ea typeface="黑体" panose="02010609060101010101" pitchFamily="49" charset="-122"/>
                <a:cs typeface="Times New Roman" panose="02020503050405090304" pitchFamily="18" charset="0"/>
              </a:rPr>
              <a:t>分布表中的临界值进行比较：</a:t>
            </a:r>
            <a:r>
              <a:rPr lang="en-US" altLang="zh-CN" sz="2400" i="1" dirty="0">
                <a:latin typeface="Times New Roman" panose="02020503050405090304" pitchFamily="18" charset="0"/>
                <a:ea typeface="黑体" panose="02010609060101010101" pitchFamily="49" charset="-122"/>
                <a:cs typeface="Times New Roman" panose="02020503050405090304" pitchFamily="18" charset="0"/>
              </a:rPr>
              <a:t>F</a:t>
            </a:r>
            <a:r>
              <a:rPr lang="zh-CN" altLang="en-US" sz="2400" dirty="0">
                <a:latin typeface="Times New Roman" panose="02020503050405090304" pitchFamily="18" charset="0"/>
                <a:ea typeface="黑体" panose="02010609060101010101" pitchFamily="49" charset="-122"/>
                <a:cs typeface="Times New Roman" panose="02020503050405090304" pitchFamily="18" charset="0"/>
              </a:rPr>
              <a:t>超过临界值，则拒绝原假设。</a:t>
            </a:r>
            <a:endParaRPr lang="zh-CN" altLang="en-US" sz="2400" dirty="0">
              <a:latin typeface="Times New Roman" panose="02020503050405090304" pitchFamily="18" charset="0"/>
              <a:ea typeface="黑体" panose="02010609060101010101" pitchFamily="49" charset="-122"/>
              <a:cs typeface="Times New Roman" panose="02020503050405090304" pitchFamily="18" charset="0"/>
            </a:endParaRPr>
          </a:p>
        </p:txBody>
      </p:sp>
      <p:sp>
        <p:nvSpPr>
          <p:cNvPr id="22534" name="灯片编号占位符 8"/>
          <p:cNvSpPr>
            <a:spLocks noGrp="1"/>
          </p:cNvSpPr>
          <p:nvPr>
            <p:ph type="sldNum" sz="quarter" idx="12"/>
          </p:nvPr>
        </p:nvSpPr>
        <p:spPr/>
        <p:txBody>
          <a:bodyPr vert="horz" wrap="square" lIns="91440" tIns="45720" rIns="91440" bIns="45720" rtlCol="0" anchor="b">
            <a:norm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algn="r"/>
            <a:fld id="{9A0DB2DC-4C9A-4742-B13C-FB6460FD3503}" type="slidenum">
              <a:rPr lang="en-US" altLang="zh-CN" sz="1400" dirty="0"/>
            </a:fld>
            <a:endParaRPr lang="en-US" altLang="zh-CN" sz="1400" dirty="0"/>
          </a:p>
        </p:txBody>
      </p:sp>
      <p:sp>
        <p:nvSpPr>
          <p:cNvPr id="3" name="文本框 2"/>
          <p:cNvSpPr txBox="1"/>
          <p:nvPr/>
        </p:nvSpPr>
        <p:spPr>
          <a:xfrm>
            <a:off x="1831764" y="689188"/>
            <a:ext cx="4026535" cy="460375"/>
          </a:xfrm>
          <a:prstGeom prst="rect">
            <a:avLst/>
          </a:prstGeom>
          <a:noFill/>
        </p:spPr>
        <p:txBody>
          <a:bodyPr wrap="none" rtlCol="0">
            <a:spAutoFit/>
          </a:bodyPr>
          <a:lstStyle/>
          <a:p>
            <a:r>
              <a:rPr lang="zh-CN" altLang="en-US" sz="2400" dirty="0">
                <a:latin typeface="Times New Roman" panose="02020503050405090304" pitchFamily="18" charset="0"/>
                <a:cs typeface="Times New Roman" panose="02020503050405090304" pitchFamily="18" charset="0"/>
              </a:rPr>
              <a:t>如果原假设成立，则</a:t>
            </a:r>
            <a:r>
              <a:rPr lang="en-US" altLang="zh-CN" sz="2400" i="1" dirty="0">
                <a:latin typeface="Times New Roman" panose="02020503050405090304" pitchFamily="18" charset="0"/>
                <a:cs typeface="Times New Roman" panose="02020503050405090304" pitchFamily="18" charset="0"/>
              </a:rPr>
              <a:t>F</a:t>
            </a:r>
            <a:r>
              <a:rPr lang="zh-CN" altLang="en-US" sz="2400" dirty="0">
                <a:latin typeface="Times New Roman" panose="02020503050405090304" pitchFamily="18" charset="0"/>
                <a:cs typeface="Times New Roman" panose="02020503050405090304" pitchFamily="18" charset="0"/>
              </a:rPr>
              <a:t>统计量</a:t>
            </a:r>
            <a:endParaRPr lang="zh-CN" altLang="en-US" sz="2400" dirty="0">
              <a:latin typeface="Times New Roman" panose="02020503050405090304" pitchFamily="18" charset="0"/>
              <a:cs typeface="Times New Roman" panose="02020503050405090304" pitchFamily="18" charset="0"/>
            </a:endParaRPr>
          </a:p>
        </p:txBody>
      </p:sp>
      <p:graphicFrame>
        <p:nvGraphicFramePr>
          <p:cNvPr id="5" name="对象 4"/>
          <p:cNvGraphicFramePr>
            <a:graphicFrameLocks noChangeAspect="1"/>
          </p:cNvGraphicFramePr>
          <p:nvPr/>
        </p:nvGraphicFramePr>
        <p:xfrm>
          <a:off x="7662239" y="487891"/>
          <a:ext cx="2461908" cy="775045"/>
        </p:xfrm>
        <a:graphic>
          <a:graphicData uri="http://schemas.openxmlformats.org/presentationml/2006/ole">
            <mc:AlternateContent xmlns:mc="http://schemas.openxmlformats.org/markup-compatibility/2006">
              <mc:Choice xmlns:v="urn:schemas-microsoft-com:vml" Requires="v">
                <p:oleObj spid="_x0000_s4" name="Equation" r:id="rId5" imgW="32918400" imgH="10363200" progId="Equation.DSMT4">
                  <p:embed/>
                </p:oleObj>
              </mc:Choice>
              <mc:Fallback>
                <p:oleObj name="Equation" r:id="rId5" imgW="32918400" imgH="10363200" progId="Equation.DSMT4">
                  <p:embed/>
                  <p:pic>
                    <p:nvPicPr>
                      <p:cNvPr id="0" name="图片 3"/>
                      <p:cNvPicPr/>
                      <p:nvPr/>
                    </p:nvPicPr>
                    <p:blipFill>
                      <a:blip r:embed="rId6"/>
                      <a:stretch>
                        <a:fillRect/>
                      </a:stretch>
                    </p:blipFill>
                    <p:spPr>
                      <a:xfrm>
                        <a:off x="7662239" y="487891"/>
                        <a:ext cx="2461908" cy="775045"/>
                      </a:xfrm>
                      <a:prstGeom prst="rect">
                        <a:avLst/>
                      </a:prstGeom>
                    </p:spPr>
                  </p:pic>
                </p:oleObj>
              </mc:Fallback>
            </mc:AlternateContent>
          </a:graphicData>
        </a:graphic>
      </p:graphicFrame>
      <p:sp>
        <p:nvSpPr>
          <p:cNvPr id="6" name="矩形 5"/>
          <p:cNvSpPr/>
          <p:nvPr/>
        </p:nvSpPr>
        <p:spPr>
          <a:xfrm>
            <a:off x="7611533" y="390130"/>
            <a:ext cx="2584174" cy="92643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7" name="Object 42"/>
          <p:cNvGraphicFramePr/>
          <p:nvPr/>
        </p:nvGraphicFramePr>
        <p:xfrm>
          <a:off x="7897283" y="3479273"/>
          <a:ext cx="2838450" cy="890587"/>
        </p:xfrm>
        <a:graphic>
          <a:graphicData uri="http://schemas.openxmlformats.org/presentationml/2006/ole">
            <mc:AlternateContent xmlns:mc="http://schemas.openxmlformats.org/markup-compatibility/2006">
              <mc:Choice xmlns:v="urn:schemas-microsoft-com:vml" Requires="v">
                <p:oleObj spid="_x0000_s7" name="Equation" r:id="rId7" imgW="33528000" imgH="10058400" progId="Equation.DSMT4">
                  <p:embed/>
                </p:oleObj>
              </mc:Choice>
              <mc:Fallback>
                <p:oleObj name="Equation" r:id="rId7" imgW="33528000" imgH="10058400" progId="Equation.DSMT4">
                  <p:embed/>
                  <p:pic>
                    <p:nvPicPr>
                      <p:cNvPr id="0" name="Object 42"/>
                      <p:cNvPicPr/>
                      <p:nvPr/>
                    </p:nvPicPr>
                    <p:blipFill>
                      <a:blip r:embed="rId8"/>
                      <a:stretch>
                        <a:fillRect/>
                      </a:stretch>
                    </p:blipFill>
                    <p:spPr>
                      <a:xfrm>
                        <a:off x="7897283" y="3479273"/>
                        <a:ext cx="2838450" cy="890587"/>
                      </a:xfrm>
                      <a:prstGeom prst="rect">
                        <a:avLst/>
                      </a:prstGeom>
                      <a:noFill/>
                      <a:ln w="38100">
                        <a:noFill/>
                        <a:miter/>
                      </a:ln>
                    </p:spPr>
                  </p:pic>
                </p:oleObj>
              </mc:Fallback>
            </mc:AlternateContent>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ext Box 6"/>
          <p:cNvSpPr txBox="1"/>
          <p:nvPr/>
        </p:nvSpPr>
        <p:spPr>
          <a:xfrm>
            <a:off x="1789431" y="892811"/>
            <a:ext cx="5075555" cy="476669"/>
          </a:xfrm>
          <a:prstGeom prst="rect">
            <a:avLst/>
          </a:prstGeom>
          <a:noFill/>
          <a:ln w="9525">
            <a:noFill/>
          </a:ln>
        </p:spPr>
        <p:txBody>
          <a:bodyPr wrap="square" anchor="t">
            <a:spAutoFit/>
          </a:bodyPr>
          <a:lstStyle/>
          <a:p>
            <a:pPr algn="ctr">
              <a:lnSpc>
                <a:spcPct val="120000"/>
              </a:lnSpc>
            </a:pPr>
            <a:r>
              <a:rPr lang="zh-CN" altLang="en-US" sz="2400" dirty="0">
                <a:latin typeface="黑体" panose="02010609060101010101" pitchFamily="49" charset="-122"/>
                <a:ea typeface="黑体" panose="02010609060101010101" pitchFamily="49" charset="-122"/>
                <a:cs typeface="黑体" panose="02010609060101010101" pitchFamily="49" charset="-122"/>
              </a:rPr>
              <a:t>（三）单参数的显著性检验：</a:t>
            </a:r>
            <a:endParaRPr lang="zh-CN" altLang="en-US" sz="2400" dirty="0">
              <a:latin typeface="黑体" panose="02010609060101010101" pitchFamily="49" charset="-122"/>
              <a:ea typeface="黑体" panose="02010609060101010101" pitchFamily="49" charset="-122"/>
              <a:cs typeface="黑体" panose="02010609060101010101" pitchFamily="49" charset="-122"/>
            </a:endParaRPr>
          </a:p>
        </p:txBody>
      </p:sp>
      <p:graphicFrame>
        <p:nvGraphicFramePr>
          <p:cNvPr id="20482" name="Object 7"/>
          <p:cNvGraphicFramePr/>
          <p:nvPr/>
        </p:nvGraphicFramePr>
        <p:xfrm>
          <a:off x="1789430" y="1945640"/>
          <a:ext cx="3036570" cy="905510"/>
        </p:xfrm>
        <a:graphic>
          <a:graphicData uri="http://schemas.openxmlformats.org/presentationml/2006/ole">
            <mc:AlternateContent xmlns:mc="http://schemas.openxmlformats.org/markup-compatibility/2006">
              <mc:Choice xmlns:v="urn:schemas-microsoft-com:vml" Requires="v">
                <p:oleObj spid="_x0000_s25601" name="" r:id="rId1" imgW="1282700" imgH="457200" progId="Equation.3">
                  <p:embed/>
                </p:oleObj>
              </mc:Choice>
              <mc:Fallback>
                <p:oleObj name="" r:id="rId1" imgW="1282700" imgH="457200" progId="Equation.3">
                  <p:embed/>
                  <p:pic>
                    <p:nvPicPr>
                      <p:cNvPr id="0" name="图片 3149"/>
                      <p:cNvPicPr/>
                      <p:nvPr/>
                    </p:nvPicPr>
                    <p:blipFill>
                      <a:blip r:embed="rId2"/>
                      <a:stretch>
                        <a:fillRect/>
                      </a:stretch>
                    </p:blipFill>
                    <p:spPr>
                      <a:xfrm>
                        <a:off x="1789430" y="1945640"/>
                        <a:ext cx="3036570" cy="905510"/>
                      </a:xfrm>
                      <a:prstGeom prst="rect">
                        <a:avLst/>
                      </a:prstGeom>
                      <a:noFill/>
                      <a:ln w="9525" cap="flat" cmpd="sng">
                        <a:solidFill>
                          <a:srgbClr val="FF0000"/>
                        </a:solidFill>
                        <a:prstDash val="solid"/>
                        <a:miter/>
                        <a:headEnd type="none" w="med" len="med"/>
                        <a:tailEnd type="none" w="med" len="med"/>
                      </a:ln>
                    </p:spPr>
                  </p:pic>
                </p:oleObj>
              </mc:Fallback>
            </mc:AlternateContent>
          </a:graphicData>
        </a:graphic>
      </p:graphicFrame>
      <p:sp>
        <p:nvSpPr>
          <p:cNvPr id="20483" name="Text Box 8"/>
          <p:cNvSpPr txBox="1"/>
          <p:nvPr/>
        </p:nvSpPr>
        <p:spPr>
          <a:xfrm>
            <a:off x="2234565" y="5012055"/>
            <a:ext cx="8153400" cy="1130246"/>
          </a:xfrm>
          <a:prstGeom prst="rect">
            <a:avLst/>
          </a:prstGeom>
          <a:noFill/>
          <a:ln w="9525">
            <a:noFill/>
          </a:ln>
        </p:spPr>
        <p:txBody>
          <a:bodyPr anchor="t">
            <a:spAutoFit/>
          </a:bodyPr>
          <a:lstStyle/>
          <a:p>
            <a:pPr fontAlgn="auto">
              <a:lnSpc>
                <a:spcPct val="150000"/>
              </a:lnSpc>
            </a:pPr>
            <a:r>
              <a:rPr lang="en-US" altLang="zh-CN" sz="2400" dirty="0">
                <a:latin typeface="Times New Roman" panose="02020503050405090304" pitchFamily="18" charset="0"/>
                <a:ea typeface="黑体" panose="02010609060101010101" pitchFamily="49" charset="-122"/>
                <a:cs typeface="Times New Roman" panose="02020503050405090304" pitchFamily="18" charset="0"/>
              </a:rPr>
              <a:t> </a:t>
            </a:r>
            <a:r>
              <a:rPr lang="zh-CN" altLang="en-US" sz="2400" dirty="0">
                <a:latin typeface="Times New Roman" panose="02020503050405090304" pitchFamily="18" charset="0"/>
                <a:ea typeface="黑体" panose="02010609060101010101" pitchFamily="49" charset="-122"/>
                <a:cs typeface="Times New Roman" panose="02020503050405090304" pitchFamily="18" charset="0"/>
              </a:rPr>
              <a:t>如果接受</a:t>
            </a:r>
            <a:r>
              <a:rPr lang="en-US" altLang="zh-CN" sz="2400" i="1" dirty="0">
                <a:latin typeface="Times New Roman" panose="02020503050405090304" pitchFamily="18" charset="0"/>
                <a:ea typeface="黑体" panose="02010609060101010101" pitchFamily="49" charset="-122"/>
                <a:cs typeface="Times New Roman" panose="02020503050405090304" pitchFamily="18" charset="0"/>
              </a:rPr>
              <a:t>H</a:t>
            </a:r>
            <a:r>
              <a:rPr lang="en-US" altLang="zh-CN" sz="2400" baseline="-25000" dirty="0">
                <a:latin typeface="Times New Roman" panose="02020503050405090304" pitchFamily="18" charset="0"/>
                <a:ea typeface="黑体" panose="02010609060101010101" pitchFamily="49" charset="-122"/>
                <a:cs typeface="Times New Roman" panose="02020503050405090304" pitchFamily="18" charset="0"/>
              </a:rPr>
              <a:t>0</a:t>
            </a:r>
            <a:r>
              <a:rPr lang="zh-CN" altLang="en-US" sz="2400" dirty="0">
                <a:latin typeface="Times New Roman" panose="02020503050405090304" pitchFamily="18" charset="0"/>
                <a:ea typeface="黑体" panose="02010609060101010101" pitchFamily="49" charset="-122"/>
                <a:cs typeface="Times New Roman" panose="02020503050405090304" pitchFamily="18" charset="0"/>
              </a:rPr>
              <a:t>，则变量</a:t>
            </a:r>
            <a:r>
              <a:rPr lang="en-US" altLang="zh-CN" sz="2400" i="1" dirty="0">
                <a:latin typeface="Times New Roman" panose="02020503050405090304" pitchFamily="18" charset="0"/>
                <a:ea typeface="黑体" panose="02010609060101010101" pitchFamily="49" charset="-122"/>
                <a:cs typeface="Times New Roman" panose="02020503050405090304" pitchFamily="18" charset="0"/>
              </a:rPr>
              <a:t>X</a:t>
            </a:r>
            <a:r>
              <a:rPr lang="en-US" altLang="zh-CN" sz="2400" i="1" baseline="-25000" dirty="0">
                <a:latin typeface="Times New Roman" panose="02020503050405090304" pitchFamily="18" charset="0"/>
                <a:ea typeface="黑体" panose="02010609060101010101" pitchFamily="49" charset="-122"/>
                <a:cs typeface="Times New Roman" panose="02020503050405090304" pitchFamily="18" charset="0"/>
              </a:rPr>
              <a:t>i</a:t>
            </a:r>
            <a:r>
              <a:rPr lang="en-US" altLang="zh-CN" sz="2400" dirty="0">
                <a:latin typeface="Times New Roman" panose="02020503050405090304" pitchFamily="18" charset="0"/>
                <a:ea typeface="黑体" panose="02010609060101010101" pitchFamily="49" charset="-122"/>
                <a:cs typeface="Times New Roman" panose="02020503050405090304" pitchFamily="18" charset="0"/>
              </a:rPr>
              <a:t> </a:t>
            </a:r>
            <a:r>
              <a:rPr lang="zh-CN" altLang="en-US" sz="2400" dirty="0">
                <a:latin typeface="Times New Roman" panose="02020503050405090304" pitchFamily="18" charset="0"/>
                <a:ea typeface="黑体" panose="02010609060101010101" pitchFamily="49" charset="-122"/>
                <a:cs typeface="Times New Roman" panose="02020503050405090304" pitchFamily="18" charset="0"/>
              </a:rPr>
              <a:t>对因变量没有影响，而接受</a:t>
            </a:r>
            <a:r>
              <a:rPr lang="en-US" altLang="zh-CN" sz="2400" i="1" dirty="0">
                <a:latin typeface="Times New Roman" panose="02020503050405090304" pitchFamily="18" charset="0"/>
                <a:ea typeface="黑体" panose="02010609060101010101" pitchFamily="49" charset="-122"/>
                <a:cs typeface="Times New Roman" panose="02020503050405090304" pitchFamily="18" charset="0"/>
              </a:rPr>
              <a:t>H</a:t>
            </a:r>
            <a:r>
              <a:rPr lang="en-US" altLang="zh-CN" sz="2400" baseline="-25000" dirty="0">
                <a:latin typeface="Times New Roman" panose="02020503050405090304" pitchFamily="18" charset="0"/>
                <a:ea typeface="黑体" panose="02010609060101010101" pitchFamily="49" charset="-122"/>
                <a:cs typeface="Times New Roman" panose="02020503050405090304" pitchFamily="18" charset="0"/>
              </a:rPr>
              <a:t>1</a:t>
            </a:r>
            <a:r>
              <a:rPr lang="zh-CN" altLang="en-US" sz="2400" dirty="0">
                <a:latin typeface="Times New Roman" panose="02020503050405090304" pitchFamily="18" charset="0"/>
                <a:ea typeface="黑体" panose="02010609060101010101" pitchFamily="49" charset="-122"/>
                <a:cs typeface="Times New Roman" panose="02020503050405090304" pitchFamily="18" charset="0"/>
              </a:rPr>
              <a:t>，则说明变量</a:t>
            </a:r>
            <a:r>
              <a:rPr lang="en-US" altLang="zh-CN" sz="2400" i="1" dirty="0">
                <a:latin typeface="Times New Roman" panose="02020503050405090304" pitchFamily="18" charset="0"/>
                <a:ea typeface="黑体" panose="02010609060101010101" pitchFamily="49" charset="-122"/>
                <a:cs typeface="Times New Roman" panose="02020503050405090304" pitchFamily="18" charset="0"/>
              </a:rPr>
              <a:t>X</a:t>
            </a:r>
            <a:r>
              <a:rPr lang="en-US" altLang="zh-CN" sz="2400" i="1" baseline="-25000" dirty="0">
                <a:latin typeface="Times New Roman" panose="02020503050405090304" pitchFamily="18" charset="0"/>
                <a:ea typeface="黑体" panose="02010609060101010101" pitchFamily="49" charset="-122"/>
                <a:cs typeface="Times New Roman" panose="02020503050405090304" pitchFamily="18" charset="0"/>
              </a:rPr>
              <a:t>i</a:t>
            </a:r>
            <a:r>
              <a:rPr lang="en-US" altLang="zh-CN" sz="2400" i="1" dirty="0">
                <a:latin typeface="Times New Roman" panose="02020503050405090304" pitchFamily="18" charset="0"/>
                <a:ea typeface="黑体" panose="02010609060101010101" pitchFamily="49" charset="-122"/>
                <a:cs typeface="Times New Roman" panose="02020503050405090304" pitchFamily="18" charset="0"/>
              </a:rPr>
              <a:t> </a:t>
            </a:r>
            <a:r>
              <a:rPr lang="zh-CN" altLang="en-US" sz="2400" dirty="0">
                <a:latin typeface="Times New Roman" panose="02020503050405090304" pitchFamily="18" charset="0"/>
                <a:ea typeface="黑体" panose="02010609060101010101" pitchFamily="49" charset="-122"/>
                <a:cs typeface="Times New Roman" panose="02020503050405090304" pitchFamily="18" charset="0"/>
              </a:rPr>
              <a:t>对因变量有显著影响。</a:t>
            </a:r>
            <a:endParaRPr lang="zh-CN" altLang="en-US" sz="2400" dirty="0">
              <a:latin typeface="Times New Roman" panose="02020503050405090304" pitchFamily="18" charset="0"/>
              <a:ea typeface="黑体" panose="02010609060101010101" pitchFamily="49" charset="-122"/>
              <a:cs typeface="Times New Roman" panose="02020503050405090304" pitchFamily="18" charset="0"/>
            </a:endParaRPr>
          </a:p>
        </p:txBody>
      </p:sp>
      <p:graphicFrame>
        <p:nvGraphicFramePr>
          <p:cNvPr id="20484" name="Object 9"/>
          <p:cNvGraphicFramePr/>
          <p:nvPr/>
        </p:nvGraphicFramePr>
        <p:xfrm>
          <a:off x="4826000" y="1809750"/>
          <a:ext cx="5943600" cy="1717675"/>
        </p:xfrm>
        <a:graphic>
          <a:graphicData uri="http://schemas.openxmlformats.org/presentationml/2006/ole">
            <mc:AlternateContent xmlns:mc="http://schemas.openxmlformats.org/markup-compatibility/2006">
              <mc:Choice xmlns:v="urn:schemas-microsoft-com:vml" Requires="v">
                <p:oleObj spid="_x0000_s2" name="Equation" r:id="rId3" imgW="64008000" imgH="18288000" progId="Equation.DSMT4">
                  <p:embed/>
                </p:oleObj>
              </mc:Choice>
              <mc:Fallback>
                <p:oleObj name="Equation" r:id="rId3" imgW="64008000" imgH="18288000" progId="Equation.DSMT4">
                  <p:embed/>
                  <p:pic>
                    <p:nvPicPr>
                      <p:cNvPr id="0" name="图片 3154"/>
                      <p:cNvPicPr/>
                      <p:nvPr/>
                    </p:nvPicPr>
                    <p:blipFill>
                      <a:blip r:embed="rId4"/>
                      <a:stretch>
                        <a:fillRect/>
                      </a:stretch>
                    </p:blipFill>
                    <p:spPr>
                      <a:xfrm>
                        <a:off x="4826000" y="1809750"/>
                        <a:ext cx="5943600" cy="1717675"/>
                      </a:xfrm>
                      <a:prstGeom prst="rect">
                        <a:avLst/>
                      </a:prstGeom>
                      <a:noFill/>
                      <a:ln w="38100">
                        <a:noFill/>
                        <a:miter/>
                      </a:ln>
                    </p:spPr>
                  </p:pic>
                </p:oleObj>
              </mc:Fallback>
            </mc:AlternateContent>
          </a:graphicData>
        </a:graphic>
      </p:graphicFrame>
      <p:grpSp>
        <p:nvGrpSpPr>
          <p:cNvPr id="20485" name="Group 10"/>
          <p:cNvGrpSpPr/>
          <p:nvPr/>
        </p:nvGrpSpPr>
        <p:grpSpPr>
          <a:xfrm>
            <a:off x="2196465" y="4097973"/>
            <a:ext cx="8229600" cy="546100"/>
            <a:chOff x="336" y="2491"/>
            <a:chExt cx="5184" cy="344"/>
          </a:xfrm>
        </p:grpSpPr>
        <p:sp>
          <p:nvSpPr>
            <p:cNvPr id="20486" name="Text Box 11"/>
            <p:cNvSpPr txBox="1"/>
            <p:nvPr/>
          </p:nvSpPr>
          <p:spPr>
            <a:xfrm>
              <a:off x="336" y="2491"/>
              <a:ext cx="5184" cy="300"/>
            </a:xfrm>
            <a:prstGeom prst="rect">
              <a:avLst/>
            </a:prstGeom>
            <a:noFill/>
            <a:ln w="9525">
              <a:noFill/>
            </a:ln>
          </p:spPr>
          <p:txBody>
            <a:bodyPr anchor="t">
              <a:spAutoFit/>
            </a:bodyPr>
            <a:lstStyle/>
            <a:p>
              <a:pPr>
                <a:lnSpc>
                  <a:spcPct val="120000"/>
                </a:lnSpc>
              </a:pPr>
              <a:r>
                <a:rPr lang="zh-CN" altLang="en-US" sz="2400" dirty="0">
                  <a:latin typeface="黑体" panose="02010609060101010101" pitchFamily="49" charset="-122"/>
                  <a:ea typeface="黑体" panose="02010609060101010101" pitchFamily="49" charset="-122"/>
                  <a:cs typeface="黑体" panose="02010609060101010101" pitchFamily="49" charset="-122"/>
                </a:rPr>
                <a:t>检验   的显著性，即在一定显著水平下， 是否显著不为</a:t>
              </a:r>
              <a:r>
                <a:rPr lang="en-US" altLang="zh-CN" sz="2400" dirty="0">
                  <a:latin typeface="黑体" panose="02010609060101010101" pitchFamily="49" charset="-122"/>
                  <a:ea typeface="黑体" panose="02010609060101010101" pitchFamily="49" charset="-122"/>
                  <a:cs typeface="黑体" panose="02010609060101010101" pitchFamily="49" charset="-122"/>
                </a:rPr>
                <a:t>0</a:t>
              </a:r>
              <a:r>
                <a:rPr lang="zh-CN" altLang="en-US" sz="2400" dirty="0">
                  <a:latin typeface="黑体" panose="02010609060101010101" pitchFamily="49" charset="-122"/>
                  <a:ea typeface="黑体" panose="02010609060101010101" pitchFamily="49" charset="-122"/>
                  <a:cs typeface="黑体" panose="02010609060101010101" pitchFamily="49" charset="-122"/>
                </a:rPr>
                <a:t>。</a:t>
              </a:r>
              <a:endParaRPr lang="zh-CN" altLang="en-US" sz="2400" dirty="0">
                <a:latin typeface="黑体" panose="02010609060101010101" pitchFamily="49" charset="-122"/>
                <a:ea typeface="黑体" panose="02010609060101010101" pitchFamily="49" charset="-122"/>
                <a:cs typeface="黑体" panose="02010609060101010101" pitchFamily="49" charset="-122"/>
              </a:endParaRPr>
            </a:p>
          </p:txBody>
        </p:sp>
        <p:graphicFrame>
          <p:nvGraphicFramePr>
            <p:cNvPr id="20487" name="Object 12"/>
            <p:cNvGraphicFramePr/>
            <p:nvPr/>
          </p:nvGraphicFramePr>
          <p:xfrm>
            <a:off x="796" y="2533"/>
            <a:ext cx="236" cy="302"/>
          </p:xfrm>
          <a:graphic>
            <a:graphicData uri="http://schemas.openxmlformats.org/presentationml/2006/ole">
              <mc:AlternateContent xmlns:mc="http://schemas.openxmlformats.org/markup-compatibility/2006">
                <mc:Choice xmlns:v="urn:schemas-microsoft-com:vml" Requires="v">
                  <p:oleObj spid="_x0000_s3" name="" r:id="rId5" imgW="177800" imgH="253365" progId="Equation.3">
                    <p:embed/>
                  </p:oleObj>
                </mc:Choice>
                <mc:Fallback>
                  <p:oleObj name="" r:id="rId5" imgW="177800" imgH="253365" progId="Equation.3">
                    <p:embed/>
                    <p:pic>
                      <p:nvPicPr>
                        <p:cNvPr id="0" name="图片 3147"/>
                        <p:cNvPicPr/>
                        <p:nvPr/>
                      </p:nvPicPr>
                      <p:blipFill>
                        <a:blip r:embed="rId6"/>
                        <a:stretch>
                          <a:fillRect/>
                        </a:stretch>
                      </p:blipFill>
                      <p:spPr>
                        <a:xfrm>
                          <a:off x="796" y="2533"/>
                          <a:ext cx="236" cy="302"/>
                        </a:xfrm>
                        <a:prstGeom prst="rect">
                          <a:avLst/>
                        </a:prstGeom>
                        <a:noFill/>
                        <a:ln w="38100">
                          <a:noFill/>
                          <a:miter/>
                        </a:ln>
                      </p:spPr>
                    </p:pic>
                  </p:oleObj>
                </mc:Fallback>
              </mc:AlternateContent>
            </a:graphicData>
          </a:graphic>
        </p:graphicFrame>
        <p:graphicFrame>
          <p:nvGraphicFramePr>
            <p:cNvPr id="20488" name="Object 13"/>
            <p:cNvGraphicFramePr/>
            <p:nvPr/>
          </p:nvGraphicFramePr>
          <p:xfrm>
            <a:off x="3804" y="2491"/>
            <a:ext cx="262" cy="336"/>
          </p:xfrm>
          <a:graphic>
            <a:graphicData uri="http://schemas.openxmlformats.org/presentationml/2006/ole">
              <mc:AlternateContent xmlns:mc="http://schemas.openxmlformats.org/markup-compatibility/2006">
                <mc:Choice xmlns:v="urn:schemas-microsoft-com:vml" Requires="v">
                  <p:oleObj spid="_x0000_s4" name="" r:id="rId7" imgW="177800" imgH="253365" progId="Equation.3">
                    <p:embed/>
                  </p:oleObj>
                </mc:Choice>
                <mc:Fallback>
                  <p:oleObj name="" r:id="rId7" imgW="177800" imgH="253365" progId="Equation.3">
                    <p:embed/>
                    <p:pic>
                      <p:nvPicPr>
                        <p:cNvPr id="0" name="图片 3151"/>
                        <p:cNvPicPr/>
                        <p:nvPr/>
                      </p:nvPicPr>
                      <p:blipFill>
                        <a:blip r:embed="rId8"/>
                        <a:stretch>
                          <a:fillRect/>
                        </a:stretch>
                      </p:blipFill>
                      <p:spPr>
                        <a:xfrm>
                          <a:off x="3804" y="2491"/>
                          <a:ext cx="262" cy="336"/>
                        </a:xfrm>
                        <a:prstGeom prst="rect">
                          <a:avLst/>
                        </a:prstGeom>
                        <a:noFill/>
                        <a:ln w="38100">
                          <a:noFill/>
                          <a:miter/>
                        </a:ln>
                      </p:spPr>
                    </p:pic>
                  </p:oleObj>
                </mc:Fallback>
              </mc:AlternateContent>
            </a:graphicData>
          </a:graphic>
        </p:graphicFrame>
      </p:grpSp>
      <p:sp>
        <p:nvSpPr>
          <p:cNvPr id="20490" name="灯片编号占位符 12"/>
          <p:cNvSpPr>
            <a:spLocks noGrp="1"/>
          </p:cNvSpPr>
          <p:nvPr>
            <p:ph type="sldNum" sz="quarter" idx="12"/>
          </p:nvPr>
        </p:nvSpPr>
        <p:spPr/>
        <p:txBody>
          <a:bodyPr vert="horz" wrap="square" lIns="91440" tIns="45720" rIns="91440" bIns="45720" rtlCol="0" anchor="b">
            <a:no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algn="r"/>
            <a:fld id="{9A0DB2DC-4C9A-4742-B13C-FB6460FD3503}" type="slidenum">
              <a:rPr lang="en-US" altLang="zh-CN" sz="2400" dirty="0">
                <a:latin typeface="黑体" panose="02010609060101010101" pitchFamily="49" charset="-122"/>
                <a:ea typeface="黑体" panose="02010609060101010101" pitchFamily="49" charset="-122"/>
              </a:rPr>
            </a:fld>
            <a:endParaRPr lang="en-US" altLang="zh-CN" sz="2400" dirty="0">
              <a:latin typeface="黑体" panose="02010609060101010101" pitchFamily="49" charset="-122"/>
              <a:ea typeface="黑体" panose="02010609060101010101" pitchFamily="49" charset="-122"/>
            </a:endParaRPr>
          </a:p>
        </p:txBody>
      </p:sp>
      <p:sp>
        <p:nvSpPr>
          <p:cNvPr id="5" name="文本框 4"/>
          <p:cNvSpPr txBox="1"/>
          <p:nvPr/>
        </p:nvSpPr>
        <p:spPr>
          <a:xfrm>
            <a:off x="4745490" y="3468551"/>
            <a:ext cx="5257996" cy="461665"/>
          </a:xfrm>
          <a:prstGeom prst="rect">
            <a:avLst/>
          </a:prstGeom>
          <a:noFill/>
        </p:spPr>
        <p:txBody>
          <a:bodyPr wrap="square" rtlCol="0">
            <a:spAutoFit/>
          </a:bodyPr>
          <a:lstStyle/>
          <a:p>
            <a:r>
              <a:rPr lang="zh-CN" altLang="en-US" sz="2400" dirty="0"/>
              <a:t>其中，</a:t>
            </a:r>
            <a:r>
              <a:rPr lang="en-US" altLang="zh-CN" sz="2400" i="1" dirty="0">
                <a:latin typeface="Times New Roman" panose="02020503050405090304" pitchFamily="18" charset="0"/>
                <a:cs typeface="Times New Roman" panose="02020503050405090304" pitchFamily="18" charset="0"/>
              </a:rPr>
              <a:t>l</a:t>
            </a:r>
            <a:r>
              <a:rPr lang="en-US" altLang="zh-CN" sz="2400" i="1" baseline="30000" dirty="0">
                <a:latin typeface="Times New Roman" panose="02020503050405090304" pitchFamily="18" charset="0"/>
                <a:cs typeface="Times New Roman" panose="02020503050405090304" pitchFamily="18" charset="0"/>
              </a:rPr>
              <a:t>ii</a:t>
            </a:r>
            <a:r>
              <a:rPr lang="zh-CN" altLang="en-US" sz="2400" dirty="0"/>
              <a:t>为</a:t>
            </a:r>
            <a:r>
              <a:rPr lang="en-US" altLang="zh-CN" sz="2400" dirty="0">
                <a:latin typeface="Times New Roman" panose="02020503050405090304" pitchFamily="18" charset="0"/>
                <a:cs typeface="Times New Roman" panose="02020503050405090304" pitchFamily="18" charset="0"/>
              </a:rPr>
              <a:t>(</a:t>
            </a:r>
            <a:r>
              <a:rPr lang="en-US" altLang="zh-CN" sz="2400" b="1" dirty="0">
                <a:latin typeface="Times New Roman" panose="02020503050405090304" pitchFamily="18" charset="0"/>
                <a:cs typeface="Times New Roman" panose="02020503050405090304" pitchFamily="18" charset="0"/>
              </a:rPr>
              <a:t>X</a:t>
            </a:r>
            <a:r>
              <a:rPr lang="en-US" altLang="zh-CN" sz="2400" b="1" dirty="0">
                <a:latin typeface="Microsoft YaHei UI" panose="020B0503020204020204" pitchFamily="34" charset="-122"/>
                <a:ea typeface="Microsoft YaHei UI" panose="020B0503020204020204" pitchFamily="34" charset="-122"/>
                <a:cs typeface="Times New Roman" panose="02020503050405090304" pitchFamily="18" charset="0"/>
              </a:rPr>
              <a:t>’</a:t>
            </a:r>
            <a:r>
              <a:rPr lang="en-US" altLang="zh-CN" sz="2400" b="1" dirty="0">
                <a:latin typeface="Times New Roman" panose="02020503050405090304" pitchFamily="18" charset="0"/>
                <a:cs typeface="Times New Roman" panose="02020503050405090304" pitchFamily="18" charset="0"/>
              </a:rPr>
              <a:t>X</a:t>
            </a:r>
            <a:r>
              <a:rPr lang="en-US" altLang="zh-CN" sz="2400" dirty="0">
                <a:latin typeface="Times New Roman" panose="02020503050405090304" pitchFamily="18" charset="0"/>
                <a:cs typeface="Times New Roman" panose="02020503050405090304" pitchFamily="18" charset="0"/>
              </a:rPr>
              <a:t>)</a:t>
            </a:r>
            <a:r>
              <a:rPr lang="en-US" altLang="zh-CN" sz="2400" baseline="30000" dirty="0">
                <a:latin typeface="Times New Roman" panose="02020503050405090304" pitchFamily="18" charset="0"/>
                <a:cs typeface="Times New Roman" panose="02020503050405090304" pitchFamily="18" charset="0"/>
              </a:rPr>
              <a:t>-1</a:t>
            </a:r>
            <a:r>
              <a:rPr lang="zh-CN" altLang="en-US" sz="2400" dirty="0">
                <a:latin typeface="Times New Roman" panose="02020503050405090304" pitchFamily="18" charset="0"/>
                <a:cs typeface="Times New Roman" panose="02020503050405090304" pitchFamily="18" charset="0"/>
              </a:rPr>
              <a:t>第</a:t>
            </a:r>
            <a:r>
              <a:rPr lang="en-US" altLang="zh-CN" sz="2400" i="1" dirty="0" err="1">
                <a:latin typeface="Times New Roman" panose="02020503050405090304" pitchFamily="18" charset="0"/>
                <a:cs typeface="Times New Roman" panose="02020503050405090304" pitchFamily="18" charset="0"/>
              </a:rPr>
              <a:t>i</a:t>
            </a:r>
            <a:r>
              <a:rPr lang="zh-CN" altLang="en-US" sz="2400" dirty="0">
                <a:latin typeface="Times New Roman" panose="02020503050405090304" pitchFamily="18" charset="0"/>
                <a:cs typeface="Times New Roman" panose="02020503050405090304" pitchFamily="18" charset="0"/>
              </a:rPr>
              <a:t>个对角元素</a:t>
            </a:r>
            <a:endParaRPr lang="zh-CN" altLang="en-US" sz="2400"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p:cNvSpPr>
            <a:spLocks noGrp="1"/>
          </p:cNvSpPr>
          <p:nvPr>
            <p:ph type="sldNum" sz="quarter" idx="12"/>
          </p:nvPr>
        </p:nvSpPr>
        <p:spPr/>
        <p:txBody>
          <a:bodyPr/>
          <a:lstStyle/>
          <a:p>
            <a:fld id="{174427AF-F367-4075-9ED8-AA5368F818B6}" type="slidenum">
              <a:rPr lang="en-US" altLang="zh-CN"/>
            </a:fld>
            <a:endParaRPr lang="en-US" altLang="zh-CN"/>
          </a:p>
        </p:txBody>
      </p:sp>
      <p:sp>
        <p:nvSpPr>
          <p:cNvPr id="226306" name="Rectangle 1026"/>
          <p:cNvSpPr>
            <a:spLocks noGrp="1" noChangeArrowheads="1"/>
          </p:cNvSpPr>
          <p:nvPr>
            <p:ph type="title"/>
          </p:nvPr>
        </p:nvSpPr>
        <p:spPr>
          <a:xfrm>
            <a:off x="1905000" y="228600"/>
            <a:ext cx="8534400" cy="1143000"/>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lIns="92075" tIns="46038" rIns="92075" bIns="46038" rtlCol="0" anchor="ctr">
            <a:normAutofit/>
          </a:bodyPr>
          <a:lstStyle/>
          <a:p>
            <a:r>
              <a:rPr lang="zh-CN" altLang="en-US" sz="4000" b="1" dirty="0">
                <a:solidFill>
                  <a:srgbClr val="CC3300"/>
                </a:solidFill>
              </a:rPr>
              <a:t>例</a:t>
            </a:r>
            <a:r>
              <a:rPr lang="en-US" altLang="zh-CN" sz="4000" b="1" dirty="0">
                <a:solidFill>
                  <a:srgbClr val="CC3300"/>
                </a:solidFill>
              </a:rPr>
              <a:t>6</a:t>
            </a:r>
            <a:r>
              <a:rPr lang="zh-CN" altLang="en-US" sz="4000" b="1" dirty="0">
                <a:solidFill>
                  <a:srgbClr val="CC3300"/>
                </a:solidFill>
              </a:rPr>
              <a:t>水泥数据</a:t>
            </a:r>
            <a:endParaRPr lang="zh-CN" altLang="en-US" sz="2400" b="1" dirty="0">
              <a:solidFill>
                <a:srgbClr val="0000FF"/>
              </a:solidFill>
              <a:latin typeface="宋体" pitchFamily="2" charset="-122"/>
            </a:endParaRPr>
          </a:p>
        </p:txBody>
      </p:sp>
      <p:sp>
        <p:nvSpPr>
          <p:cNvPr id="226307" name="Text Box 1027"/>
          <p:cNvSpPr txBox="1">
            <a:spLocks noChangeArrowheads="1"/>
          </p:cNvSpPr>
          <p:nvPr/>
        </p:nvSpPr>
        <p:spPr bwMode="auto">
          <a:xfrm>
            <a:off x="1905000" y="1371601"/>
            <a:ext cx="8382000" cy="48936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lang="zh-CN" altLang="en-US" sz="3200" b="1" dirty="0">
                <a:latin typeface="Times New Roman" panose="02020503050405090304" pitchFamily="18" charset="0"/>
                <a:cs typeface="Times New Roman" panose="02020503050405090304" pitchFamily="18" charset="0"/>
              </a:rPr>
              <a:t>某种水泥在凝固时所释放的热量为</a:t>
            </a:r>
            <a:r>
              <a:rPr lang="en-US" altLang="zh-CN" sz="3200" b="1" dirty="0">
                <a:latin typeface="Times New Roman" panose="02020503050405090304" pitchFamily="18" charset="0"/>
                <a:cs typeface="Times New Roman" panose="02020503050405090304" pitchFamily="18" charset="0"/>
              </a:rPr>
              <a:t>Y</a:t>
            </a:r>
            <a:r>
              <a:rPr lang="zh-CN" altLang="en-US" sz="3200" b="1" dirty="0">
                <a:latin typeface="Times New Roman" panose="02020503050405090304" pitchFamily="18" charset="0"/>
                <a:cs typeface="Times New Roman" panose="02020503050405090304" pitchFamily="18" charset="0"/>
              </a:rPr>
              <a:t>（卡</a:t>
            </a:r>
            <a:r>
              <a:rPr lang="en-US" altLang="zh-CN" sz="3200" b="1" dirty="0">
                <a:latin typeface="Times New Roman" panose="02020503050405090304" pitchFamily="18" charset="0"/>
                <a:cs typeface="Times New Roman" panose="02020503050405090304" pitchFamily="18" charset="0"/>
              </a:rPr>
              <a:t>/</a:t>
            </a:r>
            <a:r>
              <a:rPr lang="zh-CN" altLang="en-US" sz="3200" b="1" dirty="0">
                <a:latin typeface="Times New Roman" panose="02020503050405090304" pitchFamily="18" charset="0"/>
                <a:cs typeface="Times New Roman" panose="02020503050405090304" pitchFamily="18" charset="0"/>
              </a:rPr>
              <a:t>克）与水泥中下列四种化学成份有关</a:t>
            </a:r>
            <a:r>
              <a:rPr lang="zh-CN" altLang="en-US" sz="3200" b="1" dirty="0"/>
              <a:t>：</a:t>
            </a:r>
            <a:endParaRPr lang="zh-CN" altLang="en-US" sz="3200" b="1" dirty="0"/>
          </a:p>
          <a:p>
            <a:pPr algn="just"/>
            <a:r>
              <a:rPr lang="zh-CN" altLang="en-US" sz="2800" dirty="0"/>
              <a:t>        </a:t>
            </a:r>
            <a:r>
              <a:rPr lang="en-US" altLang="zh-CN" sz="3600" b="1" i="1" dirty="0">
                <a:latin typeface="Times New Roman" panose="02020503050405090304" pitchFamily="18" charset="0"/>
                <a:cs typeface="Times New Roman" panose="02020503050405090304" pitchFamily="18" charset="0"/>
              </a:rPr>
              <a:t>x</a:t>
            </a:r>
            <a:r>
              <a:rPr lang="en-US" altLang="zh-CN" sz="3600" b="1" baseline="-22000" dirty="0">
                <a:latin typeface="Times New Roman" panose="02020503050405090304" pitchFamily="18" charset="0"/>
                <a:cs typeface="Times New Roman" panose="02020503050405090304" pitchFamily="18" charset="0"/>
              </a:rPr>
              <a:t>1</a:t>
            </a:r>
            <a:r>
              <a:rPr lang="en-US" altLang="zh-CN" sz="3600" b="1" i="1" baseline="-22000" dirty="0">
                <a:latin typeface="Times New Roman" panose="02020503050405090304" pitchFamily="18" charset="0"/>
                <a:cs typeface="Times New Roman" panose="02020503050405090304" pitchFamily="18" charset="0"/>
              </a:rPr>
              <a:t> ---</a:t>
            </a:r>
            <a:r>
              <a:rPr lang="en-US" altLang="zh-CN" sz="4000" i="1" baseline="-22000" dirty="0">
                <a:latin typeface="Times New Roman" panose="02020503050405090304" pitchFamily="18" charset="0"/>
                <a:cs typeface="Times New Roman" panose="02020503050405090304" pitchFamily="18" charset="0"/>
              </a:rPr>
              <a:t>-</a:t>
            </a:r>
            <a:r>
              <a:rPr lang="en-US" altLang="zh-CN" sz="3200" b="1" dirty="0">
                <a:latin typeface="Times New Roman" panose="02020503050405090304" pitchFamily="18" charset="0"/>
                <a:cs typeface="Times New Roman" panose="02020503050405090304" pitchFamily="18" charset="0"/>
              </a:rPr>
              <a:t>3CaO.Al</a:t>
            </a:r>
            <a:r>
              <a:rPr lang="en-US" altLang="zh-CN" sz="3200" b="1" baseline="-20000" dirty="0">
                <a:latin typeface="Times New Roman" panose="02020503050405090304" pitchFamily="18" charset="0"/>
                <a:cs typeface="Times New Roman" panose="02020503050405090304" pitchFamily="18" charset="0"/>
              </a:rPr>
              <a:t>2</a:t>
            </a:r>
            <a:r>
              <a:rPr lang="en-US" altLang="zh-CN" sz="3200" b="1" dirty="0">
                <a:latin typeface="Times New Roman" panose="02020503050405090304" pitchFamily="18" charset="0"/>
                <a:cs typeface="Times New Roman" panose="02020503050405090304" pitchFamily="18" charset="0"/>
              </a:rPr>
              <a:t>O</a:t>
            </a:r>
            <a:r>
              <a:rPr lang="en-US" altLang="zh-CN" sz="3200" b="1" baseline="-20000" dirty="0">
                <a:latin typeface="Times New Roman" panose="02020503050405090304" pitchFamily="18" charset="0"/>
                <a:cs typeface="Times New Roman" panose="02020503050405090304" pitchFamily="18" charset="0"/>
              </a:rPr>
              <a:t>3</a:t>
            </a:r>
            <a:r>
              <a:rPr lang="zh-CN" altLang="en-US" sz="3200" b="1" dirty="0">
                <a:latin typeface="Times New Roman" panose="02020503050405090304" pitchFamily="18" charset="0"/>
                <a:cs typeface="Times New Roman" panose="02020503050405090304" pitchFamily="18" charset="0"/>
              </a:rPr>
              <a:t>的成分</a:t>
            </a:r>
            <a:r>
              <a:rPr lang="en-US" altLang="zh-CN" sz="3200" b="1" dirty="0">
                <a:latin typeface="Times New Roman" panose="02020503050405090304" pitchFamily="18" charset="0"/>
                <a:cs typeface="Times New Roman" panose="02020503050405090304" pitchFamily="18" charset="0"/>
              </a:rPr>
              <a:t>(%)</a:t>
            </a:r>
            <a:r>
              <a:rPr lang="zh-CN" altLang="en-US" sz="3200" b="1" dirty="0">
                <a:latin typeface="Times New Roman" panose="02020503050405090304" pitchFamily="18" charset="0"/>
                <a:cs typeface="Times New Roman" panose="02020503050405090304" pitchFamily="18" charset="0"/>
              </a:rPr>
              <a:t>；</a:t>
            </a:r>
            <a:endParaRPr lang="zh-CN" altLang="en-US" sz="2800" dirty="0">
              <a:latin typeface="Times New Roman" panose="02020503050405090304" pitchFamily="18" charset="0"/>
              <a:cs typeface="Times New Roman" panose="02020503050405090304" pitchFamily="18" charset="0"/>
            </a:endParaRPr>
          </a:p>
          <a:p>
            <a:pPr algn="just"/>
            <a:r>
              <a:rPr lang="zh-CN" altLang="en-US" sz="3600" b="1" i="1" dirty="0">
                <a:latin typeface="Times New Roman" panose="02020503050405090304" pitchFamily="18" charset="0"/>
                <a:cs typeface="Times New Roman" panose="02020503050405090304" pitchFamily="18" charset="0"/>
              </a:rPr>
              <a:t>       </a:t>
            </a:r>
            <a:r>
              <a:rPr lang="en-US" altLang="zh-CN" sz="3600" b="1" i="1" dirty="0">
                <a:latin typeface="Times New Roman" panose="02020503050405090304" pitchFamily="18" charset="0"/>
                <a:cs typeface="Times New Roman" panose="02020503050405090304" pitchFamily="18" charset="0"/>
              </a:rPr>
              <a:t>x</a:t>
            </a:r>
            <a:r>
              <a:rPr lang="en-US" altLang="zh-CN" sz="3600" b="1" baseline="-22000" dirty="0">
                <a:latin typeface="Times New Roman" panose="02020503050405090304" pitchFamily="18" charset="0"/>
                <a:cs typeface="Times New Roman" panose="02020503050405090304" pitchFamily="18" charset="0"/>
              </a:rPr>
              <a:t>2</a:t>
            </a:r>
            <a:r>
              <a:rPr lang="en-US" altLang="zh-CN" sz="3600" b="1" i="1" baseline="-22000" dirty="0">
                <a:latin typeface="Times New Roman" panose="02020503050405090304" pitchFamily="18" charset="0"/>
                <a:cs typeface="Times New Roman" panose="02020503050405090304" pitchFamily="18" charset="0"/>
              </a:rPr>
              <a:t> ----</a:t>
            </a:r>
            <a:r>
              <a:rPr lang="en-US" altLang="zh-CN" sz="3200" b="1" dirty="0">
                <a:latin typeface="Times New Roman" panose="02020503050405090304" pitchFamily="18" charset="0"/>
                <a:cs typeface="Times New Roman" panose="02020503050405090304" pitchFamily="18" charset="0"/>
              </a:rPr>
              <a:t>3CaO.SiO</a:t>
            </a:r>
            <a:r>
              <a:rPr lang="en-US" altLang="zh-CN" sz="3200" b="1" baseline="-20000" dirty="0">
                <a:latin typeface="Times New Roman" panose="02020503050405090304" pitchFamily="18" charset="0"/>
                <a:cs typeface="Times New Roman" panose="02020503050405090304" pitchFamily="18" charset="0"/>
              </a:rPr>
              <a:t>2</a:t>
            </a:r>
            <a:r>
              <a:rPr lang="zh-CN" altLang="en-US" sz="3200" b="1" dirty="0">
                <a:latin typeface="Times New Roman" panose="02020503050405090304" pitchFamily="18" charset="0"/>
                <a:cs typeface="Times New Roman" panose="02020503050405090304" pitchFamily="18" charset="0"/>
              </a:rPr>
              <a:t>的成分</a:t>
            </a:r>
            <a:r>
              <a:rPr lang="en-US" altLang="zh-CN" sz="3200" b="1" dirty="0">
                <a:latin typeface="Times New Roman" panose="02020503050405090304" pitchFamily="18" charset="0"/>
                <a:cs typeface="Times New Roman" panose="02020503050405090304" pitchFamily="18" charset="0"/>
              </a:rPr>
              <a:t>(%)</a:t>
            </a:r>
            <a:r>
              <a:rPr lang="zh-CN" altLang="en-US" sz="3200" b="1" dirty="0">
                <a:latin typeface="Times New Roman" panose="02020503050405090304" pitchFamily="18" charset="0"/>
                <a:cs typeface="Times New Roman" panose="02020503050405090304" pitchFamily="18" charset="0"/>
              </a:rPr>
              <a:t>；</a:t>
            </a:r>
            <a:endParaRPr lang="zh-CN" altLang="en-US" sz="2800" dirty="0">
              <a:latin typeface="Times New Roman" panose="02020503050405090304" pitchFamily="18" charset="0"/>
              <a:cs typeface="Times New Roman" panose="02020503050405090304" pitchFamily="18" charset="0"/>
            </a:endParaRPr>
          </a:p>
          <a:p>
            <a:pPr algn="just"/>
            <a:r>
              <a:rPr lang="zh-CN" altLang="en-US" sz="3600" b="1" i="1" dirty="0">
                <a:latin typeface="Times New Roman" panose="02020503050405090304" pitchFamily="18" charset="0"/>
                <a:cs typeface="Times New Roman" panose="02020503050405090304" pitchFamily="18" charset="0"/>
              </a:rPr>
              <a:t>       </a:t>
            </a:r>
            <a:r>
              <a:rPr lang="en-US" altLang="zh-CN" sz="3600" b="1" i="1" dirty="0">
                <a:latin typeface="Times New Roman" panose="02020503050405090304" pitchFamily="18" charset="0"/>
                <a:cs typeface="Times New Roman" panose="02020503050405090304" pitchFamily="18" charset="0"/>
              </a:rPr>
              <a:t>x</a:t>
            </a:r>
            <a:r>
              <a:rPr lang="en-US" altLang="zh-CN" sz="3600" b="1" baseline="-22000" dirty="0">
                <a:latin typeface="Times New Roman" panose="02020503050405090304" pitchFamily="18" charset="0"/>
                <a:cs typeface="Times New Roman" panose="02020503050405090304" pitchFamily="18" charset="0"/>
              </a:rPr>
              <a:t>3 </a:t>
            </a:r>
            <a:r>
              <a:rPr lang="en-US" altLang="zh-CN" sz="3600" b="1" i="1" baseline="-22000" dirty="0">
                <a:latin typeface="Times New Roman" panose="02020503050405090304" pitchFamily="18" charset="0"/>
                <a:cs typeface="Times New Roman" panose="02020503050405090304" pitchFamily="18" charset="0"/>
              </a:rPr>
              <a:t>----</a:t>
            </a:r>
            <a:r>
              <a:rPr lang="en-US" altLang="zh-CN" sz="3200" b="1" dirty="0">
                <a:latin typeface="Times New Roman" panose="02020503050405090304" pitchFamily="18" charset="0"/>
                <a:cs typeface="Times New Roman" panose="02020503050405090304" pitchFamily="18" charset="0"/>
              </a:rPr>
              <a:t>4CaO.Al</a:t>
            </a:r>
            <a:r>
              <a:rPr lang="en-US" altLang="zh-CN" sz="3200" b="1" baseline="-20000" dirty="0">
                <a:latin typeface="Times New Roman" panose="02020503050405090304" pitchFamily="18" charset="0"/>
                <a:cs typeface="Times New Roman" panose="02020503050405090304" pitchFamily="18" charset="0"/>
              </a:rPr>
              <a:t>2</a:t>
            </a:r>
            <a:r>
              <a:rPr lang="en-US" altLang="zh-CN" sz="3200" b="1" dirty="0">
                <a:latin typeface="Times New Roman" panose="02020503050405090304" pitchFamily="18" charset="0"/>
                <a:cs typeface="Times New Roman" panose="02020503050405090304" pitchFamily="18" charset="0"/>
              </a:rPr>
              <a:t>O</a:t>
            </a:r>
            <a:r>
              <a:rPr lang="en-US" altLang="zh-CN" sz="3200" b="1" baseline="-20000" dirty="0">
                <a:latin typeface="Times New Roman" panose="02020503050405090304" pitchFamily="18" charset="0"/>
                <a:cs typeface="Times New Roman" panose="02020503050405090304" pitchFamily="18" charset="0"/>
              </a:rPr>
              <a:t>3</a:t>
            </a:r>
            <a:r>
              <a:rPr lang="en-US" altLang="zh-CN" sz="3200" b="1" dirty="0">
                <a:latin typeface="Times New Roman" panose="02020503050405090304" pitchFamily="18" charset="0"/>
                <a:cs typeface="Times New Roman" panose="02020503050405090304" pitchFamily="18" charset="0"/>
              </a:rPr>
              <a:t>.Fe</a:t>
            </a:r>
            <a:r>
              <a:rPr lang="en-US" altLang="zh-CN" sz="3200" b="1" baseline="-20000" dirty="0">
                <a:latin typeface="Times New Roman" panose="02020503050405090304" pitchFamily="18" charset="0"/>
                <a:cs typeface="Times New Roman" panose="02020503050405090304" pitchFamily="18" charset="0"/>
              </a:rPr>
              <a:t>2</a:t>
            </a:r>
            <a:r>
              <a:rPr lang="en-US" altLang="zh-CN" sz="3200" b="1" dirty="0">
                <a:latin typeface="Times New Roman" panose="02020503050405090304" pitchFamily="18" charset="0"/>
                <a:cs typeface="Times New Roman" panose="02020503050405090304" pitchFamily="18" charset="0"/>
              </a:rPr>
              <a:t>O</a:t>
            </a:r>
            <a:r>
              <a:rPr lang="en-US" altLang="zh-CN" sz="3200" b="1" baseline="-20000" dirty="0">
                <a:latin typeface="Times New Roman" panose="02020503050405090304" pitchFamily="18" charset="0"/>
                <a:cs typeface="Times New Roman" panose="02020503050405090304" pitchFamily="18" charset="0"/>
              </a:rPr>
              <a:t>3</a:t>
            </a:r>
            <a:r>
              <a:rPr lang="zh-CN" altLang="en-US" sz="3200" b="1" dirty="0">
                <a:latin typeface="Times New Roman" panose="02020503050405090304" pitchFamily="18" charset="0"/>
                <a:cs typeface="Times New Roman" panose="02020503050405090304" pitchFamily="18" charset="0"/>
              </a:rPr>
              <a:t>的成分</a:t>
            </a:r>
            <a:r>
              <a:rPr lang="en-US" altLang="zh-CN" sz="3200" b="1" dirty="0">
                <a:latin typeface="Times New Roman" panose="02020503050405090304" pitchFamily="18" charset="0"/>
                <a:cs typeface="Times New Roman" panose="02020503050405090304" pitchFamily="18" charset="0"/>
              </a:rPr>
              <a:t>(%)</a:t>
            </a:r>
            <a:r>
              <a:rPr lang="zh-CN" altLang="en-US" sz="3200" b="1" dirty="0">
                <a:latin typeface="Times New Roman" panose="02020503050405090304" pitchFamily="18" charset="0"/>
                <a:cs typeface="Times New Roman" panose="02020503050405090304" pitchFamily="18" charset="0"/>
              </a:rPr>
              <a:t>；</a:t>
            </a:r>
            <a:endParaRPr lang="zh-CN" altLang="en-US" sz="2800" dirty="0">
              <a:latin typeface="Times New Roman" panose="02020503050405090304" pitchFamily="18" charset="0"/>
              <a:cs typeface="Times New Roman" panose="02020503050405090304" pitchFamily="18" charset="0"/>
            </a:endParaRPr>
          </a:p>
          <a:p>
            <a:pPr algn="just"/>
            <a:r>
              <a:rPr lang="zh-CN" altLang="en-US" sz="2800" dirty="0">
                <a:latin typeface="Times New Roman" panose="02020503050405090304" pitchFamily="18" charset="0"/>
                <a:cs typeface="Times New Roman" panose="02020503050405090304" pitchFamily="18" charset="0"/>
              </a:rPr>
              <a:t>         </a:t>
            </a:r>
            <a:r>
              <a:rPr lang="en-US" altLang="zh-CN" sz="3600" b="1" i="1" dirty="0">
                <a:latin typeface="Times New Roman" panose="02020503050405090304" pitchFamily="18" charset="0"/>
                <a:cs typeface="Times New Roman" panose="02020503050405090304" pitchFamily="18" charset="0"/>
              </a:rPr>
              <a:t>x</a:t>
            </a:r>
            <a:r>
              <a:rPr lang="en-US" altLang="zh-CN" sz="3600" b="1" baseline="-22000" dirty="0">
                <a:latin typeface="Times New Roman" panose="02020503050405090304" pitchFamily="18" charset="0"/>
                <a:cs typeface="Times New Roman" panose="02020503050405090304" pitchFamily="18" charset="0"/>
              </a:rPr>
              <a:t>4 ----</a:t>
            </a:r>
            <a:r>
              <a:rPr lang="en-US" altLang="zh-CN" sz="3200" b="1" dirty="0">
                <a:latin typeface="Times New Roman" panose="02020503050405090304" pitchFamily="18" charset="0"/>
                <a:cs typeface="Times New Roman" panose="02020503050405090304" pitchFamily="18" charset="0"/>
              </a:rPr>
              <a:t>2CaO.SiO2</a:t>
            </a:r>
            <a:r>
              <a:rPr lang="zh-CN" altLang="en-US" sz="3200" b="1" dirty="0">
                <a:latin typeface="Times New Roman" panose="02020503050405090304" pitchFamily="18" charset="0"/>
                <a:cs typeface="Times New Roman" panose="02020503050405090304" pitchFamily="18" charset="0"/>
              </a:rPr>
              <a:t>的成分</a:t>
            </a:r>
            <a:r>
              <a:rPr lang="en-US" altLang="zh-CN" sz="3200" b="1" dirty="0">
                <a:latin typeface="Times New Roman" panose="02020503050405090304" pitchFamily="18" charset="0"/>
                <a:cs typeface="Times New Roman" panose="02020503050405090304" pitchFamily="18" charset="0"/>
              </a:rPr>
              <a:t>(%).</a:t>
            </a:r>
            <a:endParaRPr lang="en-US" altLang="zh-CN" sz="3200" b="1" dirty="0">
              <a:latin typeface="Times New Roman" panose="02020503050405090304" pitchFamily="18" charset="0"/>
              <a:cs typeface="Times New Roman" panose="02020503050405090304" pitchFamily="18" charset="0"/>
            </a:endParaRPr>
          </a:p>
          <a:p>
            <a:pPr algn="just"/>
            <a:r>
              <a:rPr lang="zh-CN" altLang="en-US" sz="3200" b="1" dirty="0">
                <a:latin typeface="Times New Roman" panose="02020503050405090304" pitchFamily="18" charset="0"/>
                <a:cs typeface="Times New Roman" panose="02020503050405090304" pitchFamily="18" charset="0"/>
              </a:rPr>
              <a:t>共观测了</a:t>
            </a:r>
            <a:r>
              <a:rPr lang="en-US" altLang="zh-CN" sz="3200" b="1" dirty="0">
                <a:latin typeface="Times New Roman" panose="02020503050405090304" pitchFamily="18" charset="0"/>
                <a:cs typeface="Times New Roman" panose="02020503050405090304" pitchFamily="18" charset="0"/>
              </a:rPr>
              <a:t>13</a:t>
            </a:r>
            <a:r>
              <a:rPr lang="zh-CN" altLang="en-US" sz="3200" b="1" dirty="0">
                <a:latin typeface="Times New Roman" panose="02020503050405090304" pitchFamily="18" charset="0"/>
                <a:cs typeface="Times New Roman" panose="02020503050405090304" pitchFamily="18" charset="0"/>
              </a:rPr>
              <a:t>组数据</a:t>
            </a:r>
            <a:r>
              <a:rPr lang="en-US" altLang="zh-CN" sz="3200" b="1" dirty="0">
                <a:latin typeface="Times New Roman" panose="02020503050405090304" pitchFamily="18" charset="0"/>
                <a:cs typeface="Times New Roman" panose="02020503050405090304" pitchFamily="18" charset="0"/>
              </a:rPr>
              <a:t>(</a:t>
            </a:r>
            <a:r>
              <a:rPr lang="zh-CN" altLang="en-US" sz="3200" b="1" dirty="0">
                <a:latin typeface="Times New Roman" panose="02020503050405090304" pitchFamily="18" charset="0"/>
                <a:cs typeface="Times New Roman" panose="02020503050405090304" pitchFamily="18" charset="0"/>
              </a:rPr>
              <a:t>见下表</a:t>
            </a:r>
            <a:r>
              <a:rPr lang="en-US" altLang="zh-CN" sz="3200" b="1" dirty="0">
                <a:latin typeface="Times New Roman" panose="02020503050405090304" pitchFamily="18" charset="0"/>
                <a:cs typeface="Times New Roman" panose="02020503050405090304" pitchFamily="18" charset="0"/>
              </a:rPr>
              <a:t>)</a:t>
            </a:r>
            <a:r>
              <a:rPr lang="zh-CN" altLang="en-US" sz="3200" b="1" dirty="0">
                <a:latin typeface="Times New Roman" panose="02020503050405090304" pitchFamily="18" charset="0"/>
                <a:cs typeface="Times New Roman" panose="02020503050405090304" pitchFamily="18" charset="0"/>
              </a:rPr>
              <a:t>，试求出</a:t>
            </a:r>
            <a:r>
              <a:rPr lang="en-US" altLang="zh-CN" sz="3200" b="1" dirty="0">
                <a:latin typeface="Times New Roman" panose="02020503050405090304" pitchFamily="18" charset="0"/>
                <a:cs typeface="Times New Roman" panose="02020503050405090304" pitchFamily="18" charset="0"/>
              </a:rPr>
              <a:t>Y</a:t>
            </a:r>
            <a:r>
              <a:rPr lang="zh-CN" altLang="en-US" sz="3200" b="1" dirty="0">
                <a:latin typeface="Times New Roman" panose="02020503050405090304" pitchFamily="18" charset="0"/>
                <a:cs typeface="Times New Roman" panose="02020503050405090304" pitchFamily="18" charset="0"/>
              </a:rPr>
              <a:t>与</a:t>
            </a:r>
            <a:r>
              <a:rPr lang="en-US" altLang="zh-CN" sz="3600" b="1" i="1" dirty="0">
                <a:latin typeface="Times New Roman" panose="02020503050405090304" pitchFamily="18" charset="0"/>
                <a:cs typeface="Times New Roman" panose="02020503050405090304" pitchFamily="18" charset="0"/>
              </a:rPr>
              <a:t>x</a:t>
            </a:r>
            <a:r>
              <a:rPr lang="en-US" altLang="zh-CN" sz="3600" b="1" baseline="-22000" dirty="0">
                <a:latin typeface="Times New Roman" panose="02020503050405090304" pitchFamily="18" charset="0"/>
                <a:cs typeface="Times New Roman" panose="02020503050405090304" pitchFamily="18" charset="0"/>
              </a:rPr>
              <a:t>1</a:t>
            </a:r>
            <a:r>
              <a:rPr lang="en-US" altLang="zh-CN" sz="3600" b="1" i="1" baseline="-22000" dirty="0">
                <a:latin typeface="Times New Roman" panose="02020503050405090304" pitchFamily="18" charset="0"/>
                <a:cs typeface="Times New Roman" panose="02020503050405090304" pitchFamily="18" charset="0"/>
              </a:rPr>
              <a:t> </a:t>
            </a:r>
            <a:r>
              <a:rPr lang="en-US" altLang="zh-CN" sz="3200" b="1" dirty="0">
                <a:latin typeface="Times New Roman" panose="02020503050405090304" pitchFamily="18" charset="0"/>
                <a:cs typeface="Times New Roman" panose="02020503050405090304" pitchFamily="18" charset="0"/>
              </a:rPr>
              <a:t>, </a:t>
            </a:r>
            <a:r>
              <a:rPr lang="en-US" altLang="zh-CN" sz="3600" b="1" i="1" dirty="0">
                <a:latin typeface="Times New Roman" panose="02020503050405090304" pitchFamily="18" charset="0"/>
                <a:cs typeface="Times New Roman" panose="02020503050405090304" pitchFamily="18" charset="0"/>
              </a:rPr>
              <a:t>x</a:t>
            </a:r>
            <a:r>
              <a:rPr lang="en-US" altLang="zh-CN" sz="3600" b="1" baseline="-22000" dirty="0">
                <a:latin typeface="Times New Roman" panose="02020503050405090304" pitchFamily="18" charset="0"/>
                <a:cs typeface="Times New Roman" panose="02020503050405090304" pitchFamily="18" charset="0"/>
              </a:rPr>
              <a:t>2</a:t>
            </a:r>
            <a:r>
              <a:rPr lang="en-US" altLang="zh-CN" sz="3600" b="1" i="1" baseline="-22000" dirty="0">
                <a:latin typeface="Times New Roman" panose="02020503050405090304" pitchFamily="18" charset="0"/>
                <a:cs typeface="Times New Roman" panose="02020503050405090304" pitchFamily="18" charset="0"/>
              </a:rPr>
              <a:t> </a:t>
            </a:r>
            <a:r>
              <a:rPr lang="en-US" altLang="zh-CN" sz="3200" b="1" dirty="0">
                <a:latin typeface="Times New Roman" panose="02020503050405090304" pitchFamily="18" charset="0"/>
                <a:cs typeface="Times New Roman" panose="02020503050405090304" pitchFamily="18" charset="0"/>
              </a:rPr>
              <a:t>, </a:t>
            </a:r>
            <a:r>
              <a:rPr lang="en-US" altLang="zh-CN" sz="3600" b="1" i="1" dirty="0">
                <a:latin typeface="Times New Roman" panose="02020503050405090304" pitchFamily="18" charset="0"/>
                <a:cs typeface="Times New Roman" panose="02020503050405090304" pitchFamily="18" charset="0"/>
              </a:rPr>
              <a:t>x</a:t>
            </a:r>
            <a:r>
              <a:rPr lang="en-US" altLang="zh-CN" sz="3600" b="1" baseline="-22000" dirty="0">
                <a:latin typeface="Times New Roman" panose="02020503050405090304" pitchFamily="18" charset="0"/>
                <a:cs typeface="Times New Roman" panose="02020503050405090304" pitchFamily="18" charset="0"/>
              </a:rPr>
              <a:t>3</a:t>
            </a:r>
            <a:r>
              <a:rPr lang="en-US" altLang="zh-CN" sz="3600" b="1" i="1" baseline="-22000" dirty="0">
                <a:latin typeface="Times New Roman" panose="02020503050405090304" pitchFamily="18" charset="0"/>
                <a:cs typeface="Times New Roman" panose="02020503050405090304" pitchFamily="18" charset="0"/>
              </a:rPr>
              <a:t> </a:t>
            </a:r>
            <a:r>
              <a:rPr lang="en-US" altLang="zh-CN" sz="3200" b="1" dirty="0">
                <a:latin typeface="Times New Roman" panose="02020503050405090304" pitchFamily="18" charset="0"/>
                <a:cs typeface="Times New Roman" panose="02020503050405090304" pitchFamily="18" charset="0"/>
              </a:rPr>
              <a:t>, </a:t>
            </a:r>
            <a:r>
              <a:rPr lang="en-US" altLang="zh-CN" sz="3600" b="1" i="1" dirty="0">
                <a:latin typeface="Times New Roman" panose="02020503050405090304" pitchFamily="18" charset="0"/>
                <a:cs typeface="Times New Roman" panose="02020503050405090304" pitchFamily="18" charset="0"/>
              </a:rPr>
              <a:t>x</a:t>
            </a:r>
            <a:r>
              <a:rPr lang="en-US" altLang="zh-CN" sz="3600" b="1" baseline="-22000" dirty="0">
                <a:latin typeface="Times New Roman" panose="02020503050405090304" pitchFamily="18" charset="0"/>
                <a:cs typeface="Times New Roman" panose="02020503050405090304" pitchFamily="18" charset="0"/>
              </a:rPr>
              <a:t>4</a:t>
            </a:r>
            <a:r>
              <a:rPr lang="en-US" altLang="zh-CN" sz="3600" b="1" i="1" baseline="-22000" dirty="0">
                <a:latin typeface="Times New Roman" panose="02020503050405090304" pitchFamily="18" charset="0"/>
                <a:cs typeface="Times New Roman" panose="02020503050405090304" pitchFamily="18" charset="0"/>
              </a:rPr>
              <a:t> </a:t>
            </a:r>
            <a:r>
              <a:rPr lang="zh-CN" altLang="en-US" sz="3200" b="1" dirty="0">
                <a:latin typeface="Times New Roman" panose="02020503050405090304" pitchFamily="18" charset="0"/>
                <a:cs typeface="Times New Roman" panose="02020503050405090304" pitchFamily="18" charset="0"/>
              </a:rPr>
              <a:t>的回归关系式，并对回归方程和各个回归系数进行检验</a:t>
            </a:r>
            <a:r>
              <a:rPr lang="en-US" altLang="zh-CN" sz="3200" b="1" dirty="0">
                <a:latin typeface="Times New Roman" panose="02020503050405090304" pitchFamily="18" charset="0"/>
                <a:cs typeface="Times New Roman" panose="02020503050405090304" pitchFamily="18" charset="0"/>
              </a:rPr>
              <a:t>.</a:t>
            </a:r>
            <a:endParaRPr lang="en-US" altLang="zh-CN" sz="3200" b="1" dirty="0">
              <a:latin typeface="Times New Roman" panose="02020503050405090304" pitchFamily="18" charset="0"/>
              <a:cs typeface="Times New Roman" panose="02020503050405090304" pitchFamily="18" charset="0"/>
            </a:endParaRPr>
          </a:p>
        </p:txBody>
      </p:sp>
      <p:sp>
        <p:nvSpPr>
          <p:cNvPr id="226308" name="Line 1028"/>
          <p:cNvSpPr>
            <a:spLocks noChangeShapeType="1"/>
          </p:cNvSpPr>
          <p:nvPr/>
        </p:nvSpPr>
        <p:spPr bwMode="auto">
          <a:xfrm>
            <a:off x="1905000" y="1371600"/>
            <a:ext cx="8534400"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26307">
                                            <p:txEl>
                                              <p:pRg st="5" end="5"/>
                                            </p:txEl>
                                          </p:spTgt>
                                        </p:tgtEl>
                                        <p:attrNameLst>
                                          <p:attrName>style.visibility</p:attrName>
                                        </p:attrNameLst>
                                      </p:cBhvr>
                                      <p:to>
                                        <p:strVal val="visible"/>
                                      </p:to>
                                    </p:set>
                                    <p:anim calcmode="lin" valueType="num">
                                      <p:cBhvr additive="base">
                                        <p:cTn id="7" dur="500" fill="hold"/>
                                        <p:tgtEl>
                                          <p:spTgt spid="226307">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2630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p:cNvSpPr>
            <a:spLocks noGrp="1"/>
          </p:cNvSpPr>
          <p:nvPr>
            <p:ph type="sldNum" sz="quarter" idx="12"/>
          </p:nvPr>
        </p:nvSpPr>
        <p:spPr/>
        <p:txBody>
          <a:bodyPr/>
          <a:lstStyle/>
          <a:p>
            <a:fld id="{A75A7423-A335-42F6-B7E8-BE4A7AFA2DBA}" type="slidenum">
              <a:rPr lang="en-US" altLang="zh-CN"/>
            </a:fld>
            <a:endParaRPr lang="en-US" altLang="zh-CN"/>
          </a:p>
        </p:txBody>
      </p:sp>
      <p:sp>
        <p:nvSpPr>
          <p:cNvPr id="296963" name="Text Box 3"/>
          <p:cNvSpPr txBox="1">
            <a:spLocks noChangeArrowheads="1"/>
          </p:cNvSpPr>
          <p:nvPr/>
        </p:nvSpPr>
        <p:spPr bwMode="auto">
          <a:xfrm>
            <a:off x="1905000" y="1371601"/>
            <a:ext cx="83820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lang="en-US" altLang="zh-CN" sz="2800" b="1">
                <a:solidFill>
                  <a:srgbClr val="CC3300"/>
                </a:solidFill>
              </a:rPr>
              <a:t>       </a:t>
            </a:r>
            <a:endParaRPr lang="en-US" altLang="zh-CN" sz="2800" b="1"/>
          </a:p>
        </p:txBody>
      </p:sp>
      <p:sp>
        <p:nvSpPr>
          <p:cNvPr id="296964" name="Line 4"/>
          <p:cNvSpPr>
            <a:spLocks noChangeShapeType="1"/>
          </p:cNvSpPr>
          <p:nvPr/>
        </p:nvSpPr>
        <p:spPr bwMode="auto">
          <a:xfrm>
            <a:off x="1905000" y="1371600"/>
            <a:ext cx="8534400"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96965"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14600" y="1981201"/>
            <a:ext cx="7315200" cy="4405313"/>
          </a:xfrm>
          <a:prstGeom prst="rect">
            <a:avLst/>
          </a:prstGeom>
          <a:noFill/>
          <a:extLst>
            <a:ext uri="{909E8E84-426E-40DD-AFC4-6F175D3DCCD1}">
              <a14:hiddenFill xmlns:a14="http://schemas.microsoft.com/office/drawing/2010/main">
                <a:solidFill>
                  <a:srgbClr val="FFFFFF"/>
                </a:solidFill>
              </a14:hiddenFill>
            </a:ext>
          </a:extLst>
        </p:spPr>
      </p:pic>
      <p:sp>
        <p:nvSpPr>
          <p:cNvPr id="296966" name="Text Box 6"/>
          <p:cNvSpPr txBox="1">
            <a:spLocks noChangeArrowheads="1"/>
          </p:cNvSpPr>
          <p:nvPr/>
        </p:nvSpPr>
        <p:spPr bwMode="auto">
          <a:xfrm>
            <a:off x="4724401" y="1524000"/>
            <a:ext cx="124264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dirty="0"/>
              <a:t> </a:t>
            </a:r>
            <a:r>
              <a:rPr lang="zh-CN" altLang="en-US" b="1" dirty="0"/>
              <a:t>水泥数据 </a:t>
            </a:r>
            <a:endParaRPr lang="zh-CN" altLang="en-US" b="1"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p:cNvSpPr>
            <a:spLocks noGrp="1"/>
          </p:cNvSpPr>
          <p:nvPr>
            <p:ph type="sldNum" sz="quarter" idx="12"/>
          </p:nvPr>
        </p:nvSpPr>
        <p:spPr/>
        <p:txBody>
          <a:bodyPr/>
          <a:lstStyle/>
          <a:p>
            <a:fld id="{7DB70FE2-C8A6-4F6A-976F-BD6E6A3AEFE8}" type="slidenum">
              <a:rPr lang="en-US" altLang="zh-CN"/>
            </a:fld>
            <a:endParaRPr lang="en-US" altLang="zh-CN"/>
          </a:p>
        </p:txBody>
      </p:sp>
      <p:sp>
        <p:nvSpPr>
          <p:cNvPr id="297987" name="Text Box 3"/>
          <p:cNvSpPr txBox="1">
            <a:spLocks noChangeArrowheads="1"/>
          </p:cNvSpPr>
          <p:nvPr/>
        </p:nvSpPr>
        <p:spPr bwMode="auto">
          <a:xfrm>
            <a:off x="1905000" y="1371601"/>
            <a:ext cx="83820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lang="en-US" altLang="zh-CN" sz="2800" b="1">
                <a:solidFill>
                  <a:srgbClr val="CC3300"/>
                </a:solidFill>
              </a:rPr>
              <a:t>       </a:t>
            </a:r>
            <a:endParaRPr lang="en-US" altLang="zh-CN" sz="2800" b="1"/>
          </a:p>
        </p:txBody>
      </p:sp>
      <p:sp>
        <p:nvSpPr>
          <p:cNvPr id="297988" name="Line 4"/>
          <p:cNvSpPr>
            <a:spLocks noChangeShapeType="1"/>
          </p:cNvSpPr>
          <p:nvPr/>
        </p:nvSpPr>
        <p:spPr bwMode="auto">
          <a:xfrm>
            <a:off x="1905000" y="1371600"/>
            <a:ext cx="8534400"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989" name="Text Box 5"/>
          <p:cNvSpPr txBox="1">
            <a:spLocks noChangeArrowheads="1"/>
          </p:cNvSpPr>
          <p:nvPr/>
        </p:nvSpPr>
        <p:spPr bwMode="auto">
          <a:xfrm>
            <a:off x="1828801" y="1447801"/>
            <a:ext cx="8397875" cy="129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dirty="0"/>
              <a:t>   </a:t>
            </a:r>
            <a:r>
              <a:rPr lang="zh-CN" altLang="en-US" sz="3200" b="1" dirty="0">
                <a:solidFill>
                  <a:srgbClr val="FF0000"/>
                </a:solidFill>
              </a:rPr>
              <a:t>解   </a:t>
            </a:r>
            <a:r>
              <a:rPr lang="zh-CN" altLang="en-US" sz="2800" b="1" dirty="0"/>
              <a:t>使用</a:t>
            </a:r>
            <a:r>
              <a:rPr lang="en-US" altLang="zh-CN" sz="2800" b="1" dirty="0" err="1"/>
              <a:t>statsmodels</a:t>
            </a:r>
            <a:r>
              <a:rPr lang="en-US" altLang="zh-CN" sz="2800" b="1" dirty="0"/>
              <a:t> API</a:t>
            </a:r>
            <a:r>
              <a:rPr lang="zh-CN" altLang="en-US" sz="2800" b="1" dirty="0"/>
              <a:t>中的</a:t>
            </a:r>
            <a:r>
              <a:rPr lang="en-US" altLang="zh-CN" sz="2800" b="1" dirty="0"/>
              <a:t>OLS</a:t>
            </a:r>
            <a:r>
              <a:rPr lang="zh-CN" altLang="en-US" sz="2800" b="1" dirty="0"/>
              <a:t>函数完成经典多元线性回归分析中的估计和检验问题</a:t>
            </a:r>
            <a:r>
              <a:rPr lang="en-US" altLang="zh-CN" sz="2800" b="1" dirty="0"/>
              <a:t>.</a:t>
            </a:r>
            <a:endParaRPr lang="en-US" altLang="zh-CN" sz="2800" b="1" dirty="0"/>
          </a:p>
          <a:p>
            <a:r>
              <a:rPr lang="en-US" altLang="zh-CN" b="1" dirty="0"/>
              <a:t>     </a:t>
            </a:r>
            <a:endParaRPr lang="zh-CN" altLang="en-US" sz="2800" b="1" dirty="0"/>
          </a:p>
        </p:txBody>
      </p:sp>
      <p:sp>
        <p:nvSpPr>
          <p:cNvPr id="297990" name="Text Box 6"/>
          <p:cNvSpPr txBox="1">
            <a:spLocks noChangeArrowheads="1"/>
          </p:cNvSpPr>
          <p:nvPr/>
        </p:nvSpPr>
        <p:spPr bwMode="auto">
          <a:xfrm>
            <a:off x="740534" y="2532064"/>
            <a:ext cx="10613266" cy="3785652"/>
          </a:xfrm>
          <a:prstGeom prst="rect">
            <a:avLst/>
          </a:prstGeom>
          <a:solidFill>
            <a:srgbClr val="CC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000" b="1" dirty="0"/>
              <a:t>import </a:t>
            </a:r>
            <a:r>
              <a:rPr lang="en-US" altLang="zh-CN" sz="2000" b="1" dirty="0" err="1"/>
              <a:t>numpy</a:t>
            </a:r>
            <a:r>
              <a:rPr lang="en-US" altLang="zh-CN" sz="2000" b="1" dirty="0"/>
              <a:t> as np</a:t>
            </a:r>
            <a:endParaRPr lang="en-US" altLang="zh-CN" sz="2000" b="1" dirty="0"/>
          </a:p>
          <a:p>
            <a:r>
              <a:rPr lang="en-US" altLang="zh-CN" sz="2000" b="1" dirty="0"/>
              <a:t>y=</a:t>
            </a:r>
            <a:r>
              <a:rPr lang="en-US" altLang="zh-CN" sz="2000" b="1" dirty="0" err="1"/>
              <a:t>np.array</a:t>
            </a:r>
            <a:r>
              <a:rPr lang="en-US" altLang="zh-CN" sz="2000" b="1" dirty="0"/>
              <a:t>([78.5,74.3,104.3,87.6,95.9,109.2,102.7,72.5,93.1,115.9,83.8,113.3,109.4])</a:t>
            </a:r>
            <a:endParaRPr lang="en-US" altLang="zh-CN" sz="2000" b="1" dirty="0"/>
          </a:p>
          <a:p>
            <a:r>
              <a:rPr lang="en-US" altLang="zh-CN" sz="2000" b="1" dirty="0">
                <a:solidFill>
                  <a:schemeClr val="bg1">
                    <a:lumMod val="75000"/>
                  </a:schemeClr>
                </a:solidFill>
              </a:rPr>
              <a:t>X=</a:t>
            </a:r>
            <a:r>
              <a:rPr lang="en-US" altLang="zh-CN" sz="2000" b="1" dirty="0" err="1">
                <a:solidFill>
                  <a:schemeClr val="bg1">
                    <a:lumMod val="75000"/>
                  </a:schemeClr>
                </a:solidFill>
              </a:rPr>
              <a:t>np.array</a:t>
            </a:r>
            <a:r>
              <a:rPr lang="en-US" altLang="zh-CN" sz="2000" b="1" dirty="0">
                <a:solidFill>
                  <a:schemeClr val="bg1">
                    <a:lumMod val="75000"/>
                  </a:schemeClr>
                </a:solidFill>
              </a:rPr>
              <a:t>([[1,7,26,6,60],[1,1,29,15,52],[1,11,56,8,20],[1,11,31,8,47],[1,7,52,6,33],[1,11,55,9,22],[1,3,71,17,6],[1,1,31,22,44],[1,2,54,18,22],[1,21,47,4,26],[1,1,40,23,34],[1,11,66,9,12],[1,10,68,8,12]])</a:t>
            </a:r>
            <a:endParaRPr lang="en-US" altLang="zh-CN" sz="2000" b="1" dirty="0">
              <a:solidFill>
                <a:schemeClr val="bg1">
                  <a:lumMod val="75000"/>
                </a:schemeClr>
              </a:solidFill>
            </a:endParaRPr>
          </a:p>
          <a:p>
            <a:r>
              <a:rPr lang="en-US" altLang="zh-CN" sz="2000" b="1" dirty="0">
                <a:solidFill>
                  <a:srgbClr val="FF0000"/>
                </a:solidFill>
              </a:rPr>
              <a:t>X=</a:t>
            </a:r>
            <a:r>
              <a:rPr lang="en-US" altLang="zh-CN" sz="2000" b="1" dirty="0" err="1">
                <a:solidFill>
                  <a:srgbClr val="FF0000"/>
                </a:solidFill>
              </a:rPr>
              <a:t>np.array</a:t>
            </a:r>
            <a:r>
              <a:rPr lang="en-US" altLang="zh-CN" sz="2000" b="1" dirty="0">
                <a:solidFill>
                  <a:srgbClr val="FF0000"/>
                </a:solidFill>
              </a:rPr>
              <a:t>([[7,26,6,60],[1,29,15,52],[11,56,8,20],[11,31,8,47],[7,52,6,33],[11,55,9,22],[3,71,17,6],[1,31,22,44],[2,54,18,22],[21,47,4,26],[1,40,23,34],[11,66,9,12],[10,68,8,12]])</a:t>
            </a:r>
            <a:endParaRPr lang="en-US" altLang="zh-CN" sz="2000" b="1" dirty="0">
              <a:solidFill>
                <a:srgbClr val="FF0000"/>
              </a:solidFill>
            </a:endParaRPr>
          </a:p>
          <a:p>
            <a:r>
              <a:rPr lang="en-US" altLang="zh-CN" sz="2000" b="1" dirty="0"/>
              <a:t>import </a:t>
            </a:r>
            <a:r>
              <a:rPr lang="en-US" altLang="zh-CN" sz="2000" b="1" dirty="0" err="1"/>
              <a:t>statsmodels.api</a:t>
            </a:r>
            <a:r>
              <a:rPr lang="en-US" altLang="zh-CN" sz="2000" b="1" dirty="0"/>
              <a:t> as </a:t>
            </a:r>
            <a:r>
              <a:rPr lang="en-US" altLang="zh-CN" sz="2000" b="1" dirty="0" err="1"/>
              <a:t>sm</a:t>
            </a:r>
            <a:endParaRPr lang="en-US" altLang="zh-CN" sz="2000" b="1" dirty="0"/>
          </a:p>
          <a:p>
            <a:r>
              <a:rPr lang="en-US" altLang="zh-CN" sz="2000" b="1" dirty="0">
                <a:solidFill>
                  <a:srgbClr val="FF0000"/>
                </a:solidFill>
              </a:rPr>
              <a:t>X=</a:t>
            </a:r>
            <a:r>
              <a:rPr lang="en-US" altLang="zh-CN" sz="2000" b="1" dirty="0" err="1">
                <a:solidFill>
                  <a:srgbClr val="FF0000"/>
                </a:solidFill>
              </a:rPr>
              <a:t>sm.add_constant</a:t>
            </a:r>
            <a:r>
              <a:rPr lang="en-US" altLang="zh-CN" sz="2000" b="1" dirty="0">
                <a:solidFill>
                  <a:srgbClr val="FF0000"/>
                </a:solidFill>
              </a:rPr>
              <a:t>(X)</a:t>
            </a:r>
            <a:endParaRPr lang="en-US" altLang="zh-CN" sz="2000" b="1" dirty="0">
              <a:solidFill>
                <a:srgbClr val="FF0000"/>
              </a:solidFill>
            </a:endParaRPr>
          </a:p>
          <a:p>
            <a:r>
              <a:rPr lang="en-US" altLang="zh-CN" sz="2000" b="1" dirty="0"/>
              <a:t>mod=</a:t>
            </a:r>
            <a:r>
              <a:rPr lang="en-US" altLang="zh-CN" sz="2000" b="1" dirty="0" err="1"/>
              <a:t>sm.OLS</a:t>
            </a:r>
            <a:r>
              <a:rPr lang="en-US" altLang="zh-CN" sz="2000" b="1" dirty="0"/>
              <a:t>(</a:t>
            </a:r>
            <a:r>
              <a:rPr lang="en-US" altLang="zh-CN" sz="2000" b="1" dirty="0" err="1"/>
              <a:t>y,X</a:t>
            </a:r>
            <a:r>
              <a:rPr lang="en-US" altLang="zh-CN" sz="2000" b="1" dirty="0"/>
              <a:t>)</a:t>
            </a:r>
            <a:endParaRPr lang="en-US" altLang="zh-CN" sz="2000" b="1" dirty="0"/>
          </a:p>
          <a:p>
            <a:r>
              <a:rPr lang="en-US" altLang="zh-CN" sz="2000" b="1" dirty="0"/>
              <a:t>res=</a:t>
            </a:r>
            <a:r>
              <a:rPr lang="en-US" altLang="zh-CN" sz="2000" b="1" dirty="0" err="1"/>
              <a:t>mod.fit</a:t>
            </a:r>
            <a:r>
              <a:rPr lang="en-US" altLang="zh-CN" sz="2000" b="1" dirty="0"/>
              <a:t>()</a:t>
            </a:r>
            <a:endParaRPr lang="en-US" altLang="zh-CN" sz="2000" b="1" dirty="0"/>
          </a:p>
          <a:p>
            <a:r>
              <a:rPr lang="en-US" altLang="zh-CN" sz="2000" b="1" dirty="0"/>
              <a:t>print (</a:t>
            </a:r>
            <a:r>
              <a:rPr lang="en-US" altLang="zh-CN" sz="2000" b="1" dirty="0" err="1"/>
              <a:t>res.summary</a:t>
            </a:r>
            <a:r>
              <a:rPr lang="en-US" altLang="zh-CN" sz="2000" b="1" dirty="0"/>
              <a:t>())</a:t>
            </a:r>
            <a:endParaRPr lang="zh-CN" alt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97989">
                                            <p:txEl>
                                              <p:pRg st="1" end="1"/>
                                            </p:txEl>
                                          </p:spTgt>
                                        </p:tgtEl>
                                        <p:attrNameLst>
                                          <p:attrName>style.visibility</p:attrName>
                                        </p:attrNameLst>
                                      </p:cBhvr>
                                      <p:to>
                                        <p:strVal val="visible"/>
                                      </p:to>
                                    </p:set>
                                    <p:animEffect transition="in" filter="box(in)">
                                      <p:cBhvr>
                                        <p:cTn id="7" dur="500"/>
                                        <p:tgtEl>
                                          <p:spTgt spid="29798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5" presetClass="entr" presetSubtype="0" fill="hold" grpId="0" nodeType="clickEffect">
                                  <p:stCondLst>
                                    <p:cond delay="0"/>
                                  </p:stCondLst>
                                  <p:childTnLst>
                                    <p:set>
                                      <p:cBhvr>
                                        <p:cTn id="11" dur="1" fill="hold">
                                          <p:stCondLst>
                                            <p:cond delay="0"/>
                                          </p:stCondLst>
                                        </p:cTn>
                                        <p:tgtEl>
                                          <p:spTgt spid="297990"/>
                                        </p:tgtEl>
                                        <p:attrNameLst>
                                          <p:attrName>style.visibility</p:attrName>
                                        </p:attrNameLst>
                                      </p:cBhvr>
                                      <p:to>
                                        <p:strVal val="visible"/>
                                      </p:to>
                                    </p:set>
                                    <p:anim calcmode="lin" valueType="num">
                                      <p:cBhvr>
                                        <p:cTn id="12" dur="1000" fill="hold"/>
                                        <p:tgtEl>
                                          <p:spTgt spid="297990"/>
                                        </p:tgtEl>
                                        <p:attrNameLst>
                                          <p:attrName>ppt_w</p:attrName>
                                        </p:attrNameLst>
                                      </p:cBhvr>
                                      <p:tavLst>
                                        <p:tav tm="0">
                                          <p:val>
                                            <p:fltVal val="0"/>
                                          </p:val>
                                        </p:tav>
                                        <p:tav tm="100000">
                                          <p:val>
                                            <p:strVal val="#ppt_w"/>
                                          </p:val>
                                        </p:tav>
                                      </p:tavLst>
                                    </p:anim>
                                    <p:anim calcmode="lin" valueType="num">
                                      <p:cBhvr>
                                        <p:cTn id="13" dur="1000" fill="hold"/>
                                        <p:tgtEl>
                                          <p:spTgt spid="297990"/>
                                        </p:tgtEl>
                                        <p:attrNameLst>
                                          <p:attrName>ppt_h</p:attrName>
                                        </p:attrNameLst>
                                      </p:cBhvr>
                                      <p:tavLst>
                                        <p:tav tm="0">
                                          <p:val>
                                            <p:fltVal val="0"/>
                                          </p:val>
                                        </p:tav>
                                        <p:tav tm="100000">
                                          <p:val>
                                            <p:strVal val="#ppt_h"/>
                                          </p:val>
                                        </p:tav>
                                      </p:tavLst>
                                    </p:anim>
                                    <p:anim calcmode="lin" valueType="num">
                                      <p:cBhvr>
                                        <p:cTn id="14" dur="1000" fill="hold"/>
                                        <p:tgtEl>
                                          <p:spTgt spid="297990"/>
                                        </p:tgtEl>
                                        <p:attrNameLst>
                                          <p:attrName>ppt_x</p:attrName>
                                        </p:attrNameLst>
                                      </p:cBhvr>
                                      <p:tavLst>
                                        <p:tav tm="0" fmla="#ppt_x+(cos(-2*pi*(1-$))*-#ppt_x-sin(-2*pi*(1-$))*(1-#ppt_y))*(1-$)">
                                          <p:val>
                                            <p:fltVal val="0"/>
                                          </p:val>
                                        </p:tav>
                                        <p:tav tm="100000">
                                          <p:val>
                                            <p:fltVal val="1"/>
                                          </p:val>
                                        </p:tav>
                                      </p:tavLst>
                                    </p:anim>
                                    <p:anim calcmode="lin" valueType="num">
                                      <p:cBhvr>
                                        <p:cTn id="15" dur="1000" fill="hold"/>
                                        <p:tgtEl>
                                          <p:spTgt spid="297990"/>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990"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内容占位符 4"/>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985345" y="365126"/>
            <a:ext cx="9372600" cy="6222581"/>
          </a:xfrm>
        </p:spPr>
      </p:pic>
      <p:sp>
        <p:nvSpPr>
          <p:cNvPr id="4" name="文本框 3"/>
          <p:cNvSpPr txBox="1"/>
          <p:nvPr/>
        </p:nvSpPr>
        <p:spPr>
          <a:xfrm>
            <a:off x="985345" y="0"/>
            <a:ext cx="10959860" cy="369332"/>
          </a:xfrm>
          <a:prstGeom prst="rect">
            <a:avLst/>
          </a:prstGeom>
          <a:noFill/>
        </p:spPr>
        <p:txBody>
          <a:bodyPr wrap="square">
            <a:spAutoFit/>
          </a:bodyPr>
          <a:lstStyle/>
          <a:p>
            <a:r>
              <a:rPr lang="zh-CN" altLang="en-US" dirty="0"/>
              <a:t>解释详见：</a:t>
            </a:r>
            <a:r>
              <a:rPr lang="en-US" altLang="zh-CN" dirty="0"/>
              <a:t>https://blog.csdn.net/qq_42294351/article/details/119815102</a:t>
            </a:r>
            <a:endParaRPr lang="zh-CN" alt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p:cNvSpPr>
            <a:spLocks noGrp="1"/>
          </p:cNvSpPr>
          <p:nvPr>
            <p:ph type="sldNum" sz="quarter" idx="12"/>
          </p:nvPr>
        </p:nvSpPr>
        <p:spPr/>
        <p:txBody>
          <a:bodyPr/>
          <a:lstStyle/>
          <a:p>
            <a:fld id="{1EE4F8BD-EC84-4861-ABB0-1B05A47C3B6B}" type="slidenum">
              <a:rPr lang="en-US" altLang="zh-CN"/>
            </a:fld>
            <a:endParaRPr lang="en-US" altLang="zh-CN"/>
          </a:p>
        </p:txBody>
      </p:sp>
      <p:sp>
        <p:nvSpPr>
          <p:cNvPr id="225283" name="Text Box 3"/>
          <p:cNvSpPr txBox="1">
            <a:spLocks noChangeArrowheads="1"/>
          </p:cNvSpPr>
          <p:nvPr/>
        </p:nvSpPr>
        <p:spPr bwMode="auto">
          <a:xfrm>
            <a:off x="838199" y="846903"/>
            <a:ext cx="9967623" cy="4918269"/>
          </a:xfrm>
          <a:prstGeom prst="rect">
            <a:avLst/>
          </a:prstGeom>
          <a:noFill/>
          <a:ln>
            <a:noFill/>
          </a:ln>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gn="just"/>
            <a:r>
              <a:rPr lang="zh-CN" altLang="en-US" sz="2800" b="1" dirty="0">
                <a:latin typeface="Times New Roman" panose="02020503050405090304" pitchFamily="18" charset="0"/>
                <a:cs typeface="Times New Roman" panose="02020503050405090304" pitchFamily="18" charset="0"/>
              </a:rPr>
              <a:t>① 回归方程：</a:t>
            </a:r>
            <a:r>
              <a:rPr lang="en-US" altLang="zh-CN" sz="2800" b="1" i="1" dirty="0">
                <a:solidFill>
                  <a:srgbClr val="6600CC"/>
                </a:solidFill>
                <a:latin typeface="Times New Roman" panose="02020503050405090304" pitchFamily="18" charset="0"/>
                <a:cs typeface="Times New Roman" panose="02020503050405090304" pitchFamily="18" charset="0"/>
              </a:rPr>
              <a:t>Y</a:t>
            </a:r>
            <a:r>
              <a:rPr lang="en-US" altLang="zh-CN" sz="2800" b="1" dirty="0">
                <a:solidFill>
                  <a:srgbClr val="6600CC"/>
                </a:solidFill>
                <a:latin typeface="Times New Roman" panose="02020503050405090304" pitchFamily="18" charset="0"/>
                <a:cs typeface="Times New Roman" panose="02020503050405090304" pitchFamily="18" charset="0"/>
              </a:rPr>
              <a:t>=62.4054+1.5511</a:t>
            </a:r>
            <a:r>
              <a:rPr lang="en-US" altLang="zh-CN" sz="2800" b="1" i="1" dirty="0">
                <a:solidFill>
                  <a:srgbClr val="6600CC"/>
                </a:solidFill>
                <a:latin typeface="Times New Roman" panose="02020503050405090304" pitchFamily="18" charset="0"/>
                <a:cs typeface="Times New Roman" panose="02020503050405090304" pitchFamily="18" charset="0"/>
              </a:rPr>
              <a:t>x</a:t>
            </a:r>
            <a:r>
              <a:rPr lang="en-US" altLang="zh-CN" sz="2800" b="1" baseline="-22000" dirty="0">
                <a:solidFill>
                  <a:srgbClr val="6600CC"/>
                </a:solidFill>
                <a:latin typeface="Times New Roman" panose="02020503050405090304" pitchFamily="18" charset="0"/>
                <a:cs typeface="Times New Roman" panose="02020503050405090304" pitchFamily="18" charset="0"/>
              </a:rPr>
              <a:t>1</a:t>
            </a:r>
            <a:r>
              <a:rPr lang="en-US" altLang="zh-CN" sz="2800" b="1" dirty="0">
                <a:solidFill>
                  <a:srgbClr val="6600CC"/>
                </a:solidFill>
                <a:latin typeface="Times New Roman" panose="02020503050405090304" pitchFamily="18" charset="0"/>
                <a:cs typeface="Times New Roman" panose="02020503050405090304" pitchFamily="18" charset="0"/>
              </a:rPr>
              <a:t>+0.5102</a:t>
            </a:r>
            <a:r>
              <a:rPr lang="en-US" altLang="zh-CN" sz="2800" b="1" i="1" dirty="0">
                <a:solidFill>
                  <a:srgbClr val="6600CC"/>
                </a:solidFill>
                <a:latin typeface="Times New Roman" panose="02020503050405090304" pitchFamily="18" charset="0"/>
                <a:cs typeface="Times New Roman" panose="02020503050405090304" pitchFamily="18" charset="0"/>
              </a:rPr>
              <a:t>x</a:t>
            </a:r>
            <a:r>
              <a:rPr lang="en-US" altLang="zh-CN" sz="2800" b="1" baseline="-22000" dirty="0">
                <a:solidFill>
                  <a:srgbClr val="6600CC"/>
                </a:solidFill>
                <a:latin typeface="Times New Roman" panose="02020503050405090304" pitchFamily="18" charset="0"/>
                <a:cs typeface="Times New Roman" panose="02020503050405090304" pitchFamily="18" charset="0"/>
              </a:rPr>
              <a:t>2</a:t>
            </a:r>
            <a:r>
              <a:rPr lang="en-US" altLang="zh-CN" sz="2800" b="1" dirty="0">
                <a:solidFill>
                  <a:srgbClr val="6600CC"/>
                </a:solidFill>
                <a:latin typeface="Times New Roman" panose="02020503050405090304" pitchFamily="18" charset="0"/>
                <a:cs typeface="Times New Roman" panose="02020503050405090304" pitchFamily="18" charset="0"/>
              </a:rPr>
              <a:t>+0.1019</a:t>
            </a:r>
            <a:r>
              <a:rPr lang="en-US" altLang="zh-CN" sz="2800" b="1" i="1" dirty="0">
                <a:solidFill>
                  <a:srgbClr val="6600CC"/>
                </a:solidFill>
                <a:latin typeface="Times New Roman" panose="02020503050405090304" pitchFamily="18" charset="0"/>
                <a:cs typeface="Times New Roman" panose="02020503050405090304" pitchFamily="18" charset="0"/>
              </a:rPr>
              <a:t>x</a:t>
            </a:r>
            <a:r>
              <a:rPr lang="en-US" altLang="zh-CN" sz="2800" b="1" baseline="-22000" dirty="0">
                <a:solidFill>
                  <a:srgbClr val="6600CC"/>
                </a:solidFill>
                <a:latin typeface="Times New Roman" panose="02020503050405090304" pitchFamily="18" charset="0"/>
                <a:cs typeface="Times New Roman" panose="02020503050405090304" pitchFamily="18" charset="0"/>
              </a:rPr>
              <a:t>3</a:t>
            </a:r>
            <a:r>
              <a:rPr lang="en-US" altLang="zh-CN" sz="2800" b="1" dirty="0">
                <a:solidFill>
                  <a:srgbClr val="6600CC"/>
                </a:solidFill>
                <a:latin typeface="Times New Roman" panose="02020503050405090304" pitchFamily="18" charset="0"/>
                <a:cs typeface="Times New Roman" panose="02020503050405090304" pitchFamily="18" charset="0"/>
              </a:rPr>
              <a:t>-0.1441</a:t>
            </a:r>
            <a:r>
              <a:rPr lang="en-US" altLang="zh-CN" sz="2800" b="1" i="1" dirty="0">
                <a:solidFill>
                  <a:srgbClr val="6600CC"/>
                </a:solidFill>
                <a:latin typeface="Times New Roman" panose="02020503050405090304" pitchFamily="18" charset="0"/>
                <a:cs typeface="Times New Roman" panose="02020503050405090304" pitchFamily="18" charset="0"/>
              </a:rPr>
              <a:t>x</a:t>
            </a:r>
            <a:r>
              <a:rPr lang="en-US" altLang="zh-CN" sz="2800" b="1" baseline="-22000" dirty="0">
                <a:solidFill>
                  <a:srgbClr val="6600CC"/>
                </a:solidFill>
                <a:latin typeface="Times New Roman" panose="02020503050405090304" pitchFamily="18" charset="0"/>
                <a:cs typeface="Times New Roman" panose="02020503050405090304" pitchFamily="18" charset="0"/>
              </a:rPr>
              <a:t>4</a:t>
            </a:r>
            <a:r>
              <a:rPr lang="en-US" altLang="zh-CN" sz="2800" b="1" dirty="0">
                <a:solidFill>
                  <a:srgbClr val="6600CC"/>
                </a:solidFill>
                <a:latin typeface="Times New Roman" panose="02020503050405090304" pitchFamily="18" charset="0"/>
                <a:cs typeface="Times New Roman" panose="02020503050405090304" pitchFamily="18" charset="0"/>
              </a:rPr>
              <a:t>.</a:t>
            </a:r>
            <a:endParaRPr lang="en-US" altLang="zh-CN" sz="2800" b="1" dirty="0">
              <a:solidFill>
                <a:srgbClr val="6600CC"/>
              </a:solidFill>
              <a:latin typeface="Times New Roman" panose="02020503050405090304" pitchFamily="18" charset="0"/>
              <a:cs typeface="Times New Roman" panose="02020503050405090304" pitchFamily="18" charset="0"/>
            </a:endParaRPr>
          </a:p>
          <a:p>
            <a:pPr algn="just"/>
            <a:r>
              <a:rPr lang="en-US" altLang="zh-CN" sz="2800" b="1" dirty="0">
                <a:latin typeface="Times New Roman" panose="02020503050405090304" pitchFamily="18" charset="0"/>
                <a:cs typeface="Times New Roman" panose="02020503050405090304" pitchFamily="18" charset="0"/>
              </a:rPr>
              <a:t>②</a:t>
            </a:r>
            <a:r>
              <a:rPr lang="zh-CN" altLang="en-US" sz="2800" b="1" dirty="0">
                <a:latin typeface="Times New Roman" panose="02020503050405090304" pitchFamily="18" charset="0"/>
                <a:cs typeface="Times New Roman" panose="02020503050405090304" pitchFamily="18" charset="0"/>
              </a:rPr>
              <a:t>显著性检验的结果：给出检验统计量</a:t>
            </a:r>
            <a:r>
              <a:rPr lang="en-US" altLang="zh-CN" sz="2800" b="1" i="1" dirty="0">
                <a:latin typeface="Times New Roman" panose="02020503050405090304" pitchFamily="18" charset="0"/>
                <a:cs typeface="Times New Roman" panose="02020503050405090304" pitchFamily="18" charset="0"/>
              </a:rPr>
              <a:t>F </a:t>
            </a:r>
            <a:r>
              <a:rPr lang="zh-CN" altLang="en-US" sz="2800" b="1" dirty="0">
                <a:latin typeface="Times New Roman" panose="02020503050405090304" pitchFamily="18" charset="0"/>
                <a:cs typeface="Times New Roman" panose="02020503050405090304" pitchFamily="18" charset="0"/>
              </a:rPr>
              <a:t>值</a:t>
            </a:r>
            <a:r>
              <a:rPr lang="en-US" altLang="zh-CN" sz="2800" b="1" dirty="0">
                <a:latin typeface="Times New Roman" panose="02020503050405090304" pitchFamily="18" charset="0"/>
                <a:cs typeface="Times New Roman" panose="02020503050405090304" pitchFamily="18" charset="0"/>
              </a:rPr>
              <a:t>=111.479,</a:t>
            </a:r>
            <a:r>
              <a:rPr lang="en-US" altLang="zh-CN" sz="2800" b="1" i="1" dirty="0">
                <a:latin typeface="Times New Roman" panose="02020503050405090304" pitchFamily="18" charset="0"/>
                <a:cs typeface="Times New Roman" panose="02020503050405090304" pitchFamily="18" charset="0"/>
              </a:rPr>
              <a:t>p</a:t>
            </a:r>
            <a:r>
              <a:rPr lang="zh-CN" altLang="en-US" sz="2800" b="1" dirty="0">
                <a:latin typeface="Times New Roman" panose="02020503050405090304" pitchFamily="18" charset="0"/>
                <a:cs typeface="Times New Roman" panose="02020503050405090304" pitchFamily="18" charset="0"/>
              </a:rPr>
              <a:t>值为</a:t>
            </a:r>
            <a:r>
              <a:rPr lang="en-US" altLang="zh-CN" sz="2800" b="1" dirty="0">
                <a:latin typeface="Times New Roman" panose="02020503050405090304" pitchFamily="18" charset="0"/>
                <a:cs typeface="Times New Roman" panose="02020503050405090304" pitchFamily="18" charset="0"/>
              </a:rPr>
              <a:t>0.0001,</a:t>
            </a:r>
            <a:r>
              <a:rPr lang="zh-CN" altLang="en-US" sz="2800" b="1" dirty="0">
                <a:latin typeface="Times New Roman" panose="02020503050405090304" pitchFamily="18" charset="0"/>
                <a:cs typeface="Times New Roman" panose="02020503050405090304" pitchFamily="18" charset="0"/>
              </a:rPr>
              <a:t>表示拟合的模型是高度显著的</a:t>
            </a:r>
            <a:r>
              <a:rPr lang="en-US" altLang="zh-CN" sz="2800" b="1" dirty="0">
                <a:latin typeface="Times New Roman" panose="02020503050405090304" pitchFamily="18" charset="0"/>
                <a:cs typeface="Times New Roman" panose="02020503050405090304" pitchFamily="18" charset="0"/>
              </a:rPr>
              <a:t>,</a:t>
            </a:r>
            <a:r>
              <a:rPr lang="zh-CN" altLang="en-US" sz="2800" b="1" dirty="0">
                <a:latin typeface="Times New Roman" panose="02020503050405090304" pitchFamily="18" charset="0"/>
                <a:cs typeface="Times New Roman" panose="02020503050405090304" pitchFamily="18" charset="0"/>
              </a:rPr>
              <a:t>该模型解释了这组数据总偏差中的主要部分</a:t>
            </a:r>
            <a:endParaRPr lang="en-US" altLang="zh-CN" sz="2800" b="1" dirty="0">
              <a:latin typeface="Times New Roman" panose="02020503050405090304" pitchFamily="18" charset="0"/>
              <a:cs typeface="Times New Roman" panose="02020503050405090304" pitchFamily="18" charset="0"/>
            </a:endParaRPr>
          </a:p>
          <a:p>
            <a:pPr algn="just">
              <a:lnSpc>
                <a:spcPct val="90000"/>
              </a:lnSpc>
            </a:pPr>
            <a:r>
              <a:rPr lang="en-US" altLang="zh-CN" sz="2800" b="1" dirty="0">
                <a:latin typeface="Times New Roman" panose="02020503050405090304" pitchFamily="18" charset="0"/>
                <a:cs typeface="Times New Roman" panose="02020503050405090304" pitchFamily="18" charset="0"/>
              </a:rPr>
              <a:t>③ </a:t>
            </a:r>
            <a:r>
              <a:rPr lang="zh-CN" altLang="en-US" sz="2800" b="1" dirty="0">
                <a:solidFill>
                  <a:srgbClr val="006699"/>
                </a:solidFill>
                <a:latin typeface="Times New Roman" panose="02020503050405090304" pitchFamily="18" charset="0"/>
                <a:cs typeface="Times New Roman" panose="02020503050405090304" pitchFamily="18" charset="0"/>
              </a:rPr>
              <a:t>回归系数显著性检验的结果</a:t>
            </a:r>
            <a:r>
              <a:rPr lang="zh-CN" altLang="en-US" sz="2800" b="1" dirty="0">
                <a:latin typeface="Times New Roman" panose="02020503050405090304" pitchFamily="18" charset="0"/>
                <a:cs typeface="Times New Roman" panose="02020503050405090304" pitchFamily="18" charset="0"/>
              </a:rPr>
              <a:t>：给出检验</a:t>
            </a:r>
            <a:r>
              <a:rPr lang="en-US" altLang="zh-CN" sz="2800" b="1" dirty="0">
                <a:latin typeface="Times New Roman" panose="02020503050405090304" pitchFamily="18" charset="0"/>
                <a:cs typeface="Times New Roman" panose="02020503050405090304" pitchFamily="18" charset="0"/>
              </a:rPr>
              <a:t>H</a:t>
            </a:r>
            <a:r>
              <a:rPr lang="en-US" altLang="zh-CN" sz="2800" b="1" baseline="30000" dirty="0">
                <a:latin typeface="Times New Roman" panose="02020503050405090304" pitchFamily="18" charset="0"/>
                <a:cs typeface="Times New Roman" panose="02020503050405090304" pitchFamily="18" charset="0"/>
              </a:rPr>
              <a:t>(</a:t>
            </a:r>
            <a:r>
              <a:rPr lang="en-US" altLang="zh-CN" sz="2800" b="1" i="1" baseline="30000" dirty="0" err="1">
                <a:latin typeface="Times New Roman" panose="02020503050405090304" pitchFamily="18" charset="0"/>
                <a:cs typeface="Times New Roman" panose="02020503050405090304" pitchFamily="18" charset="0"/>
              </a:rPr>
              <a:t>i</a:t>
            </a:r>
            <a:r>
              <a:rPr lang="en-US" altLang="zh-CN" sz="2800" b="1" baseline="30000" dirty="0">
                <a:latin typeface="Times New Roman" panose="02020503050405090304" pitchFamily="18" charset="0"/>
                <a:cs typeface="Times New Roman" panose="02020503050405090304" pitchFamily="18" charset="0"/>
              </a:rPr>
              <a:t>)</a:t>
            </a:r>
            <a:r>
              <a:rPr lang="en-US" altLang="zh-CN" sz="2800" b="1" baseline="-24000" dirty="0">
                <a:latin typeface="Times New Roman" panose="02020503050405090304" pitchFamily="18" charset="0"/>
                <a:cs typeface="Times New Roman" panose="02020503050405090304" pitchFamily="18" charset="0"/>
              </a:rPr>
              <a:t>0</a:t>
            </a:r>
            <a:r>
              <a:rPr lang="en-US" altLang="zh-CN" sz="2800" b="1" dirty="0">
                <a:latin typeface="Times New Roman" panose="02020503050405090304" pitchFamily="18" charset="0"/>
                <a:cs typeface="Times New Roman" panose="02020503050405090304" pitchFamily="18" charset="0"/>
              </a:rPr>
              <a:t>:</a:t>
            </a:r>
            <a:r>
              <a:rPr lang="en-US" altLang="zh-CN" sz="2800" b="1" i="1" dirty="0">
                <a:latin typeface="Times New Roman" panose="02020503050405090304" pitchFamily="18" charset="0"/>
                <a:cs typeface="Times New Roman" panose="02020503050405090304" pitchFamily="18" charset="0"/>
              </a:rPr>
              <a:t>β</a:t>
            </a:r>
            <a:r>
              <a:rPr lang="en-US" altLang="zh-CN" sz="2800" b="1" i="1" baseline="-20000" dirty="0" err="1">
                <a:latin typeface="Times New Roman" panose="02020503050405090304" pitchFamily="18" charset="0"/>
                <a:cs typeface="Times New Roman" panose="02020503050405090304" pitchFamily="18" charset="0"/>
              </a:rPr>
              <a:t>i</a:t>
            </a:r>
            <a:r>
              <a:rPr lang="en-US" altLang="zh-CN" sz="2800" b="1" dirty="0">
                <a:latin typeface="Times New Roman" panose="02020503050405090304" pitchFamily="18" charset="0"/>
                <a:cs typeface="Times New Roman" panose="02020503050405090304" pitchFamily="18" charset="0"/>
              </a:rPr>
              <a:t>=0  (</a:t>
            </a:r>
            <a:r>
              <a:rPr lang="en-US" altLang="zh-CN" sz="2800" b="1" i="1" dirty="0" err="1">
                <a:latin typeface="Times New Roman" panose="02020503050405090304" pitchFamily="18" charset="0"/>
                <a:cs typeface="Times New Roman" panose="02020503050405090304" pitchFamily="18" charset="0"/>
              </a:rPr>
              <a:t>i</a:t>
            </a:r>
            <a:r>
              <a:rPr lang="en-US" altLang="zh-CN" sz="2800" b="1" dirty="0">
                <a:latin typeface="Times New Roman" panose="02020503050405090304" pitchFamily="18" charset="0"/>
                <a:cs typeface="Times New Roman" panose="02020503050405090304" pitchFamily="18" charset="0"/>
              </a:rPr>
              <a:t>=0,1,…,</a:t>
            </a:r>
            <a:r>
              <a:rPr lang="en-US" altLang="zh-CN" sz="2800" dirty="0">
                <a:latin typeface="Times New Roman" panose="02020503050405090304" pitchFamily="18" charset="0"/>
                <a:cs typeface="Times New Roman" panose="02020503050405090304" pitchFamily="18" charset="0"/>
              </a:rPr>
              <a:t>4</a:t>
            </a:r>
            <a:r>
              <a:rPr lang="en-US" altLang="zh-CN" sz="2800" b="1" dirty="0">
                <a:latin typeface="Times New Roman" panose="02020503050405090304" pitchFamily="18" charset="0"/>
                <a:cs typeface="Times New Roman" panose="02020503050405090304" pitchFamily="18" charset="0"/>
              </a:rPr>
              <a:t>)</a:t>
            </a:r>
            <a:r>
              <a:rPr lang="zh-CN" altLang="en-US" sz="2800" b="1" dirty="0">
                <a:latin typeface="Times New Roman" panose="02020503050405090304" pitchFamily="18" charset="0"/>
                <a:cs typeface="Times New Roman" panose="02020503050405090304" pitchFamily="18" charset="0"/>
              </a:rPr>
              <a:t>的结果</a:t>
            </a:r>
            <a:r>
              <a:rPr lang="en-US" altLang="zh-CN" sz="2800" b="1" dirty="0">
                <a:latin typeface="Times New Roman" panose="02020503050405090304" pitchFamily="18" charset="0"/>
                <a:cs typeface="Times New Roman" panose="02020503050405090304" pitchFamily="18" charset="0"/>
              </a:rPr>
              <a:t>.</a:t>
            </a:r>
            <a:r>
              <a:rPr lang="zh-CN" altLang="en-US" sz="2800" b="1" dirty="0">
                <a:latin typeface="Times New Roman" panose="02020503050405090304" pitchFamily="18" charset="0"/>
                <a:cs typeface="Times New Roman" panose="02020503050405090304" pitchFamily="18" charset="0"/>
              </a:rPr>
              <a:t>见该表的“</a:t>
            </a:r>
            <a:r>
              <a:rPr lang="en-US" altLang="zh-CN" sz="2800" b="1" dirty="0">
                <a:latin typeface="Times New Roman" panose="02020503050405090304" pitchFamily="18" charset="0"/>
                <a:cs typeface="Times New Roman" panose="02020503050405090304" pitchFamily="18" charset="0"/>
              </a:rPr>
              <a:t>Prob&gt;</a:t>
            </a:r>
            <a:r>
              <a:rPr lang="zh-CN" altLang="en-US" sz="2800" b="1" dirty="0">
                <a:latin typeface="Times New Roman" panose="02020503050405090304" pitchFamily="18" charset="0"/>
                <a:cs typeface="Times New Roman" panose="02020503050405090304" pitchFamily="18" charset="0"/>
              </a:rPr>
              <a:t>｜</a:t>
            </a:r>
            <a:r>
              <a:rPr lang="en-US" altLang="zh-CN" sz="2800" b="1" dirty="0">
                <a:latin typeface="Times New Roman" panose="02020503050405090304" pitchFamily="18" charset="0"/>
                <a:cs typeface="Times New Roman" panose="02020503050405090304" pitchFamily="18" charset="0"/>
              </a:rPr>
              <a:t>T</a:t>
            </a:r>
            <a:r>
              <a:rPr lang="zh-CN" altLang="en-US" sz="2800" b="1" dirty="0">
                <a:latin typeface="Times New Roman" panose="02020503050405090304" pitchFamily="18" charset="0"/>
                <a:cs typeface="Times New Roman" panose="02020503050405090304" pitchFamily="18" charset="0"/>
              </a:rPr>
              <a:t>｜”</a:t>
            </a:r>
            <a:r>
              <a:rPr lang="en-US" altLang="zh-CN" sz="2800" b="1" dirty="0">
                <a:latin typeface="Times New Roman" panose="02020503050405090304" pitchFamily="18" charset="0"/>
                <a:cs typeface="Times New Roman" panose="02020503050405090304" pitchFamily="18" charset="0"/>
              </a:rPr>
              <a:t>(</a:t>
            </a:r>
            <a:r>
              <a:rPr lang="zh-CN" altLang="en-US" sz="2800" b="1" dirty="0">
                <a:latin typeface="Times New Roman" panose="02020503050405090304" pitchFamily="18" charset="0"/>
                <a:cs typeface="Times New Roman" panose="02020503050405090304" pitchFamily="18" charset="0"/>
              </a:rPr>
              <a:t>即显著性概率</a:t>
            </a:r>
            <a:r>
              <a:rPr lang="en-US" altLang="zh-CN" sz="2800" b="1" i="1" dirty="0">
                <a:latin typeface="Times New Roman" panose="02020503050405090304" pitchFamily="18" charset="0"/>
                <a:cs typeface="Times New Roman" panose="02020503050405090304" pitchFamily="18" charset="0"/>
              </a:rPr>
              <a:t>p</a:t>
            </a:r>
            <a:r>
              <a:rPr lang="zh-CN" altLang="en-US" sz="2800" b="1" dirty="0">
                <a:latin typeface="Times New Roman" panose="02020503050405090304" pitchFamily="18" charset="0"/>
                <a:cs typeface="Times New Roman" panose="02020503050405090304" pitchFamily="18" charset="0"/>
              </a:rPr>
              <a:t>值</a:t>
            </a:r>
            <a:r>
              <a:rPr lang="en-US" altLang="zh-CN" sz="2800" b="1" dirty="0">
                <a:latin typeface="Times New Roman" panose="02020503050405090304" pitchFamily="18" charset="0"/>
                <a:cs typeface="Times New Roman" panose="02020503050405090304" pitchFamily="18" charset="0"/>
              </a:rPr>
              <a:t>),</a:t>
            </a:r>
            <a:r>
              <a:rPr lang="zh-CN" altLang="en-US" sz="2800" b="1" dirty="0">
                <a:latin typeface="Times New Roman" panose="02020503050405090304" pitchFamily="18" charset="0"/>
                <a:cs typeface="Times New Roman" panose="02020503050405090304" pitchFamily="18" charset="0"/>
              </a:rPr>
              <a:t>若给定</a:t>
            </a:r>
            <a:r>
              <a:rPr lang="en-US" altLang="zh-CN" sz="2800" b="1" dirty="0">
                <a:latin typeface="Times New Roman" panose="02020503050405090304" pitchFamily="18" charset="0"/>
                <a:cs typeface="Times New Roman" panose="02020503050405090304" pitchFamily="18" charset="0"/>
              </a:rPr>
              <a:t>α=0.05,</a:t>
            </a:r>
            <a:r>
              <a:rPr lang="zh-CN" altLang="en-US" sz="2800" b="1" dirty="0">
                <a:latin typeface="Times New Roman" panose="02020503050405090304" pitchFamily="18" charset="0"/>
                <a:cs typeface="Times New Roman" panose="02020503050405090304" pitchFamily="18" charset="0"/>
              </a:rPr>
              <a:t>常数项</a:t>
            </a:r>
            <a:r>
              <a:rPr lang="en-US" altLang="zh-CN" sz="2800" b="1" dirty="0">
                <a:latin typeface="Times New Roman" panose="02020503050405090304" pitchFamily="18" charset="0"/>
                <a:cs typeface="Times New Roman" panose="02020503050405090304" pitchFamily="18" charset="0"/>
              </a:rPr>
              <a:t>(</a:t>
            </a:r>
            <a:r>
              <a:rPr lang="zh-CN" altLang="en-US" sz="2800" b="1" dirty="0">
                <a:latin typeface="Times New Roman" panose="02020503050405090304" pitchFamily="18" charset="0"/>
                <a:cs typeface="Times New Roman" panose="02020503050405090304" pitchFamily="18" charset="0"/>
              </a:rPr>
              <a:t>或称截距项</a:t>
            </a:r>
            <a:r>
              <a:rPr lang="en-US" altLang="zh-CN" sz="2800" b="1" dirty="0">
                <a:latin typeface="Times New Roman" panose="02020503050405090304" pitchFamily="18" charset="0"/>
                <a:cs typeface="Times New Roman" panose="02020503050405090304" pitchFamily="18" charset="0"/>
              </a:rPr>
              <a:t>)</a:t>
            </a:r>
            <a:r>
              <a:rPr lang="zh-CN" altLang="en-US" sz="2800" b="1" dirty="0">
                <a:latin typeface="Times New Roman" panose="02020503050405090304" pitchFamily="18" charset="0"/>
                <a:cs typeface="Times New Roman" panose="02020503050405090304" pitchFamily="18" charset="0"/>
              </a:rPr>
              <a:t>和</a:t>
            </a:r>
            <a:r>
              <a:rPr lang="en-US" altLang="zh-CN" sz="2800" b="1" dirty="0">
                <a:latin typeface="Times New Roman" panose="02020503050405090304" pitchFamily="18" charset="0"/>
                <a:cs typeface="Times New Roman" panose="02020503050405090304" pitchFamily="18" charset="0"/>
              </a:rPr>
              <a:t>4</a:t>
            </a:r>
            <a:r>
              <a:rPr lang="zh-CN" altLang="en-US" sz="2800" b="1" dirty="0">
                <a:latin typeface="Times New Roman" panose="02020503050405090304" pitchFamily="18" charset="0"/>
                <a:cs typeface="Times New Roman" panose="02020503050405090304" pitchFamily="18" charset="0"/>
              </a:rPr>
              <a:t>个自变量的</a:t>
            </a:r>
            <a:r>
              <a:rPr lang="en-US" altLang="zh-CN" sz="2800" b="1" i="1" dirty="0">
                <a:latin typeface="Times New Roman" panose="02020503050405090304" pitchFamily="18" charset="0"/>
                <a:cs typeface="Times New Roman" panose="02020503050405090304" pitchFamily="18" charset="0"/>
              </a:rPr>
              <a:t>p</a:t>
            </a:r>
            <a:r>
              <a:rPr lang="zh-CN" altLang="en-US" sz="2800" b="1" dirty="0">
                <a:latin typeface="Times New Roman" panose="02020503050405090304" pitchFamily="18" charset="0"/>
                <a:cs typeface="Times New Roman" panose="02020503050405090304" pitchFamily="18" charset="0"/>
              </a:rPr>
              <a:t>值均≥</a:t>
            </a:r>
            <a:r>
              <a:rPr lang="en-US" altLang="zh-CN" sz="2800" b="1" dirty="0">
                <a:latin typeface="Times New Roman" panose="02020503050405090304" pitchFamily="18" charset="0"/>
                <a:cs typeface="Times New Roman" panose="02020503050405090304" pitchFamily="18" charset="0"/>
              </a:rPr>
              <a:t>α,</a:t>
            </a:r>
            <a:r>
              <a:rPr lang="zh-CN" altLang="en-US" sz="2800" b="1" dirty="0">
                <a:latin typeface="Times New Roman" panose="02020503050405090304" pitchFamily="18" charset="0"/>
                <a:cs typeface="Times New Roman" panose="02020503050405090304" pitchFamily="18" charset="0"/>
              </a:rPr>
              <a:t>这与回归方程高度显著产生矛盾</a:t>
            </a:r>
            <a:r>
              <a:rPr lang="en-US" altLang="zh-CN" sz="2800" b="1" dirty="0">
                <a:latin typeface="Times New Roman" panose="02020503050405090304" pitchFamily="18" charset="0"/>
                <a:cs typeface="Times New Roman" panose="02020503050405090304" pitchFamily="18" charset="0"/>
              </a:rPr>
              <a:t>.</a:t>
            </a:r>
            <a:r>
              <a:rPr lang="zh-CN" altLang="en-US" sz="2800" b="1" dirty="0">
                <a:latin typeface="Times New Roman" panose="02020503050405090304" pitchFamily="18" charset="0"/>
                <a:cs typeface="Times New Roman" panose="02020503050405090304" pitchFamily="18" charset="0"/>
              </a:rPr>
              <a:t> 此现象是因为</a:t>
            </a:r>
            <a:r>
              <a:rPr lang="en-US" altLang="zh-CN" sz="2800" b="1" dirty="0">
                <a:latin typeface="Times New Roman" panose="02020503050405090304" pitchFamily="18" charset="0"/>
                <a:cs typeface="Times New Roman" panose="02020503050405090304" pitchFamily="18" charset="0"/>
              </a:rPr>
              <a:t>4</a:t>
            </a:r>
            <a:r>
              <a:rPr lang="zh-CN" altLang="en-US" sz="2800" b="1" dirty="0">
                <a:latin typeface="Times New Roman" panose="02020503050405090304" pitchFamily="18" charset="0"/>
                <a:cs typeface="Times New Roman" panose="02020503050405090304" pitchFamily="18" charset="0"/>
              </a:rPr>
              <a:t>个自变量间存在较强的相关性</a:t>
            </a:r>
            <a:r>
              <a:rPr lang="en-US" altLang="zh-CN" sz="2800" b="1" dirty="0">
                <a:latin typeface="Times New Roman" panose="02020503050405090304" pitchFamily="18" charset="0"/>
                <a:cs typeface="Times New Roman" panose="02020503050405090304" pitchFamily="18" charset="0"/>
              </a:rPr>
              <a:t>.</a:t>
            </a:r>
            <a:r>
              <a:rPr lang="zh-CN" altLang="en-US" sz="2800" b="1" dirty="0">
                <a:latin typeface="Times New Roman" panose="02020503050405090304" pitchFamily="18" charset="0"/>
                <a:cs typeface="Times New Roman" panose="02020503050405090304" pitchFamily="18" charset="0"/>
              </a:rPr>
              <a:t>为了得到“最优”回归方程，应从方程中删除最不重要的变量</a:t>
            </a:r>
            <a:r>
              <a:rPr lang="en-US" altLang="zh-CN" sz="2800" b="1" dirty="0">
                <a:latin typeface="Times New Roman" panose="02020503050405090304" pitchFamily="18" charset="0"/>
                <a:cs typeface="Times New Roman" panose="02020503050405090304" pitchFamily="18" charset="0"/>
              </a:rPr>
              <a:t>(</a:t>
            </a:r>
            <a:r>
              <a:rPr lang="zh-CN" altLang="en-US" sz="2800" b="1" dirty="0">
                <a:latin typeface="Times New Roman" panose="02020503050405090304" pitchFamily="18" charset="0"/>
                <a:cs typeface="Times New Roman" panose="02020503050405090304" pitchFamily="18" charset="0"/>
              </a:rPr>
              <a:t>如</a:t>
            </a:r>
            <a:r>
              <a:rPr lang="en-US" altLang="zh-CN" sz="2800" b="1" i="1" dirty="0">
                <a:latin typeface="Times New Roman" panose="02020503050405090304" pitchFamily="18" charset="0"/>
                <a:cs typeface="Times New Roman" panose="02020503050405090304" pitchFamily="18" charset="0"/>
              </a:rPr>
              <a:t>x</a:t>
            </a:r>
            <a:r>
              <a:rPr lang="en-US" altLang="zh-CN" sz="2800" b="1" baseline="-22000" dirty="0">
                <a:latin typeface="Times New Roman" panose="02020503050405090304" pitchFamily="18" charset="0"/>
                <a:cs typeface="Times New Roman" panose="02020503050405090304" pitchFamily="18" charset="0"/>
              </a:rPr>
              <a:t>3</a:t>
            </a:r>
            <a:r>
              <a:rPr lang="en-US" altLang="zh-CN" sz="2800" b="1" dirty="0">
                <a:latin typeface="Times New Roman" panose="02020503050405090304" pitchFamily="18" charset="0"/>
                <a:cs typeface="Times New Roman" panose="02020503050405090304" pitchFamily="18" charset="0"/>
              </a:rPr>
              <a:t>,</a:t>
            </a:r>
            <a:r>
              <a:rPr lang="zh-CN" altLang="en-US" sz="2800" b="1" dirty="0">
                <a:latin typeface="Times New Roman" panose="02020503050405090304" pitchFamily="18" charset="0"/>
                <a:cs typeface="Times New Roman" panose="02020503050405090304" pitchFamily="18" charset="0"/>
              </a:rPr>
              <a:t>因</a:t>
            </a:r>
            <a:r>
              <a:rPr lang="en-US" altLang="zh-CN" sz="2800" b="1" i="1" dirty="0">
                <a:latin typeface="Times New Roman" panose="02020503050405090304" pitchFamily="18" charset="0"/>
                <a:cs typeface="Times New Roman" panose="02020503050405090304" pitchFamily="18" charset="0"/>
              </a:rPr>
              <a:t>x</a:t>
            </a:r>
            <a:r>
              <a:rPr lang="en-US" altLang="zh-CN" sz="2800" b="1" baseline="-22000" dirty="0">
                <a:latin typeface="Times New Roman" panose="02020503050405090304" pitchFamily="18" charset="0"/>
                <a:cs typeface="Times New Roman" panose="02020503050405090304" pitchFamily="18" charset="0"/>
              </a:rPr>
              <a:t>3</a:t>
            </a:r>
            <a:r>
              <a:rPr lang="zh-CN" altLang="en-US" sz="2800" b="1" dirty="0">
                <a:latin typeface="Times New Roman" panose="02020503050405090304" pitchFamily="18" charset="0"/>
                <a:cs typeface="Times New Roman" panose="02020503050405090304" pitchFamily="18" charset="0"/>
              </a:rPr>
              <a:t>的</a:t>
            </a:r>
            <a:r>
              <a:rPr lang="en-US" altLang="zh-CN" sz="2800" b="1" i="1" dirty="0">
                <a:latin typeface="Times New Roman" panose="02020503050405090304" pitchFamily="18" charset="0"/>
                <a:cs typeface="Times New Roman" panose="02020503050405090304" pitchFamily="18" charset="0"/>
              </a:rPr>
              <a:t>p</a:t>
            </a:r>
            <a:r>
              <a:rPr lang="zh-CN" altLang="en-US" sz="2800" b="1" dirty="0">
                <a:latin typeface="Times New Roman" panose="02020503050405090304" pitchFamily="18" charset="0"/>
                <a:cs typeface="Times New Roman" panose="02020503050405090304" pitchFamily="18" charset="0"/>
              </a:rPr>
              <a:t>值</a:t>
            </a:r>
            <a:r>
              <a:rPr lang="en-US" altLang="zh-CN" sz="2800" b="1" dirty="0">
                <a:latin typeface="Times New Roman" panose="02020503050405090304" pitchFamily="18" charset="0"/>
                <a:cs typeface="Times New Roman" panose="02020503050405090304" pitchFamily="18" charset="0"/>
              </a:rPr>
              <a:t>=0.8959</a:t>
            </a:r>
            <a:r>
              <a:rPr lang="zh-CN" altLang="en-US" sz="2800" b="1" dirty="0">
                <a:latin typeface="Times New Roman" panose="02020503050405090304" pitchFamily="18" charset="0"/>
                <a:cs typeface="Times New Roman" panose="02020503050405090304" pitchFamily="18" charset="0"/>
              </a:rPr>
              <a:t>为最大</a:t>
            </a:r>
            <a:r>
              <a:rPr lang="en-US" altLang="zh-CN" sz="2800" b="1" dirty="0">
                <a:latin typeface="Times New Roman" panose="02020503050405090304" pitchFamily="18" charset="0"/>
                <a:cs typeface="Times New Roman" panose="02020503050405090304" pitchFamily="18" charset="0"/>
              </a:rPr>
              <a:t>)</a:t>
            </a:r>
            <a:r>
              <a:rPr lang="zh-CN" altLang="en-US" sz="2800" b="1" dirty="0">
                <a:latin typeface="Times New Roman" panose="02020503050405090304" pitchFamily="18" charset="0"/>
                <a:cs typeface="Times New Roman" panose="02020503050405090304" pitchFamily="18" charset="0"/>
              </a:rPr>
              <a:t>，重新建立</a:t>
            </a:r>
            <a:r>
              <a:rPr lang="en-US" altLang="zh-CN" sz="2800" b="1" i="1" dirty="0">
                <a:latin typeface="Times New Roman" panose="02020503050405090304" pitchFamily="18" charset="0"/>
                <a:cs typeface="Times New Roman" panose="02020503050405090304" pitchFamily="18" charset="0"/>
              </a:rPr>
              <a:t>Y</a:t>
            </a:r>
            <a:r>
              <a:rPr lang="zh-CN" altLang="en-US" sz="2800" b="1" dirty="0">
                <a:latin typeface="Times New Roman" panose="02020503050405090304" pitchFamily="18" charset="0"/>
                <a:cs typeface="Times New Roman" panose="02020503050405090304" pitchFamily="18" charset="0"/>
              </a:rPr>
              <a:t>与其余变量的回归方程后再检验</a:t>
            </a:r>
            <a:r>
              <a:rPr lang="en-US" altLang="zh-CN" sz="2800" b="1" dirty="0">
                <a:latin typeface="Times New Roman" panose="02020503050405090304" pitchFamily="18" charset="0"/>
                <a:cs typeface="Times New Roman" panose="02020503050405090304" pitchFamily="18" charset="0"/>
              </a:rPr>
              <a:t>.</a:t>
            </a:r>
            <a:r>
              <a:rPr lang="zh-CN" altLang="en-US" sz="2800" b="1" dirty="0">
                <a:latin typeface="Times New Roman" panose="02020503050405090304" pitchFamily="18" charset="0"/>
                <a:cs typeface="Times New Roman" panose="02020503050405090304" pitchFamily="18" charset="0"/>
              </a:rPr>
              <a:t>我们将介绍变量选择问题</a:t>
            </a:r>
            <a:r>
              <a:rPr lang="en-US" altLang="zh-CN" sz="2800" b="1" dirty="0">
                <a:latin typeface="Times New Roman" panose="02020503050405090304" pitchFamily="18" charset="0"/>
                <a:cs typeface="Times New Roman" panose="02020503050405090304" pitchFamily="18" charset="0"/>
              </a:rPr>
              <a:t>.</a:t>
            </a:r>
            <a:endParaRPr lang="en-US" altLang="zh-CN" sz="2800" b="1" dirty="0">
              <a:latin typeface="Times New Roman" panose="02020503050405090304" pitchFamily="18" charset="0"/>
              <a:cs typeface="Times New Roman" panose="02020503050405090304" pitchFamily="18" charset="0"/>
            </a:endParaRPr>
          </a:p>
          <a:p>
            <a:pPr algn="just">
              <a:lnSpc>
                <a:spcPct val="90000"/>
              </a:lnSpc>
            </a:pPr>
            <a:r>
              <a:rPr lang="en-US" altLang="zh-CN" sz="2800" b="1" dirty="0">
                <a:latin typeface="Times New Roman" panose="02020503050405090304" pitchFamily="18" charset="0"/>
                <a:cs typeface="Times New Roman" panose="02020503050405090304" pitchFamily="18" charset="0"/>
              </a:rPr>
              <a:t>④ </a:t>
            </a:r>
            <a:r>
              <a:rPr lang="zh-CN" altLang="en-US" sz="2800" b="1" dirty="0">
                <a:solidFill>
                  <a:srgbClr val="6600CC"/>
                </a:solidFill>
                <a:latin typeface="Times New Roman" panose="02020503050405090304" pitchFamily="18" charset="0"/>
                <a:cs typeface="Times New Roman" panose="02020503050405090304" pitchFamily="18" charset="0"/>
              </a:rPr>
              <a:t>有关的回归统计量</a:t>
            </a:r>
            <a:r>
              <a:rPr lang="zh-CN" altLang="en-US" sz="2800" b="1" dirty="0">
                <a:latin typeface="Times New Roman" panose="02020503050405090304" pitchFamily="18" charset="0"/>
                <a:cs typeface="Times New Roman" panose="02020503050405090304" pitchFamily="18" charset="0"/>
              </a:rPr>
              <a:t>：决定系数</a:t>
            </a:r>
            <a:r>
              <a:rPr lang="en-US" altLang="zh-CN" sz="2800" b="1" i="1">
                <a:latin typeface="Times New Roman" panose="02020503050405090304" pitchFamily="18" charset="0"/>
                <a:cs typeface="Times New Roman" panose="02020503050405090304" pitchFamily="18" charset="0"/>
              </a:rPr>
              <a:t>R</a:t>
            </a:r>
            <a:r>
              <a:rPr lang="en-US" altLang="zh-CN" sz="2800" b="1" baseline="22000">
                <a:latin typeface="Times New Roman" panose="02020503050405090304" pitchFamily="18" charset="0"/>
                <a:cs typeface="Times New Roman" panose="02020503050405090304" pitchFamily="18" charset="0"/>
              </a:rPr>
              <a:t>2</a:t>
            </a:r>
            <a:r>
              <a:rPr lang="en-US" altLang="zh-CN" sz="2800" b="1">
                <a:latin typeface="Times New Roman" panose="02020503050405090304" pitchFamily="18" charset="0"/>
                <a:cs typeface="Times New Roman" panose="02020503050405090304" pitchFamily="18" charset="0"/>
              </a:rPr>
              <a:t>=0.9824</a:t>
            </a:r>
            <a:endParaRPr lang="en-US" altLang="zh-CN" sz="2800" b="1" dirty="0">
              <a:latin typeface="Times New Roman" panose="02020503050405090304" pitchFamily="18" charset="0"/>
              <a:cs typeface="Times New Roman" panose="02020503050405090304" pitchFamily="18" charset="0"/>
            </a:endParaRPr>
          </a:p>
        </p:txBody>
      </p:sp>
      <p:sp>
        <p:nvSpPr>
          <p:cNvPr id="225285" name="Text Box 5"/>
          <p:cNvSpPr txBox="1">
            <a:spLocks noChangeArrowheads="1"/>
          </p:cNvSpPr>
          <p:nvPr/>
        </p:nvSpPr>
        <p:spPr bwMode="auto">
          <a:xfrm>
            <a:off x="1894110" y="1800489"/>
            <a:ext cx="36580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1" dirty="0">
                <a:solidFill>
                  <a:srgbClr val="6600CC"/>
                </a:solidFill>
                <a:latin typeface="宋体" pitchFamily="2" charset="-122"/>
              </a:rPr>
              <a:t>^</a:t>
            </a:r>
            <a:endParaRPr lang="en-US" altLang="zh-CN" sz="2800" b="1" dirty="0">
              <a:solidFill>
                <a:srgbClr val="6600CC"/>
              </a:solidFill>
              <a:latin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25283">
                                            <p:txEl>
                                              <p:pRg st="0" end="0"/>
                                            </p:txEl>
                                          </p:spTgt>
                                        </p:tgtEl>
                                        <p:attrNameLst>
                                          <p:attrName>style.visibility</p:attrName>
                                        </p:attrNameLst>
                                      </p:cBhvr>
                                      <p:to>
                                        <p:strVal val="visible"/>
                                      </p:to>
                                    </p:set>
                                    <p:animEffect transition="in" filter="box(in)">
                                      <p:cBhvr>
                                        <p:cTn id="7" dur="500"/>
                                        <p:tgtEl>
                                          <p:spTgt spid="225283">
                                            <p:txEl>
                                              <p:pRg st="0" end="0"/>
                                            </p:txEl>
                                          </p:spTgt>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22528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225283">
                                            <p:txEl>
                                              <p:pRg st="1" end="1"/>
                                            </p:txEl>
                                          </p:spTgt>
                                        </p:tgtEl>
                                        <p:attrNameLst>
                                          <p:attrName>style.visibility</p:attrName>
                                        </p:attrNameLst>
                                      </p:cBhvr>
                                      <p:to>
                                        <p:strVal val="visible"/>
                                      </p:to>
                                    </p:set>
                                    <p:anim calcmode="lin" valueType="num">
                                      <p:cBhvr additive="base">
                                        <p:cTn id="15" dur="500" fill="hold"/>
                                        <p:tgtEl>
                                          <p:spTgt spid="225283">
                                            <p:txEl>
                                              <p:pRg st="1" end="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2528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225283">
                                            <p:txEl>
                                              <p:pRg st="3" end="3"/>
                                            </p:txEl>
                                          </p:spTgt>
                                        </p:tgtEl>
                                        <p:attrNameLst>
                                          <p:attrName>style.visibility</p:attrName>
                                        </p:attrNameLst>
                                      </p:cBhvr>
                                      <p:to>
                                        <p:strVal val="visible"/>
                                      </p:to>
                                    </p:set>
                                    <p:anim calcmode="lin" valueType="num">
                                      <p:cBhvr additive="base">
                                        <p:cTn id="21" dur="500" fill="hold"/>
                                        <p:tgtEl>
                                          <p:spTgt spid="22528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2528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25283">
                                            <p:txEl>
                                              <p:pRg st="2" end="2"/>
                                            </p:txEl>
                                          </p:spTgt>
                                        </p:tgtEl>
                                        <p:attrNameLst>
                                          <p:attrName>style.visibility</p:attrName>
                                        </p:attrNameLst>
                                      </p:cBhvr>
                                      <p:to>
                                        <p:strVal val="visible"/>
                                      </p:to>
                                    </p:set>
                                    <p:anim calcmode="lin" valueType="num">
                                      <p:cBhvr additive="base">
                                        <p:cTn id="27" dur="500" fill="hold"/>
                                        <p:tgtEl>
                                          <p:spTgt spid="225283">
                                            <p:txEl>
                                              <p:pRg st="2" end="2"/>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2528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ext Box 2"/>
          <p:cNvSpPr txBox="1"/>
          <p:nvPr/>
        </p:nvSpPr>
        <p:spPr>
          <a:xfrm>
            <a:off x="2242821" y="455296"/>
            <a:ext cx="6833235" cy="668837"/>
          </a:xfrm>
          <a:prstGeom prst="rect">
            <a:avLst/>
          </a:prstGeom>
          <a:noFill/>
          <a:ln w="9525">
            <a:noFill/>
          </a:ln>
        </p:spPr>
        <p:txBody>
          <a:bodyPr wrap="square" anchor="t">
            <a:spAutoFit/>
          </a:bodyPr>
          <a:lstStyle/>
          <a:p>
            <a:pPr>
              <a:lnSpc>
                <a:spcPct val="120000"/>
              </a:lnSpc>
            </a:pPr>
            <a:r>
              <a:rPr lang="zh-CN" altLang="en-US" sz="3600" dirty="0">
                <a:latin typeface="黑体" panose="02010609060101010101" pitchFamily="49" charset="-122"/>
                <a:ea typeface="黑体" panose="02010609060101010101" pitchFamily="49" charset="-122"/>
                <a:cs typeface="黑体" panose="02010609060101010101" pitchFamily="49" charset="-122"/>
              </a:rPr>
              <a:t>五、多元回归模型的预测 </a:t>
            </a:r>
            <a:endParaRPr lang="zh-CN" altLang="en-US" sz="3600" dirty="0">
              <a:latin typeface="黑体" panose="02010609060101010101" pitchFamily="49" charset="-122"/>
              <a:ea typeface="黑体" panose="02010609060101010101" pitchFamily="49" charset="-122"/>
              <a:cs typeface="黑体" panose="02010609060101010101" pitchFamily="49" charset="-122"/>
            </a:endParaRPr>
          </a:p>
        </p:txBody>
      </p:sp>
      <p:sp>
        <p:nvSpPr>
          <p:cNvPr id="23554" name="Text Box 3"/>
          <p:cNvSpPr txBox="1"/>
          <p:nvPr/>
        </p:nvSpPr>
        <p:spPr>
          <a:xfrm>
            <a:off x="2395221" y="1391921"/>
            <a:ext cx="2954655" cy="476669"/>
          </a:xfrm>
          <a:prstGeom prst="rect">
            <a:avLst/>
          </a:prstGeom>
          <a:noFill/>
          <a:ln w="9525">
            <a:noFill/>
          </a:ln>
        </p:spPr>
        <p:txBody>
          <a:bodyPr wrap="none" anchor="t">
            <a:spAutoFit/>
          </a:bodyPr>
          <a:lstStyle/>
          <a:p>
            <a:pPr>
              <a:lnSpc>
                <a:spcPct val="120000"/>
              </a:lnSpc>
            </a:pPr>
            <a:r>
              <a:rPr lang="zh-CN" altLang="en-US" sz="2400" dirty="0">
                <a:latin typeface="黑体" panose="02010609060101010101" pitchFamily="49" charset="-122"/>
                <a:ea typeface="黑体" panose="02010609060101010101" pitchFamily="49" charset="-122"/>
                <a:cs typeface="黑体" panose="02010609060101010101" pitchFamily="49" charset="-122"/>
              </a:rPr>
              <a:t>对于多元回归模型：</a:t>
            </a:r>
            <a:endParaRPr lang="zh-CN" altLang="en-US" sz="2400" dirty="0">
              <a:latin typeface="黑体" panose="02010609060101010101" pitchFamily="49" charset="-122"/>
              <a:ea typeface="黑体" panose="02010609060101010101" pitchFamily="49" charset="-122"/>
              <a:cs typeface="黑体" panose="02010609060101010101" pitchFamily="49" charset="-122"/>
            </a:endParaRPr>
          </a:p>
        </p:txBody>
      </p:sp>
      <p:graphicFrame>
        <p:nvGraphicFramePr>
          <p:cNvPr id="23555" name="Object 4"/>
          <p:cNvGraphicFramePr/>
          <p:nvPr/>
        </p:nvGraphicFramePr>
        <p:xfrm>
          <a:off x="5219700" y="1492250"/>
          <a:ext cx="1903413" cy="471488"/>
        </p:xfrm>
        <a:graphic>
          <a:graphicData uri="http://schemas.openxmlformats.org/presentationml/2006/ole">
            <mc:AlternateContent xmlns:mc="http://schemas.openxmlformats.org/markup-compatibility/2006">
              <mc:Choice xmlns:v="urn:schemas-microsoft-com:vml" Requires="v">
                <p:oleObj spid="_x0000_s25601" name="Equation" r:id="rId1" imgW="17068800" imgH="4876800" progId="Equation.DSMT4">
                  <p:embed/>
                </p:oleObj>
              </mc:Choice>
              <mc:Fallback>
                <p:oleObj name="Equation" r:id="rId1" imgW="17068800" imgH="4876800" progId="Equation.DSMT4">
                  <p:embed/>
                  <p:pic>
                    <p:nvPicPr>
                      <p:cNvPr id="0" name="图片 3166"/>
                      <p:cNvPicPr/>
                      <p:nvPr/>
                    </p:nvPicPr>
                    <p:blipFill>
                      <a:blip r:embed="rId2"/>
                      <a:stretch>
                        <a:fillRect/>
                      </a:stretch>
                    </p:blipFill>
                    <p:spPr>
                      <a:xfrm>
                        <a:off x="5219700" y="1492250"/>
                        <a:ext cx="1903413" cy="471488"/>
                      </a:xfrm>
                      <a:prstGeom prst="rect">
                        <a:avLst/>
                      </a:prstGeom>
                      <a:noFill/>
                      <a:ln w="38100">
                        <a:noFill/>
                        <a:miter/>
                      </a:ln>
                    </p:spPr>
                  </p:pic>
                </p:oleObj>
              </mc:Fallback>
            </mc:AlternateContent>
          </a:graphicData>
        </a:graphic>
      </p:graphicFrame>
      <p:sp>
        <p:nvSpPr>
          <p:cNvPr id="23556" name="Text Box 5"/>
          <p:cNvSpPr txBox="1"/>
          <p:nvPr/>
        </p:nvSpPr>
        <p:spPr>
          <a:xfrm>
            <a:off x="1905000" y="2057401"/>
            <a:ext cx="4742180" cy="476669"/>
          </a:xfrm>
          <a:prstGeom prst="rect">
            <a:avLst/>
          </a:prstGeom>
          <a:noFill/>
          <a:ln w="9525">
            <a:noFill/>
          </a:ln>
        </p:spPr>
        <p:txBody>
          <a:bodyPr wrap="square" anchor="t">
            <a:spAutoFit/>
          </a:bodyPr>
          <a:lstStyle/>
          <a:p>
            <a:pPr>
              <a:lnSpc>
                <a:spcPct val="120000"/>
              </a:lnSpc>
            </a:pPr>
            <a:r>
              <a:rPr lang="zh-CN" altLang="en-US" sz="2400" dirty="0">
                <a:latin typeface="黑体" panose="02010609060101010101" pitchFamily="49" charset="-122"/>
                <a:ea typeface="黑体" panose="02010609060101010101" pitchFamily="49" charset="-122"/>
              </a:rPr>
              <a:t>通过回归分析，得到回归方程</a:t>
            </a:r>
            <a:endParaRPr lang="zh-CN" altLang="en-US" sz="2400" dirty="0">
              <a:latin typeface="黑体" panose="02010609060101010101" pitchFamily="49" charset="-122"/>
              <a:ea typeface="黑体" panose="02010609060101010101" pitchFamily="49" charset="-122"/>
            </a:endParaRPr>
          </a:p>
        </p:txBody>
      </p:sp>
      <p:graphicFrame>
        <p:nvGraphicFramePr>
          <p:cNvPr id="23557" name="Object 6"/>
          <p:cNvGraphicFramePr/>
          <p:nvPr/>
        </p:nvGraphicFramePr>
        <p:xfrm>
          <a:off x="6302693" y="2015491"/>
          <a:ext cx="1471930" cy="530225"/>
        </p:xfrm>
        <a:graphic>
          <a:graphicData uri="http://schemas.openxmlformats.org/presentationml/2006/ole">
            <mc:AlternateContent xmlns:mc="http://schemas.openxmlformats.org/markup-compatibility/2006">
              <mc:Choice xmlns:v="urn:schemas-microsoft-com:vml" Requires="v">
                <p:oleObj spid="_x0000_s2" name="" r:id="rId3" imgW="508000" imgH="241300" progId="Equation.3">
                  <p:embed/>
                </p:oleObj>
              </mc:Choice>
              <mc:Fallback>
                <p:oleObj name="" r:id="rId3" imgW="508000" imgH="241300" progId="Equation.3">
                  <p:embed/>
                  <p:pic>
                    <p:nvPicPr>
                      <p:cNvPr id="0" name="图片 3161"/>
                      <p:cNvPicPr/>
                      <p:nvPr/>
                    </p:nvPicPr>
                    <p:blipFill>
                      <a:blip r:embed="rId4"/>
                      <a:stretch>
                        <a:fillRect/>
                      </a:stretch>
                    </p:blipFill>
                    <p:spPr>
                      <a:xfrm>
                        <a:off x="6302693" y="2015491"/>
                        <a:ext cx="1471930" cy="530225"/>
                      </a:xfrm>
                      <a:prstGeom prst="rect">
                        <a:avLst/>
                      </a:prstGeom>
                      <a:noFill/>
                      <a:ln w="38100">
                        <a:noFill/>
                        <a:miter/>
                      </a:ln>
                    </p:spPr>
                  </p:pic>
                </p:oleObj>
              </mc:Fallback>
            </mc:AlternateContent>
          </a:graphicData>
        </a:graphic>
      </p:graphicFrame>
      <p:sp>
        <p:nvSpPr>
          <p:cNvPr id="23558" name="Text Box 7"/>
          <p:cNvSpPr txBox="1"/>
          <p:nvPr/>
        </p:nvSpPr>
        <p:spPr>
          <a:xfrm>
            <a:off x="1905000" y="2591436"/>
            <a:ext cx="8382000" cy="934679"/>
          </a:xfrm>
          <a:prstGeom prst="rect">
            <a:avLst/>
          </a:prstGeom>
          <a:noFill/>
          <a:ln w="9525">
            <a:noFill/>
          </a:ln>
        </p:spPr>
        <p:txBody>
          <a:bodyPr anchor="t">
            <a:spAutoFit/>
          </a:bodyPr>
          <a:lstStyle/>
          <a:p>
            <a:pPr>
              <a:lnSpc>
                <a:spcPct val="120000"/>
              </a:lnSpc>
            </a:pPr>
            <a:r>
              <a:rPr lang="zh-CN" altLang="en-US" sz="2400" dirty="0">
                <a:latin typeface="Times New Roman" panose="02020503050405090304" pitchFamily="18" charset="0"/>
                <a:ea typeface="黑体" panose="02010609060101010101" pitchFamily="49" charset="-122"/>
                <a:cs typeface="Times New Roman" panose="02020503050405090304" pitchFamily="18" charset="0"/>
              </a:rPr>
              <a:t>后，就可根据给定的解释变量的一组值</a:t>
            </a:r>
            <a:r>
              <a:rPr lang="en-US" altLang="zh-CN" sz="2400" b="1" i="1" dirty="0">
                <a:latin typeface="Times New Roman" panose="02020503050405090304" pitchFamily="18" charset="0"/>
                <a:ea typeface="黑体" panose="02010609060101010101" pitchFamily="49" charset="-122"/>
                <a:cs typeface="Times New Roman" panose="02020503050405090304" pitchFamily="18" charset="0"/>
              </a:rPr>
              <a:t>x</a:t>
            </a:r>
            <a:r>
              <a:rPr lang="en-US" altLang="zh-CN" sz="2400" b="1" baseline="-25000" dirty="0">
                <a:latin typeface="Times New Roman" panose="02020503050405090304" pitchFamily="18" charset="0"/>
                <a:ea typeface="黑体" panose="02010609060101010101" pitchFamily="49" charset="-122"/>
                <a:cs typeface="Times New Roman" panose="02020503050405090304" pitchFamily="18" charset="0"/>
              </a:rPr>
              <a:t>0</a:t>
            </a:r>
            <a:r>
              <a:rPr lang="en-US" altLang="zh-CN" sz="2400" dirty="0">
                <a:latin typeface="Microsoft YaHei UI" panose="020B0503020204020204" pitchFamily="34" charset="-122"/>
                <a:ea typeface="Microsoft YaHei UI" panose="020B0503020204020204" pitchFamily="34" charset="-122"/>
                <a:cs typeface="Times New Roman" panose="02020503050405090304" pitchFamily="18" charset="0"/>
              </a:rPr>
              <a:t>’</a:t>
            </a:r>
            <a:r>
              <a:rPr lang="en-US" altLang="zh-CN" sz="2400" dirty="0">
                <a:latin typeface="Times New Roman" panose="02020503050405090304" pitchFamily="18" charset="0"/>
                <a:ea typeface="黑体" panose="02010609060101010101" pitchFamily="49" charset="-122"/>
                <a:cs typeface="Times New Roman" panose="02020503050405090304" pitchFamily="18" charset="0"/>
              </a:rPr>
              <a:t> =(1, </a:t>
            </a:r>
            <a:r>
              <a:rPr lang="en-US" altLang="zh-CN" sz="2400" i="1" dirty="0">
                <a:latin typeface="Times New Roman" panose="02020503050405090304" pitchFamily="18" charset="0"/>
                <a:ea typeface="黑体" panose="02010609060101010101" pitchFamily="49" charset="-122"/>
                <a:cs typeface="Times New Roman" panose="02020503050405090304" pitchFamily="18" charset="0"/>
              </a:rPr>
              <a:t>x</a:t>
            </a:r>
            <a:r>
              <a:rPr lang="en-US" altLang="zh-CN" sz="2400" baseline="-25000" dirty="0">
                <a:latin typeface="Times New Roman" panose="02020503050405090304" pitchFamily="18" charset="0"/>
                <a:ea typeface="黑体" panose="02010609060101010101" pitchFamily="49" charset="-122"/>
                <a:cs typeface="Times New Roman" panose="02020503050405090304" pitchFamily="18" charset="0"/>
              </a:rPr>
              <a:t>01</a:t>
            </a:r>
            <a:r>
              <a:rPr lang="en-US" altLang="zh-CN" sz="2400" dirty="0">
                <a:latin typeface="Times New Roman" panose="02020503050405090304" pitchFamily="18" charset="0"/>
                <a:ea typeface="黑体" panose="02010609060101010101" pitchFamily="49" charset="-122"/>
                <a:cs typeface="Times New Roman" panose="02020503050405090304" pitchFamily="18" charset="0"/>
              </a:rPr>
              <a:t>, </a:t>
            </a:r>
            <a:r>
              <a:rPr lang="en-US" altLang="zh-CN" sz="2400" i="1" dirty="0">
                <a:latin typeface="Times New Roman" panose="02020503050405090304" pitchFamily="18" charset="0"/>
                <a:ea typeface="黑体" panose="02010609060101010101" pitchFamily="49" charset="-122"/>
                <a:cs typeface="Times New Roman" panose="02020503050405090304" pitchFamily="18" charset="0"/>
              </a:rPr>
              <a:t>x</a:t>
            </a:r>
            <a:r>
              <a:rPr lang="en-US" altLang="zh-CN" sz="2400" baseline="-25000" dirty="0">
                <a:latin typeface="Times New Roman" panose="02020503050405090304" pitchFamily="18" charset="0"/>
                <a:ea typeface="黑体" panose="02010609060101010101" pitchFamily="49" charset="-122"/>
                <a:cs typeface="Times New Roman" panose="02020503050405090304" pitchFamily="18" charset="0"/>
              </a:rPr>
              <a:t>02</a:t>
            </a:r>
            <a:r>
              <a:rPr lang="en-US" altLang="zh-CN" sz="2400" dirty="0">
                <a:latin typeface="Times New Roman" panose="02020503050405090304" pitchFamily="18" charset="0"/>
                <a:ea typeface="黑体" panose="02010609060101010101" pitchFamily="49" charset="-122"/>
                <a:cs typeface="Times New Roman" panose="02020503050405090304" pitchFamily="18" charset="0"/>
              </a:rPr>
              <a:t>, …, </a:t>
            </a:r>
            <a:r>
              <a:rPr lang="zh-CN" altLang="en-US" sz="2400" dirty="0">
                <a:latin typeface="Times New Roman" panose="02020503050405090304" pitchFamily="18" charset="0"/>
                <a:ea typeface="黑体" panose="02010609060101010101" pitchFamily="49" charset="-122"/>
                <a:cs typeface="Times New Roman" panose="02020503050405090304" pitchFamily="18" charset="0"/>
              </a:rPr>
              <a:t> </a:t>
            </a:r>
            <a:r>
              <a:rPr lang="en-US" altLang="zh-CN" sz="2400" i="1" dirty="0">
                <a:latin typeface="Times New Roman" panose="02020503050405090304" pitchFamily="18" charset="0"/>
                <a:ea typeface="黑体" panose="02010609060101010101" pitchFamily="49" charset="-122"/>
                <a:cs typeface="Times New Roman" panose="02020503050405090304" pitchFamily="18" charset="0"/>
              </a:rPr>
              <a:t>x</a:t>
            </a:r>
            <a:r>
              <a:rPr lang="en-US" altLang="zh-CN" sz="2400" baseline="-25000" dirty="0">
                <a:latin typeface="Times New Roman" panose="02020503050405090304" pitchFamily="18" charset="0"/>
                <a:ea typeface="黑体" panose="02010609060101010101" pitchFamily="49" charset="-122"/>
                <a:cs typeface="Times New Roman" panose="02020503050405090304" pitchFamily="18" charset="0"/>
              </a:rPr>
              <a:t>0</a:t>
            </a:r>
            <a:r>
              <a:rPr lang="en-US" altLang="zh-CN" sz="2400" i="1" baseline="-25000" dirty="0">
                <a:latin typeface="Times New Roman" panose="02020503050405090304" pitchFamily="18" charset="0"/>
                <a:ea typeface="黑体" panose="02010609060101010101" pitchFamily="49" charset="-122"/>
                <a:cs typeface="Times New Roman" panose="02020503050405090304" pitchFamily="18" charset="0"/>
              </a:rPr>
              <a:t>k</a:t>
            </a:r>
            <a:r>
              <a:rPr lang="en-US" altLang="zh-CN" sz="2400" dirty="0">
                <a:latin typeface="Times New Roman" panose="02020503050405090304" pitchFamily="18" charset="0"/>
                <a:ea typeface="黑体" panose="02010609060101010101" pitchFamily="49" charset="-122"/>
                <a:cs typeface="Times New Roman" panose="02020503050405090304" pitchFamily="18" charset="0"/>
              </a:rPr>
              <a:t>)</a:t>
            </a:r>
            <a:r>
              <a:rPr lang="zh-CN" altLang="en-US" sz="2400" dirty="0">
                <a:latin typeface="Times New Roman" panose="02020503050405090304" pitchFamily="18" charset="0"/>
                <a:ea typeface="黑体" panose="02010609060101010101" pitchFamily="49" charset="-122"/>
                <a:cs typeface="Times New Roman" panose="02020503050405090304" pitchFamily="18" charset="0"/>
              </a:rPr>
              <a:t>，对因变量</a:t>
            </a:r>
            <a:r>
              <a:rPr lang="en-US" altLang="zh-CN" sz="2400" dirty="0">
                <a:latin typeface="Times New Roman" panose="02020503050405090304" pitchFamily="18" charset="0"/>
                <a:ea typeface="黑体" panose="02010609060101010101" pitchFamily="49" charset="-122"/>
                <a:cs typeface="Times New Roman" panose="02020503050405090304" pitchFamily="18" charset="0"/>
              </a:rPr>
              <a:t>Y</a:t>
            </a:r>
            <a:r>
              <a:rPr lang="zh-CN" altLang="en-US" sz="2400" dirty="0">
                <a:latin typeface="Times New Roman" panose="02020503050405090304" pitchFamily="18" charset="0"/>
                <a:ea typeface="黑体" panose="02010609060101010101" pitchFamily="49" charset="-122"/>
                <a:cs typeface="Times New Roman" panose="02020503050405090304" pitchFamily="18" charset="0"/>
              </a:rPr>
              <a:t>的值进行估计。</a:t>
            </a:r>
            <a:endParaRPr lang="zh-CN" altLang="en-US" sz="2400" dirty="0">
              <a:latin typeface="Times New Roman" panose="02020503050405090304" pitchFamily="18" charset="0"/>
              <a:ea typeface="黑体" panose="02010609060101010101" pitchFamily="49" charset="-122"/>
              <a:cs typeface="Times New Roman" panose="02020503050405090304" pitchFamily="18" charset="0"/>
            </a:endParaRPr>
          </a:p>
        </p:txBody>
      </p:sp>
      <p:graphicFrame>
        <p:nvGraphicFramePr>
          <p:cNvPr id="23559" name="Object 8"/>
          <p:cNvGraphicFramePr/>
          <p:nvPr/>
        </p:nvGraphicFramePr>
        <p:xfrm>
          <a:off x="2990850" y="3867150"/>
          <a:ext cx="5530850" cy="2192338"/>
        </p:xfrm>
        <a:graphic>
          <a:graphicData uri="http://schemas.openxmlformats.org/presentationml/2006/ole">
            <mc:AlternateContent xmlns:mc="http://schemas.openxmlformats.org/markup-compatibility/2006">
              <mc:Choice xmlns:v="urn:schemas-microsoft-com:vml" Requires="v">
                <p:oleObj spid="_x0000_s3" name="Equation" r:id="rId5" imgW="58826400" imgH="24993600" progId="Equation.DSMT4">
                  <p:embed/>
                </p:oleObj>
              </mc:Choice>
              <mc:Fallback>
                <p:oleObj name="Equation" r:id="rId5" imgW="58826400" imgH="24993600" progId="Equation.DSMT4">
                  <p:embed/>
                  <p:pic>
                    <p:nvPicPr>
                      <p:cNvPr id="0" name="图片 3164"/>
                      <p:cNvPicPr/>
                      <p:nvPr/>
                    </p:nvPicPr>
                    <p:blipFill>
                      <a:blip r:embed="rId6"/>
                      <a:stretch>
                        <a:fillRect/>
                      </a:stretch>
                    </p:blipFill>
                    <p:spPr>
                      <a:xfrm>
                        <a:off x="2990850" y="3867150"/>
                        <a:ext cx="5530850" cy="2192338"/>
                      </a:xfrm>
                      <a:prstGeom prst="rect">
                        <a:avLst/>
                      </a:prstGeom>
                      <a:noFill/>
                      <a:ln w="38100">
                        <a:noFill/>
                        <a:miter/>
                      </a:ln>
                    </p:spPr>
                  </p:pic>
                </p:oleObj>
              </mc:Fallback>
            </mc:AlternateContent>
          </a:graphicData>
        </a:graphic>
      </p:graphicFrame>
      <p:sp>
        <p:nvSpPr>
          <p:cNvPr id="23560" name="Text Box 9"/>
          <p:cNvSpPr txBox="1"/>
          <p:nvPr/>
        </p:nvSpPr>
        <p:spPr>
          <a:xfrm>
            <a:off x="2041525" y="3803016"/>
            <a:ext cx="2339102" cy="476669"/>
          </a:xfrm>
          <a:prstGeom prst="rect">
            <a:avLst/>
          </a:prstGeom>
          <a:noFill/>
          <a:ln w="9525">
            <a:noFill/>
          </a:ln>
        </p:spPr>
        <p:txBody>
          <a:bodyPr wrap="none" anchor="t">
            <a:spAutoFit/>
          </a:bodyPr>
          <a:lstStyle/>
          <a:p>
            <a:pPr>
              <a:lnSpc>
                <a:spcPct val="120000"/>
              </a:lnSpc>
            </a:pPr>
            <a:r>
              <a:rPr lang="zh-CN" altLang="en-US" sz="2400" dirty="0">
                <a:latin typeface="黑体" panose="02010609060101010101" pitchFamily="49" charset="-122"/>
                <a:ea typeface="黑体" panose="02010609060101010101" pitchFamily="49" charset="-122"/>
              </a:rPr>
              <a:t>（一）个值预测</a:t>
            </a:r>
            <a:endParaRPr lang="zh-CN" altLang="en-US" sz="2400" dirty="0">
              <a:latin typeface="黑体" panose="02010609060101010101" pitchFamily="49" charset="-122"/>
              <a:ea typeface="黑体" panose="02010609060101010101" pitchFamily="49" charset="-122"/>
            </a:endParaRPr>
          </a:p>
        </p:txBody>
      </p:sp>
      <p:grpSp>
        <p:nvGrpSpPr>
          <p:cNvPr id="23561" name="Group 10"/>
          <p:cNvGrpSpPr/>
          <p:nvPr/>
        </p:nvGrpSpPr>
        <p:grpSpPr>
          <a:xfrm>
            <a:off x="2819084" y="5822316"/>
            <a:ext cx="3844927" cy="533400"/>
            <a:chOff x="509" y="3536"/>
            <a:chExt cx="2422" cy="336"/>
          </a:xfrm>
        </p:grpSpPr>
        <p:sp>
          <p:nvSpPr>
            <p:cNvPr id="23562" name="Text Box 11"/>
            <p:cNvSpPr txBox="1"/>
            <p:nvPr/>
          </p:nvSpPr>
          <p:spPr>
            <a:xfrm>
              <a:off x="509" y="3536"/>
              <a:ext cx="2422" cy="311"/>
            </a:xfrm>
            <a:prstGeom prst="rect">
              <a:avLst/>
            </a:prstGeom>
            <a:noFill/>
            <a:ln w="9525">
              <a:noFill/>
            </a:ln>
          </p:spPr>
          <p:txBody>
            <a:bodyPr wrap="none" anchor="t">
              <a:spAutoFit/>
            </a:bodyPr>
            <a:lstStyle/>
            <a:p>
              <a:pPr>
                <a:lnSpc>
                  <a:spcPct val="120000"/>
                </a:lnSpc>
              </a:pPr>
              <a:r>
                <a:rPr lang="zh-CN" altLang="en-US" sz="2400" dirty="0">
                  <a:latin typeface="Times New Roman" panose="02020503050405090304" pitchFamily="18" charset="0"/>
                  <a:ea typeface="黑体" panose="02010609060101010101" pitchFamily="49" charset="-122"/>
                  <a:cs typeface="Times New Roman" panose="02020503050405090304" pitchFamily="18" charset="0"/>
                </a:rPr>
                <a:t>为</a:t>
              </a:r>
              <a:r>
                <a:rPr lang="en-US" altLang="zh-CN" sz="2400" i="1" dirty="0">
                  <a:latin typeface="Times New Roman" panose="02020503050405090304" pitchFamily="18" charset="0"/>
                  <a:ea typeface="黑体" panose="02010609060101010101" pitchFamily="49" charset="-122"/>
                  <a:cs typeface="Times New Roman" panose="02020503050405090304" pitchFamily="18" charset="0"/>
                </a:rPr>
                <a:t>Y</a:t>
              </a:r>
              <a:r>
                <a:rPr lang="en-US" altLang="zh-CN" sz="2400" baseline="-25000" dirty="0">
                  <a:latin typeface="Times New Roman" panose="02020503050405090304" pitchFamily="18" charset="0"/>
                  <a:ea typeface="黑体" panose="02010609060101010101" pitchFamily="49" charset="-122"/>
                  <a:cs typeface="Times New Roman" panose="02020503050405090304" pitchFamily="18" charset="0"/>
                </a:rPr>
                <a:t>0</a:t>
              </a:r>
              <a:r>
                <a:rPr lang="zh-CN" altLang="en-US" sz="2400" dirty="0">
                  <a:latin typeface="Times New Roman" panose="02020503050405090304" pitchFamily="18" charset="0"/>
                  <a:ea typeface="黑体" panose="02010609060101010101" pitchFamily="49" charset="-122"/>
                  <a:cs typeface="Times New Roman" panose="02020503050405090304" pitchFamily="18" charset="0"/>
                </a:rPr>
                <a:t>及                的预测值。</a:t>
              </a:r>
              <a:endParaRPr lang="zh-CN" altLang="en-US" sz="2400" dirty="0">
                <a:latin typeface="Times New Roman" panose="02020503050405090304" pitchFamily="18" charset="0"/>
                <a:ea typeface="黑体" panose="02010609060101010101" pitchFamily="49" charset="-122"/>
                <a:cs typeface="Times New Roman" panose="02020503050405090304" pitchFamily="18" charset="0"/>
              </a:endParaRPr>
            </a:p>
          </p:txBody>
        </p:sp>
        <p:graphicFrame>
          <p:nvGraphicFramePr>
            <p:cNvPr id="23563" name="Object 12"/>
            <p:cNvGraphicFramePr/>
            <p:nvPr/>
          </p:nvGraphicFramePr>
          <p:xfrm>
            <a:off x="1162" y="3557"/>
            <a:ext cx="753" cy="315"/>
          </p:xfrm>
          <a:graphic>
            <a:graphicData uri="http://schemas.openxmlformats.org/presentationml/2006/ole">
              <mc:AlternateContent xmlns:mc="http://schemas.openxmlformats.org/markup-compatibility/2006">
                <mc:Choice xmlns:v="urn:schemas-microsoft-com:vml" Requires="v">
                  <p:oleObj spid="_x0000_s4" name="Equation" r:id="rId7" imgW="14630400" imgH="6096000" progId="Equation.DSMT4">
                    <p:embed/>
                  </p:oleObj>
                </mc:Choice>
                <mc:Fallback>
                  <p:oleObj name="Equation" r:id="rId7" imgW="14630400" imgH="6096000" progId="Equation.DSMT4">
                    <p:embed/>
                    <p:pic>
                      <p:nvPicPr>
                        <p:cNvPr id="0" name="图片 3167"/>
                        <p:cNvPicPr/>
                        <p:nvPr/>
                      </p:nvPicPr>
                      <p:blipFill>
                        <a:blip r:embed="rId8"/>
                        <a:stretch>
                          <a:fillRect/>
                        </a:stretch>
                      </p:blipFill>
                      <p:spPr>
                        <a:xfrm>
                          <a:off x="1162" y="3557"/>
                          <a:ext cx="753" cy="315"/>
                        </a:xfrm>
                        <a:prstGeom prst="rect">
                          <a:avLst/>
                        </a:prstGeom>
                        <a:noFill/>
                        <a:ln w="38100">
                          <a:noFill/>
                          <a:miter/>
                        </a:ln>
                      </p:spPr>
                    </p:pic>
                  </p:oleObj>
                </mc:Fallback>
              </mc:AlternateContent>
            </a:graphicData>
          </a:graphic>
        </p:graphicFrame>
      </p:grpSp>
      <p:sp>
        <p:nvSpPr>
          <p:cNvPr id="23564" name="灯片编号占位符 14"/>
          <p:cNvSpPr>
            <a:spLocks noGrp="1"/>
          </p:cNvSpPr>
          <p:nvPr>
            <p:ph type="sldNum" sz="quarter" idx="12"/>
          </p:nvPr>
        </p:nvSpPr>
        <p:spPr/>
        <p:txBody>
          <a:bodyPr vert="horz" wrap="square" lIns="91440" tIns="45720" rIns="91440" bIns="45720" rtlCol="0" anchor="b">
            <a:no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algn="r"/>
            <a:fld id="{9A0DB2DC-4C9A-4742-B13C-FB6460FD3503}" type="slidenum">
              <a:rPr lang="en-US" altLang="zh-CN" sz="2400" dirty="0">
                <a:latin typeface="黑体" panose="02010609060101010101" pitchFamily="49" charset="-122"/>
                <a:ea typeface="黑体" panose="02010609060101010101" pitchFamily="49" charset="-122"/>
              </a:rPr>
            </a:fld>
            <a:endParaRPr lang="en-US" altLang="zh-CN" sz="2400" dirty="0">
              <a:latin typeface="黑体" panose="02010609060101010101" pitchFamily="49" charset="-122"/>
              <a:ea typeface="黑体" panose="02010609060101010101" pitchFamily="49" charset="-122"/>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ext Box 2"/>
          <p:cNvSpPr txBox="1"/>
          <p:nvPr/>
        </p:nvSpPr>
        <p:spPr>
          <a:xfrm>
            <a:off x="2065655" y="532131"/>
            <a:ext cx="4696460" cy="476669"/>
          </a:xfrm>
          <a:prstGeom prst="rect">
            <a:avLst/>
          </a:prstGeom>
          <a:noFill/>
          <a:ln w="9525">
            <a:noFill/>
          </a:ln>
        </p:spPr>
        <p:txBody>
          <a:bodyPr wrap="square" anchor="t">
            <a:spAutoFit/>
          </a:bodyPr>
          <a:lstStyle/>
          <a:p>
            <a:pPr>
              <a:lnSpc>
                <a:spcPct val="120000"/>
              </a:lnSpc>
            </a:pPr>
            <a:r>
              <a:rPr lang="zh-CN" altLang="en-US" sz="2400" dirty="0">
                <a:latin typeface="黑体" panose="02010609060101010101" pitchFamily="49" charset="-122"/>
                <a:ea typeface="黑体" panose="02010609060101010101" pitchFamily="49" charset="-122"/>
              </a:rPr>
              <a:t>（二）区间预测</a:t>
            </a:r>
            <a:endParaRPr lang="zh-CN" altLang="en-US" sz="2400" dirty="0">
              <a:latin typeface="黑体" panose="02010609060101010101" pitchFamily="49" charset="-122"/>
              <a:ea typeface="黑体" panose="02010609060101010101" pitchFamily="49" charset="-122"/>
            </a:endParaRPr>
          </a:p>
        </p:txBody>
      </p:sp>
      <p:graphicFrame>
        <p:nvGraphicFramePr>
          <p:cNvPr id="24578" name="Object 3"/>
          <p:cNvGraphicFramePr/>
          <p:nvPr/>
        </p:nvGraphicFramePr>
        <p:xfrm>
          <a:off x="2560638" y="1739900"/>
          <a:ext cx="6859587" cy="3379788"/>
        </p:xfrm>
        <a:graphic>
          <a:graphicData uri="http://schemas.openxmlformats.org/presentationml/2006/ole">
            <mc:AlternateContent xmlns:mc="http://schemas.openxmlformats.org/markup-compatibility/2006">
              <mc:Choice xmlns:v="urn:schemas-microsoft-com:vml" Requires="v">
                <p:oleObj spid="_x0000_s25601" name="Equation" r:id="rId1" imgW="75895200" imgH="40843200" progId="Equation.DSMT4">
                  <p:embed/>
                </p:oleObj>
              </mc:Choice>
              <mc:Fallback>
                <p:oleObj name="Equation" r:id="rId1" imgW="75895200" imgH="40843200" progId="Equation.DSMT4">
                  <p:embed/>
                  <p:pic>
                    <p:nvPicPr>
                      <p:cNvPr id="0" name="图片 3163"/>
                      <p:cNvPicPr/>
                      <p:nvPr/>
                    </p:nvPicPr>
                    <p:blipFill>
                      <a:blip r:embed="rId2"/>
                      <a:stretch>
                        <a:fillRect/>
                      </a:stretch>
                    </p:blipFill>
                    <p:spPr>
                      <a:xfrm>
                        <a:off x="2560638" y="1739900"/>
                        <a:ext cx="6859587" cy="3379788"/>
                      </a:xfrm>
                      <a:prstGeom prst="rect">
                        <a:avLst/>
                      </a:prstGeom>
                      <a:noFill/>
                      <a:ln w="38100">
                        <a:noFill/>
                        <a:miter/>
                      </a:ln>
                    </p:spPr>
                  </p:pic>
                </p:oleObj>
              </mc:Fallback>
            </mc:AlternateContent>
          </a:graphicData>
        </a:graphic>
      </p:graphicFrame>
      <p:sp>
        <p:nvSpPr>
          <p:cNvPr id="24579" name="灯片编号占位符 5"/>
          <p:cNvSpPr>
            <a:spLocks noGrp="1"/>
          </p:cNvSpPr>
          <p:nvPr>
            <p:ph type="sldNum" sz="quarter" idx="12"/>
          </p:nvPr>
        </p:nvSpPr>
        <p:spPr/>
        <p:txBody>
          <a:bodyPr vert="horz" wrap="square" lIns="91440" tIns="45720" rIns="91440" bIns="45720" rtlCol="0" anchor="b">
            <a:norm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algn="r"/>
            <a:fld id="{9A0DB2DC-4C9A-4742-B13C-FB6460FD3503}" type="slidenum">
              <a:rPr lang="en-US" altLang="zh-CN" sz="1400" dirty="0"/>
            </a:fld>
            <a:endParaRPr lang="en-US" altLang="zh-CN" sz="14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ext Box 2"/>
          <p:cNvSpPr txBox="1"/>
          <p:nvPr/>
        </p:nvSpPr>
        <p:spPr>
          <a:xfrm>
            <a:off x="2350135" y="346711"/>
            <a:ext cx="3290570" cy="476669"/>
          </a:xfrm>
          <a:prstGeom prst="rect">
            <a:avLst/>
          </a:prstGeom>
          <a:noFill/>
          <a:ln w="9525">
            <a:noFill/>
          </a:ln>
        </p:spPr>
        <p:txBody>
          <a:bodyPr wrap="square" anchor="t">
            <a:spAutoFit/>
          </a:bodyPr>
          <a:lstStyle/>
          <a:p>
            <a:pPr>
              <a:lnSpc>
                <a:spcPct val="120000"/>
              </a:lnSpc>
            </a:pPr>
            <a:r>
              <a:rPr lang="zh-CN" altLang="en-US" sz="2400" dirty="0">
                <a:latin typeface="黑体" panose="02010609060101010101" pitchFamily="49" charset="-122"/>
                <a:ea typeface="黑体" panose="02010609060101010101" pitchFamily="49" charset="-122"/>
              </a:rPr>
              <a:t>（二）区间预测</a:t>
            </a:r>
            <a:endParaRPr lang="zh-CN" altLang="en-US" sz="2400" dirty="0">
              <a:latin typeface="黑体" panose="02010609060101010101" pitchFamily="49" charset="-122"/>
              <a:ea typeface="黑体" panose="02010609060101010101" pitchFamily="49" charset="-122"/>
            </a:endParaRPr>
          </a:p>
        </p:txBody>
      </p:sp>
      <p:graphicFrame>
        <p:nvGraphicFramePr>
          <p:cNvPr id="25602" name="Object 3"/>
          <p:cNvGraphicFramePr/>
          <p:nvPr/>
        </p:nvGraphicFramePr>
        <p:xfrm>
          <a:off x="3348038" y="5397500"/>
          <a:ext cx="5886450" cy="569913"/>
        </p:xfrm>
        <a:graphic>
          <a:graphicData uri="http://schemas.openxmlformats.org/presentationml/2006/ole">
            <mc:AlternateContent xmlns:mc="http://schemas.openxmlformats.org/markup-compatibility/2006">
              <mc:Choice xmlns:v="urn:schemas-microsoft-com:vml" Requires="v">
                <p:oleObj spid="_x0000_s2" name="Equation" r:id="rId1" imgW="51206400" imgH="6096000" progId="Equation.DSMT4">
                  <p:embed/>
                </p:oleObj>
              </mc:Choice>
              <mc:Fallback>
                <p:oleObj name="Equation" r:id="rId1" imgW="51206400" imgH="6096000" progId="Equation.DSMT4">
                  <p:embed/>
                  <p:pic>
                    <p:nvPicPr>
                      <p:cNvPr id="0" name="图片 3162"/>
                      <p:cNvPicPr/>
                      <p:nvPr/>
                    </p:nvPicPr>
                    <p:blipFill>
                      <a:blip r:embed="rId2"/>
                      <a:stretch>
                        <a:fillRect/>
                      </a:stretch>
                    </p:blipFill>
                    <p:spPr>
                      <a:xfrm>
                        <a:off x="3348038" y="5397500"/>
                        <a:ext cx="5886450" cy="569913"/>
                      </a:xfrm>
                      <a:prstGeom prst="rect">
                        <a:avLst/>
                      </a:prstGeom>
                      <a:noFill/>
                      <a:ln w="38100">
                        <a:noFill/>
                        <a:miter/>
                      </a:ln>
                    </p:spPr>
                  </p:pic>
                </p:oleObj>
              </mc:Fallback>
            </mc:AlternateContent>
          </a:graphicData>
        </a:graphic>
      </p:graphicFrame>
      <p:sp>
        <p:nvSpPr>
          <p:cNvPr id="25603" name="灯片编号占位符 5"/>
          <p:cNvSpPr>
            <a:spLocks noGrp="1"/>
          </p:cNvSpPr>
          <p:nvPr>
            <p:ph type="sldNum" sz="quarter" idx="12"/>
          </p:nvPr>
        </p:nvSpPr>
        <p:spPr/>
        <p:txBody>
          <a:bodyPr vert="horz" wrap="square" lIns="91440" tIns="45720" rIns="91440" bIns="45720" rtlCol="0" anchor="b">
            <a:norm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algn="r"/>
            <a:fld id="{9A0DB2DC-4C9A-4742-B13C-FB6460FD3503}" type="slidenum">
              <a:rPr lang="en-US" altLang="zh-CN" sz="1400" dirty="0"/>
            </a:fld>
            <a:endParaRPr lang="en-US" altLang="zh-CN" sz="1400" dirty="0"/>
          </a:p>
        </p:txBody>
      </p:sp>
      <p:graphicFrame>
        <p:nvGraphicFramePr>
          <p:cNvPr id="3" name="对象 2"/>
          <p:cNvGraphicFramePr/>
          <p:nvPr/>
        </p:nvGraphicFramePr>
        <p:xfrm>
          <a:off x="4403725" y="1827213"/>
          <a:ext cx="3095625" cy="671512"/>
        </p:xfrm>
        <a:graphic>
          <a:graphicData uri="http://schemas.openxmlformats.org/presentationml/2006/ole">
            <mc:AlternateContent xmlns:mc="http://schemas.openxmlformats.org/markup-compatibility/2006">
              <mc:Choice xmlns:v="urn:schemas-microsoft-com:vml" Requires="v">
                <p:oleObj spid="_x0000_s4" name="Equation" r:id="rId3" imgW="42976800" imgH="7924800" progId="Equation.DSMT4">
                  <p:embed/>
                </p:oleObj>
              </mc:Choice>
              <mc:Fallback>
                <p:oleObj name="Equation" r:id="rId3" imgW="42976800" imgH="7924800" progId="Equation.DSMT4">
                  <p:embed/>
                  <p:pic>
                    <p:nvPicPr>
                      <p:cNvPr id="0" name="图片 2"/>
                      <p:cNvPicPr/>
                      <p:nvPr/>
                    </p:nvPicPr>
                    <p:blipFill>
                      <a:blip r:embed="rId4"/>
                      <a:stretch>
                        <a:fillRect/>
                      </a:stretch>
                    </p:blipFill>
                    <p:spPr>
                      <a:xfrm>
                        <a:off x="4403725" y="1827213"/>
                        <a:ext cx="3095625" cy="671512"/>
                      </a:xfrm>
                      <a:prstGeom prst="rect">
                        <a:avLst/>
                      </a:prstGeom>
                    </p:spPr>
                  </p:pic>
                </p:oleObj>
              </mc:Fallback>
            </mc:AlternateContent>
          </a:graphicData>
        </a:graphic>
      </p:graphicFrame>
      <p:graphicFrame>
        <p:nvGraphicFramePr>
          <p:cNvPr id="5" name="对象 4"/>
          <p:cNvGraphicFramePr/>
          <p:nvPr/>
        </p:nvGraphicFramePr>
        <p:xfrm>
          <a:off x="3560763" y="3529013"/>
          <a:ext cx="4032250" cy="957262"/>
        </p:xfrm>
        <a:graphic>
          <a:graphicData uri="http://schemas.openxmlformats.org/presentationml/2006/ole">
            <mc:AlternateContent xmlns:mc="http://schemas.openxmlformats.org/markup-compatibility/2006">
              <mc:Choice xmlns:v="urn:schemas-microsoft-com:vml" Requires="v">
                <p:oleObj spid="_x0000_s6" name="Equation" r:id="rId5" imgW="34747200" imgH="11277600" progId="Equation.DSMT4">
                  <p:embed/>
                </p:oleObj>
              </mc:Choice>
              <mc:Fallback>
                <p:oleObj name="Equation" r:id="rId5" imgW="34747200" imgH="11277600" progId="Equation.DSMT4">
                  <p:embed/>
                  <p:pic>
                    <p:nvPicPr>
                      <p:cNvPr id="0" name="图片 4"/>
                      <p:cNvPicPr/>
                      <p:nvPr/>
                    </p:nvPicPr>
                    <p:blipFill>
                      <a:blip r:embed="rId6"/>
                      <a:stretch>
                        <a:fillRect/>
                      </a:stretch>
                    </p:blipFill>
                    <p:spPr>
                      <a:xfrm>
                        <a:off x="3560763" y="3529013"/>
                        <a:ext cx="4032250" cy="957262"/>
                      </a:xfrm>
                      <a:prstGeom prst="rect">
                        <a:avLst/>
                      </a:prstGeom>
                    </p:spPr>
                  </p:pic>
                </p:oleObj>
              </mc:Fallback>
            </mc:AlternateContent>
          </a:graphicData>
        </a:graphic>
      </p:graphicFrame>
      <p:sp>
        <p:nvSpPr>
          <p:cNvPr id="7" name="Text Box 2"/>
          <p:cNvSpPr txBox="1"/>
          <p:nvPr/>
        </p:nvSpPr>
        <p:spPr>
          <a:xfrm>
            <a:off x="2602230" y="1169036"/>
            <a:ext cx="3290570" cy="476669"/>
          </a:xfrm>
          <a:prstGeom prst="rect">
            <a:avLst/>
          </a:prstGeom>
          <a:noFill/>
          <a:ln w="9525">
            <a:noFill/>
          </a:ln>
        </p:spPr>
        <p:txBody>
          <a:bodyPr wrap="square" anchor="t">
            <a:spAutoFit/>
          </a:bodyPr>
          <a:lstStyle/>
          <a:p>
            <a:pPr>
              <a:lnSpc>
                <a:spcPct val="120000"/>
              </a:lnSpc>
            </a:pPr>
            <a:r>
              <a:rPr lang="zh-CN" altLang="en-US" sz="2400" dirty="0">
                <a:latin typeface="黑体" panose="02010609060101010101" pitchFamily="49" charset="-122"/>
                <a:ea typeface="黑体" panose="02010609060101010101" pitchFamily="49" charset="-122"/>
              </a:rPr>
              <a:t>预测误差的标准差为</a:t>
            </a:r>
            <a:endParaRPr lang="zh-CN" altLang="en-US" sz="2400" dirty="0">
              <a:latin typeface="黑体" panose="02010609060101010101" pitchFamily="49" charset="-122"/>
              <a:ea typeface="黑体" panose="02010609060101010101" pitchFamily="49" charset="-122"/>
            </a:endParaRPr>
          </a:p>
        </p:txBody>
      </p:sp>
      <p:sp>
        <p:nvSpPr>
          <p:cNvPr id="8" name="Text Box 2"/>
          <p:cNvSpPr txBox="1"/>
          <p:nvPr/>
        </p:nvSpPr>
        <p:spPr>
          <a:xfrm>
            <a:off x="2449195" y="2824481"/>
            <a:ext cx="3290570" cy="493148"/>
          </a:xfrm>
          <a:prstGeom prst="rect">
            <a:avLst/>
          </a:prstGeom>
          <a:noFill/>
          <a:ln w="9525">
            <a:noFill/>
          </a:ln>
        </p:spPr>
        <p:txBody>
          <a:bodyPr wrap="square" anchor="t">
            <a:spAutoFit/>
          </a:bodyPr>
          <a:lstStyle/>
          <a:p>
            <a:pPr>
              <a:lnSpc>
                <a:spcPct val="120000"/>
              </a:lnSpc>
            </a:pPr>
            <a:r>
              <a:rPr lang="en-US" altLang="zh-CN" sz="2400" i="1" dirty="0">
                <a:latin typeface="Times New Roman" panose="02020503050405090304" pitchFamily="18" charset="0"/>
                <a:ea typeface="黑体" panose="02010609060101010101" pitchFamily="49" charset="-122"/>
                <a:cs typeface="Times New Roman" panose="02020503050405090304" pitchFamily="18" charset="0"/>
              </a:rPr>
              <a:t>t</a:t>
            </a:r>
            <a:r>
              <a:rPr lang="zh-CN" altLang="en-US" sz="2400" dirty="0">
                <a:latin typeface="Times New Roman" panose="02020503050405090304" pitchFamily="18" charset="0"/>
                <a:ea typeface="黑体" panose="02010609060101010101" pitchFamily="49" charset="-122"/>
                <a:cs typeface="Times New Roman" panose="02020503050405090304" pitchFamily="18" charset="0"/>
              </a:rPr>
              <a:t>统计量为</a:t>
            </a:r>
            <a:endParaRPr lang="zh-CN" altLang="en-US" sz="2400" dirty="0">
              <a:latin typeface="Times New Roman" panose="02020503050405090304" pitchFamily="18" charset="0"/>
              <a:ea typeface="黑体" panose="02010609060101010101" pitchFamily="49" charset="-122"/>
              <a:cs typeface="Times New Roman" panose="02020503050405090304" pitchFamily="18" charset="0"/>
            </a:endParaRPr>
          </a:p>
        </p:txBody>
      </p:sp>
      <p:sp>
        <p:nvSpPr>
          <p:cNvPr id="9" name="Text Box 2"/>
          <p:cNvSpPr txBox="1"/>
          <p:nvPr/>
        </p:nvSpPr>
        <p:spPr>
          <a:xfrm>
            <a:off x="2045970" y="4739641"/>
            <a:ext cx="7880350" cy="476669"/>
          </a:xfrm>
          <a:prstGeom prst="rect">
            <a:avLst/>
          </a:prstGeom>
          <a:noFill/>
          <a:ln w="9525">
            <a:noFill/>
          </a:ln>
        </p:spPr>
        <p:txBody>
          <a:bodyPr wrap="square" anchor="t">
            <a:spAutoFit/>
          </a:bodyPr>
          <a:lstStyle/>
          <a:p>
            <a:pPr>
              <a:lnSpc>
                <a:spcPct val="120000"/>
              </a:lnSpc>
            </a:pPr>
            <a:r>
              <a:rPr lang="zh-CN" altLang="en-US" sz="2400" dirty="0">
                <a:latin typeface="黑体" panose="02010609060101010101" pitchFamily="49" charset="-122"/>
                <a:ea typeface="黑体" panose="02010609060101010101" pitchFamily="49" charset="-122"/>
              </a:rPr>
              <a:t> 给定置信水平为      ，预测值   的置信区间为：</a:t>
            </a:r>
            <a:endParaRPr lang="zh-CN" altLang="en-US" sz="2400" dirty="0">
              <a:latin typeface="黑体" panose="02010609060101010101" pitchFamily="49" charset="-122"/>
              <a:ea typeface="黑体" panose="02010609060101010101" pitchFamily="49" charset="-122"/>
            </a:endParaRPr>
          </a:p>
        </p:txBody>
      </p:sp>
      <p:graphicFrame>
        <p:nvGraphicFramePr>
          <p:cNvPr id="10" name="对象 9">
            <a:hlinkClick r:id="" action="ppaction://ole?verb=0"/>
          </p:cNvPr>
          <p:cNvGraphicFramePr>
            <a:graphicFrameLocks noChangeAspect="1"/>
          </p:cNvGraphicFramePr>
          <p:nvPr/>
        </p:nvGraphicFramePr>
        <p:xfrm>
          <a:off x="4488816" y="4793615"/>
          <a:ext cx="791845" cy="480060"/>
        </p:xfrm>
        <a:graphic>
          <a:graphicData uri="http://schemas.openxmlformats.org/presentationml/2006/ole">
            <mc:AlternateContent xmlns:mc="http://schemas.openxmlformats.org/markup-compatibility/2006">
              <mc:Choice xmlns:v="urn:schemas-microsoft-com:vml" Requires="v">
                <p:oleObj spid="_x0000_s11" name="" r:id="rId7" imgW="292100" imgH="177165" progId="Equation.KSEE3">
                  <p:embed/>
                </p:oleObj>
              </mc:Choice>
              <mc:Fallback>
                <p:oleObj name="" r:id="rId7" imgW="292100" imgH="177165" progId="Equation.KSEE3">
                  <p:embed/>
                  <p:pic>
                    <p:nvPicPr>
                      <p:cNvPr id="0" name="图片 1024"/>
                      <p:cNvPicPr/>
                      <p:nvPr/>
                    </p:nvPicPr>
                    <p:blipFill>
                      <a:blip r:embed="rId8"/>
                      <a:stretch>
                        <a:fillRect/>
                      </a:stretch>
                    </p:blipFill>
                    <p:spPr>
                      <a:xfrm>
                        <a:off x="4488816" y="4793615"/>
                        <a:ext cx="791845" cy="480060"/>
                      </a:xfrm>
                      <a:prstGeom prst="rect">
                        <a:avLst/>
                      </a:prstGeom>
                    </p:spPr>
                  </p:pic>
                </p:oleObj>
              </mc:Fallback>
            </mc:AlternateContent>
          </a:graphicData>
        </a:graphic>
      </p:graphicFrame>
      <p:graphicFrame>
        <p:nvGraphicFramePr>
          <p:cNvPr id="12" name="对象 11"/>
          <p:cNvGraphicFramePr/>
          <p:nvPr/>
        </p:nvGraphicFramePr>
        <p:xfrm>
          <a:off x="6557011" y="4615180"/>
          <a:ext cx="414655" cy="693420"/>
        </p:xfrm>
        <a:graphic>
          <a:graphicData uri="http://schemas.openxmlformats.org/presentationml/2006/ole">
            <mc:AlternateContent xmlns:mc="http://schemas.openxmlformats.org/markup-compatibility/2006">
              <mc:Choice xmlns:v="urn:schemas-microsoft-com:vml" Requires="v">
                <p:oleObj spid="_x0000_s13" name="" r:id="rId9" imgW="473710" imgH="658495" progId="Equation.DSMT4">
                  <p:embed/>
                </p:oleObj>
              </mc:Choice>
              <mc:Fallback>
                <p:oleObj name="" r:id="rId9" imgW="473710" imgH="658495" progId="Equation.DSMT4">
                  <p:embed/>
                  <p:pic>
                    <p:nvPicPr>
                      <p:cNvPr id="0" name="图片 10"/>
                      <p:cNvPicPr/>
                      <p:nvPr/>
                    </p:nvPicPr>
                    <p:blipFill>
                      <a:blip r:embed="rId10"/>
                      <a:stretch>
                        <a:fillRect/>
                      </a:stretch>
                    </p:blipFill>
                    <p:spPr>
                      <a:xfrm>
                        <a:off x="6557011" y="4615180"/>
                        <a:ext cx="414655" cy="693420"/>
                      </a:xfrm>
                      <a:prstGeom prst="rect">
                        <a:avLst/>
                      </a:prstGeom>
                    </p:spPr>
                  </p:pic>
                </p:oleObj>
              </mc:Fallback>
            </mc:AlternateContent>
          </a:graphicData>
        </a:graphic>
      </p:graphicFrame>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3"/>
          <p:cNvSpPr/>
          <p:nvPr/>
        </p:nvSpPr>
        <p:spPr>
          <a:xfrm>
            <a:off x="5829300" y="3300413"/>
            <a:ext cx="9144000" cy="369332"/>
          </a:xfrm>
          <a:prstGeom prst="rect">
            <a:avLst/>
          </a:prstGeom>
          <a:noFill/>
          <a:ln w="9525">
            <a:noFill/>
          </a:ln>
        </p:spPr>
        <p:txBody>
          <a:bodyPr anchor="t">
            <a:spAutoFit/>
          </a:bodyPr>
          <a:lstStyle/>
          <a:p>
            <a:endParaRPr lang="zh-CN" altLang="en-US" dirty="0">
              <a:latin typeface="Tahoma" panose="020B0604030504040204" pitchFamily="34" charset="0"/>
              <a:ea typeface="宋体" pitchFamily="2" charset="-122"/>
            </a:endParaRPr>
          </a:p>
        </p:txBody>
      </p:sp>
      <p:sp>
        <p:nvSpPr>
          <p:cNvPr id="26627" name="Rectangle 5"/>
          <p:cNvSpPr/>
          <p:nvPr/>
        </p:nvSpPr>
        <p:spPr>
          <a:xfrm>
            <a:off x="3824288" y="3276600"/>
            <a:ext cx="9144000" cy="369332"/>
          </a:xfrm>
          <a:prstGeom prst="rect">
            <a:avLst/>
          </a:prstGeom>
          <a:noFill/>
          <a:ln w="9525">
            <a:noFill/>
          </a:ln>
        </p:spPr>
        <p:txBody>
          <a:bodyPr anchor="t">
            <a:spAutoFit/>
          </a:bodyPr>
          <a:lstStyle/>
          <a:p>
            <a:endParaRPr lang="zh-CN" altLang="en-US" dirty="0">
              <a:latin typeface="Tahoma" panose="020B0604030504040204" pitchFamily="34" charset="0"/>
              <a:ea typeface="宋体" pitchFamily="2" charset="-122"/>
            </a:endParaRPr>
          </a:p>
        </p:txBody>
      </p:sp>
      <p:sp>
        <p:nvSpPr>
          <p:cNvPr id="26628" name="Text Box 8"/>
          <p:cNvSpPr txBox="1"/>
          <p:nvPr/>
        </p:nvSpPr>
        <p:spPr>
          <a:xfrm>
            <a:off x="2362836" y="1149985"/>
            <a:ext cx="7009765" cy="3883755"/>
          </a:xfrm>
          <a:prstGeom prst="rect">
            <a:avLst/>
          </a:prstGeom>
          <a:noFill/>
          <a:ln w="9525">
            <a:noFill/>
          </a:ln>
        </p:spPr>
        <p:txBody>
          <a:bodyPr wrap="square" anchor="t">
            <a:spAutoFit/>
          </a:bodyPr>
          <a:lstStyle/>
          <a:p>
            <a:pPr>
              <a:lnSpc>
                <a:spcPct val="150000"/>
              </a:lnSpc>
            </a:pPr>
            <a:r>
              <a:rPr lang="zh-CN" altLang="en-US" sz="2400" dirty="0">
                <a:latin typeface="黑体" panose="02010609060101010101" pitchFamily="49" charset="-122"/>
                <a:ea typeface="黑体" panose="02010609060101010101" pitchFamily="49" charset="-122"/>
                <a:cs typeface="黑体" panose="02010609060101010101" pitchFamily="49" charset="-122"/>
              </a:rPr>
              <a:t>例</a:t>
            </a:r>
            <a:r>
              <a:rPr lang="en-US" altLang="zh-CN" sz="2400" dirty="0">
                <a:latin typeface="黑体" panose="02010609060101010101" pitchFamily="49" charset="-122"/>
                <a:ea typeface="黑体" panose="02010609060101010101" pitchFamily="49" charset="-122"/>
                <a:cs typeface="黑体" panose="02010609060101010101" pitchFamily="49" charset="-122"/>
              </a:rPr>
              <a:t>7  </a:t>
            </a:r>
            <a:r>
              <a:rPr lang="zh-CN" altLang="en-US" sz="2400" dirty="0">
                <a:latin typeface="黑体" panose="02010609060101010101" pitchFamily="49" charset="-122"/>
                <a:ea typeface="黑体" panose="02010609060101010101" pitchFamily="49" charset="-122"/>
                <a:cs typeface="黑体" panose="02010609060101010101" pitchFamily="49" charset="-122"/>
              </a:rPr>
              <a:t>某商业公司在十五个地区开有分店，现欲准备在一新地区开一分店。现有十五个地区的销售额数据及所在地区的人口数、人均收入数据，如下表所示。为预测新开地区分店的销售额情况，试建立该公司分店销售额与所在地区人口数、人均收入的回归模型。 已知新地区人口数为</a:t>
            </a:r>
            <a:r>
              <a:rPr lang="en-US" altLang="zh-CN" sz="2400" dirty="0">
                <a:latin typeface="黑体" panose="02010609060101010101" pitchFamily="49" charset="-122"/>
                <a:ea typeface="黑体" panose="02010609060101010101" pitchFamily="49" charset="-122"/>
                <a:cs typeface="黑体" panose="02010609060101010101" pitchFamily="49" charset="-122"/>
              </a:rPr>
              <a:t>120</a:t>
            </a:r>
            <a:r>
              <a:rPr lang="zh-CN" altLang="en-US" sz="2400" dirty="0">
                <a:latin typeface="黑体" panose="02010609060101010101" pitchFamily="49" charset="-122"/>
                <a:ea typeface="黑体" panose="02010609060101010101" pitchFamily="49" charset="-122"/>
                <a:cs typeface="黑体" panose="02010609060101010101" pitchFamily="49" charset="-122"/>
              </a:rPr>
              <a:t>万人，月人均收入为</a:t>
            </a:r>
            <a:r>
              <a:rPr lang="en-US" altLang="zh-CN" sz="2400" dirty="0">
                <a:latin typeface="黑体" panose="02010609060101010101" pitchFamily="49" charset="-122"/>
                <a:ea typeface="黑体" panose="02010609060101010101" pitchFamily="49" charset="-122"/>
                <a:cs typeface="黑体" panose="02010609060101010101" pitchFamily="49" charset="-122"/>
              </a:rPr>
              <a:t>2000</a:t>
            </a:r>
            <a:r>
              <a:rPr lang="zh-CN" altLang="en-US" sz="2400" dirty="0">
                <a:latin typeface="黑体" panose="02010609060101010101" pitchFamily="49" charset="-122"/>
                <a:ea typeface="黑体" panose="02010609060101010101" pitchFamily="49" charset="-122"/>
                <a:cs typeface="黑体" panose="02010609060101010101" pitchFamily="49" charset="-122"/>
              </a:rPr>
              <a:t>元，请预测该地区公司分店的销售额。</a:t>
            </a:r>
            <a:endParaRPr lang="zh-CN" altLang="en-US" sz="2400" dirty="0">
              <a:latin typeface="黑体" panose="02010609060101010101" pitchFamily="49" charset="-122"/>
              <a:ea typeface="黑体" panose="02010609060101010101" pitchFamily="49" charset="-122"/>
              <a:cs typeface="黑体" panose="02010609060101010101" pitchFamily="49" charset="-122"/>
            </a:endParaRPr>
          </a:p>
        </p:txBody>
      </p:sp>
      <p:sp>
        <p:nvSpPr>
          <p:cNvPr id="26629" name="灯片编号占位符 7"/>
          <p:cNvSpPr>
            <a:spLocks noGrp="1"/>
          </p:cNvSpPr>
          <p:nvPr>
            <p:ph type="sldNum" sz="quarter" idx="12"/>
          </p:nvPr>
        </p:nvSpPr>
        <p:spPr/>
        <p:txBody>
          <a:bodyPr vert="horz" wrap="square" lIns="91440" tIns="45720" rIns="91440" bIns="45720" rtlCol="0" anchor="b">
            <a:norm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algn="r"/>
            <a:fld id="{9A0DB2DC-4C9A-4742-B13C-FB6460FD3503}" type="slidenum">
              <a:rPr lang="en-US" altLang="zh-CN" sz="1400" dirty="0"/>
            </a:fld>
            <a:endParaRPr lang="en-US" altLang="zh-CN" sz="14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灯片编号占位符 1"/>
          <p:cNvSpPr>
            <a:spLocks noGrp="1"/>
          </p:cNvSpPr>
          <p:nvPr>
            <p:ph type="sldNum" sz="quarter" idx="12"/>
          </p:nvPr>
        </p:nvSpPr>
        <p:spPr/>
        <p:txBody>
          <a:bodyPr vert="horz" wrap="square" lIns="91440" tIns="45720" rIns="91440" bIns="45720" rtlCol="0" anchor="b">
            <a:norm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algn="r"/>
            <a:fld id="{9A0DB2DC-4C9A-4742-B13C-FB6460FD3503}" type="slidenum">
              <a:rPr lang="en-US" altLang="zh-CN" sz="1400" dirty="0"/>
            </a:fld>
            <a:endParaRPr lang="en-US" altLang="zh-CN" sz="1400" dirty="0"/>
          </a:p>
        </p:txBody>
      </p:sp>
      <p:graphicFrame>
        <p:nvGraphicFramePr>
          <p:cNvPr id="43011" name="表格 43010"/>
          <p:cNvGraphicFramePr/>
          <p:nvPr/>
        </p:nvGraphicFramePr>
        <p:xfrm>
          <a:off x="2809875" y="1440815"/>
          <a:ext cx="6286500" cy="4915852"/>
        </p:xfrm>
        <a:graphic>
          <a:graphicData uri="http://schemas.openxmlformats.org/drawingml/2006/table">
            <a:tbl>
              <a:tblPr/>
              <a:tblGrid>
                <a:gridCol w="1571625"/>
                <a:gridCol w="1571625"/>
                <a:gridCol w="1571625"/>
                <a:gridCol w="1571625"/>
              </a:tblGrid>
              <a:tr h="65405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just" eaLnBrk="1" fontAlgn="b" hangingPunct="1">
                        <a:buNone/>
                      </a:pPr>
                      <a:r>
                        <a:rPr lang="zh-CN" altLang="en-US" b="1" dirty="0">
                          <a:latin typeface="宋体" pitchFamily="2" charset="-122"/>
                        </a:rPr>
                        <a:t>地区</a:t>
                      </a:r>
                      <a:endParaRPr lang="zh-CN" altLang="en-US" b="1" dirty="0">
                        <a:latin typeface="宋体" pitchFamily="2" charset="-122"/>
                      </a:endParaRPr>
                    </a:p>
                  </a:txBody>
                  <a:tcPr marL="9525" marR="9525" marT="9525"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just" eaLnBrk="1" fontAlgn="b" hangingPunct="1">
                        <a:buNone/>
                      </a:pPr>
                      <a:r>
                        <a:rPr lang="zh-CN" altLang="en-US" b="1" dirty="0">
                          <a:latin typeface="宋体" pitchFamily="2" charset="-122"/>
                        </a:rPr>
                        <a:t>销售额（万元）</a:t>
                      </a:r>
                      <a:endParaRPr lang="zh-CN" altLang="en-US" b="1" dirty="0">
                        <a:latin typeface="宋体" pitchFamily="2" charset="-122"/>
                      </a:endParaRPr>
                    </a:p>
                  </a:txBody>
                  <a:tcPr marL="9525" marR="9525" marT="9525"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just" eaLnBrk="1" fontAlgn="b" hangingPunct="1">
                        <a:buNone/>
                      </a:pPr>
                      <a:r>
                        <a:rPr lang="zh-CN" altLang="en-US" b="1" dirty="0">
                          <a:latin typeface="宋体" pitchFamily="2" charset="-122"/>
                        </a:rPr>
                        <a:t>人口数（万人）</a:t>
                      </a:r>
                      <a:endParaRPr lang="zh-CN" altLang="en-US" b="1" dirty="0">
                        <a:latin typeface="宋体" pitchFamily="2" charset="-122"/>
                      </a:endParaRPr>
                    </a:p>
                  </a:txBody>
                  <a:tcPr marL="9525" marR="9525" marT="9525"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just" eaLnBrk="1" fontAlgn="b" hangingPunct="1">
                        <a:buNone/>
                      </a:pPr>
                      <a:r>
                        <a:rPr lang="zh-CN" altLang="en-US" b="1" dirty="0">
                          <a:latin typeface="宋体" pitchFamily="2" charset="-122"/>
                        </a:rPr>
                        <a:t>月人均收入（元</a:t>
                      </a:r>
                      <a:r>
                        <a:rPr lang="en-US" altLang="zh-CN" b="1" dirty="0">
                          <a:latin typeface="Times New Roman" panose="02020503050405090304" pitchFamily="18" charset="0"/>
                        </a:rPr>
                        <a:t>/</a:t>
                      </a:r>
                      <a:r>
                        <a:rPr lang="zh-CN" altLang="en-US" b="1" dirty="0">
                          <a:latin typeface="宋体" pitchFamily="2" charset="-122"/>
                        </a:rPr>
                        <a:t>人）</a:t>
                      </a:r>
                      <a:endParaRPr lang="zh-CN" altLang="en-US" b="1" dirty="0">
                        <a:latin typeface="宋体" pitchFamily="2" charset="-122"/>
                      </a:endParaRPr>
                    </a:p>
                  </a:txBody>
                  <a:tcPr marL="9525" marR="9525" marT="9525"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84163">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r" eaLnBrk="1" fontAlgn="b" hangingPunct="1">
                        <a:buNone/>
                      </a:pPr>
                      <a:r>
                        <a:rPr lang="en-US" altLang="zh-CN" b="1" dirty="0">
                          <a:latin typeface="Times New Roman" panose="02020503050405090304" pitchFamily="18" charset="0"/>
                        </a:rPr>
                        <a:t>1</a:t>
                      </a:r>
                      <a:endParaRPr lang="en-US" altLang="zh-CN" b="1" dirty="0">
                        <a:latin typeface="Times New Roman" panose="02020503050405090304" pitchFamily="18" charset="0"/>
                      </a:endParaRPr>
                    </a:p>
                  </a:txBody>
                  <a:tcPr marL="9525" marR="9525" marT="9525"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r" eaLnBrk="1" fontAlgn="b" hangingPunct="1">
                        <a:buNone/>
                      </a:pPr>
                      <a:r>
                        <a:rPr lang="en-US" altLang="zh-CN" b="1" dirty="0">
                          <a:latin typeface="Times New Roman" panose="02020503050405090304" pitchFamily="18" charset="0"/>
                        </a:rPr>
                        <a:t>260</a:t>
                      </a:r>
                      <a:endParaRPr lang="en-US" altLang="zh-CN" b="1" dirty="0">
                        <a:latin typeface="Times New Roman" panose="02020503050405090304" pitchFamily="18" charset="0"/>
                      </a:endParaRPr>
                    </a:p>
                  </a:txBody>
                  <a:tcPr marL="9525" marR="9525" marT="9525"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r" eaLnBrk="1" fontAlgn="b" hangingPunct="1">
                        <a:buNone/>
                      </a:pPr>
                      <a:r>
                        <a:rPr lang="en-US" altLang="zh-CN" b="1" dirty="0">
                          <a:latin typeface="Times New Roman" panose="02020503050405090304" pitchFamily="18" charset="0"/>
                        </a:rPr>
                        <a:t>90</a:t>
                      </a:r>
                      <a:endParaRPr lang="en-US" altLang="zh-CN" b="1" dirty="0">
                        <a:latin typeface="Times New Roman" panose="02020503050405090304" pitchFamily="18" charset="0"/>
                      </a:endParaRPr>
                    </a:p>
                  </a:txBody>
                  <a:tcPr marL="9525" marR="9525" marT="9525"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r" eaLnBrk="1" fontAlgn="b" hangingPunct="1">
                        <a:buNone/>
                      </a:pPr>
                      <a:r>
                        <a:rPr lang="en-US" altLang="zh-CN" b="1" dirty="0">
                          <a:latin typeface="Times New Roman" panose="02020503050405090304" pitchFamily="18" charset="0"/>
                        </a:rPr>
                        <a:t>2200</a:t>
                      </a:r>
                      <a:endParaRPr lang="en-US" altLang="zh-CN" b="1" dirty="0">
                        <a:latin typeface="Times New Roman" panose="02020503050405090304" pitchFamily="18" charset="0"/>
                      </a:endParaRPr>
                    </a:p>
                  </a:txBody>
                  <a:tcPr marL="9525" marR="9525" marT="9525"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84162">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r" eaLnBrk="1" fontAlgn="b" hangingPunct="1">
                        <a:buNone/>
                      </a:pPr>
                      <a:r>
                        <a:rPr lang="en-US" altLang="zh-CN" b="1" dirty="0">
                          <a:latin typeface="Times New Roman" panose="02020503050405090304" pitchFamily="18" charset="0"/>
                        </a:rPr>
                        <a:t>2</a:t>
                      </a:r>
                      <a:endParaRPr lang="en-US" altLang="zh-CN" b="1" dirty="0">
                        <a:latin typeface="Times New Roman" panose="02020503050405090304" pitchFamily="18" charset="0"/>
                      </a:endParaRPr>
                    </a:p>
                  </a:txBody>
                  <a:tcPr marL="9525" marR="9525" marT="9525"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r" eaLnBrk="1" fontAlgn="b" hangingPunct="1">
                        <a:buNone/>
                      </a:pPr>
                      <a:r>
                        <a:rPr lang="en-US" altLang="zh-CN" b="1" dirty="0">
                          <a:latin typeface="Times New Roman" panose="02020503050405090304" pitchFamily="18" charset="0"/>
                        </a:rPr>
                        <a:t>250</a:t>
                      </a:r>
                      <a:endParaRPr lang="en-US" altLang="zh-CN" b="1" dirty="0">
                        <a:latin typeface="Times New Roman" panose="02020503050405090304" pitchFamily="18" charset="0"/>
                      </a:endParaRPr>
                    </a:p>
                  </a:txBody>
                  <a:tcPr marL="9525" marR="9525" marT="9525"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r" eaLnBrk="1" fontAlgn="b" hangingPunct="1">
                        <a:buNone/>
                      </a:pPr>
                      <a:r>
                        <a:rPr lang="en-US" altLang="zh-CN" b="1" dirty="0">
                          <a:latin typeface="Times New Roman" panose="02020503050405090304" pitchFamily="18" charset="0"/>
                        </a:rPr>
                        <a:t>75</a:t>
                      </a:r>
                      <a:endParaRPr lang="en-US" altLang="zh-CN" b="1" dirty="0">
                        <a:latin typeface="Times New Roman" panose="02020503050405090304" pitchFamily="18" charset="0"/>
                      </a:endParaRPr>
                    </a:p>
                  </a:txBody>
                  <a:tcPr marL="9525" marR="9525" marT="9525"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r" eaLnBrk="1" fontAlgn="b" hangingPunct="1">
                        <a:buNone/>
                      </a:pPr>
                      <a:r>
                        <a:rPr lang="en-US" altLang="zh-CN" b="1" dirty="0">
                          <a:latin typeface="Times New Roman" panose="02020503050405090304" pitchFamily="18" charset="0"/>
                        </a:rPr>
                        <a:t>1800</a:t>
                      </a:r>
                      <a:endParaRPr lang="en-US" altLang="zh-CN" b="1" dirty="0">
                        <a:latin typeface="Times New Roman" panose="02020503050405090304" pitchFamily="18" charset="0"/>
                      </a:endParaRPr>
                    </a:p>
                  </a:txBody>
                  <a:tcPr marL="9525" marR="9525" marT="9525"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84163">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r" eaLnBrk="1" fontAlgn="b" hangingPunct="1">
                        <a:buNone/>
                      </a:pPr>
                      <a:r>
                        <a:rPr lang="en-US" altLang="zh-CN" b="1" dirty="0">
                          <a:latin typeface="Times New Roman" panose="02020503050405090304" pitchFamily="18" charset="0"/>
                        </a:rPr>
                        <a:t>3</a:t>
                      </a:r>
                      <a:endParaRPr lang="en-US" altLang="zh-CN" b="1" dirty="0">
                        <a:latin typeface="Times New Roman" panose="02020503050405090304" pitchFamily="18" charset="0"/>
                      </a:endParaRPr>
                    </a:p>
                  </a:txBody>
                  <a:tcPr marL="9525" marR="9525" marT="9525"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r" eaLnBrk="1" fontAlgn="b" hangingPunct="1">
                        <a:buNone/>
                      </a:pPr>
                      <a:r>
                        <a:rPr lang="en-US" altLang="zh-CN" b="1" dirty="0">
                          <a:latin typeface="Times New Roman" panose="02020503050405090304" pitchFamily="18" charset="0"/>
                        </a:rPr>
                        <a:t>265</a:t>
                      </a:r>
                      <a:endParaRPr lang="en-US" altLang="zh-CN" b="1" dirty="0">
                        <a:latin typeface="Times New Roman" panose="02020503050405090304" pitchFamily="18" charset="0"/>
                      </a:endParaRPr>
                    </a:p>
                  </a:txBody>
                  <a:tcPr marL="9525" marR="9525" marT="9525"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r" eaLnBrk="1" fontAlgn="b" hangingPunct="1">
                        <a:buNone/>
                      </a:pPr>
                      <a:r>
                        <a:rPr lang="en-US" altLang="zh-CN" b="1" dirty="0">
                          <a:latin typeface="Times New Roman" panose="02020503050405090304" pitchFamily="18" charset="0"/>
                        </a:rPr>
                        <a:t>80</a:t>
                      </a:r>
                      <a:endParaRPr lang="en-US" altLang="zh-CN" b="1" dirty="0">
                        <a:latin typeface="Times New Roman" panose="02020503050405090304" pitchFamily="18" charset="0"/>
                      </a:endParaRPr>
                    </a:p>
                  </a:txBody>
                  <a:tcPr marL="9525" marR="9525" marT="9525"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r" eaLnBrk="1" fontAlgn="b" hangingPunct="1">
                        <a:buNone/>
                      </a:pPr>
                      <a:r>
                        <a:rPr lang="en-US" altLang="zh-CN" b="1" dirty="0">
                          <a:latin typeface="Times New Roman" panose="02020503050405090304" pitchFamily="18" charset="0"/>
                        </a:rPr>
                        <a:t>1600</a:t>
                      </a:r>
                      <a:endParaRPr lang="en-US" altLang="zh-CN" b="1" dirty="0">
                        <a:latin typeface="Times New Roman" panose="02020503050405090304" pitchFamily="18" charset="0"/>
                      </a:endParaRPr>
                    </a:p>
                  </a:txBody>
                  <a:tcPr marL="9525" marR="9525" marT="9525"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82575">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r" eaLnBrk="1" fontAlgn="b" hangingPunct="1">
                        <a:buNone/>
                      </a:pPr>
                      <a:r>
                        <a:rPr lang="en-US" altLang="zh-CN" b="1" dirty="0">
                          <a:latin typeface="Times New Roman" panose="02020503050405090304" pitchFamily="18" charset="0"/>
                        </a:rPr>
                        <a:t>4</a:t>
                      </a:r>
                      <a:endParaRPr lang="en-US" altLang="zh-CN" b="1" dirty="0">
                        <a:latin typeface="Times New Roman" panose="02020503050405090304" pitchFamily="18" charset="0"/>
                      </a:endParaRPr>
                    </a:p>
                  </a:txBody>
                  <a:tcPr marL="9525" marR="9525" marT="9525"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r" eaLnBrk="1" fontAlgn="b" hangingPunct="1">
                        <a:buNone/>
                      </a:pPr>
                      <a:r>
                        <a:rPr lang="en-US" altLang="zh-CN" b="1" dirty="0">
                          <a:latin typeface="Times New Roman" panose="02020503050405090304" pitchFamily="18" charset="0"/>
                        </a:rPr>
                        <a:t>225</a:t>
                      </a:r>
                      <a:endParaRPr lang="en-US" altLang="zh-CN" b="1" dirty="0">
                        <a:latin typeface="Times New Roman" panose="02020503050405090304" pitchFamily="18" charset="0"/>
                      </a:endParaRPr>
                    </a:p>
                  </a:txBody>
                  <a:tcPr marL="9525" marR="9525" marT="9525"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r" eaLnBrk="1" fontAlgn="b" hangingPunct="1">
                        <a:buNone/>
                      </a:pPr>
                      <a:r>
                        <a:rPr lang="en-US" altLang="zh-CN" b="1" dirty="0">
                          <a:latin typeface="Times New Roman" panose="02020503050405090304" pitchFamily="18" charset="0"/>
                        </a:rPr>
                        <a:t>70</a:t>
                      </a:r>
                      <a:endParaRPr lang="en-US" altLang="zh-CN" b="1" dirty="0">
                        <a:latin typeface="Times New Roman" panose="02020503050405090304" pitchFamily="18" charset="0"/>
                      </a:endParaRPr>
                    </a:p>
                  </a:txBody>
                  <a:tcPr marL="9525" marR="9525" marT="9525"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r" eaLnBrk="1" fontAlgn="b" hangingPunct="1">
                        <a:buNone/>
                      </a:pPr>
                      <a:r>
                        <a:rPr lang="en-US" altLang="zh-CN" b="1" dirty="0">
                          <a:latin typeface="Times New Roman" panose="02020503050405090304" pitchFamily="18" charset="0"/>
                        </a:rPr>
                        <a:t>1900</a:t>
                      </a:r>
                      <a:endParaRPr lang="en-US" altLang="zh-CN" b="1" dirty="0">
                        <a:latin typeface="Times New Roman" panose="02020503050405090304" pitchFamily="18" charset="0"/>
                      </a:endParaRPr>
                    </a:p>
                  </a:txBody>
                  <a:tcPr marL="9525" marR="9525" marT="9525"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84162">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r" eaLnBrk="1" fontAlgn="b" hangingPunct="1">
                        <a:buNone/>
                      </a:pPr>
                      <a:r>
                        <a:rPr lang="en-US" altLang="zh-CN" b="1" dirty="0">
                          <a:latin typeface="Times New Roman" panose="02020503050405090304" pitchFamily="18" charset="0"/>
                        </a:rPr>
                        <a:t>5</a:t>
                      </a:r>
                      <a:endParaRPr lang="en-US" altLang="zh-CN" b="1" dirty="0">
                        <a:latin typeface="Times New Roman" panose="02020503050405090304" pitchFamily="18" charset="0"/>
                      </a:endParaRPr>
                    </a:p>
                  </a:txBody>
                  <a:tcPr marL="9525" marR="9525" marT="9525"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r" eaLnBrk="1" fontAlgn="b" hangingPunct="1">
                        <a:buNone/>
                      </a:pPr>
                      <a:r>
                        <a:rPr lang="en-US" altLang="zh-CN" b="1" dirty="0">
                          <a:latin typeface="Times New Roman" panose="02020503050405090304" pitchFamily="18" charset="0"/>
                        </a:rPr>
                        <a:t>257</a:t>
                      </a:r>
                      <a:endParaRPr lang="en-US" altLang="zh-CN" b="1" dirty="0">
                        <a:latin typeface="Times New Roman" panose="02020503050405090304" pitchFamily="18" charset="0"/>
                      </a:endParaRPr>
                    </a:p>
                  </a:txBody>
                  <a:tcPr marL="9525" marR="9525" marT="9525"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r" eaLnBrk="1" fontAlgn="b" hangingPunct="1">
                        <a:buNone/>
                      </a:pPr>
                      <a:r>
                        <a:rPr lang="en-US" altLang="zh-CN" b="1" dirty="0">
                          <a:latin typeface="Times New Roman" panose="02020503050405090304" pitchFamily="18" charset="0"/>
                        </a:rPr>
                        <a:t>76</a:t>
                      </a:r>
                      <a:endParaRPr lang="en-US" altLang="zh-CN" b="1" dirty="0">
                        <a:latin typeface="Times New Roman" panose="02020503050405090304" pitchFamily="18" charset="0"/>
                      </a:endParaRPr>
                    </a:p>
                  </a:txBody>
                  <a:tcPr marL="9525" marR="9525" marT="9525"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r" eaLnBrk="1" fontAlgn="b" hangingPunct="1">
                        <a:buNone/>
                      </a:pPr>
                      <a:r>
                        <a:rPr lang="en-US" altLang="zh-CN" b="1" dirty="0">
                          <a:latin typeface="Times New Roman" panose="02020503050405090304" pitchFamily="18" charset="0"/>
                        </a:rPr>
                        <a:t>2000</a:t>
                      </a:r>
                      <a:endParaRPr lang="en-US" altLang="zh-CN" b="1" dirty="0">
                        <a:latin typeface="Times New Roman" panose="02020503050405090304" pitchFamily="18" charset="0"/>
                      </a:endParaRPr>
                    </a:p>
                  </a:txBody>
                  <a:tcPr marL="9525" marR="9525" marT="9525"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8448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r" eaLnBrk="1" fontAlgn="b" hangingPunct="1">
                        <a:buNone/>
                      </a:pPr>
                      <a:r>
                        <a:rPr lang="en-US" altLang="zh-CN" b="1" dirty="0">
                          <a:latin typeface="Times New Roman" panose="02020503050405090304" pitchFamily="18" charset="0"/>
                        </a:rPr>
                        <a:t>6</a:t>
                      </a:r>
                      <a:endParaRPr lang="en-US" altLang="zh-CN" b="1" dirty="0">
                        <a:latin typeface="Times New Roman" panose="02020503050405090304" pitchFamily="18" charset="0"/>
                      </a:endParaRPr>
                    </a:p>
                  </a:txBody>
                  <a:tcPr marL="9525" marR="9525" marT="9525"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r" eaLnBrk="1" fontAlgn="b" hangingPunct="1">
                        <a:buNone/>
                      </a:pPr>
                      <a:r>
                        <a:rPr lang="en-US" altLang="zh-CN" b="1" dirty="0">
                          <a:latin typeface="Times New Roman" panose="02020503050405090304" pitchFamily="18" charset="0"/>
                        </a:rPr>
                        <a:t>220</a:t>
                      </a:r>
                      <a:endParaRPr lang="en-US" altLang="zh-CN" b="1" dirty="0">
                        <a:latin typeface="Times New Roman" panose="02020503050405090304" pitchFamily="18" charset="0"/>
                      </a:endParaRPr>
                    </a:p>
                  </a:txBody>
                  <a:tcPr marL="9525" marR="9525" marT="9525"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r" eaLnBrk="1" fontAlgn="b" hangingPunct="1">
                        <a:buNone/>
                      </a:pPr>
                      <a:r>
                        <a:rPr lang="en-US" altLang="zh-CN" b="1" dirty="0">
                          <a:latin typeface="Times New Roman" panose="02020503050405090304" pitchFamily="18" charset="0"/>
                        </a:rPr>
                        <a:t>65</a:t>
                      </a:r>
                      <a:endParaRPr lang="en-US" altLang="zh-CN" b="1" dirty="0">
                        <a:latin typeface="Times New Roman" panose="02020503050405090304" pitchFamily="18" charset="0"/>
                      </a:endParaRPr>
                    </a:p>
                  </a:txBody>
                  <a:tcPr marL="9525" marR="9525" marT="9525"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r" eaLnBrk="1" fontAlgn="b" hangingPunct="1">
                        <a:buNone/>
                      </a:pPr>
                      <a:r>
                        <a:rPr lang="en-US" altLang="zh-CN" b="1" dirty="0">
                          <a:latin typeface="Times New Roman" panose="02020503050405090304" pitchFamily="18" charset="0"/>
                        </a:rPr>
                        <a:t>1800</a:t>
                      </a:r>
                      <a:endParaRPr lang="en-US" altLang="zh-CN" b="1" dirty="0">
                        <a:latin typeface="Times New Roman" panose="02020503050405090304" pitchFamily="18" charset="0"/>
                      </a:endParaRPr>
                    </a:p>
                  </a:txBody>
                  <a:tcPr marL="9525" marR="9525" marT="9525"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84162">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r" eaLnBrk="1" fontAlgn="b" hangingPunct="1">
                        <a:buNone/>
                      </a:pPr>
                      <a:r>
                        <a:rPr lang="en-US" altLang="zh-CN" b="1" dirty="0">
                          <a:latin typeface="Times New Roman" panose="02020503050405090304" pitchFamily="18" charset="0"/>
                        </a:rPr>
                        <a:t>7</a:t>
                      </a:r>
                      <a:endParaRPr lang="en-US" altLang="zh-CN" b="1" dirty="0">
                        <a:latin typeface="Times New Roman" panose="02020503050405090304" pitchFamily="18" charset="0"/>
                      </a:endParaRPr>
                    </a:p>
                  </a:txBody>
                  <a:tcPr marL="9525" marR="9525" marT="9525"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r" eaLnBrk="1" fontAlgn="b" hangingPunct="1">
                        <a:buNone/>
                      </a:pPr>
                      <a:r>
                        <a:rPr lang="en-US" altLang="zh-CN" b="1" dirty="0">
                          <a:latin typeface="Times New Roman" panose="02020503050405090304" pitchFamily="18" charset="0"/>
                        </a:rPr>
                        <a:t>200</a:t>
                      </a:r>
                      <a:endParaRPr lang="en-US" altLang="zh-CN" b="1" dirty="0">
                        <a:latin typeface="Times New Roman" panose="02020503050405090304" pitchFamily="18" charset="0"/>
                      </a:endParaRPr>
                    </a:p>
                  </a:txBody>
                  <a:tcPr marL="9525" marR="9525" marT="9525"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r" eaLnBrk="1" fontAlgn="b" hangingPunct="1">
                        <a:buNone/>
                      </a:pPr>
                      <a:r>
                        <a:rPr lang="en-US" altLang="zh-CN" b="1" dirty="0">
                          <a:latin typeface="Times New Roman" panose="02020503050405090304" pitchFamily="18" charset="0"/>
                        </a:rPr>
                        <a:t>72</a:t>
                      </a:r>
                      <a:endParaRPr lang="en-US" altLang="zh-CN" b="1" dirty="0">
                        <a:latin typeface="Times New Roman" panose="02020503050405090304" pitchFamily="18" charset="0"/>
                      </a:endParaRPr>
                    </a:p>
                  </a:txBody>
                  <a:tcPr marL="9525" marR="9525" marT="9525"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r" eaLnBrk="1" fontAlgn="b" hangingPunct="1">
                        <a:buNone/>
                      </a:pPr>
                      <a:r>
                        <a:rPr lang="en-US" altLang="zh-CN" b="1" dirty="0">
                          <a:latin typeface="Times New Roman" panose="02020503050405090304" pitchFamily="18" charset="0"/>
                        </a:rPr>
                        <a:t>1600</a:t>
                      </a:r>
                      <a:endParaRPr lang="en-US" altLang="zh-CN" b="1" dirty="0">
                        <a:latin typeface="Times New Roman" panose="02020503050405090304" pitchFamily="18" charset="0"/>
                      </a:endParaRPr>
                    </a:p>
                  </a:txBody>
                  <a:tcPr marL="9525" marR="9525" marT="9525"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84163">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r" eaLnBrk="1" fontAlgn="b" hangingPunct="1">
                        <a:buNone/>
                      </a:pPr>
                      <a:r>
                        <a:rPr lang="en-US" altLang="zh-CN" b="1" dirty="0">
                          <a:latin typeface="Times New Roman" panose="02020503050405090304" pitchFamily="18" charset="0"/>
                        </a:rPr>
                        <a:t>8</a:t>
                      </a:r>
                      <a:endParaRPr lang="en-US" altLang="zh-CN" b="1" dirty="0">
                        <a:latin typeface="Times New Roman" panose="02020503050405090304" pitchFamily="18" charset="0"/>
                      </a:endParaRPr>
                    </a:p>
                  </a:txBody>
                  <a:tcPr marL="9525" marR="9525" marT="9525"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r" eaLnBrk="1" fontAlgn="b" hangingPunct="1">
                        <a:buNone/>
                      </a:pPr>
                      <a:r>
                        <a:rPr lang="en-US" altLang="zh-CN" b="1" dirty="0">
                          <a:latin typeface="Times New Roman" panose="02020503050405090304" pitchFamily="18" charset="0"/>
                        </a:rPr>
                        <a:t>300</a:t>
                      </a:r>
                      <a:endParaRPr lang="en-US" altLang="zh-CN" b="1" dirty="0">
                        <a:latin typeface="Times New Roman" panose="02020503050405090304" pitchFamily="18" charset="0"/>
                      </a:endParaRPr>
                    </a:p>
                  </a:txBody>
                  <a:tcPr marL="9525" marR="9525" marT="9525"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r" eaLnBrk="1" fontAlgn="b" hangingPunct="1">
                        <a:buNone/>
                      </a:pPr>
                      <a:r>
                        <a:rPr lang="en-US" altLang="zh-CN" b="1" dirty="0">
                          <a:latin typeface="Times New Roman" panose="02020503050405090304" pitchFamily="18" charset="0"/>
                        </a:rPr>
                        <a:t>100</a:t>
                      </a:r>
                      <a:endParaRPr lang="en-US" altLang="zh-CN" b="1" dirty="0">
                        <a:latin typeface="Times New Roman" panose="02020503050405090304" pitchFamily="18" charset="0"/>
                      </a:endParaRPr>
                    </a:p>
                  </a:txBody>
                  <a:tcPr marL="9525" marR="9525" marT="9525"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r" eaLnBrk="1" fontAlgn="b" hangingPunct="1">
                        <a:buNone/>
                      </a:pPr>
                      <a:r>
                        <a:rPr lang="en-US" altLang="zh-CN" b="1" dirty="0">
                          <a:latin typeface="Times New Roman" panose="02020503050405090304" pitchFamily="18" charset="0"/>
                        </a:rPr>
                        <a:t>3200</a:t>
                      </a:r>
                      <a:endParaRPr lang="en-US" altLang="zh-CN" b="1" dirty="0">
                        <a:latin typeface="Times New Roman" panose="02020503050405090304" pitchFamily="18" charset="0"/>
                      </a:endParaRPr>
                    </a:p>
                  </a:txBody>
                  <a:tcPr marL="9525" marR="9525" marT="9525"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82575">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r" eaLnBrk="1" fontAlgn="b" hangingPunct="1">
                        <a:buNone/>
                      </a:pPr>
                      <a:r>
                        <a:rPr lang="en-US" altLang="zh-CN" b="1" dirty="0">
                          <a:latin typeface="Times New Roman" panose="02020503050405090304" pitchFamily="18" charset="0"/>
                        </a:rPr>
                        <a:t>9</a:t>
                      </a:r>
                      <a:endParaRPr lang="en-US" altLang="zh-CN" b="1" dirty="0">
                        <a:latin typeface="Times New Roman" panose="02020503050405090304" pitchFamily="18" charset="0"/>
                      </a:endParaRPr>
                    </a:p>
                  </a:txBody>
                  <a:tcPr marL="9525" marR="9525" marT="9525"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r" eaLnBrk="1" fontAlgn="b" hangingPunct="1">
                        <a:buNone/>
                      </a:pPr>
                      <a:r>
                        <a:rPr lang="en-US" altLang="zh-CN" b="1" dirty="0">
                          <a:latin typeface="Times New Roman" panose="02020503050405090304" pitchFamily="18" charset="0"/>
                        </a:rPr>
                        <a:t>180</a:t>
                      </a:r>
                      <a:endParaRPr lang="en-US" altLang="zh-CN" b="1" dirty="0">
                        <a:latin typeface="Times New Roman" panose="02020503050405090304" pitchFamily="18" charset="0"/>
                      </a:endParaRPr>
                    </a:p>
                  </a:txBody>
                  <a:tcPr marL="9525" marR="9525" marT="9525"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r" eaLnBrk="1" fontAlgn="b" hangingPunct="1">
                        <a:buNone/>
                      </a:pPr>
                      <a:r>
                        <a:rPr lang="en-US" altLang="zh-CN" b="1" dirty="0">
                          <a:latin typeface="Times New Roman" panose="02020503050405090304" pitchFamily="18" charset="0"/>
                        </a:rPr>
                        <a:t>50</a:t>
                      </a:r>
                      <a:endParaRPr lang="en-US" altLang="zh-CN" b="1" dirty="0">
                        <a:latin typeface="Times New Roman" panose="02020503050405090304" pitchFamily="18" charset="0"/>
                      </a:endParaRPr>
                    </a:p>
                  </a:txBody>
                  <a:tcPr marL="9525" marR="9525" marT="9525"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r" eaLnBrk="1" fontAlgn="b" hangingPunct="1">
                        <a:buNone/>
                      </a:pPr>
                      <a:r>
                        <a:rPr lang="en-US" altLang="zh-CN" b="1" dirty="0">
                          <a:latin typeface="Times New Roman" panose="02020503050405090304" pitchFamily="18" charset="0"/>
                        </a:rPr>
                        <a:t>1500</a:t>
                      </a:r>
                      <a:endParaRPr lang="en-US" altLang="zh-CN" b="1" dirty="0">
                        <a:latin typeface="Times New Roman" panose="02020503050405090304" pitchFamily="18" charset="0"/>
                      </a:endParaRPr>
                    </a:p>
                  </a:txBody>
                  <a:tcPr marL="9525" marR="9525" marT="9525"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84162">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r" eaLnBrk="1" fontAlgn="b" hangingPunct="1">
                        <a:buNone/>
                      </a:pPr>
                      <a:r>
                        <a:rPr lang="en-US" altLang="zh-CN" b="1" dirty="0">
                          <a:latin typeface="Times New Roman" panose="02020503050405090304" pitchFamily="18" charset="0"/>
                        </a:rPr>
                        <a:t>10</a:t>
                      </a:r>
                      <a:endParaRPr lang="en-US" altLang="zh-CN" b="1" dirty="0">
                        <a:latin typeface="Times New Roman" panose="02020503050405090304" pitchFamily="18" charset="0"/>
                      </a:endParaRPr>
                    </a:p>
                  </a:txBody>
                  <a:tcPr marL="9525" marR="9525" marT="9525"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r" eaLnBrk="1" fontAlgn="b" hangingPunct="1">
                        <a:buNone/>
                      </a:pPr>
                      <a:r>
                        <a:rPr lang="en-US" altLang="zh-CN" b="1" dirty="0">
                          <a:latin typeface="Times New Roman" panose="02020503050405090304" pitchFamily="18" charset="0"/>
                        </a:rPr>
                        <a:t>310</a:t>
                      </a:r>
                      <a:endParaRPr lang="en-US" altLang="zh-CN" b="1" dirty="0">
                        <a:latin typeface="Times New Roman" panose="02020503050405090304" pitchFamily="18" charset="0"/>
                      </a:endParaRPr>
                    </a:p>
                  </a:txBody>
                  <a:tcPr marL="9525" marR="9525" marT="9525"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r" eaLnBrk="1" fontAlgn="b" hangingPunct="1">
                        <a:buNone/>
                      </a:pPr>
                      <a:r>
                        <a:rPr lang="en-US" altLang="zh-CN" b="1" dirty="0">
                          <a:latin typeface="Times New Roman" panose="02020503050405090304" pitchFamily="18" charset="0"/>
                        </a:rPr>
                        <a:t>130</a:t>
                      </a:r>
                      <a:endParaRPr lang="en-US" altLang="zh-CN" b="1" dirty="0">
                        <a:latin typeface="Times New Roman" panose="02020503050405090304" pitchFamily="18" charset="0"/>
                      </a:endParaRPr>
                    </a:p>
                  </a:txBody>
                  <a:tcPr marL="9525" marR="9525" marT="9525"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r" eaLnBrk="1" fontAlgn="b" hangingPunct="1">
                        <a:buNone/>
                      </a:pPr>
                      <a:r>
                        <a:rPr lang="en-US" altLang="zh-CN" b="1" dirty="0">
                          <a:latin typeface="Times New Roman" panose="02020503050405090304" pitchFamily="18" charset="0"/>
                        </a:rPr>
                        <a:t>2800</a:t>
                      </a:r>
                      <a:endParaRPr lang="en-US" altLang="zh-CN" b="1" dirty="0">
                        <a:latin typeface="Times New Roman" panose="02020503050405090304" pitchFamily="18" charset="0"/>
                      </a:endParaRPr>
                    </a:p>
                  </a:txBody>
                  <a:tcPr marL="9525" marR="9525" marT="9525"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84163">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r" eaLnBrk="1" fontAlgn="b" hangingPunct="1">
                        <a:buNone/>
                      </a:pPr>
                      <a:r>
                        <a:rPr lang="en-US" altLang="zh-CN" b="1" dirty="0">
                          <a:latin typeface="Times New Roman" panose="02020503050405090304" pitchFamily="18" charset="0"/>
                        </a:rPr>
                        <a:t>11</a:t>
                      </a:r>
                      <a:endParaRPr lang="en-US" altLang="zh-CN" b="1" dirty="0">
                        <a:latin typeface="Times New Roman" panose="02020503050405090304" pitchFamily="18" charset="0"/>
                      </a:endParaRPr>
                    </a:p>
                  </a:txBody>
                  <a:tcPr marL="9525" marR="9525" marT="9525"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r" eaLnBrk="1" fontAlgn="b" hangingPunct="1">
                        <a:buNone/>
                      </a:pPr>
                      <a:r>
                        <a:rPr lang="en-US" altLang="zh-CN" b="1" dirty="0">
                          <a:latin typeface="Times New Roman" panose="02020503050405090304" pitchFamily="18" charset="0"/>
                        </a:rPr>
                        <a:t>160</a:t>
                      </a:r>
                      <a:endParaRPr lang="en-US" altLang="zh-CN" b="1" dirty="0">
                        <a:latin typeface="Times New Roman" panose="02020503050405090304" pitchFamily="18" charset="0"/>
                      </a:endParaRPr>
                    </a:p>
                  </a:txBody>
                  <a:tcPr marL="9525" marR="9525" marT="9525"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r" eaLnBrk="1" fontAlgn="b" hangingPunct="1">
                        <a:buNone/>
                      </a:pPr>
                      <a:r>
                        <a:rPr lang="en-US" altLang="zh-CN" b="1" dirty="0">
                          <a:latin typeface="Times New Roman" panose="02020503050405090304" pitchFamily="18" charset="0"/>
                        </a:rPr>
                        <a:t>52</a:t>
                      </a:r>
                      <a:endParaRPr lang="en-US" altLang="zh-CN" b="1" dirty="0">
                        <a:latin typeface="Times New Roman" panose="02020503050405090304" pitchFamily="18" charset="0"/>
                      </a:endParaRPr>
                    </a:p>
                  </a:txBody>
                  <a:tcPr marL="9525" marR="9525" marT="9525"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r" eaLnBrk="1" fontAlgn="b" hangingPunct="1">
                        <a:buNone/>
                      </a:pPr>
                      <a:r>
                        <a:rPr lang="en-US" altLang="zh-CN" b="1" dirty="0">
                          <a:latin typeface="Times New Roman" panose="02020503050405090304" pitchFamily="18" charset="0"/>
                        </a:rPr>
                        <a:t>1400</a:t>
                      </a:r>
                      <a:endParaRPr lang="en-US" altLang="zh-CN" b="1" dirty="0">
                        <a:latin typeface="Times New Roman" panose="02020503050405090304" pitchFamily="18" charset="0"/>
                      </a:endParaRPr>
                    </a:p>
                  </a:txBody>
                  <a:tcPr marL="9525" marR="9525" marT="9525"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84162">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r" eaLnBrk="1" fontAlgn="b" hangingPunct="1">
                        <a:buNone/>
                      </a:pPr>
                      <a:r>
                        <a:rPr lang="en-US" altLang="zh-CN" b="1" dirty="0">
                          <a:latin typeface="Times New Roman" panose="02020503050405090304" pitchFamily="18" charset="0"/>
                        </a:rPr>
                        <a:t>12</a:t>
                      </a:r>
                      <a:endParaRPr lang="en-US" altLang="zh-CN" b="1" dirty="0">
                        <a:latin typeface="Times New Roman" panose="02020503050405090304" pitchFamily="18" charset="0"/>
                      </a:endParaRPr>
                    </a:p>
                  </a:txBody>
                  <a:tcPr marL="9525" marR="9525" marT="9525"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r" eaLnBrk="1" fontAlgn="b" hangingPunct="1">
                        <a:buNone/>
                      </a:pPr>
                      <a:r>
                        <a:rPr lang="en-US" altLang="zh-CN" b="1" dirty="0">
                          <a:latin typeface="Times New Roman" panose="02020503050405090304" pitchFamily="18" charset="0"/>
                        </a:rPr>
                        <a:t>330</a:t>
                      </a:r>
                      <a:endParaRPr lang="en-US" altLang="zh-CN" b="1" dirty="0">
                        <a:latin typeface="Times New Roman" panose="02020503050405090304" pitchFamily="18" charset="0"/>
                      </a:endParaRPr>
                    </a:p>
                  </a:txBody>
                  <a:tcPr marL="9525" marR="9525" marT="9525"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r" eaLnBrk="1" fontAlgn="b" hangingPunct="1">
                        <a:buNone/>
                      </a:pPr>
                      <a:r>
                        <a:rPr lang="en-US" altLang="zh-CN" b="1" dirty="0">
                          <a:latin typeface="Times New Roman" panose="02020503050405090304" pitchFamily="18" charset="0"/>
                        </a:rPr>
                        <a:t>140</a:t>
                      </a:r>
                      <a:endParaRPr lang="en-US" altLang="zh-CN" b="1" dirty="0">
                        <a:latin typeface="Times New Roman" panose="02020503050405090304" pitchFamily="18" charset="0"/>
                      </a:endParaRPr>
                    </a:p>
                  </a:txBody>
                  <a:tcPr marL="9525" marR="9525" marT="9525"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r" eaLnBrk="1" fontAlgn="b" hangingPunct="1">
                        <a:buNone/>
                      </a:pPr>
                      <a:r>
                        <a:rPr lang="en-US" altLang="zh-CN" b="1" dirty="0">
                          <a:latin typeface="Times New Roman" panose="02020503050405090304" pitchFamily="18" charset="0"/>
                        </a:rPr>
                        <a:t>3600</a:t>
                      </a:r>
                      <a:endParaRPr lang="en-US" altLang="zh-CN" b="1" dirty="0">
                        <a:latin typeface="Times New Roman" panose="02020503050405090304" pitchFamily="18" charset="0"/>
                      </a:endParaRPr>
                    </a:p>
                  </a:txBody>
                  <a:tcPr marL="9525" marR="9525" marT="9525"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84163">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r" eaLnBrk="1" fontAlgn="b" hangingPunct="1">
                        <a:buNone/>
                      </a:pPr>
                      <a:r>
                        <a:rPr lang="en-US" altLang="zh-CN" b="1" dirty="0">
                          <a:latin typeface="Times New Roman" panose="02020503050405090304" pitchFamily="18" charset="0"/>
                        </a:rPr>
                        <a:t>13</a:t>
                      </a:r>
                      <a:endParaRPr lang="en-US" altLang="zh-CN" b="1" dirty="0">
                        <a:latin typeface="Times New Roman" panose="02020503050405090304" pitchFamily="18" charset="0"/>
                      </a:endParaRPr>
                    </a:p>
                  </a:txBody>
                  <a:tcPr marL="9525" marR="9525" marT="9525"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r" eaLnBrk="1" fontAlgn="b" hangingPunct="1">
                        <a:buNone/>
                      </a:pPr>
                      <a:r>
                        <a:rPr lang="en-US" altLang="zh-CN" b="1" dirty="0">
                          <a:latin typeface="Times New Roman" panose="02020503050405090304" pitchFamily="18" charset="0"/>
                        </a:rPr>
                        <a:t>140</a:t>
                      </a:r>
                      <a:endParaRPr lang="en-US" altLang="zh-CN" b="1" dirty="0">
                        <a:latin typeface="Times New Roman" panose="02020503050405090304" pitchFamily="18" charset="0"/>
                      </a:endParaRPr>
                    </a:p>
                  </a:txBody>
                  <a:tcPr marL="9525" marR="9525" marT="9525"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r" eaLnBrk="1" fontAlgn="b" hangingPunct="1">
                        <a:buNone/>
                      </a:pPr>
                      <a:r>
                        <a:rPr lang="en-US" altLang="zh-CN" b="1" dirty="0">
                          <a:latin typeface="Times New Roman" panose="02020503050405090304" pitchFamily="18" charset="0"/>
                        </a:rPr>
                        <a:t>42</a:t>
                      </a:r>
                      <a:endParaRPr lang="en-US" altLang="zh-CN" b="1" dirty="0">
                        <a:latin typeface="Times New Roman" panose="02020503050405090304" pitchFamily="18" charset="0"/>
                      </a:endParaRPr>
                    </a:p>
                  </a:txBody>
                  <a:tcPr marL="9525" marR="9525" marT="9525"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r" eaLnBrk="1" fontAlgn="b" hangingPunct="1">
                        <a:buNone/>
                      </a:pPr>
                      <a:r>
                        <a:rPr lang="en-US" altLang="zh-CN" b="1" dirty="0">
                          <a:latin typeface="Times New Roman" panose="02020503050405090304" pitchFamily="18" charset="0"/>
                        </a:rPr>
                        <a:t>1200</a:t>
                      </a:r>
                      <a:endParaRPr lang="en-US" altLang="zh-CN" b="1" dirty="0">
                        <a:latin typeface="Times New Roman" panose="02020503050405090304" pitchFamily="18" charset="0"/>
                      </a:endParaRPr>
                    </a:p>
                  </a:txBody>
                  <a:tcPr marL="9525" marR="9525" marT="9525"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82575">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r" eaLnBrk="1" fontAlgn="b" hangingPunct="1">
                        <a:buNone/>
                      </a:pPr>
                      <a:r>
                        <a:rPr lang="en-US" altLang="zh-CN" b="1" dirty="0">
                          <a:latin typeface="Times New Roman" panose="02020503050405090304" pitchFamily="18" charset="0"/>
                        </a:rPr>
                        <a:t>14</a:t>
                      </a:r>
                      <a:endParaRPr lang="en-US" altLang="zh-CN" b="1" dirty="0">
                        <a:latin typeface="Times New Roman" panose="02020503050405090304" pitchFamily="18" charset="0"/>
                      </a:endParaRPr>
                    </a:p>
                  </a:txBody>
                  <a:tcPr marL="9525" marR="9525" marT="9525"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r" eaLnBrk="1" fontAlgn="b" hangingPunct="1">
                        <a:buNone/>
                      </a:pPr>
                      <a:r>
                        <a:rPr lang="en-US" altLang="zh-CN" b="1" dirty="0">
                          <a:latin typeface="Times New Roman" panose="02020503050405090304" pitchFamily="18" charset="0"/>
                        </a:rPr>
                        <a:t>350</a:t>
                      </a:r>
                      <a:endParaRPr lang="en-US" altLang="zh-CN" b="1" dirty="0">
                        <a:latin typeface="Times New Roman" panose="02020503050405090304" pitchFamily="18" charset="0"/>
                      </a:endParaRPr>
                    </a:p>
                  </a:txBody>
                  <a:tcPr marL="9525" marR="9525" marT="9525"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r" eaLnBrk="1" fontAlgn="b" hangingPunct="1">
                        <a:buNone/>
                      </a:pPr>
                      <a:r>
                        <a:rPr lang="en-US" altLang="zh-CN" b="1" dirty="0">
                          <a:latin typeface="Times New Roman" panose="02020503050405090304" pitchFamily="18" charset="0"/>
                        </a:rPr>
                        <a:t>180</a:t>
                      </a:r>
                      <a:endParaRPr lang="en-US" altLang="zh-CN" b="1" dirty="0">
                        <a:latin typeface="Times New Roman" panose="02020503050405090304" pitchFamily="18" charset="0"/>
                      </a:endParaRPr>
                    </a:p>
                  </a:txBody>
                  <a:tcPr marL="9525" marR="9525" marT="9525"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r" eaLnBrk="1" fontAlgn="b" hangingPunct="1">
                        <a:buNone/>
                      </a:pPr>
                      <a:r>
                        <a:rPr lang="en-US" altLang="zh-CN" b="1" dirty="0">
                          <a:latin typeface="Times New Roman" panose="02020503050405090304" pitchFamily="18" charset="0"/>
                        </a:rPr>
                        <a:t>2900</a:t>
                      </a:r>
                      <a:endParaRPr lang="en-US" altLang="zh-CN" b="1" dirty="0">
                        <a:latin typeface="Times New Roman" panose="02020503050405090304" pitchFamily="18" charset="0"/>
                      </a:endParaRPr>
                    </a:p>
                  </a:txBody>
                  <a:tcPr marL="9525" marR="9525" marT="9525"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84162">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r" eaLnBrk="1" fontAlgn="b" hangingPunct="1">
                        <a:buNone/>
                      </a:pPr>
                      <a:r>
                        <a:rPr lang="en-US" altLang="zh-CN" b="1" dirty="0">
                          <a:latin typeface="Times New Roman" panose="02020503050405090304" pitchFamily="18" charset="0"/>
                        </a:rPr>
                        <a:t>15</a:t>
                      </a:r>
                      <a:endParaRPr lang="en-US" altLang="zh-CN" b="1" dirty="0">
                        <a:latin typeface="Times New Roman" panose="02020503050405090304" pitchFamily="18" charset="0"/>
                      </a:endParaRPr>
                    </a:p>
                  </a:txBody>
                  <a:tcPr marL="9525" marR="9525" marT="9525"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r" eaLnBrk="1" fontAlgn="b" hangingPunct="1">
                        <a:buNone/>
                      </a:pPr>
                      <a:r>
                        <a:rPr lang="en-US" altLang="zh-CN" b="1" dirty="0">
                          <a:latin typeface="Times New Roman" panose="02020503050405090304" pitchFamily="18" charset="0"/>
                        </a:rPr>
                        <a:t>120</a:t>
                      </a:r>
                      <a:endParaRPr lang="en-US" altLang="zh-CN" b="1" dirty="0">
                        <a:latin typeface="Times New Roman" panose="02020503050405090304" pitchFamily="18" charset="0"/>
                      </a:endParaRPr>
                    </a:p>
                  </a:txBody>
                  <a:tcPr marL="9525" marR="9525" marT="9525"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r" eaLnBrk="1" fontAlgn="b" hangingPunct="1">
                        <a:buNone/>
                      </a:pPr>
                      <a:r>
                        <a:rPr lang="en-US" altLang="zh-CN" b="1" dirty="0">
                          <a:latin typeface="Times New Roman" panose="02020503050405090304" pitchFamily="18" charset="0"/>
                        </a:rPr>
                        <a:t>40</a:t>
                      </a:r>
                      <a:endParaRPr lang="en-US" altLang="zh-CN" b="1" dirty="0">
                        <a:latin typeface="Times New Roman" panose="02020503050405090304" pitchFamily="18" charset="0"/>
                      </a:endParaRPr>
                    </a:p>
                  </a:txBody>
                  <a:tcPr marL="9525" marR="9525" marT="9525"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r" eaLnBrk="1" fontAlgn="b" hangingPunct="1">
                        <a:buNone/>
                      </a:pPr>
                      <a:r>
                        <a:rPr lang="en-US" altLang="zh-CN" b="1" dirty="0">
                          <a:latin typeface="Times New Roman" panose="02020503050405090304" pitchFamily="18" charset="0"/>
                        </a:rPr>
                        <a:t>1000</a:t>
                      </a:r>
                      <a:endParaRPr lang="en-US" altLang="zh-CN" b="1" dirty="0">
                        <a:latin typeface="Times New Roman" panose="02020503050405090304" pitchFamily="18" charset="0"/>
                      </a:endParaRPr>
                    </a:p>
                  </a:txBody>
                  <a:tcPr marL="9525" marR="9525" marT="9525"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bl>
          </a:graphicData>
        </a:graphic>
      </p:graphicFrame>
      <p:sp>
        <p:nvSpPr>
          <p:cNvPr id="27737" name="Text Box 2"/>
          <p:cNvSpPr txBox="1"/>
          <p:nvPr/>
        </p:nvSpPr>
        <p:spPr>
          <a:xfrm>
            <a:off x="2809875" y="494030"/>
            <a:ext cx="4526280" cy="645160"/>
          </a:xfrm>
          <a:prstGeom prst="rect">
            <a:avLst/>
          </a:prstGeom>
          <a:noFill/>
          <a:ln w="9525">
            <a:noFill/>
          </a:ln>
        </p:spPr>
        <p:txBody>
          <a:bodyPr wrap="square" anchor="t">
            <a:spAutoFit/>
          </a:bodyPr>
          <a:lstStyle/>
          <a:p>
            <a:pPr>
              <a:spcBef>
                <a:spcPct val="50000"/>
              </a:spcBef>
            </a:pPr>
            <a:r>
              <a:rPr lang="zh-CN" altLang="en-US" sz="3600" dirty="0">
                <a:solidFill>
                  <a:schemeClr val="tx2"/>
                </a:solidFill>
                <a:latin typeface="Tahoma" panose="020B0604030504040204" pitchFamily="34" charset="0"/>
                <a:ea typeface="宋体" pitchFamily="2" charset="-122"/>
              </a:rPr>
              <a:t>数据表</a:t>
            </a:r>
            <a:endParaRPr lang="zh-CN" altLang="en-US" sz="3600" dirty="0">
              <a:solidFill>
                <a:schemeClr val="tx2"/>
              </a:solidFill>
              <a:latin typeface="Tahoma" panose="020B0604030504040204" pitchFamily="34" charset="0"/>
              <a:ea typeface="宋体" pitchFamily="2" charset="-122"/>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5"/>
          <p:cNvSpPr txBox="1">
            <a:spLocks noChangeArrowheads="1"/>
          </p:cNvSpPr>
          <p:nvPr/>
        </p:nvSpPr>
        <p:spPr bwMode="auto">
          <a:xfrm>
            <a:off x="1828801" y="982715"/>
            <a:ext cx="8397875" cy="129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dirty="0"/>
              <a:t>   </a:t>
            </a:r>
            <a:r>
              <a:rPr lang="zh-CN" altLang="en-US" sz="3200" b="1" dirty="0">
                <a:solidFill>
                  <a:srgbClr val="FF0000"/>
                </a:solidFill>
              </a:rPr>
              <a:t>解   </a:t>
            </a:r>
            <a:r>
              <a:rPr lang="zh-CN" altLang="en-US" sz="2800" b="1" dirty="0"/>
              <a:t>使用</a:t>
            </a:r>
            <a:r>
              <a:rPr lang="en-US" altLang="zh-CN" sz="2800" b="1" dirty="0" err="1"/>
              <a:t>statsmodels</a:t>
            </a:r>
            <a:r>
              <a:rPr lang="en-US" altLang="zh-CN" sz="2800" b="1" dirty="0"/>
              <a:t> API</a:t>
            </a:r>
            <a:r>
              <a:rPr lang="zh-CN" altLang="en-US" sz="2800" b="1" dirty="0"/>
              <a:t>中的</a:t>
            </a:r>
            <a:r>
              <a:rPr lang="en-US" altLang="zh-CN" sz="2800" b="1" dirty="0"/>
              <a:t>OLS</a:t>
            </a:r>
            <a:r>
              <a:rPr lang="zh-CN" altLang="en-US" sz="2800" b="1" dirty="0"/>
              <a:t>函数完成经典多元线性回归分析中的估计和检验问题</a:t>
            </a:r>
            <a:r>
              <a:rPr lang="en-US" altLang="zh-CN" sz="2800" b="1" dirty="0"/>
              <a:t>.</a:t>
            </a:r>
            <a:endParaRPr lang="en-US" altLang="zh-CN" sz="2800" b="1" dirty="0"/>
          </a:p>
          <a:p>
            <a:r>
              <a:rPr lang="en-US" altLang="zh-CN" b="1" dirty="0"/>
              <a:t>     </a:t>
            </a:r>
            <a:endParaRPr lang="zh-CN" altLang="en-US" sz="2800" b="1" dirty="0"/>
          </a:p>
        </p:txBody>
      </p:sp>
      <p:sp>
        <p:nvSpPr>
          <p:cNvPr id="3" name="Text Box 6"/>
          <p:cNvSpPr txBox="1">
            <a:spLocks noChangeArrowheads="1"/>
          </p:cNvSpPr>
          <p:nvPr/>
        </p:nvSpPr>
        <p:spPr bwMode="auto">
          <a:xfrm>
            <a:off x="740534" y="2066978"/>
            <a:ext cx="10613266" cy="3785652"/>
          </a:xfrm>
          <a:prstGeom prst="rect">
            <a:avLst/>
          </a:prstGeom>
          <a:solidFill>
            <a:srgbClr val="CC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000" b="1" dirty="0"/>
              <a:t>import </a:t>
            </a:r>
            <a:r>
              <a:rPr lang="en-US" altLang="zh-CN" sz="2000" b="1" dirty="0" err="1"/>
              <a:t>numpy</a:t>
            </a:r>
            <a:r>
              <a:rPr lang="en-US" altLang="zh-CN" sz="2000" b="1" dirty="0"/>
              <a:t> as np</a:t>
            </a:r>
            <a:endParaRPr lang="en-US" altLang="zh-CN" sz="2000" b="1" dirty="0"/>
          </a:p>
          <a:p>
            <a:r>
              <a:rPr lang="en-US" altLang="zh-CN" sz="2000" b="1" dirty="0"/>
              <a:t>y=</a:t>
            </a:r>
            <a:r>
              <a:rPr lang="en-US" altLang="zh-CN" sz="2000" b="1" dirty="0" err="1"/>
              <a:t>np.array</a:t>
            </a:r>
            <a:r>
              <a:rPr lang="en-US" altLang="zh-CN" sz="2000" b="1" dirty="0"/>
              <a:t>([260,250,265,225,257,220,200,300,180,310,160,330,140,350,120])</a:t>
            </a:r>
            <a:endParaRPr lang="en-US" altLang="zh-CN" sz="2000" b="1" dirty="0"/>
          </a:p>
          <a:p>
            <a:r>
              <a:rPr lang="en-US" altLang="zh-CN" sz="2000" b="1" dirty="0"/>
              <a:t>X=</a:t>
            </a:r>
            <a:r>
              <a:rPr lang="en-US" altLang="zh-CN" sz="2000" b="1" dirty="0" err="1"/>
              <a:t>np.array</a:t>
            </a:r>
            <a:r>
              <a:rPr lang="en-US" altLang="zh-CN" sz="2000" b="1" dirty="0"/>
              <a:t>([[90,2200],[75,1800],[80,1600],[70,1900],[76,2000],[65,1800],[72,1600],[100,3200],[50,1500],[130,2800],[52,1400],[140,3600],[42,1200],[180,2900],[40,1000]])</a:t>
            </a:r>
            <a:endParaRPr lang="en-US" altLang="zh-CN" sz="2000" b="1" dirty="0"/>
          </a:p>
          <a:p>
            <a:r>
              <a:rPr lang="en-US" altLang="zh-CN" sz="2000" b="1" dirty="0"/>
              <a:t>X=</a:t>
            </a:r>
            <a:r>
              <a:rPr lang="en-US" altLang="zh-CN" sz="2000" b="1" dirty="0" err="1"/>
              <a:t>sm.add_constant</a:t>
            </a:r>
            <a:r>
              <a:rPr lang="en-US" altLang="zh-CN" sz="2000" b="1" dirty="0"/>
              <a:t>(X)</a:t>
            </a:r>
            <a:endParaRPr lang="en-US" altLang="zh-CN" sz="2000" b="1" dirty="0"/>
          </a:p>
          <a:p>
            <a:r>
              <a:rPr lang="en-US" altLang="zh-CN" sz="2000" b="1" dirty="0"/>
              <a:t>import </a:t>
            </a:r>
            <a:r>
              <a:rPr lang="en-US" altLang="zh-CN" sz="2000" b="1" dirty="0" err="1"/>
              <a:t>statsmodels.api</a:t>
            </a:r>
            <a:r>
              <a:rPr lang="en-US" altLang="zh-CN" sz="2000" b="1" dirty="0"/>
              <a:t> as </a:t>
            </a:r>
            <a:r>
              <a:rPr lang="en-US" altLang="zh-CN" sz="2000" b="1" dirty="0" err="1"/>
              <a:t>sm</a:t>
            </a:r>
            <a:endParaRPr lang="en-US" altLang="zh-CN" sz="2000" b="1" dirty="0"/>
          </a:p>
          <a:p>
            <a:r>
              <a:rPr lang="en-US" altLang="zh-CN" sz="2000" b="1" dirty="0"/>
              <a:t>mod=</a:t>
            </a:r>
            <a:r>
              <a:rPr lang="en-US" altLang="zh-CN" sz="2000" b="1" dirty="0" err="1"/>
              <a:t>sm.OLS</a:t>
            </a:r>
            <a:r>
              <a:rPr lang="en-US" altLang="zh-CN" sz="2000" b="1" dirty="0"/>
              <a:t>(</a:t>
            </a:r>
            <a:r>
              <a:rPr lang="en-US" altLang="zh-CN" sz="2000" b="1" dirty="0" err="1"/>
              <a:t>y,X</a:t>
            </a:r>
            <a:r>
              <a:rPr lang="en-US" altLang="zh-CN" sz="2000" b="1" dirty="0"/>
              <a:t>)</a:t>
            </a:r>
            <a:endParaRPr lang="en-US" altLang="zh-CN" sz="2000" b="1" dirty="0"/>
          </a:p>
          <a:p>
            <a:r>
              <a:rPr lang="en-US" altLang="zh-CN" sz="2000" b="1" dirty="0"/>
              <a:t>res=</a:t>
            </a:r>
            <a:r>
              <a:rPr lang="en-US" altLang="zh-CN" sz="2000" b="1" dirty="0" err="1"/>
              <a:t>mod.fit</a:t>
            </a:r>
            <a:r>
              <a:rPr lang="en-US" altLang="zh-CN" sz="2000" b="1" dirty="0"/>
              <a:t>()</a:t>
            </a:r>
            <a:endParaRPr lang="en-US" altLang="zh-CN" sz="2000" b="1" dirty="0"/>
          </a:p>
          <a:p>
            <a:r>
              <a:rPr lang="en-US" altLang="zh-CN" sz="2000" b="1" dirty="0"/>
              <a:t>print (</a:t>
            </a:r>
            <a:r>
              <a:rPr lang="en-US" altLang="zh-CN" sz="2000" b="1" dirty="0" err="1"/>
              <a:t>res.summary</a:t>
            </a:r>
            <a:r>
              <a:rPr lang="en-US" altLang="zh-CN" sz="2000" b="1" dirty="0"/>
              <a:t>())</a:t>
            </a:r>
            <a:endParaRPr lang="en-US" altLang="zh-CN" sz="2000" b="1" dirty="0"/>
          </a:p>
          <a:p>
            <a:r>
              <a:rPr lang="en-US" altLang="zh-CN" sz="2000" b="1" dirty="0"/>
              <a:t>pre=</a:t>
            </a:r>
            <a:r>
              <a:rPr lang="en-US" altLang="zh-CN" sz="2000" b="1" dirty="0" err="1"/>
              <a:t>res.predict</a:t>
            </a:r>
            <a:r>
              <a:rPr lang="en-US" altLang="zh-CN" sz="2000" b="1" dirty="0"/>
              <a:t>([1,120,2000])</a:t>
            </a:r>
            <a:endParaRPr lang="en-US" altLang="zh-CN" sz="2000" b="1" dirty="0"/>
          </a:p>
          <a:p>
            <a:r>
              <a:rPr lang="en-US" altLang="zh-CN" sz="2000" b="1" dirty="0"/>
              <a:t>print(pre)</a:t>
            </a:r>
            <a:endParaRPr lang="en-US" altLang="zh-CN" sz="2000" b="1" dirty="0"/>
          </a:p>
          <a:p>
            <a:r>
              <a:rPr lang="en-US" altLang="zh-CN" sz="2000" b="1" dirty="0"/>
              <a:t>271.01412573</a:t>
            </a:r>
            <a:endParaRPr lang="zh-CN" alt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ox(in)">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5"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1000" fill="hold"/>
                                        <p:tgtEl>
                                          <p:spTgt spid="3"/>
                                        </p:tgtEl>
                                        <p:attrNameLst>
                                          <p:attrName>ppt_w</p:attrName>
                                        </p:attrNameLst>
                                      </p:cBhvr>
                                      <p:tavLst>
                                        <p:tav tm="0">
                                          <p:val>
                                            <p:fltVal val="0"/>
                                          </p:val>
                                        </p:tav>
                                        <p:tav tm="100000">
                                          <p:val>
                                            <p:strVal val="#ppt_w"/>
                                          </p:val>
                                        </p:tav>
                                      </p:tavLst>
                                    </p:anim>
                                    <p:anim calcmode="lin" valueType="num">
                                      <p:cBhvr>
                                        <p:cTn id="13" dur="1000" fill="hold"/>
                                        <p:tgtEl>
                                          <p:spTgt spid="3"/>
                                        </p:tgtEl>
                                        <p:attrNameLst>
                                          <p:attrName>ppt_h</p:attrName>
                                        </p:attrNameLst>
                                      </p:cBhvr>
                                      <p:tavLst>
                                        <p:tav tm="0">
                                          <p:val>
                                            <p:fltVal val="0"/>
                                          </p:val>
                                        </p:tav>
                                        <p:tav tm="100000">
                                          <p:val>
                                            <p:strVal val="#ppt_h"/>
                                          </p:val>
                                        </p:tav>
                                      </p:tavLst>
                                    </p:anim>
                                    <p:anim calcmode="lin" valueType="num">
                                      <p:cBhvr>
                                        <p:cTn id="14" dur="1000" fill="hold"/>
                                        <p:tgtEl>
                                          <p:spTgt spid="3"/>
                                        </p:tgtEl>
                                        <p:attrNameLst>
                                          <p:attrName>ppt_x</p:attrName>
                                        </p:attrNameLst>
                                      </p:cBhvr>
                                      <p:tavLst>
                                        <p:tav tm="0" fmla="#ppt_x+(cos(-2*pi*(1-$))*-#ppt_x-sin(-2*pi*(1-$))*(1-#ppt_y))*(1-$)">
                                          <p:val>
                                            <p:fltVal val="0"/>
                                          </p:val>
                                        </p:tav>
                                        <p:tav tm="100000">
                                          <p:val>
                                            <p:fltVal val="1"/>
                                          </p:val>
                                        </p:tav>
                                      </p:tavLst>
                                    </p:anim>
                                    <p:anim calcmode="lin" valueType="num">
                                      <p:cBhvr>
                                        <p:cTn id="15" dur="1000" fill="hold"/>
                                        <p:tgtEl>
                                          <p:spTgt spid="3"/>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30166" y="233126"/>
            <a:ext cx="10491887" cy="6490867"/>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ext Box 2"/>
          <p:cNvSpPr txBox="1"/>
          <p:nvPr/>
        </p:nvSpPr>
        <p:spPr>
          <a:xfrm>
            <a:off x="1411014" y="1905000"/>
            <a:ext cx="9002110" cy="4437753"/>
          </a:xfrm>
          <a:prstGeom prst="rect">
            <a:avLst/>
          </a:prstGeom>
          <a:noFill/>
          <a:ln w="9525">
            <a:noFill/>
          </a:ln>
        </p:spPr>
        <p:txBody>
          <a:bodyPr wrap="square" anchor="t">
            <a:spAutoFit/>
          </a:bodyPr>
          <a:lstStyle/>
          <a:p>
            <a:pPr marL="342900" indent="-342900" fontAlgn="auto">
              <a:lnSpc>
                <a:spcPct val="150000"/>
              </a:lnSpc>
              <a:buFont typeface="Arial" panose="020B0604020202090204" pitchFamily="34" charset="0"/>
              <a:buChar char="•"/>
            </a:pPr>
            <a:r>
              <a:rPr lang="zh-CN" altLang="en-US" sz="2400" dirty="0">
                <a:latin typeface="黑体" panose="02010609060101010101" pitchFamily="49" charset="-122"/>
                <a:ea typeface="黑体" panose="02010609060101010101" pitchFamily="49" charset="-122"/>
              </a:rPr>
              <a:t>自变量的选择是多元线性回归经常碰到的问题。在选择时，一方面希望尽可能不漏掉重要的解释变量，同时又尽可能减少解释变量的个数，使模型做到精简。在确定解释变量时，首先列出所有可能的解释变量，再根据不同解释变量的组合，选择合适的模型</a:t>
            </a:r>
            <a:endParaRPr lang="en-US" altLang="zh-CN" sz="2400" dirty="0">
              <a:latin typeface="黑体" panose="02010609060101010101" pitchFamily="49" charset="-122"/>
              <a:ea typeface="黑体" panose="02010609060101010101" pitchFamily="49" charset="-122"/>
            </a:endParaRPr>
          </a:p>
          <a:p>
            <a:pPr marL="342900" indent="-342900" fontAlgn="auto">
              <a:lnSpc>
                <a:spcPct val="150000"/>
              </a:lnSpc>
              <a:buFont typeface="Arial" panose="020B0604020202090204" pitchFamily="34" charset="0"/>
              <a:buChar char="•"/>
            </a:pPr>
            <a:r>
              <a:rPr lang="zh-CN" altLang="en-US" sz="2400" dirty="0">
                <a:latin typeface="黑体" panose="02010609060101010101" pitchFamily="49" charset="-122"/>
                <a:ea typeface="黑体" panose="02010609060101010101" pitchFamily="49" charset="-122"/>
                <a:cs typeface="黑体" panose="02010609060101010101" pitchFamily="49" charset="-122"/>
              </a:rPr>
              <a:t>若解释变量个数很大时，工作量会迅速增加，使用上述方法就不太现实了。此时需要有效的变量选择方法，主要有向前法、向后法和逐步回归法</a:t>
            </a:r>
            <a:endParaRPr lang="zh-CN" altLang="en-US" sz="2400" dirty="0">
              <a:latin typeface="黑体" panose="02010609060101010101" pitchFamily="49" charset="-122"/>
              <a:ea typeface="黑体" panose="02010609060101010101" pitchFamily="49" charset="-122"/>
            </a:endParaRPr>
          </a:p>
        </p:txBody>
      </p:sp>
      <p:sp>
        <p:nvSpPr>
          <p:cNvPr id="28674" name="Rectangle 3"/>
          <p:cNvSpPr/>
          <p:nvPr/>
        </p:nvSpPr>
        <p:spPr>
          <a:xfrm>
            <a:off x="2667000" y="914401"/>
            <a:ext cx="6096000" cy="668837"/>
          </a:xfrm>
          <a:prstGeom prst="rect">
            <a:avLst/>
          </a:prstGeom>
          <a:noFill/>
          <a:ln w="9525">
            <a:noFill/>
          </a:ln>
        </p:spPr>
        <p:txBody>
          <a:bodyPr anchor="t">
            <a:spAutoFit/>
          </a:bodyPr>
          <a:lstStyle/>
          <a:p>
            <a:pPr>
              <a:lnSpc>
                <a:spcPct val="120000"/>
              </a:lnSpc>
            </a:pPr>
            <a:r>
              <a:rPr lang="zh-CN" altLang="en-US" sz="3600" dirty="0">
                <a:latin typeface="黑体" panose="02010609060101010101" pitchFamily="49" charset="-122"/>
                <a:ea typeface="黑体" panose="02010609060101010101" pitchFamily="49" charset="-122"/>
              </a:rPr>
              <a:t>六、自变量的选择</a:t>
            </a:r>
            <a:endParaRPr lang="zh-CN" altLang="en-US" sz="3600" dirty="0">
              <a:latin typeface="黑体" panose="02010609060101010101" pitchFamily="49" charset="-122"/>
              <a:ea typeface="黑体" panose="02010609060101010101" pitchFamily="49" charset="-122"/>
            </a:endParaRPr>
          </a:p>
        </p:txBody>
      </p:sp>
      <p:sp>
        <p:nvSpPr>
          <p:cNvPr id="28675" name="灯片编号占位符 5"/>
          <p:cNvSpPr>
            <a:spLocks noGrp="1"/>
          </p:cNvSpPr>
          <p:nvPr>
            <p:ph type="sldNum" sz="quarter" idx="12"/>
          </p:nvPr>
        </p:nvSpPr>
        <p:spPr/>
        <p:txBody>
          <a:bodyPr vert="horz" wrap="square" lIns="91440" tIns="45720" rIns="91440" bIns="45720" rtlCol="0" anchor="b">
            <a:norm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algn="r"/>
            <a:fld id="{9A0DB2DC-4C9A-4742-B13C-FB6460FD3503}" type="slidenum">
              <a:rPr lang="en-US" altLang="zh-CN" sz="1400" dirty="0"/>
            </a:fld>
            <a:endParaRPr lang="en-US" altLang="zh-CN" sz="14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ext Box 2"/>
          <p:cNvSpPr txBox="1"/>
          <p:nvPr/>
        </p:nvSpPr>
        <p:spPr>
          <a:xfrm>
            <a:off x="1119351" y="1430021"/>
            <a:ext cx="9782503" cy="4374852"/>
          </a:xfrm>
          <a:prstGeom prst="rect">
            <a:avLst/>
          </a:prstGeom>
          <a:noFill/>
          <a:ln w="9525">
            <a:noFill/>
          </a:ln>
        </p:spPr>
        <p:txBody>
          <a:bodyPr wrap="square" anchor="t">
            <a:spAutoFit/>
          </a:bodyPr>
          <a:lstStyle/>
          <a:p>
            <a:pPr fontAlgn="auto">
              <a:lnSpc>
                <a:spcPct val="150000"/>
              </a:lnSpc>
            </a:pPr>
            <a:r>
              <a:rPr lang="zh-CN" altLang="en-US" sz="2400" dirty="0">
                <a:latin typeface="Times New Roman" panose="02020503050405090304" pitchFamily="18" charset="0"/>
                <a:ea typeface="黑体" panose="02010609060101010101" pitchFamily="49" charset="-122"/>
                <a:cs typeface="Times New Roman" panose="02020503050405090304" pitchFamily="18" charset="0"/>
              </a:rPr>
              <a:t>事先给定一个挑选自变量进入模型的标准</a:t>
            </a:r>
            <a:endParaRPr lang="en-US" altLang="zh-CN" sz="2400" dirty="0">
              <a:latin typeface="Times New Roman" panose="02020503050405090304" pitchFamily="18" charset="0"/>
              <a:ea typeface="黑体" panose="02010609060101010101" pitchFamily="49" charset="-122"/>
              <a:cs typeface="Times New Roman" panose="02020503050405090304" pitchFamily="18" charset="0"/>
            </a:endParaRPr>
          </a:p>
          <a:p>
            <a:pPr marL="342900" indent="-342900" fontAlgn="auto">
              <a:lnSpc>
                <a:spcPct val="150000"/>
              </a:lnSpc>
              <a:buFont typeface="Arial" panose="020B0604020202090204" pitchFamily="34" charset="0"/>
              <a:buChar char="•"/>
            </a:pPr>
            <a:r>
              <a:rPr lang="zh-CN" altLang="en-US" sz="2400" dirty="0">
                <a:latin typeface="Times New Roman" panose="02020503050405090304" pitchFamily="18" charset="0"/>
                <a:ea typeface="黑体" panose="02010609060101010101" pitchFamily="49" charset="-122"/>
                <a:cs typeface="Times New Roman" panose="02020503050405090304" pitchFamily="18" charset="0"/>
              </a:rPr>
              <a:t>开始时，模型中除</a:t>
            </a:r>
            <a:r>
              <a:rPr lang="zh-CN" altLang="en-US" sz="2400" dirty="0">
                <a:solidFill>
                  <a:srgbClr val="FF0000"/>
                </a:solidFill>
                <a:latin typeface="Times New Roman" panose="02020503050405090304" pitchFamily="18" charset="0"/>
                <a:ea typeface="黑体" panose="02010609060101010101" pitchFamily="49" charset="-122"/>
                <a:cs typeface="Times New Roman" panose="02020503050405090304" pitchFamily="18" charset="0"/>
              </a:rPr>
              <a:t>常数项</a:t>
            </a:r>
            <a:r>
              <a:rPr lang="zh-CN" altLang="en-US" sz="2400" dirty="0">
                <a:latin typeface="Times New Roman" panose="02020503050405090304" pitchFamily="18" charset="0"/>
                <a:ea typeface="黑体" panose="02010609060101010101" pitchFamily="49" charset="-122"/>
                <a:cs typeface="Times New Roman" panose="02020503050405090304" pitchFamily="18" charset="0"/>
              </a:rPr>
              <a:t>外没有自变量</a:t>
            </a:r>
            <a:endParaRPr lang="en-US" altLang="zh-CN" sz="2400" dirty="0">
              <a:latin typeface="Times New Roman" panose="02020503050405090304" pitchFamily="18" charset="0"/>
              <a:ea typeface="黑体" panose="02010609060101010101" pitchFamily="49" charset="-122"/>
              <a:cs typeface="Times New Roman" panose="02020503050405090304" pitchFamily="18" charset="0"/>
            </a:endParaRPr>
          </a:p>
          <a:p>
            <a:pPr marL="342900" indent="-342900" fontAlgn="auto">
              <a:lnSpc>
                <a:spcPct val="150000"/>
              </a:lnSpc>
              <a:buFont typeface="Arial" panose="020B0604020202090204" pitchFamily="34" charset="0"/>
              <a:buChar char="•"/>
            </a:pPr>
            <a:r>
              <a:rPr lang="zh-CN" altLang="en-US" sz="2400" dirty="0">
                <a:latin typeface="Times New Roman" panose="02020503050405090304" pitchFamily="18" charset="0"/>
                <a:ea typeface="黑体" panose="02010609060101010101" pitchFamily="49" charset="-122"/>
                <a:cs typeface="Times New Roman" panose="02020503050405090304" pitchFamily="18" charset="0"/>
              </a:rPr>
              <a:t>按照自变量</a:t>
            </a:r>
            <a:r>
              <a:rPr lang="zh-CN" altLang="en-US" sz="2400" dirty="0">
                <a:solidFill>
                  <a:srgbClr val="FF0000"/>
                </a:solidFill>
                <a:latin typeface="Times New Roman" panose="02020503050405090304" pitchFamily="18" charset="0"/>
                <a:ea typeface="黑体" panose="02010609060101010101" pitchFamily="49" charset="-122"/>
                <a:cs typeface="Times New Roman" panose="02020503050405090304" pitchFamily="18" charset="0"/>
              </a:rPr>
              <a:t>对因变量</a:t>
            </a:r>
            <a:r>
              <a:rPr lang="en-US" altLang="zh-CN" sz="2400" i="1" dirty="0">
                <a:solidFill>
                  <a:srgbClr val="FF0000"/>
                </a:solidFill>
                <a:latin typeface="Times New Roman" panose="02020503050405090304" pitchFamily="18" charset="0"/>
                <a:ea typeface="黑体" panose="02010609060101010101" pitchFamily="49" charset="-122"/>
                <a:cs typeface="Times New Roman" panose="02020503050405090304" pitchFamily="18" charset="0"/>
              </a:rPr>
              <a:t>Y</a:t>
            </a:r>
            <a:r>
              <a:rPr lang="zh-CN" altLang="en-US" sz="2400" dirty="0">
                <a:solidFill>
                  <a:srgbClr val="FF0000"/>
                </a:solidFill>
                <a:latin typeface="Times New Roman" panose="02020503050405090304" pitchFamily="18" charset="0"/>
                <a:ea typeface="黑体" panose="02010609060101010101" pitchFamily="49" charset="-122"/>
                <a:cs typeface="Times New Roman" panose="02020503050405090304" pitchFamily="18" charset="0"/>
              </a:rPr>
              <a:t>的贡献</a:t>
            </a:r>
            <a:r>
              <a:rPr lang="zh-CN" altLang="en-US" sz="2400" dirty="0">
                <a:latin typeface="Times New Roman" panose="02020503050405090304" pitchFamily="18" charset="0"/>
                <a:ea typeface="黑体" panose="02010609060101010101" pitchFamily="49" charset="-122"/>
                <a:cs typeface="Times New Roman" panose="02020503050405090304" pitchFamily="18" charset="0"/>
              </a:rPr>
              <a:t>大小由大到小依次挑选进入方程</a:t>
            </a:r>
            <a:endParaRPr lang="en-US" altLang="zh-CN" sz="2400" dirty="0">
              <a:latin typeface="Times New Roman" panose="02020503050405090304" pitchFamily="18" charset="0"/>
              <a:ea typeface="黑体" panose="02010609060101010101" pitchFamily="49" charset="-122"/>
              <a:cs typeface="Times New Roman" panose="02020503050405090304" pitchFamily="18" charset="0"/>
            </a:endParaRPr>
          </a:p>
          <a:p>
            <a:pPr marL="342900" indent="-342900" fontAlgn="auto">
              <a:lnSpc>
                <a:spcPct val="150000"/>
              </a:lnSpc>
              <a:buFont typeface="Arial" panose="020B0604020202090204" pitchFamily="34" charset="0"/>
              <a:buChar char="•"/>
            </a:pPr>
            <a:r>
              <a:rPr lang="zh-CN" altLang="en-US" sz="2400" dirty="0">
                <a:latin typeface="Times New Roman" panose="02020503050405090304" pitchFamily="18" charset="0"/>
                <a:ea typeface="黑体" panose="02010609060101010101" pitchFamily="49" charset="-122"/>
                <a:cs typeface="Times New Roman" panose="02020503050405090304" pitchFamily="18" charset="0"/>
              </a:rPr>
              <a:t>每选入一个变量进入方程，则重新计算方程外各自变量（在扣除了已选入变量的影响后）对</a:t>
            </a:r>
            <a:r>
              <a:rPr lang="en-US" altLang="zh-CN" sz="2400" i="1" dirty="0">
                <a:latin typeface="Times New Roman" panose="02020503050405090304" pitchFamily="18" charset="0"/>
                <a:ea typeface="黑体" panose="02010609060101010101" pitchFamily="49" charset="-122"/>
                <a:cs typeface="Times New Roman" panose="02020503050405090304" pitchFamily="18" charset="0"/>
              </a:rPr>
              <a:t>Y</a:t>
            </a:r>
            <a:r>
              <a:rPr lang="zh-CN" altLang="en-US" sz="2400" dirty="0">
                <a:latin typeface="Times New Roman" panose="02020503050405090304" pitchFamily="18" charset="0"/>
                <a:ea typeface="黑体" panose="02010609060101010101" pitchFamily="49" charset="-122"/>
                <a:cs typeface="Times New Roman" panose="02020503050405090304" pitchFamily="18" charset="0"/>
              </a:rPr>
              <a:t>的贡献</a:t>
            </a:r>
            <a:endParaRPr lang="en-US" altLang="zh-CN" sz="2400" dirty="0">
              <a:latin typeface="Times New Roman" panose="02020503050405090304" pitchFamily="18" charset="0"/>
              <a:ea typeface="黑体" panose="02010609060101010101" pitchFamily="49" charset="-122"/>
              <a:cs typeface="Times New Roman" panose="02020503050405090304" pitchFamily="18" charset="0"/>
            </a:endParaRPr>
          </a:p>
          <a:p>
            <a:pPr marL="342900" indent="-342900" fontAlgn="auto">
              <a:lnSpc>
                <a:spcPct val="150000"/>
              </a:lnSpc>
              <a:buFont typeface="Arial" panose="020B0604020202090204" pitchFamily="34" charset="0"/>
              <a:buChar char="•"/>
            </a:pPr>
            <a:r>
              <a:rPr lang="zh-CN" altLang="en-US" sz="2400" dirty="0">
                <a:latin typeface="Times New Roman" panose="02020503050405090304" pitchFamily="18" charset="0"/>
                <a:ea typeface="黑体" panose="02010609060101010101" pitchFamily="49" charset="-122"/>
                <a:cs typeface="Times New Roman" panose="02020503050405090304" pitchFamily="18" charset="0"/>
              </a:rPr>
              <a:t>直至方程外变量均达不到入选取标准，没有自变量可被引入方程为止</a:t>
            </a:r>
            <a:endParaRPr lang="en-US" altLang="zh-CN" sz="2400" dirty="0">
              <a:latin typeface="Times New Roman" panose="02020503050405090304" pitchFamily="18" charset="0"/>
              <a:ea typeface="黑体" panose="02010609060101010101" pitchFamily="49" charset="-122"/>
              <a:cs typeface="Times New Roman" panose="02020503050405090304" pitchFamily="18" charset="0"/>
            </a:endParaRPr>
          </a:p>
          <a:p>
            <a:pPr fontAlgn="auto">
              <a:lnSpc>
                <a:spcPct val="150000"/>
              </a:lnSpc>
            </a:pPr>
            <a:r>
              <a:rPr lang="zh-CN" altLang="en-US" sz="2400" dirty="0">
                <a:latin typeface="Times New Roman" panose="02020503050405090304" pitchFamily="18" charset="0"/>
                <a:ea typeface="黑体" panose="02010609060101010101" pitchFamily="49" charset="-122"/>
                <a:cs typeface="Times New Roman" panose="02020503050405090304" pitchFamily="18" charset="0"/>
              </a:rPr>
              <a:t>该种方法只考虑选入变量，一旦某变量进入模型，就不再考虑剔除。 </a:t>
            </a:r>
            <a:endParaRPr lang="zh-CN" altLang="en-US" sz="2400" dirty="0">
              <a:latin typeface="Times New Roman" panose="02020503050405090304" pitchFamily="18" charset="0"/>
              <a:ea typeface="黑体" panose="02010609060101010101" pitchFamily="49" charset="-122"/>
              <a:cs typeface="Times New Roman" panose="02020503050405090304" pitchFamily="18" charset="0"/>
            </a:endParaRPr>
          </a:p>
          <a:p>
            <a:pPr>
              <a:lnSpc>
                <a:spcPct val="120000"/>
              </a:lnSpc>
            </a:pPr>
            <a:r>
              <a:rPr lang="zh-CN" altLang="en-US" sz="2400" dirty="0">
                <a:latin typeface="Times New Roman" panose="02020503050405090304" pitchFamily="18" charset="0"/>
                <a:ea typeface="黑体" panose="02010609060101010101" pitchFamily="49" charset="-122"/>
                <a:cs typeface="Times New Roman" panose="02020503050405090304" pitchFamily="18" charset="0"/>
              </a:rPr>
              <a:t> </a:t>
            </a:r>
            <a:endParaRPr lang="zh-CN" altLang="en-US" sz="2400" dirty="0">
              <a:latin typeface="Times New Roman" panose="02020503050405090304" pitchFamily="18" charset="0"/>
              <a:ea typeface="黑体" panose="02010609060101010101" pitchFamily="49" charset="-122"/>
              <a:cs typeface="Times New Roman" panose="02020503050405090304" pitchFamily="18" charset="0"/>
            </a:endParaRPr>
          </a:p>
        </p:txBody>
      </p:sp>
      <p:sp>
        <p:nvSpPr>
          <p:cNvPr id="30722" name="Rectangle 3"/>
          <p:cNvSpPr/>
          <p:nvPr/>
        </p:nvSpPr>
        <p:spPr>
          <a:xfrm>
            <a:off x="1289236" y="547108"/>
            <a:ext cx="2341245" cy="604781"/>
          </a:xfrm>
          <a:prstGeom prst="rect">
            <a:avLst/>
          </a:prstGeom>
          <a:noFill/>
          <a:ln w="9525">
            <a:noFill/>
          </a:ln>
        </p:spPr>
        <p:txBody>
          <a:bodyPr wrap="square" anchor="t">
            <a:spAutoFit/>
          </a:bodyPr>
          <a:lstStyle/>
          <a:p>
            <a:pPr>
              <a:lnSpc>
                <a:spcPct val="120000"/>
              </a:lnSpc>
            </a:pPr>
            <a:r>
              <a:rPr lang="zh-CN" altLang="en-US" sz="3200" dirty="0">
                <a:latin typeface="黑体" panose="02010609060101010101" pitchFamily="49" charset="-122"/>
                <a:ea typeface="黑体" panose="02010609060101010101" pitchFamily="49" charset="-122"/>
              </a:rPr>
              <a:t>向前法</a:t>
            </a:r>
            <a:endParaRPr lang="zh-CN" altLang="en-US" sz="3200" dirty="0">
              <a:latin typeface="黑体" panose="02010609060101010101" pitchFamily="49" charset="-122"/>
              <a:ea typeface="黑体" panose="02010609060101010101" pitchFamily="49" charset="-122"/>
            </a:endParaRPr>
          </a:p>
        </p:txBody>
      </p:sp>
      <p:sp>
        <p:nvSpPr>
          <p:cNvPr id="30723" name="灯片编号占位符 5"/>
          <p:cNvSpPr>
            <a:spLocks noGrp="1"/>
          </p:cNvSpPr>
          <p:nvPr>
            <p:ph type="sldNum" sz="quarter" idx="12"/>
          </p:nvPr>
        </p:nvSpPr>
        <p:spPr/>
        <p:txBody>
          <a:bodyPr vert="horz" wrap="square" lIns="91440" tIns="45720" rIns="91440" bIns="45720" rtlCol="0" anchor="b">
            <a:no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algn="r"/>
            <a:fld id="{9A0DB2DC-4C9A-4742-B13C-FB6460FD3503}" type="slidenum">
              <a:rPr lang="en-US" altLang="zh-CN" sz="2400" dirty="0">
                <a:latin typeface="黑体" panose="02010609060101010101" pitchFamily="49" charset="-122"/>
                <a:ea typeface="黑体" panose="02010609060101010101" pitchFamily="49" charset="-122"/>
              </a:rPr>
            </a:fld>
            <a:endParaRPr lang="en-US" altLang="zh-CN" sz="2400" dirty="0">
              <a:latin typeface="黑体" panose="02010609060101010101" pitchFamily="49" charset="-122"/>
              <a:ea typeface="黑体" panose="02010609060101010101" pitchFamily="49" charset="-122"/>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ext Box 2"/>
          <p:cNvSpPr txBox="1"/>
          <p:nvPr/>
        </p:nvSpPr>
        <p:spPr>
          <a:xfrm>
            <a:off x="1103586" y="1709421"/>
            <a:ext cx="9892862" cy="3800656"/>
          </a:xfrm>
          <a:prstGeom prst="rect">
            <a:avLst/>
          </a:prstGeom>
          <a:noFill/>
          <a:ln w="9525">
            <a:noFill/>
          </a:ln>
        </p:spPr>
        <p:txBody>
          <a:bodyPr wrap="square" anchor="t">
            <a:spAutoFit/>
          </a:bodyPr>
          <a:lstStyle/>
          <a:p>
            <a:pPr fontAlgn="auto">
              <a:lnSpc>
                <a:spcPct val="150000"/>
              </a:lnSpc>
            </a:pPr>
            <a:r>
              <a:rPr lang="zh-CN" altLang="en-US" sz="2400" dirty="0">
                <a:latin typeface="黑体" panose="02010609060101010101" pitchFamily="49" charset="-122"/>
                <a:ea typeface="黑体" panose="02010609060101010101" pitchFamily="49" charset="-122"/>
                <a:cs typeface="黑体" panose="02010609060101010101" pitchFamily="49" charset="-122"/>
              </a:rPr>
              <a:t>与向前法相反，事先给定一个剔除自变量的标准</a:t>
            </a:r>
            <a:endParaRPr lang="en-US" altLang="zh-CN" sz="2400" dirty="0">
              <a:latin typeface="黑体" panose="02010609060101010101" pitchFamily="49" charset="-122"/>
              <a:ea typeface="黑体" panose="02010609060101010101" pitchFamily="49" charset="-122"/>
              <a:cs typeface="黑体" panose="02010609060101010101" pitchFamily="49" charset="-122"/>
            </a:endParaRPr>
          </a:p>
          <a:p>
            <a:pPr marL="342900" indent="-342900" fontAlgn="auto">
              <a:lnSpc>
                <a:spcPct val="150000"/>
              </a:lnSpc>
              <a:buFont typeface="Arial" panose="020B0604020202090204" pitchFamily="34" charset="0"/>
              <a:buChar char="•"/>
            </a:pPr>
            <a:r>
              <a:rPr lang="zh-CN" altLang="en-US" sz="2400" dirty="0">
                <a:latin typeface="黑体" panose="02010609060101010101" pitchFamily="49" charset="-122"/>
                <a:ea typeface="黑体" panose="02010609060101010101" pitchFamily="49" charset="-122"/>
                <a:cs typeface="黑体" panose="02010609060101010101" pitchFamily="49" charset="-122"/>
              </a:rPr>
              <a:t>开始</a:t>
            </a:r>
            <a:r>
              <a:rPr lang="zh-CN" altLang="en-US" sz="2400" dirty="0">
                <a:solidFill>
                  <a:srgbClr val="FF0000"/>
                </a:solidFill>
                <a:latin typeface="黑体" panose="02010609060101010101" pitchFamily="49" charset="-122"/>
                <a:ea typeface="黑体" panose="02010609060101010101" pitchFamily="49" charset="-122"/>
                <a:cs typeface="黑体" panose="02010609060101010101" pitchFamily="49" charset="-122"/>
              </a:rPr>
              <a:t>全部自变量都在方程之中</a:t>
            </a:r>
            <a:endParaRPr lang="en-US" altLang="zh-CN" sz="2400" dirty="0">
              <a:latin typeface="黑体" panose="02010609060101010101" pitchFamily="49" charset="-122"/>
              <a:ea typeface="黑体" panose="02010609060101010101" pitchFamily="49" charset="-122"/>
              <a:cs typeface="黑体" panose="02010609060101010101" pitchFamily="49" charset="-122"/>
            </a:endParaRPr>
          </a:p>
          <a:p>
            <a:pPr marL="342900" indent="-342900" fontAlgn="auto">
              <a:lnSpc>
                <a:spcPct val="150000"/>
              </a:lnSpc>
              <a:buFont typeface="Arial" panose="020B0604020202090204" pitchFamily="34" charset="0"/>
              <a:buChar char="•"/>
            </a:pPr>
            <a:r>
              <a:rPr lang="zh-CN" altLang="en-US" sz="2400" dirty="0">
                <a:latin typeface="黑体" panose="02010609060101010101" pitchFamily="49" charset="-122"/>
                <a:ea typeface="黑体" panose="02010609060101010101" pitchFamily="49" charset="-122"/>
                <a:cs typeface="黑体" panose="02010609060101010101" pitchFamily="49" charset="-122"/>
              </a:rPr>
              <a:t>按照自变量对因变量的贡献大小由小到大依次剔除</a:t>
            </a:r>
            <a:endParaRPr lang="en-US" altLang="zh-CN" sz="2400" dirty="0">
              <a:latin typeface="黑体" panose="02010609060101010101" pitchFamily="49" charset="-122"/>
              <a:ea typeface="黑体" panose="02010609060101010101" pitchFamily="49" charset="-122"/>
              <a:cs typeface="黑体" panose="02010609060101010101" pitchFamily="49" charset="-122"/>
            </a:endParaRPr>
          </a:p>
          <a:p>
            <a:pPr marL="342900" indent="-342900" fontAlgn="auto">
              <a:lnSpc>
                <a:spcPct val="150000"/>
              </a:lnSpc>
              <a:buFont typeface="Arial" panose="020B0604020202090204" pitchFamily="34" charset="0"/>
              <a:buChar char="•"/>
            </a:pPr>
            <a:r>
              <a:rPr lang="zh-CN" altLang="en-US" sz="2400" dirty="0">
                <a:latin typeface="黑体" panose="02010609060101010101" pitchFamily="49" charset="-122"/>
                <a:ea typeface="黑体" panose="02010609060101010101" pitchFamily="49" charset="-122"/>
                <a:cs typeface="黑体" panose="02010609060101010101" pitchFamily="49" charset="-122"/>
              </a:rPr>
              <a:t>每剔除一个变量，则重新计算未被剔除的各自变量对因变量的贡献</a:t>
            </a:r>
            <a:endParaRPr lang="en-US" altLang="zh-CN" sz="2400" dirty="0">
              <a:latin typeface="黑体" panose="02010609060101010101" pitchFamily="49" charset="-122"/>
              <a:ea typeface="黑体" panose="02010609060101010101" pitchFamily="49" charset="-122"/>
              <a:cs typeface="黑体" panose="02010609060101010101" pitchFamily="49" charset="-122"/>
            </a:endParaRPr>
          </a:p>
          <a:p>
            <a:pPr marL="342900" indent="-342900" fontAlgn="auto">
              <a:lnSpc>
                <a:spcPct val="150000"/>
              </a:lnSpc>
              <a:buFont typeface="Arial" panose="020B0604020202090204" pitchFamily="34" charset="0"/>
              <a:buChar char="•"/>
            </a:pPr>
            <a:r>
              <a:rPr lang="zh-CN" altLang="en-US" sz="2400" dirty="0">
                <a:latin typeface="黑体" panose="02010609060101010101" pitchFamily="49" charset="-122"/>
                <a:ea typeface="黑体" panose="02010609060101010101" pitchFamily="49" charset="-122"/>
                <a:cs typeface="黑体" panose="02010609060101010101" pitchFamily="49" charset="-122"/>
              </a:rPr>
              <a:t>直至方程中所有变量均符合选入标准，没有自变量被剔除为止</a:t>
            </a:r>
            <a:endParaRPr lang="en-US" altLang="zh-CN" sz="2400" dirty="0">
              <a:latin typeface="黑体" panose="02010609060101010101" pitchFamily="49" charset="-122"/>
              <a:ea typeface="黑体" panose="02010609060101010101" pitchFamily="49" charset="-122"/>
              <a:cs typeface="黑体" panose="02010609060101010101" pitchFamily="49" charset="-122"/>
            </a:endParaRPr>
          </a:p>
          <a:p>
            <a:pPr fontAlgn="auto">
              <a:lnSpc>
                <a:spcPct val="150000"/>
              </a:lnSpc>
            </a:pPr>
            <a:r>
              <a:rPr lang="zh-CN" altLang="en-US" sz="2400" dirty="0">
                <a:latin typeface="黑体" panose="02010609060101010101" pitchFamily="49" charset="-122"/>
                <a:ea typeface="黑体" panose="02010609060101010101" pitchFamily="49" charset="-122"/>
                <a:cs typeface="黑体" panose="02010609060101010101" pitchFamily="49" charset="-122"/>
              </a:rPr>
              <a:t>该种方法只考虑剔除，自变量一旦被剔除，则不再考虑进入模型 </a:t>
            </a:r>
            <a:endParaRPr lang="zh-CN" altLang="en-US" sz="2400" dirty="0">
              <a:latin typeface="黑体" panose="02010609060101010101" pitchFamily="49" charset="-122"/>
              <a:ea typeface="黑体" panose="02010609060101010101" pitchFamily="49" charset="-122"/>
              <a:cs typeface="黑体" panose="02010609060101010101" pitchFamily="49" charset="-122"/>
            </a:endParaRPr>
          </a:p>
          <a:p>
            <a:pPr>
              <a:lnSpc>
                <a:spcPct val="120000"/>
              </a:lnSpc>
            </a:pPr>
            <a:r>
              <a:rPr lang="zh-CN" altLang="en-US" sz="2400" dirty="0">
                <a:latin typeface="黑体" panose="02010609060101010101" pitchFamily="49" charset="-122"/>
                <a:ea typeface="黑体" panose="02010609060101010101" pitchFamily="49" charset="-122"/>
                <a:cs typeface="黑体" panose="02010609060101010101" pitchFamily="49" charset="-122"/>
              </a:rPr>
              <a:t> </a:t>
            </a:r>
            <a:endParaRPr lang="zh-CN" altLang="en-US" sz="2400" dirty="0">
              <a:latin typeface="黑体" panose="02010609060101010101" pitchFamily="49" charset="-122"/>
              <a:ea typeface="黑体" panose="02010609060101010101" pitchFamily="49" charset="-122"/>
              <a:cs typeface="黑体" panose="02010609060101010101" pitchFamily="49" charset="-122"/>
            </a:endParaRPr>
          </a:p>
        </p:txBody>
      </p:sp>
      <p:sp>
        <p:nvSpPr>
          <p:cNvPr id="31746" name="Rectangle 3"/>
          <p:cNvSpPr/>
          <p:nvPr/>
        </p:nvSpPr>
        <p:spPr>
          <a:xfrm>
            <a:off x="1103586" y="743142"/>
            <a:ext cx="6096000" cy="604781"/>
          </a:xfrm>
          <a:prstGeom prst="rect">
            <a:avLst/>
          </a:prstGeom>
          <a:noFill/>
          <a:ln w="9525">
            <a:noFill/>
          </a:ln>
        </p:spPr>
        <p:txBody>
          <a:bodyPr anchor="t">
            <a:spAutoFit/>
          </a:bodyPr>
          <a:lstStyle/>
          <a:p>
            <a:pPr>
              <a:lnSpc>
                <a:spcPct val="120000"/>
              </a:lnSpc>
            </a:pPr>
            <a:r>
              <a:rPr lang="zh-CN" altLang="en-US" sz="3200" dirty="0">
                <a:latin typeface="黑体" panose="02010609060101010101" pitchFamily="49" charset="-122"/>
                <a:ea typeface="黑体" panose="02010609060101010101" pitchFamily="49" charset="-122"/>
              </a:rPr>
              <a:t>向后法</a:t>
            </a:r>
            <a:endParaRPr lang="zh-CN" altLang="en-US" sz="3200" dirty="0">
              <a:latin typeface="黑体" panose="02010609060101010101" pitchFamily="49" charset="-122"/>
              <a:ea typeface="黑体" panose="02010609060101010101" pitchFamily="49" charset="-122"/>
            </a:endParaRPr>
          </a:p>
        </p:txBody>
      </p:sp>
      <p:sp>
        <p:nvSpPr>
          <p:cNvPr id="31747" name="灯片编号占位符 5"/>
          <p:cNvSpPr>
            <a:spLocks noGrp="1"/>
          </p:cNvSpPr>
          <p:nvPr>
            <p:ph type="sldNum" sz="quarter" idx="12"/>
          </p:nvPr>
        </p:nvSpPr>
        <p:spPr/>
        <p:txBody>
          <a:bodyPr vert="horz" wrap="square" lIns="91440" tIns="45720" rIns="91440" bIns="45720" rtlCol="0" anchor="b">
            <a:no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algn="r"/>
            <a:fld id="{9A0DB2DC-4C9A-4742-B13C-FB6460FD3503}" type="slidenum">
              <a:rPr lang="en-US" altLang="zh-CN" sz="2400" dirty="0">
                <a:latin typeface="黑体" panose="02010609060101010101" pitchFamily="49" charset="-122"/>
                <a:ea typeface="黑体" panose="02010609060101010101" pitchFamily="49" charset="-122"/>
              </a:rPr>
            </a:fld>
            <a:endParaRPr lang="en-US" altLang="zh-CN" sz="2400" dirty="0">
              <a:latin typeface="黑体" panose="02010609060101010101" pitchFamily="49" charset="-122"/>
              <a:ea typeface="黑体" panose="02010609060101010101" pitchFamily="49" charset="-122"/>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ext Box 2"/>
          <p:cNvSpPr txBox="1"/>
          <p:nvPr/>
        </p:nvSpPr>
        <p:spPr>
          <a:xfrm>
            <a:off x="1399189" y="1160649"/>
            <a:ext cx="9392308" cy="4437753"/>
          </a:xfrm>
          <a:prstGeom prst="rect">
            <a:avLst/>
          </a:prstGeom>
          <a:noFill/>
          <a:ln w="9525">
            <a:noFill/>
          </a:ln>
        </p:spPr>
        <p:txBody>
          <a:bodyPr wrap="square" anchor="t">
            <a:spAutoFit/>
          </a:bodyPr>
          <a:lstStyle/>
          <a:p>
            <a:pPr marL="342900" indent="-342900" fontAlgn="auto">
              <a:lnSpc>
                <a:spcPct val="150000"/>
              </a:lnSpc>
              <a:buFont typeface="Arial" panose="020B0604020202090204" pitchFamily="34" charset="0"/>
              <a:buChar char="•"/>
            </a:pPr>
            <a:r>
              <a:rPr lang="zh-CN" altLang="en-US" sz="2400" dirty="0">
                <a:latin typeface="黑体" panose="02010609060101010101" pitchFamily="49" charset="-122"/>
                <a:ea typeface="黑体" panose="02010609060101010101" pitchFamily="49" charset="-122"/>
                <a:cs typeface="黑体" panose="02010609060101010101" pitchFamily="49" charset="-122"/>
              </a:rPr>
              <a:t>该方法的主要思路是在考虑的全部自变量中按其作用大小</a:t>
            </a:r>
            <a:r>
              <a:rPr lang="en-US" altLang="zh-CN" sz="2400" dirty="0">
                <a:latin typeface="黑体" panose="02010609060101010101" pitchFamily="49" charset="-122"/>
                <a:ea typeface="黑体" panose="02010609060101010101" pitchFamily="49" charset="-122"/>
                <a:cs typeface="黑体" panose="02010609060101010101" pitchFamily="49" charset="-122"/>
              </a:rPr>
              <a:t>, </a:t>
            </a:r>
            <a:r>
              <a:rPr lang="zh-CN" altLang="en-US" sz="2400" dirty="0">
                <a:solidFill>
                  <a:srgbClr val="FF0000"/>
                </a:solidFill>
                <a:latin typeface="黑体" panose="02010609060101010101" pitchFamily="49" charset="-122"/>
                <a:ea typeface="黑体" panose="02010609060101010101" pitchFamily="49" charset="-122"/>
                <a:cs typeface="黑体" panose="02010609060101010101" pitchFamily="49" charset="-122"/>
              </a:rPr>
              <a:t>显著程度大小</a:t>
            </a:r>
            <a:r>
              <a:rPr lang="zh-CN" altLang="en-US" sz="2400" dirty="0">
                <a:latin typeface="黑体" panose="02010609060101010101" pitchFamily="49" charset="-122"/>
                <a:ea typeface="黑体" panose="02010609060101010101" pitchFamily="49" charset="-122"/>
                <a:cs typeface="黑体" panose="02010609060101010101" pitchFamily="49" charset="-122"/>
              </a:rPr>
              <a:t>或者说</a:t>
            </a:r>
            <a:r>
              <a:rPr lang="zh-CN" altLang="en-US" sz="2400" dirty="0">
                <a:solidFill>
                  <a:srgbClr val="FF0000"/>
                </a:solidFill>
                <a:latin typeface="黑体" panose="02010609060101010101" pitchFamily="49" charset="-122"/>
                <a:ea typeface="黑体" panose="02010609060101010101" pitchFamily="49" charset="-122"/>
                <a:cs typeface="黑体" panose="02010609060101010101" pitchFamily="49" charset="-122"/>
              </a:rPr>
              <a:t>贡献大小</a:t>
            </a:r>
            <a:r>
              <a:rPr lang="en-US" altLang="zh-CN" sz="2400" dirty="0">
                <a:latin typeface="黑体" panose="02010609060101010101" pitchFamily="49" charset="-122"/>
                <a:ea typeface="黑体" panose="02010609060101010101" pitchFamily="49" charset="-122"/>
                <a:cs typeface="黑体" panose="02010609060101010101" pitchFamily="49" charset="-122"/>
              </a:rPr>
              <a:t>, </a:t>
            </a:r>
            <a:r>
              <a:rPr lang="zh-CN" altLang="en-US" sz="2400" dirty="0">
                <a:latin typeface="黑体" panose="02010609060101010101" pitchFamily="49" charset="-122"/>
                <a:ea typeface="黑体" panose="02010609060101010101" pitchFamily="49" charset="-122"/>
                <a:cs typeface="黑体" panose="02010609060101010101" pitchFamily="49" charset="-122"/>
              </a:rPr>
              <a:t>由大到小地逐个引入回归方程</a:t>
            </a:r>
            <a:r>
              <a:rPr lang="en-US" altLang="zh-CN" sz="2400" dirty="0">
                <a:latin typeface="黑体" panose="02010609060101010101" pitchFamily="49" charset="-122"/>
                <a:ea typeface="黑体" panose="02010609060101010101" pitchFamily="49" charset="-122"/>
                <a:cs typeface="黑体" panose="02010609060101010101" pitchFamily="49" charset="-122"/>
              </a:rPr>
              <a:t>, </a:t>
            </a:r>
            <a:r>
              <a:rPr lang="zh-CN" altLang="en-US" sz="2400" dirty="0">
                <a:latin typeface="黑体" panose="02010609060101010101" pitchFamily="49" charset="-122"/>
                <a:ea typeface="黑体" panose="02010609060101010101" pitchFamily="49" charset="-122"/>
                <a:cs typeface="黑体" panose="02010609060101010101" pitchFamily="49" charset="-122"/>
              </a:rPr>
              <a:t>而对那些对作用不显著的变量可能始终不被引人回归方程</a:t>
            </a:r>
            <a:endParaRPr lang="en-US" altLang="zh-CN" sz="2400" dirty="0">
              <a:latin typeface="黑体" panose="02010609060101010101" pitchFamily="49" charset="-122"/>
              <a:ea typeface="黑体" panose="02010609060101010101" pitchFamily="49" charset="-122"/>
              <a:cs typeface="黑体" panose="02010609060101010101" pitchFamily="49" charset="-122"/>
            </a:endParaRPr>
          </a:p>
          <a:p>
            <a:pPr marL="342900" indent="-342900" fontAlgn="auto">
              <a:lnSpc>
                <a:spcPct val="150000"/>
              </a:lnSpc>
              <a:buFont typeface="Arial" panose="020B0604020202090204" pitchFamily="34" charset="0"/>
              <a:buChar char="•"/>
            </a:pPr>
            <a:r>
              <a:rPr lang="zh-CN" altLang="en-US" sz="2400" dirty="0">
                <a:latin typeface="黑体" panose="02010609060101010101" pitchFamily="49" charset="-122"/>
                <a:ea typeface="黑体" panose="02010609060101010101" pitchFamily="49" charset="-122"/>
                <a:cs typeface="黑体" panose="02010609060101010101" pitchFamily="49" charset="-122"/>
              </a:rPr>
              <a:t>另外</a:t>
            </a:r>
            <a:r>
              <a:rPr lang="en-US" altLang="zh-CN" sz="2400" dirty="0">
                <a:latin typeface="黑体" panose="02010609060101010101" pitchFamily="49" charset="-122"/>
                <a:ea typeface="黑体" panose="02010609060101010101" pitchFamily="49" charset="-122"/>
                <a:cs typeface="黑体" panose="02010609060101010101" pitchFamily="49" charset="-122"/>
              </a:rPr>
              <a:t>, </a:t>
            </a:r>
            <a:r>
              <a:rPr lang="zh-CN" altLang="en-US" sz="2400" dirty="0">
                <a:latin typeface="黑体" panose="02010609060101010101" pitchFamily="49" charset="-122"/>
                <a:ea typeface="黑体" panose="02010609060101010101" pitchFamily="49" charset="-122"/>
                <a:cs typeface="黑体" panose="02010609060101010101" pitchFamily="49" charset="-122"/>
              </a:rPr>
              <a:t>已被引入回归方程的变量在引入新变量后也可能失去重要性</a:t>
            </a:r>
            <a:r>
              <a:rPr lang="en-US" altLang="zh-CN" sz="2400" dirty="0">
                <a:latin typeface="黑体" panose="02010609060101010101" pitchFamily="49" charset="-122"/>
                <a:ea typeface="黑体" panose="02010609060101010101" pitchFamily="49" charset="-122"/>
                <a:cs typeface="黑体" panose="02010609060101010101" pitchFamily="49" charset="-122"/>
              </a:rPr>
              <a:t>, </a:t>
            </a:r>
            <a:r>
              <a:rPr lang="zh-CN" altLang="en-US" sz="2400" dirty="0">
                <a:latin typeface="黑体" panose="02010609060101010101" pitchFamily="49" charset="-122"/>
                <a:ea typeface="黑体" panose="02010609060101010101" pitchFamily="49" charset="-122"/>
                <a:cs typeface="黑体" panose="02010609060101010101" pitchFamily="49" charset="-122"/>
              </a:rPr>
              <a:t>而需要从回归方程中剔除出去</a:t>
            </a:r>
            <a:endParaRPr lang="en-US" altLang="zh-CN" sz="2400" dirty="0">
              <a:latin typeface="黑体" panose="02010609060101010101" pitchFamily="49" charset="-122"/>
              <a:ea typeface="黑体" panose="02010609060101010101" pitchFamily="49" charset="-122"/>
              <a:cs typeface="黑体" panose="02010609060101010101" pitchFamily="49" charset="-122"/>
            </a:endParaRPr>
          </a:p>
          <a:p>
            <a:pPr marL="342900" indent="-342900" fontAlgn="auto">
              <a:lnSpc>
                <a:spcPct val="150000"/>
              </a:lnSpc>
              <a:buFont typeface="Arial" panose="020B0604020202090204" pitchFamily="34" charset="0"/>
              <a:buChar char="•"/>
            </a:pPr>
            <a:r>
              <a:rPr lang="zh-CN" altLang="en-US" sz="2400" dirty="0">
                <a:latin typeface="黑体" panose="02010609060101010101" pitchFamily="49" charset="-122"/>
                <a:ea typeface="黑体" panose="02010609060101010101" pitchFamily="49" charset="-122"/>
                <a:cs typeface="黑体" panose="02010609060101010101" pitchFamily="49" charset="-122"/>
              </a:rPr>
              <a:t>引入一个变量或者从回归方程中剔除一个变量都称为逐步回归的一步</a:t>
            </a:r>
            <a:r>
              <a:rPr lang="en-US" altLang="zh-CN" sz="2400" dirty="0">
                <a:latin typeface="黑体" panose="02010609060101010101" pitchFamily="49" charset="-122"/>
                <a:ea typeface="黑体" panose="02010609060101010101" pitchFamily="49" charset="-122"/>
                <a:cs typeface="黑体" panose="02010609060101010101" pitchFamily="49" charset="-122"/>
              </a:rPr>
              <a:t>,</a:t>
            </a:r>
            <a:r>
              <a:rPr lang="en-US" altLang="zh-CN" sz="2400" dirty="0">
                <a:solidFill>
                  <a:srgbClr val="FF0000"/>
                </a:solidFill>
                <a:latin typeface="黑体" panose="02010609060101010101" pitchFamily="49" charset="-122"/>
                <a:ea typeface="黑体" panose="02010609060101010101" pitchFamily="49" charset="-122"/>
                <a:cs typeface="黑体" panose="02010609060101010101" pitchFamily="49" charset="-122"/>
              </a:rPr>
              <a:t> </a:t>
            </a:r>
            <a:r>
              <a:rPr lang="zh-CN" altLang="en-US" sz="2400" dirty="0">
                <a:solidFill>
                  <a:srgbClr val="FF0000"/>
                </a:solidFill>
                <a:latin typeface="黑体" panose="02010609060101010101" pitchFamily="49" charset="-122"/>
                <a:ea typeface="黑体" panose="02010609060101010101" pitchFamily="49" charset="-122"/>
                <a:cs typeface="黑体" panose="02010609060101010101" pitchFamily="49" charset="-122"/>
              </a:rPr>
              <a:t>每一步都要进行检验</a:t>
            </a:r>
            <a:r>
              <a:rPr lang="en-US" altLang="zh-CN" sz="2400" dirty="0">
                <a:latin typeface="黑体" panose="02010609060101010101" pitchFamily="49" charset="-122"/>
                <a:ea typeface="黑体" panose="02010609060101010101" pitchFamily="49" charset="-122"/>
                <a:cs typeface="黑体" panose="02010609060101010101" pitchFamily="49" charset="-122"/>
              </a:rPr>
              <a:t>, </a:t>
            </a:r>
            <a:r>
              <a:rPr lang="zh-CN" altLang="en-US" sz="2400" dirty="0">
                <a:latin typeface="黑体" panose="02010609060101010101" pitchFamily="49" charset="-122"/>
                <a:ea typeface="黑体" panose="02010609060101010101" pitchFamily="49" charset="-122"/>
                <a:cs typeface="黑体" panose="02010609060101010101" pitchFamily="49" charset="-122"/>
              </a:rPr>
              <a:t>以保证在引入新变量前回归方程中只含有对影响显著的变量</a:t>
            </a:r>
            <a:r>
              <a:rPr lang="en-US" altLang="zh-CN" sz="2400" dirty="0">
                <a:latin typeface="黑体" panose="02010609060101010101" pitchFamily="49" charset="-122"/>
                <a:ea typeface="黑体" panose="02010609060101010101" pitchFamily="49" charset="-122"/>
                <a:cs typeface="黑体" panose="02010609060101010101" pitchFamily="49" charset="-122"/>
              </a:rPr>
              <a:t>, </a:t>
            </a:r>
            <a:r>
              <a:rPr lang="zh-CN" altLang="en-US" sz="2400" dirty="0">
                <a:latin typeface="黑体" panose="02010609060101010101" pitchFamily="49" charset="-122"/>
                <a:ea typeface="黑体" panose="02010609060101010101" pitchFamily="49" charset="-122"/>
                <a:cs typeface="黑体" panose="02010609060101010101" pitchFamily="49" charset="-122"/>
              </a:rPr>
              <a:t>而不显著的变量已被剔除。 </a:t>
            </a:r>
            <a:endParaRPr lang="zh-CN" altLang="en-US" sz="2400" dirty="0">
              <a:latin typeface="黑体" panose="02010609060101010101" pitchFamily="49" charset="-122"/>
              <a:ea typeface="黑体" panose="02010609060101010101" pitchFamily="49" charset="-122"/>
              <a:cs typeface="黑体" panose="02010609060101010101" pitchFamily="49" charset="-122"/>
            </a:endParaRPr>
          </a:p>
        </p:txBody>
      </p:sp>
      <p:sp>
        <p:nvSpPr>
          <p:cNvPr id="32770" name="Rectangle 3"/>
          <p:cNvSpPr/>
          <p:nvPr/>
        </p:nvSpPr>
        <p:spPr>
          <a:xfrm>
            <a:off x="2171700" y="289717"/>
            <a:ext cx="6096000" cy="604781"/>
          </a:xfrm>
          <a:prstGeom prst="rect">
            <a:avLst/>
          </a:prstGeom>
          <a:noFill/>
          <a:ln w="9525">
            <a:noFill/>
          </a:ln>
        </p:spPr>
        <p:txBody>
          <a:bodyPr anchor="t">
            <a:spAutoFit/>
          </a:bodyPr>
          <a:lstStyle/>
          <a:p>
            <a:pPr>
              <a:lnSpc>
                <a:spcPct val="120000"/>
              </a:lnSpc>
            </a:pPr>
            <a:r>
              <a:rPr lang="zh-CN" altLang="en-US" sz="3200" dirty="0">
                <a:latin typeface="黑体" panose="02010609060101010101" pitchFamily="49" charset="-122"/>
                <a:ea typeface="黑体" panose="02010609060101010101" pitchFamily="49" charset="-122"/>
                <a:cs typeface="黑体" panose="02010609060101010101" pitchFamily="49" charset="-122"/>
              </a:rPr>
              <a:t>逐步回归法 </a:t>
            </a:r>
            <a:endParaRPr lang="zh-CN" altLang="en-US" sz="3200" dirty="0">
              <a:latin typeface="黑体" panose="02010609060101010101" pitchFamily="49" charset="-122"/>
              <a:ea typeface="黑体" panose="02010609060101010101" pitchFamily="49" charset="-122"/>
              <a:cs typeface="黑体" panose="02010609060101010101" pitchFamily="49" charset="-122"/>
            </a:endParaRPr>
          </a:p>
        </p:txBody>
      </p:sp>
      <p:sp>
        <p:nvSpPr>
          <p:cNvPr id="32771" name="灯片编号占位符 5"/>
          <p:cNvSpPr>
            <a:spLocks noGrp="1"/>
          </p:cNvSpPr>
          <p:nvPr>
            <p:ph type="sldNum" sz="quarter" idx="12"/>
          </p:nvPr>
        </p:nvSpPr>
        <p:spPr/>
        <p:txBody>
          <a:bodyPr vert="horz" wrap="square" lIns="91440" tIns="45720" rIns="91440" bIns="45720" rtlCol="0" anchor="b">
            <a:no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algn="r"/>
            <a:fld id="{9A0DB2DC-4C9A-4742-B13C-FB6460FD3503}" type="slidenum">
              <a:rPr lang="en-US" altLang="zh-CN" sz="2400" dirty="0">
                <a:latin typeface="黑体" panose="02010609060101010101" pitchFamily="49" charset="-122"/>
                <a:ea typeface="黑体" panose="02010609060101010101" pitchFamily="49" charset="-122"/>
              </a:rPr>
            </a:fld>
            <a:endParaRPr lang="en-US" altLang="zh-CN" sz="2400" dirty="0">
              <a:latin typeface="黑体" panose="02010609060101010101" pitchFamily="49" charset="-122"/>
              <a:ea typeface="黑体" panose="02010609060101010101" pitchFamily="49" charset="-122"/>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p:nvPr/>
        </p:nvSpPr>
        <p:spPr>
          <a:xfrm>
            <a:off x="1828800" y="228601"/>
            <a:ext cx="8382000" cy="1863725"/>
          </a:xfrm>
          <a:prstGeom prst="rect">
            <a:avLst/>
          </a:prstGeom>
          <a:noFill/>
          <a:ln w="9525">
            <a:noFill/>
          </a:ln>
        </p:spPr>
        <p:txBody>
          <a:bodyPr anchor="t">
            <a:spAutoFit/>
          </a:bodyPr>
          <a:lstStyle/>
          <a:p>
            <a:pPr>
              <a:lnSpc>
                <a:spcPct val="120000"/>
              </a:lnSpc>
            </a:pPr>
            <a:r>
              <a:rPr lang="zh-CN" altLang="en-US" sz="2400" dirty="0">
                <a:solidFill>
                  <a:srgbClr val="FF0000"/>
                </a:solidFill>
                <a:latin typeface="Times New Roman" panose="02020503050405090304" pitchFamily="18" charset="0"/>
                <a:ea typeface="黑体" panose="02010609060101010101" pitchFamily="49" charset="-122"/>
                <a:cs typeface="Times New Roman" panose="02020503050405090304" pitchFamily="18" charset="0"/>
              </a:rPr>
              <a:t>变量的显著性</a:t>
            </a:r>
            <a:r>
              <a:rPr lang="zh-CN" altLang="en-US" sz="2400" dirty="0">
                <a:latin typeface="Times New Roman" panose="02020503050405090304" pitchFamily="18" charset="0"/>
                <a:ea typeface="黑体" panose="02010609060101010101" pitchFamily="49" charset="-122"/>
                <a:cs typeface="Times New Roman" panose="02020503050405090304" pitchFamily="18" charset="0"/>
              </a:rPr>
              <a:t>可以利用方差分析表来进行分析。</a:t>
            </a:r>
            <a:endParaRPr lang="zh-CN" altLang="en-US" sz="2400" dirty="0">
              <a:latin typeface="Times New Roman" panose="02020503050405090304" pitchFamily="18" charset="0"/>
              <a:ea typeface="黑体" panose="02010609060101010101" pitchFamily="49" charset="-122"/>
              <a:cs typeface="Times New Roman" panose="02020503050405090304" pitchFamily="18" charset="0"/>
            </a:endParaRPr>
          </a:p>
          <a:p>
            <a:pPr>
              <a:lnSpc>
                <a:spcPct val="120000"/>
              </a:lnSpc>
            </a:pPr>
            <a:r>
              <a:rPr lang="zh-CN" altLang="en-US" sz="2400" dirty="0">
                <a:latin typeface="Times New Roman" panose="02020503050405090304" pitchFamily="18" charset="0"/>
                <a:ea typeface="黑体" panose="02010609060101010101" pitchFamily="49" charset="-122"/>
                <a:cs typeface="Times New Roman" panose="02020503050405090304" pitchFamily="18" charset="0"/>
              </a:rPr>
              <a:t>设</a:t>
            </a:r>
            <a:r>
              <a:rPr lang="en-US" altLang="zh-CN" sz="2400" dirty="0">
                <a:latin typeface="Times New Roman" panose="02020503050405090304" pitchFamily="18" charset="0"/>
                <a:ea typeface="黑体" panose="02010609060101010101" pitchFamily="49" charset="-122"/>
                <a:cs typeface="Times New Roman" panose="02020503050405090304" pitchFamily="18" charset="0"/>
              </a:rPr>
              <a:t>MSS</a:t>
            </a:r>
            <a:r>
              <a:rPr lang="zh-CN" altLang="en-US" sz="2400" dirty="0">
                <a:latin typeface="Times New Roman" panose="02020503050405090304" pitchFamily="18" charset="0"/>
                <a:ea typeface="黑体" panose="02010609060101010101" pitchFamily="49" charset="-122"/>
                <a:cs typeface="Times New Roman" panose="02020503050405090304" pitchFamily="18" charset="0"/>
              </a:rPr>
              <a:t>为引入变量前的回归平方和，</a:t>
            </a:r>
            <a:r>
              <a:rPr lang="en-US" altLang="zh-CN" sz="2400" dirty="0">
                <a:latin typeface="Times New Roman" panose="02020503050405090304" pitchFamily="18" charset="0"/>
                <a:ea typeface="黑体" panose="02010609060101010101" pitchFamily="49" charset="-122"/>
                <a:cs typeface="Times New Roman" panose="02020503050405090304" pitchFamily="18" charset="0"/>
              </a:rPr>
              <a:t>MSS’</a:t>
            </a:r>
            <a:r>
              <a:rPr lang="en-US" altLang="zh-CN" sz="2400" baseline="-25000" dirty="0">
                <a:latin typeface="Times New Roman" panose="02020503050405090304" pitchFamily="18" charset="0"/>
                <a:ea typeface="黑体" panose="02010609060101010101" pitchFamily="49" charset="-122"/>
                <a:cs typeface="Times New Roman" panose="02020503050405090304" pitchFamily="18" charset="0"/>
              </a:rPr>
              <a:t> </a:t>
            </a:r>
            <a:r>
              <a:rPr lang="zh-CN" altLang="en-US" sz="2400" dirty="0">
                <a:latin typeface="Times New Roman" panose="02020503050405090304" pitchFamily="18" charset="0"/>
                <a:ea typeface="黑体" panose="02010609060101010101" pitchFamily="49" charset="-122"/>
                <a:cs typeface="Times New Roman" panose="02020503050405090304" pitchFamily="18" charset="0"/>
              </a:rPr>
              <a:t>为引入</a:t>
            </a:r>
            <a:r>
              <a:rPr lang="en-US" altLang="zh-CN" sz="2400" i="1" dirty="0">
                <a:latin typeface="Times New Roman" panose="02020503050405090304" pitchFamily="18" charset="0"/>
                <a:ea typeface="黑体" panose="02010609060101010101" pitchFamily="49" charset="-122"/>
                <a:cs typeface="Times New Roman" panose="02020503050405090304" pitchFamily="18" charset="0"/>
              </a:rPr>
              <a:t>m</a:t>
            </a:r>
            <a:r>
              <a:rPr lang="zh-CN" altLang="en-US" sz="2400" dirty="0">
                <a:latin typeface="Times New Roman" panose="02020503050405090304" pitchFamily="18" charset="0"/>
                <a:ea typeface="黑体" panose="02010609060101010101" pitchFamily="49" charset="-122"/>
                <a:cs typeface="Times New Roman" panose="02020503050405090304" pitchFamily="18" charset="0"/>
              </a:rPr>
              <a:t>个新变量后，得到的回归平方和，</a:t>
            </a:r>
            <a:r>
              <a:rPr lang="en-US" altLang="zh-CN" sz="2400" dirty="0">
                <a:latin typeface="Times New Roman" panose="02020503050405090304" pitchFamily="18" charset="0"/>
                <a:ea typeface="黑体" panose="02010609060101010101" pitchFamily="49" charset="-122"/>
                <a:cs typeface="Times New Roman" panose="02020503050405090304" pitchFamily="18" charset="0"/>
              </a:rPr>
              <a:t>ESS’</a:t>
            </a:r>
            <a:r>
              <a:rPr lang="zh-CN" altLang="en-US" sz="2400" dirty="0">
                <a:latin typeface="Times New Roman" panose="02020503050405090304" pitchFamily="18" charset="0"/>
                <a:ea typeface="黑体" panose="02010609060101010101" pitchFamily="49" charset="-122"/>
                <a:cs typeface="Times New Roman" panose="02020503050405090304" pitchFamily="18" charset="0"/>
              </a:rPr>
              <a:t>为引入变量后的残差平方和。</a:t>
            </a:r>
            <a:endParaRPr lang="zh-CN" altLang="en-US" sz="2400" dirty="0">
              <a:latin typeface="Times New Roman" panose="02020503050405090304" pitchFamily="18" charset="0"/>
              <a:ea typeface="黑体" panose="02010609060101010101" pitchFamily="49" charset="-122"/>
              <a:cs typeface="Times New Roman" panose="02020503050405090304" pitchFamily="18" charset="0"/>
            </a:endParaRPr>
          </a:p>
          <a:p>
            <a:pPr>
              <a:lnSpc>
                <a:spcPct val="120000"/>
              </a:lnSpc>
            </a:pPr>
            <a:r>
              <a:rPr lang="zh-CN" altLang="en-US" sz="2400" dirty="0">
                <a:latin typeface="Times New Roman" panose="02020503050405090304" pitchFamily="18" charset="0"/>
                <a:ea typeface="黑体" panose="02010609060101010101" pitchFamily="49" charset="-122"/>
                <a:cs typeface="Times New Roman" panose="02020503050405090304" pitchFamily="18" charset="0"/>
              </a:rPr>
              <a:t>        </a:t>
            </a:r>
            <a:r>
              <a:rPr lang="en-US" altLang="zh-CN" sz="2400" dirty="0">
                <a:latin typeface="Times New Roman" panose="02020503050405090304" pitchFamily="18" charset="0"/>
                <a:ea typeface="黑体" panose="02010609060101010101" pitchFamily="49" charset="-122"/>
                <a:cs typeface="Times New Roman" panose="02020503050405090304" pitchFamily="18" charset="0"/>
              </a:rPr>
              <a:t>ANOVA</a:t>
            </a:r>
            <a:r>
              <a:rPr lang="zh-CN" altLang="en-US" sz="2400" dirty="0">
                <a:latin typeface="Times New Roman" panose="02020503050405090304" pitchFamily="18" charset="0"/>
                <a:ea typeface="黑体" panose="02010609060101010101" pitchFamily="49" charset="-122"/>
                <a:cs typeface="Times New Roman" panose="02020503050405090304" pitchFamily="18" charset="0"/>
              </a:rPr>
              <a:t>表如下：</a:t>
            </a:r>
            <a:endParaRPr lang="zh-CN" altLang="en-US" sz="2400" dirty="0">
              <a:latin typeface="Times New Roman" panose="02020503050405090304" pitchFamily="18" charset="0"/>
              <a:ea typeface="黑体" panose="02010609060101010101" pitchFamily="49" charset="-122"/>
              <a:cs typeface="Times New Roman" panose="02020503050405090304" pitchFamily="18" charset="0"/>
            </a:endParaRPr>
          </a:p>
        </p:txBody>
      </p:sp>
      <p:graphicFrame>
        <p:nvGraphicFramePr>
          <p:cNvPr id="19460" name="表格 19459"/>
          <p:cNvGraphicFramePr/>
          <p:nvPr/>
        </p:nvGraphicFramePr>
        <p:xfrm>
          <a:off x="2057400" y="1982634"/>
          <a:ext cx="8229600" cy="3048000"/>
        </p:xfrm>
        <a:graphic>
          <a:graphicData uri="http://schemas.openxmlformats.org/drawingml/2006/table">
            <a:tbl>
              <a:tblPr/>
              <a:tblGrid>
                <a:gridCol w="2590800"/>
                <a:gridCol w="1524000"/>
                <a:gridCol w="2057400"/>
                <a:gridCol w="2057400"/>
              </a:tblGrid>
              <a:tr h="509588">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zh-CN" sz="2000" dirty="0">
                        <a:latin typeface="Tahoma" panose="020B0604030504040204" pitchFamily="34" charset="0"/>
                      </a:endParaRPr>
                    </a:p>
                  </a:txBody>
                  <a:tcPr>
                    <a:lnL>
                      <a:noFill/>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dirty="0">
                          <a:latin typeface="Tahoma" panose="020B0604030504040204" pitchFamily="34" charset="0"/>
                        </a:rPr>
                        <a:t>平方和</a:t>
                      </a:r>
                      <a:endParaRPr lang="zh-CN" altLang="en-US" sz="2000" dirty="0">
                        <a:latin typeface="Tahoma" panose="020B0604030504040204" pitchFamily="34"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dirty="0">
                          <a:latin typeface="Tahoma" panose="020B0604030504040204" pitchFamily="34" charset="0"/>
                        </a:rPr>
                        <a:t>自由度</a:t>
                      </a:r>
                      <a:endParaRPr lang="zh-CN" altLang="en-US" sz="2000" dirty="0">
                        <a:latin typeface="Tahoma" panose="020B0604030504040204" pitchFamily="34"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dirty="0">
                          <a:latin typeface="Tahoma" panose="020B0604030504040204" pitchFamily="34" charset="0"/>
                        </a:rPr>
                        <a:t>均方差</a:t>
                      </a:r>
                      <a:endParaRPr lang="zh-CN" altLang="en-US" sz="2000" dirty="0">
                        <a:latin typeface="Tahoma" panose="020B0604030504040204" pitchFamily="34" charset="0"/>
                      </a:endParaRPr>
                    </a:p>
                  </a:txBody>
                  <a:tcPr>
                    <a:lnL w="12700" cap="flat" cmpd="sng">
                      <a:solidFill>
                        <a:schemeClr val="tx1"/>
                      </a:solidFill>
                      <a:prstDash val="solid"/>
                      <a:headEnd type="none" w="med" len="med"/>
                      <a:tailEnd type="none" w="med" len="med"/>
                    </a:lnL>
                    <a:lnR>
                      <a:noFill/>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04825">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dirty="0">
                          <a:latin typeface="Times New Roman" panose="02020503050405090304" pitchFamily="18" charset="0"/>
                          <a:cs typeface="Times New Roman" panose="02020503050405090304" pitchFamily="18" charset="0"/>
                        </a:rPr>
                        <a:t>引入变量前的</a:t>
                      </a:r>
                      <a:r>
                        <a:rPr lang="en-US" altLang="zh-CN" sz="2000" dirty="0">
                          <a:latin typeface="Times New Roman" panose="02020503050405090304" pitchFamily="18" charset="0"/>
                          <a:cs typeface="Times New Roman" panose="02020503050405090304" pitchFamily="18" charset="0"/>
                        </a:rPr>
                        <a:t>MSS</a:t>
                      </a:r>
                      <a:endParaRPr lang="en-US" altLang="zh-CN" sz="2000" baseline="-25000" dirty="0">
                        <a:latin typeface="Times New Roman" panose="02020503050405090304" pitchFamily="18" charset="0"/>
                        <a:cs typeface="Times New Roman" panose="02020503050405090304" pitchFamily="18" charset="0"/>
                      </a:endParaRPr>
                    </a:p>
                  </a:txBody>
                  <a:tcPr>
                    <a:lnL>
                      <a:noFill/>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2000" dirty="0">
                          <a:latin typeface="Times New Roman" panose="02020503050405090304" pitchFamily="18" charset="0"/>
                          <a:cs typeface="Times New Roman" panose="02020503050405090304" pitchFamily="18" charset="0"/>
                        </a:rPr>
                        <a:t>U</a:t>
                      </a:r>
                      <a:r>
                        <a:rPr lang="en-US" altLang="zh-CN" sz="2000" baseline="-25000" dirty="0">
                          <a:latin typeface="Times New Roman" panose="02020503050405090304" pitchFamily="18" charset="0"/>
                          <a:cs typeface="Times New Roman" panose="02020503050405090304" pitchFamily="18" charset="0"/>
                        </a:rPr>
                        <a:t>1</a:t>
                      </a:r>
                      <a:endParaRPr lang="en-US" altLang="zh-CN" sz="2000" dirty="0">
                        <a:latin typeface="Times New Roman" panose="02020503050405090304" pitchFamily="18" charset="0"/>
                        <a:cs typeface="Times New Roman" panose="0202050305040509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2000" i="1" dirty="0">
                          <a:latin typeface="Times New Roman" panose="02020503050405090304" pitchFamily="18" charset="0"/>
                          <a:cs typeface="Times New Roman" panose="02020503050405090304" pitchFamily="18" charset="0"/>
                        </a:rPr>
                        <a:t>k</a:t>
                      </a:r>
                      <a:endParaRPr lang="en-US" altLang="zh-CN" sz="2000" i="1" dirty="0">
                        <a:latin typeface="Times New Roman" panose="02020503050405090304" pitchFamily="18" charset="0"/>
                        <a:cs typeface="Times New Roman" panose="0202050305040509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2000" dirty="0">
                          <a:latin typeface="Times New Roman" panose="02020503050405090304" pitchFamily="18" charset="0"/>
                          <a:cs typeface="Times New Roman" panose="02020503050405090304" pitchFamily="18" charset="0"/>
                        </a:rPr>
                        <a:t>U</a:t>
                      </a:r>
                      <a:r>
                        <a:rPr lang="en-US" altLang="zh-CN" sz="2000" baseline="-25000" dirty="0">
                          <a:latin typeface="Times New Roman" panose="02020503050405090304" pitchFamily="18" charset="0"/>
                          <a:cs typeface="Times New Roman" panose="02020503050405090304" pitchFamily="18" charset="0"/>
                        </a:rPr>
                        <a:t>1</a:t>
                      </a:r>
                      <a:r>
                        <a:rPr lang="en-US" altLang="zh-CN" sz="2000" dirty="0">
                          <a:latin typeface="Times New Roman" panose="02020503050405090304" pitchFamily="18" charset="0"/>
                          <a:cs typeface="Times New Roman" panose="02020503050405090304" pitchFamily="18" charset="0"/>
                        </a:rPr>
                        <a:t>/(</a:t>
                      </a:r>
                      <a:r>
                        <a:rPr lang="en-US" altLang="zh-CN" sz="2000" i="1" dirty="0">
                          <a:latin typeface="Times New Roman" panose="02020503050405090304" pitchFamily="18" charset="0"/>
                          <a:cs typeface="Times New Roman" panose="02020503050405090304" pitchFamily="18" charset="0"/>
                        </a:rPr>
                        <a:t>k</a:t>
                      </a:r>
                      <a:r>
                        <a:rPr lang="en-US" altLang="zh-CN" sz="2000" dirty="0">
                          <a:latin typeface="Times New Roman" panose="02020503050405090304" pitchFamily="18" charset="0"/>
                          <a:cs typeface="Times New Roman" panose="02020503050405090304" pitchFamily="18" charset="0"/>
                        </a:rPr>
                        <a:t>)</a:t>
                      </a:r>
                      <a:endParaRPr lang="en-US" altLang="zh-CN" sz="2000" dirty="0">
                        <a:latin typeface="Times New Roman" panose="02020503050405090304" pitchFamily="18" charset="0"/>
                        <a:cs typeface="Times New Roman" panose="02020503050405090304" pitchFamily="18" charset="0"/>
                      </a:endParaRPr>
                    </a:p>
                  </a:txBody>
                  <a:tcPr>
                    <a:lnL w="12700" cap="flat" cmpd="sng">
                      <a:solidFill>
                        <a:schemeClr val="tx1"/>
                      </a:solidFill>
                      <a:prstDash val="solid"/>
                      <a:headEnd type="none" w="med" len="med"/>
                      <a:tailEnd type="none" w="med" len="med"/>
                    </a:lnL>
                    <a:lnR>
                      <a:noFill/>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09587">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dirty="0">
                          <a:latin typeface="Times New Roman" panose="02020503050405090304" pitchFamily="18" charset="0"/>
                          <a:cs typeface="Times New Roman" panose="02020503050405090304" pitchFamily="18" charset="0"/>
                        </a:rPr>
                        <a:t>引入变量后的</a:t>
                      </a:r>
                      <a:r>
                        <a:rPr lang="en-US" altLang="zh-CN" sz="2000" dirty="0">
                          <a:latin typeface="Times New Roman" panose="02020503050405090304" pitchFamily="18" charset="0"/>
                          <a:cs typeface="Times New Roman" panose="02020503050405090304" pitchFamily="18" charset="0"/>
                        </a:rPr>
                        <a:t>MSS</a:t>
                      </a:r>
                      <a:endParaRPr lang="en-US" altLang="zh-CN" sz="2000" baseline="-25000" dirty="0">
                        <a:latin typeface="Times New Roman" panose="02020503050405090304" pitchFamily="18" charset="0"/>
                        <a:cs typeface="Times New Roman" panose="02020503050405090304" pitchFamily="18" charset="0"/>
                      </a:endParaRPr>
                    </a:p>
                  </a:txBody>
                  <a:tcPr>
                    <a:lnL>
                      <a:noFill/>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2000" dirty="0">
                          <a:latin typeface="Times New Roman" panose="02020503050405090304" pitchFamily="18" charset="0"/>
                          <a:cs typeface="Times New Roman" panose="02020503050405090304" pitchFamily="18" charset="0"/>
                        </a:rPr>
                        <a:t>U</a:t>
                      </a:r>
                      <a:r>
                        <a:rPr lang="en-US" altLang="zh-CN" sz="2000" baseline="-25000" dirty="0">
                          <a:latin typeface="Times New Roman" panose="02020503050405090304" pitchFamily="18" charset="0"/>
                          <a:cs typeface="Times New Roman" panose="02020503050405090304" pitchFamily="18" charset="0"/>
                        </a:rPr>
                        <a:t>2</a:t>
                      </a:r>
                      <a:endParaRPr lang="en-US" altLang="zh-CN" sz="2000" dirty="0">
                        <a:latin typeface="Times New Roman" panose="02020503050405090304" pitchFamily="18" charset="0"/>
                        <a:cs typeface="Times New Roman" panose="0202050305040509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2000" i="1" dirty="0">
                          <a:latin typeface="Times New Roman" panose="02020503050405090304" pitchFamily="18" charset="0"/>
                          <a:cs typeface="Times New Roman" panose="02020503050405090304" pitchFamily="18" charset="0"/>
                        </a:rPr>
                        <a:t>k</a:t>
                      </a:r>
                      <a:r>
                        <a:rPr lang="en-US" altLang="zh-CN" sz="2000" dirty="0">
                          <a:latin typeface="Times New Roman" panose="02020503050405090304" pitchFamily="18" charset="0"/>
                          <a:cs typeface="Times New Roman" panose="02020503050405090304" pitchFamily="18" charset="0"/>
                        </a:rPr>
                        <a:t>+</a:t>
                      </a:r>
                      <a:r>
                        <a:rPr lang="en-US" altLang="zh-CN" sz="2000" i="1" dirty="0">
                          <a:latin typeface="Times New Roman" panose="02020503050405090304" pitchFamily="18" charset="0"/>
                          <a:cs typeface="Times New Roman" panose="02020503050405090304" pitchFamily="18" charset="0"/>
                        </a:rPr>
                        <a:t>m</a:t>
                      </a:r>
                      <a:endParaRPr lang="en-US" altLang="zh-CN" sz="2000" i="1" dirty="0">
                        <a:latin typeface="Times New Roman" panose="02020503050405090304" pitchFamily="18" charset="0"/>
                        <a:cs typeface="Times New Roman" panose="0202050305040509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2000" dirty="0">
                          <a:latin typeface="Times New Roman" panose="02020503050405090304" pitchFamily="18" charset="0"/>
                          <a:cs typeface="Times New Roman" panose="02020503050405090304" pitchFamily="18" charset="0"/>
                        </a:rPr>
                        <a:t>U</a:t>
                      </a:r>
                      <a:r>
                        <a:rPr lang="en-US" altLang="zh-CN" sz="2000" baseline="-25000" dirty="0">
                          <a:latin typeface="Times New Roman" panose="02020503050405090304" pitchFamily="18" charset="0"/>
                          <a:cs typeface="Times New Roman" panose="02020503050405090304" pitchFamily="18" charset="0"/>
                        </a:rPr>
                        <a:t>2</a:t>
                      </a:r>
                      <a:r>
                        <a:rPr lang="en-US" altLang="zh-CN" sz="2000" dirty="0">
                          <a:latin typeface="Times New Roman" panose="02020503050405090304" pitchFamily="18" charset="0"/>
                          <a:cs typeface="Times New Roman" panose="02020503050405090304" pitchFamily="18" charset="0"/>
                        </a:rPr>
                        <a:t>/(</a:t>
                      </a:r>
                      <a:r>
                        <a:rPr lang="en-US" altLang="zh-CN" sz="2000" i="1" dirty="0">
                          <a:latin typeface="Times New Roman" panose="02020503050405090304" pitchFamily="18" charset="0"/>
                          <a:cs typeface="Times New Roman" panose="02020503050405090304" pitchFamily="18" charset="0"/>
                        </a:rPr>
                        <a:t>k</a:t>
                      </a:r>
                      <a:r>
                        <a:rPr lang="en-US" altLang="zh-CN" sz="2000" dirty="0">
                          <a:latin typeface="Times New Roman" panose="02020503050405090304" pitchFamily="18" charset="0"/>
                          <a:cs typeface="Times New Roman" panose="02020503050405090304" pitchFamily="18" charset="0"/>
                        </a:rPr>
                        <a:t>+</a:t>
                      </a:r>
                      <a:r>
                        <a:rPr lang="en-US" altLang="zh-CN" sz="2000" i="1" dirty="0">
                          <a:latin typeface="Times New Roman" panose="02020503050405090304" pitchFamily="18" charset="0"/>
                          <a:cs typeface="Times New Roman" panose="02020503050405090304" pitchFamily="18" charset="0"/>
                        </a:rPr>
                        <a:t>m</a:t>
                      </a:r>
                      <a:r>
                        <a:rPr lang="en-US" altLang="zh-CN" sz="2000" dirty="0">
                          <a:latin typeface="Times New Roman" panose="02020503050405090304" pitchFamily="18" charset="0"/>
                          <a:cs typeface="Times New Roman" panose="02020503050405090304" pitchFamily="18" charset="0"/>
                        </a:rPr>
                        <a:t>)</a:t>
                      </a:r>
                      <a:endParaRPr lang="en-US" altLang="zh-CN" sz="2000" dirty="0">
                        <a:latin typeface="Times New Roman" panose="02020503050405090304" pitchFamily="18" charset="0"/>
                        <a:cs typeface="Times New Roman" panose="02020503050405090304" pitchFamily="18" charset="0"/>
                      </a:endParaRPr>
                    </a:p>
                  </a:txBody>
                  <a:tcPr>
                    <a:lnL w="12700" cap="flat" cmpd="sng">
                      <a:solidFill>
                        <a:schemeClr val="tx1"/>
                      </a:solidFill>
                      <a:prstDash val="solid"/>
                      <a:headEnd type="none" w="med" len="med"/>
                      <a:tailEnd type="none" w="med" len="med"/>
                    </a:lnL>
                    <a:lnR>
                      <a:noFill/>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09588">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dirty="0">
                          <a:latin typeface="Times New Roman" panose="02020503050405090304" pitchFamily="18" charset="0"/>
                          <a:cs typeface="Times New Roman" panose="02020503050405090304" pitchFamily="18" charset="0"/>
                        </a:rPr>
                        <a:t>添加变量的边际贡献</a:t>
                      </a:r>
                      <a:endParaRPr lang="zh-CN" altLang="en-US" sz="2000" dirty="0">
                        <a:latin typeface="Times New Roman" panose="02020503050405090304" pitchFamily="18" charset="0"/>
                        <a:cs typeface="Times New Roman" panose="02020503050405090304" pitchFamily="18" charset="0"/>
                      </a:endParaRPr>
                    </a:p>
                  </a:txBody>
                  <a:tcPr>
                    <a:lnL>
                      <a:noFill/>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2000" dirty="0">
                          <a:latin typeface="Times New Roman" panose="02020503050405090304" pitchFamily="18" charset="0"/>
                          <a:cs typeface="Times New Roman" panose="02020503050405090304" pitchFamily="18" charset="0"/>
                        </a:rPr>
                        <a:t>(U</a:t>
                      </a:r>
                      <a:r>
                        <a:rPr lang="en-US" altLang="zh-CN" sz="2000" baseline="-25000" dirty="0">
                          <a:latin typeface="Times New Roman" panose="02020503050405090304" pitchFamily="18" charset="0"/>
                          <a:cs typeface="Times New Roman" panose="02020503050405090304" pitchFamily="18" charset="0"/>
                        </a:rPr>
                        <a:t>2</a:t>
                      </a:r>
                      <a:r>
                        <a:rPr lang="en-US" altLang="zh-CN" sz="2000" dirty="0">
                          <a:latin typeface="Times New Roman" panose="02020503050405090304" pitchFamily="18" charset="0"/>
                          <a:cs typeface="Times New Roman" panose="02020503050405090304" pitchFamily="18" charset="0"/>
                        </a:rPr>
                        <a:t>-U</a:t>
                      </a:r>
                      <a:r>
                        <a:rPr lang="en-US" altLang="zh-CN" sz="2000" baseline="-25000" dirty="0">
                          <a:latin typeface="Times New Roman" panose="02020503050405090304" pitchFamily="18" charset="0"/>
                          <a:cs typeface="Times New Roman" panose="02020503050405090304" pitchFamily="18" charset="0"/>
                        </a:rPr>
                        <a:t>1</a:t>
                      </a:r>
                      <a:r>
                        <a:rPr lang="en-US" altLang="zh-CN" sz="2000" dirty="0">
                          <a:latin typeface="Times New Roman" panose="02020503050405090304" pitchFamily="18" charset="0"/>
                          <a:cs typeface="Times New Roman" panose="02020503050405090304" pitchFamily="18" charset="0"/>
                        </a:rPr>
                        <a:t>)</a:t>
                      </a:r>
                      <a:endParaRPr lang="en-US" altLang="zh-CN" sz="2000" dirty="0">
                        <a:latin typeface="Times New Roman" panose="02020503050405090304" pitchFamily="18" charset="0"/>
                        <a:cs typeface="Times New Roman" panose="0202050305040509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2000" i="1" dirty="0">
                          <a:latin typeface="Times New Roman" panose="02020503050405090304" pitchFamily="18" charset="0"/>
                          <a:cs typeface="Times New Roman" panose="02020503050405090304" pitchFamily="18" charset="0"/>
                        </a:rPr>
                        <a:t>m</a:t>
                      </a:r>
                      <a:endParaRPr lang="en-US" altLang="zh-CN" sz="2000" i="1" dirty="0">
                        <a:latin typeface="Times New Roman" panose="02020503050405090304" pitchFamily="18" charset="0"/>
                        <a:cs typeface="Times New Roman" panose="0202050305040509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2000" dirty="0">
                          <a:latin typeface="Times New Roman" panose="02020503050405090304" pitchFamily="18" charset="0"/>
                          <a:cs typeface="Times New Roman" panose="02020503050405090304" pitchFamily="18" charset="0"/>
                        </a:rPr>
                        <a:t>(U</a:t>
                      </a:r>
                      <a:r>
                        <a:rPr lang="en-US" altLang="zh-CN" sz="2000" baseline="-25000" dirty="0">
                          <a:latin typeface="Times New Roman" panose="02020503050405090304" pitchFamily="18" charset="0"/>
                          <a:cs typeface="Times New Roman" panose="02020503050405090304" pitchFamily="18" charset="0"/>
                        </a:rPr>
                        <a:t>2</a:t>
                      </a:r>
                      <a:r>
                        <a:rPr lang="en-US" altLang="zh-CN" sz="2000" dirty="0">
                          <a:latin typeface="Times New Roman" panose="02020503050405090304" pitchFamily="18" charset="0"/>
                          <a:cs typeface="Times New Roman" panose="02020503050405090304" pitchFamily="18" charset="0"/>
                        </a:rPr>
                        <a:t>-U</a:t>
                      </a:r>
                      <a:r>
                        <a:rPr lang="en-US" altLang="zh-CN" sz="2000" baseline="-25000" dirty="0">
                          <a:latin typeface="Times New Roman" panose="02020503050405090304" pitchFamily="18" charset="0"/>
                          <a:cs typeface="Times New Roman" panose="02020503050405090304" pitchFamily="18" charset="0"/>
                        </a:rPr>
                        <a:t>1</a:t>
                      </a:r>
                      <a:r>
                        <a:rPr lang="en-US" altLang="zh-CN" sz="2000" dirty="0">
                          <a:latin typeface="Times New Roman" panose="02020503050405090304" pitchFamily="18" charset="0"/>
                          <a:cs typeface="Times New Roman" panose="02020503050405090304" pitchFamily="18" charset="0"/>
                        </a:rPr>
                        <a:t>)/</a:t>
                      </a:r>
                      <a:r>
                        <a:rPr lang="en-US" altLang="zh-CN" sz="2000" i="1" dirty="0">
                          <a:latin typeface="Times New Roman" panose="02020503050405090304" pitchFamily="18" charset="0"/>
                          <a:cs typeface="Times New Roman" panose="02020503050405090304" pitchFamily="18" charset="0"/>
                        </a:rPr>
                        <a:t>m</a:t>
                      </a:r>
                      <a:endParaRPr lang="en-US" altLang="zh-CN" sz="2000" i="1" dirty="0">
                        <a:latin typeface="Times New Roman" panose="02020503050405090304" pitchFamily="18" charset="0"/>
                        <a:cs typeface="Times New Roman" panose="02020503050405090304" pitchFamily="18" charset="0"/>
                      </a:endParaRPr>
                    </a:p>
                  </a:txBody>
                  <a:tcPr>
                    <a:lnL w="12700" cap="flat" cmpd="sng">
                      <a:solidFill>
                        <a:schemeClr val="tx1"/>
                      </a:solidFill>
                      <a:prstDash val="solid"/>
                      <a:headEnd type="none" w="med" len="med"/>
                      <a:tailEnd type="none" w="med" len="med"/>
                    </a:lnL>
                    <a:lnR>
                      <a:noFill/>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04825">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dirty="0">
                          <a:latin typeface="Times New Roman" panose="02020503050405090304" pitchFamily="18" charset="0"/>
                          <a:cs typeface="Times New Roman" panose="02020503050405090304" pitchFamily="18" charset="0"/>
                        </a:rPr>
                        <a:t>添加变量后的</a:t>
                      </a:r>
                      <a:r>
                        <a:rPr lang="en-US" altLang="zh-CN" sz="2000" dirty="0">
                          <a:latin typeface="Times New Roman" panose="02020503050405090304" pitchFamily="18" charset="0"/>
                          <a:cs typeface="Times New Roman" panose="02020503050405090304" pitchFamily="18" charset="0"/>
                        </a:rPr>
                        <a:t>ESS</a:t>
                      </a:r>
                      <a:endParaRPr lang="en-US" altLang="zh-CN" sz="2000" dirty="0">
                        <a:latin typeface="Times New Roman" panose="02020503050405090304" pitchFamily="18" charset="0"/>
                        <a:cs typeface="Times New Roman" panose="02020503050405090304" pitchFamily="18" charset="0"/>
                      </a:endParaRPr>
                    </a:p>
                  </a:txBody>
                  <a:tcPr>
                    <a:lnL>
                      <a:noFill/>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2000" dirty="0">
                          <a:latin typeface="Times New Roman" panose="02020503050405090304" pitchFamily="18" charset="0"/>
                          <a:cs typeface="Times New Roman" panose="02020503050405090304" pitchFamily="18" charset="0"/>
                        </a:rPr>
                        <a:t>Q</a:t>
                      </a:r>
                      <a:endParaRPr lang="en-US" altLang="zh-CN" sz="2000" dirty="0">
                        <a:latin typeface="Times New Roman" panose="02020503050405090304" pitchFamily="18" charset="0"/>
                        <a:cs typeface="Times New Roman" panose="0202050305040509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2000" i="1" dirty="0">
                          <a:latin typeface="Times New Roman" panose="02020503050405090304" pitchFamily="18" charset="0"/>
                          <a:cs typeface="Times New Roman" panose="02020503050405090304" pitchFamily="18" charset="0"/>
                        </a:rPr>
                        <a:t>n</a:t>
                      </a:r>
                      <a:r>
                        <a:rPr lang="en-US" altLang="zh-CN" sz="2000" dirty="0">
                          <a:latin typeface="Times New Roman" panose="02020503050405090304" pitchFamily="18" charset="0"/>
                          <a:cs typeface="Times New Roman" panose="02020503050405090304" pitchFamily="18" charset="0"/>
                        </a:rPr>
                        <a:t>-(</a:t>
                      </a:r>
                      <a:r>
                        <a:rPr lang="en-US" altLang="zh-CN" sz="2000" i="1" dirty="0">
                          <a:latin typeface="Times New Roman" panose="02020503050405090304" pitchFamily="18" charset="0"/>
                          <a:cs typeface="Times New Roman" panose="02020503050405090304" pitchFamily="18" charset="0"/>
                        </a:rPr>
                        <a:t>k</a:t>
                      </a:r>
                      <a:r>
                        <a:rPr lang="en-US" altLang="zh-CN" sz="2000" dirty="0">
                          <a:latin typeface="Times New Roman" panose="02020503050405090304" pitchFamily="18" charset="0"/>
                          <a:cs typeface="Times New Roman" panose="02020503050405090304" pitchFamily="18" charset="0"/>
                        </a:rPr>
                        <a:t>+</a:t>
                      </a:r>
                      <a:r>
                        <a:rPr lang="en-US" altLang="zh-CN" sz="2000" i="1" dirty="0">
                          <a:latin typeface="Times New Roman" panose="02020503050405090304" pitchFamily="18" charset="0"/>
                          <a:cs typeface="Times New Roman" panose="02020503050405090304" pitchFamily="18" charset="0"/>
                        </a:rPr>
                        <a:t>m</a:t>
                      </a:r>
                      <a:r>
                        <a:rPr lang="en-US" altLang="zh-CN" sz="2000" dirty="0">
                          <a:latin typeface="Times New Roman" panose="02020503050405090304" pitchFamily="18" charset="0"/>
                          <a:cs typeface="Times New Roman" panose="02020503050405090304" pitchFamily="18" charset="0"/>
                        </a:rPr>
                        <a:t>+1)</a:t>
                      </a:r>
                      <a:endParaRPr lang="en-US" altLang="zh-CN" sz="2000" dirty="0">
                        <a:latin typeface="Times New Roman" panose="02020503050405090304" pitchFamily="18" charset="0"/>
                        <a:cs typeface="Times New Roman" panose="0202050305040509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2000" dirty="0">
                          <a:latin typeface="Times New Roman" panose="02020503050405090304" pitchFamily="18" charset="0"/>
                          <a:cs typeface="Times New Roman" panose="02020503050405090304" pitchFamily="18" charset="0"/>
                        </a:rPr>
                        <a:t>Q/( </a:t>
                      </a:r>
                      <a:r>
                        <a:rPr lang="en-US" altLang="zh-CN" sz="2000" i="1" dirty="0">
                          <a:latin typeface="Times New Roman" panose="02020503050405090304" pitchFamily="18" charset="0"/>
                          <a:cs typeface="Times New Roman" panose="02020503050405090304" pitchFamily="18" charset="0"/>
                        </a:rPr>
                        <a:t>n</a:t>
                      </a:r>
                      <a:r>
                        <a:rPr lang="en-US" altLang="zh-CN" sz="2000" dirty="0">
                          <a:latin typeface="Times New Roman" panose="02020503050405090304" pitchFamily="18" charset="0"/>
                          <a:cs typeface="Times New Roman" panose="02020503050405090304" pitchFamily="18" charset="0"/>
                        </a:rPr>
                        <a:t>-</a:t>
                      </a:r>
                      <a:r>
                        <a:rPr lang="en-US" altLang="zh-CN" sz="2000" i="1" dirty="0">
                          <a:latin typeface="Times New Roman" panose="02020503050405090304" pitchFamily="18" charset="0"/>
                          <a:cs typeface="Times New Roman" panose="02020503050405090304" pitchFamily="18" charset="0"/>
                        </a:rPr>
                        <a:t>k</a:t>
                      </a:r>
                      <a:r>
                        <a:rPr lang="en-US" altLang="zh-CN" sz="2000" dirty="0">
                          <a:latin typeface="Times New Roman" panose="02020503050405090304" pitchFamily="18" charset="0"/>
                          <a:cs typeface="Times New Roman" panose="02020503050405090304" pitchFamily="18" charset="0"/>
                        </a:rPr>
                        <a:t>-</a:t>
                      </a:r>
                      <a:r>
                        <a:rPr lang="en-US" altLang="zh-CN" sz="2000" i="1" dirty="0">
                          <a:latin typeface="Times New Roman" panose="02020503050405090304" pitchFamily="18" charset="0"/>
                          <a:cs typeface="Times New Roman" panose="02020503050405090304" pitchFamily="18" charset="0"/>
                        </a:rPr>
                        <a:t>m</a:t>
                      </a:r>
                      <a:r>
                        <a:rPr lang="en-US" altLang="zh-CN" sz="2000" dirty="0">
                          <a:latin typeface="Times New Roman" panose="02020503050405090304" pitchFamily="18" charset="0"/>
                          <a:cs typeface="Times New Roman" panose="02020503050405090304" pitchFamily="18" charset="0"/>
                        </a:rPr>
                        <a:t>-1)</a:t>
                      </a:r>
                      <a:endParaRPr lang="en-US" altLang="zh-CN" sz="2000" dirty="0">
                        <a:latin typeface="Times New Roman" panose="02020503050405090304" pitchFamily="18" charset="0"/>
                        <a:cs typeface="Times New Roman" panose="02020503050405090304" pitchFamily="18" charset="0"/>
                      </a:endParaRPr>
                    </a:p>
                  </a:txBody>
                  <a:tcPr>
                    <a:lnL w="12700" cap="flat" cmpd="sng">
                      <a:solidFill>
                        <a:schemeClr val="tx1"/>
                      </a:solidFill>
                      <a:prstDash val="solid"/>
                      <a:headEnd type="none" w="med" len="med"/>
                      <a:tailEnd type="none" w="med" len="med"/>
                    </a:lnL>
                    <a:lnR>
                      <a:noFill/>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09587">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en-US" altLang="zh-CN" sz="2000" dirty="0">
                          <a:latin typeface="Times New Roman" panose="02020503050405090304" pitchFamily="18" charset="0"/>
                          <a:cs typeface="Times New Roman" panose="02020503050405090304" pitchFamily="18" charset="0"/>
                        </a:rPr>
                        <a:t>TSS</a:t>
                      </a:r>
                      <a:endParaRPr lang="en-US" altLang="zh-CN" sz="2000" dirty="0">
                        <a:latin typeface="Times New Roman" panose="02020503050405090304" pitchFamily="18" charset="0"/>
                        <a:cs typeface="Times New Roman" panose="02020503050405090304" pitchFamily="18" charset="0"/>
                      </a:endParaRPr>
                    </a:p>
                  </a:txBody>
                  <a:tcPr>
                    <a:lnL>
                      <a:noFill/>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zh-CN" sz="2000" dirty="0">
                        <a:latin typeface="Times New Roman" panose="02020503050405090304" pitchFamily="18" charset="0"/>
                        <a:cs typeface="Times New Roman" panose="0202050305040509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2000" i="1" dirty="0">
                          <a:latin typeface="Times New Roman" panose="02020503050405090304" pitchFamily="18" charset="0"/>
                          <a:cs typeface="Times New Roman" panose="02020503050405090304" pitchFamily="18" charset="0"/>
                        </a:rPr>
                        <a:t>n</a:t>
                      </a:r>
                      <a:r>
                        <a:rPr lang="en-US" altLang="zh-CN" sz="2000" dirty="0">
                          <a:latin typeface="Times New Roman" panose="02020503050405090304" pitchFamily="18" charset="0"/>
                          <a:cs typeface="Times New Roman" panose="02020503050405090304" pitchFamily="18" charset="0"/>
                        </a:rPr>
                        <a:t>-1</a:t>
                      </a:r>
                      <a:endParaRPr lang="en-US" altLang="zh-CN" sz="2000" dirty="0">
                        <a:latin typeface="Times New Roman" panose="02020503050405090304" pitchFamily="18" charset="0"/>
                        <a:cs typeface="Times New Roman" panose="0202050305040509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lvl="0" eaLnBrk="1" hangingPunct="1">
                        <a:spcBef>
                          <a:spcPct val="20000"/>
                        </a:spcBef>
                        <a:buClr>
                          <a:schemeClr val="folHlink"/>
                        </a:buClr>
                        <a:buSzPct val="60000"/>
                        <a:buFont typeface="Wingdings" panose="05000000000000000000" pitchFamily="2" charset="2"/>
                        <a:buNone/>
                      </a:pPr>
                      <a:endParaRPr lang="zh-CN" altLang="zh-CN" sz="2000" dirty="0">
                        <a:latin typeface="Times New Roman" panose="02020503050405090304" pitchFamily="18" charset="0"/>
                        <a:cs typeface="Times New Roman" panose="02020503050405090304" pitchFamily="18" charset="0"/>
                      </a:endParaRPr>
                    </a:p>
                  </a:txBody>
                  <a:tcPr>
                    <a:lnL w="12700" cap="flat" cmpd="sng">
                      <a:solidFill>
                        <a:schemeClr val="tx1"/>
                      </a:solidFill>
                      <a:prstDash val="solid"/>
                      <a:headEnd type="none" w="med" len="med"/>
                      <a:tailEnd type="none" w="med" len="med"/>
                    </a:lnL>
                    <a:lnR>
                      <a:noFill/>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33831" name="Object 50"/>
          <p:cNvGraphicFramePr/>
          <p:nvPr/>
        </p:nvGraphicFramePr>
        <p:xfrm>
          <a:off x="1947863" y="5076825"/>
          <a:ext cx="3373437" cy="1628775"/>
        </p:xfrm>
        <a:graphic>
          <a:graphicData uri="http://schemas.openxmlformats.org/presentationml/2006/ole">
            <mc:AlternateContent xmlns:mc="http://schemas.openxmlformats.org/markup-compatibility/2006">
              <mc:Choice xmlns:v="urn:schemas-microsoft-com:vml" Requires="v">
                <p:oleObj spid="_x0000_s25601" name="Equation" r:id="rId1" imgW="44196000" imgH="21336000" progId="Equation.DSMT4">
                  <p:embed/>
                </p:oleObj>
              </mc:Choice>
              <mc:Fallback>
                <p:oleObj name="Equation" r:id="rId1" imgW="44196000" imgH="21336000" progId="Equation.DSMT4">
                  <p:embed/>
                  <p:pic>
                    <p:nvPicPr>
                      <p:cNvPr id="0" name="图片 3076"/>
                      <p:cNvPicPr/>
                      <p:nvPr/>
                    </p:nvPicPr>
                    <p:blipFill>
                      <a:blip r:embed="rId2"/>
                      <a:stretch>
                        <a:fillRect/>
                      </a:stretch>
                    </p:blipFill>
                    <p:spPr>
                      <a:xfrm>
                        <a:off x="1947863" y="5076825"/>
                        <a:ext cx="3373437" cy="1628775"/>
                      </a:xfrm>
                      <a:prstGeom prst="rect">
                        <a:avLst/>
                      </a:prstGeom>
                      <a:noFill/>
                      <a:ln w="38100">
                        <a:noFill/>
                        <a:miter/>
                      </a:ln>
                    </p:spPr>
                  </p:pic>
                </p:oleObj>
              </mc:Fallback>
            </mc:AlternateContent>
          </a:graphicData>
        </a:graphic>
      </p:graphicFrame>
      <p:sp>
        <p:nvSpPr>
          <p:cNvPr id="33832" name="灯片编号占位符 52"/>
          <p:cNvSpPr>
            <a:spLocks noGrp="1"/>
          </p:cNvSpPr>
          <p:nvPr>
            <p:ph type="sldNum" sz="quarter" idx="12"/>
          </p:nvPr>
        </p:nvSpPr>
        <p:spPr/>
        <p:txBody>
          <a:bodyPr vert="horz" wrap="square" lIns="91440" tIns="45720" rIns="91440" bIns="45720" rtlCol="0" anchor="b">
            <a:norm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algn="r"/>
            <a:fld id="{9A0DB2DC-4C9A-4742-B13C-FB6460FD3503}" type="slidenum">
              <a:rPr lang="en-US" altLang="zh-CN" sz="1400" dirty="0"/>
            </a:fld>
            <a:endParaRPr lang="en-US" altLang="zh-CN" sz="14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4817" name="Object 2"/>
          <p:cNvGraphicFramePr/>
          <p:nvPr/>
        </p:nvGraphicFramePr>
        <p:xfrm>
          <a:off x="1905001" y="3366770"/>
          <a:ext cx="7845425" cy="812800"/>
        </p:xfrm>
        <a:graphic>
          <a:graphicData uri="http://schemas.openxmlformats.org/presentationml/2006/ole">
            <mc:AlternateContent xmlns:mc="http://schemas.openxmlformats.org/markup-compatibility/2006">
              <mc:Choice xmlns:v="urn:schemas-microsoft-com:vml" Requires="v">
                <p:oleObj spid="_x0000_s25601" name="" r:id="rId1" imgW="3998595" imgH="482600" progId="Equation.3">
                  <p:embed/>
                </p:oleObj>
              </mc:Choice>
              <mc:Fallback>
                <p:oleObj name="" r:id="rId1" imgW="3998595" imgH="482600" progId="Equation.3">
                  <p:embed/>
                  <p:pic>
                    <p:nvPicPr>
                      <p:cNvPr id="0" name="图片 3075"/>
                      <p:cNvPicPr/>
                      <p:nvPr/>
                    </p:nvPicPr>
                    <p:blipFill>
                      <a:blip r:embed="rId2"/>
                      <a:stretch>
                        <a:fillRect/>
                      </a:stretch>
                    </p:blipFill>
                    <p:spPr>
                      <a:xfrm>
                        <a:off x="1905001" y="3366770"/>
                        <a:ext cx="7845425" cy="812800"/>
                      </a:xfrm>
                      <a:prstGeom prst="rect">
                        <a:avLst/>
                      </a:prstGeom>
                      <a:noFill/>
                      <a:ln w="38100">
                        <a:noFill/>
                        <a:miter/>
                      </a:ln>
                    </p:spPr>
                  </p:pic>
                </p:oleObj>
              </mc:Fallback>
            </mc:AlternateContent>
          </a:graphicData>
        </a:graphic>
      </p:graphicFrame>
      <p:sp>
        <p:nvSpPr>
          <p:cNvPr id="34818" name="Text Box 3"/>
          <p:cNvSpPr txBox="1"/>
          <p:nvPr/>
        </p:nvSpPr>
        <p:spPr>
          <a:xfrm>
            <a:off x="1905000" y="762001"/>
            <a:ext cx="8305800" cy="476669"/>
          </a:xfrm>
          <a:prstGeom prst="rect">
            <a:avLst/>
          </a:prstGeom>
          <a:noFill/>
          <a:ln w="9525">
            <a:noFill/>
          </a:ln>
        </p:spPr>
        <p:txBody>
          <a:bodyPr anchor="t">
            <a:spAutoFit/>
          </a:bodyPr>
          <a:lstStyle/>
          <a:p>
            <a:pPr>
              <a:lnSpc>
                <a:spcPct val="120000"/>
              </a:lnSpc>
            </a:pPr>
            <a:r>
              <a:rPr lang="en-US" altLang="zh-CN" sz="2400" dirty="0">
                <a:latin typeface="黑体" panose="02010609060101010101" pitchFamily="49" charset="-122"/>
                <a:ea typeface="黑体" panose="02010609060101010101" pitchFamily="49" charset="-122"/>
                <a:cs typeface="黑体" panose="02010609060101010101" pitchFamily="49" charset="-122"/>
              </a:rPr>
              <a:t>        </a:t>
            </a:r>
            <a:r>
              <a:rPr lang="zh-CN" altLang="en-US" sz="2400" dirty="0">
                <a:latin typeface="黑体" panose="02010609060101010101" pitchFamily="49" charset="-122"/>
                <a:ea typeface="黑体" panose="02010609060101010101" pitchFamily="49" charset="-122"/>
                <a:cs typeface="黑体" panose="02010609060101010101" pitchFamily="49" charset="-122"/>
              </a:rPr>
              <a:t>在新引入变量的系数为</a:t>
            </a:r>
            <a:r>
              <a:rPr lang="en-US" altLang="zh-CN" sz="2400" dirty="0">
                <a:latin typeface="黑体" panose="02010609060101010101" pitchFamily="49" charset="-122"/>
                <a:ea typeface="黑体" panose="02010609060101010101" pitchFamily="49" charset="-122"/>
                <a:cs typeface="黑体" panose="02010609060101010101" pitchFamily="49" charset="-122"/>
              </a:rPr>
              <a:t>0</a:t>
            </a:r>
            <a:r>
              <a:rPr lang="zh-CN" altLang="en-US" sz="2400" dirty="0">
                <a:latin typeface="黑体" panose="02010609060101010101" pitchFamily="49" charset="-122"/>
                <a:ea typeface="黑体" panose="02010609060101010101" pitchFamily="49" charset="-122"/>
                <a:cs typeface="黑体" panose="02010609060101010101" pitchFamily="49" charset="-122"/>
              </a:rPr>
              <a:t>的原假设下，</a:t>
            </a:r>
            <a:endParaRPr lang="zh-CN" altLang="en-US" sz="2400" dirty="0">
              <a:latin typeface="黑体" panose="02010609060101010101" pitchFamily="49" charset="-122"/>
              <a:ea typeface="黑体" panose="02010609060101010101" pitchFamily="49" charset="-122"/>
              <a:cs typeface="黑体" panose="02010609060101010101" pitchFamily="49" charset="-122"/>
            </a:endParaRPr>
          </a:p>
        </p:txBody>
      </p:sp>
      <p:graphicFrame>
        <p:nvGraphicFramePr>
          <p:cNvPr id="34819" name="Object 4"/>
          <p:cNvGraphicFramePr/>
          <p:nvPr/>
        </p:nvGraphicFramePr>
        <p:xfrm>
          <a:off x="2778125" y="1574800"/>
          <a:ext cx="6102350" cy="762000"/>
        </p:xfrm>
        <a:graphic>
          <a:graphicData uri="http://schemas.openxmlformats.org/presentationml/2006/ole">
            <mc:AlternateContent xmlns:mc="http://schemas.openxmlformats.org/markup-compatibility/2006">
              <mc:Choice xmlns:v="urn:schemas-microsoft-com:vml" Requires="v">
                <p:oleObj spid="_x0000_s2" name="Equation" r:id="rId3" imgW="80467200" imgH="10058400" progId="Equation.DSMT4">
                  <p:embed/>
                </p:oleObj>
              </mc:Choice>
              <mc:Fallback>
                <p:oleObj name="Equation" r:id="rId3" imgW="80467200" imgH="10058400" progId="Equation.DSMT4">
                  <p:embed/>
                  <p:pic>
                    <p:nvPicPr>
                      <p:cNvPr id="0" name="图片 3077"/>
                      <p:cNvPicPr/>
                      <p:nvPr/>
                    </p:nvPicPr>
                    <p:blipFill>
                      <a:blip r:embed="rId4"/>
                      <a:stretch>
                        <a:fillRect/>
                      </a:stretch>
                    </p:blipFill>
                    <p:spPr>
                      <a:xfrm>
                        <a:off x="2778125" y="1574800"/>
                        <a:ext cx="6102350" cy="762000"/>
                      </a:xfrm>
                      <a:prstGeom prst="rect">
                        <a:avLst/>
                      </a:prstGeom>
                      <a:noFill/>
                      <a:ln w="38100">
                        <a:noFill/>
                        <a:miter/>
                      </a:ln>
                    </p:spPr>
                  </p:pic>
                </p:oleObj>
              </mc:Fallback>
            </mc:AlternateContent>
          </a:graphicData>
        </a:graphic>
      </p:graphicFrame>
      <p:sp>
        <p:nvSpPr>
          <p:cNvPr id="34820" name="Text Box 5"/>
          <p:cNvSpPr txBox="1"/>
          <p:nvPr/>
        </p:nvSpPr>
        <p:spPr>
          <a:xfrm>
            <a:off x="1905000" y="2446656"/>
            <a:ext cx="8305800" cy="493148"/>
          </a:xfrm>
          <a:prstGeom prst="rect">
            <a:avLst/>
          </a:prstGeom>
          <a:noFill/>
          <a:ln w="9525">
            <a:noFill/>
          </a:ln>
        </p:spPr>
        <p:txBody>
          <a:bodyPr anchor="t">
            <a:spAutoFit/>
          </a:bodyPr>
          <a:lstStyle/>
          <a:p>
            <a:pPr>
              <a:lnSpc>
                <a:spcPct val="120000"/>
              </a:lnSpc>
            </a:pPr>
            <a:r>
              <a:rPr lang="zh-CN" altLang="en-US" sz="2400" dirty="0">
                <a:latin typeface="黑体" panose="02010609060101010101" pitchFamily="49" charset="-122"/>
                <a:ea typeface="黑体" panose="02010609060101010101" pitchFamily="49" charset="-122"/>
                <a:cs typeface="黑体" panose="02010609060101010101" pitchFamily="49" charset="-122"/>
              </a:rPr>
              <a:t>把计算出的该统计量的值与</a:t>
            </a:r>
            <a:r>
              <a:rPr lang="en-US" altLang="zh-CN" sz="2400" dirty="0">
                <a:latin typeface="Times New Roman" panose="02020503050405090304" pitchFamily="18" charset="0"/>
                <a:ea typeface="黑体" panose="02010609060101010101" pitchFamily="49" charset="-122"/>
                <a:cs typeface="Times New Roman" panose="02020503050405090304" pitchFamily="18" charset="0"/>
              </a:rPr>
              <a:t>α</a:t>
            </a:r>
            <a:r>
              <a:rPr lang="en-US" altLang="zh-CN" sz="2400" dirty="0">
                <a:latin typeface="黑体" panose="02010609060101010101" pitchFamily="49" charset="-122"/>
                <a:ea typeface="黑体" panose="02010609060101010101" pitchFamily="49" charset="-122"/>
                <a:cs typeface="黑体" panose="02010609060101010101" pitchFamily="49" charset="-122"/>
              </a:rPr>
              <a:t> </a:t>
            </a:r>
            <a:r>
              <a:rPr lang="zh-CN" altLang="en-US" sz="2400" dirty="0">
                <a:latin typeface="黑体" panose="02010609060101010101" pitchFamily="49" charset="-122"/>
                <a:ea typeface="黑体" panose="02010609060101010101" pitchFamily="49" charset="-122"/>
                <a:cs typeface="黑体" panose="02010609060101010101" pitchFamily="49" charset="-122"/>
              </a:rPr>
              <a:t>显著水平下的临界值进行比较：</a:t>
            </a:r>
            <a:endParaRPr lang="zh-CN" altLang="en-US" sz="2400" dirty="0">
              <a:latin typeface="黑体" panose="02010609060101010101" pitchFamily="49" charset="-122"/>
              <a:ea typeface="黑体" panose="02010609060101010101" pitchFamily="49" charset="-122"/>
              <a:cs typeface="黑体" panose="02010609060101010101" pitchFamily="49" charset="-122"/>
            </a:endParaRPr>
          </a:p>
        </p:txBody>
      </p:sp>
      <p:sp>
        <p:nvSpPr>
          <p:cNvPr id="34821" name="Rectangle 6"/>
          <p:cNvSpPr/>
          <p:nvPr/>
        </p:nvSpPr>
        <p:spPr>
          <a:xfrm>
            <a:off x="2192020" y="4475481"/>
            <a:ext cx="7275830" cy="1363065"/>
          </a:xfrm>
          <a:prstGeom prst="rect">
            <a:avLst/>
          </a:prstGeom>
          <a:noFill/>
          <a:ln w="9525">
            <a:noFill/>
          </a:ln>
        </p:spPr>
        <p:txBody>
          <a:bodyPr wrap="square" anchor="t">
            <a:spAutoFit/>
          </a:bodyPr>
          <a:lstStyle/>
          <a:p>
            <a:pPr>
              <a:lnSpc>
                <a:spcPct val="120000"/>
              </a:lnSpc>
            </a:pPr>
            <a:r>
              <a:rPr lang="zh-CN" altLang="en-US" sz="2400" dirty="0">
                <a:latin typeface="黑体" panose="02010609060101010101" pitchFamily="49" charset="-122"/>
                <a:ea typeface="黑体" panose="02010609060101010101" pitchFamily="49" charset="-122"/>
                <a:cs typeface="黑体" panose="02010609060101010101" pitchFamily="49" charset="-122"/>
              </a:rPr>
              <a:t>引入的新变量的</a:t>
            </a:r>
            <a:r>
              <a:rPr lang="zh-CN" altLang="en-US" sz="2400" dirty="0">
                <a:solidFill>
                  <a:srgbClr val="FF0000"/>
                </a:solidFill>
                <a:latin typeface="黑体" panose="02010609060101010101" pitchFamily="49" charset="-122"/>
                <a:ea typeface="黑体" panose="02010609060101010101" pitchFamily="49" charset="-122"/>
                <a:cs typeface="黑体" panose="02010609060101010101" pitchFamily="49" charset="-122"/>
              </a:rPr>
              <a:t>边际贡献</a:t>
            </a:r>
            <a:r>
              <a:rPr lang="zh-CN" altLang="en-US" sz="2400" dirty="0">
                <a:latin typeface="黑体" panose="02010609060101010101" pitchFamily="49" charset="-122"/>
                <a:ea typeface="黑体" panose="02010609060101010101" pitchFamily="49" charset="-122"/>
                <a:cs typeface="黑体" panose="02010609060101010101" pitchFamily="49" charset="-122"/>
              </a:rPr>
              <a:t>显著，则应该把这些变量纳入回归模型，否则这些变量不应引入回归模型做解释变量。</a:t>
            </a:r>
            <a:endParaRPr lang="zh-CN" altLang="en-US" sz="2400" dirty="0">
              <a:latin typeface="黑体" panose="02010609060101010101" pitchFamily="49" charset="-122"/>
              <a:ea typeface="黑体" panose="02010609060101010101" pitchFamily="49" charset="-122"/>
              <a:cs typeface="黑体" panose="02010609060101010101" pitchFamily="49" charset="-122"/>
            </a:endParaRPr>
          </a:p>
        </p:txBody>
      </p:sp>
      <p:sp>
        <p:nvSpPr>
          <p:cNvPr id="34822" name="灯片编号占位符 8"/>
          <p:cNvSpPr>
            <a:spLocks noGrp="1"/>
          </p:cNvSpPr>
          <p:nvPr>
            <p:ph type="sldNum" sz="quarter" idx="12"/>
          </p:nvPr>
        </p:nvSpPr>
        <p:spPr>
          <a:xfrm>
            <a:off x="8301990" y="6144896"/>
            <a:ext cx="2057400" cy="365125"/>
          </a:xfrm>
        </p:spPr>
        <p:txBody>
          <a:bodyPr vert="horz" wrap="square" lIns="91440" tIns="45720" rIns="91440" bIns="45720" rtlCol="0" anchor="b">
            <a:no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algn="r"/>
            <a:fld id="{9A0DB2DC-4C9A-4742-B13C-FB6460FD3503}" type="slidenum">
              <a:rPr lang="en-US" altLang="zh-CN" sz="2400" dirty="0">
                <a:latin typeface="黑体" panose="02010609060101010101" pitchFamily="49" charset="-122"/>
                <a:ea typeface="黑体" panose="02010609060101010101" pitchFamily="49" charset="-122"/>
              </a:rPr>
            </a:fld>
            <a:endParaRPr lang="en-US" altLang="zh-CN" sz="2400" dirty="0">
              <a:latin typeface="黑体" panose="02010609060101010101" pitchFamily="49" charset="-122"/>
              <a:ea typeface="黑体" panose="02010609060101010101" pitchFamily="49" charset="-122"/>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6"/>
          <p:cNvSpPr/>
          <p:nvPr/>
        </p:nvSpPr>
        <p:spPr>
          <a:xfrm>
            <a:off x="2283461" y="973455"/>
            <a:ext cx="7422515" cy="5631180"/>
          </a:xfrm>
          <a:prstGeom prst="rect">
            <a:avLst/>
          </a:prstGeom>
          <a:noFill/>
          <a:ln w="9525">
            <a:noFill/>
          </a:ln>
        </p:spPr>
        <p:txBody>
          <a:bodyPr wrap="square" anchor="t">
            <a:spAutoFit/>
          </a:bodyPr>
          <a:lstStyle/>
          <a:p>
            <a:pPr marL="342900" indent="-342900">
              <a:lnSpc>
                <a:spcPct val="150000"/>
              </a:lnSpc>
              <a:buFont typeface="Wingdings" panose="05000000000000000000" charset="0"/>
              <a:buChar char="u"/>
            </a:pPr>
            <a:r>
              <a:rPr lang="en-US" altLang="zh-CN" sz="2400" dirty="0">
                <a:latin typeface="黑体" panose="02010609060101010101" pitchFamily="49" charset="-122"/>
                <a:ea typeface="黑体" panose="02010609060101010101" pitchFamily="49" charset="-122"/>
                <a:cs typeface="黑体" panose="02010609060101010101" pitchFamily="49" charset="-122"/>
              </a:rPr>
              <a:t>1</a:t>
            </a:r>
            <a:r>
              <a:rPr lang="zh-CN" altLang="en-US" sz="2400" dirty="0">
                <a:latin typeface="黑体" panose="02010609060101010101" pitchFamily="49" charset="-122"/>
                <a:ea typeface="黑体" panose="02010609060101010101" pitchFamily="49" charset="-122"/>
                <a:cs typeface="黑体" panose="02010609060101010101" pitchFamily="49" charset="-122"/>
              </a:rPr>
              <a:t>、观测数据的标准化</a:t>
            </a:r>
            <a:endParaRPr lang="zh-CN" altLang="en-US" sz="2400" dirty="0">
              <a:latin typeface="黑体" panose="02010609060101010101" pitchFamily="49" charset="-122"/>
              <a:ea typeface="黑体" panose="02010609060101010101" pitchFamily="49" charset="-122"/>
              <a:cs typeface="黑体" panose="02010609060101010101" pitchFamily="49" charset="-122"/>
            </a:endParaRPr>
          </a:p>
          <a:p>
            <a:pPr>
              <a:lnSpc>
                <a:spcPct val="150000"/>
              </a:lnSpc>
            </a:pPr>
            <a:r>
              <a:rPr lang="zh-CN" altLang="en-US" sz="2400" dirty="0">
                <a:latin typeface="黑体" panose="02010609060101010101" pitchFamily="49" charset="-122"/>
                <a:ea typeface="黑体" panose="02010609060101010101" pitchFamily="49" charset="-122"/>
                <a:cs typeface="黑体" panose="02010609060101010101" pitchFamily="49" charset="-122"/>
              </a:rPr>
              <a:t>按列标准化</a:t>
            </a:r>
            <a:endParaRPr lang="zh-CN" altLang="en-US" sz="2400" dirty="0">
              <a:latin typeface="黑体" panose="02010609060101010101" pitchFamily="49" charset="-122"/>
              <a:ea typeface="黑体" panose="02010609060101010101" pitchFamily="49" charset="-122"/>
              <a:cs typeface="黑体" panose="02010609060101010101" pitchFamily="49" charset="-122"/>
            </a:endParaRPr>
          </a:p>
          <a:p>
            <a:pPr marL="342900" indent="-342900">
              <a:lnSpc>
                <a:spcPct val="150000"/>
              </a:lnSpc>
              <a:buFont typeface="Wingdings" panose="05000000000000000000" charset="0"/>
              <a:buChar char="u"/>
            </a:pPr>
            <a:r>
              <a:rPr lang="en-US" altLang="zh-CN" sz="2400" dirty="0">
                <a:latin typeface="黑体" panose="02010609060101010101" pitchFamily="49" charset="-122"/>
                <a:ea typeface="黑体" panose="02010609060101010101" pitchFamily="49" charset="-122"/>
                <a:cs typeface="黑体" panose="02010609060101010101" pitchFamily="49" charset="-122"/>
              </a:rPr>
              <a:t>2</a:t>
            </a:r>
            <a:r>
              <a:rPr lang="zh-CN" altLang="en-US" sz="2400" dirty="0">
                <a:latin typeface="黑体" panose="02010609060101010101" pitchFamily="49" charset="-122"/>
                <a:ea typeface="黑体" panose="02010609060101010101" pitchFamily="49" charset="-122"/>
                <a:cs typeface="黑体" panose="02010609060101010101" pitchFamily="49" charset="-122"/>
              </a:rPr>
              <a:t>、引入变量</a:t>
            </a:r>
            <a:endParaRPr lang="zh-CN" altLang="en-US" sz="2400" dirty="0">
              <a:latin typeface="黑体" panose="02010609060101010101" pitchFamily="49" charset="-122"/>
              <a:ea typeface="黑体" panose="02010609060101010101" pitchFamily="49" charset="-122"/>
              <a:cs typeface="黑体" panose="02010609060101010101" pitchFamily="49" charset="-122"/>
            </a:endParaRPr>
          </a:p>
          <a:p>
            <a:pPr>
              <a:lnSpc>
                <a:spcPct val="150000"/>
              </a:lnSpc>
            </a:pPr>
            <a:r>
              <a:rPr lang="zh-CN" altLang="en-US" sz="2400" dirty="0">
                <a:latin typeface="黑体" panose="02010609060101010101" pitchFamily="49" charset="-122"/>
                <a:ea typeface="黑体" panose="02010609060101010101" pitchFamily="49" charset="-122"/>
                <a:cs typeface="黑体" panose="02010609060101010101" pitchFamily="49" charset="-122"/>
              </a:rPr>
              <a:t>将模型外的变量分别代入模型，计算各个</a:t>
            </a:r>
            <a:r>
              <a:rPr lang="en-US" altLang="zh-CN" sz="2400" dirty="0">
                <a:latin typeface="黑体" panose="02010609060101010101" pitchFamily="49" charset="-122"/>
                <a:ea typeface="黑体" panose="02010609060101010101" pitchFamily="49" charset="-122"/>
                <a:cs typeface="黑体" panose="02010609060101010101" pitchFamily="49" charset="-122"/>
              </a:rPr>
              <a:t>F</a:t>
            </a:r>
            <a:r>
              <a:rPr lang="zh-CN" altLang="en-US" sz="2400" dirty="0">
                <a:latin typeface="黑体" panose="02010609060101010101" pitchFamily="49" charset="-122"/>
                <a:ea typeface="黑体" panose="02010609060101010101" pitchFamily="49" charset="-122"/>
                <a:cs typeface="黑体" panose="02010609060101010101" pitchFamily="49" charset="-122"/>
              </a:rPr>
              <a:t>检验值，挑</a:t>
            </a:r>
            <a:r>
              <a:rPr lang="en-US" altLang="zh-CN" sz="2400" dirty="0">
                <a:latin typeface="黑体" panose="02010609060101010101" pitchFamily="49" charset="-122"/>
                <a:ea typeface="黑体" panose="02010609060101010101" pitchFamily="49" charset="-122"/>
                <a:cs typeface="黑体" panose="02010609060101010101" pitchFamily="49" charset="-122"/>
              </a:rPr>
              <a:t>F</a:t>
            </a:r>
            <a:r>
              <a:rPr lang="zh-CN" altLang="en-US" sz="2400" dirty="0">
                <a:latin typeface="黑体" panose="02010609060101010101" pitchFamily="49" charset="-122"/>
                <a:ea typeface="黑体" panose="02010609060101010101" pitchFamily="49" charset="-122"/>
                <a:cs typeface="黑体" panose="02010609060101010101" pitchFamily="49" charset="-122"/>
              </a:rPr>
              <a:t>值最大的变量实际代入。</a:t>
            </a:r>
            <a:endParaRPr lang="zh-CN" altLang="en-US" sz="2400" dirty="0">
              <a:latin typeface="黑体" panose="02010609060101010101" pitchFamily="49" charset="-122"/>
              <a:ea typeface="黑体" panose="02010609060101010101" pitchFamily="49" charset="-122"/>
              <a:cs typeface="黑体" panose="02010609060101010101" pitchFamily="49" charset="-122"/>
            </a:endParaRPr>
          </a:p>
          <a:p>
            <a:pPr marL="342900" indent="-342900">
              <a:lnSpc>
                <a:spcPct val="150000"/>
              </a:lnSpc>
              <a:buFont typeface="Wingdings" panose="05000000000000000000" charset="0"/>
              <a:buChar char="u"/>
            </a:pPr>
            <a:r>
              <a:rPr lang="en-US" altLang="zh-CN" sz="2400" dirty="0">
                <a:latin typeface="黑体" panose="02010609060101010101" pitchFamily="49" charset="-122"/>
                <a:ea typeface="黑体" panose="02010609060101010101" pitchFamily="49" charset="-122"/>
                <a:cs typeface="黑体" panose="02010609060101010101" pitchFamily="49" charset="-122"/>
              </a:rPr>
              <a:t>3</a:t>
            </a:r>
            <a:r>
              <a:rPr lang="zh-CN" altLang="en-US" sz="2400" dirty="0">
                <a:latin typeface="黑体" panose="02010609060101010101" pitchFamily="49" charset="-122"/>
                <a:ea typeface="黑体" panose="02010609060101010101" pitchFamily="49" charset="-122"/>
                <a:cs typeface="黑体" panose="02010609060101010101" pitchFamily="49" charset="-122"/>
              </a:rPr>
              <a:t>、剔除变量</a:t>
            </a:r>
            <a:endParaRPr lang="zh-CN" altLang="en-US" sz="2400" dirty="0">
              <a:latin typeface="黑体" panose="02010609060101010101" pitchFamily="49" charset="-122"/>
              <a:ea typeface="黑体" panose="02010609060101010101" pitchFamily="49" charset="-122"/>
              <a:cs typeface="黑体" panose="02010609060101010101" pitchFamily="49" charset="-122"/>
            </a:endParaRPr>
          </a:p>
          <a:p>
            <a:pPr>
              <a:lnSpc>
                <a:spcPct val="150000"/>
              </a:lnSpc>
            </a:pPr>
            <a:r>
              <a:rPr lang="zh-CN" altLang="en-US" sz="2400" dirty="0">
                <a:latin typeface="黑体" panose="02010609060101010101" pitchFamily="49" charset="-122"/>
                <a:ea typeface="黑体" panose="02010609060101010101" pitchFamily="49" charset="-122"/>
                <a:cs typeface="黑体" panose="02010609060101010101" pitchFamily="49" charset="-122"/>
              </a:rPr>
              <a:t>计算各个</a:t>
            </a:r>
            <a:r>
              <a:rPr lang="en-US" altLang="zh-CN" sz="2400" dirty="0">
                <a:latin typeface="黑体" panose="02010609060101010101" pitchFamily="49" charset="-122"/>
                <a:ea typeface="黑体" panose="02010609060101010101" pitchFamily="49" charset="-122"/>
                <a:cs typeface="黑体" panose="02010609060101010101" pitchFamily="49" charset="-122"/>
              </a:rPr>
              <a:t>F</a:t>
            </a:r>
            <a:r>
              <a:rPr lang="zh-CN" altLang="en-US" sz="2400" dirty="0">
                <a:latin typeface="黑体" panose="02010609060101010101" pitchFamily="49" charset="-122"/>
                <a:ea typeface="黑体" panose="02010609060101010101" pitchFamily="49" charset="-122"/>
                <a:cs typeface="黑体" panose="02010609060101010101" pitchFamily="49" charset="-122"/>
              </a:rPr>
              <a:t>统计量，取</a:t>
            </a:r>
            <a:r>
              <a:rPr lang="en-US" altLang="zh-CN" sz="2400" dirty="0">
                <a:latin typeface="黑体" panose="02010609060101010101" pitchFamily="49" charset="-122"/>
                <a:ea typeface="黑体" panose="02010609060101010101" pitchFamily="49" charset="-122"/>
                <a:cs typeface="黑体" panose="02010609060101010101" pitchFamily="49" charset="-122"/>
              </a:rPr>
              <a:t>F</a:t>
            </a:r>
            <a:r>
              <a:rPr lang="zh-CN" altLang="en-US" sz="2400" dirty="0">
                <a:latin typeface="黑体" panose="02010609060101010101" pitchFamily="49" charset="-122"/>
                <a:ea typeface="黑体" panose="02010609060101010101" pitchFamily="49" charset="-122"/>
                <a:cs typeface="黑体" panose="02010609060101010101" pitchFamily="49" charset="-122"/>
              </a:rPr>
              <a:t>值最小的一个变量参数做</a:t>
            </a:r>
            <a:r>
              <a:rPr lang="en-US" altLang="zh-CN" sz="2400" dirty="0">
                <a:latin typeface="黑体" panose="02010609060101010101" pitchFamily="49" charset="-122"/>
                <a:ea typeface="黑体" panose="02010609060101010101" pitchFamily="49" charset="-122"/>
                <a:cs typeface="黑体" panose="02010609060101010101" pitchFamily="49" charset="-122"/>
              </a:rPr>
              <a:t>F</a:t>
            </a:r>
            <a:r>
              <a:rPr lang="zh-CN" altLang="en-US" sz="2400" dirty="0">
                <a:latin typeface="黑体" panose="02010609060101010101" pitchFamily="49" charset="-122"/>
                <a:ea typeface="黑体" panose="02010609060101010101" pitchFamily="49" charset="-122"/>
                <a:cs typeface="黑体" panose="02010609060101010101" pitchFamily="49" charset="-122"/>
              </a:rPr>
              <a:t>检验。</a:t>
            </a:r>
            <a:endParaRPr lang="zh-CN" altLang="en-US" sz="2400" dirty="0">
              <a:latin typeface="黑体" panose="02010609060101010101" pitchFamily="49" charset="-122"/>
              <a:ea typeface="黑体" panose="02010609060101010101" pitchFamily="49" charset="-122"/>
              <a:cs typeface="黑体" panose="02010609060101010101" pitchFamily="49" charset="-122"/>
            </a:endParaRPr>
          </a:p>
          <a:p>
            <a:pPr marL="342900" indent="-342900">
              <a:lnSpc>
                <a:spcPct val="150000"/>
              </a:lnSpc>
              <a:buFont typeface="Wingdings" panose="05000000000000000000" charset="0"/>
              <a:buChar char="u"/>
            </a:pPr>
            <a:r>
              <a:rPr lang="en-US" altLang="zh-CN" sz="2400" dirty="0">
                <a:latin typeface="黑体" panose="02010609060101010101" pitchFamily="49" charset="-122"/>
                <a:ea typeface="黑体" panose="02010609060101010101" pitchFamily="49" charset="-122"/>
                <a:cs typeface="黑体" panose="02010609060101010101" pitchFamily="49" charset="-122"/>
              </a:rPr>
              <a:t>4</a:t>
            </a:r>
            <a:r>
              <a:rPr lang="zh-CN" altLang="en-US" sz="2400" dirty="0">
                <a:latin typeface="黑体" panose="02010609060101010101" pitchFamily="49" charset="-122"/>
                <a:ea typeface="黑体" panose="02010609060101010101" pitchFamily="49" charset="-122"/>
                <a:cs typeface="黑体" panose="02010609060101010101" pitchFamily="49" charset="-122"/>
              </a:rPr>
              <a:t>、整理结果</a:t>
            </a:r>
            <a:endParaRPr lang="zh-CN" altLang="en-US" sz="2400" dirty="0">
              <a:latin typeface="黑体" panose="02010609060101010101" pitchFamily="49" charset="-122"/>
              <a:ea typeface="黑体" panose="02010609060101010101" pitchFamily="49" charset="-122"/>
              <a:cs typeface="黑体" panose="02010609060101010101" pitchFamily="49" charset="-122"/>
            </a:endParaRPr>
          </a:p>
          <a:p>
            <a:pPr>
              <a:lnSpc>
                <a:spcPct val="150000"/>
              </a:lnSpc>
            </a:pPr>
            <a:r>
              <a:rPr lang="zh-CN" altLang="en-US" sz="2400" dirty="0">
                <a:latin typeface="黑体" panose="02010609060101010101" pitchFamily="49" charset="-122"/>
                <a:ea typeface="黑体" panose="02010609060101010101" pitchFamily="49" charset="-122"/>
                <a:cs typeface="黑体" panose="02010609060101010101" pitchFamily="49" charset="-122"/>
              </a:rPr>
              <a:t>当无新变量可以进入，且无旧变量可以剔除时，终止筛选过程，得到最优回归方程。</a:t>
            </a:r>
            <a:endParaRPr lang="zh-CN" altLang="en-US" sz="2400" dirty="0">
              <a:latin typeface="黑体" panose="02010609060101010101" pitchFamily="49" charset="-122"/>
              <a:ea typeface="黑体" panose="02010609060101010101" pitchFamily="49" charset="-122"/>
              <a:cs typeface="黑体" panose="02010609060101010101" pitchFamily="49" charset="-122"/>
            </a:endParaRPr>
          </a:p>
        </p:txBody>
      </p:sp>
      <p:sp>
        <p:nvSpPr>
          <p:cNvPr id="35842" name="Text Box 7"/>
          <p:cNvSpPr txBox="1"/>
          <p:nvPr/>
        </p:nvSpPr>
        <p:spPr>
          <a:xfrm>
            <a:off x="2881630" y="386081"/>
            <a:ext cx="4572000" cy="460375"/>
          </a:xfrm>
          <a:prstGeom prst="rect">
            <a:avLst/>
          </a:prstGeom>
          <a:noFill/>
          <a:ln w="9525">
            <a:noFill/>
          </a:ln>
        </p:spPr>
        <p:txBody>
          <a:bodyPr anchor="t">
            <a:spAutoFit/>
          </a:bodyPr>
          <a:lstStyle/>
          <a:p>
            <a:pPr>
              <a:spcBef>
                <a:spcPct val="50000"/>
              </a:spcBef>
            </a:pPr>
            <a:r>
              <a:rPr lang="zh-CN" altLang="en-US" sz="2400" b="1" dirty="0">
                <a:latin typeface="黑体" panose="02010609060101010101" pitchFamily="49" charset="-122"/>
                <a:ea typeface="黑体" panose="02010609060101010101" pitchFamily="49" charset="-122"/>
              </a:rPr>
              <a:t>逐步回归法的步骤</a:t>
            </a:r>
            <a:endParaRPr lang="zh-CN" altLang="en-US" sz="2400" b="1" dirty="0">
              <a:latin typeface="黑体" panose="02010609060101010101" pitchFamily="49" charset="-122"/>
              <a:ea typeface="黑体" panose="02010609060101010101" pitchFamily="49" charset="-122"/>
            </a:endParaRPr>
          </a:p>
        </p:txBody>
      </p:sp>
      <p:sp>
        <p:nvSpPr>
          <p:cNvPr id="35843" name="灯片编号占位符 5"/>
          <p:cNvSpPr>
            <a:spLocks noGrp="1"/>
          </p:cNvSpPr>
          <p:nvPr>
            <p:ph type="sldNum" sz="quarter" idx="12"/>
          </p:nvPr>
        </p:nvSpPr>
        <p:spPr/>
        <p:txBody>
          <a:bodyPr vert="horz" wrap="square" lIns="91440" tIns="45720" rIns="91440" bIns="45720" rtlCol="0" anchor="b">
            <a:norm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algn="r"/>
            <a:fld id="{9A0DB2DC-4C9A-4742-B13C-FB6460FD3503}" type="slidenum">
              <a:rPr lang="en-US" altLang="zh-CN" sz="1400" dirty="0"/>
            </a:fld>
            <a:endParaRPr lang="en-US" altLang="zh-CN" sz="14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2297431" y="1196976"/>
            <a:ext cx="7827645" cy="2676525"/>
          </a:xfrm>
          <a:prstGeom prst="rect">
            <a:avLst/>
          </a:prstGeom>
          <a:noFill/>
          <a:ln w="9525">
            <a:noFill/>
          </a:ln>
        </p:spPr>
        <p:txBody>
          <a:bodyPr wrap="square">
            <a:spAutoFit/>
          </a:bodyPr>
          <a:lstStyle/>
          <a:p>
            <a:pPr>
              <a:lnSpc>
                <a:spcPct val="150000"/>
              </a:lnSpc>
            </a:pPr>
            <a:r>
              <a:rPr lang="zh-CN" altLang="en-US" sz="2800" dirty="0">
                <a:solidFill>
                  <a:srgbClr val="FF0000"/>
                </a:solidFill>
                <a:latin typeface="黑体" panose="02010609060101010101" pitchFamily="49" charset="-122"/>
                <a:ea typeface="黑体" panose="02010609060101010101" pitchFamily="49" charset="-122"/>
              </a:rPr>
              <a:t>交叉验证</a:t>
            </a:r>
            <a:r>
              <a:rPr lang="zh-CN" altLang="en-US" sz="2800" dirty="0">
                <a:solidFill>
                  <a:srgbClr val="000000"/>
                </a:solidFill>
                <a:latin typeface="黑体" panose="02010609060101010101" pitchFamily="49" charset="-122"/>
                <a:ea typeface="黑体" panose="02010609060101010101" pitchFamily="49" charset="-122"/>
              </a:rPr>
              <a:t>是评估预测模型较好的方法。</a:t>
            </a:r>
            <a:endParaRPr lang="zh-CN" altLang="en-US" sz="2800" dirty="0">
              <a:solidFill>
                <a:srgbClr val="000000"/>
              </a:solidFill>
              <a:latin typeface="黑体" panose="02010609060101010101" pitchFamily="49" charset="-122"/>
              <a:ea typeface="黑体" panose="02010609060101010101" pitchFamily="49" charset="-122"/>
            </a:endParaRPr>
          </a:p>
          <a:p>
            <a:pPr>
              <a:lnSpc>
                <a:spcPct val="150000"/>
              </a:lnSpc>
            </a:pPr>
            <a:r>
              <a:rPr lang="zh-CN" altLang="en-US" sz="2800" dirty="0">
                <a:solidFill>
                  <a:srgbClr val="000000"/>
                </a:solidFill>
                <a:latin typeface="黑体" panose="02010609060101010101" pitchFamily="49" charset="-122"/>
                <a:ea typeface="黑体" panose="02010609060101010101" pitchFamily="49" charset="-122"/>
              </a:rPr>
              <a:t>在这里，将数据集分成两份（一份做训练和一份做验证）。使用观测值和预测值之间的一个简单均方差来衡量预测精度。</a:t>
            </a:r>
            <a:endParaRPr lang="zh-CN" altLang="en-US" sz="2800" dirty="0">
              <a:solidFill>
                <a:srgbClr val="000000"/>
              </a:solidFill>
              <a:latin typeface="黑体" panose="02010609060101010101" pitchFamily="49" charset="-122"/>
              <a:ea typeface="黑体" panose="02010609060101010101" pitchFamily="49" charset="-122"/>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p:cNvSpPr/>
          <p:nvPr/>
        </p:nvSpPr>
        <p:spPr>
          <a:xfrm>
            <a:off x="1742091" y="1083311"/>
            <a:ext cx="8268686" cy="1133965"/>
          </a:xfrm>
          <a:prstGeom prst="rect">
            <a:avLst/>
          </a:prstGeom>
          <a:noFill/>
          <a:ln w="9525">
            <a:noFill/>
          </a:ln>
        </p:spPr>
        <p:txBody>
          <a:bodyPr wrap="square" anchor="t">
            <a:spAutoFit/>
          </a:bodyPr>
          <a:lstStyle/>
          <a:p>
            <a:pPr fontAlgn="auto">
              <a:lnSpc>
                <a:spcPct val="150000"/>
              </a:lnSpc>
            </a:pPr>
            <a:r>
              <a:rPr lang="zh-CN" altLang="en-US" sz="2400" dirty="0">
                <a:latin typeface="Times New Roman" panose="02020503050405090304" pitchFamily="18" charset="0"/>
                <a:ea typeface="黑体" panose="02010609060101010101" pitchFamily="49" charset="-122"/>
                <a:cs typeface="Times New Roman" panose="02020503050405090304" pitchFamily="18" charset="0"/>
              </a:rPr>
              <a:t>例</a:t>
            </a:r>
            <a:r>
              <a:rPr lang="en-US" altLang="zh-CN" sz="2400" dirty="0">
                <a:latin typeface="Times New Roman" panose="02020503050405090304" pitchFamily="18" charset="0"/>
                <a:ea typeface="黑体" panose="02010609060101010101" pitchFamily="49" charset="-122"/>
                <a:cs typeface="Times New Roman" panose="02020503050405090304" pitchFamily="18" charset="0"/>
              </a:rPr>
              <a:t>8 </a:t>
            </a:r>
            <a:r>
              <a:rPr lang="zh-CN" altLang="en-US" sz="2400" dirty="0">
                <a:latin typeface="Times New Roman" panose="02020503050405090304" pitchFamily="18" charset="0"/>
                <a:ea typeface="黑体" panose="02010609060101010101" pitchFamily="49" charset="-122"/>
                <a:cs typeface="Times New Roman" panose="02020503050405090304" pitchFamily="18" charset="0"/>
              </a:rPr>
              <a:t>试用逐步回归法求例</a:t>
            </a:r>
            <a:r>
              <a:rPr lang="en-US" altLang="zh-CN" sz="2400" dirty="0">
                <a:latin typeface="Times New Roman" panose="02020503050405090304" pitchFamily="18" charset="0"/>
                <a:ea typeface="黑体" panose="02010609060101010101" pitchFamily="49" charset="-122"/>
                <a:cs typeface="Times New Roman" panose="02020503050405090304" pitchFamily="18" charset="0"/>
              </a:rPr>
              <a:t>6</a:t>
            </a:r>
            <a:r>
              <a:rPr lang="zh-CN" altLang="en-US" sz="2400" dirty="0">
                <a:latin typeface="Times New Roman" panose="02020503050405090304" pitchFamily="18" charset="0"/>
                <a:ea typeface="黑体" panose="02010609060101010101" pitchFamily="49" charset="-122"/>
                <a:cs typeface="Times New Roman" panose="02020503050405090304" pitchFamily="18" charset="0"/>
              </a:rPr>
              <a:t>中回归问题的“最优”回归方程</a:t>
            </a:r>
            <a:endParaRPr lang="en-US" altLang="zh-CN" sz="2400" dirty="0">
              <a:latin typeface="Times New Roman" panose="02020503050405090304" pitchFamily="18" charset="0"/>
              <a:ea typeface="黑体" panose="02010609060101010101" pitchFamily="49" charset="-122"/>
              <a:cs typeface="Times New Roman" panose="02020503050405090304" pitchFamily="18" charset="0"/>
            </a:endParaRPr>
          </a:p>
          <a:p>
            <a:pPr fontAlgn="auto">
              <a:lnSpc>
                <a:spcPct val="150000"/>
              </a:lnSpc>
            </a:pPr>
            <a:r>
              <a:rPr lang="zh-CN" altLang="en-US" sz="2400" dirty="0">
                <a:latin typeface="Times New Roman" panose="02020503050405090304" pitchFamily="18" charset="0"/>
                <a:ea typeface="黑体" panose="02010609060101010101" pitchFamily="49" charset="-122"/>
                <a:cs typeface="Times New Roman" panose="02020503050405090304" pitchFamily="18" charset="0"/>
              </a:rPr>
              <a:t>加入</a:t>
            </a:r>
            <a:r>
              <a:rPr lang="en-US" altLang="zh-CN" sz="2400" i="1" dirty="0">
                <a:latin typeface="Times New Roman" panose="02020503050405090304" pitchFamily="18" charset="0"/>
                <a:ea typeface="黑体" panose="02010609060101010101" pitchFamily="49" charset="-122"/>
                <a:cs typeface="Times New Roman" panose="02020503050405090304" pitchFamily="18" charset="0"/>
              </a:rPr>
              <a:t>x</a:t>
            </a:r>
            <a:r>
              <a:rPr lang="en-US" altLang="zh-CN" sz="2400" baseline="-25000" dirty="0">
                <a:latin typeface="Times New Roman" panose="02020503050405090304" pitchFamily="18" charset="0"/>
                <a:ea typeface="黑体" panose="02010609060101010101" pitchFamily="49" charset="-122"/>
                <a:cs typeface="Times New Roman" panose="02020503050405090304" pitchFamily="18" charset="0"/>
              </a:rPr>
              <a:t>4</a:t>
            </a:r>
            <a:r>
              <a:rPr lang="en-US" altLang="zh-CN" sz="2400" dirty="0">
                <a:latin typeface="Times New Roman" panose="02020503050405090304" pitchFamily="18" charset="0"/>
                <a:ea typeface="黑体" panose="02010609060101010101" pitchFamily="49" charset="-122"/>
                <a:cs typeface="Times New Roman" panose="02020503050405090304" pitchFamily="18" charset="0"/>
              </a:rPr>
              <a:t>, </a:t>
            </a:r>
            <a:r>
              <a:rPr lang="en-US" altLang="zh-CN" sz="2400" i="1" dirty="0">
                <a:latin typeface="Times New Roman" panose="02020503050405090304" pitchFamily="18" charset="0"/>
                <a:ea typeface="黑体" panose="02010609060101010101" pitchFamily="49" charset="-122"/>
                <a:cs typeface="Times New Roman" panose="02020503050405090304" pitchFamily="18" charset="0"/>
              </a:rPr>
              <a:t>x</a:t>
            </a:r>
            <a:r>
              <a:rPr lang="en-US" altLang="zh-CN" sz="2400" baseline="-25000" dirty="0">
                <a:latin typeface="Times New Roman" panose="02020503050405090304" pitchFamily="18" charset="0"/>
                <a:ea typeface="黑体" panose="02010609060101010101" pitchFamily="49" charset="-122"/>
                <a:cs typeface="Times New Roman" panose="02020503050405090304" pitchFamily="18" charset="0"/>
              </a:rPr>
              <a:t>1</a:t>
            </a:r>
            <a:r>
              <a:rPr lang="en-US" altLang="zh-CN" sz="2400" dirty="0">
                <a:latin typeface="Times New Roman" panose="02020503050405090304" pitchFamily="18" charset="0"/>
                <a:ea typeface="黑体" panose="02010609060101010101" pitchFamily="49" charset="-122"/>
                <a:cs typeface="Times New Roman" panose="02020503050405090304" pitchFamily="18" charset="0"/>
              </a:rPr>
              <a:t>, </a:t>
            </a:r>
            <a:r>
              <a:rPr lang="en-US" altLang="zh-CN" sz="2400" i="1" dirty="0">
                <a:latin typeface="Times New Roman" panose="02020503050405090304" pitchFamily="18" charset="0"/>
                <a:ea typeface="黑体" panose="02010609060101010101" pitchFamily="49" charset="-122"/>
                <a:cs typeface="Times New Roman" panose="02020503050405090304" pitchFamily="18" charset="0"/>
              </a:rPr>
              <a:t>x</a:t>
            </a:r>
            <a:r>
              <a:rPr lang="en-US" altLang="zh-CN" sz="2400" baseline="-25000" dirty="0">
                <a:latin typeface="Times New Roman" panose="02020503050405090304" pitchFamily="18" charset="0"/>
                <a:ea typeface="黑体" panose="02010609060101010101" pitchFamily="49" charset="-122"/>
                <a:cs typeface="Times New Roman" panose="02020503050405090304" pitchFamily="18" charset="0"/>
              </a:rPr>
              <a:t>2</a:t>
            </a:r>
            <a:r>
              <a:rPr lang="en-US" altLang="zh-CN" sz="2400" dirty="0">
                <a:latin typeface="Times New Roman" panose="02020503050405090304" pitchFamily="18" charset="0"/>
                <a:ea typeface="黑体" panose="02010609060101010101" pitchFamily="49" charset="-122"/>
                <a:cs typeface="Times New Roman" panose="02020503050405090304" pitchFamily="18" charset="0"/>
              </a:rPr>
              <a:t>, </a:t>
            </a:r>
            <a:r>
              <a:rPr lang="zh-CN" altLang="en-US" sz="2400">
                <a:latin typeface="Times New Roman" panose="02020503050405090304" pitchFamily="18" charset="0"/>
                <a:ea typeface="黑体" panose="02010609060101010101" pitchFamily="49" charset="-122"/>
                <a:cs typeface="Times New Roman" panose="02020503050405090304" pitchFamily="18" charset="0"/>
              </a:rPr>
              <a:t>移除</a:t>
            </a:r>
            <a:r>
              <a:rPr lang="en-US" altLang="zh-CN" sz="2400" i="1">
                <a:latin typeface="Times New Roman" panose="02020503050405090304" pitchFamily="18" charset="0"/>
                <a:ea typeface="黑体" panose="02010609060101010101" pitchFamily="49" charset="-122"/>
                <a:cs typeface="Times New Roman" panose="02020503050405090304" pitchFamily="18" charset="0"/>
              </a:rPr>
              <a:t>x</a:t>
            </a:r>
            <a:r>
              <a:rPr lang="en-US" altLang="zh-CN" sz="2400" baseline="-25000">
                <a:latin typeface="Times New Roman" panose="02020503050405090304" pitchFamily="18" charset="0"/>
                <a:ea typeface="黑体" panose="02010609060101010101" pitchFamily="49" charset="-122"/>
                <a:cs typeface="Times New Roman" panose="02020503050405090304" pitchFamily="18" charset="0"/>
              </a:rPr>
              <a:t>4</a:t>
            </a:r>
            <a:endParaRPr lang="zh-CN" altLang="en-US" sz="2400" baseline="-25000" dirty="0">
              <a:latin typeface="Times New Roman" panose="02020503050405090304" pitchFamily="18" charset="0"/>
              <a:ea typeface="黑体" panose="02010609060101010101" pitchFamily="49" charset="-122"/>
              <a:cs typeface="Times New Roman" panose="02020503050405090304" pitchFamily="18" charset="0"/>
            </a:endParaRPr>
          </a:p>
        </p:txBody>
      </p:sp>
      <p:sp>
        <p:nvSpPr>
          <p:cNvPr id="36867" name="灯片编号占位符 5"/>
          <p:cNvSpPr>
            <a:spLocks noGrp="1"/>
          </p:cNvSpPr>
          <p:nvPr>
            <p:ph type="sldNum" sz="quarter" idx="12"/>
          </p:nvPr>
        </p:nvSpPr>
        <p:spPr/>
        <p:txBody>
          <a:bodyPr vert="horz" wrap="square" lIns="91440" tIns="45720" rIns="91440" bIns="45720" rtlCol="0" anchor="b">
            <a:norm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itchFamily="2" charset="-122"/>
                <a:cs typeface="+mn-cs"/>
              </a:defRPr>
            </a:lvl5pPr>
          </a:lstStyle>
          <a:p>
            <a:pPr algn="r"/>
            <a:fld id="{9A0DB2DC-4C9A-4742-B13C-FB6460FD3503}" type="slidenum">
              <a:rPr lang="en-US" altLang="zh-CN" sz="1400" dirty="0"/>
            </a:fld>
            <a:endParaRPr lang="en-US" altLang="zh-CN" sz="14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p:cNvSpPr/>
          <p:nvPr/>
        </p:nvSpPr>
        <p:spPr>
          <a:xfrm>
            <a:off x="1700137" y="1273000"/>
            <a:ext cx="7422515" cy="4524315"/>
          </a:xfrm>
          <a:prstGeom prst="rect">
            <a:avLst/>
          </a:prstGeom>
          <a:noFill/>
          <a:ln w="9525">
            <a:noFill/>
          </a:ln>
        </p:spPr>
        <p:txBody>
          <a:bodyPr wrap="square" anchor="t">
            <a:spAutoFit/>
          </a:bodyPr>
          <a:lstStyle/>
          <a:p>
            <a:pPr marL="457200" indent="-457200" algn="l" eaLnBrk="1" hangingPunct="1">
              <a:buSzPct val="50000"/>
              <a:buFont typeface="Wingdings" panose="05000000000000000000" pitchFamily="2" charset="2"/>
              <a:buChar char="l"/>
            </a:pPr>
            <a:r>
              <a:rPr lang="zh-CN" altLang="en-US" sz="3200" dirty="0"/>
              <a:t>回归分析的基本思想</a:t>
            </a:r>
            <a:endParaRPr lang="en-US" altLang="zh-CN" sz="3200" dirty="0"/>
          </a:p>
          <a:p>
            <a:pPr marL="457200" indent="-457200">
              <a:buSzPct val="50000"/>
              <a:buFont typeface="Wingdings" panose="05000000000000000000" pitchFamily="2" charset="2"/>
              <a:buChar char="l"/>
            </a:pPr>
            <a:r>
              <a:rPr lang="zh-CN" altLang="en-US" sz="3200" dirty="0"/>
              <a:t>一元线性回归模型</a:t>
            </a:r>
            <a:endParaRPr lang="en-US" altLang="zh-CN" sz="3200" dirty="0"/>
          </a:p>
          <a:p>
            <a:pPr marL="914400" lvl="1" indent="-457200">
              <a:buSzPct val="50000"/>
              <a:buFont typeface="Arial" panose="020B0604020202090204" pitchFamily="34" charset="0"/>
              <a:buChar char="–"/>
            </a:pPr>
            <a:r>
              <a:rPr lang="zh-CN" altLang="en-US" sz="3200" dirty="0"/>
              <a:t>参数估计</a:t>
            </a:r>
            <a:endParaRPr lang="en-US" altLang="zh-CN" sz="3200" dirty="0"/>
          </a:p>
          <a:p>
            <a:pPr marL="914400" lvl="1" indent="-457200">
              <a:buSzPct val="50000"/>
              <a:buFont typeface="Arial" panose="020B0604020202090204" pitchFamily="34" charset="0"/>
              <a:buChar char="–"/>
            </a:pPr>
            <a:r>
              <a:rPr lang="zh-CN" altLang="en-US" sz="3200" dirty="0"/>
              <a:t>显著性检验</a:t>
            </a:r>
            <a:endParaRPr lang="en-US" altLang="zh-CN" sz="3200" dirty="0"/>
          </a:p>
          <a:p>
            <a:pPr marL="914400" lvl="1" indent="-457200">
              <a:buSzPct val="50000"/>
              <a:buFont typeface="Arial" panose="020B0604020202090204" pitchFamily="34" charset="0"/>
              <a:buChar char="–"/>
            </a:pPr>
            <a:r>
              <a:rPr lang="zh-CN" altLang="en-US" sz="3200" dirty="0"/>
              <a:t>预测</a:t>
            </a:r>
            <a:endParaRPr lang="en-US" altLang="zh-CN" sz="3200" dirty="0"/>
          </a:p>
          <a:p>
            <a:pPr marL="457200" indent="-457200">
              <a:buSzPct val="50000"/>
              <a:buFont typeface="Wingdings" panose="05000000000000000000" pitchFamily="2" charset="2"/>
              <a:buChar char="l"/>
            </a:pPr>
            <a:r>
              <a:rPr lang="zh-CN" altLang="en-US" sz="3200" dirty="0"/>
              <a:t>多元线性回归模型</a:t>
            </a:r>
            <a:endParaRPr lang="en-US" altLang="zh-CN" sz="3200" dirty="0"/>
          </a:p>
          <a:p>
            <a:pPr marL="914400" lvl="1" indent="-457200">
              <a:buSzPct val="50000"/>
              <a:buFont typeface="Arial" panose="020B0604020202090204" pitchFamily="34" charset="0"/>
              <a:buChar char="–"/>
            </a:pPr>
            <a:r>
              <a:rPr lang="zh-CN" altLang="en-US" sz="3200" dirty="0"/>
              <a:t>参数估计</a:t>
            </a:r>
            <a:endParaRPr lang="en-US" altLang="zh-CN" sz="3200" dirty="0"/>
          </a:p>
          <a:p>
            <a:pPr marL="914400" lvl="1" indent="-457200">
              <a:buSzPct val="50000"/>
              <a:buFont typeface="Arial" panose="020B0604020202090204" pitchFamily="34" charset="0"/>
              <a:buChar char="–"/>
            </a:pPr>
            <a:r>
              <a:rPr lang="zh-CN" altLang="en-US" sz="3200" dirty="0"/>
              <a:t>显著性检验</a:t>
            </a:r>
            <a:endParaRPr lang="en-US" altLang="zh-CN" sz="3200" dirty="0"/>
          </a:p>
          <a:p>
            <a:pPr marL="914400" lvl="1" indent="-457200">
              <a:buSzPct val="50000"/>
              <a:buFont typeface="Arial" panose="020B0604020202090204" pitchFamily="34" charset="0"/>
              <a:buChar char="–"/>
            </a:pPr>
            <a:r>
              <a:rPr lang="zh-CN" altLang="en-US" sz="3200" dirty="0"/>
              <a:t>预测</a:t>
            </a:r>
            <a:endParaRPr lang="en-US" altLang="zh-CN" sz="3200" dirty="0"/>
          </a:p>
        </p:txBody>
      </p:sp>
      <p:sp>
        <p:nvSpPr>
          <p:cNvPr id="3" name="Text Box 7"/>
          <p:cNvSpPr txBox="1"/>
          <p:nvPr/>
        </p:nvSpPr>
        <p:spPr>
          <a:xfrm>
            <a:off x="1891862" y="386081"/>
            <a:ext cx="4868082" cy="646331"/>
          </a:xfrm>
          <a:prstGeom prst="rect">
            <a:avLst/>
          </a:prstGeom>
          <a:noFill/>
          <a:ln w="9525">
            <a:noFill/>
          </a:ln>
        </p:spPr>
        <p:txBody>
          <a:bodyPr wrap="square" anchor="t">
            <a:spAutoFit/>
          </a:bodyPr>
          <a:lstStyle/>
          <a:p>
            <a:pPr>
              <a:spcBef>
                <a:spcPct val="50000"/>
              </a:spcBef>
            </a:pPr>
            <a:r>
              <a:rPr lang="zh-CN" altLang="en-US" sz="3600" b="1" dirty="0">
                <a:latin typeface="黑体" panose="02010609060101010101" pitchFamily="49" charset="-122"/>
                <a:ea typeface="黑体" panose="02010609060101010101" pitchFamily="49" charset="-122"/>
              </a:rPr>
              <a:t>小结</a:t>
            </a:r>
            <a:endParaRPr lang="zh-CN" altLang="en-US" sz="3600" b="1" dirty="0">
              <a:latin typeface="黑体" panose="02010609060101010101" pitchFamily="49" charset="-122"/>
              <a:ea typeface="黑体" panose="02010609060101010101" pitchFamily="49" charset="-122"/>
            </a:endParaRPr>
          </a:p>
        </p:txBody>
      </p:sp>
    </p:spTree>
  </p:cSld>
  <p:clrMapOvr>
    <a:masterClrMapping/>
  </p:clrMapOvr>
</p:sld>
</file>

<file path=ppt/tags/tag1.xml><?xml version="1.0" encoding="utf-8"?>
<p:tagLst xmlns:p="http://schemas.openxmlformats.org/presentationml/2006/main">
  <p:tag name="KSO_WM_TAG_VERSION" val="1.0"/>
  <p:tag name="KSO_WM_TEMPLATE_CATEGORY" val="custom"/>
  <p:tag name="KSO_WM_TEMPLATE_INDEX" val="20180000"/>
</p:tagLst>
</file>

<file path=ppt/tags/tag2.xml><?xml version="1.0" encoding="utf-8"?>
<p:tagLst xmlns:p="http://schemas.openxmlformats.org/presentationml/2006/main">
  <p:tag name="KSO_WM_TAG_VERSION" val="1.0"/>
  <p:tag name="KSO_WM_TEMPLATE_CATEGORY" val="custom"/>
  <p:tag name="KSO_WM_TEMPLATE_INDEX" val="20180000"/>
</p:tagLst>
</file>

<file path=ppt/tags/tag3.xml><?xml version="1.0" encoding="utf-8"?>
<p:tagLst xmlns:p="http://schemas.openxmlformats.org/presentationml/2006/main">
  <p:tag name="KSO_WM_TEMPLATE_CATEGORY" val="custom"/>
  <p:tag name="KSO_WM_TEMPLATE_INDEX" val="20182222"/>
  <p:tag name="KSO_WM_TAG_VERSION" val="1.0"/>
  <p:tag name="KSO_WM_TEMPLATE_THUMBS_INDEX" val="1、9、12、16、22、25、30、31、"/>
  <p:tag name="KSO_WM_BEAUTIFY_FLAG" val="#wm#"/>
</p:tagLst>
</file>

<file path=ppt/tags/tag4.xml><?xml version="1.0" encoding="utf-8"?>
<p:tagLst xmlns:p="http://schemas.openxmlformats.org/presentationml/2006/main">
  <p:tag name="commondata" val="eyJoZGlkIjoiOGRhOGEwNmFjNTQ2MzkwN2Y0OTYxOTYzOWY2OTM4ZWMifQ=="/>
</p:tagLst>
</file>

<file path=ppt/theme/theme1.xml><?xml version="1.0" encoding="utf-8"?>
<a:theme xmlns:a="http://schemas.openxmlformats.org/drawingml/2006/main" name="自定义设计方案">
  <a:themeElements>
    <a:clrScheme name="自定义 111">
      <a:dk1>
        <a:sysClr val="windowText" lastClr="000000"/>
      </a:dk1>
      <a:lt1>
        <a:sysClr val="window" lastClr="FFFFFF"/>
      </a:lt1>
      <a:dk2>
        <a:srgbClr val="44546A"/>
      </a:dk2>
      <a:lt2>
        <a:srgbClr val="E7E6E6"/>
      </a:lt2>
      <a:accent1>
        <a:srgbClr val="5B9BD5"/>
      </a:accent1>
      <a:accent2>
        <a:srgbClr val="ED7D31"/>
      </a:accent2>
      <a:accent3>
        <a:srgbClr val="A5A5A5"/>
      </a:accent3>
      <a:accent4>
        <a:srgbClr val="5B9BD5"/>
      </a:accent4>
      <a:accent5>
        <a:srgbClr val="4472C4"/>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8960</Words>
  <Application>WPS 演示</Application>
  <PresentationFormat>宽屏</PresentationFormat>
  <Paragraphs>1011</Paragraphs>
  <Slides>85</Slides>
  <Notes>0</Notes>
  <HiddenSlides>0</HiddenSlides>
  <MMClips>0</MMClips>
  <ScaleCrop>false</ScaleCrop>
  <HeadingPairs>
    <vt:vector size="8" baseType="variant">
      <vt:variant>
        <vt:lpstr>已用的字体</vt:lpstr>
      </vt:variant>
      <vt:variant>
        <vt:i4>26</vt:i4>
      </vt:variant>
      <vt:variant>
        <vt:lpstr>主题</vt:lpstr>
      </vt:variant>
      <vt:variant>
        <vt:i4>1</vt:i4>
      </vt:variant>
      <vt:variant>
        <vt:lpstr>嵌入 OLE 服务器</vt:lpstr>
      </vt:variant>
      <vt:variant>
        <vt:i4>214</vt:i4>
      </vt:variant>
      <vt:variant>
        <vt:lpstr>幻灯片标题</vt:lpstr>
      </vt:variant>
      <vt:variant>
        <vt:i4>85</vt:i4>
      </vt:variant>
    </vt:vector>
  </HeadingPairs>
  <TitlesOfParts>
    <vt:vector size="326" baseType="lpstr">
      <vt:lpstr>Arial</vt:lpstr>
      <vt:lpstr>宋体</vt:lpstr>
      <vt:lpstr>Wingdings</vt:lpstr>
      <vt:lpstr>微软雅黑</vt:lpstr>
      <vt:lpstr>Segoe UI</vt:lpstr>
      <vt:lpstr>Tahoma</vt:lpstr>
      <vt:lpstr>汉仪书宋二KW</vt:lpstr>
      <vt:lpstr>Times New Roman</vt:lpstr>
      <vt:lpstr>楷体_GB2312</vt:lpstr>
      <vt:lpstr>汉仪楷体简</vt:lpstr>
      <vt:lpstr>Cambria Math</vt:lpstr>
      <vt:lpstr>黑体</vt:lpstr>
      <vt:lpstr>汉仪中黑KW</vt:lpstr>
      <vt:lpstr>汉仪旗黑</vt:lpstr>
      <vt:lpstr>宋体</vt:lpstr>
      <vt:lpstr>Arial Unicode MS</vt:lpstr>
      <vt:lpstr>Calibri</vt:lpstr>
      <vt:lpstr>Helvetica Neue</vt:lpstr>
      <vt:lpstr>Symbol</vt:lpstr>
      <vt:lpstr>华文中宋</vt:lpstr>
      <vt:lpstr>Kingsoft Sign</vt:lpstr>
      <vt:lpstr>Kingsoft Math</vt:lpstr>
      <vt:lpstr>Microsoft YaHei UI</vt:lpstr>
      <vt:lpstr>Wingdings</vt:lpstr>
      <vt:lpstr>苹方-简</vt:lpstr>
      <vt:lpstr>黑体</vt:lpstr>
      <vt:lpstr>自定义设计方案</vt:lpstr>
      <vt:lpstr>Equation.DSMT4</vt:lpstr>
      <vt:lpstr>Equation.3</vt:lpstr>
      <vt:lpstr>Equation.3</vt:lpstr>
      <vt:lpstr>Equation.3</vt:lpstr>
      <vt:lpstr>Equation.3</vt:lpstr>
      <vt:lpstr>Equation.3</vt:lpstr>
      <vt:lpstr>Equation.3</vt:lpstr>
      <vt:lpstr>Equation.DSMT4</vt:lpstr>
      <vt:lpstr>Equation.DSMT4</vt:lpstr>
      <vt:lpstr>Equation.DSMT4</vt:lpstr>
      <vt:lpstr>Equation.DSMT4</vt:lpstr>
      <vt:lpstr>Equation.DSMT4</vt:lpstr>
      <vt:lpstr>Equation.3</vt:lpstr>
      <vt:lpstr>Equation.DSMT4</vt:lpstr>
      <vt:lpstr>Equation.DSMT4</vt:lpstr>
      <vt:lpstr>Equation.3</vt:lpstr>
      <vt:lpstr>Equation.3</vt:lpstr>
      <vt:lpstr>Equation.DSMT4</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Equation.DSMT4</vt:lpstr>
      <vt:lpstr>Equation.DSMT4</vt:lpstr>
      <vt:lpstr>Equation.DSMT4</vt:lpstr>
      <vt:lpstr>Equation.DSMT4</vt:lpstr>
      <vt:lpstr>Equation.DSMT4</vt:lpstr>
      <vt:lpstr>Equation.3</vt:lpstr>
      <vt:lpstr>Equation.DSMT4</vt:lpstr>
      <vt:lpstr>Equation.DSMT4</vt:lpstr>
      <vt:lpstr>Equation.3</vt:lpstr>
      <vt:lpstr>Equation.3</vt:lpstr>
      <vt:lpstr>Equation.DSMT4</vt:lpstr>
      <vt:lpstr>Equation.DSMT4</vt:lpstr>
      <vt:lpstr>Equation.DSMT4</vt:lpstr>
      <vt:lpstr>Equation.DSMT4</vt:lpstr>
      <vt:lpstr>Equation.DSMT4</vt:lpstr>
      <vt:lpstr>Equation.DSMT4</vt:lpstr>
      <vt:lpstr>Equation.DSMT4</vt:lpstr>
      <vt:lpstr>Equation.3</vt:lpstr>
      <vt:lpstr>Equation.DSMT4</vt:lpstr>
      <vt:lpstr>Equation.3</vt:lpstr>
      <vt:lpstr>Equation.DSMT4</vt:lpstr>
      <vt:lpstr>Equation.DSMT4</vt:lpstr>
      <vt:lpstr>Equation.DSMT4</vt:lpstr>
      <vt:lpstr>Equation.3</vt:lpstr>
      <vt:lpstr>Equation.KSEE3</vt:lpstr>
      <vt:lpstr>Equation.KSEE3</vt:lpstr>
      <vt:lpstr>Equation.DSMT4</vt:lpstr>
      <vt:lpstr>Equation.DSMT4</vt:lpstr>
      <vt:lpstr>Equation.DSMT4</vt:lpstr>
      <vt:lpstr>Equation.DSMT4</vt:lpstr>
      <vt:lpstr>Equation.3</vt:lpstr>
      <vt:lpstr>Equation.3</vt:lpstr>
      <vt:lpstr>Equation.DSMT4</vt:lpstr>
      <vt:lpstr>Equation.DSMT4</vt:lpstr>
      <vt:lpstr>Equation.DSMT4</vt:lpstr>
      <vt:lpstr>Equation.DSMT4</vt:lpstr>
      <vt:lpstr>Equation.DSMT4</vt:lpstr>
      <vt:lpstr>Equation.DSMT4</vt:lpstr>
      <vt:lpstr>Equation.DSMT4</vt:lpstr>
      <vt:lpstr>Equation.3</vt:lpstr>
      <vt:lpstr>Equation.DSMT4</vt:lpstr>
      <vt:lpstr>Equation.3</vt:lpstr>
      <vt:lpstr>Equation.DSMT4</vt:lpstr>
      <vt:lpstr>Equation.DSMT4</vt:lpstr>
      <vt:lpstr>Equation.DSMT4</vt:lpstr>
      <vt:lpstr>Equation.DSMT4</vt:lpstr>
      <vt:lpstr>Equation.3</vt:lpstr>
      <vt:lpstr>Equation.3</vt:lpstr>
      <vt:lpstr>Equation.3</vt:lpstr>
      <vt:lpstr>Equation.3</vt:lpstr>
      <vt:lpstr>Equation.3</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Equation.3</vt:lpstr>
      <vt:lpstr>Equation.3</vt:lpstr>
      <vt:lpstr>Equation.3</vt:lpstr>
      <vt:lpstr>Equation.DSMT4</vt:lpstr>
      <vt:lpstr>Equation.3</vt:lpstr>
      <vt:lpstr>Equation.DSMT4</vt:lpstr>
      <vt:lpstr>Equation.DSMT4</vt:lpstr>
      <vt:lpstr>Equation.DSMT4</vt:lpstr>
      <vt:lpstr>Equation.DSMT4</vt:lpstr>
      <vt:lpstr>Equation.DSMT4</vt:lpstr>
      <vt:lpstr>Equation.DSMT4</vt:lpstr>
      <vt:lpstr>Equation.3</vt:lpstr>
      <vt:lpstr>Equation.KSEE3</vt:lpstr>
      <vt:lpstr>Equation.DSMT4</vt:lpstr>
      <vt:lpstr>Equation.DSMT4</vt:lpstr>
      <vt:lpstr>Equation.3</vt:lpstr>
      <vt:lpstr>Equation.DSMT4</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Equation.DSMT4</vt:lpstr>
      <vt:lpstr>Equation.3</vt:lpstr>
      <vt:lpstr>Equation.3</vt:lpstr>
      <vt:lpstr>Equation.3</vt:lpstr>
      <vt:lpstr>Equation.DSMT4</vt:lpstr>
      <vt:lpstr>Equation.DSMT4</vt:lpstr>
      <vt:lpstr>Equation.3</vt:lpstr>
      <vt:lpstr>Equation.DSMT4</vt:lpstr>
      <vt:lpstr>Equation.DSMT4</vt:lpstr>
      <vt:lpstr>Equation.DSMT4</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第四章 回归分析</vt:lpstr>
      <vt:lpstr>第一节 回归分析的基本思想</vt:lpstr>
      <vt:lpstr>二、总体回归函数与样本回归函数 </vt:lpstr>
      <vt:lpstr>第二节 一元线性回归模型 </vt:lpstr>
      <vt:lpstr>PowerPoint 演示文稿</vt:lpstr>
      <vt:lpstr>PowerPoint 演示文稿</vt:lpstr>
      <vt:lpstr>PowerPoint 演示文稿</vt:lpstr>
      <vt:lpstr>PowerPoint 演示文稿</vt:lpstr>
      <vt:lpstr>三、 参数a、b、   的估计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四、线性回归的显著性检验 </vt:lpstr>
      <vt:lpstr>PowerPoint 演示文稿</vt:lpstr>
      <vt:lpstr>PowerPoint 演示文稿</vt:lpstr>
      <vt:lpstr>PowerPoint 演示文稿</vt:lpstr>
      <vt:lpstr>进一步，有关SQ 和 SR的分布，有如下定理。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四、 预测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例6水泥数据</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6HGBYM2</dc:creator>
  <cp:lastModifiedBy>233</cp:lastModifiedBy>
  <cp:revision>148</cp:revision>
  <dcterms:created xsi:type="dcterms:W3CDTF">2024-12-05T08:31:13Z</dcterms:created>
  <dcterms:modified xsi:type="dcterms:W3CDTF">2024-12-05T08:31:13Z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2052-6.10.1.8873</vt:lpwstr>
  </property>
  <property fmtid="{D5CDD505-2E9C-101B-9397-08002B2CF9AE}" pid="3" name="ICV">
    <vt:lpwstr>2A8D7AE724AE4BF15FC0156764FDEDD1_42</vt:lpwstr>
  </property>
</Properties>
</file>