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47" r:id="rId3"/>
    <p:sldId id="567" r:id="rId4"/>
    <p:sldId id="424" r:id="rId5"/>
    <p:sldId id="425" r:id="rId6"/>
    <p:sldId id="426" r:id="rId7"/>
    <p:sldId id="350" r:id="rId8"/>
    <p:sldId id="562" r:id="rId9"/>
    <p:sldId id="351" r:id="rId10"/>
    <p:sldId id="564" r:id="rId11"/>
    <p:sldId id="352" r:id="rId12"/>
    <p:sldId id="353" r:id="rId13"/>
    <p:sldId id="354" r:id="rId14"/>
    <p:sldId id="355" r:id="rId15"/>
    <p:sldId id="356" r:id="rId16"/>
    <p:sldId id="571" r:id="rId17"/>
    <p:sldId id="357" r:id="rId18"/>
    <p:sldId id="427" r:id="rId20"/>
    <p:sldId id="428" r:id="rId21"/>
    <p:sldId id="429" r:id="rId22"/>
    <p:sldId id="565" r:id="rId23"/>
    <p:sldId id="572" r:id="rId24"/>
    <p:sldId id="569" r:id="rId2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2.wmf"/><Relationship Id="rId5" Type="http://schemas.openxmlformats.org/officeDocument/2006/relationships/image" Target="../media/image11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52.wmf"/><Relationship Id="rId5" Type="http://schemas.openxmlformats.org/officeDocument/2006/relationships/image" Target="../media/image11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H="1">
            <a:off x="11286047" y="5948624"/>
            <a:ext cx="884255" cy="909376"/>
          </a:xfrm>
          <a:custGeom>
            <a:avLst/>
            <a:gdLst>
              <a:gd name="connsiteX0" fmla="*/ 346668 w 884255"/>
              <a:gd name="connsiteY0" fmla="*/ 0 h 909376"/>
              <a:gd name="connsiteX1" fmla="*/ 884255 w 884255"/>
              <a:gd name="connsiteY1" fmla="*/ 537587 h 909376"/>
              <a:gd name="connsiteX2" fmla="*/ 792444 w 884255"/>
              <a:gd name="connsiteY2" fmla="*/ 838157 h 909376"/>
              <a:gd name="connsiteX3" fmla="*/ 733683 w 884255"/>
              <a:gd name="connsiteY3" fmla="*/ 909376 h 909376"/>
              <a:gd name="connsiteX4" fmla="*/ 0 w 884255"/>
              <a:gd name="connsiteY4" fmla="*/ 909376 h 909376"/>
              <a:gd name="connsiteX5" fmla="*/ 0 w 884255"/>
              <a:gd name="connsiteY5" fmla="*/ 129846 h 909376"/>
              <a:gd name="connsiteX6" fmla="*/ 46098 w 884255"/>
              <a:gd name="connsiteY6" fmla="*/ 91812 h 909376"/>
              <a:gd name="connsiteX7" fmla="*/ 346668 w 884255"/>
              <a:gd name="connsiteY7" fmla="*/ 0 h 90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4255" h="909376">
                <a:moveTo>
                  <a:pt x="346668" y="0"/>
                </a:moveTo>
                <a:cubicBezTo>
                  <a:pt x="643569" y="0"/>
                  <a:pt x="884255" y="240686"/>
                  <a:pt x="884255" y="537587"/>
                </a:cubicBezTo>
                <a:cubicBezTo>
                  <a:pt x="884255" y="648925"/>
                  <a:pt x="850409" y="752358"/>
                  <a:pt x="792444" y="838157"/>
                </a:cubicBezTo>
                <a:lnTo>
                  <a:pt x="733683" y="909376"/>
                </a:lnTo>
                <a:lnTo>
                  <a:pt x="0" y="909376"/>
                </a:lnTo>
                <a:lnTo>
                  <a:pt x="0" y="129846"/>
                </a:lnTo>
                <a:lnTo>
                  <a:pt x="46098" y="91812"/>
                </a:lnTo>
                <a:cubicBezTo>
                  <a:pt x="131897" y="33847"/>
                  <a:pt x="235330" y="0"/>
                  <a:pt x="3466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65100" dist="38100" dir="2700000" algn="tl" rotWithShape="0">
              <a:srgbClr val="2B579A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10200090" y="5551714"/>
            <a:ext cx="1306287" cy="1306286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 flipH="1">
            <a:off x="11286047" y="5084467"/>
            <a:ext cx="63304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 flipH="1">
            <a:off x="8941166" y="594862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 flipH="1">
            <a:off x="9172527" y="4877188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8887483" y="5502246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10716845" y="5326364"/>
            <a:ext cx="225351" cy="22535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11682959" y="4262913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9909794" y="4488264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9899377" y="539224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336061"/>
            <a:ext cx="9144000" cy="1200329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28465"/>
            <a:ext cx="9144000" cy="53553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1087573" y="1247412"/>
            <a:ext cx="66502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205154" y="256009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215431" y="1328679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2097125" y="663705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725877" y="1804831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1237742" y="31469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725877" y="1041698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1131651" y="66370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065127" y="1899138"/>
            <a:ext cx="2471896" cy="2471896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1406771" y="2240783"/>
            <a:ext cx="1788607" cy="17886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37023" y="3155182"/>
            <a:ext cx="6450480" cy="0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570805" y="5051810"/>
            <a:ext cx="221064" cy="221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椭圆 10"/>
          <p:cNvSpPr/>
          <p:nvPr/>
        </p:nvSpPr>
        <p:spPr>
          <a:xfrm>
            <a:off x="1577694" y="4557767"/>
            <a:ext cx="309823" cy="3098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椭圆 11"/>
          <p:cNvSpPr/>
          <p:nvPr/>
        </p:nvSpPr>
        <p:spPr>
          <a:xfrm>
            <a:off x="1848999" y="6108561"/>
            <a:ext cx="221064" cy="2210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椭圆 12"/>
          <p:cNvSpPr/>
          <p:nvPr/>
        </p:nvSpPr>
        <p:spPr>
          <a:xfrm>
            <a:off x="2791869" y="5716676"/>
            <a:ext cx="147376" cy="1473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椭圆 13"/>
          <p:cNvSpPr/>
          <p:nvPr/>
        </p:nvSpPr>
        <p:spPr>
          <a:xfrm>
            <a:off x="2359791" y="4068746"/>
            <a:ext cx="147376" cy="1473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11331" y="2149466"/>
            <a:ext cx="6223772" cy="97872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11331" y="3231383"/>
            <a:ext cx="6220880" cy="53553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15022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533823" y="1"/>
            <a:ext cx="9145467" cy="1154099"/>
            <a:chOff x="1533823" y="0"/>
            <a:chExt cx="9145467" cy="1154099"/>
          </a:xfrm>
        </p:grpSpPr>
        <p:sp>
          <p:nvSpPr>
            <p:cNvPr id="7" name="任意多边形: 形状 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8" name="任意多边形: 形状 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1" name="任意多边形: 形状 1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2" name="椭圆 1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任意多边形: 形状 1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4" name="椭圆 1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椭圆 1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6" name="组合 15"/>
          <p:cNvGrpSpPr/>
          <p:nvPr/>
        </p:nvGrpSpPr>
        <p:grpSpPr>
          <a:xfrm flipV="1">
            <a:off x="1533823" y="5695274"/>
            <a:ext cx="9145467" cy="1154099"/>
            <a:chOff x="1533823" y="0"/>
            <a:chExt cx="9145467" cy="1154099"/>
          </a:xfrm>
        </p:grpSpPr>
        <p:sp>
          <p:nvSpPr>
            <p:cNvPr id="17" name="任意多边形: 形状 1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8" name="任意多边形: 形状 1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9" name="椭圆 1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1" name="任意多边形: 形状 2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任意多边形: 形状 2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5889" y="2302403"/>
            <a:ext cx="10515600" cy="1569660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96603" y="365125"/>
            <a:ext cx="957197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9445668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fld id="{77F18F3A-1BDA-47FF-B365-01D42A5E3B1E}" type="datetime1">
              <a:rPr lang="zh-CN" altLang="en-US" sz="1400" smtClean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rPr>
              <a:t>STA 677.001</a:t>
            </a: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cover dir="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3.xml"/><Relationship Id="rId15" Type="http://schemas.openxmlformats.org/officeDocument/2006/relationships/tags" Target="../tags/tag2.xml"/><Relationship Id="rId14" Type="http://schemas.openxmlformats.org/officeDocument/2006/relationships/tags" Target="../tags/tag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rot="10800000">
            <a:off x="46587" y="5707287"/>
            <a:ext cx="1430939" cy="1085390"/>
            <a:chOff x="46587" y="5707287"/>
            <a:chExt cx="1430938" cy="1085390"/>
          </a:xfrm>
        </p:grpSpPr>
        <p:sp>
          <p:nvSpPr>
            <p:cNvPr id="8" name="椭圆 7"/>
            <p:cNvSpPr/>
            <p:nvPr/>
          </p:nvSpPr>
          <p:spPr>
            <a:xfrm>
              <a:off x="649487" y="6446845"/>
              <a:ext cx="345832" cy="345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>
              <a:off x="966734" y="5707287"/>
              <a:ext cx="510791" cy="510791"/>
            </a:xfrm>
            <a:prstGeom prst="ellipse">
              <a:avLst/>
            </a:pr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/>
            <p:nvPr/>
          </p:nvSpPr>
          <p:spPr>
            <a:xfrm>
              <a:off x="46587" y="6234989"/>
              <a:ext cx="221063" cy="22106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7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61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4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0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7.wmf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20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4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11.xml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2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30.wmf"/><Relationship Id="rId17" Type="http://schemas.openxmlformats.org/officeDocument/2006/relationships/vmlDrawing" Target="../drawings/vmlDrawing6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27.wmf"/><Relationship Id="rId14" Type="http://schemas.openxmlformats.org/officeDocument/2006/relationships/oleObject" Target="../embeddings/oleObject33.bin"/><Relationship Id="rId13" Type="http://schemas.openxmlformats.org/officeDocument/2006/relationships/image" Target="../media/image26.wmf"/><Relationship Id="rId12" Type="http://schemas.openxmlformats.org/officeDocument/2006/relationships/oleObject" Target="../embeddings/oleObject32.bin"/><Relationship Id="rId11" Type="http://schemas.openxmlformats.org/officeDocument/2006/relationships/image" Target="../media/image35.png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27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4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6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40.wmf"/><Relationship Id="rId1" Type="http://schemas.openxmlformats.org/officeDocument/2006/relationships/oleObject" Target="../embeddings/oleObject3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45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2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6.wmf"/><Relationship Id="rId1" Type="http://schemas.openxmlformats.org/officeDocument/2006/relationships/oleObject" Target="../embeddings/oleObject4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8.wmf"/><Relationship Id="rId15" Type="http://schemas.openxmlformats.org/officeDocument/2006/relationships/vmlDrawing" Target="../drawings/vmlDrawing10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3.png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46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4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52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/>
          </p:cNvSpPr>
          <p:nvPr>
            <p:ph type="ctrTitle"/>
          </p:nvPr>
        </p:nvSpPr>
        <p:spPr>
          <a:xfrm>
            <a:off x="714462" y="1159872"/>
            <a:ext cx="10763075" cy="962543"/>
          </a:xfrm>
        </p:spPr>
        <p:txBody>
          <a:bodyPr vert="horz" wrap="square" lIns="68580" tIns="34290" rIns="68580" bIns="34290" rtlCol="0" anchor="b">
            <a:noAutofit/>
          </a:bodyPr>
          <a:lstStyle/>
          <a:p>
            <a:pPr eaLnBrk="1" hangingPunct="1"/>
            <a:r>
              <a:rPr kumimoji="1" lang="zh-CN" altLang="en-US" sz="4800" b="1" dirty="0">
                <a:solidFill>
                  <a:srgbClr val="FF0000"/>
                </a:solidFill>
                <a:latin typeface="宋体" pitchFamily="2" charset="-122"/>
                <a:ea typeface="+mj-ea"/>
                <a:cs typeface="+mj-cs"/>
              </a:rPr>
              <a:t>第三章 多元正态分布</a:t>
            </a:r>
            <a:br>
              <a:rPr kumimoji="1" lang="en-US" altLang="zh-CN" sz="4800" b="1" dirty="0">
                <a:solidFill>
                  <a:srgbClr val="FF0000"/>
                </a:solidFill>
                <a:latin typeface="宋体" pitchFamily="2" charset="-122"/>
                <a:ea typeface="+mj-ea"/>
                <a:cs typeface="+mj-cs"/>
              </a:rPr>
            </a:br>
            <a:r>
              <a:rPr kumimoji="1" lang="zh-CN" altLang="en-US" sz="4800" b="1" dirty="0">
                <a:solidFill>
                  <a:srgbClr val="FF0000"/>
                </a:solidFill>
                <a:latin typeface="宋体" pitchFamily="2" charset="-122"/>
                <a:ea typeface="+mj-ea"/>
                <a:cs typeface="+mj-cs"/>
              </a:rPr>
              <a:t>均值向量的检验</a:t>
            </a:r>
            <a:endParaRPr kumimoji="1" lang="zh-CN" altLang="en-US" sz="4800" b="1" dirty="0">
              <a:solidFill>
                <a:srgbClr val="FF0000"/>
              </a:solidFill>
              <a:latin typeface="宋体" pitchFamily="2" charset="-122"/>
              <a:ea typeface="+mj-ea"/>
              <a:cs typeface="+mj-cs"/>
            </a:endParaRPr>
          </a:p>
        </p:txBody>
      </p:sp>
      <p:sp>
        <p:nvSpPr>
          <p:cNvPr id="2" name="Rectangle 3"/>
          <p:cNvSpPr>
            <a:spLocks noGrp="1"/>
          </p:cNvSpPr>
          <p:nvPr>
            <p:ph type="subTitle" idx="1"/>
          </p:nvPr>
        </p:nvSpPr>
        <p:spPr>
          <a:xfrm>
            <a:off x="1139888" y="2390900"/>
            <a:ext cx="10763074" cy="3622040"/>
          </a:xfrm>
        </p:spPr>
        <p:txBody>
          <a:bodyPr vert="horz" wrap="square" lIns="68580" tIns="34290" rIns="68580" bIns="34290" rtlCol="0" anchor="t">
            <a:noAutofit/>
          </a:bodyPr>
          <a:lstStyle/>
          <a:p>
            <a:pPr algn="l" eaLnBrk="1" hangingPunct="1"/>
            <a:r>
              <a:rPr lang="zh-CN" altLang="en-US" dirty="0"/>
              <a:t>授课内容                                         作业：例</a:t>
            </a:r>
            <a:r>
              <a:rPr lang="en-US" altLang="zh-CN" dirty="0"/>
              <a:t>3-1</a:t>
            </a:r>
            <a:r>
              <a:rPr lang="zh-CN" altLang="en-US" dirty="0"/>
              <a:t>中的样本协方差阵改为协方差阵</a:t>
            </a:r>
            <a:endParaRPr lang="en-US" altLang="zh-CN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dirty="0"/>
              <a:t>单个正态总体均值向量的检验              例</a:t>
            </a:r>
            <a:r>
              <a:rPr lang="en-US" altLang="zh-CN" dirty="0"/>
              <a:t>3-2</a:t>
            </a:r>
            <a:r>
              <a:rPr lang="zh-CN" altLang="en-US" dirty="0"/>
              <a:t>，其他见</a:t>
            </a:r>
            <a:r>
              <a:rPr lang="en-US" altLang="zh-CN" dirty="0"/>
              <a:t>word</a:t>
            </a:r>
            <a:r>
              <a:rPr lang="zh-CN" altLang="en-US" dirty="0"/>
              <a:t>文件</a:t>
            </a:r>
            <a:endParaRPr lang="zh-CN" altLang="en-US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dirty="0"/>
              <a:t>多个正态总体均值向量的检验</a:t>
            </a:r>
            <a:endParaRPr lang="zh-CN" altLang="en-US" dirty="0"/>
          </a:p>
          <a:p>
            <a:pPr algn="l" eaLnBrk="1" hangingPunct="1"/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798320" y="6572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med">
    <p:cover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540399"/>
            <a:ext cx="10828283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对于一元的单正态总体：</a:t>
            </a:r>
            <a:endParaRPr lang="en-US" altLang="zh-CN" sz="2800" b="0" i="0" u="none" strike="noStrike" baseline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若方差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H</a:t>
            </a:r>
            <a:r>
              <a:rPr lang="en-US" altLang="zh-CN" sz="2800" b="0" i="0" u="none" strike="noStrike" baseline="-2500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成立时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检验统计量为 </a:t>
            </a:r>
            <a:r>
              <a:rPr lang="zh-CN" altLang="en-US" sz="2800" b="0" i="0" u="sng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若方差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未知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H</a:t>
            </a:r>
            <a:r>
              <a:rPr lang="en-US" altLang="zh-CN" sz="2800" b="0" i="0" u="none" strike="noStrike" baseline="-2500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成立时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检验统计量为</a:t>
            </a:r>
            <a:r>
              <a:rPr lang="zh-CN" altLang="en-US" sz="2800" b="0" i="0" u="sng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800" b="0" i="0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/>
          </a:p>
          <a:p>
            <a:pPr marL="0" indent="0" algn="l">
              <a:buNone/>
            </a:pP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对于一元的双正态总体：</a:t>
            </a:r>
            <a:endParaRPr lang="en-US" altLang="zh-CN" sz="2800" b="0" i="0" u="none" strike="noStrike" baseline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若两总体方差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相等且已知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H</a:t>
            </a:r>
            <a:r>
              <a:rPr lang="en-US" altLang="zh-CN" sz="2800" b="0" i="0" u="none" strike="noStrike" baseline="-2500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成立时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检验统计量为 </a:t>
            </a:r>
            <a:r>
              <a:rPr lang="zh-CN" altLang="en-US" sz="2800" b="0" i="0" u="sng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若两总体方差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相等且未知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H</a:t>
            </a:r>
            <a:r>
              <a:rPr lang="en-US" altLang="zh-CN" sz="2800" b="0" i="0" u="none" strike="noStrike" baseline="-2500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成立时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ArialMT" panose="020B0604020202090204"/>
                <a:ea typeface="黑体" panose="02010609060101010101" pitchFamily="49" charset="-122"/>
              </a:rPr>
              <a:t>,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检验统计量为</a:t>
            </a:r>
            <a:r>
              <a:rPr lang="zh-CN" altLang="en-US" sz="2800" b="0" i="0" u="sng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800" b="0" i="0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08555" y="1233171"/>
            <a:ext cx="7247824" cy="799465"/>
          </a:xfrm>
        </p:spPr>
        <p:txBody>
          <a:bodyPr>
            <a:noAutofit/>
          </a:bodyPr>
          <a:lstStyle/>
          <a:p>
            <a:r>
              <a:rPr lang="zh-CN" altLang="en-US" sz="2800">
                <a:solidFill>
                  <a:schemeClr val="accent5"/>
                </a:solidFill>
              </a:rPr>
              <a:t>一、单个一元总体均值</a:t>
            </a:r>
            <a:r>
              <a:rPr lang="zh-CN" altLang="en-US" sz="2800" dirty="0">
                <a:solidFill>
                  <a:schemeClr val="accent5"/>
                </a:solidFill>
              </a:rPr>
              <a:t>的假设检验（</a:t>
            </a:r>
            <a:r>
              <a:rPr lang="en-US" altLang="zh-CN" sz="2800" i="1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solidFill>
                  <a:schemeClr val="accent5"/>
                </a:solidFill>
              </a:rPr>
              <a:t>=1</a:t>
            </a:r>
            <a:r>
              <a:rPr lang="zh-CN" altLang="en-US" sz="2800" dirty="0">
                <a:solidFill>
                  <a:schemeClr val="accent5"/>
                </a:solidFill>
              </a:rPr>
              <a:t>）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63470" y="2128520"/>
            <a:ext cx="7886700" cy="4351338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总体方差已知</a:t>
            </a:r>
            <a:r>
              <a:rPr lang="zh-CN" altLang="en-US" dirty="0"/>
              <a:t>时，采用标准正态分布下的</a:t>
            </a:r>
            <a:r>
              <a:rPr lang="en-US" altLang="zh-CN" dirty="0"/>
              <a:t>Z</a:t>
            </a:r>
            <a:r>
              <a:rPr lang="zh-CN" altLang="en-US" dirty="0"/>
              <a:t>检验统计量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总体方差未知</a:t>
            </a:r>
            <a:r>
              <a:rPr lang="zh-CN" altLang="en-US" dirty="0">
                <a:sym typeface="+mn-ea"/>
              </a:rPr>
              <a:t>时，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采用</a:t>
            </a:r>
            <a:r>
              <a:rPr lang="zh-CN" alt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分布下的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 </a:t>
            </a:r>
            <a:r>
              <a:rPr lang="zh-CN" altLang="en-US" dirty="0">
                <a:sym typeface="+mn-ea"/>
              </a:rPr>
              <a:t>检验统计量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21455" y="2663191"/>
          <a:ext cx="3206750" cy="1058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270000" imgH="419100" progId="Equation.KSEE3">
                  <p:embed/>
                </p:oleObj>
              </mc:Choice>
              <mc:Fallback>
                <p:oleObj name="" r:id="rId1" imgW="1270000" imgH="419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21455" y="2663191"/>
                        <a:ext cx="3206750" cy="1058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49725" y="5022216"/>
          <a:ext cx="3078480" cy="1058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1219200" imgH="419100" progId="Equation.KSEE3">
                  <p:embed/>
                </p:oleObj>
              </mc:Choice>
              <mc:Fallback>
                <p:oleObj name="" r:id="rId3" imgW="1219200" imgH="419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9725" y="5022216"/>
                        <a:ext cx="3078480" cy="1058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" name="Rectangle 2"/>
          <p:cNvSpPr>
            <a:spLocks noGrp="1"/>
          </p:cNvSpPr>
          <p:nvPr/>
        </p:nvSpPr>
        <p:spPr>
          <a:xfrm>
            <a:off x="3293746" y="178435"/>
            <a:ext cx="6043201" cy="857250"/>
          </a:xfrm>
          <a:prstGeom prst="rect">
            <a:avLst/>
          </a:prstGeom>
        </p:spPr>
        <p:txBody>
          <a:bodyPr vert="horz" wrap="square" lIns="68580" tIns="34290" rIns="68580" bIns="3429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第一节 单个总体均值向量的检验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061" y="340361"/>
            <a:ext cx="8228965" cy="887306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sym typeface="+mn-ea"/>
              </a:rPr>
              <a:t>二、单个多元总体均值的假设检验（</a:t>
            </a:r>
            <a:r>
              <a:rPr lang="en-US" altLang="zh-CN" sz="2800" i="1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</a:t>
            </a:r>
            <a:r>
              <a:rPr lang="en-US" altLang="zh-CN" sz="2800" dirty="0">
                <a:solidFill>
                  <a:schemeClr val="accent5"/>
                </a:solidFill>
                <a:sym typeface="+mn-ea"/>
              </a:rPr>
              <a:t>&gt;1</a:t>
            </a:r>
            <a:r>
              <a:rPr lang="zh-CN" altLang="en-US" sz="2800" dirty="0">
                <a:solidFill>
                  <a:schemeClr val="accent5"/>
                </a:solidFill>
                <a:sym typeface="+mn-ea"/>
              </a:rPr>
              <a:t>）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430020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由一元到多元，检验统计量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变成平方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baseline="30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总体协方差阵已知</a:t>
            </a:r>
            <a:r>
              <a:rPr lang="zh-CN" altLang="en-US" dirty="0"/>
              <a:t>时，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因而原假设的拒绝域为</a:t>
            </a:r>
            <a:endParaRPr lang="zh-CN" altLang="en-US" dirty="0"/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25850" y="1917701"/>
          <a:ext cx="3740150" cy="51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739900" imgH="241300" progId="Equation.KSEE3">
                  <p:embed/>
                </p:oleObj>
              </mc:Choice>
              <mc:Fallback>
                <p:oleObj name="" r:id="rId1" imgW="17399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25850" y="1917701"/>
                        <a:ext cx="3740150" cy="518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25850" y="2571116"/>
          <a:ext cx="3740150" cy="51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1739900" imgH="241300" progId="Equation.KSEE3">
                  <p:embed/>
                </p:oleObj>
              </mc:Choice>
              <mc:Fallback>
                <p:oleObj name="" r:id="rId3" imgW="17399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5850" y="2571116"/>
                        <a:ext cx="3740150" cy="518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75231" y="3584258"/>
          <a:ext cx="2921635" cy="839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1371600" imgH="393700" progId="Equation.KSEE3">
                  <p:embed/>
                </p:oleObj>
              </mc:Choice>
              <mc:Fallback>
                <p:oleObj name="" r:id="rId5" imgW="1371600" imgH="3937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75231" y="3584258"/>
                        <a:ext cx="2921635" cy="839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30544" y="3521500"/>
          <a:ext cx="40862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7" imgW="46024800" imgH="10058400" progId="Equation.DSMT4">
                  <p:embed/>
                </p:oleObj>
              </mc:Choice>
              <mc:Fallback>
                <p:oleObj name="Equation" r:id="rId7" imgW="46024800" imgH="10058400" progId="Equation.DSMT4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30544" y="3521500"/>
                        <a:ext cx="4086225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42870" y="4518026"/>
          <a:ext cx="5706110" cy="51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9" imgW="2654300" imgH="241300" progId="Equation.KSEE3">
                  <p:embed/>
                </p:oleObj>
              </mc:Choice>
              <mc:Fallback>
                <p:oleObj name="" r:id="rId9" imgW="26543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42870" y="4518026"/>
                        <a:ext cx="5706110" cy="518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724525" y="5165725"/>
          <a:ext cx="285432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26822400" imgH="6096000" progId="Equation.DSMT4">
                  <p:embed/>
                </p:oleObj>
              </mc:Choice>
              <mc:Fallback>
                <p:oleObj name="Equation" r:id="rId11" imgW="26822400" imgH="6096000" progId="Equation.DSMT4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24525" y="5165725"/>
                        <a:ext cx="2854325" cy="64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844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总体协方差阵未知</a:t>
            </a:r>
            <a:r>
              <a:rPr lang="zh-CN" altLang="en-US" dirty="0">
                <a:sym typeface="+mn-ea"/>
              </a:rPr>
              <a:t>时，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因而原假设的拒绝域为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38799" y="2704174"/>
          <a:ext cx="5542280" cy="51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578100" imgH="241300" progId="Equation.KSEE3">
                  <p:embed/>
                </p:oleObj>
              </mc:Choice>
              <mc:Fallback>
                <p:oleObj name="" r:id="rId1" imgW="25781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8799" y="2704174"/>
                        <a:ext cx="5542280" cy="518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38799" y="3341078"/>
          <a:ext cx="407289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1828800" imgH="419100" progId="Equation.KSEE3">
                  <p:embed/>
                </p:oleObj>
              </mc:Choice>
              <mc:Fallback>
                <p:oleObj name="" r:id="rId3" imgW="1828800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8799" y="3341078"/>
                        <a:ext cx="4072890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88914" y="4830788"/>
          <a:ext cx="421513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1892300" imgH="419100" progId="Equation.KSEE3">
                  <p:embed/>
                </p:oleObj>
              </mc:Choice>
              <mc:Fallback>
                <p:oleObj name="" r:id="rId5" imgW="1892300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8914" y="4830788"/>
                        <a:ext cx="4215130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258061" y="340361"/>
            <a:ext cx="8228965" cy="887306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sym typeface="+mn-ea"/>
              </a:rPr>
              <a:t>二、单个多元总体均值的假设检验（</a:t>
            </a:r>
            <a:r>
              <a:rPr lang="en-US" altLang="zh-CN" sz="2800" i="1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</a:t>
            </a:r>
            <a:r>
              <a:rPr lang="en-US" altLang="zh-CN" sz="2800" dirty="0">
                <a:solidFill>
                  <a:schemeClr val="accent5"/>
                </a:solidFill>
                <a:sym typeface="+mn-ea"/>
              </a:rPr>
              <a:t>&gt;1</a:t>
            </a:r>
            <a:r>
              <a:rPr lang="zh-CN" altLang="en-US" sz="2800" dirty="0">
                <a:solidFill>
                  <a:schemeClr val="accent5"/>
                </a:solidFill>
                <a:sym typeface="+mn-ea"/>
              </a:rPr>
              <a:t>）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graphicFrame>
        <p:nvGraphicFramePr>
          <p:cNvPr id="10" name="Object 2"/>
          <p:cNvGraphicFramePr/>
          <p:nvPr/>
        </p:nvGraphicFramePr>
        <p:xfrm>
          <a:off x="4658201" y="1647878"/>
          <a:ext cx="73294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7" imgW="67056000" imgH="5486400" progId="Equation.DSMT4">
                  <p:embed/>
                </p:oleObj>
              </mc:Choice>
              <mc:Fallback>
                <p:oleObj name="Equation" r:id="rId7" imgW="67056000" imgH="54864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8201" y="1647878"/>
                        <a:ext cx="7329488" cy="6604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/>
          <p:nvPr/>
        </p:nvGraphicFramePr>
        <p:xfrm>
          <a:off x="6204044" y="3318855"/>
          <a:ext cx="58229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9" imgW="49987200" imgH="10058400" progId="Equation.DSMT4">
                  <p:embed/>
                </p:oleObj>
              </mc:Choice>
              <mc:Fallback>
                <p:oleObj name="Equation" r:id="rId9" imgW="49987200" imgH="100584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04044" y="3318855"/>
                        <a:ext cx="5822950" cy="104775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1032933" y="1518407"/>
            <a:ext cx="9247083" cy="4647021"/>
          </a:xfrm>
        </p:spPr>
        <p:txBody>
          <a:bodyPr vert="horz" wrap="square" lIns="68580" tIns="34290" rIns="68580" bIns="34290" rtlCol="0" anchor="t">
            <a:noAutofit/>
          </a:bodyPr>
          <a:lstStyle/>
          <a:p>
            <a:pPr algn="just" fontAlgn="auto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在企业市场结构研究中，起关键作用的指标有市场份额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企业规模（资产净值总额的自然对数）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资本收益率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总收益增长率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为了研究市场结构的变动，夏菲尔德（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Shepherd,1972）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抽取了美国231个大型企业，调查了这些企业1960-1969年的资料。假设以前企业市场结构指标的均值向量为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(20,7.5,10,2)’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，而该次调查所得到的企业市场结构指标的均值向量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(20.92,8.06,11.78,1.09)’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样本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协方差矩阵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。试问企业市场结构是否发生了变化？ 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147" name="Rectangle 4"/>
          <p:cNvSpPr/>
          <p:nvPr/>
        </p:nvSpPr>
        <p:spPr>
          <a:xfrm>
            <a:off x="5799535" y="3346848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sp>
        <p:nvSpPr>
          <p:cNvPr id="6148" name="Rectangle 6"/>
          <p:cNvSpPr/>
          <p:nvPr/>
        </p:nvSpPr>
        <p:spPr>
          <a:xfrm>
            <a:off x="5828110" y="3343276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sp>
        <p:nvSpPr>
          <p:cNvPr id="6149" name="Rectangle 7"/>
          <p:cNvSpPr/>
          <p:nvPr/>
        </p:nvSpPr>
        <p:spPr>
          <a:xfrm>
            <a:off x="5838825" y="3343276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sp>
        <p:nvSpPr>
          <p:cNvPr id="6150" name="Rectangle 12"/>
          <p:cNvSpPr/>
          <p:nvPr/>
        </p:nvSpPr>
        <p:spPr>
          <a:xfrm>
            <a:off x="3481706" y="1799590"/>
            <a:ext cx="5844779" cy="857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br>
              <a:rPr lang="zh-CN" altLang="en-US" sz="2700" dirty="0">
                <a:solidFill>
                  <a:schemeClr val="tx2"/>
                </a:solidFill>
                <a:latin typeface="Tahoma" panose="020B0604030504040204" pitchFamily="34" charset="0"/>
              </a:rPr>
            </a:br>
            <a:endParaRPr lang="zh-CN" altLang="en-US" sz="27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</a:rPr>
              <a:t> 例</a:t>
            </a:r>
            <a:r>
              <a:rPr lang="en-US" altLang="zh-CN" dirty="0">
                <a:latin typeface="宋体" pitchFamily="2" charset="-122"/>
              </a:rPr>
              <a:t>3-1 </a:t>
            </a:r>
            <a:r>
              <a:rPr lang="zh-CN" altLang="en-US" dirty="0">
                <a:latin typeface="宋体" pitchFamily="2" charset="-122"/>
              </a:rPr>
              <a:t>企业市场结构研究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8151" y="5299517"/>
            <a:ext cx="4678561" cy="1489033"/>
          </a:xfrm>
          <a:prstGeom prst="rect">
            <a:avLst/>
          </a:prstGeom>
        </p:spPr>
      </p:pic>
    </p:spTree>
  </p:cSld>
  <p:clrMapOvr>
    <a:masterClrMapping/>
  </p:clrMapOvr>
  <p:transition spd="med">
    <p:cover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6562" y="600018"/>
            <a:ext cx="11937533" cy="549039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                                #</a:t>
            </a:r>
            <a:r>
              <a:rPr lang="zh-CN" altLang="en-US" dirty="0"/>
              <a:t>导入</a:t>
            </a:r>
            <a:r>
              <a:rPr lang="en-US" altLang="zh-CN" dirty="0" err="1"/>
              <a:t>numpy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scipy.stats</a:t>
            </a:r>
            <a:r>
              <a:rPr lang="en-US" altLang="zh-CN" dirty="0"/>
              <a:t> import f                           #</a:t>
            </a:r>
            <a:r>
              <a:rPr lang="zh-CN" altLang="en-US" dirty="0"/>
              <a:t>导入</a:t>
            </a:r>
            <a:r>
              <a:rPr lang="en-US" altLang="zh-CN" dirty="0"/>
              <a:t>f</a:t>
            </a:r>
            <a:endParaRPr lang="en-US" altLang="zh-CN" dirty="0"/>
          </a:p>
          <a:p>
            <a:r>
              <a:rPr lang="en-US" altLang="zh-CN" dirty="0"/>
              <a:t>n=231; p=4                                                #</a:t>
            </a:r>
            <a:r>
              <a:rPr lang="zh-CN" altLang="en-US" dirty="0"/>
              <a:t>样品数</a:t>
            </a:r>
            <a:r>
              <a:rPr lang="en-US" altLang="zh-CN" dirty="0"/>
              <a:t>n,</a:t>
            </a:r>
            <a:r>
              <a:rPr lang="zh-CN" altLang="en-US" dirty="0"/>
              <a:t>指标数</a:t>
            </a:r>
            <a:r>
              <a:rPr lang="en-US" altLang="zh-CN" dirty="0"/>
              <a:t>p</a:t>
            </a:r>
            <a:endParaRPr lang="en-US" altLang="zh-CN" dirty="0"/>
          </a:p>
          <a:p>
            <a:r>
              <a:rPr lang="en-US" altLang="zh-CN" dirty="0"/>
              <a:t>alpha=0.05                                                #</a:t>
            </a:r>
            <a:r>
              <a:rPr lang="zh-CN" altLang="en-US" dirty="0"/>
              <a:t>设置</a:t>
            </a:r>
            <a:r>
              <a:rPr lang="en-US" altLang="zh-CN" dirty="0"/>
              <a:t>alpha</a:t>
            </a:r>
            <a:endParaRPr lang="en-US" altLang="zh-CN" dirty="0"/>
          </a:p>
          <a:p>
            <a:r>
              <a:rPr lang="en-US" altLang="zh-CN" dirty="0"/>
              <a:t>Mu=</a:t>
            </a:r>
            <a:r>
              <a:rPr lang="en-US" altLang="zh-CN" dirty="0" err="1"/>
              <a:t>np.array</a:t>
            </a:r>
            <a:r>
              <a:rPr lang="en-US" altLang="zh-CN" dirty="0"/>
              <a:t>([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20,7.5,10,2</a:t>
            </a:r>
            <a:r>
              <a:rPr lang="en-US" altLang="zh-CN" dirty="0"/>
              <a:t>]); </a:t>
            </a:r>
            <a:r>
              <a:rPr lang="en-US" altLang="zh-CN" dirty="0" err="1"/>
              <a:t>xbar</a:t>
            </a:r>
            <a:r>
              <a:rPr lang="en-US" altLang="zh-CN" dirty="0"/>
              <a:t>=</a:t>
            </a:r>
            <a:r>
              <a:rPr lang="en-US" altLang="zh-CN" dirty="0" err="1"/>
              <a:t>np.array</a:t>
            </a:r>
            <a:r>
              <a:rPr lang="en-US" altLang="zh-CN" dirty="0"/>
              <a:t>([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20.92,8.06,11.78,1.09</a:t>
            </a:r>
            <a:r>
              <a:rPr lang="en-US" altLang="zh-CN" dirty="0"/>
              <a:t>])  #</a:t>
            </a:r>
            <a:r>
              <a:rPr lang="zh-CN" altLang="en-US" dirty="0"/>
              <a:t>总体均值和样本均值向量</a:t>
            </a:r>
            <a:endParaRPr lang="en-US" altLang="zh-CN" dirty="0"/>
          </a:p>
          <a:p>
            <a:r>
              <a:rPr lang="en-US" altLang="zh-CN" dirty="0"/>
              <a:t>S=</a:t>
            </a:r>
            <a:r>
              <a:rPr lang="en-US" altLang="zh-CN" dirty="0" err="1"/>
              <a:t>np.array</a:t>
            </a:r>
            <a:r>
              <a:rPr lang="en-US" altLang="zh-CN" dirty="0"/>
              <a:t>([[0.26,0.08,1.639,0.156], [0.08,1.513,-0.222,-0.019],[1.639,-0.222,26.626,2.233],[0.156,-0.019,2.233,1.346]]) #</a:t>
            </a:r>
            <a:r>
              <a:rPr lang="zh-CN" altLang="en-US" dirty="0"/>
              <a:t>样本协差阵</a:t>
            </a:r>
            <a:endParaRPr lang="en-US" altLang="zh-CN" dirty="0"/>
          </a:p>
          <a:p>
            <a:r>
              <a:rPr lang="en-US" altLang="zh-CN" dirty="0"/>
              <a:t>S1=</a:t>
            </a:r>
            <a:r>
              <a:rPr lang="en-US" altLang="zh-CN" dirty="0" err="1"/>
              <a:t>np.linalg.inv</a:t>
            </a:r>
            <a:r>
              <a:rPr lang="en-US" altLang="zh-CN" dirty="0"/>
              <a:t>(S)                                    #</a:t>
            </a:r>
            <a:r>
              <a:rPr lang="zh-CN" altLang="en-US" dirty="0"/>
              <a:t>求出</a:t>
            </a:r>
            <a:r>
              <a:rPr lang="en-US" altLang="zh-CN" dirty="0"/>
              <a:t>S</a:t>
            </a:r>
            <a:r>
              <a:rPr lang="zh-CN" altLang="en-US" dirty="0"/>
              <a:t>的逆矩阵</a:t>
            </a:r>
            <a:endParaRPr lang="en-US" altLang="zh-CN" dirty="0"/>
          </a:p>
          <a:p>
            <a:r>
              <a:rPr lang="pl-PL" altLang="zh-CN" dirty="0"/>
              <a:t>temp=np.dot(Mu-xbar,</a:t>
            </a:r>
            <a:r>
              <a:rPr lang="en-US" altLang="zh-CN" dirty="0"/>
              <a:t>S</a:t>
            </a:r>
            <a:r>
              <a:rPr lang="pl-PL" altLang="zh-CN" dirty="0"/>
              <a:t>1)</a:t>
            </a:r>
            <a:endParaRPr lang="en-US" altLang="zh-CN" dirty="0"/>
          </a:p>
          <a:p>
            <a:r>
              <a:rPr lang="en-US" altLang="zh-CN" dirty="0"/>
              <a:t>temp=np.dot(</a:t>
            </a:r>
            <a:r>
              <a:rPr lang="en-US" altLang="zh-CN" dirty="0" err="1"/>
              <a:t>temp,Mu-xbar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 err="1"/>
              <a:t>tsqure</a:t>
            </a:r>
            <a:r>
              <a:rPr lang="en-US" altLang="zh-CN" dirty="0"/>
              <a:t>=n* temp                                         #</a:t>
            </a:r>
            <a:r>
              <a:rPr lang="zh-CN" altLang="en-US" dirty="0"/>
              <a:t>求出</a:t>
            </a:r>
            <a:r>
              <a:rPr lang="en-US" altLang="zh-CN" i="1" dirty="0"/>
              <a:t>T</a:t>
            </a:r>
            <a:r>
              <a:rPr lang="en-US" altLang="zh-CN" baseline="30000" dirty="0"/>
              <a:t>2</a:t>
            </a:r>
            <a:endParaRPr lang="en-US" altLang="zh-CN" baseline="30000" dirty="0"/>
          </a:p>
          <a:p>
            <a:pPr marL="0" indent="0">
              <a:buNone/>
            </a:pPr>
            <a:r>
              <a:rPr lang="en-US" altLang="zh-CN" baseline="30000" dirty="0"/>
              <a:t>  </a:t>
            </a:r>
            <a:r>
              <a:rPr lang="en-US" altLang="zh-CN" dirty="0"/>
              <a:t>1248.096</a:t>
            </a:r>
            <a:endParaRPr lang="en-US" altLang="zh-CN" dirty="0"/>
          </a:p>
          <a:p>
            <a:r>
              <a:rPr lang="en-US" altLang="zh-CN" dirty="0"/>
              <a:t>F=</a:t>
            </a:r>
            <a:r>
              <a:rPr lang="en-US" altLang="zh-CN" dirty="0" err="1"/>
              <a:t>tsqure</a:t>
            </a:r>
            <a:r>
              <a:rPr lang="en-US" altLang="zh-CN" dirty="0"/>
              <a:t>*(n-p)/(p*(n-1))                           #</a:t>
            </a:r>
            <a:r>
              <a:rPr lang="zh-CN" altLang="en-US" dirty="0"/>
              <a:t>求出统计量</a:t>
            </a:r>
            <a:r>
              <a:rPr lang="en-US" altLang="zh-CN" i="1" dirty="0"/>
              <a:t>F</a:t>
            </a:r>
            <a:r>
              <a:rPr lang="zh-CN" altLang="en-US" dirty="0"/>
              <a:t>的值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307.954</a:t>
            </a:r>
            <a:endParaRPr lang="en-US" altLang="zh-CN" dirty="0"/>
          </a:p>
          <a:p>
            <a:r>
              <a:rPr lang="en-US" altLang="zh-CN" dirty="0"/>
              <a:t>a=</a:t>
            </a:r>
            <a:r>
              <a:rPr lang="en-US" altLang="zh-CN" dirty="0" err="1"/>
              <a:t>f.isf</a:t>
            </a:r>
            <a:r>
              <a:rPr lang="en-US" altLang="zh-CN" dirty="0"/>
              <a:t>(alpha, p, n-p)                             #</a:t>
            </a:r>
            <a:r>
              <a:rPr lang="zh-CN" altLang="en-US" dirty="0"/>
              <a:t>单侧右分位点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2.411414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7"/>
          <p:cNvSpPr>
            <a:spLocks noGrp="1"/>
          </p:cNvSpPr>
          <p:nvPr>
            <p:ph idx="1"/>
          </p:nvPr>
        </p:nvSpPr>
        <p:spPr>
          <a:xfrm>
            <a:off x="703977" y="1564216"/>
            <a:ext cx="10944683" cy="5037919"/>
          </a:xfrm>
        </p:spPr>
        <p:txBody>
          <a:bodyPr vert="horz" wrap="square" lIns="68580" tIns="34290" rIns="68580" bIns="34290" rtlCol="0" anchor="t">
            <a:normAutofit/>
          </a:bodyPr>
          <a:lstStyle/>
          <a:p>
            <a:pPr algn="just" fontAlgn="auto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对20名健康女性的汗水进行测量和化验，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排汗量，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汗水中钠的含量，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汗水中钾的含量，为了探索新的诊断技术，需要检验假设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：μ′=（4，50，10）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en-US" altLang="zh-CN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：μ′≠（4，50，10），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取显著性水平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α=0.10。   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171" name="Rectangle 1028"/>
          <p:cNvSpPr/>
          <p:nvPr/>
        </p:nvSpPr>
        <p:spPr>
          <a:xfrm>
            <a:off x="5799535" y="3346848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sp>
        <p:nvSpPr>
          <p:cNvPr id="7172" name="Rectangle 1029"/>
          <p:cNvSpPr/>
          <p:nvPr/>
        </p:nvSpPr>
        <p:spPr>
          <a:xfrm>
            <a:off x="5828110" y="3343276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sp>
        <p:nvSpPr>
          <p:cNvPr id="7173" name="Rectangle 1030"/>
          <p:cNvSpPr/>
          <p:nvPr/>
        </p:nvSpPr>
        <p:spPr>
          <a:xfrm>
            <a:off x="5838825" y="3343276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sp>
        <p:nvSpPr>
          <p:cNvPr id="7174" name="Rectangle 1031"/>
          <p:cNvSpPr/>
          <p:nvPr/>
        </p:nvSpPr>
        <p:spPr>
          <a:xfrm>
            <a:off x="3409951" y="1828800"/>
            <a:ext cx="5844779" cy="857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br>
              <a:rPr lang="zh-CN" altLang="en-US" sz="2700" dirty="0">
                <a:solidFill>
                  <a:schemeClr val="tx2"/>
                </a:solidFill>
                <a:latin typeface="Tahoma" panose="020B0604030504040204" pitchFamily="34" charset="0"/>
              </a:rPr>
            </a:br>
            <a:endParaRPr lang="zh-CN" altLang="en-US" sz="27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itchFamily="2" charset="-122"/>
              </a:rPr>
              <a:t>例</a:t>
            </a:r>
            <a:r>
              <a:rPr lang="en-US" altLang="zh-CN" dirty="0">
                <a:latin typeface="宋体" pitchFamily="2" charset="-122"/>
              </a:rPr>
              <a:t>3-2 </a:t>
            </a:r>
            <a:r>
              <a:rPr lang="zh-CN" altLang="en-US" dirty="0">
                <a:latin typeface="宋体" pitchFamily="2" charset="-122"/>
              </a:rPr>
              <a:t>探索新的诊断技术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739" y="3290718"/>
            <a:ext cx="7170172" cy="3581400"/>
          </a:xfrm>
          <a:prstGeom prst="rect">
            <a:avLst/>
          </a:prstGeom>
        </p:spPr>
      </p:pic>
    </p:spTree>
  </p:cSld>
  <p:clrMapOvr>
    <a:masterClrMapping/>
  </p:clrMapOvr>
  <p:transition spd="med">
    <p:cover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/>
        </p:nvSpPr>
        <p:spPr>
          <a:xfrm>
            <a:off x="2726422" y="178435"/>
            <a:ext cx="6358855" cy="857250"/>
          </a:xfrm>
          <a:prstGeom prst="rect">
            <a:avLst/>
          </a:prstGeom>
        </p:spPr>
        <p:txBody>
          <a:bodyPr vert="horz" wrap="square" lIns="68580" tIns="34290" rIns="68580" bIns="34290" rtlCol="0" anchor="b">
            <a:normAutofit fontScale="925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第二节 两个总体均值向量的检验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83808" y="1585518"/>
            <a:ext cx="7516537" cy="453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0" i="0" u="none" strike="noStrike" baseline="0" dirty="0">
                <a:solidFill>
                  <a:srgbClr val="2F559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sz="2800" dirty="0">
                <a:solidFill>
                  <a:srgbClr val="2F559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800" b="0" i="0" u="none" strike="noStrike" baseline="0" dirty="0">
                <a:solidFill>
                  <a:srgbClr val="2F559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协方差阵相等的情形</a:t>
            </a:r>
            <a:endParaRPr lang="zh-CN" altLang="en-US" sz="2800" b="0" i="0" u="none" strike="noStrike" baseline="0" dirty="0">
              <a:solidFill>
                <a:srgbClr val="2F559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b="0" i="0" u="none" strike="noStrike" baseline="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两个总体协方差阵</a:t>
            </a:r>
            <a:r>
              <a:rPr lang="zh-CN" altLang="en-US" sz="2800" b="0" i="0" u="none" strike="noStrike" baseline="0" dirty="0">
                <a:latin typeface="黑体" panose="02010609060101010101" pitchFamily="49" charset="-122"/>
                <a:ea typeface="黑体" panose="02010609060101010101" pitchFamily="49" charset="-122"/>
              </a:rPr>
              <a:t>相等</a:t>
            </a:r>
            <a:r>
              <a:rPr lang="zh-CN" altLang="en-US" sz="2800" b="0" i="0" u="none" strike="noStrike" baseline="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endParaRPr lang="zh-CN" altLang="en-US" sz="2800" b="0" i="0" u="none" strike="noStrike" baseline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b="0" i="0" u="none" strike="noStrike" baseline="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两个总体协方差阵</a:t>
            </a:r>
            <a:r>
              <a:rPr lang="zh-CN" altLang="en-US" sz="2800" b="0" i="0" u="none" strike="noStrike" baseline="0" dirty="0">
                <a:latin typeface="黑体" panose="02010609060101010101" pitchFamily="49" charset="-122"/>
                <a:ea typeface="黑体" panose="02010609060101010101" pitchFamily="49" charset="-122"/>
              </a:rPr>
              <a:t>相等</a:t>
            </a:r>
            <a:r>
              <a:rPr lang="zh-CN" altLang="en-US" sz="2800" b="0" i="0" u="none" strike="noStrike" baseline="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未知</a:t>
            </a:r>
            <a:endParaRPr lang="zh-CN" altLang="en-US" sz="2800" b="0" i="0" u="none" strike="noStrike" baseline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0" i="0" u="none" strike="noStrike" baseline="0" dirty="0">
                <a:solidFill>
                  <a:srgbClr val="2F559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二、协方差阵不相等的情形</a:t>
            </a:r>
            <a:endParaRPr lang="zh-CN" altLang="en-US" sz="2800" b="0" i="0" u="none" strike="noStrike" baseline="0" dirty="0">
              <a:solidFill>
                <a:srgbClr val="2F559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两正态总体均值与标准差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均未知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时，两种情形：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两个样本量相等时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两个样本量不相等时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/>
          <p:cNvSpPr>
            <a:spLocks noGrp="1"/>
          </p:cNvSpPr>
          <p:nvPr>
            <p:ph idx="1"/>
          </p:nvPr>
        </p:nvSpPr>
        <p:spPr>
          <a:xfrm>
            <a:off x="2896869" y="1348845"/>
            <a:ext cx="5844779" cy="810568"/>
          </a:xfrm>
        </p:spPr>
        <p:txBody>
          <a:bodyPr vert="horz" wrap="square" lIns="68580" tIns="34290" rIns="68580" bIns="34290" rtlCol="0" anchor="t">
            <a:normAutofit/>
          </a:bodyPr>
          <a:lstStyle/>
          <a:p>
            <a:pPr eaLnBrk="1" hangingPunct="1">
              <a:buNone/>
            </a:pPr>
            <a:r>
              <a:rPr lang="zh-CN" altLang="en-US" b="1" dirty="0">
                <a:solidFill>
                  <a:schemeClr val="accent1"/>
                </a:solidFill>
                <a:latin typeface="宋体" pitchFamily="2" charset="-122"/>
              </a:rPr>
              <a:t>一、协方差阵相等的情形（独立样本）</a:t>
            </a:r>
            <a:endParaRPr lang="zh-CN" altLang="en-US" b="1" dirty="0">
              <a:solidFill>
                <a:schemeClr val="accent1"/>
              </a:solidFill>
              <a:latin typeface="宋体" pitchFamily="2" charset="-122"/>
            </a:endParaRPr>
          </a:p>
        </p:txBody>
      </p:sp>
      <p:sp>
        <p:nvSpPr>
          <p:cNvPr id="111620" name="Rectangle 4"/>
          <p:cNvSpPr/>
          <p:nvPr/>
        </p:nvSpPr>
        <p:spPr>
          <a:xfrm>
            <a:off x="2528571" y="2002652"/>
            <a:ext cx="6873875" cy="96949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Arial" panose="020B0604020202090204" pitchFamily="34" charset="0"/>
                <a:ea typeface="楷体_GB2312" pitchFamily="49" charset="-122"/>
              </a:rPr>
              <a:t>      </a:t>
            </a:r>
            <a:r>
              <a:rPr lang="zh-CN" altLang="en-US" sz="2400" dirty="0">
                <a:latin typeface="Arial" panose="020B0604020202090204" pitchFamily="34" charset="0"/>
              </a:rPr>
              <a:t>与一元随机变量的情形相同，常常我们需要检验两个总体的均值是否相等</a:t>
            </a:r>
            <a:r>
              <a:rPr lang="zh-CN" altLang="en-US" sz="2400" dirty="0">
                <a:latin typeface="Arial" panose="020B0604020202090204" pitchFamily="34" charset="0"/>
                <a:ea typeface="楷体_GB2312" pitchFamily="49" charset="-122"/>
              </a:rPr>
              <a:t>。</a:t>
            </a:r>
            <a:r>
              <a:rPr lang="zh-CN" altLang="en-US" sz="2400" dirty="0">
                <a:latin typeface="Arial" panose="020B0604020202090204" pitchFamily="34" charset="0"/>
              </a:rPr>
              <a:t> </a:t>
            </a:r>
            <a:endParaRPr lang="zh-CN" altLang="en-US" sz="2400" dirty="0">
              <a:latin typeface="Arial" panose="020B0604020202090204" pitchFamily="34" charset="0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2605092" y="3569972"/>
            <a:ext cx="8498450" cy="1129663"/>
            <a:chOff x="111" y="2333"/>
            <a:chExt cx="5860" cy="949"/>
          </a:xfrm>
        </p:grpSpPr>
        <p:sp>
          <p:nvSpPr>
            <p:cNvPr id="8197" name="Rectangle 11"/>
            <p:cNvSpPr/>
            <p:nvPr/>
          </p:nvSpPr>
          <p:spPr>
            <a:xfrm>
              <a:off x="211" y="2333"/>
              <a:ext cx="5760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dirty="0">
                  <a:latin typeface="宋体" pitchFamily="2" charset="-122"/>
                </a:rPr>
                <a:t>设从总体                  </a:t>
              </a:r>
              <a:r>
                <a:rPr lang="en-US" altLang="zh-CN" sz="2400" dirty="0">
                  <a:latin typeface="宋体" pitchFamily="2" charset="-122"/>
                </a:rPr>
                <a:t>                        </a:t>
              </a:r>
              <a:r>
                <a:rPr lang="zh-CN" altLang="en-US" sz="2400" dirty="0">
                  <a:solidFill>
                    <a:srgbClr val="000000"/>
                  </a:solidFill>
                  <a:latin typeface="宋体" pitchFamily="2" charset="-122"/>
                </a:rPr>
                <a:t>中各自独立地抽取样本</a:t>
              </a:r>
              <a:endParaRPr lang="zh-CN" altLang="en-US" sz="2400" dirty="0">
                <a:latin typeface="Arial" panose="020B0604020202090204" pitchFamily="34" charset="0"/>
              </a:endParaRPr>
            </a:p>
          </p:txBody>
        </p:sp>
        <p:grpSp>
          <p:nvGrpSpPr>
            <p:cNvPr id="8198" name="Group 17"/>
            <p:cNvGrpSpPr/>
            <p:nvPr/>
          </p:nvGrpSpPr>
          <p:grpSpPr>
            <a:xfrm>
              <a:off x="111" y="2469"/>
              <a:ext cx="5044" cy="813"/>
              <a:chOff x="156" y="2469"/>
              <a:chExt cx="5044" cy="813"/>
            </a:xfrm>
          </p:grpSpPr>
          <p:graphicFrame>
            <p:nvGraphicFramePr>
              <p:cNvPr id="8199" name="Object 10"/>
              <p:cNvGraphicFramePr/>
              <p:nvPr/>
            </p:nvGraphicFramePr>
            <p:xfrm>
              <a:off x="1178" y="2469"/>
              <a:ext cx="1080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1" imgW="1713865" imgH="482600" progId="Equation.DSMT4">
                      <p:embed/>
                    </p:oleObj>
                  </mc:Choice>
                  <mc:Fallback>
                    <p:oleObj name="" r:id="rId1" imgW="1713865" imgH="482600" progId="Equation.DSMT4">
                      <p:embed/>
                      <p:pic>
                        <p:nvPicPr>
                          <p:cNvPr id="0" name="图片 312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178" y="2469"/>
                            <a:ext cx="1080" cy="31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0" name="Object 9"/>
              <p:cNvGraphicFramePr/>
              <p:nvPr/>
            </p:nvGraphicFramePr>
            <p:xfrm>
              <a:off x="2336" y="2469"/>
              <a:ext cx="984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3" imgW="1422400" imgH="469900" progId="Equation.DSMT4">
                      <p:embed/>
                    </p:oleObj>
                  </mc:Choice>
                  <mc:Fallback>
                    <p:oleObj name="" r:id="rId3" imgW="1422400" imgH="469900" progId="Equation.DSMT4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336" y="2469"/>
                            <a:ext cx="984" cy="30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1" name="Object 8"/>
              <p:cNvGraphicFramePr/>
              <p:nvPr/>
            </p:nvGraphicFramePr>
            <p:xfrm>
              <a:off x="156" y="2881"/>
              <a:ext cx="2276" cy="4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Equation" r:id="rId5" imgW="71628000" imgH="11582400" progId="Equation.DSMT4">
                      <p:embed/>
                    </p:oleObj>
                  </mc:Choice>
                  <mc:Fallback>
                    <p:oleObj name="Equation" r:id="rId5" imgW="71628000" imgH="11582400" progId="Equation.DSMT4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56" y="2881"/>
                            <a:ext cx="2276" cy="40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2" name="Object 7"/>
              <p:cNvGraphicFramePr/>
              <p:nvPr/>
            </p:nvGraphicFramePr>
            <p:xfrm>
              <a:off x="2562" y="2881"/>
              <a:ext cx="1754" cy="3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Equation" r:id="rId7" imgW="61264800" imgH="11582400" progId="Equation.DSMT4">
                      <p:embed/>
                    </p:oleObj>
                  </mc:Choice>
                  <mc:Fallback>
                    <p:oleObj name="Equation" r:id="rId7" imgW="61264800" imgH="11582400" progId="Equation.DSMT4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562" y="2881"/>
                            <a:ext cx="1754" cy="36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3" name="Object 6"/>
              <p:cNvGraphicFramePr/>
              <p:nvPr/>
            </p:nvGraphicFramePr>
            <p:xfrm>
              <a:off x="4708" y="2939"/>
              <a:ext cx="492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9" imgW="774065" imgH="317500" progId="Equation.DSMT4">
                      <p:embed/>
                    </p:oleObj>
                  </mc:Choice>
                  <mc:Fallback>
                    <p:oleObj name="" r:id="rId9" imgW="774065" imgH="317500" progId="Equation.DSMT4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708" y="2939"/>
                            <a:ext cx="492" cy="21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11632" name="Rectangle 16"/>
          <p:cNvSpPr/>
          <p:nvPr/>
        </p:nvSpPr>
        <p:spPr>
          <a:xfrm>
            <a:off x="2528571" y="4918076"/>
            <a:ext cx="21431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 dirty="0">
                <a:latin typeface="+mn-ea"/>
                <a:cs typeface="+mn-ea"/>
              </a:rPr>
              <a:t> 考虑假设  </a:t>
            </a:r>
            <a:endParaRPr lang="zh-CN" altLang="en-US" sz="2400" dirty="0">
              <a:latin typeface="+mn-ea"/>
              <a:cs typeface="+mn-ea"/>
            </a:endParaRPr>
          </a:p>
        </p:txBody>
      </p:sp>
      <p:graphicFrame>
        <p:nvGraphicFramePr>
          <p:cNvPr id="111631" name="Object 15"/>
          <p:cNvGraphicFramePr/>
          <p:nvPr/>
        </p:nvGraphicFramePr>
        <p:xfrm>
          <a:off x="4509771" y="4986020"/>
          <a:ext cx="12620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1" imgW="1675765" imgH="431800" progId="Equation.DSMT4">
                  <p:embed/>
                </p:oleObj>
              </mc:Choice>
              <mc:Fallback>
                <p:oleObj name="" r:id="rId11" imgW="1675765" imgH="4318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09771" y="4986020"/>
                        <a:ext cx="1262063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0" name="Object 14"/>
          <p:cNvGraphicFramePr/>
          <p:nvPr/>
        </p:nvGraphicFramePr>
        <p:xfrm>
          <a:off x="4509770" y="5551171"/>
          <a:ext cx="12334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3" imgW="1650365" imgH="431800" progId="Equation.DSMT4">
                  <p:embed/>
                </p:oleObj>
              </mc:Choice>
              <mc:Fallback>
                <p:oleObj name="" r:id="rId13" imgW="1650365" imgH="431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09770" y="5551171"/>
                        <a:ext cx="1233488" cy="328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>
            <a:spLocks noGrp="1"/>
          </p:cNvSpPr>
          <p:nvPr/>
        </p:nvSpPr>
        <p:spPr>
          <a:xfrm>
            <a:off x="3042076" y="178435"/>
            <a:ext cx="6043201" cy="857250"/>
          </a:xfrm>
          <a:prstGeom prst="rect">
            <a:avLst/>
          </a:prstGeom>
        </p:spPr>
        <p:txBody>
          <a:bodyPr vert="horz" wrap="square" lIns="68580" tIns="34290" rIns="68580" bIns="3429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第二节 两个总体均值向量的检验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cover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Rectangle 3"/>
          <p:cNvSpPr>
            <a:spLocks noGrp="1"/>
          </p:cNvSpPr>
          <p:nvPr>
            <p:ph type="body" sz="half" idx="1"/>
          </p:nvPr>
        </p:nvSpPr>
        <p:spPr>
          <a:xfrm>
            <a:off x="907415" y="574834"/>
            <a:ext cx="5188585" cy="557680"/>
          </a:xfrm>
        </p:spPr>
        <p:txBody>
          <a:bodyPr vert="horz" wrap="square" lIns="68580" tIns="34290" rIns="68580" bIns="34290" rtlCol="0" anchor="t">
            <a:noAutofit/>
          </a:bodyPr>
          <a:lstStyle/>
          <a:p>
            <a:pPr eaLnBrk="1" hangingPunct="1">
              <a:buNone/>
            </a:pPr>
            <a:r>
              <a:rPr lang="en-US" altLang="zh-CN" dirty="0"/>
              <a:t>1. </a:t>
            </a:r>
            <a:r>
              <a:rPr lang="zh-CN" altLang="en-US" dirty="0"/>
              <a:t>若两总体</a:t>
            </a:r>
            <a:r>
              <a:rPr lang="zh-CN" altLang="en-US" dirty="0">
                <a:sym typeface="+mn-ea"/>
              </a:rPr>
              <a:t>协差阵</a:t>
            </a:r>
            <a:r>
              <a:rPr lang="zh-CN" altLang="en-US" dirty="0">
                <a:solidFill>
                  <a:srgbClr val="FF0000"/>
                </a:solidFill>
              </a:rPr>
              <a:t>相等且已知</a:t>
            </a:r>
            <a:endParaRPr lang="en-US" altLang="zh-CN" dirty="0"/>
          </a:p>
        </p:txBody>
      </p:sp>
      <p:graphicFrame>
        <p:nvGraphicFramePr>
          <p:cNvPr id="9220" name="Object 21"/>
          <p:cNvGraphicFramePr>
            <a:graphicFrameLocks noGrp="1"/>
          </p:cNvGraphicFramePr>
          <p:nvPr>
            <p:ph sz="quarter" idx="2"/>
          </p:nvPr>
        </p:nvGraphicFramePr>
        <p:xfrm>
          <a:off x="3054350" y="4335463"/>
          <a:ext cx="568325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9740800" imgH="10363200" progId="Equation.DSMT4">
                  <p:embed/>
                </p:oleObj>
              </mc:Choice>
              <mc:Fallback>
                <p:oleObj name="Equation" r:id="rId1" imgW="59740800" imgH="103632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4350" y="4335463"/>
                        <a:ext cx="5683250" cy="9858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831897" y="5386706"/>
            <a:ext cx="3230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sym typeface="+mn-ea"/>
              </a:rPr>
              <a:t>因而原假设的拒绝域为</a:t>
            </a:r>
            <a:endParaRPr lang="zh-CN" altLang="en-US" sz="2400" dirty="0">
              <a:sym typeface="+mn-ea"/>
            </a:endParaRPr>
          </a:p>
        </p:txBody>
      </p:sp>
      <p:graphicFrame>
        <p:nvGraphicFramePr>
          <p:cNvPr id="4" name="Object 21"/>
          <p:cNvGraphicFramePr>
            <a:graphicFrameLocks noGrp="1"/>
          </p:cNvGraphicFramePr>
          <p:nvPr/>
        </p:nvGraphicFramePr>
        <p:xfrm>
          <a:off x="4602163" y="6007100"/>
          <a:ext cx="18049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8897600" imgH="5791200" progId="Equation.DSMT4">
                  <p:embed/>
                </p:oleObj>
              </mc:Choice>
              <mc:Fallback>
                <p:oleObj name="Equation" r:id="rId3" imgW="18897600" imgH="57912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02163" y="6007100"/>
                        <a:ext cx="1804987" cy="5524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/>
          <p:nvPr/>
        </p:nvSpPr>
        <p:spPr>
          <a:xfrm>
            <a:off x="805642" y="1155622"/>
            <a:ext cx="7522210" cy="1028700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根据两个样本可得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b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b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的无偏估计量为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7" name="Object 5"/>
          <p:cNvGraphicFramePr/>
          <p:nvPr/>
        </p:nvGraphicFramePr>
        <p:xfrm>
          <a:off x="4191000" y="1657350"/>
          <a:ext cx="13906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44500800" imgH="23164800" progId="Equation.DSMT4">
                  <p:embed/>
                </p:oleObj>
              </mc:Choice>
              <mc:Fallback>
                <p:oleObj name="Equation" r:id="rId5" imgW="44500800" imgH="23164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1000" y="1657350"/>
                        <a:ext cx="139065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/>
          <p:nvPr/>
        </p:nvGraphicFramePr>
        <p:xfrm>
          <a:off x="5924550" y="1657350"/>
          <a:ext cx="12811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40843200" imgH="23164800" progId="Equation.DSMT4">
                  <p:embed/>
                </p:oleObj>
              </mc:Choice>
              <mc:Fallback>
                <p:oleObj name="Equation" r:id="rId7" imgW="40843200" imgH="231648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24550" y="1657350"/>
                        <a:ext cx="1281113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/>
        </p:nvGraphicFramePr>
        <p:xfrm>
          <a:off x="3867151" y="3143250"/>
          <a:ext cx="39592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9" imgW="4760595" imgH="1040765" progId="Equation.DSMT4">
                  <p:embed/>
                </p:oleObj>
              </mc:Choice>
              <mc:Fallback>
                <p:oleObj name="" r:id="rId9" imgW="4760595" imgH="1040765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67151" y="3143250"/>
                        <a:ext cx="3959225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6"/>
          <p:cNvGrpSpPr/>
          <p:nvPr/>
        </p:nvGrpSpPr>
        <p:grpSpPr>
          <a:xfrm>
            <a:off x="3867150" y="2400300"/>
            <a:ext cx="3750310" cy="786130"/>
            <a:chOff x="1008" y="1296"/>
            <a:chExt cx="3045" cy="660"/>
          </a:xfrm>
        </p:grpSpPr>
        <p:graphicFrame>
          <p:nvGraphicFramePr>
            <p:cNvPr id="14" name="Object 7"/>
            <p:cNvGraphicFramePr/>
            <p:nvPr/>
          </p:nvGraphicFramePr>
          <p:xfrm>
            <a:off x="1008" y="1296"/>
            <a:ext cx="3045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" r:id="rId11" imgW="4824095" imgH="1040765" progId="Equation.DSMT4">
                    <p:embed/>
                  </p:oleObj>
                </mc:Choice>
                <mc:Fallback>
                  <p:oleObj name="" r:id="rId11" imgW="4824095" imgH="1040765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08" y="1296"/>
                          <a:ext cx="3045" cy="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15"/>
            <p:cNvSpPr/>
            <p:nvPr/>
          </p:nvSpPr>
          <p:spPr>
            <a:xfrm>
              <a:off x="3198" y="1797"/>
              <a:ext cx="90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900" dirty="0">
                  <a:latin typeface="Tahoma" panose="020B0604030504040204" pitchFamily="34" charset="0"/>
                </a:rPr>
                <a:t>1</a:t>
              </a:r>
              <a:endParaRPr lang="en-US" altLang="zh-CN" sz="900" dirty="0">
                <a:latin typeface="Tahoma" panose="020B0604030504040204" pitchFamily="34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345954" y="3892231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zh-CN" altLang="en-US" sz="2400" dirty="0"/>
              <a:t>在</a:t>
            </a:r>
            <a:r>
              <a:rPr lang="en-US" altLang="zh-CN" sz="2400" dirty="0"/>
              <a:t>H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成立时</a:t>
            </a:r>
            <a:r>
              <a:rPr lang="en-US" altLang="zh-CN" sz="2400" dirty="0"/>
              <a:t>,</a:t>
            </a:r>
            <a:r>
              <a:rPr lang="zh-CN" altLang="en-US" sz="2400" dirty="0"/>
              <a:t>检验统计量为</a:t>
            </a:r>
            <a:r>
              <a:rPr lang="zh-CN" altLang="en-US" sz="2400" dirty="0">
                <a:solidFill>
                  <a:srgbClr val="FF0000"/>
                </a:solidFill>
              </a:rPr>
              <a:t>卡方</a:t>
            </a:r>
            <a:r>
              <a:rPr lang="zh-CN" altLang="en-US" sz="2400" dirty="0"/>
              <a:t>统计量</a:t>
            </a:r>
            <a:endParaRPr lang="en-US" altLang="zh-CN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048446" y="2535379"/>
            <a:ext cx="155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H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0</a:t>
            </a:r>
            <a:r>
              <a:rPr lang="zh-CN" altLang="en-US" sz="2400" dirty="0">
                <a:solidFill>
                  <a:srgbClr val="FF0000"/>
                </a:solidFill>
              </a:rPr>
              <a:t>为真时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/>
          </p:cNvSpPr>
          <p:nvPr>
            <p:ph idx="1"/>
          </p:nvPr>
        </p:nvSpPr>
        <p:spPr>
          <a:xfrm>
            <a:off x="740984" y="977462"/>
            <a:ext cx="7541279" cy="1039298"/>
          </a:xfrm>
        </p:spPr>
        <p:txBody>
          <a:bodyPr vert="horz" wrap="square" lIns="68580" tIns="34290" rIns="68580" bIns="34290" rtlCol="0" anchor="t">
            <a:normAutofit/>
          </a:bodyPr>
          <a:lstStyle/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根据两个样本可得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b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b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的无偏估计量为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12649" name="Object 9"/>
          <p:cNvGraphicFramePr/>
          <p:nvPr/>
        </p:nvGraphicFramePr>
        <p:xfrm>
          <a:off x="1265238" y="2459038"/>
          <a:ext cx="75501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178290" imgH="495300" progId="Equation.DSMT4">
                  <p:embed/>
                </p:oleObj>
              </mc:Choice>
              <mc:Fallback>
                <p:oleObj name="" r:id="rId1" imgW="9178290" imgH="4953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65238" y="2459038"/>
                        <a:ext cx="755015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1" name="Object 11"/>
          <p:cNvGraphicFramePr/>
          <p:nvPr/>
        </p:nvGraphicFramePr>
        <p:xfrm>
          <a:off x="3765550" y="1617663"/>
          <a:ext cx="37274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07594400" imgH="24993600" progId="Equation.DSMT4">
                  <p:embed/>
                </p:oleObj>
              </mc:Choice>
              <mc:Fallback>
                <p:oleObj name="Equation" r:id="rId3" imgW="107594400" imgH="249936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65550" y="1617663"/>
                        <a:ext cx="372745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4" name="Rectangle 14"/>
          <p:cNvSpPr/>
          <p:nvPr/>
        </p:nvSpPr>
        <p:spPr>
          <a:xfrm>
            <a:off x="1264712" y="3279199"/>
            <a:ext cx="6858000" cy="8299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/>
            <a:r>
              <a:rPr lang="zh-CN" altLang="en-US" sz="2400" dirty="0">
                <a:latin typeface="+mn-ea"/>
              </a:rPr>
              <a:t>其中</a:t>
            </a:r>
            <a:endParaRPr lang="zh-CN" altLang="en-US" sz="2400" dirty="0">
              <a:latin typeface="Arial" panose="020B0604020202090204" pitchFamily="34" charset="0"/>
            </a:endParaRPr>
          </a:p>
          <a:p>
            <a:pPr eaLnBrk="0" hangingPunct="0"/>
            <a:endParaRPr lang="zh-CN" altLang="en-US" sz="2400" dirty="0">
              <a:latin typeface="Arial" panose="020B0604020202090204" pitchFamily="34" charset="0"/>
            </a:endParaRPr>
          </a:p>
        </p:txBody>
      </p:sp>
      <p:graphicFrame>
        <p:nvGraphicFramePr>
          <p:cNvPr id="112653" name="Object 13"/>
          <p:cNvGraphicFramePr/>
          <p:nvPr/>
        </p:nvGraphicFramePr>
        <p:xfrm>
          <a:off x="2547938" y="3152775"/>
          <a:ext cx="35433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11556800" imgH="22555200" progId="Equation.DSMT4">
                  <p:embed/>
                </p:oleObj>
              </mc:Choice>
              <mc:Fallback>
                <p:oleObj name="Equation" r:id="rId5" imgW="111556800" imgH="225552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7938" y="3152775"/>
                        <a:ext cx="3543300" cy="757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2" name="Object 12"/>
          <p:cNvGraphicFramePr/>
          <p:nvPr/>
        </p:nvGraphicFramePr>
        <p:xfrm>
          <a:off x="2701925" y="3863975"/>
          <a:ext cx="326231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03632000" imgH="22555200" progId="Equation.DSMT4">
                  <p:embed/>
                </p:oleObj>
              </mc:Choice>
              <mc:Fallback>
                <p:oleObj name="Equation" r:id="rId7" imgW="103632000" imgH="225552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01925" y="3863975"/>
                        <a:ext cx="3262313" cy="757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49479" y="407036"/>
            <a:ext cx="4612160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400" dirty="0">
                <a:sym typeface="+mn-ea"/>
              </a:rPr>
              <a:t>2. </a:t>
            </a:r>
            <a:r>
              <a:rPr lang="zh-CN" altLang="en-US" sz="2400" dirty="0">
                <a:sym typeface="+mn-ea"/>
              </a:rPr>
              <a:t>若两总体协差阵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相等且未知</a:t>
            </a:r>
            <a:r>
              <a:rPr lang="zh-CN" altLang="en-US" sz="2400" dirty="0">
                <a:sym typeface="+mn-ea"/>
              </a:rPr>
              <a:t>时</a:t>
            </a:r>
            <a:r>
              <a:rPr lang="en-US" altLang="zh-CN" sz="2400" dirty="0">
                <a:sym typeface="+mn-ea"/>
              </a:rPr>
              <a:t>,</a:t>
            </a:r>
            <a:endParaRPr lang="en-US" altLang="zh-CN" sz="2400" dirty="0">
              <a:sym typeface="+mn-ea"/>
            </a:endParaRPr>
          </a:p>
        </p:txBody>
      </p:sp>
      <p:graphicFrame>
        <p:nvGraphicFramePr>
          <p:cNvPr id="7" name="Object 4"/>
          <p:cNvGraphicFramePr/>
          <p:nvPr/>
        </p:nvGraphicFramePr>
        <p:xfrm>
          <a:off x="2044700" y="4883150"/>
          <a:ext cx="75882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200558400" imgH="21945600" progId="Equation.DSMT4">
                  <p:embed/>
                </p:oleObj>
              </mc:Choice>
              <mc:Fallback>
                <p:oleObj name="Equation" r:id="rId9" imgW="200558400" imgH="219456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4700" y="4883150"/>
                        <a:ext cx="7588250" cy="898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7352" y="2830554"/>
            <a:ext cx="3181350" cy="2052638"/>
          </a:xfrm>
          <a:prstGeom prst="rect">
            <a:avLst/>
          </a:prstGeom>
        </p:spPr>
      </p:pic>
      <p:graphicFrame>
        <p:nvGraphicFramePr>
          <p:cNvPr id="10" name="Object 5"/>
          <p:cNvGraphicFramePr/>
          <p:nvPr/>
        </p:nvGraphicFramePr>
        <p:xfrm>
          <a:off x="6626784" y="940017"/>
          <a:ext cx="13906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2" imgW="44500800" imgH="23164800" progId="Equation.DSMT4">
                  <p:embed/>
                </p:oleObj>
              </mc:Choice>
              <mc:Fallback>
                <p:oleObj name="Equation" r:id="rId12" imgW="44500800" imgH="23164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26784" y="940017"/>
                        <a:ext cx="139065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/>
          <p:nvPr/>
        </p:nvGraphicFramePr>
        <p:xfrm>
          <a:off x="8360334" y="940017"/>
          <a:ext cx="12811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4" imgW="40843200" imgH="23164800" progId="Equation.DSMT4">
                  <p:embed/>
                </p:oleObj>
              </mc:Choice>
              <mc:Fallback>
                <p:oleObj name="Equation" r:id="rId14" imgW="40843200" imgH="231648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360334" y="940017"/>
                        <a:ext cx="1281113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over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0" name="Rectangle 6"/>
          <p:cNvSpPr/>
          <p:nvPr/>
        </p:nvSpPr>
        <p:spPr>
          <a:xfrm>
            <a:off x="2306955" y="2077085"/>
            <a:ext cx="6000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当原假设为真的条件下，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3671" name="Object 7"/>
          <p:cNvGraphicFramePr/>
          <p:nvPr/>
        </p:nvGraphicFramePr>
        <p:xfrm>
          <a:off x="3295651" y="2687956"/>
          <a:ext cx="549973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121400" imgH="914400" progId="Equation.DSMT4">
                  <p:embed/>
                </p:oleObj>
              </mc:Choice>
              <mc:Fallback>
                <p:oleObj name="" r:id="rId1" imgW="6121400" imgH="9144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95651" y="2687956"/>
                        <a:ext cx="5499735" cy="8794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3" name="Rectangle 9"/>
          <p:cNvSpPr/>
          <p:nvPr/>
        </p:nvSpPr>
        <p:spPr>
          <a:xfrm>
            <a:off x="2306955" y="3567431"/>
            <a:ext cx="53682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检验的规则为：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3677" name="Object 13"/>
          <p:cNvGraphicFramePr/>
          <p:nvPr/>
        </p:nvGraphicFramePr>
        <p:xfrm>
          <a:off x="3103880" y="5346700"/>
          <a:ext cx="6256020" cy="811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594600" imgH="914400" progId="Equation.DSMT4">
                  <p:embed/>
                </p:oleObj>
              </mc:Choice>
              <mc:Fallback>
                <p:oleObj name="" r:id="rId3" imgW="7594600" imgH="9144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3880" y="5346700"/>
                        <a:ext cx="6256020" cy="811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6" name="Object 12"/>
          <p:cNvGraphicFramePr/>
          <p:nvPr/>
        </p:nvGraphicFramePr>
        <p:xfrm>
          <a:off x="3108325" y="4238625"/>
          <a:ext cx="624681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81965600" imgH="21945600" progId="Equation.DSMT4">
                  <p:embed/>
                </p:oleObj>
              </mc:Choice>
              <mc:Fallback>
                <p:oleObj name="Equation" r:id="rId5" imgW="181965600" imgH="219456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08325" y="4238625"/>
                        <a:ext cx="6246813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/>
          <p:nvPr/>
        </p:nvGraphicFramePr>
        <p:xfrm>
          <a:off x="5883911" y="1123633"/>
          <a:ext cx="58229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49987200" imgH="10058400" progId="Equation.DSMT4">
                  <p:embed/>
                </p:oleObj>
              </mc:Choice>
              <mc:Fallback>
                <p:oleObj name="Equation" r:id="rId7" imgW="49987200" imgH="100584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3911" y="1123633"/>
                        <a:ext cx="5822950" cy="104775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over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7"/>
          <p:cNvSpPr>
            <a:spLocks noGrp="1"/>
          </p:cNvSpPr>
          <p:nvPr>
            <p:ph idx="1"/>
          </p:nvPr>
        </p:nvSpPr>
        <p:spPr>
          <a:xfrm>
            <a:off x="838199" y="993228"/>
            <a:ext cx="4033346" cy="5382404"/>
          </a:xfrm>
        </p:spPr>
        <p:txBody>
          <a:bodyPr vert="horz" wrap="square" lIns="68580" tIns="34290" rIns="68580" bIns="34290" rtlCol="0" anchor="t">
            <a:normAutofit/>
          </a:bodyPr>
          <a:lstStyle/>
          <a:p>
            <a:pPr fontAlgn="auto">
              <a:lnSpc>
                <a:spcPct val="150000"/>
              </a:lnSpc>
              <a:buNone/>
            </a:pPr>
            <a:r>
              <a:rPr lang="zh-CN" altLang="en-US" dirty="0">
                <a:latin typeface="宋体" pitchFamily="2" charset="-122"/>
              </a:rPr>
              <a:t>  例</a:t>
            </a:r>
            <a:r>
              <a:rPr lang="en-US" altLang="zh-CN" dirty="0">
                <a:latin typeface="宋体" pitchFamily="2" charset="-122"/>
              </a:rPr>
              <a:t>3</a:t>
            </a:r>
            <a:r>
              <a:rPr lang="zh-CN" altLang="en-US" dirty="0">
                <a:latin typeface="宋体" pitchFamily="2" charset="-122"/>
              </a:rPr>
              <a:t>-3 为了研究日、美两国在华投资企业对中国经营环境的评价是否存在差异，今从两国在华投资企业中各抽出10家，让其对中国的政治、经济、法律、文化等环境进行打分。问日、美两国在华投资企业对中国经营环境的评价是否存在显著差异。</a:t>
            </a:r>
            <a:endParaRPr lang="en-US" altLang="zh-CN" dirty="0">
              <a:latin typeface="宋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545" y="1116724"/>
            <a:ext cx="6187965" cy="4876800"/>
          </a:xfrm>
          <a:prstGeom prst="rect">
            <a:avLst/>
          </a:prstGeom>
        </p:spPr>
      </p:pic>
    </p:spTree>
  </p:cSld>
  <p:clrMapOvr>
    <a:masterClrMapping/>
  </p:clrMapOvr>
  <p:transition spd="med">
    <p:cover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6562" y="206733"/>
            <a:ext cx="11937533" cy="6758609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                                #</a:t>
            </a:r>
            <a:r>
              <a:rPr lang="zh-CN" altLang="en-US" dirty="0"/>
              <a:t>导入</a:t>
            </a:r>
            <a:r>
              <a:rPr lang="en-US" altLang="zh-CN" dirty="0" err="1"/>
              <a:t>numpy</a:t>
            </a:r>
            <a:endParaRPr lang="en-US" altLang="zh-CN" dirty="0"/>
          </a:p>
          <a:p>
            <a:r>
              <a:rPr lang="en-US" altLang="zh-CN" dirty="0"/>
              <a:t>import pandas as pd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scipy.stats</a:t>
            </a:r>
            <a:r>
              <a:rPr lang="en-US" altLang="zh-CN" dirty="0"/>
              <a:t> import f                           #</a:t>
            </a:r>
            <a:r>
              <a:rPr lang="zh-CN" altLang="en-US" dirty="0"/>
              <a:t>导入</a:t>
            </a:r>
            <a:r>
              <a:rPr lang="en-US" altLang="zh-CN" dirty="0"/>
              <a:t>f</a:t>
            </a:r>
            <a:endParaRPr lang="en-US" altLang="zh-CN" dirty="0"/>
          </a:p>
          <a:p>
            <a:r>
              <a:rPr lang="en-US" altLang="zh-CN" dirty="0"/>
              <a:t>n=10; p=4                                                #</a:t>
            </a:r>
            <a:r>
              <a:rPr lang="zh-CN" altLang="en-US" dirty="0"/>
              <a:t>样品数</a:t>
            </a:r>
            <a:r>
              <a:rPr lang="en-US" altLang="zh-CN" dirty="0"/>
              <a:t>n,</a:t>
            </a:r>
            <a:r>
              <a:rPr lang="zh-CN" altLang="en-US" dirty="0"/>
              <a:t>指标数</a:t>
            </a:r>
            <a:r>
              <a:rPr lang="en-US" altLang="zh-CN" dirty="0"/>
              <a:t>p</a:t>
            </a:r>
            <a:endParaRPr lang="en-US" altLang="zh-CN" dirty="0"/>
          </a:p>
          <a:p>
            <a:r>
              <a:rPr lang="en-US" altLang="zh-CN" dirty="0"/>
              <a:t>alpha=0.01                                                #</a:t>
            </a:r>
            <a:r>
              <a:rPr lang="zh-CN" altLang="en-US" dirty="0"/>
              <a:t>设置</a:t>
            </a:r>
            <a:r>
              <a:rPr lang="en-US" altLang="zh-CN" dirty="0"/>
              <a:t>alpha</a:t>
            </a:r>
            <a:endParaRPr lang="en-US" altLang="zh-CN" dirty="0"/>
          </a:p>
          <a:p>
            <a:r>
              <a:rPr lang="en-US" altLang="zh-CN" dirty="0"/>
              <a:t>data1=</a:t>
            </a:r>
            <a:r>
              <a:rPr lang="en-US" altLang="zh-CN" dirty="0" err="1"/>
              <a:t>pd.DataFrame</a:t>
            </a:r>
            <a:r>
              <a:rPr lang="en-US" altLang="zh-CN" dirty="0"/>
              <a:t>(</a:t>
            </a:r>
            <a:r>
              <a:rPr lang="en-US" altLang="zh-CN" dirty="0" err="1"/>
              <a:t>np.array</a:t>
            </a:r>
            <a:r>
              <a:rPr lang="en-US" altLang="zh-CN" dirty="0"/>
              <a:t>([[]]),columns=[‘</a:t>
            </a:r>
            <a:r>
              <a:rPr lang="zh-CN" altLang="en-US" dirty="0"/>
              <a:t>政治环境</a:t>
            </a:r>
            <a:r>
              <a:rPr lang="en-US" altLang="zh-CN" dirty="0"/>
              <a:t>’, ’</a:t>
            </a:r>
            <a:r>
              <a:rPr lang="zh-CN" altLang="en-US" dirty="0"/>
              <a:t>经济环境</a:t>
            </a:r>
            <a:r>
              <a:rPr lang="en-US" altLang="zh-CN" dirty="0"/>
              <a:t>’, ’</a:t>
            </a:r>
            <a:r>
              <a:rPr lang="zh-CN" altLang="en-US" dirty="0"/>
              <a:t>法律环境</a:t>
            </a:r>
            <a:r>
              <a:rPr lang="en-US" altLang="zh-CN" dirty="0"/>
              <a:t>’, ’</a:t>
            </a:r>
            <a:r>
              <a:rPr lang="zh-CN" altLang="en-US" dirty="0"/>
              <a:t>文化环境</a:t>
            </a:r>
            <a:r>
              <a:rPr lang="en-US" altLang="zh-CN" dirty="0"/>
              <a:t>’])</a:t>
            </a:r>
            <a:endParaRPr lang="en-US" altLang="zh-CN" dirty="0"/>
          </a:p>
          <a:p>
            <a:r>
              <a:rPr lang="en-US" altLang="zh-CN" dirty="0"/>
              <a:t>data2=</a:t>
            </a:r>
            <a:r>
              <a:rPr lang="en-US" altLang="zh-CN" dirty="0" err="1"/>
              <a:t>pd.DataFrame</a:t>
            </a:r>
            <a:r>
              <a:rPr lang="en-US" altLang="zh-CN" dirty="0"/>
              <a:t>(</a:t>
            </a:r>
            <a:r>
              <a:rPr lang="en-US" altLang="zh-CN" dirty="0" err="1"/>
              <a:t>np.array</a:t>
            </a:r>
            <a:r>
              <a:rPr lang="en-US" altLang="zh-CN" dirty="0"/>
              <a:t>([[]]),columns=[‘</a:t>
            </a:r>
            <a:r>
              <a:rPr lang="zh-CN" altLang="en-US" dirty="0"/>
              <a:t>政治环境</a:t>
            </a:r>
            <a:r>
              <a:rPr lang="en-US" altLang="zh-CN" dirty="0"/>
              <a:t>’, ’</a:t>
            </a:r>
            <a:r>
              <a:rPr lang="zh-CN" altLang="en-US" dirty="0"/>
              <a:t>经济环境</a:t>
            </a:r>
            <a:r>
              <a:rPr lang="en-US" altLang="zh-CN" dirty="0"/>
              <a:t>’, ’</a:t>
            </a:r>
            <a:r>
              <a:rPr lang="zh-CN" altLang="en-US" dirty="0"/>
              <a:t>法律环境</a:t>
            </a:r>
            <a:r>
              <a:rPr lang="en-US" altLang="zh-CN" dirty="0"/>
              <a:t>’, ’</a:t>
            </a:r>
            <a:r>
              <a:rPr lang="zh-CN" altLang="en-US" dirty="0"/>
              <a:t>文化环境</a:t>
            </a:r>
            <a:r>
              <a:rPr lang="en-US" altLang="zh-CN" dirty="0"/>
              <a:t>’])</a:t>
            </a:r>
            <a:endParaRPr lang="en-US" altLang="zh-CN" dirty="0"/>
          </a:p>
          <a:p>
            <a:r>
              <a:rPr lang="en-US" altLang="zh-CN" dirty="0" err="1"/>
              <a:t>Xbar</a:t>
            </a:r>
            <a:r>
              <a:rPr lang="en-US" altLang="zh-CN" dirty="0"/>
              <a:t>=data1.mean(); </a:t>
            </a:r>
            <a:r>
              <a:rPr lang="en-US" altLang="zh-CN" dirty="0" err="1"/>
              <a:t>Ybar</a:t>
            </a:r>
            <a:r>
              <a:rPr lang="en-US" altLang="zh-CN" dirty="0"/>
              <a:t>= data2.mean() #</a:t>
            </a:r>
            <a:r>
              <a:rPr lang="zh-CN" altLang="en-US" dirty="0"/>
              <a:t>两总体样本均值向量</a:t>
            </a:r>
            <a:endParaRPr lang="en-US" altLang="zh-CN" dirty="0"/>
          </a:p>
          <a:p>
            <a:r>
              <a:rPr lang="en-US" altLang="zh-CN" dirty="0"/>
              <a:t>S1=data1.cov()</a:t>
            </a:r>
            <a:endParaRPr lang="en-US" altLang="zh-CN" dirty="0"/>
          </a:p>
          <a:p>
            <a:r>
              <a:rPr lang="en-US" altLang="zh-CN" dirty="0"/>
              <a:t>S2=data2.cov()</a:t>
            </a:r>
            <a:endParaRPr lang="en-US" altLang="zh-CN" dirty="0"/>
          </a:p>
          <a:p>
            <a:r>
              <a:rPr lang="en-US" altLang="zh-CN" dirty="0" err="1"/>
              <a:t>Sp</a:t>
            </a:r>
            <a:r>
              <a:rPr lang="en-US" altLang="zh-CN" dirty="0"/>
              <a:t>=((n-1)*S1+(n-1)*S2)/(2*n-2)</a:t>
            </a:r>
            <a:endParaRPr lang="en-US" altLang="zh-CN" dirty="0"/>
          </a:p>
          <a:p>
            <a:r>
              <a:rPr lang="en-US" altLang="zh-CN" dirty="0"/>
              <a:t>S3=</a:t>
            </a:r>
            <a:r>
              <a:rPr lang="en-US" altLang="zh-CN" dirty="0" err="1"/>
              <a:t>np.linalg.inv</a:t>
            </a:r>
            <a:r>
              <a:rPr lang="en-US" altLang="zh-CN" dirty="0"/>
              <a:t>(</a:t>
            </a:r>
            <a:r>
              <a:rPr lang="en-US" altLang="zh-CN" dirty="0" err="1"/>
              <a:t>Sp</a:t>
            </a:r>
            <a:r>
              <a:rPr lang="en-US" altLang="zh-CN" dirty="0"/>
              <a:t>)                                    #</a:t>
            </a:r>
            <a:r>
              <a:rPr lang="zh-CN" altLang="en-US" dirty="0"/>
              <a:t>求出</a:t>
            </a:r>
            <a:r>
              <a:rPr lang="en-US" altLang="zh-CN" dirty="0" err="1"/>
              <a:t>Sp</a:t>
            </a:r>
            <a:r>
              <a:rPr lang="zh-CN" altLang="en-US" dirty="0"/>
              <a:t>的逆矩阵</a:t>
            </a:r>
            <a:endParaRPr lang="en-US" altLang="zh-CN" dirty="0"/>
          </a:p>
          <a:p>
            <a:r>
              <a:rPr lang="pl-PL" altLang="zh-CN" dirty="0"/>
              <a:t>temp=np.dot(</a:t>
            </a:r>
            <a:r>
              <a:rPr lang="en-US" altLang="zh-CN" dirty="0"/>
              <a:t>X</a:t>
            </a:r>
            <a:r>
              <a:rPr lang="pl-PL" altLang="zh-CN" dirty="0"/>
              <a:t>bar</a:t>
            </a:r>
            <a:r>
              <a:rPr lang="en-US" altLang="zh-CN" dirty="0"/>
              <a:t>-</a:t>
            </a:r>
            <a:r>
              <a:rPr lang="en-US" altLang="zh-CN" dirty="0" err="1"/>
              <a:t>Ybar</a:t>
            </a:r>
            <a:r>
              <a:rPr lang="pl-PL" altLang="zh-CN" dirty="0"/>
              <a:t>,</a:t>
            </a:r>
            <a:r>
              <a:rPr lang="en-US" altLang="zh-CN" dirty="0"/>
              <a:t>S3</a:t>
            </a:r>
            <a:r>
              <a:rPr lang="pl-PL" altLang="zh-CN" dirty="0"/>
              <a:t>)</a:t>
            </a:r>
            <a:endParaRPr lang="en-US" altLang="zh-CN" dirty="0"/>
          </a:p>
          <a:p>
            <a:r>
              <a:rPr lang="en-US" altLang="zh-CN" dirty="0"/>
              <a:t>temp=np.dot(temp, X</a:t>
            </a:r>
            <a:r>
              <a:rPr lang="pl-PL" altLang="zh-CN" dirty="0"/>
              <a:t>bar</a:t>
            </a:r>
            <a:r>
              <a:rPr lang="en-US" altLang="zh-CN" dirty="0"/>
              <a:t>-</a:t>
            </a:r>
            <a:r>
              <a:rPr lang="en-US" altLang="zh-CN" dirty="0" err="1"/>
              <a:t>Ybar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 err="1"/>
              <a:t>tsqure</a:t>
            </a:r>
            <a:r>
              <a:rPr lang="en-US" altLang="zh-CN" dirty="0"/>
              <a:t>=n/2.0* temp                                         #</a:t>
            </a:r>
            <a:r>
              <a:rPr lang="zh-CN" altLang="en-US" dirty="0"/>
              <a:t>求出</a:t>
            </a:r>
            <a:r>
              <a:rPr lang="en-US" altLang="zh-CN" i="1" dirty="0"/>
              <a:t>T</a:t>
            </a:r>
            <a:r>
              <a:rPr lang="en-US" altLang="zh-CN" baseline="30000" dirty="0"/>
              <a:t>2</a:t>
            </a:r>
            <a:endParaRPr lang="en-US" altLang="zh-CN" baseline="30000" dirty="0"/>
          </a:p>
          <a:p>
            <a:pPr marL="0" indent="0">
              <a:buNone/>
            </a:pPr>
            <a:r>
              <a:rPr lang="en-US" altLang="zh-CN" baseline="30000" dirty="0"/>
              <a:t> 29.8625 </a:t>
            </a:r>
            <a:endParaRPr lang="en-US" altLang="zh-CN" dirty="0"/>
          </a:p>
          <a:p>
            <a:r>
              <a:rPr lang="en-US" altLang="zh-CN" dirty="0"/>
              <a:t>F=</a:t>
            </a:r>
            <a:r>
              <a:rPr lang="en-US" altLang="zh-CN" dirty="0" err="1"/>
              <a:t>tsqure</a:t>
            </a:r>
            <a:r>
              <a:rPr lang="en-US" altLang="zh-CN" dirty="0"/>
              <a:t>*(2*n-p-1)/(p*(2*n-2))                           #</a:t>
            </a:r>
            <a:r>
              <a:rPr lang="zh-CN" altLang="en-US" dirty="0"/>
              <a:t>求出统计量</a:t>
            </a:r>
            <a:r>
              <a:rPr lang="en-US" altLang="zh-CN" i="1" dirty="0"/>
              <a:t>F</a:t>
            </a:r>
            <a:r>
              <a:rPr lang="zh-CN" altLang="en-US" dirty="0"/>
              <a:t>的值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aseline="30000" dirty="0"/>
              <a:t> 6.2214 // </a:t>
            </a:r>
            <a:r>
              <a:rPr lang="en-US" altLang="zh-CN" i="1" baseline="30000" dirty="0"/>
              <a:t>p</a:t>
            </a:r>
            <a:r>
              <a:rPr lang="en-US" altLang="zh-CN" baseline="30000" dirty="0"/>
              <a:t>{</a:t>
            </a:r>
            <a:r>
              <a:rPr lang="en-US" altLang="zh-CN" i="1" baseline="30000" dirty="0"/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</a:t>
            </a:r>
            <a:r>
              <a:rPr lang="en-US" altLang="zh-CN" baseline="30000" dirty="0"/>
              <a:t> 6.2214}=0.0037</a:t>
            </a:r>
            <a:endParaRPr lang="en-US" altLang="zh-CN" baseline="30000" dirty="0"/>
          </a:p>
          <a:p>
            <a:r>
              <a:rPr lang="en-US" altLang="zh-CN" dirty="0"/>
              <a:t>a=</a:t>
            </a:r>
            <a:r>
              <a:rPr lang="en-US" altLang="zh-CN" dirty="0" err="1"/>
              <a:t>f.isf</a:t>
            </a:r>
            <a:r>
              <a:rPr lang="en-US" altLang="zh-CN" dirty="0"/>
              <a:t>(alpha, p, 2*n-p-1)                             #</a:t>
            </a:r>
            <a:r>
              <a:rPr lang="zh-CN" altLang="en-US" dirty="0"/>
              <a:t>单侧右分位点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aseline="30000" dirty="0"/>
              <a:t>4.8932  </a:t>
            </a:r>
            <a:endParaRPr lang="en-US" altLang="zh-CN" baseline="30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2916794" y="741285"/>
            <a:ext cx="5844778" cy="565547"/>
          </a:xfrm>
        </p:spPr>
        <p:txBody>
          <a:bodyPr vert="horz" wrap="square" lIns="68580" tIns="34290" rIns="68580" bIns="34290" rtlCol="0" anchor="b">
            <a:noAutofit/>
          </a:bodyPr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二、协方差阵不等的情形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1755596" y="1723390"/>
            <a:ext cx="8302792" cy="3086100"/>
          </a:xfrm>
        </p:spPr>
        <p:txBody>
          <a:bodyPr vert="horz" wrap="square" lIns="68580" tIns="34290" rIns="68580" bIns="34290" rtlCol="0" anchor="t">
            <a:normAutofit/>
          </a:bodyPr>
          <a:lstStyle/>
          <a:p>
            <a:pPr fontAlgn="auto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  两正态总体均值与协差阵均未知时的均值差的统计推断问题，称为贝伦斯-费希尔问题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Behrens-Fisher problem)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>
              <a:buNone/>
            </a:pPr>
            <a:endParaRPr lang="zh-CN" altLang="en-US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      </a:t>
            </a:r>
            <a:endParaRPr lang="zh-CN" altLang="en-US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13315" name="Rectangle 6"/>
          <p:cNvSpPr/>
          <p:nvPr/>
        </p:nvSpPr>
        <p:spPr>
          <a:xfrm>
            <a:off x="5806679" y="3353992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graphicFrame>
        <p:nvGraphicFramePr>
          <p:cNvPr id="13316" name="Object 5"/>
          <p:cNvGraphicFramePr/>
          <p:nvPr/>
        </p:nvGraphicFramePr>
        <p:xfrm>
          <a:off x="3219450" y="3641725"/>
          <a:ext cx="30749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0421600" imgH="4876800" progId="Equation.DSMT4">
                  <p:embed/>
                </p:oleObj>
              </mc:Choice>
              <mc:Fallback>
                <p:oleObj name="Equation" r:id="rId1" imgW="20421600" imgH="48768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9450" y="3641725"/>
                        <a:ext cx="3074988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8"/>
          <p:cNvSpPr/>
          <p:nvPr/>
        </p:nvSpPr>
        <p:spPr>
          <a:xfrm>
            <a:off x="4423787" y="3343276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graphicFrame>
        <p:nvGraphicFramePr>
          <p:cNvPr id="13318" name="Object 7"/>
          <p:cNvGraphicFramePr/>
          <p:nvPr/>
        </p:nvGraphicFramePr>
        <p:xfrm>
          <a:off x="3116263" y="4610100"/>
          <a:ext cx="52371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9014400" imgH="5486400" progId="Equation.DSMT4">
                  <p:embed/>
                </p:oleObj>
              </mc:Choice>
              <mc:Fallback>
                <p:oleObj name="Equation" r:id="rId3" imgW="39014400" imgH="54864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6263" y="4610100"/>
                        <a:ext cx="5237162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over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11"/>
          <p:cNvSpPr/>
          <p:nvPr/>
        </p:nvSpPr>
        <p:spPr>
          <a:xfrm>
            <a:off x="2319020" y="964565"/>
            <a:ext cx="8335645" cy="5708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宋体" pitchFamily="2" charset="-122"/>
              </a:rPr>
              <a:t>设从总体         ，       </a:t>
            </a:r>
            <a:r>
              <a:rPr lang="en-US" altLang="zh-CN" sz="2400" dirty="0">
                <a:latin typeface="宋体" pitchFamily="2" charset="-122"/>
              </a:rPr>
              <a:t>			</a:t>
            </a: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中各自独立地抽取样本</a:t>
            </a:r>
            <a:endParaRPr lang="zh-CN" altLang="en-US" sz="2400" dirty="0">
              <a:latin typeface="Arial" panose="020B0604020202090204" pitchFamily="34" charset="0"/>
            </a:endParaRPr>
          </a:p>
        </p:txBody>
      </p:sp>
      <p:graphicFrame>
        <p:nvGraphicFramePr>
          <p:cNvPr id="8202" name="Object 7"/>
          <p:cNvGraphicFramePr/>
          <p:nvPr/>
        </p:nvGraphicFramePr>
        <p:xfrm>
          <a:off x="2949575" y="2438400"/>
          <a:ext cx="537368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22834400" imgH="12496800" progId="Equation.DSMT4">
                  <p:embed/>
                </p:oleObj>
              </mc:Choice>
              <mc:Fallback>
                <p:oleObj name="Equation" r:id="rId1" imgW="122834400" imgH="124968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49575" y="2438400"/>
                        <a:ext cx="5373688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10"/>
          <p:cNvGraphicFramePr/>
          <p:nvPr/>
        </p:nvGraphicFramePr>
        <p:xfrm>
          <a:off x="3745866" y="1077913"/>
          <a:ext cx="118681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485900" imgH="469900" progId="Equation.DSMT4">
                  <p:embed/>
                </p:oleObj>
              </mc:Choice>
              <mc:Fallback>
                <p:oleObj name="" r:id="rId3" imgW="1485900" imgH="4699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45866" y="1077913"/>
                        <a:ext cx="118681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/>
          <p:cNvGraphicFramePr/>
          <p:nvPr/>
        </p:nvGraphicFramePr>
        <p:xfrm>
          <a:off x="5193348" y="1077913"/>
          <a:ext cx="124841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1562100" imgH="469900" progId="Equation.DSMT4">
                  <p:embed/>
                </p:oleObj>
              </mc:Choice>
              <mc:Fallback>
                <p:oleObj name="" r:id="rId5" imgW="1562100" imgH="4699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3348" y="1077913"/>
                        <a:ext cx="124841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/>
          <p:nvPr/>
        </p:nvGraphicFramePr>
        <p:xfrm>
          <a:off x="2582863" y="1800225"/>
          <a:ext cx="60642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133197600" imgH="12496800" progId="Equation.DSMT4">
                  <p:embed/>
                </p:oleObj>
              </mc:Choice>
              <mc:Fallback>
                <p:oleObj name="Equation" r:id="rId7" imgW="133197600" imgH="124968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82863" y="1800225"/>
                        <a:ext cx="6064250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449195" y="3198496"/>
            <a:ext cx="414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两个样本的均值向量分布记为</a:t>
            </a:r>
            <a:endParaRPr lang="zh-CN" altLang="en-US" sz="2400"/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44788" y="3825875"/>
          <a:ext cx="230822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9" imgW="20726400" imgH="10363200" progId="Equation.DSMT4">
                  <p:embed/>
                </p:oleObj>
              </mc:Choice>
              <mc:Fallback>
                <p:oleObj name="Equation" r:id="rId9" imgW="20726400" imgH="10363200" progId="Equation.DSMT4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44788" y="3825875"/>
                        <a:ext cx="2308225" cy="1154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717858" y="3825241"/>
          <a:ext cx="2207260" cy="1155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1" imgW="19812000" imgH="10363200" progId="Equation.DSMT4">
                  <p:embed/>
                </p:oleObj>
              </mc:Choice>
              <mc:Fallback>
                <p:oleObj name="Equation" r:id="rId11" imgW="19812000" imgH="10363200" progId="Equation.DSMT4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17858" y="3825241"/>
                        <a:ext cx="2207260" cy="1155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22677" y="569596"/>
            <a:ext cx="2646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1</a:t>
            </a:r>
            <a:r>
              <a:rPr lang="zh-CN" altLang="en-US" sz="2400"/>
              <a:t>，当 </a:t>
            </a:r>
            <a:r>
              <a:rPr lang="en-US" altLang="zh-CN" sz="2400"/>
              <a:t>m=n </a:t>
            </a:r>
            <a:r>
              <a:rPr lang="zh-CN" altLang="en-US" sz="2400"/>
              <a:t>时，令</a:t>
            </a:r>
            <a:endParaRPr lang="zh-CN" altLang="en-US" sz="2400"/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23003" y="569595"/>
          <a:ext cx="215455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52500" imgH="241300" progId="Equation.KSEE3">
                  <p:embed/>
                </p:oleObj>
              </mc:Choice>
              <mc:Fallback>
                <p:oleObj name="" r:id="rId1" imgW="952500" imgH="241300" progId="Equation.KSEE3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23003" y="569595"/>
                        <a:ext cx="2154555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08413" y="1116013"/>
          <a:ext cx="3563937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2004000" imgH="10363200" progId="Equation.DSMT4">
                  <p:embed/>
                </p:oleObj>
              </mc:Choice>
              <mc:Fallback>
                <p:oleObj name="Equation" r:id="rId3" imgW="32004000" imgH="10363200" progId="Equation.DSMT4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8413" y="1116013"/>
                        <a:ext cx="3563937" cy="1154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9327" y="2270761"/>
          <a:ext cx="3773170" cy="95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1714500" imgH="431800" progId="Equation.KSEE3">
                  <p:embed/>
                </p:oleObj>
              </mc:Choice>
              <mc:Fallback>
                <p:oleObj name="" r:id="rId5" imgW="1714500" imgH="431800" progId="Equation.KSEE3">
                  <p:embed/>
                  <p:pic>
                    <p:nvPicPr>
                      <p:cNvPr id="0" name="图片 5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59327" y="2270761"/>
                        <a:ext cx="3773170" cy="950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088437" y="3221356"/>
            <a:ext cx="4754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当原假设为真时，适用的统计量为</a:t>
            </a:r>
            <a:endParaRPr lang="zh-CN" altLang="en-US" sz="2400"/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36673" y="3681731"/>
          <a:ext cx="5776595" cy="653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2133600" imgH="241300" progId="Equation.KSEE3">
                  <p:embed/>
                </p:oleObj>
              </mc:Choice>
              <mc:Fallback>
                <p:oleObj name="" r:id="rId7" imgW="2133600" imgH="241300" progId="Equation.KSEE3">
                  <p:embed/>
                  <p:pic>
                    <p:nvPicPr>
                      <p:cNvPr id="0" name="图片 5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6673" y="3681731"/>
                        <a:ext cx="5776595" cy="65341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49727" y="4408805"/>
          <a:ext cx="407289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9" imgW="1828800" imgH="419100" progId="Equation.KSEE3">
                  <p:embed/>
                </p:oleObj>
              </mc:Choice>
              <mc:Fallback>
                <p:oleObj name="" r:id="rId9" imgW="1828800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49727" y="4408805"/>
                        <a:ext cx="4072890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167111" y="5511165"/>
          <a:ext cx="418655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1" imgW="1879600" imgH="419100" progId="Equation.KSEE3">
                  <p:embed/>
                </p:oleObj>
              </mc:Choice>
              <mc:Fallback>
                <p:oleObj name="" r:id="rId11" imgW="1879600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67111" y="5511165"/>
                        <a:ext cx="418655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297227" y="5747386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>
                <a:sym typeface="+mn-ea"/>
              </a:rPr>
              <a:t>则原假设的拒绝域为</a:t>
            </a:r>
            <a:endParaRPr lang="zh-CN" altLang="en-US" sz="2400">
              <a:sym typeface="+mn-ea"/>
            </a:endParaRPr>
          </a:p>
        </p:txBody>
      </p:sp>
      <p:sp>
        <p:nvSpPr>
          <p:cNvPr id="17" name="对话气泡: 圆角矩形 1"/>
          <p:cNvSpPr/>
          <p:nvPr/>
        </p:nvSpPr>
        <p:spPr>
          <a:xfrm>
            <a:off x="7665168" y="442277"/>
            <a:ext cx="3376995" cy="811082"/>
          </a:xfrm>
          <a:prstGeom prst="wedgeRoundRectCallout">
            <a:avLst>
              <a:gd name="adj1" fmla="val -53503"/>
              <a:gd name="adj2" fmla="val -810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双总体问题转化为单总体问题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3520" y="1400810"/>
            <a:ext cx="3972560" cy="1754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73250" y="430531"/>
            <a:ext cx="2646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2</a:t>
            </a:r>
            <a:r>
              <a:rPr lang="zh-CN" altLang="en-US" sz="2400"/>
              <a:t>，当 </a:t>
            </a:r>
            <a:r>
              <a:rPr lang="en-US" altLang="zh-CN" sz="2400"/>
              <a:t>m&gt;n </a:t>
            </a:r>
            <a:r>
              <a:rPr lang="zh-CN" altLang="en-US" sz="2400"/>
              <a:t>时，令</a:t>
            </a:r>
            <a:endParaRPr lang="zh-CN" altLang="en-US" sz="2400"/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16438" y="142875"/>
          <a:ext cx="51435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4559200" imgH="10972800" progId="Equation.DSMT4">
                  <p:embed/>
                </p:oleObj>
              </mc:Choice>
              <mc:Fallback>
                <p:oleObj name="Equation" r:id="rId1" imgW="54559200" imgH="10972800" progId="Equation.DSMT4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6438" y="142875"/>
                        <a:ext cx="5143500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09788" y="1116013"/>
          <a:ext cx="3565525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2004000" imgH="10363200" progId="Equation.DSMT4">
                  <p:embed/>
                </p:oleObj>
              </mc:Choice>
              <mc:Fallback>
                <p:oleObj name="Equation" r:id="rId3" imgW="32004000" imgH="10363200" progId="Equation.DSMT4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9788" y="1116013"/>
                        <a:ext cx="3565525" cy="1154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957570" y="1177925"/>
          <a:ext cx="4248785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1930400" imgH="431800" progId="Equation.KSEE3">
                  <p:embed/>
                </p:oleObj>
              </mc:Choice>
              <mc:Fallback>
                <p:oleObj name="" r:id="rId5" imgW="1930400" imgH="431800" progId="Equation.KSEE3">
                  <p:embed/>
                  <p:pic>
                    <p:nvPicPr>
                      <p:cNvPr id="0" name="图片 5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57570" y="1177925"/>
                        <a:ext cx="4248785" cy="951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859405" y="2419351"/>
            <a:ext cx="4754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当原假设为真时，适用的统计量为</a:t>
            </a:r>
            <a:endParaRPr lang="zh-CN" altLang="en-US" sz="2400"/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41066" y="3119756"/>
          <a:ext cx="464248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1714500" imgH="228600" progId="Equation.KSEE3">
                  <p:embed/>
                </p:oleObj>
              </mc:Choice>
              <mc:Fallback>
                <p:oleObj name="" r:id="rId7" imgW="1714500" imgH="228600" progId="Equation.KSEE3">
                  <p:embed/>
                  <p:pic>
                    <p:nvPicPr>
                      <p:cNvPr id="0" name="图片 5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1066" y="3119756"/>
                        <a:ext cx="4642485" cy="6191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41395" y="4021455"/>
          <a:ext cx="407289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9" imgW="1828800" imgH="419100" progId="Equation.KSEE3">
                  <p:embed/>
                </p:oleObj>
              </mc:Choice>
              <mc:Fallback>
                <p:oleObj name="" r:id="rId9" imgW="1828800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41395" y="4021455"/>
                        <a:ext cx="4072890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24514" y="5163820"/>
          <a:ext cx="418655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1" imgW="1879600" imgH="419100" progId="Equation.KSEE3">
                  <p:embed/>
                </p:oleObj>
              </mc:Choice>
              <mc:Fallback>
                <p:oleObj name="" r:id="rId11" imgW="1879600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24514" y="5163820"/>
                        <a:ext cx="418655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698750" y="5511166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>
                <a:sym typeface="+mn-ea"/>
              </a:rPr>
              <a:t>则原假设的拒绝域为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738231" y="228600"/>
            <a:ext cx="333881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</a:rPr>
              <a:t>3-4 1992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年美国总统选举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，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从支持布什和克林顿的选民中分别抽取了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</a:rPr>
              <a:t>20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人，登记他们的年龄段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（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）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、受教育程度（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）和性别（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）资料如下表所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示：</a:t>
            </a:r>
            <a:endParaRPr lang="en-US" altLang="zh-CN" sz="2800" dirty="0">
              <a:solidFill>
                <a:srgbClr val="000000"/>
              </a:solidFill>
              <a:latin typeface="Times New Roman" panose="02020503050405090304" pitchFamily="18" charset="0"/>
              <a:ea typeface="新宋体" panose="02010609030101010101" pitchFamily="49" charset="-122"/>
              <a:cs typeface="Times New Roman" panose="02020503050405090304" pitchFamily="18" charset="0"/>
            </a:endParaRPr>
          </a:p>
          <a:p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假定两组都服从多元正态分布，检验这两组的总体均值是否有显著性差异（ 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=0.05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）。</a:t>
            </a:r>
            <a:endParaRPr lang="zh-CN" altLang="en-US" sz="2800" dirty="0">
              <a:solidFill>
                <a:srgbClr val="000000"/>
              </a:solidFill>
              <a:latin typeface="Times New Roman" panose="02020503050405090304" pitchFamily="18" charset="0"/>
              <a:ea typeface="新宋体" panose="02010609030101010101" pitchFamily="49" charset="-122"/>
              <a:cs typeface="Times New Roman" panose="02020503050405090304" pitchFamily="18" charset="0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4998" y="228600"/>
            <a:ext cx="7362825" cy="6581775"/>
          </a:xfrm>
          <a:prstGeom prst="rect">
            <a:avLst/>
          </a:prstGeom>
        </p:spPr>
      </p:pic>
      <p:pic>
        <p:nvPicPr>
          <p:cNvPr id="1058" name="Picture 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9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9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86562" y="206733"/>
            <a:ext cx="11637259" cy="6758609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                                #</a:t>
            </a:r>
            <a:r>
              <a:rPr lang="zh-CN" altLang="en-US" dirty="0"/>
              <a:t>导入</a:t>
            </a:r>
            <a:r>
              <a:rPr lang="en-US" altLang="zh-CN" dirty="0" err="1"/>
              <a:t>numpy</a:t>
            </a:r>
            <a:endParaRPr lang="en-US" altLang="zh-CN" dirty="0"/>
          </a:p>
          <a:p>
            <a:r>
              <a:rPr lang="en-US" altLang="zh-CN" dirty="0"/>
              <a:t>import pandas as pd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scipy.stats</a:t>
            </a:r>
            <a:r>
              <a:rPr lang="en-US" altLang="zh-CN" dirty="0"/>
              <a:t> import f                           #</a:t>
            </a:r>
            <a:r>
              <a:rPr lang="zh-CN" altLang="en-US" dirty="0"/>
              <a:t>导入</a:t>
            </a:r>
            <a:r>
              <a:rPr lang="en-US" altLang="zh-CN" dirty="0"/>
              <a:t>f</a:t>
            </a:r>
            <a:endParaRPr lang="en-US" altLang="zh-CN" dirty="0"/>
          </a:p>
          <a:p>
            <a:r>
              <a:rPr lang="en-US" altLang="zh-CN" dirty="0"/>
              <a:t>n=20; p=3                                                #</a:t>
            </a:r>
            <a:r>
              <a:rPr lang="zh-CN" altLang="en-US" dirty="0"/>
              <a:t>样品数</a:t>
            </a:r>
            <a:r>
              <a:rPr lang="en-US" altLang="zh-CN" dirty="0"/>
              <a:t>n,</a:t>
            </a:r>
            <a:r>
              <a:rPr lang="zh-CN" altLang="en-US" dirty="0"/>
              <a:t>指标数</a:t>
            </a:r>
            <a:r>
              <a:rPr lang="en-US" altLang="zh-CN" dirty="0"/>
              <a:t>p</a:t>
            </a:r>
            <a:endParaRPr lang="en-US" altLang="zh-CN" dirty="0"/>
          </a:p>
          <a:p>
            <a:r>
              <a:rPr lang="en-US" altLang="zh-CN" dirty="0"/>
              <a:t>alpha=0.05                                                #</a:t>
            </a:r>
            <a:r>
              <a:rPr lang="zh-CN" altLang="en-US" dirty="0"/>
              <a:t>设置</a:t>
            </a:r>
            <a:r>
              <a:rPr lang="en-US" altLang="zh-CN" dirty="0"/>
              <a:t>alpha</a:t>
            </a:r>
            <a:endParaRPr lang="en-US" altLang="zh-CN" dirty="0"/>
          </a:p>
          <a:p>
            <a:r>
              <a:rPr lang="en-US" altLang="zh-CN" dirty="0"/>
              <a:t>data1=</a:t>
            </a:r>
            <a:r>
              <a:rPr lang="en-US" altLang="zh-CN" dirty="0" err="1"/>
              <a:t>pd.DataFrame</a:t>
            </a:r>
            <a:r>
              <a:rPr lang="en-US" altLang="zh-CN" dirty="0"/>
              <a:t>(</a:t>
            </a:r>
            <a:r>
              <a:rPr lang="en-US" altLang="zh-CN" dirty="0" err="1"/>
              <a:t>np.array</a:t>
            </a:r>
            <a:r>
              <a:rPr lang="en-US" altLang="zh-CN" dirty="0"/>
              <a:t>([[2,1,1], [1,3,2], [3,3,1], [1,3,2], [3,1,2], [3,1,2], [1,1,2], [2,3,1], [2,1,2], [3,1,1], [1,1,2], [4,1,2], [4,0,2], [3,4,2], [3,3,2], [2,3,1], [2,1,1], [3,1,1], [1,3,2], [1,1,2]]),columns=['</a:t>
            </a:r>
            <a:r>
              <a:rPr lang="zh-CN" altLang="en-US" dirty="0"/>
              <a:t>年龄段</a:t>
            </a:r>
            <a:r>
              <a:rPr lang="en-US" altLang="zh-CN" dirty="0"/>
              <a:t>', '</a:t>
            </a:r>
            <a:r>
              <a:rPr lang="zh-CN" altLang="en-US" dirty="0"/>
              <a:t>受教育程度</a:t>
            </a:r>
            <a:r>
              <a:rPr lang="en-US" altLang="zh-CN" dirty="0"/>
              <a:t>', '</a:t>
            </a:r>
            <a:r>
              <a:rPr lang="zh-CN" altLang="en-US" dirty="0"/>
              <a:t>性别</a:t>
            </a:r>
            <a:r>
              <a:rPr lang="en-US" altLang="zh-CN" dirty="0"/>
              <a:t>'])</a:t>
            </a:r>
            <a:endParaRPr lang="en-US" altLang="zh-CN" dirty="0"/>
          </a:p>
          <a:p>
            <a:r>
              <a:rPr lang="en-US" altLang="zh-CN" dirty="0"/>
              <a:t>data2=</a:t>
            </a:r>
            <a:r>
              <a:rPr lang="en-US" altLang="zh-CN" dirty="0" err="1"/>
              <a:t>pd.DataFrame</a:t>
            </a:r>
            <a:r>
              <a:rPr lang="en-US" altLang="zh-CN" dirty="0"/>
              <a:t>(</a:t>
            </a:r>
            <a:r>
              <a:rPr lang="en-US" altLang="zh-CN" dirty="0" err="1"/>
              <a:t>np.array</a:t>
            </a:r>
            <a:r>
              <a:rPr lang="en-US" altLang="zh-CN" dirty="0"/>
              <a:t>([[4,1,1], [4,1,2], [2,1,2], [4,1,2], [2,3,2], [4,0,2], [3,2,1], [4,0,1], [2,1,1], [3,1,2], [3,1,2], [2,3,1], [4,0,1], [2,1,2], [4,1,1], [2,2,1], [3,3,1], [3,2,2], [3,1,1], [4,0,2]]),columns=['</a:t>
            </a:r>
            <a:r>
              <a:rPr lang="zh-CN" altLang="en-US" dirty="0"/>
              <a:t>年龄段</a:t>
            </a:r>
            <a:r>
              <a:rPr lang="en-US" altLang="zh-CN" dirty="0"/>
              <a:t>', '</a:t>
            </a:r>
            <a:r>
              <a:rPr lang="zh-CN" altLang="en-US" dirty="0"/>
              <a:t>受教育程度</a:t>
            </a:r>
            <a:r>
              <a:rPr lang="en-US" altLang="zh-CN" dirty="0"/>
              <a:t>', '</a:t>
            </a:r>
            <a:r>
              <a:rPr lang="zh-CN" altLang="en-US" dirty="0"/>
              <a:t>性别</a:t>
            </a:r>
            <a:r>
              <a:rPr lang="en-US" altLang="zh-CN" dirty="0"/>
              <a:t>'])</a:t>
            </a:r>
            <a:endParaRPr lang="en-US" altLang="zh-CN" dirty="0"/>
          </a:p>
          <a:p>
            <a:r>
              <a:rPr lang="en-US" altLang="zh-CN" dirty="0" err="1"/>
              <a:t>Xbar</a:t>
            </a:r>
            <a:r>
              <a:rPr lang="en-US" altLang="zh-CN" dirty="0"/>
              <a:t>=data1.mean(); </a:t>
            </a:r>
            <a:r>
              <a:rPr lang="en-US" altLang="zh-CN" dirty="0" err="1"/>
              <a:t>Ybar</a:t>
            </a:r>
            <a:r>
              <a:rPr lang="en-US" altLang="zh-CN" dirty="0"/>
              <a:t>= data2.mean() #</a:t>
            </a:r>
            <a:r>
              <a:rPr lang="zh-CN" altLang="en-US" dirty="0"/>
              <a:t>两总体样本均值向量</a:t>
            </a:r>
            <a:endParaRPr lang="en-US" altLang="zh-CN" dirty="0"/>
          </a:p>
          <a:p>
            <a:r>
              <a:rPr lang="en-US" altLang="zh-CN" dirty="0"/>
              <a:t>data3=data1-data2</a:t>
            </a:r>
            <a:endParaRPr lang="en-US" altLang="zh-CN" dirty="0"/>
          </a:p>
          <a:p>
            <a:r>
              <a:rPr lang="en-US" altLang="zh-CN" dirty="0"/>
              <a:t>S=data3.cov()</a:t>
            </a:r>
            <a:endParaRPr lang="en-US" altLang="zh-CN" dirty="0"/>
          </a:p>
          <a:p>
            <a:r>
              <a:rPr lang="en-US" altLang="zh-CN" dirty="0" err="1"/>
              <a:t>S_inv</a:t>
            </a:r>
            <a:r>
              <a:rPr lang="en-US" altLang="zh-CN" dirty="0"/>
              <a:t>=</a:t>
            </a:r>
            <a:r>
              <a:rPr lang="en-US" altLang="zh-CN" dirty="0" err="1"/>
              <a:t>np.linalg.inv</a:t>
            </a:r>
            <a:r>
              <a:rPr lang="en-US" altLang="zh-CN" dirty="0"/>
              <a:t>(S)                                    #</a:t>
            </a:r>
            <a:r>
              <a:rPr lang="zh-CN" altLang="en-US" dirty="0"/>
              <a:t>求出</a:t>
            </a:r>
            <a:r>
              <a:rPr lang="en-US" altLang="zh-CN" dirty="0"/>
              <a:t>S</a:t>
            </a:r>
            <a:r>
              <a:rPr lang="zh-CN" altLang="en-US" dirty="0"/>
              <a:t>的逆矩阵</a:t>
            </a:r>
            <a:endParaRPr lang="zh-CN" altLang="en-US" dirty="0"/>
          </a:p>
          <a:p>
            <a:r>
              <a:rPr lang="en-US" altLang="zh-CN" dirty="0"/>
              <a:t>temp=np.dot(</a:t>
            </a:r>
            <a:r>
              <a:rPr lang="en-US" altLang="zh-CN" dirty="0" err="1"/>
              <a:t>Xbar-Ybar</a:t>
            </a:r>
            <a:r>
              <a:rPr lang="en-US" altLang="zh-CN" dirty="0"/>
              <a:t>, </a:t>
            </a:r>
            <a:r>
              <a:rPr lang="en-US" altLang="zh-CN" dirty="0" err="1"/>
              <a:t>S_inv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temp=np.dot(temp, </a:t>
            </a:r>
            <a:r>
              <a:rPr lang="en-US" altLang="zh-CN" dirty="0" err="1"/>
              <a:t>Xbar-Ybar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 err="1"/>
              <a:t>tsqure</a:t>
            </a:r>
            <a:r>
              <a:rPr lang="en-US" altLang="zh-CN" dirty="0"/>
              <a:t>=n*temp                                         #</a:t>
            </a:r>
            <a:r>
              <a:rPr lang="zh-CN" altLang="en-US" dirty="0"/>
              <a:t>求出</a:t>
            </a:r>
            <a:r>
              <a:rPr lang="en-US" altLang="zh-CN" dirty="0"/>
              <a:t>T</a:t>
            </a:r>
            <a:r>
              <a:rPr lang="en-US" altLang="zh-CN" baseline="30000" dirty="0"/>
              <a:t>2</a:t>
            </a:r>
            <a:endParaRPr lang="en-US" altLang="zh-CN" baseline="30000" dirty="0"/>
          </a:p>
          <a:p>
            <a:pPr marL="0" indent="0">
              <a:buNone/>
            </a:pPr>
            <a:r>
              <a:rPr lang="en-US" altLang="zh-CN" dirty="0"/>
              <a:t>7.749630359783147 </a:t>
            </a:r>
            <a:endParaRPr lang="en-US" altLang="zh-CN" dirty="0"/>
          </a:p>
          <a:p>
            <a:r>
              <a:rPr lang="en-US" altLang="zh-CN" dirty="0"/>
              <a:t>F=</a:t>
            </a:r>
            <a:r>
              <a:rPr lang="en-US" altLang="zh-CN" dirty="0" err="1"/>
              <a:t>tsqure</a:t>
            </a:r>
            <a:r>
              <a:rPr lang="en-US" altLang="zh-CN" dirty="0"/>
              <a:t>*(n-p)/(p*(n-1))                           #</a:t>
            </a:r>
            <a:r>
              <a:rPr lang="zh-CN" altLang="en-US" dirty="0"/>
              <a:t>求出统计量</a:t>
            </a:r>
            <a:r>
              <a:rPr lang="en-US" altLang="zh-CN" dirty="0"/>
              <a:t>F</a:t>
            </a:r>
            <a:r>
              <a:rPr lang="zh-CN" altLang="en-US" dirty="0"/>
              <a:t>的值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2.3112932651984823</a:t>
            </a:r>
            <a:r>
              <a:rPr lang="zh-CN" altLang="en-US" dirty="0"/>
              <a:t> </a:t>
            </a:r>
            <a:endParaRPr lang="zh-CN" altLang="en-US" dirty="0"/>
          </a:p>
          <a:p>
            <a:r>
              <a:rPr lang="en-US" altLang="zh-CN" dirty="0"/>
              <a:t>a=</a:t>
            </a:r>
            <a:r>
              <a:rPr lang="en-US" altLang="zh-CN" dirty="0" err="1"/>
              <a:t>f.isf</a:t>
            </a:r>
            <a:r>
              <a:rPr lang="en-US" altLang="zh-CN" dirty="0"/>
              <a:t>(alpha, p, n-p)                             #</a:t>
            </a:r>
            <a:r>
              <a:rPr lang="zh-CN" altLang="en-US" dirty="0"/>
              <a:t>单侧右分位点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/>
              <a:t>3.1967768409433432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单个多元总体均值向量的检验</a:t>
            </a:r>
            <a:endParaRPr lang="en-US" altLang="zh-CN" dirty="0"/>
          </a:p>
          <a:p>
            <a:pPr lvl="1"/>
            <a:r>
              <a:rPr lang="zh-CN" altLang="en-US" dirty="0"/>
              <a:t>协差阵已知</a:t>
            </a:r>
            <a:endParaRPr lang="en-US" altLang="zh-CN" dirty="0"/>
          </a:p>
          <a:p>
            <a:pPr lvl="1"/>
            <a:r>
              <a:rPr lang="zh-CN" altLang="en-US" dirty="0"/>
              <a:t>协差阵未知</a:t>
            </a:r>
            <a:endParaRPr lang="en-US" altLang="zh-CN" dirty="0"/>
          </a:p>
          <a:p>
            <a:r>
              <a:rPr lang="zh-CN" altLang="en-US" dirty="0"/>
              <a:t>两个多元总体均值向量的检验</a:t>
            </a:r>
            <a:endParaRPr lang="en-US" altLang="zh-CN" dirty="0"/>
          </a:p>
          <a:p>
            <a:pPr lvl="1"/>
            <a:r>
              <a:rPr lang="zh-CN" altLang="en-US" dirty="0"/>
              <a:t>协差阵相等</a:t>
            </a:r>
            <a:endParaRPr lang="en-US" altLang="zh-CN" dirty="0"/>
          </a:p>
          <a:p>
            <a:pPr lvl="2"/>
            <a:r>
              <a:rPr lang="zh-CN" altLang="en-US" dirty="0"/>
              <a:t>协差阵已知</a:t>
            </a:r>
            <a:endParaRPr lang="en-US" altLang="zh-CN" dirty="0"/>
          </a:p>
          <a:p>
            <a:pPr lvl="2"/>
            <a:r>
              <a:rPr lang="zh-CN" altLang="en-US" dirty="0"/>
              <a:t>协差阵未知</a:t>
            </a:r>
            <a:endParaRPr lang="en-US" altLang="zh-CN" dirty="0"/>
          </a:p>
          <a:p>
            <a:pPr lvl="1"/>
            <a:r>
              <a:rPr lang="zh-CN" altLang="en-US" dirty="0"/>
              <a:t>协差阵不相等</a:t>
            </a:r>
            <a:endParaRPr lang="en-US" altLang="zh-CN" dirty="0"/>
          </a:p>
          <a:p>
            <a:pPr lvl="2"/>
            <a:r>
              <a:rPr lang="zh-CN" altLang="en-US" dirty="0"/>
              <a:t>两样本量相同</a:t>
            </a:r>
            <a:endParaRPr lang="en-US" altLang="zh-CN" dirty="0"/>
          </a:p>
          <a:p>
            <a:pPr lvl="2"/>
            <a:r>
              <a:rPr lang="zh-CN" altLang="en-US" dirty="0"/>
              <a:t>两样本量不同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3.xml><?xml version="1.0" encoding="utf-8"?>
<p:tagLst xmlns:p="http://schemas.openxmlformats.org/presentationml/2006/main">
  <p:tag name="KSO_WM_TEMPLATE_CATEGORY" val="custom"/>
  <p:tag name="KSO_WM_TEMPLATE_INDEX" val="20182222"/>
  <p:tag name="KSO_WM_TAG_VERSION" val="1.0"/>
  <p:tag name="KSO_WM_TEMPLATE_THUMBS_INDEX" val="1、9、12、16、22、25、30、31、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自定义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5B9BD5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4596</Words>
  <Application>WPS 文字</Application>
  <PresentationFormat>宽屏</PresentationFormat>
  <Paragraphs>201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57</vt:i4>
      </vt:variant>
      <vt:variant>
        <vt:lpstr>幻灯片标题</vt:lpstr>
      </vt:variant>
      <vt:variant>
        <vt:i4>22</vt:i4>
      </vt:variant>
    </vt:vector>
  </HeadingPairs>
  <TitlesOfParts>
    <vt:vector size="107" baseType="lpstr">
      <vt:lpstr>Arial</vt:lpstr>
      <vt:lpstr>宋体</vt:lpstr>
      <vt:lpstr>Wingdings</vt:lpstr>
      <vt:lpstr>微软雅黑</vt:lpstr>
      <vt:lpstr>Segoe UI</vt:lpstr>
      <vt:lpstr>Tahoma</vt:lpstr>
      <vt:lpstr>汉仪书宋二KW</vt:lpstr>
      <vt:lpstr>黑体</vt:lpstr>
      <vt:lpstr>汉仪中黑KW</vt:lpstr>
      <vt:lpstr>ArialMT</vt:lpstr>
      <vt:lpstr>Times New Roman</vt:lpstr>
      <vt:lpstr>楷体_GB2312</vt:lpstr>
      <vt:lpstr>汉仪旗黑</vt:lpstr>
      <vt:lpstr>宋体</vt:lpstr>
      <vt:lpstr>Arial Unicode MS</vt:lpstr>
      <vt:lpstr>Calibri</vt:lpstr>
      <vt:lpstr>Helvetica Neue</vt:lpstr>
      <vt:lpstr>Symbol</vt:lpstr>
      <vt:lpstr>Kingsoft Sign</vt:lpstr>
      <vt:lpstr>新宋体</vt:lpstr>
      <vt:lpstr>方正书宋_GBK</vt:lpstr>
      <vt:lpstr>黑体</vt:lpstr>
      <vt:lpstr>汉仪楷体简</vt:lpstr>
      <vt:lpstr>BatangChe</vt:lpstr>
      <vt:lpstr>Apple SD Gothic Neo</vt:lpstr>
      <vt:lpstr>KingsoftMath</vt:lpstr>
      <vt:lpstr>苹方-简</vt:lpstr>
      <vt:lpstr>自定义设计方案</vt:lpstr>
      <vt:lpstr>Equation.KSEE3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Equation.DSMT4</vt:lpstr>
      <vt:lpstr>Equation.KSEE3</vt:lpstr>
      <vt:lpstr>Equation.KSEE3</vt:lpstr>
      <vt:lpstr>Equation.KSEE3</vt:lpstr>
      <vt:lpstr>Equation.KSEE3</vt:lpstr>
      <vt:lpstr>Equation.DSMT4</vt:lpstr>
      <vt:lpstr>Equation.KSEE3</vt:lpstr>
      <vt:lpstr>Equation.DSMT4</vt:lpstr>
      <vt:lpstr>Equation.KSEE3</vt:lpstr>
      <vt:lpstr>第三章 多元正态分布 均值向量的检验</vt:lpstr>
      <vt:lpstr>填空题</vt:lpstr>
      <vt:lpstr>一、单个一元总体均值的假设检验（p=1）</vt:lpstr>
      <vt:lpstr>二、单个多元总体均值的假设检验（p&gt;1）</vt:lpstr>
      <vt:lpstr>二、单个多元总体均值的假设检验（p&gt;1）</vt:lpstr>
      <vt:lpstr> 例3-1 企业市场结构研究</vt:lpstr>
      <vt:lpstr>PowerPoint 演示文稿</vt:lpstr>
      <vt:lpstr>例3-2 探索新的诊断技术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二、协方差阵不等的情形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6HGBYM2</dc:creator>
  <cp:lastModifiedBy>233</cp:lastModifiedBy>
  <cp:revision>119</cp:revision>
  <dcterms:created xsi:type="dcterms:W3CDTF">2024-10-19T08:48:55Z</dcterms:created>
  <dcterms:modified xsi:type="dcterms:W3CDTF">2024-10-19T08:48:55Z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02956C15B151938B1127056724B2DADF_42</vt:lpwstr>
  </property>
</Properties>
</file>