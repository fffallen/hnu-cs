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2" r:id="rId3"/>
  </p:sldMasterIdLst>
  <p:notesMasterIdLst>
    <p:notesMasterId r:id="rId5"/>
  </p:notesMasterIdLst>
  <p:sldIdLst>
    <p:sldId id="787" r:id="rId4"/>
    <p:sldId id="636" r:id="rId6"/>
    <p:sldId id="1211" r:id="rId7"/>
    <p:sldId id="611" r:id="rId8"/>
    <p:sldId id="258" r:id="rId9"/>
    <p:sldId id="523" r:id="rId10"/>
    <p:sldId id="524" r:id="rId11"/>
    <p:sldId id="1212" r:id="rId12"/>
    <p:sldId id="1213" r:id="rId13"/>
    <p:sldId id="1214" r:id="rId14"/>
    <p:sldId id="544" r:id="rId15"/>
    <p:sldId id="545" r:id="rId16"/>
    <p:sldId id="789" r:id="rId17"/>
    <p:sldId id="1217" r:id="rId18"/>
    <p:sldId id="530" r:id="rId19"/>
    <p:sldId id="531" r:id="rId20"/>
    <p:sldId id="533" r:id="rId21"/>
    <p:sldId id="1219" r:id="rId22"/>
    <p:sldId id="534" r:id="rId23"/>
    <p:sldId id="535" r:id="rId24"/>
    <p:sldId id="536" r:id="rId25"/>
    <p:sldId id="537" r:id="rId26"/>
    <p:sldId id="538" r:id="rId27"/>
    <p:sldId id="532" r:id="rId28"/>
    <p:sldId id="948" r:id="rId29"/>
    <p:sldId id="1220" r:id="rId30"/>
    <p:sldId id="1224" r:id="rId31"/>
    <p:sldId id="950" r:id="rId32"/>
    <p:sldId id="951" r:id="rId33"/>
    <p:sldId id="325" r:id="rId34"/>
    <p:sldId id="665" r:id="rId35"/>
    <p:sldId id="642" r:id="rId36"/>
    <p:sldId id="643" r:id="rId37"/>
    <p:sldId id="644" r:id="rId38"/>
    <p:sldId id="791" r:id="rId39"/>
    <p:sldId id="326" r:id="rId40"/>
    <p:sldId id="327" r:id="rId41"/>
    <p:sldId id="646" r:id="rId42"/>
    <p:sldId id="1225" r:id="rId43"/>
    <p:sldId id="328" r:id="rId44"/>
    <p:sldId id="952" r:id="rId45"/>
    <p:sldId id="330" r:id="rId46"/>
    <p:sldId id="1261" r:id="rId47"/>
    <p:sldId id="331" r:id="rId48"/>
    <p:sldId id="335" r:id="rId49"/>
    <p:sldId id="953" r:id="rId50"/>
    <p:sldId id="954" r:id="rId51"/>
    <p:sldId id="955" r:id="rId52"/>
    <p:sldId id="1226" r:id="rId53"/>
    <p:sldId id="1227" r:id="rId54"/>
    <p:sldId id="959" r:id="rId55"/>
    <p:sldId id="957" r:id="rId56"/>
    <p:sldId id="1229" r:id="rId57"/>
    <p:sldId id="958" r:id="rId58"/>
    <p:sldId id="1228" r:id="rId59"/>
    <p:sldId id="792" r:id="rId60"/>
    <p:sldId id="650" r:id="rId61"/>
    <p:sldId id="651" r:id="rId62"/>
    <p:sldId id="652" r:id="rId63"/>
    <p:sldId id="653" r:id="rId64"/>
    <p:sldId id="654" r:id="rId65"/>
    <p:sldId id="793" r:id="rId66"/>
    <p:sldId id="656" r:id="rId67"/>
    <p:sldId id="657" r:id="rId68"/>
    <p:sldId id="794" r:id="rId69"/>
    <p:sldId id="659" r:id="rId70"/>
    <p:sldId id="660" r:id="rId71"/>
    <p:sldId id="661" r:id="rId72"/>
    <p:sldId id="662" r:id="rId73"/>
    <p:sldId id="1233" r:id="rId74"/>
    <p:sldId id="663" r:id="rId75"/>
    <p:sldId id="1234" r:id="rId76"/>
    <p:sldId id="1235" r:id="rId77"/>
    <p:sldId id="1256" r:id="rId78"/>
    <p:sldId id="1257" r:id="rId79"/>
    <p:sldId id="1258" r:id="rId80"/>
    <p:sldId id="1259" r:id="rId81"/>
    <p:sldId id="1260" r:id="rId82"/>
  </p:sldIdLst>
  <p:sldSz cx="9144000" cy="6858000" type="screen4x3"/>
  <p:notesSz cx="6858000" cy="9144000"/>
  <p:custDataLst>
    <p:tags r:id="rId8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omic Sans MS" panose="030F0702030302020204" pitchFamily="66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5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00"/>
    <a:srgbClr val="DDDDDD"/>
    <a:srgbClr val="FFCCFF"/>
    <a:srgbClr val="FF99CC"/>
    <a:srgbClr val="CCFFFF"/>
    <a:srgbClr val="99C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61"/>
    <p:restoredTop sz="94736"/>
  </p:normalViewPr>
  <p:slideViewPr>
    <p:cSldViewPr snapToGrid="0" showGuides="1">
      <p:cViewPr varScale="1">
        <p:scale>
          <a:sx n="81" d="100"/>
          <a:sy n="81" d="100"/>
        </p:scale>
        <p:origin x="-1050" y="-84"/>
      </p:cViewPr>
      <p:guideLst>
        <p:guide orient="horz" pos="2185"/>
        <p:guide pos="2897"/>
      </p:guideLst>
    </p:cSldViewPr>
  </p:slideViewPr>
  <p:outlineViewPr>
    <p:cViewPr>
      <p:scale>
        <a:sx n="33" d="100"/>
        <a:sy n="33" d="100"/>
      </p:scale>
      <p:origin x="0" y="6216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6" Type="http://schemas.openxmlformats.org/officeDocument/2006/relationships/tags" Target="tags/tag112.xml"/><Relationship Id="rId85" Type="http://schemas.openxmlformats.org/officeDocument/2006/relationships/tableStyles" Target="tableStyles.xml"/><Relationship Id="rId84" Type="http://schemas.openxmlformats.org/officeDocument/2006/relationships/viewProps" Target="viewProps.xml"/><Relationship Id="rId83" Type="http://schemas.openxmlformats.org/officeDocument/2006/relationships/presProps" Target="presProps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2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notesMaster" Target="notesMasters/notesMaster1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5" Type="http://schemas.openxmlformats.org/officeDocument/2006/relationships/image" Target="../media/image8.wmf"/><Relationship Id="rId4" Type="http://schemas.openxmlformats.org/officeDocument/2006/relationships/image" Target="../media/image7.wmf"/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67940" name="Rectangle 4"/>
          <p:cNvSpPr>
            <a:spLocks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5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6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8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8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9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89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89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699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699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710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10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720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20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730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30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740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740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5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53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53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63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63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84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84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84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9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894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894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04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04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04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14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14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25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25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35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35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35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45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45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66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66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76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76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76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86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1986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1986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07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07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07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17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17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17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27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27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37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37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37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48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48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58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58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58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68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685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685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78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787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787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88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889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890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99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0992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0992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09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094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094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19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197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197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60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606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606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7041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>
                <a:latin typeface="Times New Roman" panose="02020603050405020304" pitchFamily="18" charset="0"/>
              </a:rPr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8704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7043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7105"/>
            <a:fld id="{9A0DB2DC-4C9A-4742-B13C-FB6460FD3503}" type="slidenum">
              <a:rPr lang="en-US" altLang="zh-CN" sz="1300">
                <a:latin typeface="Times New Roman" panose="02020603050405020304" pitchFamily="18" charset="0"/>
              </a:rPr>
            </a:fld>
            <a:endParaRPr lang="en-US" altLang="zh-CN" sz="1300">
              <a:latin typeface="Times New Roman" panose="02020603050405020304" pitchFamily="18" charset="0"/>
            </a:endParaRPr>
          </a:p>
        </p:txBody>
      </p:sp>
      <p:sp>
        <p:nvSpPr>
          <p:cNvPr id="890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9091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1137" name="Rectangle 7"/>
          <p:cNvSpPr txBox="1">
            <a:spLocks noGrp="1"/>
          </p:cNvSpPr>
          <p:nvPr>
            <p:ph type="sldNum" sz="quarter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</a:ln>
        </p:spPr>
        <p:txBody>
          <a:bodyPr lIns="96661" tIns="48331" rIns="96661" bIns="48331" anchor="b" anchorCtr="0"/>
          <a:p>
            <a:pPr lvl="0" algn="r" defTabSz="965200"/>
            <a:fld id="{9A0DB2DC-4C9A-4742-B13C-FB6460FD3503}" type="slidenum">
              <a:rPr lang="en-US" altLang="zh-CN" sz="120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altLang="zh-CN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1139" name="Rectangle 3"/>
          <p:cNvSpPr>
            <a:spLocks noGrp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</p:spPr>
        <p:txBody>
          <a:bodyPr wrap="square" lIns="96661" tIns="48331" rIns="96661" bIns="48331" anchor="t" anchorCtr="0"/>
          <a:p>
            <a:pPr lvl="0"/>
            <a:endParaRPr lang="zh-CN" altLang="zh-CN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29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299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299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40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401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402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504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504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70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709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709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81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811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811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91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1913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1914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01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016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016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11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118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118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22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221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221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32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323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323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42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425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426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528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528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63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630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630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73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7331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7332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83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8355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8356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93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29379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29380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04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0403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0404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14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zh-CN" altLang="en-US" sz="1200" dirty="0">
                <a:latin typeface="Times New Roman" panose="02020603050405020304" pitchFamily="18" charset="0"/>
              </a:rPr>
            </a:fld>
            <a:endParaRPr lang="zh-CN" altLang="en-US" sz="1200" dirty="0">
              <a:latin typeface="Times New Roman" panose="02020603050405020304" pitchFamily="18" charset="0"/>
            </a:endParaRPr>
          </a:p>
        </p:txBody>
      </p:sp>
      <p:sp>
        <p:nvSpPr>
          <p:cNvPr id="231427" name="Rectangle 2"/>
          <p:cNvSpPr>
            <a:spLocks noTextEdit="1"/>
          </p:cNvSpPr>
          <p:nvPr>
            <p:ph type="sldImg"/>
          </p:nvPr>
        </p:nvSpPr>
        <p:spPr/>
      </p:sp>
      <p:sp>
        <p:nvSpPr>
          <p:cNvPr id="231428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3400" y="1600200"/>
            <a:ext cx="7772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None/>
              <a:defRPr/>
            </a:pP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362700" y="228600"/>
            <a:ext cx="1943100" cy="6019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33400" y="2286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533400" y="1600200"/>
            <a:ext cx="7772400" cy="46482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0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533400" y="1600200"/>
            <a:ext cx="7772400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>
                <a:latin typeface="+mn-lt"/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410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omic Sans MS" panose="030F0702030302020204" pitchFamily="66" charset="0"/>
                <a:ea typeface="宋体" panose="02010600030101010101" pitchFamily="2" charset="-122"/>
                <a:cs typeface="+mn-cs"/>
              </a:rPr>
              <a:t>网络层</a:t>
            </a: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62925" y="6400800"/>
            <a:ext cx="676275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en-US" altLang="zh-CN" dirty="0">
                <a:latin typeface="Comic Sans MS" panose="030F0702030302020204" pitchFamily="66" charset="0"/>
              </a:rPr>
            </a:fld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4000" u="sng">
          <a:solidFill>
            <a:schemeClr val="accent2"/>
          </a:solidFill>
          <a:latin typeface="Times New Roman" panose="02020603050405020304" pitchFamily="18" charset="0"/>
          <a:ea typeface="黑体" panose="02010609060101010101" pitchFamily="49" charset="-122"/>
        </a:defRPr>
      </a:lvl9pPr>
    </p:titleStyle>
    <p:bodyStyle>
      <a:lvl1pPr marL="342900" indent="-342900" algn="l" rtl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5000"/>
        <a:buFont typeface="ZapfDingbats" pitchFamily="82" charset="2"/>
        <a:buChar char="r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5000"/>
        <a:buFont typeface="ZapfDingbats" pitchFamily="82" charset="2"/>
        <a:buChar char="m"/>
        <a:defRPr sz="24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oleObject" Target="../embeddings/oleObject6.bin"/><Relationship Id="rId7" Type="http://schemas.openxmlformats.org/officeDocument/2006/relationships/oleObject" Target="../embeddings/oleObject5.bin"/><Relationship Id="rId6" Type="http://schemas.openxmlformats.org/officeDocument/2006/relationships/oleObject" Target="../embeddings/oleObject4.bin"/><Relationship Id="rId5" Type="http://schemas.openxmlformats.org/officeDocument/2006/relationships/oleObject" Target="../embeddings/oleObject3.bin"/><Relationship Id="rId4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23" Type="http://schemas.openxmlformats.org/officeDocument/2006/relationships/notesSlide" Target="../notesSlides/notesSlide4.xml"/><Relationship Id="rId22" Type="http://schemas.openxmlformats.org/officeDocument/2006/relationships/vmlDrawing" Target="../drawings/vmlDrawing1.vml"/><Relationship Id="rId21" Type="http://schemas.openxmlformats.org/officeDocument/2006/relationships/slideLayout" Target="../slideLayouts/slideLayout4.xml"/><Relationship Id="rId20" Type="http://schemas.openxmlformats.org/officeDocument/2006/relationships/oleObject" Target="../embeddings/oleObject15.bin"/><Relationship Id="rId2" Type="http://schemas.openxmlformats.org/officeDocument/2006/relationships/image" Target="../media/image4.wmf"/><Relationship Id="rId19" Type="http://schemas.openxmlformats.org/officeDocument/2006/relationships/oleObject" Target="../embeddings/oleObject14.bin"/><Relationship Id="rId18" Type="http://schemas.openxmlformats.org/officeDocument/2006/relationships/oleObject" Target="../embeddings/oleObject13.bin"/><Relationship Id="rId17" Type="http://schemas.openxmlformats.org/officeDocument/2006/relationships/image" Target="../media/image8.wmf"/><Relationship Id="rId16" Type="http://schemas.openxmlformats.org/officeDocument/2006/relationships/oleObject" Target="../embeddings/oleObject12.bin"/><Relationship Id="rId15" Type="http://schemas.openxmlformats.org/officeDocument/2006/relationships/image" Target="../media/image7.wmf"/><Relationship Id="rId14" Type="http://schemas.openxmlformats.org/officeDocument/2006/relationships/oleObject" Target="../embeddings/oleObject11.bin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6.wmf"/><Relationship Id="rId11" Type="http://schemas.openxmlformats.org/officeDocument/2006/relationships/oleObject" Target="../embeddings/oleObject9.bin"/><Relationship Id="rId10" Type="http://schemas.openxmlformats.org/officeDocument/2006/relationships/oleObject" Target="../embeddings/oleObject8.bin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0" Type="http://schemas.openxmlformats.org/officeDocument/2006/relationships/notesSlide" Target="../notesSlides/notesSlide15.xml"/><Relationship Id="rId5" Type="http://schemas.openxmlformats.org/officeDocument/2006/relationships/tags" Target="../tags/tag5.xml"/><Relationship Id="rId49" Type="http://schemas.openxmlformats.org/officeDocument/2006/relationships/slideLayout" Target="../slideLayouts/slideLayout2.xml"/><Relationship Id="rId48" Type="http://schemas.openxmlformats.org/officeDocument/2006/relationships/image" Target="../media/image20.png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1" Type="http://schemas.openxmlformats.org/officeDocument/2006/relationships/notesSlide" Target="../notesSlides/notesSlide17.xml"/><Relationship Id="rId60" Type="http://schemas.openxmlformats.org/officeDocument/2006/relationships/slideLayout" Target="../slideLayouts/slideLayout2.xml"/><Relationship Id="rId6" Type="http://schemas.openxmlformats.org/officeDocument/2006/relationships/tags" Target="../tags/tag53.xml"/><Relationship Id="rId59" Type="http://schemas.openxmlformats.org/officeDocument/2006/relationships/tags" Target="../tags/tag106.xml"/><Relationship Id="rId58" Type="http://schemas.openxmlformats.org/officeDocument/2006/relationships/tags" Target="../tags/tag105.xml"/><Relationship Id="rId57" Type="http://schemas.openxmlformats.org/officeDocument/2006/relationships/tags" Target="../tags/tag104.xml"/><Relationship Id="rId56" Type="http://schemas.openxmlformats.org/officeDocument/2006/relationships/tags" Target="../tags/tag103.xml"/><Relationship Id="rId55" Type="http://schemas.openxmlformats.org/officeDocument/2006/relationships/tags" Target="../tags/tag102.xml"/><Relationship Id="rId54" Type="http://schemas.openxmlformats.org/officeDocument/2006/relationships/tags" Target="../tags/tag101.xml"/><Relationship Id="rId53" Type="http://schemas.openxmlformats.org/officeDocument/2006/relationships/tags" Target="../tags/tag100.xml"/><Relationship Id="rId52" Type="http://schemas.openxmlformats.org/officeDocument/2006/relationships/tags" Target="../tags/tag99.xml"/><Relationship Id="rId51" Type="http://schemas.openxmlformats.org/officeDocument/2006/relationships/tags" Target="../tags/tag98.xml"/><Relationship Id="rId50" Type="http://schemas.openxmlformats.org/officeDocument/2006/relationships/tags" Target="../tags/tag97.xml"/><Relationship Id="rId5" Type="http://schemas.openxmlformats.org/officeDocument/2006/relationships/tags" Target="../tags/tag52.xml"/><Relationship Id="rId49" Type="http://schemas.openxmlformats.org/officeDocument/2006/relationships/tags" Target="../tags/tag96.xml"/><Relationship Id="rId48" Type="http://schemas.openxmlformats.org/officeDocument/2006/relationships/tags" Target="../tags/tag95.xml"/><Relationship Id="rId47" Type="http://schemas.openxmlformats.org/officeDocument/2006/relationships/tags" Target="../tags/tag94.xml"/><Relationship Id="rId46" Type="http://schemas.openxmlformats.org/officeDocument/2006/relationships/tags" Target="../tags/tag93.xml"/><Relationship Id="rId45" Type="http://schemas.openxmlformats.org/officeDocument/2006/relationships/tags" Target="../tags/tag92.xml"/><Relationship Id="rId44" Type="http://schemas.openxmlformats.org/officeDocument/2006/relationships/tags" Target="../tags/tag91.xml"/><Relationship Id="rId43" Type="http://schemas.openxmlformats.org/officeDocument/2006/relationships/tags" Target="../tags/tag90.xml"/><Relationship Id="rId42" Type="http://schemas.openxmlformats.org/officeDocument/2006/relationships/tags" Target="../tags/tag89.xml"/><Relationship Id="rId41" Type="http://schemas.openxmlformats.org/officeDocument/2006/relationships/tags" Target="../tags/tag88.xml"/><Relationship Id="rId40" Type="http://schemas.openxmlformats.org/officeDocument/2006/relationships/tags" Target="../tags/tag87.xml"/><Relationship Id="rId4" Type="http://schemas.openxmlformats.org/officeDocument/2006/relationships/tags" Target="../tags/tag51.xml"/><Relationship Id="rId39" Type="http://schemas.openxmlformats.org/officeDocument/2006/relationships/tags" Target="../tags/tag86.xml"/><Relationship Id="rId38" Type="http://schemas.openxmlformats.org/officeDocument/2006/relationships/tags" Target="../tags/tag85.xml"/><Relationship Id="rId37" Type="http://schemas.openxmlformats.org/officeDocument/2006/relationships/tags" Target="../tags/tag84.xml"/><Relationship Id="rId36" Type="http://schemas.openxmlformats.org/officeDocument/2006/relationships/tags" Target="../tags/tag83.xml"/><Relationship Id="rId35" Type="http://schemas.openxmlformats.org/officeDocument/2006/relationships/tags" Target="../tags/tag82.xml"/><Relationship Id="rId34" Type="http://schemas.openxmlformats.org/officeDocument/2006/relationships/tags" Target="../tags/tag81.xml"/><Relationship Id="rId33" Type="http://schemas.openxmlformats.org/officeDocument/2006/relationships/tags" Target="../tags/tag80.xml"/><Relationship Id="rId32" Type="http://schemas.openxmlformats.org/officeDocument/2006/relationships/tags" Target="../tags/tag79.xml"/><Relationship Id="rId31" Type="http://schemas.openxmlformats.org/officeDocument/2006/relationships/tags" Target="../tags/tag78.xml"/><Relationship Id="rId30" Type="http://schemas.openxmlformats.org/officeDocument/2006/relationships/tags" Target="../tags/tag77.xml"/><Relationship Id="rId3" Type="http://schemas.openxmlformats.org/officeDocument/2006/relationships/tags" Target="../tags/tag50.xml"/><Relationship Id="rId29" Type="http://schemas.openxmlformats.org/officeDocument/2006/relationships/tags" Target="../tags/tag76.xml"/><Relationship Id="rId28" Type="http://schemas.openxmlformats.org/officeDocument/2006/relationships/tags" Target="../tags/tag75.xml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tags" Target="../tags/tag72.xml"/><Relationship Id="rId24" Type="http://schemas.openxmlformats.org/officeDocument/2006/relationships/tags" Target="../tags/tag71.xml"/><Relationship Id="rId23" Type="http://schemas.openxmlformats.org/officeDocument/2006/relationships/tags" Target="../tags/tag70.xml"/><Relationship Id="rId22" Type="http://schemas.openxmlformats.org/officeDocument/2006/relationships/tags" Target="../tags/tag69.xml"/><Relationship Id="rId21" Type="http://schemas.openxmlformats.org/officeDocument/2006/relationships/tags" Target="../tags/tag68.xml"/><Relationship Id="rId20" Type="http://schemas.openxmlformats.org/officeDocument/2006/relationships/tags" Target="../tags/tag67.xml"/><Relationship Id="rId2" Type="http://schemas.openxmlformats.org/officeDocument/2006/relationships/tags" Target="../tags/tag49.xml"/><Relationship Id="rId19" Type="http://schemas.openxmlformats.org/officeDocument/2006/relationships/tags" Target="../tags/tag66.xml"/><Relationship Id="rId18" Type="http://schemas.openxmlformats.org/officeDocument/2006/relationships/tags" Target="../tags/tag65.xml"/><Relationship Id="rId17" Type="http://schemas.openxmlformats.org/officeDocument/2006/relationships/tags" Target="../tags/tag64.xml"/><Relationship Id="rId16" Type="http://schemas.openxmlformats.org/officeDocument/2006/relationships/tags" Target="../tags/tag63.xml"/><Relationship Id="rId15" Type="http://schemas.openxmlformats.org/officeDocument/2006/relationships/tags" Target="../tags/tag62.xml"/><Relationship Id="rId14" Type="http://schemas.openxmlformats.org/officeDocument/2006/relationships/tags" Target="../tags/tag61.xml"/><Relationship Id="rId13" Type="http://schemas.openxmlformats.org/officeDocument/2006/relationships/tags" Target="../tags/tag60.xml"/><Relationship Id="rId12" Type="http://schemas.openxmlformats.org/officeDocument/2006/relationships/tags" Target="../tags/tag59.xml"/><Relationship Id="rId11" Type="http://schemas.openxmlformats.org/officeDocument/2006/relationships/tags" Target="../tags/tag58.xml"/><Relationship Id="rId10" Type="http://schemas.openxmlformats.org/officeDocument/2006/relationships/tags" Target="../tags/tag57.xml"/><Relationship Id="rId1" Type="http://schemas.openxmlformats.org/officeDocument/2006/relationships/tags" Target="../tags/tag4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image" Target="../media/image26.png"/><Relationship Id="rId3" Type="http://schemas.openxmlformats.org/officeDocument/2006/relationships/tags" Target="../tags/tag108.xml"/><Relationship Id="rId2" Type="http://schemas.openxmlformats.org/officeDocument/2006/relationships/image" Target="../media/image25.png"/><Relationship Id="rId1" Type="http://schemas.openxmlformats.org/officeDocument/2006/relationships/tags" Target="../tags/tag10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7.xml"/><Relationship Id="rId4" Type="http://schemas.openxmlformats.org/officeDocument/2006/relationships/image" Target="../media/image28.png"/><Relationship Id="rId3" Type="http://schemas.openxmlformats.org/officeDocument/2006/relationships/tags" Target="../tags/tag110.xml"/><Relationship Id="rId2" Type="http://schemas.openxmlformats.org/officeDocument/2006/relationships/image" Target="../media/image27.png"/><Relationship Id="rId1" Type="http://schemas.openxmlformats.org/officeDocument/2006/relationships/tags" Target="../tags/tag109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tags" Target="../tags/tag111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vmlDrawing" Target="../drawings/vmlDrawing2.vml"/><Relationship Id="rId2" Type="http://schemas.openxmlformats.org/officeDocument/2006/relationships/slideLayout" Target="../slideLayouts/slideLayout4.xml"/><Relationship Id="rId1" Type="http://schemas.openxmlformats.org/officeDocument/2006/relationships/oleObject" Target="../embeddings/oleObject16.bin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2.xml"/><Relationship Id="rId7" Type="http://schemas.openxmlformats.org/officeDocument/2006/relationships/vmlDrawing" Target="../drawings/vmlDrawing3.vml"/><Relationship Id="rId6" Type="http://schemas.openxmlformats.org/officeDocument/2006/relationships/slideLayout" Target="../slideLayouts/slideLayout4.xml"/><Relationship Id="rId5" Type="http://schemas.openxmlformats.org/officeDocument/2006/relationships/oleObject" Target="../embeddings/oleObject20.bin"/><Relationship Id="rId4" Type="http://schemas.openxmlformats.org/officeDocument/2006/relationships/oleObject" Target="../embeddings/oleObject19.bin"/><Relationship Id="rId3" Type="http://schemas.openxmlformats.org/officeDocument/2006/relationships/oleObject" Target="../embeddings/oleObject18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17.bin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oleObject" Target="../embeddings/oleObject27.bin"/><Relationship Id="rId7" Type="http://schemas.openxmlformats.org/officeDocument/2006/relationships/oleObject" Target="../embeddings/oleObject26.bin"/><Relationship Id="rId6" Type="http://schemas.openxmlformats.org/officeDocument/2006/relationships/oleObject" Target="../embeddings/oleObject25.bin"/><Relationship Id="rId5" Type="http://schemas.openxmlformats.org/officeDocument/2006/relationships/oleObject" Target="../embeddings/oleObject24.bin"/><Relationship Id="rId4" Type="http://schemas.openxmlformats.org/officeDocument/2006/relationships/oleObject" Target="../embeddings/oleObject23.bin"/><Relationship Id="rId3" Type="http://schemas.openxmlformats.org/officeDocument/2006/relationships/oleObject" Target="../embeddings/oleObject22.bin"/><Relationship Id="rId2" Type="http://schemas.openxmlformats.org/officeDocument/2006/relationships/image" Target="../media/image4.wmf"/><Relationship Id="rId11" Type="http://schemas.openxmlformats.org/officeDocument/2006/relationships/notesSlide" Target="../notesSlides/notesSlide25.xml"/><Relationship Id="rId10" Type="http://schemas.openxmlformats.org/officeDocument/2006/relationships/vmlDrawing" Target="../drawings/vmlDrawing4.vml"/><Relationship Id="rId1" Type="http://schemas.openxmlformats.org/officeDocument/2006/relationships/oleObject" Target="../embeddings/oleObject21.bin"/></Relationships>
</file>

<file path=ppt/slides/_rels/slide3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oleObject" Target="../embeddings/oleObject34.bin"/><Relationship Id="rId7" Type="http://schemas.openxmlformats.org/officeDocument/2006/relationships/oleObject" Target="../embeddings/oleObject33.bin"/><Relationship Id="rId6" Type="http://schemas.openxmlformats.org/officeDocument/2006/relationships/oleObject" Target="../embeddings/oleObject32.bin"/><Relationship Id="rId5" Type="http://schemas.openxmlformats.org/officeDocument/2006/relationships/oleObject" Target="../embeddings/oleObject31.bin"/><Relationship Id="rId4" Type="http://schemas.openxmlformats.org/officeDocument/2006/relationships/oleObject" Target="../embeddings/oleObject30.bin"/><Relationship Id="rId3" Type="http://schemas.openxmlformats.org/officeDocument/2006/relationships/oleObject" Target="../embeddings/oleObject29.bin"/><Relationship Id="rId2" Type="http://schemas.openxmlformats.org/officeDocument/2006/relationships/image" Target="../media/image4.wmf"/><Relationship Id="rId11" Type="http://schemas.openxmlformats.org/officeDocument/2006/relationships/notesSlide" Target="../notesSlides/notesSlide26.xml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28.bin"/></Relationships>
</file>

<file path=ppt/slides/_rels/slide3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oleObject" Target="../embeddings/oleObject41.bin"/><Relationship Id="rId7" Type="http://schemas.openxmlformats.org/officeDocument/2006/relationships/oleObject" Target="../embeddings/oleObject40.bin"/><Relationship Id="rId6" Type="http://schemas.openxmlformats.org/officeDocument/2006/relationships/oleObject" Target="../embeddings/oleObject39.bin"/><Relationship Id="rId5" Type="http://schemas.openxmlformats.org/officeDocument/2006/relationships/oleObject" Target="../embeddings/oleObject38.bin"/><Relationship Id="rId4" Type="http://schemas.openxmlformats.org/officeDocument/2006/relationships/oleObject" Target="../embeddings/oleObject37.bin"/><Relationship Id="rId3" Type="http://schemas.openxmlformats.org/officeDocument/2006/relationships/oleObject" Target="../embeddings/oleObject36.bin"/><Relationship Id="rId2" Type="http://schemas.openxmlformats.org/officeDocument/2006/relationships/image" Target="../media/image4.wmf"/><Relationship Id="rId11" Type="http://schemas.openxmlformats.org/officeDocument/2006/relationships/notesSlide" Target="../notesSlides/notesSlide27.xml"/><Relationship Id="rId10" Type="http://schemas.openxmlformats.org/officeDocument/2006/relationships/vmlDrawing" Target="../drawings/vmlDrawing6.vml"/><Relationship Id="rId1" Type="http://schemas.openxmlformats.org/officeDocument/2006/relationships/oleObject" Target="../embeddings/oleObject35.bin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1.png"/></Relationships>
</file>

<file path=ppt/slides/_rels/slide4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oleObject" Target="../embeddings/oleObject48.bin"/><Relationship Id="rId7" Type="http://schemas.openxmlformats.org/officeDocument/2006/relationships/oleObject" Target="../embeddings/oleObject47.bin"/><Relationship Id="rId6" Type="http://schemas.openxmlformats.org/officeDocument/2006/relationships/oleObject" Target="../embeddings/oleObject46.bin"/><Relationship Id="rId5" Type="http://schemas.openxmlformats.org/officeDocument/2006/relationships/oleObject" Target="../embeddings/oleObject45.bin"/><Relationship Id="rId4" Type="http://schemas.openxmlformats.org/officeDocument/2006/relationships/oleObject" Target="../embeddings/oleObject44.bin"/><Relationship Id="rId3" Type="http://schemas.openxmlformats.org/officeDocument/2006/relationships/oleObject" Target="../embeddings/oleObject43.bin"/><Relationship Id="rId2" Type="http://schemas.openxmlformats.org/officeDocument/2006/relationships/image" Target="../media/image4.wmf"/><Relationship Id="rId11" Type="http://schemas.openxmlformats.org/officeDocument/2006/relationships/notesSlide" Target="../notesSlides/notesSlide28.xml"/><Relationship Id="rId10" Type="http://schemas.openxmlformats.org/officeDocument/2006/relationships/vmlDrawing" Target="../drawings/vmlDrawing7.vml"/><Relationship Id="rId1" Type="http://schemas.openxmlformats.org/officeDocument/2006/relationships/oleObject" Target="../embeddings/oleObject42.bin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3.png"/></Relationships>
</file>

<file path=ppt/slides/_rels/slide4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3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3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5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9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7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9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38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9.xml"/><Relationship Id="rId7" Type="http://schemas.openxmlformats.org/officeDocument/2006/relationships/vmlDrawing" Target="../drawings/vmlDrawing8.v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oleObject" Target="../embeddings/oleObject51.bin"/><Relationship Id="rId3" Type="http://schemas.openxmlformats.org/officeDocument/2006/relationships/oleObject" Target="../embeddings/oleObject50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49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2.xml"/><Relationship Id="rId6" Type="http://schemas.openxmlformats.org/officeDocument/2006/relationships/vmlDrawing" Target="../drawings/vmlDrawing9.vml"/><Relationship Id="rId5" Type="http://schemas.openxmlformats.org/officeDocument/2006/relationships/slideLayout" Target="../slideLayouts/slideLayout4.xml"/><Relationship Id="rId4" Type="http://schemas.openxmlformats.org/officeDocument/2006/relationships/oleObject" Target="../embeddings/oleObject54.bin"/><Relationship Id="rId3" Type="http://schemas.openxmlformats.org/officeDocument/2006/relationships/oleObject" Target="../embeddings/oleObject53.bin"/><Relationship Id="rId2" Type="http://schemas.openxmlformats.org/officeDocument/2006/relationships/image" Target="../media/image4.wmf"/><Relationship Id="rId1" Type="http://schemas.openxmlformats.org/officeDocument/2006/relationships/oleObject" Target="../embeddings/oleObject52.bin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1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4.png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5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6.png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7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5363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5364" name="Rectangle 2"/>
          <p:cNvSpPr/>
          <p:nvPr/>
        </p:nvSpPr>
        <p:spPr>
          <a:xfrm>
            <a:off x="149225" y="1387475"/>
            <a:ext cx="5988050" cy="1724025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sz="4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第</a:t>
            </a:r>
            <a:r>
              <a:rPr lang="en-US" altLang="zh-CN" sz="4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4</a:t>
            </a:r>
            <a:r>
              <a:rPr lang="zh-CN" altLang="en-US" sz="4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章 网络层</a:t>
            </a:r>
            <a:br>
              <a:rPr lang="zh-CN" altLang="en-US" sz="40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40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Network Layer</a:t>
            </a:r>
            <a:endParaRPr lang="en-US" altLang="zh-CN" sz="40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15365" name="Rectangle 3"/>
          <p:cNvSpPr/>
          <p:nvPr/>
        </p:nvSpPr>
        <p:spPr>
          <a:xfrm>
            <a:off x="500063" y="4495800"/>
            <a:ext cx="7642225" cy="20764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计算机网络：自顶向下方法 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(</a:t>
            </a:r>
            <a: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原书第三版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)</a:t>
            </a:r>
            <a:b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陈鸣译，机械工业出版社，</a:t>
            </a:r>
            <a:r>
              <a:rPr lang="en-US" altLang="zh-CN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2005</a:t>
            </a:r>
            <a: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年</a:t>
            </a:r>
            <a:b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br>
              <a:rPr lang="zh-CN" altLang="en-US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400" i="1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Computer Networking: A Top Down Approach Featuring the Internet</a:t>
            </a:r>
            <a: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, </a:t>
            </a:r>
            <a:b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3</a:t>
            </a:r>
            <a:r>
              <a:rPr lang="en-US" altLang="zh-CN" sz="1400" baseline="300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rd</a:t>
            </a:r>
            <a: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edition. </a:t>
            </a:r>
            <a:b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Jim Kurose, Keith Ross</a:t>
            </a:r>
            <a:b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Addison-Wesley, July 2004. </a:t>
            </a:r>
            <a:br>
              <a:rPr lang="en-US" altLang="zh-CN" sz="1400" dirty="0">
                <a:solidFill>
                  <a:schemeClr val="accent2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</a:br>
            <a:endParaRPr lang="en-US" altLang="zh-CN" sz="1400" dirty="0">
              <a:solidFill>
                <a:schemeClr val="accent2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pic>
        <p:nvPicPr>
          <p:cNvPr id="15366" name="Picture 4" descr="CoverBi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3500" y="427038"/>
            <a:ext cx="2351088" cy="33464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638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638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1638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sz="3200" u="sng" dirty="0">
                <a:solidFill>
                  <a:srgbClr val="FF0000"/>
                </a:solidFill>
              </a:rPr>
              <a:t>本章目的</a:t>
            </a:r>
            <a:r>
              <a:rPr lang="en-US" altLang="zh-CN" sz="3200" u="sng" dirty="0">
                <a:solidFill>
                  <a:srgbClr val="FF0000"/>
                </a:solidFill>
              </a:rPr>
              <a:t>:</a:t>
            </a:r>
            <a:r>
              <a:rPr lang="en-US" altLang="zh-CN" sz="3200" dirty="0"/>
              <a:t> </a:t>
            </a:r>
            <a:endParaRPr lang="en-US" altLang="zh-CN" sz="3200" dirty="0"/>
          </a:p>
          <a:p>
            <a:pPr eaLnBrk="1"/>
            <a:r>
              <a:rPr lang="zh-CN" altLang="en-US" dirty="0"/>
              <a:t>理解网络层服务依赖的原理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/>
            <a:r>
              <a:rPr lang="zh-CN" altLang="en-US" dirty="0"/>
              <a:t>选路 </a:t>
            </a:r>
            <a:r>
              <a:rPr lang="en-US" altLang="zh-CN" dirty="0"/>
              <a:t>(</a:t>
            </a:r>
            <a:r>
              <a:rPr lang="zh-CN" altLang="en-US" dirty="0"/>
              <a:t>路径选择</a:t>
            </a:r>
            <a:r>
              <a:rPr lang="en-US" altLang="zh-CN" dirty="0"/>
              <a:t>)</a:t>
            </a:r>
            <a:endParaRPr lang="en-US" altLang="zh-CN" dirty="0"/>
          </a:p>
          <a:p>
            <a:pPr lvl="1" eaLnBrk="1"/>
            <a:r>
              <a:rPr lang="zh-CN" altLang="en-US" dirty="0"/>
              <a:t>处理扩展性</a:t>
            </a:r>
            <a:endParaRPr lang="en-US" altLang="zh-CN" dirty="0"/>
          </a:p>
          <a:p>
            <a:pPr lvl="1" eaLnBrk="1"/>
            <a:r>
              <a:rPr lang="zh-CN" altLang="en-US" dirty="0"/>
              <a:t>路由器工作原理</a:t>
            </a:r>
            <a:endParaRPr lang="zh-CN" altLang="en-US" dirty="0"/>
          </a:p>
          <a:p>
            <a:pPr lvl="1" eaLnBrk="1"/>
            <a:r>
              <a:rPr lang="zh-CN" altLang="en-US" dirty="0"/>
              <a:t>先进主题</a:t>
            </a:r>
            <a:r>
              <a:rPr lang="en-US" altLang="zh-CN" dirty="0"/>
              <a:t>: IPv6, NAT</a:t>
            </a:r>
            <a:endParaRPr lang="en-US" altLang="zh-CN" dirty="0"/>
          </a:p>
          <a:p>
            <a:pPr eaLnBrk="1"/>
            <a:r>
              <a:rPr lang="zh-CN" altLang="en-US" dirty="0"/>
              <a:t>因特网中的实例和实现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5905" cy="6957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20" y="102235"/>
            <a:ext cx="8976995" cy="67786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7411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7412" name="Rectangle 4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17413" name="Rectangle 5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IPv4</a:t>
            </a:r>
            <a:r>
              <a:rPr lang="zh-CN" altLang="en-US" sz="2000" dirty="0">
                <a:latin typeface="+mn-lt"/>
                <a:ea typeface="+mn-ea"/>
              </a:rPr>
              <a:t>编址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NAT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ICMP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IPv6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17414" name="Rectangle 9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042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43" name="Rectangle 2"/>
          <p:cNvSpPr>
            <a:spLocks noGrp="1"/>
          </p:cNvSpPr>
          <p:nvPr>
            <p:ph type="title"/>
          </p:nvPr>
        </p:nvSpPr>
        <p:spPr>
          <a:xfrm>
            <a:off x="304800" y="0"/>
            <a:ext cx="83820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网络层</a:t>
            </a:r>
            <a:endParaRPr lang="zh-CN" altLang="en-US" sz="3600" dirty="0"/>
          </a:p>
        </p:txBody>
      </p:sp>
      <p:sp>
        <p:nvSpPr>
          <p:cNvPr id="1044" name="Rectangle 3"/>
          <p:cNvSpPr>
            <a:spLocks noGrp="1"/>
          </p:cNvSpPr>
          <p:nvPr>
            <p:ph sz="half" idx="1"/>
          </p:nvPr>
        </p:nvSpPr>
        <p:spPr>
          <a:xfrm>
            <a:off x="411480" y="1054100"/>
            <a:ext cx="4086225" cy="462407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从发送主机到接收主机传输</a:t>
            </a:r>
            <a:r>
              <a:rPr lang="zh-CN" altLang="en-US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报文段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在发送侧将</a:t>
            </a:r>
            <a:r>
              <a:rPr lang="zh-CN" altLang="en-US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报文段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封装进</a:t>
            </a:r>
            <a:r>
              <a:rPr lang="zh-CN" altLang="en-US" sz="2400" b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数据报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在接收侧，向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运输层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交付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报文段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网络层协议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在</a:t>
            </a:r>
            <a:r>
              <a:rPr lang="zh-CN" altLang="en-US" sz="2400" i="1" dirty="0">
                <a:latin typeface="+mn-lt"/>
                <a:ea typeface="+mn-ea"/>
                <a:cs typeface="+mn-cs"/>
              </a:rPr>
              <a:t>每台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主机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、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路由器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中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当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IP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数据报通过路由器时，路由器检查所有数据报首部字段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  <a:buFont typeface="ZapfDingbats" pitchFamily="82" charset="2"/>
              <a:buNone/>
            </a:pP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endParaRPr lang="en-US" altLang="zh-CN" sz="1800" dirty="0">
              <a:latin typeface="+mn-lt"/>
              <a:ea typeface="+mn-ea"/>
            </a:endParaRPr>
          </a:p>
          <a:p>
            <a:pPr eaLnBrk="1">
              <a:buSzPct val="85000"/>
            </a:pP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1045" name="Freeform 5"/>
          <p:cNvSpPr/>
          <p:nvPr/>
        </p:nvSpPr>
        <p:spPr>
          <a:xfrm>
            <a:off x="6788150" y="2019300"/>
            <a:ext cx="1798638" cy="1674813"/>
          </a:xfrm>
          <a:custGeom>
            <a:avLst/>
            <a:gdLst>
              <a:gd name="txL" fmla="*/ 0 w 1292"/>
              <a:gd name="txT" fmla="*/ 0 h 1255"/>
              <a:gd name="txR" fmla="*/ 1292 w 1292"/>
              <a:gd name="txB" fmla="*/ 1255 h 1255"/>
            </a:gdLst>
            <a:ahLst/>
            <a:cxnLst>
              <a:cxn ang="0">
                <a:pos x="239" y="7"/>
              </a:cxn>
              <a:cxn ang="0">
                <a:pos x="35" y="157"/>
              </a:cxn>
              <a:cxn ang="0">
                <a:pos x="29" y="523"/>
              </a:cxn>
              <a:cxn ang="0">
                <a:pos x="53" y="829"/>
              </a:cxn>
              <a:cxn ang="0">
                <a:pos x="245" y="871"/>
              </a:cxn>
              <a:cxn ang="0">
                <a:pos x="647" y="1129"/>
              </a:cxn>
              <a:cxn ang="0">
                <a:pos x="995" y="1237"/>
              </a:cxn>
              <a:cxn ang="0">
                <a:pos x="1199" y="1021"/>
              </a:cxn>
              <a:cxn ang="0">
                <a:pos x="1271" y="445"/>
              </a:cxn>
              <a:cxn ang="0">
                <a:pos x="1205" y="211"/>
              </a:cxn>
              <a:cxn ang="0">
                <a:pos x="749" y="115"/>
              </a:cxn>
              <a:cxn ang="0">
                <a:pos x="239" y="7"/>
              </a:cxn>
            </a:cxnLst>
            <a:rect l="txL" t="txT" r="txR" b="tx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46" name="Freeform 6"/>
          <p:cNvSpPr/>
          <p:nvPr/>
        </p:nvSpPr>
        <p:spPr>
          <a:xfrm>
            <a:off x="4908550" y="1876425"/>
            <a:ext cx="1866900" cy="1589088"/>
          </a:xfrm>
          <a:custGeom>
            <a:avLst/>
            <a:gdLst>
              <a:gd name="txL" fmla="*/ 0 w 1340"/>
              <a:gd name="txT" fmla="*/ 0 h 1191"/>
              <a:gd name="txR" fmla="*/ 1340 w 1340"/>
              <a:gd name="txB" fmla="*/ 1191 h 1191"/>
            </a:gdLst>
            <a:ahLst/>
            <a:cxnLst>
              <a:cxn ang="0">
                <a:pos x="550" y="42"/>
              </a:cxn>
              <a:cxn ang="0">
                <a:pos x="82" y="60"/>
              </a:cxn>
              <a:cxn ang="0">
                <a:pos x="58" y="402"/>
              </a:cxn>
              <a:cxn ang="0">
                <a:pos x="28" y="720"/>
              </a:cxn>
              <a:cxn ang="0">
                <a:pos x="112" y="870"/>
              </a:cxn>
              <a:cxn ang="0">
                <a:pos x="538" y="876"/>
              </a:cxn>
              <a:cxn ang="0">
                <a:pos x="640" y="1128"/>
              </a:cxn>
              <a:cxn ang="0">
                <a:pos x="1234" y="1098"/>
              </a:cxn>
              <a:cxn ang="0">
                <a:pos x="1276" y="570"/>
              </a:cxn>
              <a:cxn ang="0">
                <a:pos x="1204" y="342"/>
              </a:cxn>
              <a:cxn ang="0">
                <a:pos x="760" y="288"/>
              </a:cxn>
              <a:cxn ang="0">
                <a:pos x="550" y="42"/>
              </a:cxn>
            </a:cxnLst>
            <a:rect l="txL" t="txT" r="txR" b="txB"/>
            <a:pathLst>
              <a:path w="1340" h="1191">
                <a:moveTo>
                  <a:pt x="550" y="42"/>
                </a:moveTo>
                <a:cubicBezTo>
                  <a:pt x="437" y="4"/>
                  <a:pt x="164" y="0"/>
                  <a:pt x="82" y="60"/>
                </a:cubicBezTo>
                <a:cubicBezTo>
                  <a:pt x="0" y="120"/>
                  <a:pt x="67" y="292"/>
                  <a:pt x="58" y="402"/>
                </a:cubicBezTo>
                <a:cubicBezTo>
                  <a:pt x="49" y="512"/>
                  <a:pt x="19" y="642"/>
                  <a:pt x="28" y="720"/>
                </a:cubicBezTo>
                <a:cubicBezTo>
                  <a:pt x="37" y="798"/>
                  <a:pt x="27" y="844"/>
                  <a:pt x="112" y="870"/>
                </a:cubicBezTo>
                <a:cubicBezTo>
                  <a:pt x="197" y="896"/>
                  <a:pt x="450" y="833"/>
                  <a:pt x="538" y="876"/>
                </a:cubicBezTo>
                <a:cubicBezTo>
                  <a:pt x="626" y="919"/>
                  <a:pt x="524" y="1091"/>
                  <a:pt x="640" y="1128"/>
                </a:cubicBezTo>
                <a:cubicBezTo>
                  <a:pt x="756" y="1165"/>
                  <a:pt x="1128" y="1191"/>
                  <a:pt x="1234" y="1098"/>
                </a:cubicBezTo>
                <a:cubicBezTo>
                  <a:pt x="1340" y="1005"/>
                  <a:pt x="1281" y="696"/>
                  <a:pt x="1276" y="570"/>
                </a:cubicBezTo>
                <a:cubicBezTo>
                  <a:pt x="1271" y="444"/>
                  <a:pt x="1290" y="389"/>
                  <a:pt x="1204" y="342"/>
                </a:cubicBezTo>
                <a:cubicBezTo>
                  <a:pt x="1118" y="295"/>
                  <a:pt x="868" y="338"/>
                  <a:pt x="760" y="288"/>
                </a:cubicBezTo>
                <a:cubicBezTo>
                  <a:pt x="652" y="238"/>
                  <a:pt x="663" y="80"/>
                  <a:pt x="550" y="42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47" name="Freeform 7"/>
          <p:cNvSpPr/>
          <p:nvPr/>
        </p:nvSpPr>
        <p:spPr>
          <a:xfrm>
            <a:off x="5276850" y="3327400"/>
            <a:ext cx="2974975" cy="2219325"/>
          </a:xfrm>
          <a:custGeom>
            <a:avLst/>
            <a:gdLst>
              <a:gd name="txL" fmla="*/ 0 w 2135"/>
              <a:gd name="txT" fmla="*/ 0 h 1662"/>
              <a:gd name="txR" fmla="*/ 2135 w 2135"/>
              <a:gd name="txB" fmla="*/ 1662 h 1662"/>
            </a:gdLst>
            <a:ahLst/>
            <a:cxnLst>
              <a:cxn ang="0">
                <a:pos x="27" y="652"/>
              </a:cxn>
              <a:cxn ang="0">
                <a:pos x="105" y="76"/>
              </a:cxn>
              <a:cxn ang="0">
                <a:pos x="657" y="196"/>
              </a:cxn>
              <a:cxn ang="0">
                <a:pos x="1209" y="100"/>
              </a:cxn>
              <a:cxn ang="0">
                <a:pos x="2001" y="406"/>
              </a:cxn>
              <a:cxn ang="0">
                <a:pos x="2013" y="1144"/>
              </a:cxn>
              <a:cxn ang="0">
                <a:pos x="1581" y="1600"/>
              </a:cxn>
              <a:cxn ang="0">
                <a:pos x="813" y="1516"/>
              </a:cxn>
              <a:cxn ang="0">
                <a:pos x="501" y="1270"/>
              </a:cxn>
              <a:cxn ang="0">
                <a:pos x="183" y="1066"/>
              </a:cxn>
              <a:cxn ang="0">
                <a:pos x="27" y="652"/>
              </a:cxn>
            </a:cxnLst>
            <a:rect l="txL" t="txT" r="txR" b="txB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1048" name="Group 8"/>
          <p:cNvGrpSpPr/>
          <p:nvPr/>
        </p:nvGrpSpPr>
        <p:grpSpPr>
          <a:xfrm>
            <a:off x="5026025" y="2011363"/>
            <a:ext cx="733425" cy="319087"/>
            <a:chOff x="3552" y="246"/>
            <a:chExt cx="527" cy="248"/>
          </a:xfrm>
        </p:grpSpPr>
        <p:graphicFrame>
          <p:nvGraphicFramePr>
            <p:cNvPr id="1039" name="Object 9"/>
            <p:cNvGraphicFramePr/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0" name="" r:id="rId1" imgW="1305560" imgH="1082675" progId="MS_ClipArt_Gallery.2">
                    <p:embed/>
                  </p:oleObj>
                </mc:Choice>
                <mc:Fallback>
                  <p:oleObj name="" r:id="rId1" imgW="1305560" imgH="1082675" progId="MS_ClipArt_Gallery.2">
                    <p:embed/>
                    <p:pic>
                      <p:nvPicPr>
                        <p:cNvPr id="0" name="图片 3089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40" name="Object 10"/>
            <p:cNvGraphicFramePr/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" r:id="rId3" imgW="676910" imgH="476885" progId="MS_ClipArt_Gallery.2">
                    <p:embed/>
                  </p:oleObj>
                </mc:Choice>
                <mc:Fallback>
                  <p:oleObj name="" r:id="rId3" imgW="676910" imgH="476885" progId="MS_ClipArt_Gallery.2">
                    <p:embed/>
                    <p:pic>
                      <p:nvPicPr>
                        <p:cNvPr id="0" name="图片 3088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5" name="Line 11"/>
            <p:cNvSpPr/>
            <p:nvPr/>
          </p:nvSpPr>
          <p:spPr>
            <a:xfrm flipV="1">
              <a:off x="3844" y="434"/>
              <a:ext cx="8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49" name="Group 12"/>
          <p:cNvGrpSpPr/>
          <p:nvPr/>
        </p:nvGrpSpPr>
        <p:grpSpPr>
          <a:xfrm>
            <a:off x="5026025" y="2606675"/>
            <a:ext cx="733425" cy="319088"/>
            <a:chOff x="3552" y="246"/>
            <a:chExt cx="527" cy="248"/>
          </a:xfrm>
        </p:grpSpPr>
        <p:graphicFrame>
          <p:nvGraphicFramePr>
            <p:cNvPr id="1037" name="Object 13"/>
            <p:cNvGraphicFramePr/>
            <p:nvPr/>
          </p:nvGraphicFramePr>
          <p:xfrm>
            <a:off x="3552" y="246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7" name="" r:id="rId5" imgW="1305560" imgH="1082675" progId="MS_ClipArt_Gallery.2">
                    <p:embed/>
                  </p:oleObj>
                </mc:Choice>
                <mc:Fallback>
                  <p:oleObj name="" r:id="rId5" imgW="1305560" imgH="1082675" progId="MS_ClipArt_Gallery.2">
                    <p:embed/>
                    <p:pic>
                      <p:nvPicPr>
                        <p:cNvPr id="0" name="图片 308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52" y="246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8" name="Object 14"/>
            <p:cNvGraphicFramePr/>
            <p:nvPr/>
          </p:nvGraphicFramePr>
          <p:xfrm>
            <a:off x="3878" y="338"/>
            <a:ext cx="201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" r:id="rId6" imgW="676910" imgH="476885" progId="MS_ClipArt_Gallery.2">
                    <p:embed/>
                  </p:oleObj>
                </mc:Choice>
                <mc:Fallback>
                  <p:oleObj name="" r:id="rId6" imgW="676910" imgH="476885" progId="MS_ClipArt_Gallery.2">
                    <p:embed/>
                    <p:pic>
                      <p:nvPicPr>
                        <p:cNvPr id="0" name="图片 3087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3878" y="338"/>
                          <a:ext cx="201" cy="144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44" name="Line 15"/>
            <p:cNvSpPr/>
            <p:nvPr/>
          </p:nvSpPr>
          <p:spPr>
            <a:xfrm flipV="1">
              <a:off x="3844" y="434"/>
              <a:ext cx="8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pSp>
        <p:nvGrpSpPr>
          <p:cNvPr id="1050" name="Group 16"/>
          <p:cNvGrpSpPr/>
          <p:nvPr/>
        </p:nvGrpSpPr>
        <p:grpSpPr>
          <a:xfrm>
            <a:off x="5402263" y="2393950"/>
            <a:ext cx="69850" cy="214313"/>
            <a:chOff x="3842" y="406"/>
            <a:chExt cx="51" cy="167"/>
          </a:xfrm>
        </p:grpSpPr>
        <p:sp>
          <p:nvSpPr>
            <p:cNvPr id="1441" name="Oval 17"/>
            <p:cNvSpPr/>
            <p:nvPr/>
          </p:nvSpPr>
          <p:spPr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42" name="Oval 18"/>
            <p:cNvSpPr/>
            <p:nvPr/>
          </p:nvSpPr>
          <p:spPr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43" name="Oval 19"/>
            <p:cNvSpPr/>
            <p:nvPr/>
          </p:nvSpPr>
          <p:spPr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51" name="Group 20"/>
          <p:cNvGrpSpPr/>
          <p:nvPr/>
        </p:nvGrpSpPr>
        <p:grpSpPr>
          <a:xfrm>
            <a:off x="5872163" y="2897188"/>
            <a:ext cx="209550" cy="395287"/>
            <a:chOff x="4180" y="783"/>
            <a:chExt cx="150" cy="307"/>
          </a:xfrm>
        </p:grpSpPr>
        <p:sp>
          <p:nvSpPr>
            <p:cNvPr id="1433" name="AutoShape 21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4" name="Rectangle 22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5" name="Rectangle 23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6" name="AutoShape 24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7" name="Line 25"/>
            <p:cNvSpPr/>
            <p:nvPr/>
          </p:nvSpPr>
          <p:spPr>
            <a:xfrm>
              <a:off x="4330" y="788"/>
              <a:ext cx="0" cy="2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8" name="Line 26"/>
            <p:cNvSpPr/>
            <p:nvPr/>
          </p:nvSpPr>
          <p:spPr>
            <a:xfrm flipH="1">
              <a:off x="4276" y="1019"/>
              <a:ext cx="54" cy="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39" name="Rectangle 27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40" name="Rectangle 28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52" name="Group 29"/>
          <p:cNvGrpSpPr/>
          <p:nvPr/>
        </p:nvGrpSpPr>
        <p:grpSpPr>
          <a:xfrm rot="-5400000">
            <a:off x="6184900" y="2974975"/>
            <a:ext cx="80963" cy="233363"/>
            <a:chOff x="3842" y="406"/>
            <a:chExt cx="51" cy="167"/>
          </a:xfrm>
        </p:grpSpPr>
        <p:sp>
          <p:nvSpPr>
            <p:cNvPr id="1430" name="Oval 30"/>
            <p:cNvSpPr/>
            <p:nvPr/>
          </p:nvSpPr>
          <p:spPr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1" name="Oval 31"/>
            <p:cNvSpPr/>
            <p:nvPr/>
          </p:nvSpPr>
          <p:spPr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32" name="Oval 32"/>
            <p:cNvSpPr/>
            <p:nvPr/>
          </p:nvSpPr>
          <p:spPr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53" name="Line 33"/>
          <p:cNvSpPr/>
          <p:nvPr/>
        </p:nvSpPr>
        <p:spPr>
          <a:xfrm>
            <a:off x="6008688" y="2805113"/>
            <a:ext cx="495300" cy="15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54" name="Line 34"/>
          <p:cNvSpPr/>
          <p:nvPr/>
        </p:nvSpPr>
        <p:spPr>
          <a:xfrm>
            <a:off x="6011863" y="2801938"/>
            <a:ext cx="1587" cy="952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55" name="Line 35"/>
          <p:cNvSpPr/>
          <p:nvPr/>
        </p:nvSpPr>
        <p:spPr>
          <a:xfrm>
            <a:off x="6507163" y="2800350"/>
            <a:ext cx="1587" cy="8255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56" name="Line 36"/>
          <p:cNvSpPr/>
          <p:nvPr/>
        </p:nvSpPr>
        <p:spPr>
          <a:xfrm>
            <a:off x="5708650" y="2265363"/>
            <a:ext cx="288925" cy="2651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57" name="Line 37"/>
          <p:cNvSpPr/>
          <p:nvPr/>
        </p:nvSpPr>
        <p:spPr>
          <a:xfrm flipV="1">
            <a:off x="5721350" y="2551113"/>
            <a:ext cx="276225" cy="3302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58" name="Line 38"/>
          <p:cNvSpPr/>
          <p:nvPr/>
        </p:nvSpPr>
        <p:spPr>
          <a:xfrm flipV="1">
            <a:off x="6248400" y="2636838"/>
            <a:ext cx="1588" cy="1635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059" name="Group 39"/>
          <p:cNvGrpSpPr/>
          <p:nvPr/>
        </p:nvGrpSpPr>
        <p:grpSpPr>
          <a:xfrm>
            <a:off x="6367463" y="2874963"/>
            <a:ext cx="209550" cy="395287"/>
            <a:chOff x="4180" y="783"/>
            <a:chExt cx="150" cy="307"/>
          </a:xfrm>
        </p:grpSpPr>
        <p:sp>
          <p:nvSpPr>
            <p:cNvPr id="1422" name="AutoShape 40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23" name="Rectangle 41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24" name="Rectangle 42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25" name="AutoShape 43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26" name="Line 44"/>
            <p:cNvSpPr/>
            <p:nvPr/>
          </p:nvSpPr>
          <p:spPr>
            <a:xfrm>
              <a:off x="4330" y="788"/>
              <a:ext cx="0" cy="2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27" name="Line 45"/>
            <p:cNvSpPr/>
            <p:nvPr/>
          </p:nvSpPr>
          <p:spPr>
            <a:xfrm flipH="1">
              <a:off x="4276" y="1019"/>
              <a:ext cx="54" cy="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28" name="Rectangle 46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29" name="Rectangle 47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60" name="Group 48"/>
          <p:cNvGrpSpPr/>
          <p:nvPr/>
        </p:nvGrpSpPr>
        <p:grpSpPr>
          <a:xfrm>
            <a:off x="5410200" y="3494088"/>
            <a:ext cx="479425" cy="925512"/>
            <a:chOff x="3314" y="1248"/>
            <a:chExt cx="344" cy="694"/>
          </a:xfrm>
        </p:grpSpPr>
        <p:graphicFrame>
          <p:nvGraphicFramePr>
            <p:cNvPr id="1035" name="Object 49"/>
            <p:cNvGraphicFramePr/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8" name="" r:id="rId7" imgW="1305560" imgH="1082675" progId="MS_ClipArt_Gallery.2">
                    <p:embed/>
                  </p:oleObj>
                </mc:Choice>
                <mc:Fallback>
                  <p:oleObj name="" r:id="rId7" imgW="1305560" imgH="1082675" progId="MS_ClipArt_Gallery.2">
                    <p:embed/>
                    <p:pic>
                      <p:nvPicPr>
                        <p:cNvPr id="0" name="图片 307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5" name="Line 50"/>
            <p:cNvSpPr/>
            <p:nvPr/>
          </p:nvSpPr>
          <p:spPr>
            <a:xfrm flipV="1">
              <a:off x="3606" y="1433"/>
              <a:ext cx="5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1036" name="Object 51"/>
            <p:cNvGraphicFramePr/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7" name="" r:id="rId8" imgW="1305560" imgH="1082675" progId="MS_ClipArt_Gallery.2">
                    <p:embed/>
                  </p:oleObj>
                </mc:Choice>
                <mc:Fallback>
                  <p:oleObj name="" r:id="rId8" imgW="1305560" imgH="1082675" progId="MS_ClipArt_Gallery.2">
                    <p:embed/>
                    <p:pic>
                      <p:nvPicPr>
                        <p:cNvPr id="0" name="图片 307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6" name="Line 52"/>
            <p:cNvSpPr/>
            <p:nvPr/>
          </p:nvSpPr>
          <p:spPr>
            <a:xfrm flipV="1">
              <a:off x="3606" y="1882"/>
              <a:ext cx="5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1417" name="Group 53"/>
            <p:cNvGrpSpPr/>
            <p:nvPr/>
          </p:nvGrpSpPr>
          <p:grpSpPr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1419" name="Oval 54"/>
              <p:cNvSpPr/>
              <p:nvPr/>
            </p:nvSpPr>
            <p:spPr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420" name="Oval 55"/>
              <p:cNvSpPr/>
              <p:nvPr/>
            </p:nvSpPr>
            <p:spPr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421" name="Oval 56"/>
              <p:cNvSpPr/>
              <p:nvPr/>
            </p:nvSpPr>
            <p:spPr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1418" name="Line 57"/>
            <p:cNvSpPr/>
            <p:nvPr/>
          </p:nvSpPr>
          <p:spPr>
            <a:xfrm>
              <a:off x="3654" y="1431"/>
              <a:ext cx="0" cy="4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graphicFrame>
        <p:nvGraphicFramePr>
          <p:cNvPr id="1026" name="Object 58"/>
          <p:cNvGraphicFramePr/>
          <p:nvPr/>
        </p:nvGraphicFramePr>
        <p:xfrm>
          <a:off x="6278563" y="4503738"/>
          <a:ext cx="417512" cy="331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9" imgW="1305560" imgH="1082675" progId="MS_ClipArt_Gallery.2">
                  <p:embed/>
                </p:oleObj>
              </mc:Choice>
              <mc:Fallback>
                <p:oleObj name="" r:id="rId9" imgW="1305560" imgH="1082675" progId="MS_ClipArt_Gallery.2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278563" y="4503738"/>
                        <a:ext cx="417512" cy="331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59"/>
          <p:cNvGraphicFramePr/>
          <p:nvPr/>
        </p:nvGraphicFramePr>
        <p:xfrm>
          <a:off x="5664200" y="4492625"/>
          <a:ext cx="415925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10" imgW="1305560" imgH="1082675" progId="MS_ClipArt_Gallery.2">
                  <p:embed/>
                </p:oleObj>
              </mc:Choice>
              <mc:Fallback>
                <p:oleObj name="" r:id="rId10" imgW="1305560" imgH="1082675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64200" y="4492625"/>
                        <a:ext cx="415925" cy="330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1" name="Oval 60"/>
          <p:cNvSpPr/>
          <p:nvPr/>
        </p:nvSpPr>
        <p:spPr>
          <a:xfrm rot="-5400000">
            <a:off x="6080125" y="4595813"/>
            <a:ext cx="63500" cy="65087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62" name="Oval 61"/>
          <p:cNvSpPr/>
          <p:nvPr/>
        </p:nvSpPr>
        <p:spPr>
          <a:xfrm rot="-5400000">
            <a:off x="6165850" y="4594225"/>
            <a:ext cx="63500" cy="66675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63" name="Oval 62"/>
          <p:cNvSpPr/>
          <p:nvPr/>
        </p:nvSpPr>
        <p:spPr>
          <a:xfrm rot="-5400000">
            <a:off x="6243638" y="4598988"/>
            <a:ext cx="61912" cy="65087"/>
          </a:xfrm>
          <a:prstGeom prst="ellipse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64" name="Line 63"/>
          <p:cNvSpPr/>
          <p:nvPr/>
        </p:nvSpPr>
        <p:spPr>
          <a:xfrm rot="-5400000">
            <a:off x="6502400" y="4478338"/>
            <a:ext cx="60325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5" name="Line 64"/>
          <p:cNvSpPr/>
          <p:nvPr/>
        </p:nvSpPr>
        <p:spPr>
          <a:xfrm rot="5400000" flipH="1">
            <a:off x="5876925" y="4470400"/>
            <a:ext cx="6350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6" name="Line 65"/>
          <p:cNvSpPr/>
          <p:nvPr/>
        </p:nvSpPr>
        <p:spPr>
          <a:xfrm rot="-5400000" flipV="1">
            <a:off x="6223000" y="4130675"/>
            <a:ext cx="0" cy="62706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7" name="Line 66"/>
          <p:cNvSpPr/>
          <p:nvPr/>
        </p:nvSpPr>
        <p:spPr>
          <a:xfrm flipV="1">
            <a:off x="5889625" y="4070350"/>
            <a:ext cx="93663" cy="3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8" name="Line 67"/>
          <p:cNvSpPr/>
          <p:nvPr/>
        </p:nvSpPr>
        <p:spPr>
          <a:xfrm>
            <a:off x="6491288" y="4116388"/>
            <a:ext cx="303212" cy="3857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69" name="Line 68"/>
          <p:cNvSpPr/>
          <p:nvPr/>
        </p:nvSpPr>
        <p:spPr>
          <a:xfrm flipH="1">
            <a:off x="7286625" y="4113213"/>
            <a:ext cx="279400" cy="3921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028" name="Object 69"/>
          <p:cNvGraphicFramePr/>
          <p:nvPr/>
        </p:nvGraphicFramePr>
        <p:xfrm>
          <a:off x="7464425" y="3665538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1" imgW="981075" imgH="1206500" progId="MS_ClipArt_Gallery.2">
                  <p:embed/>
                </p:oleObj>
              </mc:Choice>
              <mc:Fallback>
                <p:oleObj name="" r:id="rId11" imgW="981075" imgH="1206500" progId="MS_ClipArt_Gallery.2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7464425" y="3665538"/>
                        <a:ext cx="203200" cy="2413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9" name="Object 70"/>
          <p:cNvGraphicFramePr/>
          <p:nvPr/>
        </p:nvGraphicFramePr>
        <p:xfrm>
          <a:off x="6127750" y="3746500"/>
          <a:ext cx="203200" cy="239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3" imgW="981075" imgH="1206500" progId="MS_ClipArt_Gallery.2">
                  <p:embed/>
                </p:oleObj>
              </mc:Choice>
              <mc:Fallback>
                <p:oleObj name="" r:id="rId13" imgW="981075" imgH="1206500" progId="MS_ClipArt_Gallery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127750" y="3746500"/>
                        <a:ext cx="203200" cy="23971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70" name="Group 72"/>
          <p:cNvGrpSpPr/>
          <p:nvPr/>
        </p:nvGrpSpPr>
        <p:grpSpPr>
          <a:xfrm>
            <a:off x="6475413" y="4943475"/>
            <a:ext cx="406400" cy="427038"/>
            <a:chOff x="2870" y="1518"/>
            <a:chExt cx="292" cy="320"/>
          </a:xfrm>
        </p:grpSpPr>
        <p:graphicFrame>
          <p:nvGraphicFramePr>
            <p:cNvPr id="1033" name="Object 73"/>
            <p:cNvGraphicFramePr/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6" name="" r:id="rId14" imgW="819150" imgH="832485" progId="MS_ClipArt_Gallery.2">
                    <p:embed/>
                  </p:oleObj>
                </mc:Choice>
                <mc:Fallback>
                  <p:oleObj name="" r:id="rId14" imgW="819150" imgH="832485" progId="MS_ClipArt_Gallery.2">
                    <p:embed/>
                    <p:pic>
                      <p:nvPicPr>
                        <p:cNvPr id="0" name="图片 3085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4" name="Object 74"/>
            <p:cNvGraphicFramePr/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0" name="" r:id="rId16" imgW="1266190" imgH="1197610" progId="MS_ClipArt_Gallery.2">
                    <p:embed/>
                  </p:oleObj>
                </mc:Choice>
                <mc:Fallback>
                  <p:oleObj name="" r:id="rId16" imgW="1266190" imgH="1197610" progId="MS_ClipArt_Gallery.2">
                    <p:embed/>
                    <p:pic>
                      <p:nvPicPr>
                        <p:cNvPr id="0" name="图片 3079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1" name="Group 75"/>
          <p:cNvGrpSpPr/>
          <p:nvPr/>
        </p:nvGrpSpPr>
        <p:grpSpPr>
          <a:xfrm>
            <a:off x="7253288" y="4975225"/>
            <a:ext cx="406400" cy="427038"/>
            <a:chOff x="2870" y="1518"/>
            <a:chExt cx="292" cy="320"/>
          </a:xfrm>
        </p:grpSpPr>
        <p:graphicFrame>
          <p:nvGraphicFramePr>
            <p:cNvPr id="1031" name="Object 76"/>
            <p:cNvGraphicFramePr/>
            <p:nvPr/>
          </p:nvGraphicFramePr>
          <p:xfrm>
            <a:off x="2870" y="1518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1" name="" r:id="rId18" imgW="819150" imgH="832485" progId="MS_ClipArt_Gallery.2">
                    <p:embed/>
                  </p:oleObj>
                </mc:Choice>
                <mc:Fallback>
                  <p:oleObj name="" r:id="rId18" imgW="819150" imgH="832485" progId="MS_ClipArt_Gallery.2">
                    <p:embed/>
                    <p:pic>
                      <p:nvPicPr>
                        <p:cNvPr id="0" name="图片 3080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2870" y="1518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32" name="Object 77"/>
            <p:cNvGraphicFramePr/>
            <p:nvPr/>
          </p:nvGraphicFramePr>
          <p:xfrm>
            <a:off x="2913" y="1602"/>
            <a:ext cx="249" cy="2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2" name="" r:id="rId19" imgW="1266190" imgH="1197610" progId="MS_ClipArt_Gallery.2">
                    <p:embed/>
                  </p:oleObj>
                </mc:Choice>
                <mc:Fallback>
                  <p:oleObj name="" r:id="rId19" imgW="1266190" imgH="1197610" progId="MS_ClipArt_Gallery.2">
                    <p:embed/>
                    <p:pic>
                      <p:nvPicPr>
                        <p:cNvPr id="0" name="图片 3081"/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2913" y="1602"/>
                          <a:ext cx="249" cy="23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72" name="Group 78"/>
          <p:cNvGrpSpPr/>
          <p:nvPr/>
        </p:nvGrpSpPr>
        <p:grpSpPr>
          <a:xfrm>
            <a:off x="6838950" y="4691063"/>
            <a:ext cx="379413" cy="376237"/>
            <a:chOff x="4733" y="2082"/>
            <a:chExt cx="272" cy="282"/>
          </a:xfrm>
        </p:grpSpPr>
        <p:graphicFrame>
          <p:nvGraphicFramePr>
            <p:cNvPr id="1030" name="Object 79"/>
            <p:cNvGraphicFramePr/>
            <p:nvPr/>
          </p:nvGraphicFramePr>
          <p:xfrm>
            <a:off x="4733" y="2082"/>
            <a:ext cx="272" cy="2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20" imgW="819150" imgH="832485" progId="MS_ClipArt_Gallery.2">
                    <p:embed/>
                  </p:oleObj>
                </mc:Choice>
                <mc:Fallback>
                  <p:oleObj name="" r:id="rId20" imgW="819150" imgH="832485" progId="MS_ClipArt_Gallery.2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4733" y="2082"/>
                          <a:ext cx="272" cy="28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14" name="Rectangle 80"/>
            <p:cNvSpPr/>
            <p:nvPr/>
          </p:nvSpPr>
          <p:spPr>
            <a:xfrm>
              <a:off x="4812" y="2181"/>
              <a:ext cx="192" cy="183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73" name="Line 81"/>
          <p:cNvSpPr/>
          <p:nvPr/>
        </p:nvSpPr>
        <p:spPr>
          <a:xfrm>
            <a:off x="7145338" y="4594225"/>
            <a:ext cx="0" cy="2286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074" name="Group 82"/>
          <p:cNvGrpSpPr/>
          <p:nvPr/>
        </p:nvGrpSpPr>
        <p:grpSpPr>
          <a:xfrm>
            <a:off x="7866063" y="4017963"/>
            <a:ext cx="207962" cy="409575"/>
            <a:chOff x="4180" y="783"/>
            <a:chExt cx="150" cy="307"/>
          </a:xfrm>
        </p:grpSpPr>
        <p:sp>
          <p:nvSpPr>
            <p:cNvPr id="1406" name="AutoShape 83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7" name="Rectangle 84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8" name="Rectangle 85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9" name="AutoShape 86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10" name="Line 87"/>
            <p:cNvSpPr/>
            <p:nvPr/>
          </p:nvSpPr>
          <p:spPr>
            <a:xfrm>
              <a:off x="4330" y="788"/>
              <a:ext cx="0" cy="2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1" name="Line 88"/>
            <p:cNvSpPr/>
            <p:nvPr/>
          </p:nvSpPr>
          <p:spPr>
            <a:xfrm flipH="1">
              <a:off x="4276" y="1019"/>
              <a:ext cx="54" cy="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12" name="Rectangle 89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13" name="Rectangle 90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075" name="Group 91"/>
          <p:cNvGrpSpPr/>
          <p:nvPr/>
        </p:nvGrpSpPr>
        <p:grpSpPr>
          <a:xfrm>
            <a:off x="7853363" y="4462463"/>
            <a:ext cx="207962" cy="409575"/>
            <a:chOff x="4180" y="783"/>
            <a:chExt cx="150" cy="307"/>
          </a:xfrm>
        </p:grpSpPr>
        <p:sp>
          <p:nvSpPr>
            <p:cNvPr id="1398" name="AutoShape 92"/>
            <p:cNvSpPr/>
            <p:nvPr/>
          </p:nvSpPr>
          <p:spPr>
            <a:xfrm>
              <a:off x="4180" y="1019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99" name="Rectangle 93"/>
            <p:cNvSpPr/>
            <p:nvPr/>
          </p:nvSpPr>
          <p:spPr>
            <a:xfrm>
              <a:off x="4256" y="785"/>
              <a:ext cx="69" cy="236"/>
            </a:xfrm>
            <a:prstGeom prst="rect">
              <a:avLst/>
            </a:prstGeom>
            <a:solidFill>
              <a:srgbClr val="33CCCC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0" name="Rectangle 94"/>
            <p:cNvSpPr/>
            <p:nvPr/>
          </p:nvSpPr>
          <p:spPr>
            <a:xfrm>
              <a:off x="4181" y="852"/>
              <a:ext cx="95" cy="236"/>
            </a:xfrm>
            <a:prstGeom prst="rect">
              <a:avLst/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1" name="AutoShape 95"/>
            <p:cNvSpPr/>
            <p:nvPr/>
          </p:nvSpPr>
          <p:spPr>
            <a:xfrm>
              <a:off x="4180" y="783"/>
              <a:ext cx="150" cy="71"/>
            </a:xfrm>
            <a:prstGeom prst="parallelogram">
              <a:avLst>
                <a:gd name="adj" fmla="val 81386"/>
              </a:avLst>
            </a:prstGeom>
            <a:solidFill>
              <a:srgbClr val="33CCCC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2" name="Line 96"/>
            <p:cNvSpPr/>
            <p:nvPr/>
          </p:nvSpPr>
          <p:spPr>
            <a:xfrm>
              <a:off x="4330" y="788"/>
              <a:ext cx="0" cy="23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03" name="Line 97"/>
            <p:cNvSpPr/>
            <p:nvPr/>
          </p:nvSpPr>
          <p:spPr>
            <a:xfrm flipH="1">
              <a:off x="4276" y="1019"/>
              <a:ext cx="54" cy="69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404" name="Rectangle 98"/>
            <p:cNvSpPr/>
            <p:nvPr/>
          </p:nvSpPr>
          <p:spPr>
            <a:xfrm>
              <a:off x="4193" y="883"/>
              <a:ext cx="63" cy="136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405" name="Rectangle 99"/>
            <p:cNvSpPr/>
            <p:nvPr/>
          </p:nvSpPr>
          <p:spPr>
            <a:xfrm>
              <a:off x="4202" y="924"/>
              <a:ext cx="48" cy="48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076" name="Line 100"/>
          <p:cNvSpPr/>
          <p:nvPr/>
        </p:nvSpPr>
        <p:spPr>
          <a:xfrm rot="5400000" flipH="1">
            <a:off x="7478713" y="4391025"/>
            <a:ext cx="611187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7" name="Line 101"/>
          <p:cNvSpPr/>
          <p:nvPr/>
        </p:nvSpPr>
        <p:spPr>
          <a:xfrm rot="-5400000">
            <a:off x="7832725" y="4643438"/>
            <a:ext cx="0" cy="10318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8" name="Line 102"/>
          <p:cNvSpPr/>
          <p:nvPr/>
        </p:nvSpPr>
        <p:spPr>
          <a:xfrm rot="-5400000">
            <a:off x="7823200" y="4175125"/>
            <a:ext cx="0" cy="88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79" name="Line 103"/>
          <p:cNvSpPr/>
          <p:nvPr/>
        </p:nvSpPr>
        <p:spPr>
          <a:xfrm flipV="1">
            <a:off x="6502400" y="2316163"/>
            <a:ext cx="458788" cy="2079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0" name="Line 104"/>
          <p:cNvSpPr/>
          <p:nvPr/>
        </p:nvSpPr>
        <p:spPr>
          <a:xfrm>
            <a:off x="7437438" y="2300288"/>
            <a:ext cx="485775" cy="2079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1" name="Line 105"/>
          <p:cNvSpPr/>
          <p:nvPr/>
        </p:nvSpPr>
        <p:spPr>
          <a:xfrm flipH="1">
            <a:off x="7956550" y="2636838"/>
            <a:ext cx="241300" cy="6810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2" name="Line 106"/>
          <p:cNvSpPr/>
          <p:nvPr/>
        </p:nvSpPr>
        <p:spPr>
          <a:xfrm>
            <a:off x="7186613" y="2413000"/>
            <a:ext cx="0" cy="4318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3" name="Line 107"/>
          <p:cNvSpPr/>
          <p:nvPr/>
        </p:nvSpPr>
        <p:spPr>
          <a:xfrm>
            <a:off x="7212013" y="3060700"/>
            <a:ext cx="534987" cy="3683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4" name="Line 108"/>
          <p:cNvSpPr/>
          <p:nvPr/>
        </p:nvSpPr>
        <p:spPr>
          <a:xfrm flipH="1">
            <a:off x="7672388" y="3525838"/>
            <a:ext cx="266700" cy="36036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5" name="Line 109"/>
          <p:cNvSpPr/>
          <p:nvPr/>
        </p:nvSpPr>
        <p:spPr>
          <a:xfrm flipH="1">
            <a:off x="7445375" y="2605088"/>
            <a:ext cx="560388" cy="384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6" name="Line 110"/>
          <p:cNvSpPr/>
          <p:nvPr/>
        </p:nvSpPr>
        <p:spPr>
          <a:xfrm flipH="1">
            <a:off x="7454900" y="2044700"/>
            <a:ext cx="350838" cy="2555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87" name="Line 111"/>
          <p:cNvSpPr/>
          <p:nvPr/>
        </p:nvSpPr>
        <p:spPr>
          <a:xfrm flipH="1">
            <a:off x="8172450" y="2220913"/>
            <a:ext cx="201613" cy="176212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088" name="Group 112"/>
          <p:cNvGrpSpPr/>
          <p:nvPr/>
        </p:nvGrpSpPr>
        <p:grpSpPr>
          <a:xfrm>
            <a:off x="5983288" y="2413000"/>
            <a:ext cx="501650" cy="233363"/>
            <a:chOff x="3600" y="219"/>
            <a:chExt cx="360" cy="175"/>
          </a:xfrm>
        </p:grpSpPr>
        <p:sp>
          <p:nvSpPr>
            <p:cNvPr id="1385" name="Oval 11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86" name="Line 114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87" name="Line 115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88" name="Rectangle 116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89" name="Oval 117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90" name="Group 118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95" name="Line 11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96" name="Line 12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97" name="Line 12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91" name="Group 122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92" name="Line 12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93" name="Line 12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94" name="Line 12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89" name="Group 126"/>
          <p:cNvGrpSpPr/>
          <p:nvPr/>
        </p:nvGrpSpPr>
        <p:grpSpPr>
          <a:xfrm>
            <a:off x="6935788" y="2184400"/>
            <a:ext cx="501650" cy="233363"/>
            <a:chOff x="3600" y="219"/>
            <a:chExt cx="360" cy="175"/>
          </a:xfrm>
        </p:grpSpPr>
        <p:sp>
          <p:nvSpPr>
            <p:cNvPr id="1372" name="Oval 127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73" name="Line 128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74" name="Line 129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75" name="Rectangle 130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76" name="Oval 131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77" name="Group 132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82" name="Line 13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3" name="Line 13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4" name="Line 13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78" name="Group 136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79" name="Line 13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0" name="Line 13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81" name="Line 13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0" name="Group 140"/>
          <p:cNvGrpSpPr/>
          <p:nvPr/>
        </p:nvGrpSpPr>
        <p:grpSpPr>
          <a:xfrm>
            <a:off x="6953250" y="2841625"/>
            <a:ext cx="501650" cy="233363"/>
            <a:chOff x="3600" y="219"/>
            <a:chExt cx="360" cy="175"/>
          </a:xfrm>
        </p:grpSpPr>
        <p:sp>
          <p:nvSpPr>
            <p:cNvPr id="1359" name="Oval 14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60" name="Line 14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61" name="Line 14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62" name="Rectangle 14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63" name="Oval 14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64" name="Group 14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69" name="Line 14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70" name="Line 14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71" name="Line 14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65" name="Group 15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66" name="Line 15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67" name="Line 15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68" name="Line 15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1" name="Group 154"/>
          <p:cNvGrpSpPr/>
          <p:nvPr/>
        </p:nvGrpSpPr>
        <p:grpSpPr>
          <a:xfrm>
            <a:off x="7923213" y="2392363"/>
            <a:ext cx="500062" cy="233362"/>
            <a:chOff x="3600" y="219"/>
            <a:chExt cx="360" cy="175"/>
          </a:xfrm>
        </p:grpSpPr>
        <p:sp>
          <p:nvSpPr>
            <p:cNvPr id="1346" name="Oval 155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47" name="Line 156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48" name="Line 157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49" name="Rectangle 158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50" name="Oval 159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51" name="Group 160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56" name="Line 16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7" name="Line 16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8" name="Line 16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52" name="Group 164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53" name="Line 16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4" name="Line 16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55" name="Line 16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2" name="Group 168"/>
          <p:cNvGrpSpPr/>
          <p:nvPr/>
        </p:nvGrpSpPr>
        <p:grpSpPr>
          <a:xfrm>
            <a:off x="7729538" y="3289300"/>
            <a:ext cx="501650" cy="233363"/>
            <a:chOff x="3600" y="219"/>
            <a:chExt cx="360" cy="175"/>
          </a:xfrm>
        </p:grpSpPr>
        <p:sp>
          <p:nvSpPr>
            <p:cNvPr id="1333" name="Oval 169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34" name="Line 170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5" name="Line 171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36" name="Rectangle 172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37" name="Oval 173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38" name="Group 174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43" name="Line 17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44" name="Line 17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45" name="Line 17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39" name="Group 178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40" name="Line 17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41" name="Line 18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42" name="Line 18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3" name="Group 182"/>
          <p:cNvGrpSpPr/>
          <p:nvPr/>
        </p:nvGrpSpPr>
        <p:grpSpPr>
          <a:xfrm>
            <a:off x="7396163" y="3873500"/>
            <a:ext cx="501650" cy="234950"/>
            <a:chOff x="3600" y="219"/>
            <a:chExt cx="360" cy="175"/>
          </a:xfrm>
        </p:grpSpPr>
        <p:sp>
          <p:nvSpPr>
            <p:cNvPr id="1320" name="Oval 18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21" name="Line 184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2" name="Line 185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23" name="Rectangle 186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24" name="Oval 187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25" name="Group 188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30" name="Line 18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1" name="Line 19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32" name="Line 19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26" name="Group 192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27" name="Line 19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8" name="Line 19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29" name="Line 19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4" name="Group 196"/>
          <p:cNvGrpSpPr/>
          <p:nvPr/>
        </p:nvGrpSpPr>
        <p:grpSpPr>
          <a:xfrm>
            <a:off x="6786563" y="4362450"/>
            <a:ext cx="500062" cy="233363"/>
            <a:chOff x="3600" y="219"/>
            <a:chExt cx="360" cy="175"/>
          </a:xfrm>
        </p:grpSpPr>
        <p:sp>
          <p:nvSpPr>
            <p:cNvPr id="1307" name="Oval 197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308" name="Line 198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09" name="Line 199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310" name="Rectangle 200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311" name="Oval 201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312" name="Group 202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17" name="Line 20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18" name="Line 20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19" name="Line 20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13" name="Group 206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14" name="Line 20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15" name="Line 20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16" name="Line 20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095" name="Group 210"/>
          <p:cNvGrpSpPr/>
          <p:nvPr/>
        </p:nvGrpSpPr>
        <p:grpSpPr>
          <a:xfrm>
            <a:off x="5983288" y="3986213"/>
            <a:ext cx="501650" cy="233362"/>
            <a:chOff x="3600" y="219"/>
            <a:chExt cx="360" cy="175"/>
          </a:xfrm>
        </p:grpSpPr>
        <p:sp>
          <p:nvSpPr>
            <p:cNvPr id="1294" name="Oval 21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295" name="Line 21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96" name="Line 21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97" name="Rectangle 21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98" name="Oval 21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99" name="Group 21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304" name="Line 21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05" name="Line 21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06" name="Line 21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300" name="Group 22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301" name="Line 22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02" name="Line 22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303" name="Line 22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96" name="Line 224"/>
          <p:cNvSpPr/>
          <p:nvPr/>
        </p:nvSpPr>
        <p:spPr>
          <a:xfrm flipV="1">
            <a:off x="6238875" y="4198938"/>
            <a:ext cx="1588" cy="2492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35495" name="Group 500"/>
          <p:cNvGrpSpPr/>
          <p:nvPr/>
        </p:nvGrpSpPr>
        <p:grpSpPr>
          <a:xfrm>
            <a:off x="5807075" y="1909763"/>
            <a:ext cx="2809875" cy="2973387"/>
            <a:chOff x="3658" y="1203"/>
            <a:chExt cx="1770" cy="1873"/>
          </a:xfrm>
        </p:grpSpPr>
        <p:grpSp>
          <p:nvGrpSpPr>
            <p:cNvPr id="1118" name="Group 344"/>
            <p:cNvGrpSpPr/>
            <p:nvPr/>
          </p:nvGrpSpPr>
          <p:grpSpPr>
            <a:xfrm>
              <a:off x="3712" y="2313"/>
              <a:ext cx="513" cy="442"/>
              <a:chOff x="3937" y="633"/>
              <a:chExt cx="513" cy="442"/>
            </a:xfrm>
          </p:grpSpPr>
          <p:sp>
            <p:nvSpPr>
              <p:cNvPr id="1273" name="Line 320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4" name="Line 323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5" name="Oval 325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76" name="Line 326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7" name="Line 327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78" name="Rectangle 328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79" name="Oval 329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80" name="Group 330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291" name="Line 33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92" name="Line 33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93" name="Line 33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81" name="Group 334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288" name="Line 33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89" name="Line 33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90" name="Line 33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82" name="Rectangle 338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83" name="Rectangle 339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84" name="Line 340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5" name="Line 341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86" name="Rectangle 342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87" name="Text Box 343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19" name="Group 345"/>
            <p:cNvGrpSpPr/>
            <p:nvPr/>
          </p:nvGrpSpPr>
          <p:grpSpPr>
            <a:xfrm>
              <a:off x="4261" y="1671"/>
              <a:ext cx="513" cy="442"/>
              <a:chOff x="3937" y="633"/>
              <a:chExt cx="513" cy="442"/>
            </a:xfrm>
          </p:grpSpPr>
          <p:sp>
            <p:nvSpPr>
              <p:cNvPr id="1252" name="Line 346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3" name="Line 347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4" name="Oval 348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55" name="Line 349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6" name="Line 350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57" name="Rectangle 351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58" name="Oval 352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59" name="Group 353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270" name="Line 35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71" name="Line 35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72" name="Line 35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60" name="Group 357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267" name="Line 35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68" name="Line 35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69" name="Line 36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61" name="Rectangle 361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62" name="Rectangle 362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63" name="Line 363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64" name="Line 364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65" name="Rectangle 365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66" name="Text Box 366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0" name="Group 367"/>
            <p:cNvGrpSpPr/>
            <p:nvPr/>
          </p:nvGrpSpPr>
          <p:grpSpPr>
            <a:xfrm>
              <a:off x="4270" y="1203"/>
              <a:ext cx="513" cy="442"/>
              <a:chOff x="3937" y="633"/>
              <a:chExt cx="513" cy="442"/>
            </a:xfrm>
          </p:grpSpPr>
          <p:sp>
            <p:nvSpPr>
              <p:cNvPr id="1231" name="Line 368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2" name="Line 369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3" name="Oval 370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4" name="Line 371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5" name="Line 372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6" name="Rectangle 373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37" name="Oval 374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38" name="Group 375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249" name="Line 37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50" name="Line 37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51" name="Line 37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9" name="Group 379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246" name="Line 38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47" name="Line 38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48" name="Line 38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40" name="Rectangle 383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1" name="Rectangle 384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2" name="Line 385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43" name="Line 386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44" name="Rectangle 387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45" name="Text Box 388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1" name="Group 389"/>
            <p:cNvGrpSpPr/>
            <p:nvPr/>
          </p:nvGrpSpPr>
          <p:grpSpPr>
            <a:xfrm>
              <a:off x="4477" y="2241"/>
              <a:ext cx="513" cy="442"/>
              <a:chOff x="3937" y="633"/>
              <a:chExt cx="513" cy="442"/>
            </a:xfrm>
          </p:grpSpPr>
          <p:sp>
            <p:nvSpPr>
              <p:cNvPr id="1210" name="Line 390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11" name="Line 391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12" name="Oval 392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13" name="Line 393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14" name="Line 394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15" name="Rectangle 395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16" name="Oval 396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17" name="Group 397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228" name="Line 39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29" name="Line 39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30" name="Line 40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18" name="Group 401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225" name="Line 40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26" name="Line 40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27" name="Line 40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219" name="Rectangle 405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20" name="Rectangle 406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21" name="Line 407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22" name="Line 408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23" name="Rectangle 409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24" name="Text Box 410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2" name="Group 411"/>
            <p:cNvGrpSpPr/>
            <p:nvPr/>
          </p:nvGrpSpPr>
          <p:grpSpPr>
            <a:xfrm>
              <a:off x="4786" y="1860"/>
              <a:ext cx="513" cy="442"/>
              <a:chOff x="3937" y="633"/>
              <a:chExt cx="513" cy="442"/>
            </a:xfrm>
          </p:grpSpPr>
          <p:sp>
            <p:nvSpPr>
              <p:cNvPr id="1189" name="Line 412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0" name="Line 413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1" name="Oval 414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92" name="Line 415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3" name="Line 416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94" name="Rectangle 417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95" name="Oval 418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196" name="Group 419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207" name="Line 42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08" name="Line 42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09" name="Line 42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97" name="Group 423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204" name="Line 42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05" name="Line 42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06" name="Line 42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98" name="Rectangle 427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99" name="Rectangle 428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00" name="Line 429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01" name="Line 430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02" name="Rectangle 431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03" name="Text Box 432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3" name="Group 433"/>
            <p:cNvGrpSpPr/>
            <p:nvPr/>
          </p:nvGrpSpPr>
          <p:grpSpPr>
            <a:xfrm>
              <a:off x="4915" y="1323"/>
              <a:ext cx="513" cy="442"/>
              <a:chOff x="3937" y="633"/>
              <a:chExt cx="513" cy="442"/>
            </a:xfrm>
          </p:grpSpPr>
          <p:sp>
            <p:nvSpPr>
              <p:cNvPr id="1168" name="Line 434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69" name="Line 435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0" name="Oval 436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71" name="Line 437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2" name="Line 438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73" name="Rectangle 439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74" name="Oval 440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175" name="Group 441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186" name="Line 44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87" name="Line 44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88" name="Line 44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76" name="Group 445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183" name="Line 44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84" name="Line 44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85" name="Line 44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77" name="Rectangle 449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78" name="Rectangle 450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79" name="Line 451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80" name="Line 452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81" name="Rectangle 453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82" name="Text Box 454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4" name="Group 455"/>
            <p:cNvGrpSpPr/>
            <p:nvPr/>
          </p:nvGrpSpPr>
          <p:grpSpPr>
            <a:xfrm>
              <a:off x="4189" y="2634"/>
              <a:ext cx="513" cy="442"/>
              <a:chOff x="3937" y="633"/>
              <a:chExt cx="513" cy="442"/>
            </a:xfrm>
          </p:grpSpPr>
          <p:sp>
            <p:nvSpPr>
              <p:cNvPr id="1147" name="Line 456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48" name="Line 457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49" name="Oval 458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0" name="Line 459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51" name="Line 460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52" name="Rectangle 461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53" name="Oval 462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154" name="Group 463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165" name="Line 464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66" name="Line 465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67" name="Line 466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55" name="Group 467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162" name="Line 468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63" name="Line 469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64" name="Line 470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56" name="Rectangle 471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7" name="Rectangle 472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58" name="Line 473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59" name="Line 474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60" name="Rectangle 475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61" name="Text Box 476"/>
              <p:cNvSpPr txBox="1"/>
              <p:nvPr/>
            </p:nvSpPr>
            <p:spPr>
              <a:xfrm>
                <a:off x="3937" y="633"/>
                <a:ext cx="513" cy="4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1125" name="Group 478"/>
            <p:cNvGrpSpPr/>
            <p:nvPr/>
          </p:nvGrpSpPr>
          <p:grpSpPr>
            <a:xfrm>
              <a:off x="3658" y="1308"/>
              <a:ext cx="513" cy="445"/>
              <a:chOff x="3937" y="633"/>
              <a:chExt cx="513" cy="445"/>
            </a:xfrm>
          </p:grpSpPr>
          <p:sp>
            <p:nvSpPr>
              <p:cNvPr id="1126" name="Line 479"/>
              <p:cNvSpPr/>
              <p:nvPr/>
            </p:nvSpPr>
            <p:spPr>
              <a:xfrm>
                <a:off x="4061" y="1035"/>
                <a:ext cx="312" cy="1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7" name="Line 480"/>
              <p:cNvSpPr/>
              <p:nvPr/>
            </p:nvSpPr>
            <p:spPr>
              <a:xfrm flipV="1">
                <a:off x="4212" y="929"/>
                <a:ext cx="1" cy="10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28" name="Oval 481"/>
              <p:cNvSpPr/>
              <p:nvPr/>
            </p:nvSpPr>
            <p:spPr>
              <a:xfrm>
                <a:off x="4048" y="854"/>
                <a:ext cx="313" cy="81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29" name="Line 482"/>
              <p:cNvSpPr/>
              <p:nvPr/>
            </p:nvSpPr>
            <p:spPr>
              <a:xfrm>
                <a:off x="4048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" name="Line 483"/>
              <p:cNvSpPr/>
              <p:nvPr/>
            </p:nvSpPr>
            <p:spPr>
              <a:xfrm>
                <a:off x="4361" y="847"/>
                <a:ext cx="0" cy="5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" name="Rectangle 484"/>
              <p:cNvSpPr/>
              <p:nvPr/>
            </p:nvSpPr>
            <p:spPr>
              <a:xfrm>
                <a:off x="4048" y="847"/>
                <a:ext cx="310" cy="4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32" name="Oval 485"/>
              <p:cNvSpPr/>
              <p:nvPr/>
            </p:nvSpPr>
            <p:spPr>
              <a:xfrm>
                <a:off x="4045" y="788"/>
                <a:ext cx="313" cy="95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133" name="Group 486"/>
              <p:cNvGrpSpPr/>
              <p:nvPr/>
            </p:nvGrpSpPr>
            <p:grpSpPr>
              <a:xfrm>
                <a:off x="4120" y="809"/>
                <a:ext cx="156" cy="55"/>
                <a:chOff x="2848" y="848"/>
                <a:chExt cx="140" cy="98"/>
              </a:xfrm>
            </p:grpSpPr>
            <p:sp>
              <p:nvSpPr>
                <p:cNvPr id="1144" name="Line 48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45" name="Line 48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46" name="Line 48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134" name="Group 490"/>
              <p:cNvGrpSpPr/>
              <p:nvPr/>
            </p:nvGrpSpPr>
            <p:grpSpPr>
              <a:xfrm flipV="1">
                <a:off x="4120" y="808"/>
                <a:ext cx="156" cy="56"/>
                <a:chOff x="2848" y="848"/>
                <a:chExt cx="140" cy="98"/>
              </a:xfrm>
            </p:grpSpPr>
            <p:sp>
              <p:nvSpPr>
                <p:cNvPr id="1141" name="Line 49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42" name="Line 49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143" name="Line 49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sp>
            <p:nvSpPr>
              <p:cNvPr id="1135" name="Rectangle 494"/>
              <p:cNvSpPr/>
              <p:nvPr/>
            </p:nvSpPr>
            <p:spPr>
              <a:xfrm>
                <a:off x="3996" y="732"/>
                <a:ext cx="426" cy="3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36" name="Rectangle 495"/>
              <p:cNvSpPr/>
              <p:nvPr/>
            </p:nvSpPr>
            <p:spPr>
              <a:xfrm>
                <a:off x="3969" y="753"/>
                <a:ext cx="435" cy="312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37" name="Line 496"/>
              <p:cNvSpPr/>
              <p:nvPr/>
            </p:nvSpPr>
            <p:spPr>
              <a:xfrm>
                <a:off x="3966" y="945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8" name="Line 497"/>
              <p:cNvSpPr/>
              <p:nvPr/>
            </p:nvSpPr>
            <p:spPr>
              <a:xfrm>
                <a:off x="3972" y="849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9" name="Rectangle 498"/>
              <p:cNvSpPr/>
              <p:nvPr/>
            </p:nvSpPr>
            <p:spPr>
              <a:xfrm>
                <a:off x="3966" y="756"/>
                <a:ext cx="435" cy="93"/>
              </a:xfrm>
              <a:prstGeom prst="rect">
                <a:avLst/>
              </a:prstGeom>
              <a:solidFill>
                <a:srgbClr val="FF0000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40" name="Text Box 499"/>
              <p:cNvSpPr txBox="1"/>
              <p:nvPr/>
            </p:nvSpPr>
            <p:spPr>
              <a:xfrm>
                <a:off x="3937" y="633"/>
                <a:ext cx="513" cy="44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zh-CN" altLang="en-US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网络层</a:t>
                </a:r>
                <a:endParaRPr lang="zh-CN" altLang="en-US" sz="1000" dirty="0">
                  <a:solidFill>
                    <a:schemeClr val="bg1"/>
                  </a:solidFill>
                  <a:latin typeface="Comic Sans MS" panose="030F0702030302020204" pitchFamily="66" charset="0"/>
                </a:endParaRPr>
              </a:p>
              <a:p>
                <a:pPr algn="ctr"/>
                <a:r>
                  <a:rPr lang="zh-CN" altLang="en-US" sz="1000" dirty="0">
                    <a:latin typeface="Comic Sans MS" panose="030F0702030302020204" pitchFamily="66" charset="0"/>
                  </a:rPr>
                  <a:t>数据链层</a:t>
                </a:r>
                <a:endParaRPr lang="zh-CN" altLang="en-US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zh-CN" altLang="en-US" sz="1000" dirty="0">
                    <a:latin typeface="Comic Sans MS" panose="030F0702030302020204" pitchFamily="66" charset="0"/>
                  </a:rPr>
                  <a:t>物理层</a:t>
                </a:r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34817" name="Group 501"/>
          <p:cNvGrpSpPr/>
          <p:nvPr/>
        </p:nvGrpSpPr>
        <p:grpSpPr>
          <a:xfrm>
            <a:off x="4692650" y="1538288"/>
            <a:ext cx="3767138" cy="3783012"/>
            <a:chOff x="2956" y="969"/>
            <a:chExt cx="2373" cy="2383"/>
          </a:xfrm>
        </p:grpSpPr>
        <p:grpSp>
          <p:nvGrpSpPr>
            <p:cNvPr id="1100" name="Group 309"/>
            <p:cNvGrpSpPr/>
            <p:nvPr/>
          </p:nvGrpSpPr>
          <p:grpSpPr>
            <a:xfrm>
              <a:off x="2956" y="969"/>
              <a:ext cx="513" cy="547"/>
              <a:chOff x="2956" y="969"/>
              <a:chExt cx="513" cy="547"/>
            </a:xfrm>
          </p:grpSpPr>
          <p:sp>
            <p:nvSpPr>
              <p:cNvPr id="1110" name="Rectangle 227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11" name="Rectangle 228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12" name="Rectangle 229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13" name="Text Box 230"/>
              <p:cNvSpPr txBox="1"/>
              <p:nvPr/>
            </p:nvSpPr>
            <p:spPr>
              <a:xfrm>
                <a:off x="2956" y="978"/>
                <a:ext cx="513" cy="5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14" name="Line 231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5" name="Line 232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6" name="Line 233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17" name="Line 308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01" name="Group 310"/>
            <p:cNvGrpSpPr/>
            <p:nvPr/>
          </p:nvGrpSpPr>
          <p:grpSpPr>
            <a:xfrm>
              <a:off x="4816" y="2805"/>
              <a:ext cx="513" cy="547"/>
              <a:chOff x="2956" y="969"/>
              <a:chExt cx="513" cy="547"/>
            </a:xfrm>
          </p:grpSpPr>
          <p:sp>
            <p:nvSpPr>
              <p:cNvPr id="1102" name="Rectangle 311"/>
              <p:cNvSpPr/>
              <p:nvPr/>
            </p:nvSpPr>
            <p:spPr>
              <a:xfrm>
                <a:off x="3018" y="969"/>
                <a:ext cx="426" cy="48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03" name="Rectangle 312"/>
              <p:cNvSpPr/>
              <p:nvPr/>
            </p:nvSpPr>
            <p:spPr>
              <a:xfrm>
                <a:off x="2997" y="984"/>
                <a:ext cx="435" cy="504"/>
              </a:xfrm>
              <a:prstGeom prst="rect">
                <a:avLst/>
              </a:prstGeom>
              <a:solidFill>
                <a:schemeClr val="bg1"/>
              </a:solidFill>
              <a:ln w="1270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04" name="Rectangle 313"/>
              <p:cNvSpPr/>
              <p:nvPr/>
            </p:nvSpPr>
            <p:spPr>
              <a:xfrm>
                <a:off x="3000" y="1185"/>
                <a:ext cx="432" cy="108"/>
              </a:xfrm>
              <a:prstGeom prst="rect">
                <a:avLst/>
              </a:prstGeom>
              <a:solidFill>
                <a:srgbClr val="FF0000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105" name="Text Box 314"/>
              <p:cNvSpPr txBox="1"/>
              <p:nvPr/>
            </p:nvSpPr>
            <p:spPr>
              <a:xfrm>
                <a:off x="2956" y="978"/>
                <a:ext cx="513" cy="53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application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transport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solidFill>
                      <a:schemeClr val="bg1"/>
                    </a:solidFill>
                    <a:latin typeface="Comic Sans MS" panose="030F0702030302020204" pitchFamily="66" charset="0"/>
                  </a:rPr>
                  <a:t>network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data link</a:t>
                </a:r>
                <a:endParaRPr lang="en-US" altLang="zh-CN" sz="1000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sz="1000" dirty="0">
                    <a:latin typeface="Comic Sans MS" panose="030F0702030302020204" pitchFamily="66" charset="0"/>
                  </a:rPr>
                  <a:t>physical</a:t>
                </a:r>
                <a:endParaRPr lang="en-US" altLang="zh-CN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06" name="Line 315"/>
              <p:cNvSpPr/>
              <p:nvPr/>
            </p:nvSpPr>
            <p:spPr>
              <a:xfrm>
                <a:off x="2997" y="119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7" name="Line 316"/>
              <p:cNvSpPr/>
              <p:nvPr/>
            </p:nvSpPr>
            <p:spPr>
              <a:xfrm>
                <a:off x="3003" y="1290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8" name="Line 317"/>
              <p:cNvSpPr/>
              <p:nvPr/>
            </p:nvSpPr>
            <p:spPr>
              <a:xfrm>
                <a:off x="3003" y="1374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09" name="Line 318"/>
              <p:cNvSpPr/>
              <p:nvPr/>
            </p:nvSpPr>
            <p:spPr>
              <a:xfrm>
                <a:off x="3003" y="1092"/>
                <a:ext cx="435" cy="3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8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35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843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843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关键的网络层功能</a:t>
            </a:r>
            <a:endParaRPr lang="en-US" altLang="zh-CN" dirty="0"/>
          </a:p>
        </p:txBody>
      </p:sp>
      <p:sp>
        <p:nvSpPr>
          <p:cNvPr id="18437" name="Rectangle 3"/>
          <p:cNvSpPr>
            <a:spLocks noGrp="1"/>
          </p:cNvSpPr>
          <p:nvPr>
            <p:ph idx="1"/>
          </p:nvPr>
        </p:nvSpPr>
        <p:spPr>
          <a:xfrm>
            <a:off x="379413" y="1625600"/>
            <a:ext cx="4192587" cy="4648200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i="1" dirty="0">
                <a:solidFill>
                  <a:schemeClr val="accent2"/>
                </a:solidFill>
              </a:rPr>
              <a:t>转发</a:t>
            </a:r>
            <a:r>
              <a:rPr lang="en-US" altLang="zh-CN" i="1" dirty="0">
                <a:solidFill>
                  <a:schemeClr val="accent2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将分组从路由器的输入移动到适当的路由器输出</a:t>
            </a:r>
            <a:endParaRPr lang="en-US" altLang="zh-CN" dirty="0"/>
          </a:p>
          <a:p>
            <a:pPr eaLnBrk="1">
              <a:spcBef>
                <a:spcPct val="70000"/>
              </a:spcBef>
            </a:pPr>
            <a:r>
              <a:rPr lang="zh-CN" altLang="en-US" i="1" dirty="0">
                <a:solidFill>
                  <a:schemeClr val="accent2"/>
                </a:solidFill>
              </a:rPr>
              <a:t>选路</a:t>
            </a:r>
            <a:r>
              <a:rPr lang="en-US" altLang="zh-CN" i="1" dirty="0">
                <a:solidFill>
                  <a:schemeClr val="accent2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决定分组从源到目的地所采用的路由</a:t>
            </a:r>
            <a:endParaRPr lang="en-US" altLang="zh-CN" dirty="0"/>
          </a:p>
          <a:p>
            <a:pPr lvl="1" eaLnBrk="1">
              <a:spcBef>
                <a:spcPct val="70000"/>
              </a:spcBef>
            </a:pPr>
            <a:r>
              <a:rPr lang="zh-CN" altLang="en-US" i="1" dirty="0"/>
              <a:t>选路算法</a:t>
            </a:r>
            <a:endParaRPr lang="zh-CN" altLang="en-US" dirty="0"/>
          </a:p>
          <a:p>
            <a:pPr eaLnBrk="1">
              <a:buNone/>
            </a:pPr>
            <a:endParaRPr lang="zh-CN" altLang="en-US" dirty="0"/>
          </a:p>
        </p:txBody>
      </p:sp>
      <p:sp>
        <p:nvSpPr>
          <p:cNvPr id="18438" name="Rectangle 4"/>
          <p:cNvSpPr/>
          <p:nvPr/>
        </p:nvSpPr>
        <p:spPr>
          <a:xfrm>
            <a:off x="4706938" y="1611313"/>
            <a:ext cx="4192587" cy="46482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>
              <a:spcBef>
                <a:spcPct val="7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8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类比</a:t>
            </a:r>
            <a:r>
              <a:rPr lang="en-US" altLang="zh-CN" sz="28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:</a:t>
            </a:r>
            <a:endParaRPr lang="en-US" altLang="zh-CN" sz="2800" u="sng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7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选路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规划从源到目的地路径的过程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7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zh-CN" altLang="en-US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转发</a:t>
            </a:r>
            <a:r>
              <a:rPr lang="en-US" altLang="zh-CN" sz="2800" dirty="0">
                <a:solidFill>
                  <a:schemeClr val="accent2"/>
                </a:solidFill>
                <a:latin typeface="Times New Roman" panose="02020603050405020304" pitchFamily="18" charset="0"/>
              </a:rPr>
              <a:t>: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</a:rPr>
              <a:t>通过单个立交桥的过程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2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9459" name="灯片编号占位符 3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9460" name="Freeform 2"/>
          <p:cNvSpPr/>
          <p:nvPr/>
        </p:nvSpPr>
        <p:spPr>
          <a:xfrm>
            <a:off x="3894138" y="4270375"/>
            <a:ext cx="2847975" cy="1481138"/>
          </a:xfrm>
          <a:custGeom>
            <a:avLst/>
            <a:gdLst>
              <a:gd name="txL" fmla="*/ 0 w 1794"/>
              <a:gd name="txT" fmla="*/ 0 h 933"/>
              <a:gd name="txR" fmla="*/ 1794 w 1794"/>
              <a:gd name="txB" fmla="*/ 933 h 933"/>
            </a:gdLst>
            <a:ahLst/>
            <a:cxnLst>
              <a:cxn ang="0">
                <a:pos x="6" y="483"/>
              </a:cxn>
              <a:cxn ang="0">
                <a:pos x="108" y="125"/>
              </a:cxn>
              <a:cxn ang="0">
                <a:pos x="559" y="100"/>
              </a:cxn>
              <a:cxn ang="0">
                <a:pos x="1128" y="29"/>
              </a:cxn>
              <a:cxn ang="0">
                <a:pos x="1716" y="275"/>
              </a:cxn>
              <a:cxn ang="0">
                <a:pos x="1596" y="827"/>
              </a:cxn>
              <a:cxn ang="0">
                <a:pos x="1380" y="911"/>
              </a:cxn>
              <a:cxn ang="0">
                <a:pos x="840" y="929"/>
              </a:cxn>
              <a:cxn ang="0">
                <a:pos x="414" y="911"/>
              </a:cxn>
              <a:cxn ang="0">
                <a:pos x="143" y="832"/>
              </a:cxn>
              <a:cxn ang="0">
                <a:pos x="6" y="483"/>
              </a:cxn>
            </a:cxnLst>
            <a:rect l="txL" t="txT" r="txR" b="txB"/>
            <a:pathLst>
              <a:path w="1794" h="933">
                <a:moveTo>
                  <a:pt x="6" y="483"/>
                </a:moveTo>
                <a:cubicBezTo>
                  <a:pt x="0" y="365"/>
                  <a:pt x="16" y="189"/>
                  <a:pt x="108" y="125"/>
                </a:cubicBezTo>
                <a:cubicBezTo>
                  <a:pt x="200" y="61"/>
                  <a:pt x="389" y="116"/>
                  <a:pt x="559" y="100"/>
                </a:cubicBezTo>
                <a:cubicBezTo>
                  <a:pt x="729" y="84"/>
                  <a:pt x="935" y="0"/>
                  <a:pt x="1128" y="29"/>
                </a:cubicBezTo>
                <a:cubicBezTo>
                  <a:pt x="1321" y="58"/>
                  <a:pt x="1638" y="142"/>
                  <a:pt x="1716" y="275"/>
                </a:cubicBezTo>
                <a:cubicBezTo>
                  <a:pt x="1794" y="408"/>
                  <a:pt x="1652" y="721"/>
                  <a:pt x="1596" y="827"/>
                </a:cubicBezTo>
                <a:cubicBezTo>
                  <a:pt x="1540" y="933"/>
                  <a:pt x="1506" y="894"/>
                  <a:pt x="1380" y="911"/>
                </a:cubicBezTo>
                <a:cubicBezTo>
                  <a:pt x="1254" y="928"/>
                  <a:pt x="1001" y="929"/>
                  <a:pt x="840" y="929"/>
                </a:cubicBezTo>
                <a:cubicBezTo>
                  <a:pt x="679" y="929"/>
                  <a:pt x="530" y="927"/>
                  <a:pt x="414" y="911"/>
                </a:cubicBezTo>
                <a:cubicBezTo>
                  <a:pt x="298" y="895"/>
                  <a:pt x="211" y="903"/>
                  <a:pt x="143" y="832"/>
                </a:cubicBezTo>
                <a:cubicBezTo>
                  <a:pt x="75" y="761"/>
                  <a:pt x="4" y="624"/>
                  <a:pt x="6" y="483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61" name="Rectangle 4"/>
          <p:cNvSpPr/>
          <p:nvPr/>
        </p:nvSpPr>
        <p:spPr>
          <a:xfrm>
            <a:off x="2390775" y="1208088"/>
            <a:ext cx="2317750" cy="2333625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25989" name="Oval 5"/>
          <p:cNvSpPr/>
          <p:nvPr/>
        </p:nvSpPr>
        <p:spPr>
          <a:xfrm>
            <a:off x="2516188" y="1260475"/>
            <a:ext cx="2095500" cy="604838"/>
          </a:xfrm>
          <a:prstGeom prst="ellipse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63" name="Freeform 6"/>
          <p:cNvSpPr/>
          <p:nvPr/>
        </p:nvSpPr>
        <p:spPr>
          <a:xfrm>
            <a:off x="4532313" y="4573588"/>
            <a:ext cx="542925" cy="295275"/>
          </a:xfrm>
          <a:custGeom>
            <a:avLst/>
            <a:gdLst>
              <a:gd name="txL" fmla="*/ 0 w 342"/>
              <a:gd name="txT" fmla="*/ 0 h 186"/>
              <a:gd name="txR" fmla="*/ 342 w 342"/>
              <a:gd name="txB" fmla="*/ 186 h 186"/>
            </a:gdLst>
            <a:ahLst/>
            <a:cxnLst>
              <a:cxn ang="0">
                <a:pos x="0" y="186"/>
              </a:cxn>
              <a:cxn ang="0">
                <a:pos x="342" y="0"/>
              </a:cxn>
            </a:cxnLst>
            <a:rect l="txL" t="txT" r="txR" b="txB"/>
            <a:pathLst>
              <a:path w="342" h="186">
                <a:moveTo>
                  <a:pt x="0" y="186"/>
                </a:moveTo>
                <a:lnTo>
                  <a:pt x="342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19464" name="Group 7"/>
          <p:cNvGrpSpPr/>
          <p:nvPr/>
        </p:nvGrpSpPr>
        <p:grpSpPr>
          <a:xfrm>
            <a:off x="4038600" y="4748213"/>
            <a:ext cx="501650" cy="233362"/>
            <a:chOff x="3600" y="219"/>
            <a:chExt cx="360" cy="175"/>
          </a:xfrm>
        </p:grpSpPr>
        <p:sp>
          <p:nvSpPr>
            <p:cNvPr id="19612" name="Oval 8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613" name="Line 9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14" name="Line 1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15" name="Rectangle 11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616" name="Oval 12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617" name="Group 1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622" name="Line 1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3" name="Line 1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4" name="Line 16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618" name="Group 1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619" name="Line 1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0" name="Line 1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21" name="Line 20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5" name="Group 21"/>
          <p:cNvGrpSpPr/>
          <p:nvPr/>
        </p:nvGrpSpPr>
        <p:grpSpPr>
          <a:xfrm>
            <a:off x="4391025" y="5386388"/>
            <a:ext cx="501650" cy="233362"/>
            <a:chOff x="3600" y="219"/>
            <a:chExt cx="360" cy="175"/>
          </a:xfrm>
        </p:grpSpPr>
        <p:sp>
          <p:nvSpPr>
            <p:cNvPr id="19599" name="Oval 22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600" name="Line 23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01" name="Line 24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602" name="Rectangle 25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603" name="Oval 26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604" name="Group 27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609" name="Line 2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0" name="Line 2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11" name="Line 30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605" name="Group 31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606" name="Line 3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7" name="Line 3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608" name="Line 3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6" name="Group 35"/>
          <p:cNvGrpSpPr/>
          <p:nvPr/>
        </p:nvGrpSpPr>
        <p:grpSpPr>
          <a:xfrm>
            <a:off x="5065713" y="4443413"/>
            <a:ext cx="501650" cy="233362"/>
            <a:chOff x="3600" y="219"/>
            <a:chExt cx="360" cy="175"/>
          </a:xfrm>
        </p:grpSpPr>
        <p:sp>
          <p:nvSpPr>
            <p:cNvPr id="19586" name="Oval 3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87" name="Line 37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88" name="Line 3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89" name="Rectangle 39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90" name="Oval 40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591" name="Group 4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96" name="Line 4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7" name="Line 4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8" name="Line 4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92" name="Group 4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93" name="Line 4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4" name="Line 4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95" name="Line 4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7" name="Group 49"/>
          <p:cNvGrpSpPr/>
          <p:nvPr/>
        </p:nvGrpSpPr>
        <p:grpSpPr>
          <a:xfrm>
            <a:off x="4987925" y="5108575"/>
            <a:ext cx="500063" cy="233363"/>
            <a:chOff x="3600" y="219"/>
            <a:chExt cx="360" cy="175"/>
          </a:xfrm>
        </p:grpSpPr>
        <p:sp>
          <p:nvSpPr>
            <p:cNvPr id="19573" name="Oval 50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74" name="Line 51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75" name="Line 52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76" name="Rectangle 5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77" name="Oval 54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578" name="Group 55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83" name="Line 5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4" name="Line 5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5" name="Line 5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79" name="Group 59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80" name="Line 6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1" name="Line 6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82" name="Line 62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8" name="Group 63"/>
          <p:cNvGrpSpPr/>
          <p:nvPr/>
        </p:nvGrpSpPr>
        <p:grpSpPr>
          <a:xfrm>
            <a:off x="5622925" y="5405438"/>
            <a:ext cx="501650" cy="233362"/>
            <a:chOff x="3600" y="219"/>
            <a:chExt cx="360" cy="175"/>
          </a:xfrm>
        </p:grpSpPr>
        <p:sp>
          <p:nvSpPr>
            <p:cNvPr id="19560" name="Oval 64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61" name="Line 65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62" name="Line 66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63" name="Rectangle 67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64" name="Oval 68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565" name="Group 69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70" name="Line 7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1" name="Line 7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72" name="Line 72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66" name="Group 73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67" name="Line 7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8" name="Line 7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69" name="Line 76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19469" name="Group 77"/>
          <p:cNvGrpSpPr/>
          <p:nvPr/>
        </p:nvGrpSpPr>
        <p:grpSpPr>
          <a:xfrm>
            <a:off x="6067425" y="4749800"/>
            <a:ext cx="501650" cy="233363"/>
            <a:chOff x="3600" y="219"/>
            <a:chExt cx="360" cy="175"/>
          </a:xfrm>
        </p:grpSpPr>
        <p:sp>
          <p:nvSpPr>
            <p:cNvPr id="19547" name="Oval 78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48" name="Line 79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49" name="Line 8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50" name="Rectangle 81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9551" name="Oval 82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9552" name="Group 8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9557" name="Line 8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8" name="Line 8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9" name="Line 86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9553" name="Group 8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9554" name="Line 8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5" name="Line 8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9556" name="Line 90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9470" name="Freeform 91"/>
          <p:cNvSpPr/>
          <p:nvPr/>
        </p:nvSpPr>
        <p:spPr>
          <a:xfrm>
            <a:off x="5573713" y="4567238"/>
            <a:ext cx="504825" cy="307975"/>
          </a:xfrm>
          <a:custGeom>
            <a:avLst/>
            <a:gdLst>
              <a:gd name="txL" fmla="*/ 0 w 318"/>
              <a:gd name="txT" fmla="*/ 0 h 194"/>
              <a:gd name="txR" fmla="*/ 318 w 318"/>
              <a:gd name="txB" fmla="*/ 194 h 194"/>
            </a:gdLst>
            <a:ahLst/>
            <a:cxnLst>
              <a:cxn ang="0">
                <a:pos x="0" y="0"/>
              </a:cxn>
              <a:cxn ang="0">
                <a:pos x="318" y="194"/>
              </a:cxn>
            </a:cxnLst>
            <a:rect l="txL" t="txT" r="txR" b="txB"/>
            <a:pathLst>
              <a:path w="318" h="194">
                <a:moveTo>
                  <a:pt x="0" y="0"/>
                </a:moveTo>
                <a:lnTo>
                  <a:pt x="318" y="19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1" name="Freeform 92"/>
          <p:cNvSpPr/>
          <p:nvPr/>
        </p:nvSpPr>
        <p:spPr>
          <a:xfrm>
            <a:off x="4508500" y="4959350"/>
            <a:ext cx="481013" cy="238125"/>
          </a:xfrm>
          <a:custGeom>
            <a:avLst/>
            <a:gdLst>
              <a:gd name="txL" fmla="*/ 0 w 294"/>
              <a:gd name="txT" fmla="*/ 0 h 174"/>
              <a:gd name="txR" fmla="*/ 294 w 294"/>
              <a:gd name="txB" fmla="*/ 174 h 174"/>
            </a:gdLst>
            <a:ahLst/>
            <a:cxnLst>
              <a:cxn ang="0">
                <a:pos x="0" y="0"/>
              </a:cxn>
              <a:cxn ang="0">
                <a:pos x="294" y="174"/>
              </a:cxn>
            </a:cxnLst>
            <a:rect l="txL" t="txT" r="txR" b="txB"/>
            <a:pathLst>
              <a:path w="294" h="174">
                <a:moveTo>
                  <a:pt x="0" y="0"/>
                </a:moveTo>
                <a:lnTo>
                  <a:pt x="294" y="174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2" name="Freeform 93"/>
          <p:cNvSpPr/>
          <p:nvPr/>
        </p:nvSpPr>
        <p:spPr>
          <a:xfrm>
            <a:off x="5456238" y="4935538"/>
            <a:ext cx="628650" cy="247650"/>
          </a:xfrm>
          <a:custGeom>
            <a:avLst/>
            <a:gdLst>
              <a:gd name="txL" fmla="*/ 0 w 378"/>
              <a:gd name="txT" fmla="*/ 0 h 174"/>
              <a:gd name="txR" fmla="*/ 378 w 378"/>
              <a:gd name="txB" fmla="*/ 174 h 174"/>
            </a:gdLst>
            <a:ahLst/>
            <a:cxnLst>
              <a:cxn ang="0">
                <a:pos x="0" y="174"/>
              </a:cxn>
              <a:cxn ang="0">
                <a:pos x="378" y="0"/>
              </a:cxn>
            </a:cxnLst>
            <a:rect l="txL" t="txT" r="txR" b="txB"/>
            <a:pathLst>
              <a:path w="378" h="174">
                <a:moveTo>
                  <a:pt x="0" y="174"/>
                </a:moveTo>
                <a:lnTo>
                  <a:pt x="378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3" name="Freeform 94"/>
          <p:cNvSpPr/>
          <p:nvPr/>
        </p:nvSpPr>
        <p:spPr>
          <a:xfrm>
            <a:off x="6122988" y="4989513"/>
            <a:ext cx="206375" cy="508000"/>
          </a:xfrm>
          <a:custGeom>
            <a:avLst/>
            <a:gdLst>
              <a:gd name="txL" fmla="*/ 0 w 118"/>
              <a:gd name="txT" fmla="*/ 0 h 500"/>
              <a:gd name="txR" fmla="*/ 118 w 118"/>
              <a:gd name="txB" fmla="*/ 500 h 500"/>
            </a:gdLst>
            <a:ahLst/>
            <a:cxnLst>
              <a:cxn ang="0">
                <a:pos x="0" y="500"/>
              </a:cxn>
              <a:cxn ang="0">
                <a:pos x="118" y="0"/>
              </a:cxn>
            </a:cxnLst>
            <a:rect l="txL" t="txT" r="txR" b="txB"/>
            <a:pathLst>
              <a:path w="118" h="500">
                <a:moveTo>
                  <a:pt x="0" y="500"/>
                </a:moveTo>
                <a:lnTo>
                  <a:pt x="118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4" name="Freeform 95"/>
          <p:cNvSpPr/>
          <p:nvPr/>
        </p:nvSpPr>
        <p:spPr>
          <a:xfrm>
            <a:off x="4887913" y="5522913"/>
            <a:ext cx="736600" cy="74612"/>
          </a:xfrm>
          <a:custGeom>
            <a:avLst/>
            <a:gdLst>
              <a:gd name="txL" fmla="*/ 0 w 370"/>
              <a:gd name="txT" fmla="*/ 0 h 32"/>
              <a:gd name="txR" fmla="*/ 370 w 370"/>
              <a:gd name="txB" fmla="*/ 32 h 32"/>
            </a:gdLst>
            <a:ahLst/>
            <a:cxnLst>
              <a:cxn ang="0">
                <a:pos x="370" y="32"/>
              </a:cxn>
              <a:cxn ang="0">
                <a:pos x="0" y="0"/>
              </a:cxn>
            </a:cxnLst>
            <a:rect l="txL" t="txT" r="txR" b="txB"/>
            <a:pathLst>
              <a:path w="370" h="32">
                <a:moveTo>
                  <a:pt x="370" y="32"/>
                </a:move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5" name="Freeform 96"/>
          <p:cNvSpPr/>
          <p:nvPr/>
        </p:nvSpPr>
        <p:spPr>
          <a:xfrm>
            <a:off x="4351338" y="4983163"/>
            <a:ext cx="193675" cy="425450"/>
          </a:xfrm>
          <a:custGeom>
            <a:avLst/>
            <a:gdLst>
              <a:gd name="txL" fmla="*/ 0 w 176"/>
              <a:gd name="txT" fmla="*/ 0 h 412"/>
              <a:gd name="txR" fmla="*/ 176 w 176"/>
              <a:gd name="txB" fmla="*/ 412 h 412"/>
            </a:gdLst>
            <a:ahLst/>
            <a:cxnLst>
              <a:cxn ang="0">
                <a:pos x="162" y="408"/>
              </a:cxn>
              <a:cxn ang="0">
                <a:pos x="176" y="412"/>
              </a:cxn>
              <a:cxn ang="0">
                <a:pos x="0" y="0"/>
              </a:cxn>
            </a:cxnLst>
            <a:rect l="txL" t="txT" r="txR" b="txB"/>
            <a:pathLst>
              <a:path w="176" h="412">
                <a:moveTo>
                  <a:pt x="162" y="408"/>
                </a:moveTo>
                <a:lnTo>
                  <a:pt x="176" y="412"/>
                </a:lnTo>
                <a:lnTo>
                  <a:pt x="0" y="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6" name="Rectangle 97"/>
          <p:cNvSpPr/>
          <p:nvPr/>
        </p:nvSpPr>
        <p:spPr>
          <a:xfrm>
            <a:off x="2460625" y="4597400"/>
            <a:ext cx="1155700" cy="238125"/>
          </a:xfrm>
          <a:prstGeom prst="rect">
            <a:avLst/>
          </a:prstGeom>
          <a:solidFill>
            <a:schemeClr val="bg2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7" name="Rectangle 98"/>
          <p:cNvSpPr/>
          <p:nvPr/>
        </p:nvSpPr>
        <p:spPr>
          <a:xfrm>
            <a:off x="2436813" y="4621213"/>
            <a:ext cx="1147762" cy="238125"/>
          </a:xfrm>
          <a:prstGeom prst="rect">
            <a:avLst/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78" name="Line 99"/>
          <p:cNvSpPr/>
          <p:nvPr/>
        </p:nvSpPr>
        <p:spPr>
          <a:xfrm>
            <a:off x="3462338" y="4752975"/>
            <a:ext cx="422275" cy="0"/>
          </a:xfrm>
          <a:prstGeom prst="line">
            <a:avLst/>
          </a:prstGeom>
          <a:ln w="9525" cap="flat" cmpd="sng">
            <a:solidFill>
              <a:schemeClr val="accent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79" name="Text Box 100"/>
          <p:cNvSpPr txBox="1"/>
          <p:nvPr/>
        </p:nvSpPr>
        <p:spPr>
          <a:xfrm>
            <a:off x="4464050" y="4468813"/>
            <a:ext cx="3111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</a:t>
            </a:r>
            <a:endParaRPr lang="en-US" altLang="zh-CN" dirty="0">
              <a:latin typeface="Arial" panose="020B0604020202020204" pitchFamily="34" charset="0"/>
            </a:endParaRPr>
          </a:p>
        </p:txBody>
      </p:sp>
      <p:sp>
        <p:nvSpPr>
          <p:cNvPr id="19480" name="Text Box 101"/>
          <p:cNvSpPr txBox="1"/>
          <p:nvPr/>
        </p:nvSpPr>
        <p:spPr>
          <a:xfrm>
            <a:off x="4378325" y="4906963"/>
            <a:ext cx="296863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600" dirty="0">
                <a:latin typeface="Arial" panose="020B0604020202020204" pitchFamily="34" charset="0"/>
              </a:rPr>
              <a:t>2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9481" name="Text Box 102"/>
          <p:cNvSpPr txBox="1"/>
          <p:nvPr/>
        </p:nvSpPr>
        <p:spPr>
          <a:xfrm>
            <a:off x="4127500" y="4979988"/>
            <a:ext cx="296863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600" dirty="0">
                <a:latin typeface="Arial" panose="020B0604020202020204" pitchFamily="34" charset="0"/>
              </a:rPr>
              <a:t>3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9482" name="Rectangle 104"/>
          <p:cNvSpPr/>
          <p:nvPr/>
        </p:nvSpPr>
        <p:spPr>
          <a:xfrm>
            <a:off x="3065463" y="4624388"/>
            <a:ext cx="427037" cy="23971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83" name="Text Box 105"/>
          <p:cNvSpPr txBox="1"/>
          <p:nvPr/>
        </p:nvSpPr>
        <p:spPr>
          <a:xfrm>
            <a:off x="3017838" y="4597400"/>
            <a:ext cx="520700" cy="27463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en-US" altLang="zh-CN" sz="1200" dirty="0">
                <a:latin typeface="Arial" panose="020B0604020202020204" pitchFamily="34" charset="0"/>
              </a:rPr>
              <a:t>0111</a:t>
            </a:r>
            <a:endParaRPr lang="en-US" altLang="zh-CN" sz="1200" dirty="0">
              <a:latin typeface="Arial" panose="020B0604020202020204" pitchFamily="34" charset="0"/>
            </a:endParaRPr>
          </a:p>
        </p:txBody>
      </p:sp>
      <p:sp>
        <p:nvSpPr>
          <p:cNvPr id="19484" name="Text Box 106"/>
          <p:cNvSpPr txBox="1"/>
          <p:nvPr/>
        </p:nvSpPr>
        <p:spPr>
          <a:xfrm>
            <a:off x="1301750" y="3914775"/>
            <a:ext cx="18097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eaLnBrk="1" hangingPunct="1"/>
            <a:r>
              <a:rPr lang="zh-CN" altLang="en-US" sz="1600" dirty="0">
                <a:latin typeface="Arial" panose="020B0604020202020204" pitchFamily="34" charset="0"/>
              </a:rPr>
              <a:t>到达分组首部的值</a:t>
            </a:r>
            <a:endParaRPr lang="en-US" altLang="zh-CN" sz="1600" dirty="0">
              <a:latin typeface="Arial" panose="020B0604020202020204" pitchFamily="34" charset="0"/>
            </a:endParaRPr>
          </a:p>
        </p:txBody>
      </p:sp>
      <p:sp>
        <p:nvSpPr>
          <p:cNvPr id="19485" name="Line 107"/>
          <p:cNvSpPr/>
          <p:nvPr/>
        </p:nvSpPr>
        <p:spPr>
          <a:xfrm flipH="1">
            <a:off x="2684463" y="4883150"/>
            <a:ext cx="134937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26092" name="Text Box 108"/>
          <p:cNvSpPr txBox="1"/>
          <p:nvPr/>
        </p:nvSpPr>
        <p:spPr>
          <a:xfrm>
            <a:off x="2644775" y="1417638"/>
            <a:ext cx="1863725" cy="30480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zh-CN" altLang="en-US" sz="1400" dirty="0">
                <a:latin typeface="Arial" panose="020B0604020202020204" pitchFamily="34" charset="0"/>
              </a:rPr>
              <a:t>选路算法</a:t>
            </a:r>
            <a:endParaRPr lang="en-US" altLang="zh-CN" sz="1400" dirty="0">
              <a:latin typeface="Arial" panose="020B0604020202020204" pitchFamily="34" charset="0"/>
            </a:endParaRPr>
          </a:p>
        </p:txBody>
      </p:sp>
      <p:grpSp>
        <p:nvGrpSpPr>
          <p:cNvPr id="19487" name="Group 168"/>
          <p:cNvGrpSpPr/>
          <p:nvPr/>
        </p:nvGrpSpPr>
        <p:grpSpPr>
          <a:xfrm>
            <a:off x="2400300" y="2106613"/>
            <a:ext cx="2290763" cy="2722562"/>
            <a:chOff x="1512" y="1327"/>
            <a:chExt cx="1443" cy="1715"/>
          </a:xfrm>
        </p:grpSpPr>
        <p:sp>
          <p:nvSpPr>
            <p:cNvPr id="19537" name="Freeform 3"/>
            <p:cNvSpPr/>
            <p:nvPr/>
          </p:nvSpPr>
          <p:spPr>
            <a:xfrm>
              <a:off x="1512" y="2226"/>
              <a:ext cx="1443" cy="816"/>
            </a:xfrm>
            <a:custGeom>
              <a:avLst/>
              <a:gdLst>
                <a:gd name="txL" fmla="*/ 0 w 1443"/>
                <a:gd name="txT" fmla="*/ 0 h 816"/>
                <a:gd name="txR" fmla="*/ 1443 w 1443"/>
                <a:gd name="txB" fmla="*/ 816 h 816"/>
              </a:gdLst>
              <a:ahLst/>
              <a:cxnLst>
                <a:cxn ang="0">
                  <a:pos x="0" y="0"/>
                </a:cxn>
                <a:cxn ang="0">
                  <a:pos x="1076" y="782"/>
                </a:cxn>
                <a:cxn ang="0">
                  <a:pos x="1320" y="788"/>
                </a:cxn>
                <a:cxn ang="0">
                  <a:pos x="1443" y="5"/>
                </a:cxn>
                <a:cxn ang="0">
                  <a:pos x="0" y="0"/>
                </a:cxn>
              </a:cxnLst>
              <a:rect l="txL" t="txT" r="txR" b="txB"/>
              <a:pathLst>
                <a:path w="1443" h="816">
                  <a:moveTo>
                    <a:pt x="0" y="0"/>
                  </a:moveTo>
                  <a:cubicBezTo>
                    <a:pt x="571" y="285"/>
                    <a:pt x="856" y="408"/>
                    <a:pt x="1076" y="782"/>
                  </a:cubicBezTo>
                  <a:cubicBezTo>
                    <a:pt x="1185" y="775"/>
                    <a:pt x="1220" y="816"/>
                    <a:pt x="1320" y="788"/>
                  </a:cubicBezTo>
                  <a:cubicBezTo>
                    <a:pt x="1264" y="347"/>
                    <a:pt x="1276" y="352"/>
                    <a:pt x="1443" y="5"/>
                  </a:cubicBezTo>
                  <a:cubicBezTo>
                    <a:pt x="867" y="5"/>
                    <a:pt x="233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chemeClr val="accent1"/>
                </a:gs>
                <a:gs pos="100000">
                  <a:schemeClr val="bg1"/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38" name="Rectangle 109"/>
            <p:cNvSpPr/>
            <p:nvPr/>
          </p:nvSpPr>
          <p:spPr>
            <a:xfrm>
              <a:off x="1619" y="1364"/>
              <a:ext cx="1263" cy="80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39" name="Text Box 110"/>
            <p:cNvSpPr txBox="1"/>
            <p:nvPr/>
          </p:nvSpPr>
          <p:spPr>
            <a:xfrm>
              <a:off x="1670" y="1327"/>
              <a:ext cx="67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1" hangingPunct="1"/>
              <a:r>
                <a:rPr lang="zh-CN" altLang="en-US" sz="1400" dirty="0">
                  <a:latin typeface="Arial" panose="020B0604020202020204" pitchFamily="34" charset="0"/>
                </a:rPr>
                <a:t>本地转发表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9540" name="Text Box 111"/>
            <p:cNvSpPr txBox="1"/>
            <p:nvPr/>
          </p:nvSpPr>
          <p:spPr>
            <a:xfrm>
              <a:off x="1596" y="1490"/>
              <a:ext cx="764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1400" dirty="0">
                  <a:latin typeface="Arial" panose="020B0604020202020204" pitchFamily="34" charset="0"/>
                </a:rPr>
                <a:t>首部值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9541" name="Text Box 112"/>
            <p:cNvSpPr txBox="1"/>
            <p:nvPr/>
          </p:nvSpPr>
          <p:spPr>
            <a:xfrm>
              <a:off x="2268" y="1491"/>
              <a:ext cx="656" cy="192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1" hangingPunct="1"/>
              <a:r>
                <a:rPr lang="zh-CN" altLang="en-US" sz="1400" dirty="0">
                  <a:latin typeface="Arial" panose="020B0604020202020204" pitchFamily="34" charset="0"/>
                </a:rPr>
                <a:t>输出链路</a:t>
              </a:r>
              <a:endParaRPr lang="zh-CN" altLang="en-US" sz="1400" dirty="0">
                <a:latin typeface="Arial" panose="020B0604020202020204" pitchFamily="34" charset="0"/>
              </a:endParaRPr>
            </a:p>
          </p:txBody>
        </p:sp>
        <p:sp>
          <p:nvSpPr>
            <p:cNvPr id="19542" name="Line 113"/>
            <p:cNvSpPr/>
            <p:nvPr/>
          </p:nvSpPr>
          <p:spPr>
            <a:xfrm>
              <a:off x="2330" y="1498"/>
              <a:ext cx="5" cy="67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43" name="Text Box 114"/>
            <p:cNvSpPr txBox="1"/>
            <p:nvPr/>
          </p:nvSpPr>
          <p:spPr>
            <a:xfrm>
              <a:off x="2009" y="1669"/>
              <a:ext cx="328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r" eaLnBrk="1" hangingPunct="1"/>
              <a:r>
                <a:rPr lang="en-US" altLang="zh-CN" sz="1200" dirty="0">
                  <a:latin typeface="Arial" panose="020B0604020202020204" pitchFamily="34" charset="0"/>
                </a:rPr>
                <a:t>0100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r" eaLnBrk="1" hangingPunct="1"/>
              <a:r>
                <a:rPr lang="en-US" altLang="zh-CN" sz="1200" dirty="0">
                  <a:latin typeface="Arial" panose="020B0604020202020204" pitchFamily="34" charset="0"/>
                </a:rPr>
                <a:t>0101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r" eaLnBrk="1" hangingPunct="1"/>
              <a:r>
                <a:rPr lang="en-US" altLang="zh-CN" sz="1200" dirty="0">
                  <a:latin typeface="Arial" panose="020B0604020202020204" pitchFamily="34" charset="0"/>
                </a:rPr>
                <a:t>0111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r" eaLnBrk="1" hangingPunct="1"/>
              <a:r>
                <a:rPr lang="en-US" altLang="zh-CN" sz="1200" dirty="0">
                  <a:latin typeface="Arial" panose="020B0604020202020204" pitchFamily="34" charset="0"/>
                </a:rPr>
                <a:t>1001</a:t>
              </a:r>
              <a:endParaRPr lang="en-US" altLang="zh-CN" sz="1200" dirty="0">
                <a:latin typeface="Arial" panose="020B0604020202020204" pitchFamily="34" charset="0"/>
              </a:endParaRPr>
            </a:p>
          </p:txBody>
        </p:sp>
        <p:sp>
          <p:nvSpPr>
            <p:cNvPr id="19544" name="Text Box 115"/>
            <p:cNvSpPr txBox="1"/>
            <p:nvPr/>
          </p:nvSpPr>
          <p:spPr>
            <a:xfrm>
              <a:off x="2340" y="1669"/>
              <a:ext cx="169" cy="5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1" hangingPunct="1"/>
              <a:r>
                <a:rPr lang="en-US" altLang="zh-CN" sz="1200" dirty="0">
                  <a:latin typeface="Arial" panose="020B0604020202020204" pitchFamily="34" charset="0"/>
                </a:rPr>
                <a:t>3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ctr" eaLnBrk="1" hangingPunct="1"/>
              <a:r>
                <a:rPr lang="en-US" altLang="zh-CN" sz="1200" dirty="0">
                  <a:latin typeface="Arial" panose="020B0604020202020204" pitchFamily="34" charset="0"/>
                </a:rPr>
                <a:t>2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ctr" eaLnBrk="1" hangingPunct="1"/>
              <a:r>
                <a:rPr lang="en-US" altLang="zh-CN" sz="1200" dirty="0">
                  <a:latin typeface="Arial" panose="020B0604020202020204" pitchFamily="34" charset="0"/>
                </a:rPr>
                <a:t>2</a:t>
              </a:r>
              <a:endParaRPr lang="en-US" altLang="zh-CN" sz="1200" dirty="0">
                <a:latin typeface="Arial" panose="020B0604020202020204" pitchFamily="34" charset="0"/>
              </a:endParaRPr>
            </a:p>
            <a:p>
              <a:pPr algn="ctr" eaLnBrk="1" hangingPunct="1"/>
              <a:r>
                <a:rPr lang="en-US" altLang="zh-CN" sz="1200" dirty="0">
                  <a:latin typeface="Arial" panose="020B0604020202020204" pitchFamily="34" charset="0"/>
                </a:rPr>
                <a:t>1</a:t>
              </a:r>
              <a:endParaRPr lang="en-US" altLang="zh-CN" sz="1200" dirty="0">
                <a:latin typeface="Arial" panose="020B0604020202020204" pitchFamily="34" charset="0"/>
              </a:endParaRPr>
            </a:p>
          </p:txBody>
        </p:sp>
        <p:sp>
          <p:nvSpPr>
            <p:cNvPr id="19545" name="Line 116"/>
            <p:cNvSpPr/>
            <p:nvPr/>
          </p:nvSpPr>
          <p:spPr>
            <a:xfrm>
              <a:off x="1619" y="1660"/>
              <a:ext cx="12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46" name="Line 117"/>
            <p:cNvSpPr/>
            <p:nvPr/>
          </p:nvSpPr>
          <p:spPr>
            <a:xfrm>
              <a:off x="1614" y="1504"/>
              <a:ext cx="126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426102" name="AutoShape 118"/>
          <p:cNvSpPr/>
          <p:nvPr/>
        </p:nvSpPr>
        <p:spPr>
          <a:xfrm rot="5400000">
            <a:off x="3468688" y="1871663"/>
            <a:ext cx="239712" cy="273050"/>
          </a:xfrm>
          <a:prstGeom prst="rightArrow">
            <a:avLst>
              <a:gd name="adj1" fmla="val 51166"/>
              <a:gd name="adj2" fmla="val 39736"/>
            </a:avLst>
          </a:prstGeom>
          <a:solidFill>
            <a:schemeClr val="accent2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89" name="Line 119"/>
          <p:cNvSpPr/>
          <p:nvPr/>
        </p:nvSpPr>
        <p:spPr>
          <a:xfrm>
            <a:off x="2846388" y="4314825"/>
            <a:ext cx="363537" cy="3429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490" name="Freeform 120"/>
          <p:cNvSpPr/>
          <p:nvPr/>
        </p:nvSpPr>
        <p:spPr>
          <a:xfrm>
            <a:off x="3919538" y="4805363"/>
            <a:ext cx="879475" cy="265112"/>
          </a:xfrm>
          <a:custGeom>
            <a:avLst/>
            <a:gdLst>
              <a:gd name="txL" fmla="*/ 0 w 554"/>
              <a:gd name="txT" fmla="*/ 0 h 167"/>
              <a:gd name="txR" fmla="*/ 554 w 554"/>
              <a:gd name="txB" fmla="*/ 167 h 167"/>
            </a:gdLst>
            <a:ahLst/>
            <a:cxnLst>
              <a:cxn ang="0">
                <a:pos x="0" y="10"/>
              </a:cxn>
              <a:cxn ang="0">
                <a:pos x="324" y="26"/>
              </a:cxn>
              <a:cxn ang="0">
                <a:pos x="554" y="167"/>
              </a:cxn>
            </a:cxnLst>
            <a:rect l="txL" t="txT" r="txR" b="txB"/>
            <a:pathLst>
              <a:path w="554" h="167">
                <a:moveTo>
                  <a:pt x="0" y="10"/>
                </a:moveTo>
                <a:cubicBezTo>
                  <a:pt x="102" y="0"/>
                  <a:pt x="240" y="5"/>
                  <a:pt x="324" y="26"/>
                </a:cubicBezTo>
                <a:cubicBezTo>
                  <a:pt x="416" y="52"/>
                  <a:pt x="502" y="120"/>
                  <a:pt x="554" y="167"/>
                </a:cubicBezTo>
              </a:path>
            </a:pathLst>
          </a:custGeom>
          <a:noFill/>
          <a:ln w="57150" cap="flat" cmpd="sng">
            <a:solidFill>
              <a:srgbClr val="FF33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91" name="Freeform 121"/>
          <p:cNvSpPr/>
          <p:nvPr/>
        </p:nvSpPr>
        <p:spPr>
          <a:xfrm flipH="1">
            <a:off x="6254750" y="4379913"/>
            <a:ext cx="577850" cy="371475"/>
          </a:xfrm>
          <a:custGeom>
            <a:avLst/>
            <a:gdLst>
              <a:gd name="txL" fmla="*/ 0 w 1443"/>
              <a:gd name="txT" fmla="*/ 0 h 816"/>
              <a:gd name="txR" fmla="*/ 1443 w 1443"/>
              <a:gd name="txB" fmla="*/ 816 h 816"/>
            </a:gdLst>
            <a:ahLst/>
            <a:cxnLst>
              <a:cxn ang="0">
                <a:pos x="0" y="0"/>
              </a:cxn>
              <a:cxn ang="0">
                <a:pos x="1076" y="782"/>
              </a:cxn>
              <a:cxn ang="0">
                <a:pos x="1320" y="788"/>
              </a:cxn>
              <a:cxn ang="0">
                <a:pos x="1443" y="5"/>
              </a:cxn>
              <a:cxn ang="0">
                <a:pos x="0" y="0"/>
              </a:cxn>
            </a:cxnLst>
            <a:rect l="txL" t="txT" r="txR" b="tx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92" name="Freeform 122"/>
          <p:cNvSpPr/>
          <p:nvPr/>
        </p:nvSpPr>
        <p:spPr>
          <a:xfrm flipH="1">
            <a:off x="5243513" y="4095750"/>
            <a:ext cx="577850" cy="371475"/>
          </a:xfrm>
          <a:custGeom>
            <a:avLst/>
            <a:gdLst>
              <a:gd name="txL" fmla="*/ 0 w 1443"/>
              <a:gd name="txT" fmla="*/ 0 h 816"/>
              <a:gd name="txR" fmla="*/ 1443 w 1443"/>
              <a:gd name="txB" fmla="*/ 816 h 816"/>
            </a:gdLst>
            <a:ahLst/>
            <a:cxnLst>
              <a:cxn ang="0">
                <a:pos x="0" y="0"/>
              </a:cxn>
              <a:cxn ang="0">
                <a:pos x="1076" y="782"/>
              </a:cxn>
              <a:cxn ang="0">
                <a:pos x="1320" y="788"/>
              </a:cxn>
              <a:cxn ang="0">
                <a:pos x="1443" y="5"/>
              </a:cxn>
              <a:cxn ang="0">
                <a:pos x="0" y="0"/>
              </a:cxn>
            </a:cxnLst>
            <a:rect l="txL" t="txT" r="txR" b="tx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93" name="Freeform 123"/>
          <p:cNvSpPr/>
          <p:nvPr/>
        </p:nvSpPr>
        <p:spPr>
          <a:xfrm flipH="1" flipV="1">
            <a:off x="5911850" y="5641975"/>
            <a:ext cx="542925" cy="371475"/>
          </a:xfrm>
          <a:custGeom>
            <a:avLst/>
            <a:gdLst>
              <a:gd name="txL" fmla="*/ 0 w 1443"/>
              <a:gd name="txT" fmla="*/ 0 h 816"/>
              <a:gd name="txR" fmla="*/ 1443 w 1443"/>
              <a:gd name="txB" fmla="*/ 816 h 816"/>
            </a:gdLst>
            <a:ahLst/>
            <a:cxnLst>
              <a:cxn ang="0">
                <a:pos x="0" y="0"/>
              </a:cxn>
              <a:cxn ang="0">
                <a:pos x="1076" y="782"/>
              </a:cxn>
              <a:cxn ang="0">
                <a:pos x="1320" y="788"/>
              </a:cxn>
              <a:cxn ang="0">
                <a:pos x="1443" y="5"/>
              </a:cxn>
              <a:cxn ang="0">
                <a:pos x="0" y="0"/>
              </a:cxn>
            </a:cxnLst>
            <a:rect l="txL" t="txT" r="txR" b="tx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94" name="Freeform 124"/>
          <p:cNvSpPr/>
          <p:nvPr/>
        </p:nvSpPr>
        <p:spPr>
          <a:xfrm flipH="1" flipV="1">
            <a:off x="4562475" y="5626100"/>
            <a:ext cx="542925" cy="371475"/>
          </a:xfrm>
          <a:custGeom>
            <a:avLst/>
            <a:gdLst>
              <a:gd name="txL" fmla="*/ 0 w 1443"/>
              <a:gd name="txT" fmla="*/ 0 h 816"/>
              <a:gd name="txR" fmla="*/ 1443 w 1443"/>
              <a:gd name="txB" fmla="*/ 816 h 816"/>
            </a:gdLst>
            <a:ahLst/>
            <a:cxnLst>
              <a:cxn ang="0">
                <a:pos x="0" y="0"/>
              </a:cxn>
              <a:cxn ang="0">
                <a:pos x="1076" y="782"/>
              </a:cxn>
              <a:cxn ang="0">
                <a:pos x="1320" y="788"/>
              </a:cxn>
              <a:cxn ang="0">
                <a:pos x="1443" y="5"/>
              </a:cxn>
              <a:cxn ang="0">
                <a:pos x="0" y="0"/>
              </a:cxn>
            </a:cxnLst>
            <a:rect l="txL" t="txT" r="txR" b="tx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9495" name="Freeform 125"/>
          <p:cNvSpPr/>
          <p:nvPr/>
        </p:nvSpPr>
        <p:spPr>
          <a:xfrm flipH="1" flipV="1">
            <a:off x="5202238" y="5334000"/>
            <a:ext cx="542925" cy="452438"/>
          </a:xfrm>
          <a:custGeom>
            <a:avLst/>
            <a:gdLst>
              <a:gd name="txL" fmla="*/ 0 w 1443"/>
              <a:gd name="txT" fmla="*/ 0 h 816"/>
              <a:gd name="txR" fmla="*/ 1443 w 1443"/>
              <a:gd name="txB" fmla="*/ 816 h 816"/>
            </a:gdLst>
            <a:ahLst/>
            <a:cxnLst>
              <a:cxn ang="0">
                <a:pos x="0" y="0"/>
              </a:cxn>
              <a:cxn ang="0">
                <a:pos x="1076" y="782"/>
              </a:cxn>
              <a:cxn ang="0">
                <a:pos x="1320" y="788"/>
              </a:cxn>
              <a:cxn ang="0">
                <a:pos x="1443" y="5"/>
              </a:cxn>
              <a:cxn ang="0">
                <a:pos x="0" y="0"/>
              </a:cxn>
            </a:cxnLst>
            <a:rect l="txL" t="txT" r="txR" b="txB"/>
            <a:pathLst>
              <a:path w="1443" h="816">
                <a:moveTo>
                  <a:pt x="0" y="0"/>
                </a:moveTo>
                <a:cubicBezTo>
                  <a:pt x="571" y="285"/>
                  <a:pt x="856" y="408"/>
                  <a:pt x="1076" y="782"/>
                </a:cubicBezTo>
                <a:cubicBezTo>
                  <a:pt x="1185" y="775"/>
                  <a:pt x="1220" y="816"/>
                  <a:pt x="1320" y="788"/>
                </a:cubicBezTo>
                <a:cubicBezTo>
                  <a:pt x="1264" y="347"/>
                  <a:pt x="1276" y="352"/>
                  <a:pt x="1443" y="5"/>
                </a:cubicBezTo>
                <a:cubicBezTo>
                  <a:pt x="867" y="5"/>
                  <a:pt x="233" y="0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  <a:tileRect/>
          </a:gradFill>
          <a:ln w="9525">
            <a:noFill/>
          </a:ln>
        </p:spPr>
        <p:txBody>
          <a:bodyPr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19496" name="Group 126"/>
          <p:cNvGrpSpPr/>
          <p:nvPr/>
        </p:nvGrpSpPr>
        <p:grpSpPr>
          <a:xfrm>
            <a:off x="5251450" y="3651250"/>
            <a:ext cx="550863" cy="452438"/>
            <a:chOff x="2886" y="1668"/>
            <a:chExt cx="347" cy="285"/>
          </a:xfrm>
        </p:grpSpPr>
        <p:sp>
          <p:nvSpPr>
            <p:cNvPr id="19530" name="Rectangle 127"/>
            <p:cNvSpPr/>
            <p:nvPr/>
          </p:nvSpPr>
          <p:spPr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31" name="Oval 128"/>
            <p:cNvSpPr/>
            <p:nvPr/>
          </p:nvSpPr>
          <p:spPr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32" name="Rectangle 129"/>
            <p:cNvSpPr/>
            <p:nvPr/>
          </p:nvSpPr>
          <p:spPr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33" name="Line 130"/>
            <p:cNvSpPr/>
            <p:nvPr/>
          </p:nvSpPr>
          <p:spPr>
            <a:xfrm>
              <a:off x="3082" y="1811"/>
              <a:ext cx="1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34" name="Line 131"/>
            <p:cNvSpPr/>
            <p:nvPr/>
          </p:nvSpPr>
          <p:spPr>
            <a:xfrm>
              <a:off x="2913" y="184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35" name="Line 132"/>
            <p:cNvSpPr/>
            <p:nvPr/>
          </p:nvSpPr>
          <p:spPr>
            <a:xfrm>
              <a:off x="2912" y="181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36" name="AutoShape 133"/>
            <p:cNvSpPr/>
            <p:nvPr/>
          </p:nvSpPr>
          <p:spPr>
            <a:xfrm rot="5400000">
              <a:off x="3051" y="1745"/>
              <a:ext cx="29" cy="41"/>
            </a:xfrm>
            <a:prstGeom prst="rightArrow">
              <a:avLst>
                <a:gd name="adj1" fmla="val 51166"/>
                <a:gd name="adj2" fmla="val 39736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9497" name="Group 134"/>
          <p:cNvGrpSpPr/>
          <p:nvPr/>
        </p:nvGrpSpPr>
        <p:grpSpPr>
          <a:xfrm>
            <a:off x="6264275" y="3924300"/>
            <a:ext cx="550863" cy="452438"/>
            <a:chOff x="2886" y="1668"/>
            <a:chExt cx="347" cy="285"/>
          </a:xfrm>
        </p:grpSpPr>
        <p:sp>
          <p:nvSpPr>
            <p:cNvPr id="19523" name="Rectangle 135"/>
            <p:cNvSpPr/>
            <p:nvPr/>
          </p:nvSpPr>
          <p:spPr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24" name="Oval 136"/>
            <p:cNvSpPr/>
            <p:nvPr/>
          </p:nvSpPr>
          <p:spPr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25" name="Rectangle 137"/>
            <p:cNvSpPr/>
            <p:nvPr/>
          </p:nvSpPr>
          <p:spPr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26" name="Line 138"/>
            <p:cNvSpPr/>
            <p:nvPr/>
          </p:nvSpPr>
          <p:spPr>
            <a:xfrm>
              <a:off x="3082" y="1811"/>
              <a:ext cx="1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7" name="Line 139"/>
            <p:cNvSpPr/>
            <p:nvPr/>
          </p:nvSpPr>
          <p:spPr>
            <a:xfrm>
              <a:off x="2913" y="184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8" name="Line 140"/>
            <p:cNvSpPr/>
            <p:nvPr/>
          </p:nvSpPr>
          <p:spPr>
            <a:xfrm>
              <a:off x="2912" y="181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9" name="AutoShape 141"/>
            <p:cNvSpPr/>
            <p:nvPr/>
          </p:nvSpPr>
          <p:spPr>
            <a:xfrm rot="5400000">
              <a:off x="3051" y="1745"/>
              <a:ext cx="29" cy="41"/>
            </a:xfrm>
            <a:prstGeom prst="rightArrow">
              <a:avLst>
                <a:gd name="adj1" fmla="val 51166"/>
                <a:gd name="adj2" fmla="val 39736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9498" name="Group 142"/>
          <p:cNvGrpSpPr/>
          <p:nvPr/>
        </p:nvGrpSpPr>
        <p:grpSpPr>
          <a:xfrm>
            <a:off x="5894388" y="6000750"/>
            <a:ext cx="550862" cy="452438"/>
            <a:chOff x="2886" y="1668"/>
            <a:chExt cx="347" cy="285"/>
          </a:xfrm>
        </p:grpSpPr>
        <p:sp>
          <p:nvSpPr>
            <p:cNvPr id="19516" name="Rectangle 143"/>
            <p:cNvSpPr/>
            <p:nvPr/>
          </p:nvSpPr>
          <p:spPr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7" name="Oval 144"/>
            <p:cNvSpPr/>
            <p:nvPr/>
          </p:nvSpPr>
          <p:spPr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8" name="Rectangle 145"/>
            <p:cNvSpPr/>
            <p:nvPr/>
          </p:nvSpPr>
          <p:spPr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9" name="Line 146"/>
            <p:cNvSpPr/>
            <p:nvPr/>
          </p:nvSpPr>
          <p:spPr>
            <a:xfrm>
              <a:off x="3082" y="1811"/>
              <a:ext cx="1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0" name="Line 147"/>
            <p:cNvSpPr/>
            <p:nvPr/>
          </p:nvSpPr>
          <p:spPr>
            <a:xfrm>
              <a:off x="2913" y="184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1" name="Line 148"/>
            <p:cNvSpPr/>
            <p:nvPr/>
          </p:nvSpPr>
          <p:spPr>
            <a:xfrm>
              <a:off x="2912" y="181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22" name="AutoShape 149"/>
            <p:cNvSpPr/>
            <p:nvPr/>
          </p:nvSpPr>
          <p:spPr>
            <a:xfrm rot="5400000">
              <a:off x="3051" y="1745"/>
              <a:ext cx="29" cy="41"/>
            </a:xfrm>
            <a:prstGeom prst="rightArrow">
              <a:avLst>
                <a:gd name="adj1" fmla="val 51166"/>
                <a:gd name="adj2" fmla="val 39736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9499" name="Group 150"/>
          <p:cNvGrpSpPr/>
          <p:nvPr/>
        </p:nvGrpSpPr>
        <p:grpSpPr>
          <a:xfrm>
            <a:off x="5199063" y="5781675"/>
            <a:ext cx="550862" cy="452438"/>
            <a:chOff x="2886" y="1668"/>
            <a:chExt cx="347" cy="285"/>
          </a:xfrm>
        </p:grpSpPr>
        <p:sp>
          <p:nvSpPr>
            <p:cNvPr id="19509" name="Rectangle 151"/>
            <p:cNvSpPr/>
            <p:nvPr/>
          </p:nvSpPr>
          <p:spPr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0" name="Oval 152"/>
            <p:cNvSpPr/>
            <p:nvPr/>
          </p:nvSpPr>
          <p:spPr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1" name="Rectangle 153"/>
            <p:cNvSpPr/>
            <p:nvPr/>
          </p:nvSpPr>
          <p:spPr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12" name="Line 154"/>
            <p:cNvSpPr/>
            <p:nvPr/>
          </p:nvSpPr>
          <p:spPr>
            <a:xfrm>
              <a:off x="3082" y="1811"/>
              <a:ext cx="1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3" name="Line 155"/>
            <p:cNvSpPr/>
            <p:nvPr/>
          </p:nvSpPr>
          <p:spPr>
            <a:xfrm>
              <a:off x="2913" y="184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4" name="Line 156"/>
            <p:cNvSpPr/>
            <p:nvPr/>
          </p:nvSpPr>
          <p:spPr>
            <a:xfrm>
              <a:off x="2912" y="181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15" name="AutoShape 157"/>
            <p:cNvSpPr/>
            <p:nvPr/>
          </p:nvSpPr>
          <p:spPr>
            <a:xfrm rot="5400000">
              <a:off x="3051" y="1745"/>
              <a:ext cx="29" cy="41"/>
            </a:xfrm>
            <a:prstGeom prst="rightArrow">
              <a:avLst>
                <a:gd name="adj1" fmla="val 51166"/>
                <a:gd name="adj2" fmla="val 39736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19500" name="Group 158"/>
          <p:cNvGrpSpPr/>
          <p:nvPr/>
        </p:nvGrpSpPr>
        <p:grpSpPr>
          <a:xfrm>
            <a:off x="4543425" y="5973763"/>
            <a:ext cx="550863" cy="452437"/>
            <a:chOff x="2886" y="1668"/>
            <a:chExt cx="347" cy="285"/>
          </a:xfrm>
        </p:grpSpPr>
        <p:sp>
          <p:nvSpPr>
            <p:cNvPr id="19502" name="Rectangle 159"/>
            <p:cNvSpPr/>
            <p:nvPr/>
          </p:nvSpPr>
          <p:spPr>
            <a:xfrm>
              <a:off x="2886" y="1668"/>
              <a:ext cx="347" cy="285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03" name="Oval 160"/>
            <p:cNvSpPr/>
            <p:nvPr/>
          </p:nvSpPr>
          <p:spPr>
            <a:xfrm>
              <a:off x="2905" y="1674"/>
              <a:ext cx="314" cy="74"/>
            </a:xfrm>
            <a:prstGeom prst="ellipse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04" name="Rectangle 161"/>
            <p:cNvSpPr/>
            <p:nvPr/>
          </p:nvSpPr>
          <p:spPr>
            <a:xfrm>
              <a:off x="2913" y="1785"/>
              <a:ext cx="300" cy="1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9505" name="Line 162"/>
            <p:cNvSpPr/>
            <p:nvPr/>
          </p:nvSpPr>
          <p:spPr>
            <a:xfrm>
              <a:off x="3082" y="1811"/>
              <a:ext cx="1" cy="13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6" name="Line 163"/>
            <p:cNvSpPr/>
            <p:nvPr/>
          </p:nvSpPr>
          <p:spPr>
            <a:xfrm>
              <a:off x="2913" y="184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7" name="Line 164"/>
            <p:cNvSpPr/>
            <p:nvPr/>
          </p:nvSpPr>
          <p:spPr>
            <a:xfrm>
              <a:off x="2912" y="1812"/>
              <a:ext cx="300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9508" name="AutoShape 165"/>
            <p:cNvSpPr/>
            <p:nvPr/>
          </p:nvSpPr>
          <p:spPr>
            <a:xfrm rot="5400000">
              <a:off x="3051" y="1745"/>
              <a:ext cx="29" cy="41"/>
            </a:xfrm>
            <a:prstGeom prst="rightArrow">
              <a:avLst>
                <a:gd name="adj1" fmla="val 51166"/>
                <a:gd name="adj2" fmla="val 39736"/>
              </a:avLst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19501" name="Text Box 167"/>
          <p:cNvSpPr txBox="1"/>
          <p:nvPr/>
        </p:nvSpPr>
        <p:spPr>
          <a:xfrm>
            <a:off x="501650" y="217488"/>
            <a:ext cx="3841750" cy="5794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3200" u="sng" dirty="0">
                <a:solidFill>
                  <a:schemeClr val="accent2"/>
                </a:solidFill>
                <a:latin typeface="Comic Sans MS" panose="030F0702030302020204" pitchFamily="66" charset="0"/>
              </a:rPr>
              <a:t>选路和转发相互影响</a:t>
            </a:r>
            <a:endParaRPr lang="zh-CN" altLang="en-US" sz="3200" u="sng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05" y="107950"/>
            <a:ext cx="8989060" cy="67456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25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426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426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5989" grpId="0" animBg="1"/>
      <p:bldP spid="426092" grpId="0"/>
      <p:bldP spid="42610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95" y="67945"/>
            <a:ext cx="8960485" cy="6794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995" y="52070"/>
            <a:ext cx="8947150" cy="67894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830" y="290830"/>
            <a:ext cx="8453120" cy="64173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2765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转发表</a:t>
            </a:r>
            <a:endParaRPr lang="zh-CN" altLang="en-US" dirty="0"/>
          </a:p>
        </p:txBody>
      </p:sp>
      <p:sp>
        <p:nvSpPr>
          <p:cNvPr id="27653" name="Rectangle 7"/>
          <p:cNvSpPr/>
          <p:nvPr/>
        </p:nvSpPr>
        <p:spPr>
          <a:xfrm>
            <a:off x="277813" y="1803400"/>
            <a:ext cx="7888287" cy="4332288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just"/>
            <a:r>
              <a:rPr lang="zh-CN" altLang="en-US" dirty="0">
                <a:latin typeface="Comic Sans MS" panose="030F0702030302020204" pitchFamily="66" charset="0"/>
              </a:rPr>
              <a:t>                               </a:t>
            </a:r>
            <a:r>
              <a:rPr lang="zh-CN" altLang="en-US" u="sng" dirty="0">
                <a:latin typeface="Times" charset="0"/>
                <a:cs typeface="Times New Roman" panose="02020603050405020304" pitchFamily="18" charset="0"/>
              </a:rPr>
              <a:t>目的地址范围</a:t>
            </a:r>
            <a:r>
              <a:rPr lang="en-US" altLang="zh-CN" dirty="0">
                <a:latin typeface="Times" charset="0"/>
                <a:cs typeface="Times New Roman" panose="02020603050405020304" pitchFamily="18" charset="0"/>
              </a:rPr>
              <a:t>                                                    </a:t>
            </a:r>
            <a:r>
              <a:rPr lang="zh-CN" altLang="en-US" u="sng" dirty="0">
                <a:latin typeface="Times" charset="0"/>
                <a:cs typeface="Times New Roman" panose="02020603050405020304" pitchFamily="18" charset="0"/>
              </a:rPr>
              <a:t>链路接口</a:t>
            </a:r>
            <a:endParaRPr lang="zh-CN" altLang="en-US" u="sng" dirty="0">
              <a:latin typeface="Times" charset="0"/>
              <a:cs typeface="Times New Roman" panose="02020603050405020304" pitchFamily="18" charset="0"/>
            </a:endParaRPr>
          </a:p>
          <a:p>
            <a:pPr algn="just"/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11001000 00010111 00010000 00000000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                             </a:t>
            </a:r>
            <a:r>
              <a:rPr lang="zh-CN" altLang="en-US" dirty="0">
                <a:latin typeface="Times" charset="0"/>
              </a:rPr>
              <a:t>到                                                                  </a:t>
            </a:r>
            <a:r>
              <a:rPr lang="en-US" altLang="zh-CN" dirty="0">
                <a:latin typeface="Times" charset="0"/>
              </a:rPr>
              <a:t>0  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11001000 00010111 00010111 11111111</a:t>
            </a:r>
            <a:endParaRPr lang="en-US" altLang="zh-CN" dirty="0">
              <a:latin typeface="Times" charset="0"/>
            </a:endParaRPr>
          </a:p>
          <a:p>
            <a:pPr algn="just"/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11001000 00010111 00011000 00000000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                           </a:t>
            </a:r>
            <a:r>
              <a:rPr lang="zh-CN" altLang="en-US" dirty="0">
                <a:latin typeface="Times" charset="0"/>
              </a:rPr>
              <a:t>到                                                                   </a:t>
            </a:r>
            <a:r>
              <a:rPr lang="en-US" altLang="zh-CN" dirty="0">
                <a:latin typeface="Times" charset="0"/>
              </a:rPr>
              <a:t>1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11001000 00010111 00011000 11111111  </a:t>
            </a:r>
            <a:endParaRPr lang="en-US" altLang="zh-CN" dirty="0">
              <a:latin typeface="Times" charset="0"/>
            </a:endParaRPr>
          </a:p>
          <a:p>
            <a:pPr algn="just"/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11001000 00010111 00011001 00000000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                           </a:t>
            </a:r>
            <a:r>
              <a:rPr lang="zh-CN" altLang="en-US" dirty="0">
                <a:latin typeface="Times" charset="0"/>
              </a:rPr>
              <a:t>到                                                                   </a:t>
            </a:r>
            <a:r>
              <a:rPr lang="en-US" altLang="zh-CN" dirty="0">
                <a:latin typeface="Times" charset="0"/>
              </a:rPr>
              <a:t>2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11001000 00010111 00011111 11111111  </a:t>
            </a:r>
            <a:endParaRPr lang="en-US" altLang="zh-CN" dirty="0">
              <a:latin typeface="Times" charset="0"/>
            </a:endParaRPr>
          </a:p>
          <a:p>
            <a:pPr algn="just"/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                   </a:t>
            </a:r>
            <a:r>
              <a:rPr lang="zh-CN" altLang="en-US" dirty="0">
                <a:latin typeface="Times" charset="0"/>
              </a:rPr>
              <a:t>其他                                                                         </a:t>
            </a:r>
            <a:r>
              <a:rPr lang="en-US" altLang="zh-CN" dirty="0">
                <a:latin typeface="Times" charset="0"/>
              </a:rPr>
              <a:t>3</a:t>
            </a:r>
            <a:endParaRPr lang="en-US" altLang="zh-CN" dirty="0">
              <a:latin typeface="Times" charset="0"/>
            </a:endParaRPr>
          </a:p>
        </p:txBody>
      </p:sp>
      <p:sp>
        <p:nvSpPr>
          <p:cNvPr id="27654" name="Text Box 8"/>
          <p:cNvSpPr txBox="1"/>
          <p:nvPr/>
        </p:nvSpPr>
        <p:spPr>
          <a:xfrm>
            <a:off x="5459413" y="398463"/>
            <a:ext cx="2089150" cy="466725"/>
          </a:xfrm>
          <a:prstGeom prst="rect">
            <a:avLst/>
          </a:prstGeom>
          <a:noFill/>
          <a:ln w="9525" cap="flat" cmpd="sng">
            <a:solidFill>
              <a:srgbClr val="FF66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en-US" altLang="zh-CN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40</a:t>
            </a:r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亿可能的项</a:t>
            </a:r>
            <a:endParaRPr lang="en-US" altLang="zh-CN" sz="24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448521" name="Rectangle 9"/>
          <p:cNvSpPr/>
          <p:nvPr/>
        </p:nvSpPr>
        <p:spPr>
          <a:xfrm>
            <a:off x="3735388" y="2392363"/>
            <a:ext cx="1525587" cy="857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48523" name="Rectangle 11"/>
          <p:cNvSpPr/>
          <p:nvPr/>
        </p:nvSpPr>
        <p:spPr>
          <a:xfrm>
            <a:off x="4160838" y="3536950"/>
            <a:ext cx="1096962" cy="857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48524" name="Rectangle 12"/>
          <p:cNvSpPr/>
          <p:nvPr/>
        </p:nvSpPr>
        <p:spPr>
          <a:xfrm>
            <a:off x="3732213" y="4635500"/>
            <a:ext cx="1525587" cy="85725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1600200"/>
            <a:ext cx="7327265" cy="47307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8521" grpId="0" animBg="1"/>
      <p:bldP spid="448523" grpId="0" animBg="1"/>
      <p:bldP spid="4485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2867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867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最长前缀匹配</a:t>
            </a:r>
            <a:endParaRPr lang="zh-CN" altLang="en-US" dirty="0"/>
          </a:p>
        </p:txBody>
      </p:sp>
      <p:sp>
        <p:nvSpPr>
          <p:cNvPr id="28677" name="Rectangle 5"/>
          <p:cNvSpPr/>
          <p:nvPr/>
        </p:nvSpPr>
        <p:spPr>
          <a:xfrm>
            <a:off x="584200" y="1822450"/>
            <a:ext cx="6280150" cy="146526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just"/>
            <a:r>
              <a:rPr lang="zh-CN" altLang="en-US" dirty="0">
                <a:latin typeface="Comic Sans MS" panose="030F0702030302020204" pitchFamily="66" charset="0"/>
              </a:rPr>
              <a:t>                                </a:t>
            </a:r>
            <a:r>
              <a:rPr lang="zh-CN" altLang="en-US" u="sng" dirty="0">
                <a:latin typeface="Times" charset="0"/>
                <a:cs typeface="Times New Roman" panose="02020603050405020304" pitchFamily="18" charset="0"/>
              </a:rPr>
              <a:t>前缀匹配</a:t>
            </a:r>
            <a:r>
              <a:rPr lang="zh-CN" altLang="en-US" dirty="0">
                <a:latin typeface="Times" charset="0"/>
                <a:cs typeface="Times New Roman" panose="02020603050405020304" pitchFamily="18" charset="0"/>
              </a:rPr>
              <a:t>                                </a:t>
            </a:r>
            <a:r>
              <a:rPr lang="zh-CN" altLang="en-US" u="sng" dirty="0">
                <a:latin typeface="Times" charset="0"/>
                <a:cs typeface="Times New Roman" panose="02020603050405020304" pitchFamily="18" charset="0"/>
              </a:rPr>
              <a:t>链路接口</a:t>
            </a:r>
            <a:endParaRPr lang="zh-CN" altLang="en-US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11001000 00010111 00010                                       0 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11001000 00010111 00011000                                 1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11001000 00010111 00011                                       2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just"/>
            <a:r>
              <a:rPr lang="en-US" altLang="zh-CN" dirty="0">
                <a:latin typeface="Times" charset="0"/>
              </a:rPr>
              <a:t>                        otherwise                                                     3</a:t>
            </a:r>
            <a:endParaRPr lang="en-US" altLang="zh-CN" dirty="0">
              <a:latin typeface="Times" charset="0"/>
            </a:endParaRPr>
          </a:p>
        </p:txBody>
      </p:sp>
      <p:sp>
        <p:nvSpPr>
          <p:cNvPr id="28678" name="Rectangle 7"/>
          <p:cNvSpPr/>
          <p:nvPr/>
        </p:nvSpPr>
        <p:spPr>
          <a:xfrm>
            <a:off x="1046163" y="4959350"/>
            <a:ext cx="5708650" cy="366713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目的地址</a:t>
            </a:r>
            <a:r>
              <a:rPr lang="en-US" altLang="zh-CN" dirty="0">
                <a:latin typeface="Comic Sans MS" panose="030F0702030302020204" pitchFamily="66" charset="0"/>
              </a:rPr>
              <a:t>:</a:t>
            </a:r>
            <a:r>
              <a:rPr lang="en-US" altLang="zh-CN" dirty="0">
                <a:solidFill>
                  <a:schemeClr val="accent2"/>
                </a:solidFill>
                <a:latin typeface="Comic Sans MS" panose="030F0702030302020204" pitchFamily="66" charset="0"/>
              </a:rPr>
              <a:t> 11001000  00010111 </a:t>
            </a:r>
            <a:r>
              <a:rPr lang="en-US" altLang="zh-CN" dirty="0">
                <a:latin typeface="Comic Sans MS" panose="030F0702030302020204" pitchFamily="66" charset="0"/>
              </a:rPr>
              <a:t> 00011000  10101010 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28679" name="Text Box 8"/>
          <p:cNvSpPr txBox="1"/>
          <p:nvPr/>
        </p:nvSpPr>
        <p:spPr>
          <a:xfrm>
            <a:off x="1028700" y="3671888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例子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8680" name="Text Box 9"/>
          <p:cNvSpPr txBox="1"/>
          <p:nvPr/>
        </p:nvSpPr>
        <p:spPr>
          <a:xfrm>
            <a:off x="1107440" y="4255770"/>
            <a:ext cx="57086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目的地址</a:t>
            </a:r>
            <a:r>
              <a:rPr lang="en-US" altLang="zh-CN" dirty="0">
                <a:latin typeface="Comic Sans MS" panose="030F0702030302020204" pitchFamily="66" charset="0"/>
              </a:rPr>
              <a:t>: </a:t>
            </a:r>
            <a:r>
              <a:rPr lang="en-US" altLang="zh-CN" dirty="0">
                <a:solidFill>
                  <a:schemeClr val="accent2"/>
                </a:solidFill>
                <a:latin typeface="Comic Sans MS" panose="030F0702030302020204" pitchFamily="66" charset="0"/>
              </a:rPr>
              <a:t>11001000  00010111</a:t>
            </a:r>
            <a:r>
              <a:rPr lang="en-US" altLang="zh-CN" dirty="0">
                <a:latin typeface="Comic Sans MS" panose="030F0702030302020204" pitchFamily="66" charset="0"/>
              </a:rPr>
              <a:t>  00010110  10100001 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28681" name="Text Box 15"/>
          <p:cNvSpPr txBox="1"/>
          <p:nvPr/>
        </p:nvSpPr>
        <p:spPr>
          <a:xfrm>
            <a:off x="6540500" y="4167188"/>
            <a:ext cx="1217613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哪个接口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?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28682" name="Text Box 16"/>
          <p:cNvSpPr txBox="1"/>
          <p:nvPr/>
        </p:nvSpPr>
        <p:spPr>
          <a:xfrm>
            <a:off x="6564313" y="4951413"/>
            <a:ext cx="1217612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哪个接口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?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205" y="349885"/>
            <a:ext cx="8469630" cy="63601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0723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30725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IPv4</a:t>
            </a:r>
            <a:r>
              <a:rPr lang="zh-CN" altLang="en-US" sz="2000" dirty="0">
                <a:latin typeface="+mn-lt"/>
                <a:ea typeface="+mn-ea"/>
              </a:rPr>
              <a:t>编址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NAT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ICMP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IPv6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30726" name="Rectangle 4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15" y="439420"/>
            <a:ext cx="7880985" cy="597979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174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8" name="Rectangle 2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路由器体系结构概述</a:t>
            </a:r>
            <a:endParaRPr lang="zh-CN" altLang="en-US" dirty="0"/>
          </a:p>
        </p:txBody>
      </p:sp>
      <p:sp>
        <p:nvSpPr>
          <p:cNvPr id="31749" name="Rectangle 3"/>
          <p:cNvSpPr>
            <a:spLocks noGrp="1"/>
          </p:cNvSpPr>
          <p:nvPr>
            <p:ph idx="1"/>
          </p:nvPr>
        </p:nvSpPr>
        <p:spPr>
          <a:xfrm>
            <a:off x="609600" y="1295400"/>
            <a:ext cx="8126413" cy="914400"/>
          </a:xfrm>
        </p:spPr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dirty="0"/>
              <a:t>路由器的两个关键功能</a:t>
            </a:r>
            <a:r>
              <a:rPr lang="en-US" altLang="zh-CN" dirty="0"/>
              <a:t>:</a:t>
            </a:r>
            <a:r>
              <a:rPr lang="en-US" altLang="zh-CN" sz="1800" dirty="0"/>
              <a:t> </a:t>
            </a:r>
            <a:endParaRPr lang="en-US" altLang="zh-CN" sz="1800" dirty="0"/>
          </a:p>
          <a:p>
            <a:pPr eaLnBrk="1"/>
            <a:r>
              <a:rPr lang="zh-CN" altLang="en-US" sz="2400" dirty="0"/>
              <a:t>运行选路算法</a:t>
            </a:r>
            <a:r>
              <a:rPr lang="en-US" altLang="zh-CN" sz="2400" dirty="0"/>
              <a:t>/</a:t>
            </a:r>
            <a:r>
              <a:rPr lang="zh-CN" altLang="en-US" sz="2400" dirty="0"/>
              <a:t>协议</a:t>
            </a:r>
            <a:r>
              <a:rPr lang="en-US" altLang="zh-CN" sz="2400" dirty="0"/>
              <a:t>(RIP, OSPF, BGP)</a:t>
            </a:r>
            <a:endParaRPr lang="en-US" altLang="zh-CN" sz="2400" dirty="0"/>
          </a:p>
          <a:p>
            <a:pPr eaLnBrk="1"/>
            <a:r>
              <a:rPr lang="zh-CN" altLang="en-US" sz="2400" dirty="0"/>
              <a:t>从入链路到出链路</a:t>
            </a:r>
            <a:r>
              <a:rPr lang="zh-CN" altLang="en-US" sz="2400" i="1" dirty="0"/>
              <a:t>转发 </a:t>
            </a:r>
            <a:r>
              <a:rPr lang="zh-CN" altLang="en-US" sz="2400" dirty="0"/>
              <a:t>数据报</a:t>
            </a:r>
            <a:endParaRPr lang="en-US" altLang="zh-CN" sz="2400" dirty="0"/>
          </a:p>
        </p:txBody>
      </p:sp>
      <p:pic>
        <p:nvPicPr>
          <p:cNvPr id="31750" name="Picture 4" descr="461 swtch componen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5900" y="2900363"/>
            <a:ext cx="6399213" cy="3525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277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2772" name="Picture 2" descr="462 Input Por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6450" y="923925"/>
            <a:ext cx="5441950" cy="26050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2773" name="Rectangle 3"/>
          <p:cNvSpPr>
            <a:spLocks noGrp="1"/>
          </p:cNvSpPr>
          <p:nvPr>
            <p:ph type="title"/>
          </p:nvPr>
        </p:nvSpPr>
        <p:spPr>
          <a:xfrm>
            <a:off x="644525" y="504825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输入端口功能</a:t>
            </a:r>
            <a:endParaRPr lang="zh-CN" altLang="en-US" dirty="0"/>
          </a:p>
        </p:txBody>
      </p:sp>
      <p:sp>
        <p:nvSpPr>
          <p:cNvPr id="32774" name="Rectangle 4"/>
          <p:cNvSpPr>
            <a:spLocks noGrp="1"/>
          </p:cNvSpPr>
          <p:nvPr>
            <p:ph idx="1"/>
          </p:nvPr>
        </p:nvSpPr>
        <p:spPr>
          <a:xfrm>
            <a:off x="3394075" y="3668713"/>
            <a:ext cx="5456238" cy="2667000"/>
          </a:xfrm>
        </p:spPr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b="1" dirty="0"/>
              <a:t>分散式交换</a:t>
            </a:r>
            <a:r>
              <a:rPr lang="en-US" altLang="zh-CN" i="1" dirty="0"/>
              <a:t>:</a:t>
            </a:r>
            <a:r>
              <a:rPr lang="en-US" altLang="zh-CN" dirty="0"/>
              <a:t> </a:t>
            </a:r>
            <a:endParaRPr lang="en-US" altLang="zh-CN" dirty="0"/>
          </a:p>
          <a:p>
            <a:pPr eaLnBrk="1"/>
            <a:r>
              <a:rPr lang="zh-CN" altLang="en-US" sz="2400" dirty="0"/>
              <a:t>给定数据报目的地址</a:t>
            </a:r>
            <a:r>
              <a:rPr lang="en-US" altLang="zh-CN" sz="2400" dirty="0"/>
              <a:t>, </a:t>
            </a:r>
            <a:r>
              <a:rPr lang="zh-CN" altLang="en-US" sz="2400" dirty="0"/>
              <a:t>在输入端口内存中使用转发表查找输出端口</a:t>
            </a:r>
            <a:endParaRPr lang="en-US" altLang="zh-CN" sz="2400" dirty="0"/>
          </a:p>
          <a:p>
            <a:pPr eaLnBrk="1"/>
            <a:r>
              <a:rPr lang="zh-CN" altLang="en-US" sz="2400" dirty="0"/>
              <a:t>目的</a:t>
            </a:r>
            <a:r>
              <a:rPr lang="en-US" altLang="zh-CN" sz="2400" dirty="0"/>
              <a:t>: </a:t>
            </a:r>
            <a:r>
              <a:rPr lang="zh-CN" altLang="en-US" sz="2400" dirty="0"/>
              <a:t>以</a:t>
            </a:r>
            <a:r>
              <a:rPr lang="zh-CN" altLang="en-US" sz="2400" dirty="0">
                <a:latin typeface="Comic Sans MS" panose="030F0702030302020204" pitchFamily="66" charset="0"/>
              </a:rPr>
              <a:t>“</a:t>
            </a:r>
            <a:r>
              <a:rPr lang="zh-CN" altLang="en-US" sz="2400" dirty="0"/>
              <a:t>线速</a:t>
            </a:r>
            <a:r>
              <a:rPr lang="zh-CN" altLang="en-US" sz="2400" dirty="0">
                <a:latin typeface="Comic Sans MS" panose="030F0702030302020204" pitchFamily="66" charset="0"/>
              </a:rPr>
              <a:t>”</a:t>
            </a:r>
            <a:r>
              <a:rPr lang="zh-CN" altLang="en-US" sz="2400" dirty="0"/>
              <a:t>完成输入端口处理</a:t>
            </a:r>
            <a:endParaRPr lang="en-US" altLang="zh-CN" sz="2400" dirty="0"/>
          </a:p>
          <a:p>
            <a:pPr eaLnBrk="1"/>
            <a:r>
              <a:rPr lang="zh-CN" altLang="en-US" sz="2400" dirty="0"/>
              <a:t>排队：如果数据报到达比交换结构 的转发速率快</a:t>
            </a:r>
            <a:endParaRPr lang="zh-CN" altLang="en-US" sz="2400" dirty="0"/>
          </a:p>
        </p:txBody>
      </p:sp>
      <p:sp>
        <p:nvSpPr>
          <p:cNvPr id="32775" name="Text Box 5"/>
          <p:cNvSpPr txBox="1"/>
          <p:nvPr/>
        </p:nvSpPr>
        <p:spPr>
          <a:xfrm>
            <a:off x="922338" y="3060700"/>
            <a:ext cx="1454150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sz="2000" dirty="0">
                <a:solidFill>
                  <a:schemeClr val="accent2"/>
                </a:solidFill>
                <a:latin typeface="Comic Sans MS" panose="030F0702030302020204" pitchFamily="66" charset="0"/>
              </a:rPr>
              <a:t>物理层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</a:rPr>
              <a:t>: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r"/>
            <a:r>
              <a:rPr lang="zh-CN" altLang="en-US" sz="2000" dirty="0">
                <a:latin typeface="Comic Sans MS" panose="030F0702030302020204" pitchFamily="66" charset="0"/>
              </a:rPr>
              <a:t>比特级接收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2776" name="Text Box 6"/>
          <p:cNvSpPr txBox="1"/>
          <p:nvPr/>
        </p:nvSpPr>
        <p:spPr>
          <a:xfrm>
            <a:off x="19050" y="3789363"/>
            <a:ext cx="237172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sz="2000" dirty="0">
                <a:solidFill>
                  <a:schemeClr val="accent2"/>
                </a:solidFill>
                <a:latin typeface="Comic Sans MS" panose="030F0702030302020204" pitchFamily="66" charset="0"/>
              </a:rPr>
              <a:t>数据链路层</a:t>
            </a:r>
            <a:r>
              <a:rPr lang="en-US" altLang="zh-CN" sz="2000" dirty="0">
                <a:solidFill>
                  <a:schemeClr val="accent2"/>
                </a:solidFill>
                <a:latin typeface="Comic Sans MS" panose="030F0702030302020204" pitchFamily="66" charset="0"/>
              </a:rPr>
              <a:t>:</a:t>
            </a:r>
            <a:endParaRPr lang="en-US" altLang="zh-CN" sz="2000" dirty="0">
              <a:solidFill>
                <a:schemeClr val="accent2"/>
              </a:solidFill>
              <a:latin typeface="Comic Sans MS" panose="030F0702030302020204" pitchFamily="66" charset="0"/>
            </a:endParaRPr>
          </a:p>
          <a:p>
            <a:pPr algn="r"/>
            <a:r>
              <a:rPr lang="zh-CN" altLang="en-US" sz="2000" dirty="0">
                <a:latin typeface="Comic Sans MS" panose="030F0702030302020204" pitchFamily="66" charset="0"/>
              </a:rPr>
              <a:t>如以太网参见第</a:t>
            </a:r>
            <a:r>
              <a:rPr lang="en-US" altLang="zh-CN" sz="2000" dirty="0">
                <a:latin typeface="Comic Sans MS" panose="030F0702030302020204" pitchFamily="66" charset="0"/>
              </a:rPr>
              <a:t>5</a:t>
            </a:r>
            <a:r>
              <a:rPr lang="zh-CN" altLang="en-US" sz="2000" dirty="0">
                <a:latin typeface="Comic Sans MS" panose="030F0702030302020204" pitchFamily="66" charset="0"/>
              </a:rPr>
              <a:t>章</a:t>
            </a:r>
            <a:endParaRPr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32777" name="Freeform 7"/>
          <p:cNvSpPr/>
          <p:nvPr/>
        </p:nvSpPr>
        <p:spPr>
          <a:xfrm flipV="1">
            <a:off x="1963738" y="2662238"/>
            <a:ext cx="796925" cy="422275"/>
          </a:xfrm>
          <a:custGeom>
            <a:avLst/>
            <a:gdLst>
              <a:gd name="txL" fmla="*/ 0 w 769"/>
              <a:gd name="txT" fmla="*/ 0 h 517"/>
              <a:gd name="txR" fmla="*/ 769 w 769"/>
              <a:gd name="txB" fmla="*/ 517 h 517"/>
            </a:gdLst>
            <a:ahLst/>
            <a:cxnLst>
              <a:cxn ang="0">
                <a:pos x="0" y="0"/>
              </a:cxn>
              <a:cxn ang="0">
                <a:pos x="428" y="375"/>
              </a:cxn>
              <a:cxn ang="0">
                <a:pos x="461" y="169"/>
              </a:cxn>
              <a:cxn ang="0">
                <a:pos x="769" y="517"/>
              </a:cxn>
            </a:cxnLst>
            <a:rect l="txL" t="txT" r="txR" b="txB"/>
            <a:pathLst>
              <a:path w="769" h="517">
                <a:moveTo>
                  <a:pt x="0" y="0"/>
                </a:moveTo>
                <a:cubicBezTo>
                  <a:pt x="71" y="62"/>
                  <a:pt x="351" y="347"/>
                  <a:pt x="428" y="375"/>
                </a:cubicBezTo>
                <a:cubicBezTo>
                  <a:pt x="505" y="403"/>
                  <a:pt x="404" y="145"/>
                  <a:pt x="461" y="169"/>
                </a:cubicBezTo>
                <a:cubicBezTo>
                  <a:pt x="518" y="192"/>
                  <a:pt x="705" y="444"/>
                  <a:pt x="769" y="51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2778" name="Freeform 8"/>
          <p:cNvSpPr/>
          <p:nvPr/>
        </p:nvSpPr>
        <p:spPr>
          <a:xfrm flipV="1">
            <a:off x="2338388" y="2674938"/>
            <a:ext cx="1408112" cy="1198562"/>
          </a:xfrm>
          <a:custGeom>
            <a:avLst/>
            <a:gdLst>
              <a:gd name="txL" fmla="*/ 0 w 769"/>
              <a:gd name="txT" fmla="*/ 0 h 517"/>
              <a:gd name="txR" fmla="*/ 769 w 769"/>
              <a:gd name="txB" fmla="*/ 517 h 517"/>
            </a:gdLst>
            <a:ahLst/>
            <a:cxnLst>
              <a:cxn ang="0">
                <a:pos x="0" y="0"/>
              </a:cxn>
              <a:cxn ang="0">
                <a:pos x="428" y="375"/>
              </a:cxn>
              <a:cxn ang="0">
                <a:pos x="461" y="169"/>
              </a:cxn>
              <a:cxn ang="0">
                <a:pos x="769" y="517"/>
              </a:cxn>
            </a:cxnLst>
            <a:rect l="txL" t="txT" r="txR" b="txB"/>
            <a:pathLst>
              <a:path w="769" h="517">
                <a:moveTo>
                  <a:pt x="0" y="0"/>
                </a:moveTo>
                <a:cubicBezTo>
                  <a:pt x="71" y="62"/>
                  <a:pt x="351" y="347"/>
                  <a:pt x="428" y="375"/>
                </a:cubicBezTo>
                <a:cubicBezTo>
                  <a:pt x="505" y="403"/>
                  <a:pt x="404" y="145"/>
                  <a:pt x="461" y="169"/>
                </a:cubicBezTo>
                <a:cubicBezTo>
                  <a:pt x="518" y="192"/>
                  <a:pt x="705" y="444"/>
                  <a:pt x="769" y="51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2779" name="Freeform 9"/>
          <p:cNvSpPr/>
          <p:nvPr/>
        </p:nvSpPr>
        <p:spPr>
          <a:xfrm flipV="1">
            <a:off x="5222875" y="2873375"/>
            <a:ext cx="760413" cy="881063"/>
          </a:xfrm>
          <a:custGeom>
            <a:avLst/>
            <a:gdLst>
              <a:gd name="txL" fmla="*/ 0 w 769"/>
              <a:gd name="txT" fmla="*/ 0 h 517"/>
              <a:gd name="txR" fmla="*/ 769 w 769"/>
              <a:gd name="txB" fmla="*/ 517 h 517"/>
            </a:gdLst>
            <a:ahLst/>
            <a:cxnLst>
              <a:cxn ang="0">
                <a:pos x="0" y="0"/>
              </a:cxn>
              <a:cxn ang="0">
                <a:pos x="428" y="375"/>
              </a:cxn>
              <a:cxn ang="0">
                <a:pos x="461" y="169"/>
              </a:cxn>
              <a:cxn ang="0">
                <a:pos x="769" y="517"/>
              </a:cxn>
            </a:cxnLst>
            <a:rect l="txL" t="txT" r="txR" b="txB"/>
            <a:pathLst>
              <a:path w="769" h="517">
                <a:moveTo>
                  <a:pt x="0" y="0"/>
                </a:moveTo>
                <a:cubicBezTo>
                  <a:pt x="71" y="62"/>
                  <a:pt x="351" y="347"/>
                  <a:pt x="428" y="375"/>
                </a:cubicBezTo>
                <a:cubicBezTo>
                  <a:pt x="505" y="403"/>
                  <a:pt x="404" y="145"/>
                  <a:pt x="461" y="169"/>
                </a:cubicBezTo>
                <a:cubicBezTo>
                  <a:pt x="518" y="192"/>
                  <a:pt x="705" y="444"/>
                  <a:pt x="769" y="517"/>
                </a:cubicBezTo>
              </a:path>
            </a:pathLst>
          </a:cu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379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pic>
        <p:nvPicPr>
          <p:cNvPr id="33796" name="Picture 2" descr="463 swtching method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3275" y="1387475"/>
            <a:ext cx="7391400" cy="50196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3797" name="Rectangle 3"/>
          <p:cNvSpPr>
            <a:spLocks noGrp="1"/>
          </p:cNvSpPr>
          <p:nvPr>
            <p:ph type="title"/>
          </p:nvPr>
        </p:nvSpPr>
        <p:spPr>
          <a:xfrm>
            <a:off x="685800" y="30480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三种类型的交换结构</a:t>
            </a:r>
            <a:endParaRPr lang="en-US" altLang="zh-CN" dirty="0"/>
          </a:p>
        </p:txBody>
      </p:sp>
      <p:sp>
        <p:nvSpPr>
          <p:cNvPr id="33798" name="Text Box 4"/>
          <p:cNvSpPr txBox="1"/>
          <p:nvPr/>
        </p:nvSpPr>
        <p:spPr>
          <a:xfrm>
            <a:off x="1771650" y="3114675"/>
            <a:ext cx="168592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400" dirty="0">
                <a:latin typeface="Comic Sans MS" panose="030F0702030302020204" pitchFamily="66" charset="0"/>
              </a:rPr>
              <a:t>内存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33799" name="Text Box 5"/>
          <p:cNvSpPr txBox="1"/>
          <p:nvPr/>
        </p:nvSpPr>
        <p:spPr>
          <a:xfrm>
            <a:off x="5938838" y="3013075"/>
            <a:ext cx="1685925" cy="457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400" dirty="0">
                <a:latin typeface="Comic Sans MS" panose="030F0702030302020204" pitchFamily="66" charset="0"/>
              </a:rPr>
              <a:t>总线</a:t>
            </a:r>
            <a:endParaRPr lang="zh-CN" altLang="en-US" sz="2400" dirty="0">
              <a:latin typeface="Comic Sans MS" panose="030F0702030302020204" pitchFamily="6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810885" y="4613910"/>
            <a:ext cx="2093595" cy="706755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r>
              <a:rPr lang="zh-CN" altLang="en-US" sz="2000" dirty="0">
                <a:sym typeface="+mn-ea"/>
              </a:rPr>
              <a:t>经互联网络的交换</a:t>
            </a:r>
            <a:endParaRPr lang="zh-CN" altLang="en-US" sz="2000" dirty="0"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445" y="506095"/>
            <a:ext cx="7555230" cy="57473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481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4820" name="Rectangle 2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096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经内存交换</a:t>
            </a:r>
            <a:endParaRPr lang="en-US" altLang="zh-CN" dirty="0"/>
          </a:p>
        </p:txBody>
      </p:sp>
      <p:sp>
        <p:nvSpPr>
          <p:cNvPr id="34821" name="Rectangle 3"/>
          <p:cNvSpPr>
            <a:spLocks noGrp="1"/>
          </p:cNvSpPr>
          <p:nvPr>
            <p:ph idx="1"/>
          </p:nvPr>
        </p:nvSpPr>
        <p:spPr>
          <a:xfrm>
            <a:off x="685800" y="1066800"/>
            <a:ext cx="7848600" cy="1893888"/>
          </a:xfrm>
        </p:spPr>
        <p:txBody>
          <a:bodyPr vert="horz" wrap="square" lIns="91440" tIns="45720" rIns="91440" bIns="45720" anchor="t" anchorCtr="0"/>
          <a:p>
            <a:pPr marL="114300" indent="-114300" eaLnBrk="1">
              <a:lnSpc>
                <a:spcPct val="8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第一代路由器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endParaRPr lang="en-US" altLang="zh-CN" sz="1800" dirty="0"/>
          </a:p>
          <a:p>
            <a:pPr marL="114300" indent="-114300" eaLnBrk="1">
              <a:lnSpc>
                <a:spcPct val="80000"/>
              </a:lnSpc>
            </a:pPr>
            <a:r>
              <a:rPr lang="en-US" altLang="zh-CN" sz="2400" dirty="0"/>
              <a:t> </a:t>
            </a:r>
            <a:r>
              <a:rPr lang="zh-CN" altLang="en-US" sz="2400" dirty="0"/>
              <a:t>具有交换功能的传统计算机，在</a:t>
            </a:r>
            <a:r>
              <a:rPr lang="en-US" altLang="zh-CN" sz="2400" dirty="0"/>
              <a:t>CPU</a:t>
            </a:r>
            <a:r>
              <a:rPr lang="zh-CN" altLang="en-US" sz="2400" dirty="0"/>
              <a:t>的直接控制下</a:t>
            </a:r>
            <a:endParaRPr lang="en-US" altLang="zh-CN" sz="2400" dirty="0"/>
          </a:p>
          <a:p>
            <a:pPr marL="114300" indent="-114300" eaLnBrk="1">
              <a:lnSpc>
                <a:spcPct val="80000"/>
              </a:lnSpc>
            </a:pPr>
            <a:r>
              <a:rPr lang="zh-CN" altLang="en-US" sz="2400" dirty="0"/>
              <a:t>分组拷贝到系统的内存</a:t>
            </a:r>
            <a:endParaRPr lang="zh-CN" altLang="en-US" sz="2400" dirty="0"/>
          </a:p>
          <a:p>
            <a:pPr marL="114300" indent="-114300" eaLnBrk="1">
              <a:lnSpc>
                <a:spcPct val="80000"/>
              </a:lnSpc>
            </a:pPr>
            <a:r>
              <a:rPr lang="zh-CN" altLang="en-US" sz="2400" dirty="0"/>
              <a:t>速率受内存带宽限制</a:t>
            </a:r>
            <a:r>
              <a:rPr lang="en-US" altLang="zh-CN" sz="2400" dirty="0"/>
              <a:t>(</a:t>
            </a:r>
            <a:r>
              <a:rPr lang="zh-CN" altLang="en-US" sz="2400" dirty="0"/>
              <a:t>每数据报跨越两次总线</a:t>
            </a:r>
            <a:r>
              <a:rPr lang="en-US" altLang="zh-CN" sz="2400" dirty="0"/>
              <a:t>)</a:t>
            </a:r>
            <a:endParaRPr lang="en-US" altLang="zh-CN" sz="2400" dirty="0"/>
          </a:p>
        </p:txBody>
      </p:sp>
      <p:sp>
        <p:nvSpPr>
          <p:cNvPr id="34822" name="Rectangle 5"/>
          <p:cNvSpPr/>
          <p:nvPr/>
        </p:nvSpPr>
        <p:spPr>
          <a:xfrm>
            <a:off x="1757363" y="3810000"/>
            <a:ext cx="949325" cy="9128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4823" name="Rectangle 6"/>
          <p:cNvSpPr/>
          <p:nvPr/>
        </p:nvSpPr>
        <p:spPr>
          <a:xfrm>
            <a:off x="5470525" y="3810000"/>
            <a:ext cx="949325" cy="9128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4824" name="Rectangle 7"/>
          <p:cNvSpPr/>
          <p:nvPr/>
        </p:nvSpPr>
        <p:spPr>
          <a:xfrm>
            <a:off x="3138488" y="3403600"/>
            <a:ext cx="1985962" cy="1319213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4825" name="Line 8"/>
          <p:cNvSpPr/>
          <p:nvPr/>
        </p:nvSpPr>
        <p:spPr>
          <a:xfrm>
            <a:off x="1411288" y="5434013"/>
            <a:ext cx="52673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6" name="Line 9"/>
          <p:cNvSpPr/>
          <p:nvPr/>
        </p:nvSpPr>
        <p:spPr>
          <a:xfrm>
            <a:off x="2274888" y="4722813"/>
            <a:ext cx="0" cy="71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7" name="Line 10"/>
          <p:cNvSpPr/>
          <p:nvPr/>
        </p:nvSpPr>
        <p:spPr>
          <a:xfrm>
            <a:off x="4175125" y="4722813"/>
            <a:ext cx="0" cy="71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8" name="Line 11"/>
          <p:cNvSpPr/>
          <p:nvPr/>
        </p:nvSpPr>
        <p:spPr>
          <a:xfrm>
            <a:off x="5988050" y="4722813"/>
            <a:ext cx="0" cy="711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29" name="Line 12"/>
          <p:cNvSpPr/>
          <p:nvPr/>
        </p:nvSpPr>
        <p:spPr>
          <a:xfrm flipH="1">
            <a:off x="461963" y="41148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0" name="Line 13"/>
          <p:cNvSpPr/>
          <p:nvPr/>
        </p:nvSpPr>
        <p:spPr>
          <a:xfrm flipH="1">
            <a:off x="6419850" y="4013200"/>
            <a:ext cx="12954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34831" name="Line 14"/>
          <p:cNvSpPr/>
          <p:nvPr/>
        </p:nvSpPr>
        <p:spPr>
          <a:xfrm>
            <a:off x="720725" y="4316413"/>
            <a:ext cx="146843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2" name="Line 15"/>
          <p:cNvSpPr/>
          <p:nvPr/>
        </p:nvSpPr>
        <p:spPr>
          <a:xfrm>
            <a:off x="2189163" y="4316413"/>
            <a:ext cx="0" cy="132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3" name="Line 16"/>
          <p:cNvSpPr/>
          <p:nvPr/>
        </p:nvSpPr>
        <p:spPr>
          <a:xfrm>
            <a:off x="2189163" y="5637213"/>
            <a:ext cx="17272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4" name="Line 17"/>
          <p:cNvSpPr/>
          <p:nvPr/>
        </p:nvSpPr>
        <p:spPr>
          <a:xfrm flipV="1">
            <a:off x="3916363" y="4316413"/>
            <a:ext cx="0" cy="132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5" name="Line 18"/>
          <p:cNvSpPr/>
          <p:nvPr/>
        </p:nvSpPr>
        <p:spPr>
          <a:xfrm>
            <a:off x="3916363" y="4316413"/>
            <a:ext cx="60325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6" name="Line 19"/>
          <p:cNvSpPr/>
          <p:nvPr/>
        </p:nvSpPr>
        <p:spPr>
          <a:xfrm>
            <a:off x="4519613" y="4316413"/>
            <a:ext cx="0" cy="132080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7" name="Line 20"/>
          <p:cNvSpPr/>
          <p:nvPr/>
        </p:nvSpPr>
        <p:spPr>
          <a:xfrm>
            <a:off x="4519613" y="5637213"/>
            <a:ext cx="138271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8" name="Line 21"/>
          <p:cNvSpPr/>
          <p:nvPr/>
        </p:nvSpPr>
        <p:spPr>
          <a:xfrm flipV="1">
            <a:off x="5902325" y="4114800"/>
            <a:ext cx="0" cy="1522413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39" name="Line 22"/>
          <p:cNvSpPr/>
          <p:nvPr/>
        </p:nvSpPr>
        <p:spPr>
          <a:xfrm>
            <a:off x="5902325" y="4114800"/>
            <a:ext cx="13811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ysDot"/>
            <a:headEnd type="none" w="med" len="med"/>
            <a:tailEnd type="arrow" w="med" len="med"/>
          </a:ln>
        </p:spPr>
      </p:sp>
      <p:sp>
        <p:nvSpPr>
          <p:cNvPr id="34840" name="Text Box 23"/>
          <p:cNvSpPr txBox="1"/>
          <p:nvPr/>
        </p:nvSpPr>
        <p:spPr>
          <a:xfrm>
            <a:off x="1739900" y="2965450"/>
            <a:ext cx="9969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latin typeface="Times New Roman" panose="02020603050405020304" pitchFamily="18" charset="0"/>
              </a:rPr>
              <a:t>输入端口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4841" name="Text Box 24"/>
          <p:cNvSpPr txBox="1"/>
          <p:nvPr/>
        </p:nvSpPr>
        <p:spPr>
          <a:xfrm>
            <a:off x="5470525" y="2997200"/>
            <a:ext cx="1266825" cy="3365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600" dirty="0">
                <a:latin typeface="Times New Roman" panose="02020603050405020304" pitchFamily="18" charset="0"/>
              </a:rPr>
              <a:t>输出端口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4842" name="Text Box 25"/>
          <p:cNvSpPr txBox="1"/>
          <p:nvPr/>
        </p:nvSpPr>
        <p:spPr>
          <a:xfrm>
            <a:off x="3294063" y="2863850"/>
            <a:ext cx="5905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latin typeface="Times New Roman" panose="02020603050405020304" pitchFamily="18" charset="0"/>
              </a:rPr>
              <a:t>内存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34843" name="Text Box 26"/>
          <p:cNvSpPr txBox="1"/>
          <p:nvPr/>
        </p:nvSpPr>
        <p:spPr>
          <a:xfrm>
            <a:off x="6315075" y="4995863"/>
            <a:ext cx="9969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latin typeface="Times New Roman" panose="02020603050405020304" pitchFamily="18" charset="0"/>
              </a:rPr>
              <a:t>系统总线</a:t>
            </a:r>
            <a:endParaRPr lang="zh-CN" altLang="en-US" sz="3200" dirty="0">
              <a:latin typeface="Times New Roman" panose="02020603050405020304" pitchFamily="18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26665" y="477075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拷贝</a:t>
            </a:r>
            <a:endParaRPr lang="zh-CN" altLang="en-US" sz="2400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67050" y="3524250"/>
            <a:ext cx="20427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800" dirty="0">
                <a:sym typeface="+mn-ea"/>
              </a:rPr>
              <a:t>提取目的地址，从转发表中找到输出端口</a:t>
            </a:r>
            <a:endParaRPr lang="zh-CN" altLang="en-US" sz="1800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10200" y="477075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dirty="0">
                <a:sym typeface="+mn-ea"/>
              </a:rPr>
              <a:t>拷贝</a:t>
            </a:r>
            <a:endParaRPr lang="zh-CN" altLang="en-US" sz="2400" dirty="0"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584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35844" name="Group 2"/>
          <p:cNvGrpSpPr/>
          <p:nvPr/>
        </p:nvGrpSpPr>
        <p:grpSpPr>
          <a:xfrm>
            <a:off x="1190625" y="671513"/>
            <a:ext cx="7391400" cy="5184775"/>
            <a:chOff x="1002" y="245"/>
            <a:chExt cx="4656" cy="3266"/>
          </a:xfrm>
        </p:grpSpPr>
        <p:pic>
          <p:nvPicPr>
            <p:cNvPr id="35848" name="Picture 3" descr="463 swtching methods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002" y="252"/>
              <a:ext cx="4656" cy="3162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35849" name="Rectangle 4"/>
            <p:cNvSpPr/>
            <p:nvPr/>
          </p:nvSpPr>
          <p:spPr>
            <a:xfrm>
              <a:off x="1030" y="245"/>
              <a:ext cx="2474" cy="1311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35850" name="Rectangle 5"/>
            <p:cNvSpPr/>
            <p:nvPr/>
          </p:nvSpPr>
          <p:spPr>
            <a:xfrm>
              <a:off x="1992" y="1748"/>
              <a:ext cx="3237" cy="1763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35845" name="Rectangle 6"/>
          <p:cNvSpPr>
            <a:spLocks noGrp="1"/>
          </p:cNvSpPr>
          <p:nvPr>
            <p:ph type="title"/>
          </p:nvPr>
        </p:nvSpPr>
        <p:spPr>
          <a:xfrm>
            <a:off x="650875" y="798513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经总线交换</a:t>
            </a:r>
            <a:endParaRPr lang="en-US" altLang="zh-CN" dirty="0"/>
          </a:p>
        </p:txBody>
      </p:sp>
      <p:sp>
        <p:nvSpPr>
          <p:cNvPr id="35846" name="Rectangle 7"/>
          <p:cNvSpPr>
            <a:spLocks noGrp="1"/>
          </p:cNvSpPr>
          <p:nvPr>
            <p:ph idx="1"/>
          </p:nvPr>
        </p:nvSpPr>
        <p:spPr>
          <a:xfrm>
            <a:off x="396875" y="2500313"/>
            <a:ext cx="5608638" cy="4071937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dirty="0"/>
              <a:t>数据报从输入端口到输出端口内存经一个共享的总线</a:t>
            </a:r>
            <a:endParaRPr lang="en-US" altLang="zh-CN" dirty="0"/>
          </a:p>
          <a:p>
            <a:pPr eaLnBrk="1"/>
            <a:r>
              <a:rPr lang="zh-CN" altLang="en-US" dirty="0">
                <a:solidFill>
                  <a:srgbClr val="FF0000"/>
                </a:solidFill>
              </a:rPr>
              <a:t>总线竞争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交换速率受总线带宽限制</a:t>
            </a:r>
            <a:endParaRPr lang="zh-CN" altLang="en-US" dirty="0"/>
          </a:p>
          <a:p>
            <a:pPr eaLnBrk="1"/>
            <a:r>
              <a:rPr lang="en-US" altLang="zh-CN" dirty="0"/>
              <a:t>1 Gbps</a:t>
            </a:r>
            <a:r>
              <a:rPr lang="zh-CN" altLang="en-US" dirty="0"/>
              <a:t>总线</a:t>
            </a:r>
            <a:r>
              <a:rPr lang="en-US" altLang="zh-CN" dirty="0"/>
              <a:t>, Cisco 1900: </a:t>
            </a:r>
            <a:r>
              <a:rPr lang="zh-CN" altLang="en-US" dirty="0"/>
              <a:t>用于接入和企业</a:t>
            </a:r>
            <a:r>
              <a:rPr lang="en-US" altLang="zh-CN" dirty="0"/>
              <a:t>(</a:t>
            </a:r>
            <a:r>
              <a:rPr lang="zh-CN" altLang="en-US" dirty="0"/>
              <a:t>非区域或主干</a:t>
            </a:r>
            <a:r>
              <a:rPr lang="en-US" altLang="zh-CN" dirty="0"/>
              <a:t>)</a:t>
            </a:r>
            <a:r>
              <a:rPr lang="zh-CN" altLang="en-US" dirty="0"/>
              <a:t>路由器的充足速率</a:t>
            </a:r>
            <a:endParaRPr lang="en-US" altLang="zh-CN" dirty="0"/>
          </a:p>
        </p:txBody>
      </p:sp>
      <p:sp>
        <p:nvSpPr>
          <p:cNvPr id="35847" name="Text Box 8"/>
          <p:cNvSpPr txBox="1"/>
          <p:nvPr/>
        </p:nvSpPr>
        <p:spPr>
          <a:xfrm>
            <a:off x="6056313" y="2244725"/>
            <a:ext cx="2463800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总线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056630" y="237490"/>
            <a:ext cx="21685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 b="1" dirty="0">
                <a:solidFill>
                  <a:schemeClr val="accent2"/>
                </a:solidFill>
                <a:sym typeface="+mn-ea"/>
              </a:rPr>
              <a:t>分配内部标签（首部），一次只有一个分组</a:t>
            </a:r>
            <a:endParaRPr lang="zh-CN" altLang="en-US" sz="1400" b="1" dirty="0">
              <a:solidFill>
                <a:schemeClr val="accent2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686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6868" name="Rectangle 2"/>
          <p:cNvSpPr>
            <a:spLocks noGrp="1"/>
          </p:cNvSpPr>
          <p:nvPr>
            <p:ph type="title"/>
          </p:nvPr>
        </p:nvSpPr>
        <p:spPr>
          <a:xfrm>
            <a:off x="522288" y="5080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经互联网络的交换</a:t>
            </a:r>
            <a:endParaRPr lang="en-US" altLang="zh-CN" sz="3600" dirty="0"/>
          </a:p>
        </p:txBody>
      </p:sp>
      <p:sp>
        <p:nvSpPr>
          <p:cNvPr id="36869" name="Rectangle 3"/>
          <p:cNvSpPr>
            <a:spLocks noGrp="1"/>
          </p:cNvSpPr>
          <p:nvPr>
            <p:ph idx="1"/>
          </p:nvPr>
        </p:nvSpPr>
        <p:spPr>
          <a:xfrm>
            <a:off x="533400" y="2619058"/>
            <a:ext cx="7772400" cy="3497262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dirty="0"/>
              <a:t>克服了总线带宽限制</a:t>
            </a:r>
            <a:endParaRPr lang="zh-CN" altLang="en-US" dirty="0"/>
          </a:p>
          <a:p>
            <a:pPr eaLnBrk="1"/>
            <a:r>
              <a:rPr lang="zh-CN" altLang="en-US" dirty="0"/>
              <a:t>连接多处理器</a:t>
            </a:r>
            <a:endParaRPr lang="zh-CN" altLang="en-US" dirty="0"/>
          </a:p>
          <a:p>
            <a:pPr eaLnBrk="1"/>
            <a:r>
              <a:rPr lang="zh-CN" altLang="en-US" dirty="0"/>
              <a:t>先进的设计：数据报分段为固定长度的信元，通过交换结构搅和信元</a:t>
            </a:r>
            <a:endParaRPr lang="zh-CN" altLang="en-US" dirty="0"/>
          </a:p>
          <a:p>
            <a:pPr eaLnBrk="1"/>
            <a:r>
              <a:rPr lang="zh-CN" altLang="en-US" dirty="0"/>
              <a:t> </a:t>
            </a:r>
            <a:r>
              <a:rPr lang="en-US" altLang="zh-CN" dirty="0"/>
              <a:t>Cisco 12000: </a:t>
            </a:r>
            <a:r>
              <a:rPr lang="zh-CN" altLang="en-US" dirty="0"/>
              <a:t>通过互联网络交换</a:t>
            </a:r>
            <a:r>
              <a:rPr lang="en-US" altLang="zh-CN" dirty="0"/>
              <a:t>Gbps</a:t>
            </a:r>
            <a:endParaRPr lang="en-US" altLang="zh-CN" dirty="0"/>
          </a:p>
        </p:txBody>
      </p:sp>
      <p:grpSp>
        <p:nvGrpSpPr>
          <p:cNvPr id="67590" name="Group 58"/>
          <p:cNvGrpSpPr/>
          <p:nvPr/>
        </p:nvGrpSpPr>
        <p:grpSpPr>
          <a:xfrm>
            <a:off x="5681345" y="327978"/>
            <a:ext cx="2252663" cy="2066925"/>
            <a:chOff x="3812" y="2763"/>
            <a:chExt cx="1419" cy="1302"/>
          </a:xfrm>
        </p:grpSpPr>
        <p:grpSp>
          <p:nvGrpSpPr>
            <p:cNvPr id="67591" name="Group 4"/>
            <p:cNvGrpSpPr/>
            <p:nvPr/>
          </p:nvGrpSpPr>
          <p:grpSpPr>
            <a:xfrm>
              <a:off x="3933" y="2763"/>
              <a:ext cx="561" cy="136"/>
              <a:chOff x="876" y="2800"/>
              <a:chExt cx="642" cy="175"/>
            </a:xfrm>
          </p:grpSpPr>
          <p:sp>
            <p:nvSpPr>
              <p:cNvPr id="67640" name="Rectangle 5"/>
              <p:cNvSpPr/>
              <p:nvPr>
                <p:custDataLst>
                  <p:tags r:id="rId1"/>
                </p:custDataLst>
              </p:nvPr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41" name="Rectangle 6"/>
              <p:cNvSpPr/>
              <p:nvPr>
                <p:custDataLst>
                  <p:tags r:id="rId2"/>
                </p:custDataLst>
              </p:nvPr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42" name="Rectangle 7"/>
              <p:cNvSpPr/>
              <p:nvPr>
                <p:custDataLst>
                  <p:tags r:id="rId3"/>
                </p:custDataLst>
              </p:nvPr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43" name="Rectangle 8"/>
              <p:cNvSpPr/>
              <p:nvPr>
                <p:custDataLst>
                  <p:tags r:id="rId4"/>
                </p:custDataLst>
              </p:nvPr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44" name="Line 9"/>
              <p:cNvSpPr/>
              <p:nvPr>
                <p:custDataLst>
                  <p:tags r:id="rId5"/>
                </p:custDataLst>
              </p:nvPr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7592" name="Group 10"/>
            <p:cNvGrpSpPr/>
            <p:nvPr/>
          </p:nvGrpSpPr>
          <p:grpSpPr>
            <a:xfrm>
              <a:off x="3918" y="3012"/>
              <a:ext cx="561" cy="136"/>
              <a:chOff x="876" y="2800"/>
              <a:chExt cx="642" cy="175"/>
            </a:xfrm>
          </p:grpSpPr>
          <p:sp>
            <p:nvSpPr>
              <p:cNvPr id="67635" name="Rectangle 11"/>
              <p:cNvSpPr/>
              <p:nvPr>
                <p:custDataLst>
                  <p:tags r:id="rId6"/>
                </p:custDataLst>
              </p:nvPr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6" name="Rectangle 12"/>
              <p:cNvSpPr/>
              <p:nvPr>
                <p:custDataLst>
                  <p:tags r:id="rId7"/>
                </p:custDataLst>
              </p:nvPr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7" name="Rectangle 13"/>
              <p:cNvSpPr/>
              <p:nvPr>
                <p:custDataLst>
                  <p:tags r:id="rId8"/>
                </p:custDataLst>
              </p:nvPr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8" name="Rectangle 14"/>
              <p:cNvSpPr/>
              <p:nvPr>
                <p:custDataLst>
                  <p:tags r:id="rId9"/>
                </p:custDataLst>
              </p:nvPr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9" name="Line 15"/>
              <p:cNvSpPr/>
              <p:nvPr>
                <p:custDataLst>
                  <p:tags r:id="rId10"/>
                </p:custDataLst>
              </p:nvPr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7593" name="Group 16"/>
            <p:cNvGrpSpPr/>
            <p:nvPr/>
          </p:nvGrpSpPr>
          <p:grpSpPr>
            <a:xfrm>
              <a:off x="3915" y="3281"/>
              <a:ext cx="561" cy="136"/>
              <a:chOff x="876" y="2800"/>
              <a:chExt cx="642" cy="175"/>
            </a:xfrm>
          </p:grpSpPr>
          <p:sp>
            <p:nvSpPr>
              <p:cNvPr id="67630" name="Rectangle 17"/>
              <p:cNvSpPr/>
              <p:nvPr>
                <p:custDataLst>
                  <p:tags r:id="rId11"/>
                </p:custDataLst>
              </p:nvPr>
            </p:nvSpPr>
            <p:spPr>
              <a:xfrm>
                <a:off x="925" y="2800"/>
                <a:ext cx="485" cy="17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5F5F5F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1" name="Rectangle 18"/>
              <p:cNvSpPr/>
              <p:nvPr>
                <p:custDataLst>
                  <p:tags r:id="rId12"/>
                </p:custDataLst>
              </p:nvPr>
            </p:nvSpPr>
            <p:spPr>
              <a:xfrm>
                <a:off x="945" y="2849"/>
                <a:ext cx="151" cy="78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0066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2" name="Rectangle 19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17" y="2818"/>
                <a:ext cx="124" cy="134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accent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3" name="Rectangle 20"/>
              <p:cNvSpPr/>
              <p:nvPr>
                <p:custDataLst>
                  <p:tags r:id="rId14"/>
                </p:custDataLst>
              </p:nvPr>
            </p:nvSpPr>
            <p:spPr>
              <a:xfrm>
                <a:off x="1263" y="2815"/>
                <a:ext cx="125" cy="135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rgbClr val="FF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sp>
            <p:nvSpPr>
              <p:cNvPr id="67634" name="Line 21"/>
              <p:cNvSpPr/>
              <p:nvPr>
                <p:custDataLst>
                  <p:tags r:id="rId15"/>
                </p:custDataLst>
              </p:nvPr>
            </p:nvSpPr>
            <p:spPr>
              <a:xfrm flipV="1">
                <a:off x="876" y="2882"/>
                <a:ext cx="642" cy="5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triangle" w="med" len="med"/>
              </a:ln>
            </p:spPr>
          </p:sp>
        </p:grpSp>
        <p:grpSp>
          <p:nvGrpSpPr>
            <p:cNvPr id="67594" name="Group 22"/>
            <p:cNvGrpSpPr/>
            <p:nvPr/>
          </p:nvGrpSpPr>
          <p:grpSpPr>
            <a:xfrm rot="5400000">
              <a:off x="4623" y="3405"/>
              <a:ext cx="564" cy="652"/>
              <a:chOff x="2954" y="2776"/>
              <a:chExt cx="564" cy="652"/>
            </a:xfrm>
          </p:grpSpPr>
          <p:grpSp>
            <p:nvGrpSpPr>
              <p:cNvPr id="67612" name="Group 23"/>
              <p:cNvGrpSpPr/>
              <p:nvPr/>
            </p:nvGrpSpPr>
            <p:grpSpPr>
              <a:xfrm>
                <a:off x="2954" y="2776"/>
                <a:ext cx="561" cy="136"/>
                <a:chOff x="455" y="3463"/>
                <a:chExt cx="561" cy="136"/>
              </a:xfrm>
            </p:grpSpPr>
            <p:sp>
              <p:nvSpPr>
                <p:cNvPr id="67625" name="Rectangle 24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6" name="Rectangle 25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7" name="Rectangle 26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8" name="Rectangle 27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9" name="Line 28"/>
                <p:cNvSpPr/>
                <p:nvPr>
                  <p:custDataLst>
                    <p:tags r:id="rId20"/>
                  </p:custDataLst>
                </p:nvPr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67613" name="Group 29"/>
              <p:cNvGrpSpPr/>
              <p:nvPr/>
            </p:nvGrpSpPr>
            <p:grpSpPr>
              <a:xfrm>
                <a:off x="2957" y="3023"/>
                <a:ext cx="561" cy="136"/>
                <a:chOff x="455" y="3463"/>
                <a:chExt cx="561" cy="136"/>
              </a:xfrm>
            </p:grpSpPr>
            <p:sp>
              <p:nvSpPr>
                <p:cNvPr id="67620" name="Rectangle 30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1" name="Rectangle 31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2" name="Rectangle 32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3" name="Rectangle 33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24" name="Line 34"/>
                <p:cNvSpPr/>
                <p:nvPr>
                  <p:custDataLst>
                    <p:tags r:id="rId25"/>
                  </p:custDataLst>
                </p:nvPr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  <p:grpSp>
            <p:nvGrpSpPr>
              <p:cNvPr id="67614" name="Group 35"/>
              <p:cNvGrpSpPr/>
              <p:nvPr/>
            </p:nvGrpSpPr>
            <p:grpSpPr>
              <a:xfrm>
                <a:off x="2954" y="3292"/>
                <a:ext cx="561" cy="136"/>
                <a:chOff x="455" y="3463"/>
                <a:chExt cx="561" cy="136"/>
              </a:xfrm>
            </p:grpSpPr>
            <p:sp>
              <p:nvSpPr>
                <p:cNvPr id="67615" name="Rectangle 36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496" y="3465"/>
                  <a:ext cx="424" cy="136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5F5F5F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16" name="Rectangle 37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769" y="3504"/>
                  <a:ext cx="132" cy="61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66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17" name="Rectangle 38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642" y="3479"/>
                  <a:ext cx="108" cy="104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18" name="Rectangle 39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515" y="3484"/>
                  <a:ext cx="108" cy="105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7619" name="Line 40"/>
                <p:cNvSpPr/>
                <p:nvPr>
                  <p:custDataLst>
                    <p:tags r:id="rId30"/>
                  </p:custDataLst>
                </p:nvPr>
              </p:nvSpPr>
              <p:spPr>
                <a:xfrm flipV="1">
                  <a:off x="453" y="3529"/>
                  <a:ext cx="561" cy="4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7595" name="Line 41"/>
            <p:cNvSpPr/>
            <p:nvPr>
              <p:custDataLst>
                <p:tags r:id="rId31"/>
              </p:custDataLst>
            </p:nvPr>
          </p:nvSpPr>
          <p:spPr>
            <a:xfrm>
              <a:off x="4494" y="2830"/>
              <a:ext cx="67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596" name="Line 42"/>
            <p:cNvSpPr/>
            <p:nvPr>
              <p:custDataLst>
                <p:tags r:id="rId32"/>
              </p:custDataLst>
            </p:nvPr>
          </p:nvSpPr>
          <p:spPr>
            <a:xfrm flipV="1">
              <a:off x="4470" y="3074"/>
              <a:ext cx="700" cy="2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597" name="Line 43"/>
            <p:cNvSpPr/>
            <p:nvPr>
              <p:custDataLst>
                <p:tags r:id="rId33"/>
              </p:custDataLst>
            </p:nvPr>
          </p:nvSpPr>
          <p:spPr>
            <a:xfrm>
              <a:off x="4470" y="3346"/>
              <a:ext cx="694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598" name="Line 44"/>
            <p:cNvSpPr/>
            <p:nvPr>
              <p:custDataLst>
                <p:tags r:id="rId34"/>
              </p:custDataLst>
            </p:nvPr>
          </p:nvSpPr>
          <p:spPr>
            <a:xfrm flipV="1">
              <a:off x="4648" y="2830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599" name="Line 45"/>
            <p:cNvSpPr/>
            <p:nvPr>
              <p:custDataLst>
                <p:tags r:id="rId35"/>
              </p:custDataLst>
            </p:nvPr>
          </p:nvSpPr>
          <p:spPr>
            <a:xfrm flipV="1">
              <a:off x="4914" y="2830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00" name="Line 46"/>
            <p:cNvSpPr/>
            <p:nvPr>
              <p:custDataLst>
                <p:tags r:id="rId36"/>
              </p:custDataLst>
            </p:nvPr>
          </p:nvSpPr>
          <p:spPr>
            <a:xfrm flipV="1">
              <a:off x="5164" y="2824"/>
              <a:ext cx="0" cy="616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7601" name="Oval 47"/>
            <p:cNvSpPr/>
            <p:nvPr>
              <p:custDataLst>
                <p:tags r:id="rId37"/>
              </p:custDataLst>
            </p:nvPr>
          </p:nvSpPr>
          <p:spPr>
            <a:xfrm>
              <a:off x="4622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2" name="Oval 48"/>
            <p:cNvSpPr/>
            <p:nvPr>
              <p:custDataLst>
                <p:tags r:id="rId38"/>
              </p:custDataLst>
            </p:nvPr>
          </p:nvSpPr>
          <p:spPr>
            <a:xfrm>
              <a:off x="4622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3" name="Oval 49"/>
            <p:cNvSpPr/>
            <p:nvPr>
              <p:custDataLst>
                <p:tags r:id="rId39"/>
              </p:custDataLst>
            </p:nvPr>
          </p:nvSpPr>
          <p:spPr>
            <a:xfrm>
              <a:off x="4618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4" name="Oval 50"/>
            <p:cNvSpPr/>
            <p:nvPr>
              <p:custDataLst>
                <p:tags r:id="rId40"/>
              </p:custDataLst>
            </p:nvPr>
          </p:nvSpPr>
          <p:spPr>
            <a:xfrm>
              <a:off x="4890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5" name="Oval 51"/>
            <p:cNvSpPr/>
            <p:nvPr>
              <p:custDataLst>
                <p:tags r:id="rId41"/>
              </p:custDataLst>
            </p:nvPr>
          </p:nvSpPr>
          <p:spPr>
            <a:xfrm>
              <a:off x="4890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6" name="Oval 52"/>
            <p:cNvSpPr/>
            <p:nvPr>
              <p:custDataLst>
                <p:tags r:id="rId42"/>
              </p:custDataLst>
            </p:nvPr>
          </p:nvSpPr>
          <p:spPr>
            <a:xfrm>
              <a:off x="4886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7" name="Oval 53"/>
            <p:cNvSpPr/>
            <p:nvPr>
              <p:custDataLst>
                <p:tags r:id="rId43"/>
              </p:custDataLst>
            </p:nvPr>
          </p:nvSpPr>
          <p:spPr>
            <a:xfrm>
              <a:off x="5136" y="280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8" name="Oval 54"/>
            <p:cNvSpPr/>
            <p:nvPr>
              <p:custDataLst>
                <p:tags r:id="rId44"/>
              </p:custDataLst>
            </p:nvPr>
          </p:nvSpPr>
          <p:spPr>
            <a:xfrm>
              <a:off x="5136" y="3048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09" name="Oval 55"/>
            <p:cNvSpPr/>
            <p:nvPr>
              <p:custDataLst>
                <p:tags r:id="rId45"/>
              </p:custDataLst>
            </p:nvPr>
          </p:nvSpPr>
          <p:spPr>
            <a:xfrm>
              <a:off x="5132" y="3316"/>
              <a:ext cx="56" cy="56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7610" name="Text Box 56"/>
            <p:cNvSpPr txBox="1"/>
            <p:nvPr>
              <p:custDataLst>
                <p:tags r:id="rId46"/>
              </p:custDataLst>
            </p:nvPr>
          </p:nvSpPr>
          <p:spPr>
            <a:xfrm>
              <a:off x="3812" y="3601"/>
              <a:ext cx="729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000">
                  <a:latin typeface="Arial" panose="020B0604020202020204" pitchFamily="34" charset="0"/>
                </a:rPr>
                <a:t>crossbar</a:t>
              </a:r>
              <a:endParaRPr lang="en-US" altLang="zh-CN" sz="2000">
                <a:latin typeface="Arial" panose="020B0604020202020204" pitchFamily="34" charset="0"/>
              </a:endParaRPr>
            </a:p>
          </p:txBody>
        </p:sp>
        <p:sp>
          <p:nvSpPr>
            <p:cNvPr id="67611" name="Freeform 57"/>
            <p:cNvSpPr/>
            <p:nvPr>
              <p:custDataLst>
                <p:tags r:id="rId47"/>
              </p:custDataLst>
            </p:nvPr>
          </p:nvSpPr>
          <p:spPr>
            <a:xfrm>
              <a:off x="3900" y="2796"/>
              <a:ext cx="972" cy="1269"/>
            </a:xfrm>
            <a:custGeom>
              <a:avLst/>
              <a:gdLst>
                <a:gd name="txL" fmla="*/ 0 w 972"/>
                <a:gd name="txT" fmla="*/ 0 h 1266"/>
                <a:gd name="txR" fmla="*/ 972 w 972"/>
                <a:gd name="txB" fmla="*/ 1266 h 1266"/>
              </a:gdLst>
              <a:ahLst/>
              <a:cxnLst>
                <a:cxn ang="0">
                  <a:pos x="0" y="3"/>
                </a:cxn>
                <a:cxn ang="0">
                  <a:pos x="969" y="0"/>
                </a:cxn>
                <a:cxn ang="0">
                  <a:pos x="972" y="1302"/>
                </a:cxn>
              </a:cxnLst>
              <a:rect l="txL" t="txT" r="txR" b="txB"/>
              <a:pathLst>
                <a:path w="972" h="1266">
                  <a:moveTo>
                    <a:pt x="0" y="3"/>
                  </a:moveTo>
                  <a:lnTo>
                    <a:pt x="969" y="0"/>
                  </a:lnTo>
                  <a:lnTo>
                    <a:pt x="972" y="1266"/>
                  </a:lnTo>
                </a:path>
              </a:pathLst>
            </a:custGeom>
            <a:noFill/>
            <a:ln w="38100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5318125" y="570865"/>
            <a:ext cx="555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ym typeface="+mn-ea"/>
              </a:rPr>
              <a:t>B</a:t>
            </a:r>
            <a:endParaRPr lang="en-US" altLang="zh-CN" dirty="0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18125" y="202565"/>
            <a:ext cx="555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ym typeface="+mn-ea"/>
              </a:rPr>
              <a:t>A</a:t>
            </a:r>
            <a:endParaRPr lang="en-US" altLang="zh-CN" dirty="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67575" y="2304415"/>
            <a:ext cx="555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ym typeface="+mn-ea"/>
              </a:rPr>
              <a:t>y</a:t>
            </a:r>
            <a:endParaRPr lang="en-US" alt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25920" y="2304415"/>
            <a:ext cx="5556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dirty="0">
                <a:sym typeface="+mn-ea"/>
              </a:rPr>
              <a:t>X</a:t>
            </a:r>
            <a:endParaRPr lang="en-US" altLang="zh-CN" dirty="0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872095" y="175895"/>
            <a:ext cx="92329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200" dirty="0">
                <a:sym typeface="+mn-ea"/>
              </a:rPr>
              <a:t>交换结构控制器</a:t>
            </a:r>
            <a:endParaRPr lang="zh-CN" altLang="en-US" sz="1200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402590" y="202565"/>
            <a:ext cx="8532495" cy="650938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891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8916" name="Rectangle 2"/>
          <p:cNvSpPr>
            <a:spLocks noGrp="1"/>
          </p:cNvSpPr>
          <p:nvPr>
            <p:ph type="title"/>
          </p:nvPr>
        </p:nvSpPr>
        <p:spPr>
          <a:xfrm>
            <a:off x="503238" y="400050"/>
            <a:ext cx="7772400" cy="6858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输出端口</a:t>
            </a:r>
            <a:endParaRPr lang="zh-CN" altLang="en-US" sz="3600" dirty="0"/>
          </a:p>
        </p:txBody>
      </p:sp>
      <p:sp>
        <p:nvSpPr>
          <p:cNvPr id="38917" name="Rectangle 3"/>
          <p:cNvSpPr>
            <a:spLocks noGrp="1"/>
          </p:cNvSpPr>
          <p:nvPr>
            <p:ph idx="1"/>
          </p:nvPr>
        </p:nvSpPr>
        <p:spPr>
          <a:xfrm>
            <a:off x="561975" y="4324350"/>
            <a:ext cx="7772400" cy="914400"/>
          </a:xfrm>
        </p:spPr>
        <p:txBody>
          <a:bodyPr vert="horz" wrap="square" lIns="91440" tIns="45720" rIns="91440" bIns="45720" anchor="t" anchorCtr="0"/>
          <a:p>
            <a:pPr eaLnBrk="1">
              <a:lnSpc>
                <a:spcPct val="90000"/>
              </a:lnSpc>
            </a:pPr>
            <a:r>
              <a:rPr lang="zh-CN" altLang="en-US" sz="2400" dirty="0"/>
              <a:t>当数据报来自交换结构比传输速率更快时，需要</a:t>
            </a:r>
            <a:r>
              <a:rPr lang="zh-CN" altLang="en-US" sz="2400" i="1" dirty="0">
                <a:solidFill>
                  <a:srgbClr val="FF0000"/>
                </a:solidFill>
              </a:rPr>
              <a:t>缓存</a:t>
            </a:r>
            <a:endParaRPr lang="en-US" altLang="zh-CN" sz="2400" dirty="0"/>
          </a:p>
          <a:p>
            <a:pPr eaLnBrk="1">
              <a:lnSpc>
                <a:spcPct val="90000"/>
              </a:lnSpc>
            </a:pPr>
            <a:r>
              <a:rPr lang="zh-CN" altLang="en-US" sz="2400" i="1" dirty="0">
                <a:solidFill>
                  <a:srgbClr val="FF0000"/>
                </a:solidFill>
              </a:rPr>
              <a:t>调度安排</a:t>
            </a:r>
            <a:r>
              <a:rPr lang="zh-CN" altLang="en-US" sz="2400" dirty="0"/>
              <a:t> 为了传输在排队数据报之间选择</a:t>
            </a:r>
            <a:endParaRPr lang="en-US" altLang="zh-CN" sz="2400" dirty="0"/>
          </a:p>
        </p:txBody>
      </p:sp>
      <p:pic>
        <p:nvPicPr>
          <p:cNvPr id="38918" name="Picture 4" descr="464 Output Po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6688" y="1519238"/>
            <a:ext cx="5943600" cy="24701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8919" name="Text Box 5"/>
          <p:cNvSpPr txBox="1"/>
          <p:nvPr/>
        </p:nvSpPr>
        <p:spPr>
          <a:xfrm>
            <a:off x="1244600" y="2170113"/>
            <a:ext cx="722313" cy="9159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交换结构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920" name="Text Box 6"/>
          <p:cNvSpPr txBox="1"/>
          <p:nvPr/>
        </p:nvSpPr>
        <p:spPr>
          <a:xfrm>
            <a:off x="2366963" y="2354263"/>
            <a:ext cx="1130300" cy="9159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排队：缓存管理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921" name="Text Box 7"/>
          <p:cNvSpPr txBox="1"/>
          <p:nvPr/>
        </p:nvSpPr>
        <p:spPr>
          <a:xfrm>
            <a:off x="4008438" y="2209800"/>
            <a:ext cx="1339850" cy="11906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数据链路处理</a:t>
            </a:r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协议、拆封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en-US" altLang="zh-CN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8922" name="Text Box 8"/>
          <p:cNvSpPr txBox="1"/>
          <p:nvPr/>
        </p:nvSpPr>
        <p:spPr>
          <a:xfrm>
            <a:off x="5846763" y="2603500"/>
            <a:ext cx="1130300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线路端接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9638" name="Group 78"/>
          <p:cNvGrpSpPr/>
          <p:nvPr/>
        </p:nvGrpSpPr>
        <p:grpSpPr>
          <a:xfrm>
            <a:off x="884238" y="1477963"/>
            <a:ext cx="7412037" cy="2870200"/>
            <a:chOff x="550" y="931"/>
            <a:chExt cx="4669" cy="1808"/>
          </a:xfrm>
        </p:grpSpPr>
        <p:grpSp>
          <p:nvGrpSpPr>
            <p:cNvPr id="69639" name="Group 29"/>
            <p:cNvGrpSpPr/>
            <p:nvPr/>
          </p:nvGrpSpPr>
          <p:grpSpPr>
            <a:xfrm>
              <a:off x="699" y="948"/>
              <a:ext cx="2099" cy="1356"/>
              <a:chOff x="523" y="976"/>
              <a:chExt cx="2099" cy="1356"/>
            </a:xfrm>
          </p:grpSpPr>
          <p:sp>
            <p:nvSpPr>
              <p:cNvPr id="69685" name="Rectangle 6"/>
              <p:cNvSpPr/>
              <p:nvPr>
                <p:custDataLst>
                  <p:tags r:id="rId1"/>
                </p:custDataLst>
              </p:nvPr>
            </p:nvSpPr>
            <p:spPr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9686" name="Group 10"/>
              <p:cNvGrpSpPr/>
              <p:nvPr/>
            </p:nvGrpSpPr>
            <p:grpSpPr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9705" name="Rectangle 7"/>
                <p:cNvSpPr/>
                <p:nvPr>
                  <p:custDataLst>
                    <p:tags r:id="rId2"/>
                  </p:custDataLst>
                </p:nvPr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706" name="Rectangle 8"/>
                <p:cNvSpPr/>
                <p:nvPr>
                  <p:custDataLst>
                    <p:tags r:id="rId3"/>
                  </p:custDataLst>
                </p:nvPr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707" name="Rectangle 9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9687" name="Group 11"/>
              <p:cNvGrpSpPr/>
              <p:nvPr/>
            </p:nvGrpSpPr>
            <p:grpSpPr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9702" name="Rectangle 12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703" name="Rectangle 13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704" name="Rectangle 14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9688" name="Line 15"/>
              <p:cNvSpPr/>
              <p:nvPr>
                <p:custDataLst>
                  <p:tags r:id="rId8"/>
                </p:custDataLst>
              </p:nvPr>
            </p:nvSpPr>
            <p:spPr>
              <a:xfrm>
                <a:off x="1946" y="1180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89" name="Line 16"/>
              <p:cNvSpPr/>
              <p:nvPr>
                <p:custDataLst>
                  <p:tags r:id="rId9"/>
                </p:custDataLst>
              </p:nvPr>
            </p:nvSpPr>
            <p:spPr>
              <a:xfrm>
                <a:off x="1940" y="1645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90" name="Line 17"/>
              <p:cNvSpPr/>
              <p:nvPr>
                <p:custDataLst>
                  <p:tags r:id="rId10"/>
                </p:custDataLst>
              </p:nvPr>
            </p:nvSpPr>
            <p:spPr>
              <a:xfrm>
                <a:off x="1940" y="211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91" name="Line 18"/>
              <p:cNvSpPr/>
              <p:nvPr>
                <p:custDataLst>
                  <p:tags r:id="rId11"/>
                </p:custDataLst>
              </p:nvPr>
            </p:nvSpPr>
            <p:spPr>
              <a:xfrm>
                <a:off x="1044" y="1164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92" name="Line 19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38" y="162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93" name="Line 20"/>
              <p:cNvSpPr/>
              <p:nvPr>
                <p:custDataLst>
                  <p:tags r:id="rId13"/>
                </p:custDataLst>
              </p:nvPr>
            </p:nvSpPr>
            <p:spPr>
              <a:xfrm>
                <a:off x="1038" y="2103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9694" name="Group 24"/>
              <p:cNvGrpSpPr/>
              <p:nvPr/>
            </p:nvGrpSpPr>
            <p:grpSpPr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9699" name="Line 21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9700" name="Line 2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9701" name="Line 23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9695" name="Group 25"/>
              <p:cNvGrpSpPr/>
              <p:nvPr/>
            </p:nvGrpSpPr>
            <p:grpSpPr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9696" name="Line 26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9697" name="Line 27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9698" name="Line 28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grpSp>
          <p:nvGrpSpPr>
            <p:cNvPr id="69640" name="Group 30"/>
            <p:cNvGrpSpPr/>
            <p:nvPr/>
          </p:nvGrpSpPr>
          <p:grpSpPr>
            <a:xfrm>
              <a:off x="3120" y="931"/>
              <a:ext cx="2099" cy="1356"/>
              <a:chOff x="523" y="976"/>
              <a:chExt cx="2099" cy="1356"/>
            </a:xfrm>
          </p:grpSpPr>
          <p:sp>
            <p:nvSpPr>
              <p:cNvPr id="69662" name="Rectangle 31"/>
              <p:cNvSpPr/>
              <p:nvPr>
                <p:custDataLst>
                  <p:tags r:id="rId20"/>
                </p:custDataLst>
              </p:nvPr>
            </p:nvSpPr>
            <p:spPr>
              <a:xfrm>
                <a:off x="1208" y="976"/>
                <a:ext cx="745" cy="13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800">
                  <a:latin typeface="Arial" panose="020B0604020202020204" pitchFamily="34" charset="0"/>
                </a:endParaRPr>
              </a:p>
            </p:txBody>
          </p:sp>
          <p:grpSp>
            <p:nvGrpSpPr>
              <p:cNvPr id="69663" name="Group 32"/>
              <p:cNvGrpSpPr/>
              <p:nvPr/>
            </p:nvGrpSpPr>
            <p:grpSpPr>
              <a:xfrm>
                <a:off x="804" y="997"/>
                <a:ext cx="249" cy="1295"/>
                <a:chOff x="748" y="997"/>
                <a:chExt cx="249" cy="1295"/>
              </a:xfrm>
            </p:grpSpPr>
            <p:sp>
              <p:nvSpPr>
                <p:cNvPr id="69682" name="Rectangle 33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683" name="Rectangle 34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684" name="Rectangle 35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>
                  <a:solidFill>
                    <a:schemeClr val="tx1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</p:grpSp>
          <p:grpSp>
            <p:nvGrpSpPr>
              <p:cNvPr id="69664" name="Group 36"/>
              <p:cNvGrpSpPr/>
              <p:nvPr/>
            </p:nvGrpSpPr>
            <p:grpSpPr>
              <a:xfrm>
                <a:off x="2109" y="1002"/>
                <a:ext cx="249" cy="1295"/>
                <a:chOff x="748" y="997"/>
                <a:chExt cx="249" cy="1295"/>
              </a:xfrm>
            </p:grpSpPr>
            <p:sp>
              <p:nvSpPr>
                <p:cNvPr id="69679" name="Rectangle 37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759" y="997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FF0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680" name="Rectangle 38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750" y="1472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chemeClr val="accent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 algn="ctr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  <p:sp>
              <p:nvSpPr>
                <p:cNvPr id="69681" name="Rectangle 39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748" y="1940"/>
                  <a:ext cx="238" cy="352"/>
                </a:xfrm>
                <a:prstGeom prst="rect">
                  <a:avLst/>
                </a:prstGeom>
                <a:solidFill>
                  <a:schemeClr val="bg1"/>
                </a:solidFill>
                <a:ln w="19050" cap="flat" cmpd="sng">
                  <a:solidFill>
                    <a:srgbClr val="008000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 anchorCtr="0"/>
                <a:lstStyle>
                  <a:lvl1pPr marL="342900" indent="-34290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SzPct val="65000"/>
                    <a:buFont typeface="Wingdings" panose="05000000000000000000" pitchFamily="2" charset="2"/>
                    <a:buChar char="v"/>
                    <a:defRPr sz="28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  <a:cs typeface="MS PGothic" panose="020B0600070205080204" pitchFamily="34" charset="-128"/>
                    </a:defRPr>
                  </a:lvl1pPr>
                  <a:lvl2pPr marL="742950" indent="-285750" algn="l" rtl="0" eaLnBrk="0" fontAlgn="base" hangingPunct="0">
                    <a:lnSpc>
                      <a:spcPct val="85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000099"/>
                    </a:buClr>
                    <a:buFont typeface="Wingdings" panose="05000000000000000000" pitchFamily="2" charset="2"/>
                    <a:buChar char="§"/>
                    <a:defRPr sz="2400">
                      <a:solidFill>
                        <a:schemeClr val="tx1"/>
                      </a:solidFill>
                      <a:latin typeface="+mn-lt"/>
                      <a:ea typeface="MS PGothic" panose="020B0600070205080204" pitchFamily="34" charset="-128"/>
                    </a:defRPr>
                  </a:lvl2pPr>
                  <a:lvl3pPr marL="11430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•"/>
                    <a:defRPr sz="2000">
                      <a:solidFill>
                        <a:schemeClr val="tx1"/>
                      </a:solidFill>
                      <a:latin typeface="Comic Sans MS" panose="030F0702030302020204" pitchFamily="66" charset="0"/>
                      <a:ea typeface="MS PGothic" panose="020B0600070205080204" pitchFamily="34" charset="-128"/>
                    </a:defRPr>
                  </a:lvl3pPr>
                  <a:lvl4pPr marL="16002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–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4pPr>
                  <a:lvl5pPr marL="2057400" indent="-228600" algn="l" rtl="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MS PGothic" panose="020B0600070205080204" pitchFamily="34" charset="-128"/>
                    </a:defRPr>
                  </a:lvl5pPr>
                </a:lstStyle>
                <a:p>
                  <a:pPr marL="0" lvl="0" indent="0">
                    <a:lnSpc>
                      <a:spcPct val="100000"/>
                    </a:lnSpc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endParaRPr lang="zh-CN" altLang="zh-CN" sz="1800">
                    <a:latin typeface="Arial" panose="020B0604020202020204" pitchFamily="34" charset="0"/>
                  </a:endParaRPr>
                </a:p>
              </p:txBody>
            </p:sp>
          </p:grpSp>
          <p:sp>
            <p:nvSpPr>
              <p:cNvPr id="69665" name="Line 40"/>
              <p:cNvSpPr/>
              <p:nvPr>
                <p:custDataLst>
                  <p:tags r:id="rId27"/>
                </p:custDataLst>
              </p:nvPr>
            </p:nvSpPr>
            <p:spPr>
              <a:xfrm>
                <a:off x="1946" y="1180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66" name="Line 41"/>
              <p:cNvSpPr/>
              <p:nvPr>
                <p:custDataLst>
                  <p:tags r:id="rId28"/>
                </p:custDataLst>
              </p:nvPr>
            </p:nvSpPr>
            <p:spPr>
              <a:xfrm>
                <a:off x="1940" y="1645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67" name="Line 42"/>
              <p:cNvSpPr/>
              <p:nvPr>
                <p:custDataLst>
                  <p:tags r:id="rId29"/>
                </p:custDataLst>
              </p:nvPr>
            </p:nvSpPr>
            <p:spPr>
              <a:xfrm>
                <a:off x="1940" y="211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68" name="Line 43"/>
              <p:cNvSpPr/>
              <p:nvPr>
                <p:custDataLst>
                  <p:tags r:id="rId30"/>
                </p:custDataLst>
              </p:nvPr>
            </p:nvSpPr>
            <p:spPr>
              <a:xfrm>
                <a:off x="1044" y="1164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69" name="Line 44"/>
              <p:cNvSpPr/>
              <p:nvPr>
                <p:custDataLst>
                  <p:tags r:id="rId31"/>
                </p:custDataLst>
              </p:nvPr>
            </p:nvSpPr>
            <p:spPr>
              <a:xfrm>
                <a:off x="1038" y="1629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9670" name="Line 45"/>
              <p:cNvSpPr/>
              <p:nvPr>
                <p:custDataLst>
                  <p:tags r:id="rId32"/>
                </p:custDataLst>
              </p:nvPr>
            </p:nvSpPr>
            <p:spPr>
              <a:xfrm>
                <a:off x="1038" y="2103"/>
                <a:ext cx="162" cy="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grpSp>
            <p:nvGrpSpPr>
              <p:cNvPr id="69671" name="Group 46"/>
              <p:cNvGrpSpPr/>
              <p:nvPr/>
            </p:nvGrpSpPr>
            <p:grpSpPr>
              <a:xfrm>
                <a:off x="523" y="1169"/>
                <a:ext cx="288" cy="939"/>
                <a:chOff x="-60" y="1148"/>
                <a:chExt cx="168" cy="939"/>
              </a:xfrm>
            </p:grpSpPr>
            <p:sp>
              <p:nvSpPr>
                <p:cNvPr id="69676" name="Line 47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9677" name="Line 48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9678" name="Line 49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9672" name="Group 50"/>
              <p:cNvGrpSpPr/>
              <p:nvPr/>
            </p:nvGrpSpPr>
            <p:grpSpPr>
              <a:xfrm>
                <a:off x="2334" y="1173"/>
                <a:ext cx="288" cy="939"/>
                <a:chOff x="-60" y="1148"/>
                <a:chExt cx="168" cy="939"/>
              </a:xfrm>
            </p:grpSpPr>
            <p:sp>
              <p:nvSpPr>
                <p:cNvPr id="69673" name="Line 51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-54" y="1148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9674" name="Line 52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-60" y="1613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  <p:sp>
              <p:nvSpPr>
                <p:cNvPr id="69675" name="Line 53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-60" y="2087"/>
                  <a:ext cx="162" cy="0"/>
                </a:xfrm>
                <a:prstGeom prst="line">
                  <a:avLst/>
                </a:prstGeom>
                <a:ln w="19050" cap="flat" cmpd="sng">
                  <a:solidFill>
                    <a:schemeClr val="tx1"/>
                  </a:solidFill>
                  <a:prstDash val="solid"/>
                  <a:headEnd type="none" w="med" len="med"/>
                  <a:tailEnd type="triangle" w="med" len="med"/>
                </a:ln>
              </p:spPr>
            </p:sp>
          </p:grpSp>
        </p:grpSp>
        <p:sp>
          <p:nvSpPr>
            <p:cNvPr id="69641" name="Rectangle 54"/>
            <p:cNvSpPr/>
            <p:nvPr>
              <p:custDataLst>
                <p:tags r:id="rId39"/>
              </p:custDataLst>
            </p:nvPr>
          </p:nvSpPr>
          <p:spPr>
            <a:xfrm>
              <a:off x="1012" y="1012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42" name="Rectangle 55"/>
            <p:cNvSpPr/>
            <p:nvPr>
              <p:custDataLst>
                <p:tags r:id="rId40"/>
              </p:custDataLst>
            </p:nvPr>
          </p:nvSpPr>
          <p:spPr>
            <a:xfrm>
              <a:off x="1003" y="1494"/>
              <a:ext cx="175" cy="98"/>
            </a:xfrm>
            <a:prstGeom prst="rect">
              <a:avLst/>
            </a:prstGeom>
            <a:solidFill>
              <a:srgbClr val="00009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43" name="Rectangle 56"/>
            <p:cNvSpPr/>
            <p:nvPr>
              <p:custDataLst>
                <p:tags r:id="rId41"/>
              </p:custDataLst>
            </p:nvPr>
          </p:nvSpPr>
          <p:spPr>
            <a:xfrm>
              <a:off x="994" y="1969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44" name="Rectangle 57"/>
            <p:cNvSpPr/>
            <p:nvPr>
              <p:custDataLst>
                <p:tags r:id="rId42"/>
              </p:custDataLst>
            </p:nvPr>
          </p:nvSpPr>
          <p:spPr>
            <a:xfrm>
              <a:off x="764" y="1017"/>
              <a:ext cx="175" cy="9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45" name="Rectangle 58"/>
            <p:cNvSpPr/>
            <p:nvPr>
              <p:custDataLst>
                <p:tags r:id="rId43"/>
              </p:custDataLst>
            </p:nvPr>
          </p:nvSpPr>
          <p:spPr>
            <a:xfrm>
              <a:off x="760" y="1953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46" name="Line 60"/>
            <p:cNvSpPr/>
            <p:nvPr>
              <p:custDataLst>
                <p:tags r:id="rId44"/>
              </p:custDataLst>
            </p:nvPr>
          </p:nvSpPr>
          <p:spPr>
            <a:xfrm>
              <a:off x="1215" y="1054"/>
              <a:ext cx="1026" cy="1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9647" name="Freeform 62"/>
            <p:cNvSpPr/>
            <p:nvPr>
              <p:custDataLst>
                <p:tags r:id="rId45"/>
              </p:custDataLst>
            </p:nvPr>
          </p:nvSpPr>
          <p:spPr>
            <a:xfrm>
              <a:off x="1246" y="1285"/>
              <a:ext cx="967" cy="735"/>
            </a:xfrm>
            <a:custGeom>
              <a:avLst/>
              <a:gdLst>
                <a:gd name="txL" fmla="*/ 0 w 967"/>
                <a:gd name="txT" fmla="*/ 0 h 735"/>
                <a:gd name="txR" fmla="*/ 967 w 967"/>
                <a:gd name="txB" fmla="*/ 735 h 735"/>
              </a:gdLst>
              <a:ahLst/>
              <a:cxnLst>
                <a:cxn ang="0">
                  <a:pos x="0" y="733"/>
                </a:cxn>
                <a:cxn ang="0">
                  <a:pos x="522" y="735"/>
                </a:cxn>
                <a:cxn ang="0">
                  <a:pos x="967" y="0"/>
                </a:cxn>
              </a:cxnLst>
              <a:rect l="txL" t="txT" r="txR" b="txB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48" name="Text Box 63"/>
            <p:cNvSpPr txBox="1"/>
            <p:nvPr>
              <p:custDataLst>
                <p:tags r:id="rId46"/>
              </p:custDataLst>
            </p:nvPr>
          </p:nvSpPr>
          <p:spPr>
            <a:xfrm>
              <a:off x="933" y="2335"/>
              <a:ext cx="1549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at </a:t>
              </a:r>
              <a:r>
                <a:rPr lang="en-US" altLang="zh-CN" sz="1800" i="1">
                  <a:latin typeface="Arial" panose="020B0604020202020204" pitchFamily="34" charset="0"/>
                </a:rPr>
                <a:t>t,</a:t>
              </a:r>
              <a:r>
                <a:rPr lang="en-US" altLang="zh-CN" sz="1800">
                  <a:latin typeface="Arial" panose="020B0604020202020204" pitchFamily="34" charset="0"/>
                </a:rPr>
                <a:t> packets more</a:t>
              </a:r>
              <a:endParaRPr lang="en-US" altLang="zh-CN" sz="1800"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from input to output</a:t>
              </a:r>
              <a:endParaRPr lang="en-US" altLang="zh-CN" sz="1800" i="1">
                <a:latin typeface="Arial" panose="020B0604020202020204" pitchFamily="34" charset="0"/>
              </a:endParaRPr>
            </a:p>
          </p:txBody>
        </p:sp>
        <p:sp>
          <p:nvSpPr>
            <p:cNvPr id="69649" name="Text Box 64"/>
            <p:cNvSpPr txBox="1"/>
            <p:nvPr>
              <p:custDataLst>
                <p:tags r:id="rId47"/>
              </p:custDataLst>
            </p:nvPr>
          </p:nvSpPr>
          <p:spPr>
            <a:xfrm>
              <a:off x="3354" y="2325"/>
              <a:ext cx="1549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800">
                  <a:latin typeface="Arial" panose="020B0604020202020204" pitchFamily="34" charset="0"/>
                </a:rPr>
                <a:t>one packet time later</a:t>
              </a:r>
              <a:endParaRPr lang="en-US" altLang="zh-CN" sz="1800" i="1">
                <a:latin typeface="Arial" panose="020B0604020202020204" pitchFamily="34" charset="0"/>
              </a:endParaRPr>
            </a:p>
          </p:txBody>
        </p:sp>
        <p:sp>
          <p:nvSpPr>
            <p:cNvPr id="69650" name="Text Box 66"/>
            <p:cNvSpPr txBox="1"/>
            <p:nvPr>
              <p:custDataLst>
                <p:tags r:id="rId48"/>
              </p:custDataLst>
            </p:nvPr>
          </p:nvSpPr>
          <p:spPr>
            <a:xfrm>
              <a:off x="1488" y="1545"/>
              <a:ext cx="471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switch</a:t>
              </a:r>
              <a:endParaRPr lang="en-US" altLang="zh-CN" sz="1600">
                <a:latin typeface="Arial" panose="020B0604020202020204" pitchFamily="34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fabric</a:t>
              </a:r>
              <a:endParaRPr lang="en-US" altLang="zh-CN" sz="1600">
                <a:latin typeface="Arial" panose="020B0604020202020204" pitchFamily="34" charset="0"/>
              </a:endParaRPr>
            </a:p>
          </p:txBody>
        </p:sp>
        <p:sp>
          <p:nvSpPr>
            <p:cNvPr id="69651" name="Text Box 67"/>
            <p:cNvSpPr txBox="1"/>
            <p:nvPr>
              <p:custDataLst>
                <p:tags r:id="rId49"/>
              </p:custDataLst>
            </p:nvPr>
          </p:nvSpPr>
          <p:spPr>
            <a:xfrm>
              <a:off x="3895" y="1479"/>
              <a:ext cx="471" cy="366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switch</a:t>
              </a:r>
              <a:endParaRPr lang="en-US" altLang="zh-CN" sz="1600">
                <a:latin typeface="Arial" panose="020B0604020202020204" pitchFamily="34" charset="0"/>
              </a:endParaRPr>
            </a:p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latin typeface="Arial" panose="020B0604020202020204" pitchFamily="34" charset="0"/>
                </a:rPr>
                <a:t>fabric</a:t>
              </a:r>
              <a:endParaRPr lang="en-US" altLang="zh-CN" sz="1600">
                <a:latin typeface="Arial" panose="020B0604020202020204" pitchFamily="34" charset="0"/>
              </a:endParaRPr>
            </a:p>
          </p:txBody>
        </p:sp>
        <p:sp>
          <p:nvSpPr>
            <p:cNvPr id="69652" name="Rectangle 68"/>
            <p:cNvSpPr/>
            <p:nvPr>
              <p:custDataLst>
                <p:tags r:id="rId50"/>
              </p:custDataLst>
            </p:nvPr>
          </p:nvSpPr>
          <p:spPr>
            <a:xfrm>
              <a:off x="4746" y="972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53" name="Rectangle 69"/>
            <p:cNvSpPr/>
            <p:nvPr>
              <p:custDataLst>
                <p:tags r:id="rId51"/>
              </p:custDataLst>
            </p:nvPr>
          </p:nvSpPr>
          <p:spPr>
            <a:xfrm>
              <a:off x="4746" y="1497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54" name="Rectangle 70"/>
            <p:cNvSpPr/>
            <p:nvPr>
              <p:custDataLst>
                <p:tags r:id="rId52"/>
              </p:custDataLst>
            </p:nvPr>
          </p:nvSpPr>
          <p:spPr>
            <a:xfrm>
              <a:off x="4743" y="1099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55" name="Rectangle 71"/>
            <p:cNvSpPr/>
            <p:nvPr>
              <p:custDataLst>
                <p:tags r:id="rId53"/>
              </p:custDataLst>
            </p:nvPr>
          </p:nvSpPr>
          <p:spPr>
            <a:xfrm>
              <a:off x="3445" y="1001"/>
              <a:ext cx="175" cy="98"/>
            </a:xfrm>
            <a:prstGeom prst="rect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56" name="Rectangle 72"/>
            <p:cNvSpPr/>
            <p:nvPr>
              <p:custDataLst>
                <p:tags r:id="rId54"/>
              </p:custDataLst>
            </p:nvPr>
          </p:nvSpPr>
          <p:spPr>
            <a:xfrm>
              <a:off x="3434" y="1965"/>
              <a:ext cx="175" cy="98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57" name="Freeform 73"/>
            <p:cNvSpPr/>
            <p:nvPr>
              <p:custDataLst>
                <p:tags r:id="rId55"/>
              </p:custDataLst>
            </p:nvPr>
          </p:nvSpPr>
          <p:spPr>
            <a:xfrm>
              <a:off x="3682" y="1261"/>
              <a:ext cx="967" cy="735"/>
            </a:xfrm>
            <a:custGeom>
              <a:avLst/>
              <a:gdLst>
                <a:gd name="txL" fmla="*/ 0 w 967"/>
                <a:gd name="txT" fmla="*/ 0 h 735"/>
                <a:gd name="txR" fmla="*/ 967 w 967"/>
                <a:gd name="txB" fmla="*/ 735 h 735"/>
              </a:gdLst>
              <a:ahLst/>
              <a:cxnLst>
                <a:cxn ang="0">
                  <a:pos x="0" y="733"/>
                </a:cxn>
                <a:cxn ang="0">
                  <a:pos x="522" y="735"/>
                </a:cxn>
                <a:cxn ang="0">
                  <a:pos x="967" y="0"/>
                </a:cxn>
              </a:cxnLst>
              <a:rect l="txL" t="txT" r="txR" b="txB"/>
              <a:pathLst>
                <a:path w="967" h="735">
                  <a:moveTo>
                    <a:pt x="0" y="733"/>
                  </a:moveTo>
                  <a:lnTo>
                    <a:pt x="522" y="735"/>
                  </a:lnTo>
                  <a:lnTo>
                    <a:pt x="967" y="0"/>
                  </a:lnTo>
                </a:path>
              </a:pathLst>
            </a:custGeom>
            <a:noFill/>
            <a:ln w="28575" cap="flat" cmpd="sng">
              <a:solidFill>
                <a:srgbClr val="FF0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58" name="Freeform 74"/>
            <p:cNvSpPr/>
            <p:nvPr>
              <p:custDataLst>
                <p:tags r:id="rId56"/>
              </p:custDataLst>
            </p:nvPr>
          </p:nvSpPr>
          <p:spPr>
            <a:xfrm>
              <a:off x="3669" y="1051"/>
              <a:ext cx="988" cy="951"/>
            </a:xfrm>
            <a:custGeom>
              <a:avLst/>
              <a:gdLst>
                <a:gd name="txL" fmla="*/ 0 w 1002"/>
                <a:gd name="txT" fmla="*/ 0 h 480"/>
                <a:gd name="txR" fmla="*/ 1002 w 1002"/>
                <a:gd name="txB" fmla="*/ 480 h 480"/>
              </a:gdLst>
              <a:ahLst/>
              <a:cxnLst>
                <a:cxn ang="0">
                  <a:pos x="0" y="7568"/>
                </a:cxn>
                <a:cxn ang="0">
                  <a:pos x="441" y="0"/>
                </a:cxn>
                <a:cxn ang="0">
                  <a:pos x="846" y="1755909"/>
                </a:cxn>
              </a:cxnLst>
              <a:rect l="txL" t="txT" r="txR" b="txB"/>
              <a:pathLst>
                <a:path w="1002" h="480">
                  <a:moveTo>
                    <a:pt x="0" y="2"/>
                  </a:moveTo>
                  <a:lnTo>
                    <a:pt x="522" y="0"/>
                  </a:lnTo>
                  <a:lnTo>
                    <a:pt x="1002" y="480"/>
                  </a:lnTo>
                </a:path>
              </a:pathLst>
            </a:custGeom>
            <a:noFill/>
            <a:ln w="28575" cap="flat" cmpd="sng">
              <a:solidFill>
                <a:srgbClr val="008000">
                  <a:alpha val="100000"/>
                </a:srgbClr>
              </a:solidFill>
              <a:prstDash val="dash"/>
              <a:round/>
              <a:headEnd type="none" w="med" len="med"/>
              <a:tailEnd type="triangl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69659" name="Line 75"/>
            <p:cNvSpPr/>
            <p:nvPr>
              <p:custDataLst>
                <p:tags r:id="rId57"/>
              </p:custDataLst>
            </p:nvPr>
          </p:nvSpPr>
          <p:spPr>
            <a:xfrm>
              <a:off x="1208" y="1545"/>
              <a:ext cx="1012" cy="14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dash"/>
              <a:headEnd type="none" w="med" len="med"/>
              <a:tailEnd type="triangle" w="med" len="med"/>
            </a:ln>
          </p:spPr>
        </p:sp>
        <p:sp>
          <p:nvSpPr>
            <p:cNvPr id="69660" name="Rectangle 76"/>
            <p:cNvSpPr/>
            <p:nvPr>
              <p:custDataLst>
                <p:tags r:id="rId58"/>
              </p:custDataLst>
            </p:nvPr>
          </p:nvSpPr>
          <p:spPr>
            <a:xfrm>
              <a:off x="550" y="1010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  <p:sp>
          <p:nvSpPr>
            <p:cNvPr id="69661" name="Rectangle 77"/>
            <p:cNvSpPr/>
            <p:nvPr>
              <p:custDataLst>
                <p:tags r:id="rId59"/>
              </p:custDataLst>
            </p:nvPr>
          </p:nvSpPr>
          <p:spPr>
            <a:xfrm>
              <a:off x="3194" y="997"/>
              <a:ext cx="175" cy="98"/>
            </a:xfrm>
            <a:prstGeom prst="rect">
              <a:avLst/>
            </a:prstGeom>
            <a:solidFill>
              <a:schemeClr val="accent2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800">
                <a:latin typeface="Arial" panose="020B0604020202020204" pitchFamily="34" charset="0"/>
              </a:endParaRPr>
            </a:p>
          </p:txBody>
        </p:sp>
      </p:grpSp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3993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994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sz="3600" dirty="0"/>
              <a:t>输出端口排队</a:t>
            </a:r>
            <a:endParaRPr lang="zh-CN" altLang="en-US" dirty="0"/>
          </a:p>
        </p:txBody>
      </p:sp>
      <p:sp>
        <p:nvSpPr>
          <p:cNvPr id="39941" name="Rectangle 3"/>
          <p:cNvSpPr>
            <a:spLocks noGrp="1"/>
          </p:cNvSpPr>
          <p:nvPr>
            <p:ph idx="1"/>
          </p:nvPr>
        </p:nvSpPr>
        <p:spPr>
          <a:xfrm>
            <a:off x="568325" y="4635500"/>
            <a:ext cx="7772400" cy="1190625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sz="2400" dirty="0"/>
              <a:t>当到达速率经交换机超过输出链路速率时缓存</a:t>
            </a:r>
            <a:endParaRPr lang="en-US" altLang="zh-CN" sz="2400" dirty="0"/>
          </a:p>
          <a:p>
            <a:pPr eaLnBrk="1"/>
            <a:r>
              <a:rPr lang="zh-CN" altLang="en-US" sz="2400" i="1" dirty="0">
                <a:solidFill>
                  <a:srgbClr val="FF0000"/>
                </a:solidFill>
              </a:rPr>
              <a:t>因为输出缓存溢出，出现排队</a:t>
            </a:r>
            <a:r>
              <a:rPr lang="en-US" altLang="zh-CN" sz="2400" i="1" dirty="0">
                <a:solidFill>
                  <a:srgbClr val="FF0000"/>
                </a:solidFill>
              </a:rPr>
              <a:t>(</a:t>
            </a:r>
            <a:r>
              <a:rPr lang="zh-CN" altLang="en-US" sz="2400" i="1" dirty="0">
                <a:solidFill>
                  <a:srgbClr val="FF0000"/>
                </a:solidFill>
              </a:rPr>
              <a:t>时延</a:t>
            </a:r>
            <a:r>
              <a:rPr lang="en-US" altLang="zh-CN" sz="2400" i="1" dirty="0">
                <a:solidFill>
                  <a:srgbClr val="FF0000"/>
                </a:solidFill>
              </a:rPr>
              <a:t>)</a:t>
            </a:r>
            <a:r>
              <a:rPr lang="zh-CN" altLang="en-US" sz="2400" i="1" dirty="0">
                <a:solidFill>
                  <a:srgbClr val="FF0000"/>
                </a:solidFill>
              </a:rPr>
              <a:t>和丢包</a:t>
            </a:r>
            <a:r>
              <a:rPr lang="en-US" altLang="zh-CN" sz="2400" i="1" dirty="0">
                <a:solidFill>
                  <a:srgbClr val="FF0000"/>
                </a:solidFill>
              </a:rPr>
              <a:t>!</a:t>
            </a:r>
            <a:endParaRPr lang="en-US" altLang="zh-CN" sz="2400" dirty="0"/>
          </a:p>
        </p:txBody>
      </p:sp>
      <p:sp>
        <p:nvSpPr>
          <p:cNvPr id="39943" name="Text Box 5"/>
          <p:cNvSpPr txBox="1"/>
          <p:nvPr/>
        </p:nvSpPr>
        <p:spPr>
          <a:xfrm>
            <a:off x="6219825" y="2367280"/>
            <a:ext cx="722313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交换结构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944" name="Text Box 7"/>
          <p:cNvSpPr txBox="1"/>
          <p:nvPr/>
        </p:nvSpPr>
        <p:spPr>
          <a:xfrm>
            <a:off x="2398395" y="2452688"/>
            <a:ext cx="722313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交换结构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945" name="Text Box 8"/>
          <p:cNvSpPr txBox="1"/>
          <p:nvPr/>
        </p:nvSpPr>
        <p:spPr>
          <a:xfrm>
            <a:off x="1417320" y="3753168"/>
            <a:ext cx="2463800" cy="92202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在时间</a:t>
            </a:r>
            <a:r>
              <a:rPr lang="en-US" altLang="zh-CN" dirty="0">
                <a:latin typeface="Comic Sans MS" panose="030F0702030302020204" pitchFamily="66" charset="0"/>
              </a:rPr>
              <a:t>t</a:t>
            </a:r>
            <a:r>
              <a:rPr lang="zh-CN" altLang="en-US" dirty="0">
                <a:latin typeface="Comic Sans MS" panose="030F0702030302020204" pitchFamily="66" charset="0"/>
              </a:rPr>
              <a:t>，输出端口竞争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39946" name="Text Box 9"/>
          <p:cNvSpPr txBox="1"/>
          <p:nvPr/>
        </p:nvSpPr>
        <p:spPr>
          <a:xfrm>
            <a:off x="5213985" y="3707130"/>
            <a:ext cx="2463800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一个分组时间以后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096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0964" name="Rectangle 2"/>
          <p:cNvSpPr>
            <a:spLocks noGrp="1"/>
          </p:cNvSpPr>
          <p:nvPr>
            <p:ph type="title"/>
          </p:nvPr>
        </p:nvSpPr>
        <p:spPr>
          <a:xfrm>
            <a:off x="685800" y="369888"/>
            <a:ext cx="7772400" cy="457200"/>
          </a:xfrm>
        </p:spPr>
        <p:txBody>
          <a:bodyPr vert="horz" wrap="square" lIns="91440" tIns="45720" rIns="91440" bIns="45720" anchor="ctr" anchorCtr="0"/>
          <a:p>
            <a:r>
              <a:rPr lang="zh-CN" altLang="en-US" sz="3200" dirty="0"/>
              <a:t>输入端口排队</a:t>
            </a:r>
            <a:endParaRPr lang="zh-CN" altLang="en-US" dirty="0"/>
          </a:p>
        </p:txBody>
      </p:sp>
      <p:sp>
        <p:nvSpPr>
          <p:cNvPr id="40965" name="Rectangle 3"/>
          <p:cNvSpPr>
            <a:spLocks noGrp="1"/>
          </p:cNvSpPr>
          <p:nvPr>
            <p:ph idx="1"/>
          </p:nvPr>
        </p:nvSpPr>
        <p:spPr>
          <a:xfrm>
            <a:off x="731838" y="1127125"/>
            <a:ext cx="8101012" cy="3017838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sz="2400" dirty="0"/>
              <a:t>交换结构比组合的输入端口慢</a:t>
            </a:r>
            <a:r>
              <a:rPr lang="en-US" altLang="zh-CN" sz="2400" dirty="0"/>
              <a:t>-&gt; </a:t>
            </a:r>
            <a:r>
              <a:rPr lang="zh-CN" altLang="en-US" sz="2400" dirty="0"/>
              <a:t>排队可能出现在输入队列</a:t>
            </a:r>
            <a:endParaRPr lang="en-US" altLang="zh-CN" sz="2400" dirty="0"/>
          </a:p>
          <a:p>
            <a:pPr eaLnBrk="1"/>
            <a:r>
              <a:rPr lang="zh-CN" altLang="en-US" sz="2400" dirty="0">
                <a:solidFill>
                  <a:srgbClr val="FF0000"/>
                </a:solidFill>
              </a:rPr>
              <a:t>线头</a:t>
            </a:r>
            <a:r>
              <a:rPr lang="en-US" altLang="zh-CN" sz="2400" dirty="0">
                <a:solidFill>
                  <a:srgbClr val="FF0000"/>
                </a:solidFill>
              </a:rPr>
              <a:t>(HOL)</a:t>
            </a:r>
            <a:r>
              <a:rPr lang="zh-CN" altLang="en-US" sz="2400" dirty="0">
                <a:solidFill>
                  <a:srgbClr val="FF0000"/>
                </a:solidFill>
              </a:rPr>
              <a:t>阻塞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 </a:t>
            </a:r>
            <a:r>
              <a:rPr lang="zh-CN" altLang="en-US" sz="2400" dirty="0"/>
              <a:t>排队的数据报在队列的前面阻碍队列中的其他数据报转发</a:t>
            </a:r>
            <a:endParaRPr lang="en-US" altLang="zh-CN" sz="2400" dirty="0"/>
          </a:p>
          <a:p>
            <a:pPr eaLnBrk="1"/>
            <a:r>
              <a:rPr lang="zh-CN" altLang="en-US" sz="2400" i="1" dirty="0">
                <a:solidFill>
                  <a:srgbClr val="FF0000"/>
                </a:solidFill>
              </a:rPr>
              <a:t>由于输入缓存溢出，出现排队时延和丢包</a:t>
            </a:r>
            <a:r>
              <a:rPr lang="en-US" altLang="zh-CN" sz="2400" i="1" dirty="0">
                <a:solidFill>
                  <a:srgbClr val="FF0000"/>
                </a:solidFill>
              </a:rPr>
              <a:t>!</a:t>
            </a:r>
            <a:endParaRPr lang="zh-CN" altLang="en-US" sz="2400" i="1" dirty="0">
              <a:solidFill>
                <a:srgbClr val="FF0000"/>
              </a:solidFill>
            </a:endParaRPr>
          </a:p>
        </p:txBody>
      </p:sp>
      <p:pic>
        <p:nvPicPr>
          <p:cNvPr id="40966" name="Picture 4" descr="466 HOL Block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88" y="3762375"/>
            <a:ext cx="6900862" cy="24955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7" name="Text Box 5"/>
          <p:cNvSpPr txBox="1"/>
          <p:nvPr/>
        </p:nvSpPr>
        <p:spPr>
          <a:xfrm>
            <a:off x="1039813" y="5622925"/>
            <a:ext cx="3106737" cy="64516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在时间</a:t>
            </a:r>
            <a:r>
              <a:rPr lang="en-US" altLang="zh-CN" dirty="0">
                <a:latin typeface="Comic Sans MS" panose="030F0702030302020204" pitchFamily="66" charset="0"/>
              </a:rPr>
              <a:t>t</a:t>
            </a:r>
            <a:r>
              <a:rPr lang="zh-CN" altLang="en-US" dirty="0">
                <a:latin typeface="Comic Sans MS" panose="030F0702030302020204" pitchFamily="66" charset="0"/>
              </a:rPr>
              <a:t>，输出端口竞争，仅一个红色分组能被传输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0968" name="Text Box 6"/>
          <p:cNvSpPr txBox="1"/>
          <p:nvPr/>
        </p:nvSpPr>
        <p:spPr>
          <a:xfrm>
            <a:off x="4699000" y="5659438"/>
            <a:ext cx="3298825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   绿色分组经历了</a:t>
            </a:r>
            <a:r>
              <a:rPr lang="en-US" altLang="zh-CN" dirty="0">
                <a:latin typeface="Comic Sans MS" panose="030F0702030302020204" pitchFamily="66" charset="0"/>
              </a:rPr>
              <a:t>HOL</a:t>
            </a:r>
            <a:r>
              <a:rPr lang="zh-CN" altLang="en-US" dirty="0">
                <a:latin typeface="Comic Sans MS" panose="030F0702030302020204" pitchFamily="66" charset="0"/>
              </a:rPr>
              <a:t>阻塞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0969" name="Text Box 7"/>
          <p:cNvSpPr txBox="1"/>
          <p:nvPr/>
        </p:nvSpPr>
        <p:spPr>
          <a:xfrm>
            <a:off x="5773738" y="4303713"/>
            <a:ext cx="1104900" cy="64135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交换结构</a:t>
            </a:r>
            <a:endParaRPr lang="zh-CN" altLang="en-US" dirty="0">
              <a:latin typeface="Comic Sans MS" panose="030F0702030302020204" pitchFamily="66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H="1" flipV="1">
            <a:off x="5289550" y="5331460"/>
            <a:ext cx="114300" cy="3860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" name="直接箭头连接符 2"/>
          <p:cNvCxnSpPr/>
          <p:nvPr/>
        </p:nvCxnSpPr>
        <p:spPr>
          <a:xfrm flipH="1">
            <a:off x="1525270" y="1501775"/>
            <a:ext cx="241300" cy="242443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7" name="Footer Placeholder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Network Layer</a:t>
            </a:r>
            <a:endParaRPr lang="en-US" altLang="zh-CN" sz="1200">
              <a:latin typeface="Tahoma" panose="020B0604030504040204" charset="0"/>
            </a:endParaRPr>
          </a:p>
        </p:txBody>
      </p:sp>
      <p:sp>
        <p:nvSpPr>
          <p:cNvPr id="70658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4-</a:t>
            </a:r>
            <a:fld id="{9A0DB2DC-4C9A-4742-B13C-FB6460FD3503}" type="slidenum">
              <a:rPr lang="en-US" altLang="zh-CN" sz="1200">
                <a:latin typeface="Tahoma" panose="020B0604030504040204" charset="0"/>
              </a:rPr>
            </a:fld>
            <a:endParaRPr lang="en-US" altLang="zh-CN" sz="1200">
              <a:latin typeface="Tahoma" panose="020B0604030504040204" charset="0"/>
            </a:endParaRPr>
          </a:p>
        </p:txBody>
      </p:sp>
      <p:pic>
        <p:nvPicPr>
          <p:cNvPr id="70659" name="Picture 11" descr="underline_base"/>
          <p:cNvPicPr/>
          <p:nvPr/>
        </p:nvPicPr>
        <p:blipFill>
          <a:blip r:embed="rId1"/>
          <a:stretch>
            <a:fillRect/>
          </a:stretch>
        </p:blipFill>
        <p:spPr>
          <a:xfrm>
            <a:off x="596900" y="1039813"/>
            <a:ext cx="5027613" cy="1730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25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宋体" panose="02010600030101010101" pitchFamily="2" charset="-122"/>
                <a:cs typeface="+mj-cs"/>
              </a:rPr>
              <a:t>缓存多大够用</a:t>
            </a: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?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70661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r>
              <a:rPr lang="en-US" altLang="zh-CN">
                <a:solidFill>
                  <a:schemeClr val="accent2"/>
                </a:solidFill>
              </a:rPr>
              <a:t>RFC 3439</a:t>
            </a:r>
            <a:r>
              <a:rPr lang="en-US" altLang="zh-CN"/>
              <a:t> rule of thumb: average buffering equal to </a:t>
            </a:r>
            <a:r>
              <a:rPr lang="ja-JP" altLang="en-US"/>
              <a:t>“</a:t>
            </a:r>
            <a:r>
              <a:rPr lang="en-US" altLang="ja-JP"/>
              <a:t>typical</a:t>
            </a:r>
            <a:r>
              <a:rPr lang="ja-JP" altLang="en-US"/>
              <a:t>”</a:t>
            </a:r>
            <a:r>
              <a:rPr lang="en-US" altLang="ja-JP"/>
              <a:t> RTT (say 250 msec) times link capacity C</a:t>
            </a:r>
            <a:endParaRPr lang="en-US" altLang="ja-JP"/>
          </a:p>
          <a:p>
            <a:pPr lvl="1"/>
            <a:r>
              <a:rPr lang="en-US" altLang="zh-CN"/>
              <a:t>e.g., C = 10 Gpbs link: 2.5 Gbit buffer</a:t>
            </a:r>
            <a:endParaRPr lang="en-US" altLang="zh-CN"/>
          </a:p>
          <a:p>
            <a:r>
              <a:rPr lang="zh-CN" altLang="en-US"/>
              <a:t>近期研究</a:t>
            </a:r>
            <a:r>
              <a:rPr lang="en-US" altLang="zh-CN"/>
              <a:t>: N</a:t>
            </a:r>
            <a:r>
              <a:rPr lang="zh-CN" altLang="en-US"/>
              <a:t>条流流过一条链路时</a:t>
            </a:r>
            <a:r>
              <a:rPr lang="en-US" altLang="zh-CN"/>
              <a:t>, </a:t>
            </a:r>
            <a:r>
              <a:rPr lang="zh-CN" altLang="en-US"/>
              <a:t>缓存等于</a:t>
            </a:r>
            <a:endParaRPr lang="en-US" altLang="zh-CN"/>
          </a:p>
        </p:txBody>
      </p:sp>
      <p:grpSp>
        <p:nvGrpSpPr>
          <p:cNvPr id="70662" name="Group 9"/>
          <p:cNvGrpSpPr/>
          <p:nvPr/>
        </p:nvGrpSpPr>
        <p:grpSpPr>
          <a:xfrm>
            <a:off x="4167188" y="3717925"/>
            <a:ext cx="1165225" cy="1109663"/>
            <a:chOff x="1923" y="2801"/>
            <a:chExt cx="734" cy="699"/>
          </a:xfrm>
        </p:grpSpPr>
        <p:sp>
          <p:nvSpPr>
            <p:cNvPr id="70663" name="Text Box 4"/>
            <p:cNvSpPr txBox="1"/>
            <p:nvPr/>
          </p:nvSpPr>
          <p:spPr>
            <a:xfrm>
              <a:off x="1923" y="2918"/>
              <a:ext cx="73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RTT  C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70664" name="Text Box 5"/>
            <p:cNvSpPr txBox="1"/>
            <p:nvPr/>
          </p:nvSpPr>
          <p:spPr>
            <a:xfrm>
              <a:off x="2309" y="2801"/>
              <a:ext cx="187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3200">
                  <a:latin typeface="Arial" panose="020B0604020202020204" pitchFamily="34" charset="0"/>
                </a:rPr>
                <a:t>.</a:t>
              </a:r>
              <a:endParaRPr lang="en-US" altLang="zh-CN" sz="3200">
                <a:latin typeface="Arial" panose="020B0604020202020204" pitchFamily="34" charset="0"/>
              </a:endParaRPr>
            </a:p>
          </p:txBody>
        </p:sp>
        <p:sp>
          <p:nvSpPr>
            <p:cNvPr id="70665" name="Line 6"/>
            <p:cNvSpPr/>
            <p:nvPr/>
          </p:nvSpPr>
          <p:spPr>
            <a:xfrm>
              <a:off x="1929" y="3168"/>
              <a:ext cx="619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0666" name="Text Box 7"/>
            <p:cNvSpPr txBox="1"/>
            <p:nvPr/>
          </p:nvSpPr>
          <p:spPr>
            <a:xfrm>
              <a:off x="2091" y="3212"/>
              <a:ext cx="255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2400">
                  <a:latin typeface="Arial" panose="020B0604020202020204" pitchFamily="34" charset="0"/>
                </a:rPr>
                <a:t>N</a:t>
              </a:r>
              <a:endParaRPr lang="en-US" altLang="zh-CN" sz="2400">
                <a:latin typeface="Arial" panose="020B0604020202020204" pitchFamily="34" charset="0"/>
              </a:endParaRPr>
            </a:p>
          </p:txBody>
        </p:sp>
        <p:sp>
          <p:nvSpPr>
            <p:cNvPr id="70667" name="Freeform 8"/>
            <p:cNvSpPr/>
            <p:nvPr/>
          </p:nvSpPr>
          <p:spPr>
            <a:xfrm>
              <a:off x="2062" y="3218"/>
              <a:ext cx="279" cy="209"/>
            </a:xfrm>
            <a:custGeom>
              <a:avLst/>
              <a:gdLst>
                <a:gd name="txL" fmla="*/ 0 w 279"/>
                <a:gd name="txT" fmla="*/ 0 h 209"/>
                <a:gd name="txR" fmla="*/ 279 w 279"/>
                <a:gd name="txB" fmla="*/ 209 h 209"/>
              </a:gdLst>
              <a:ahLst/>
              <a:cxnLst>
                <a:cxn ang="0">
                  <a:pos x="0" y="148"/>
                </a:cxn>
                <a:cxn ang="0">
                  <a:pos x="26" y="105"/>
                </a:cxn>
                <a:cxn ang="0">
                  <a:pos x="44" y="209"/>
                </a:cxn>
                <a:cxn ang="0">
                  <a:pos x="61" y="0"/>
                </a:cxn>
                <a:cxn ang="0">
                  <a:pos x="279" y="0"/>
                </a:cxn>
              </a:cxnLst>
              <a:rect l="txL" t="txT" r="txR" b="txB"/>
              <a:pathLst>
                <a:path w="279" h="209">
                  <a:moveTo>
                    <a:pt x="0" y="148"/>
                  </a:moveTo>
                  <a:lnTo>
                    <a:pt x="26" y="105"/>
                  </a:lnTo>
                  <a:lnTo>
                    <a:pt x="44" y="209"/>
                  </a:lnTo>
                  <a:lnTo>
                    <a:pt x="61" y="0"/>
                  </a:lnTo>
                  <a:lnTo>
                    <a:pt x="279" y="0"/>
                  </a:lnTo>
                </a:path>
              </a:pathLst>
            </a:custGeom>
            <a:noFill/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210" y="323850"/>
            <a:ext cx="8265795" cy="621093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06500" y="3690620"/>
            <a:ext cx="6521450" cy="224726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2684145" y="1221105"/>
            <a:ext cx="3860165" cy="187261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28295" y="303530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先进先出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28295" y="303530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优先权排队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444750" y="868680"/>
            <a:ext cx="4489450" cy="233934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41020" y="3548380"/>
            <a:ext cx="8061325" cy="23996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328295" y="303530"/>
            <a:ext cx="3048000" cy="368300"/>
          </a:xfrm>
          <a:prstGeom prst="rect">
            <a:avLst/>
          </a:prstGeom>
        </p:spPr>
        <p:txBody>
          <a:bodyPr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1800">
                <a:latin typeface="Arial" panose="020B0604020202020204" pitchFamily="34" charset="0"/>
                <a:ea typeface="微软雅黑" panose="020B0503020204020204" charset="-122"/>
              </a:rPr>
              <a:t>循环加权公平排队</a:t>
            </a:r>
            <a:endParaRPr lang="zh-CN" altLang="en-US" sz="180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494665" y="3762375"/>
            <a:ext cx="7767955" cy="250698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8655" y="1273175"/>
            <a:ext cx="4543425" cy="208978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3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124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5" name="Rectangle 2"/>
          <p:cNvSpPr/>
          <p:nvPr/>
        </p:nvSpPr>
        <p:spPr>
          <a:xfrm>
            <a:off x="1704975" y="1781175"/>
            <a:ext cx="6534150" cy="4076700"/>
          </a:xfrm>
          <a:prstGeom prst="rect">
            <a:avLst/>
          </a:prstGeom>
          <a:solidFill>
            <a:schemeClr val="bg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6" name="Rectangle 3"/>
          <p:cNvSpPr/>
          <p:nvPr/>
        </p:nvSpPr>
        <p:spPr>
          <a:xfrm>
            <a:off x="1638300" y="1847850"/>
            <a:ext cx="6534150" cy="40767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7" name="Rectangle 4"/>
          <p:cNvSpPr>
            <a:spLocks noGrp="1"/>
          </p:cNvSpPr>
          <p:nvPr>
            <p:ph type="title"/>
          </p:nvPr>
        </p:nvSpPr>
        <p:spPr>
          <a:xfrm>
            <a:off x="419100" y="13335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/>
              <a:t>The Internet </a:t>
            </a:r>
            <a:r>
              <a:rPr lang="zh-CN" altLang="en-US" sz="3600" dirty="0"/>
              <a:t>网络层</a:t>
            </a:r>
            <a:endParaRPr lang="zh-CN" altLang="en-US" dirty="0"/>
          </a:p>
        </p:txBody>
      </p:sp>
      <p:graphicFrame>
        <p:nvGraphicFramePr>
          <p:cNvPr id="5122" name="Rectangle 5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0" imgH="0" progId="MS_ClipArt_Gallery.2">
                  <p:embed/>
                </p:oleObj>
              </mc:Choice>
              <mc:Fallback>
                <p:oleObj name="" r:id="rId1" imgW="0" imgH="0" progId="MS_ClipArt_Gallery.2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28" name="Group 6"/>
          <p:cNvGrpSpPr/>
          <p:nvPr/>
        </p:nvGrpSpPr>
        <p:grpSpPr>
          <a:xfrm>
            <a:off x="3771900" y="3479800"/>
            <a:ext cx="1250950" cy="1214438"/>
            <a:chOff x="3996" y="2883"/>
            <a:chExt cx="609" cy="765"/>
          </a:xfrm>
        </p:grpSpPr>
        <p:sp>
          <p:nvSpPr>
            <p:cNvPr id="5152" name="Rectangle 7"/>
            <p:cNvSpPr/>
            <p:nvPr/>
          </p:nvSpPr>
          <p:spPr>
            <a:xfrm>
              <a:off x="4023" y="2883"/>
              <a:ext cx="582" cy="738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53" name="Rectangle 8"/>
            <p:cNvSpPr/>
            <p:nvPr/>
          </p:nvSpPr>
          <p:spPr>
            <a:xfrm>
              <a:off x="3996" y="2910"/>
              <a:ext cx="582" cy="738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54" name="Text Box 9"/>
            <p:cNvSpPr txBox="1"/>
            <p:nvPr/>
          </p:nvSpPr>
          <p:spPr>
            <a:xfrm>
              <a:off x="4141" y="3062"/>
              <a:ext cx="312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dirty="0">
                  <a:latin typeface="Comic Sans MS" panose="030F0702030302020204" pitchFamily="66" charset="0"/>
                </a:rPr>
                <a:t>转发</a:t>
              </a:r>
              <a:endParaRPr lang="zh-CN" altLang="en-US" dirty="0">
                <a:latin typeface="Comic Sans MS" panose="030F0702030302020204" pitchFamily="66" charset="0"/>
              </a:endParaRPr>
            </a:p>
            <a:p>
              <a:pPr algn="ctr"/>
              <a:r>
                <a:rPr lang="zh-CN" altLang="en-US" dirty="0">
                  <a:latin typeface="Comic Sans MS" panose="030F0702030302020204" pitchFamily="66" charset="0"/>
                </a:rPr>
                <a:t>表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55" name="Line 10"/>
            <p:cNvSpPr/>
            <p:nvPr/>
          </p:nvSpPr>
          <p:spPr>
            <a:xfrm>
              <a:off x="4065" y="2994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6" name="Line 11"/>
            <p:cNvSpPr/>
            <p:nvPr/>
          </p:nvSpPr>
          <p:spPr>
            <a:xfrm>
              <a:off x="4071" y="3048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7" name="Line 12"/>
            <p:cNvSpPr/>
            <p:nvPr/>
          </p:nvSpPr>
          <p:spPr>
            <a:xfrm>
              <a:off x="4074" y="3102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8" name="Line 13"/>
            <p:cNvSpPr/>
            <p:nvPr/>
          </p:nvSpPr>
          <p:spPr>
            <a:xfrm>
              <a:off x="4065" y="3477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59" name="Line 14"/>
            <p:cNvSpPr/>
            <p:nvPr/>
          </p:nvSpPr>
          <p:spPr>
            <a:xfrm>
              <a:off x="4068" y="3528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5160" name="Line 15"/>
            <p:cNvSpPr/>
            <p:nvPr/>
          </p:nvSpPr>
          <p:spPr>
            <a:xfrm>
              <a:off x="4071" y="3579"/>
              <a:ext cx="435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5129" name="Rectangle 16"/>
          <p:cNvSpPr>
            <a:spLocks noGrp="1"/>
          </p:cNvSpPr>
          <p:nvPr>
            <p:ph sz="half" idx="1"/>
          </p:nvPr>
        </p:nvSpPr>
        <p:spPr>
          <a:xfrm>
            <a:off x="581025" y="1133475"/>
            <a:ext cx="7534275" cy="43815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  <a:buFont typeface="ZapfDingbats" pitchFamily="82" charset="2"/>
              <a:buNone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主机，路由器网络层功能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: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  <p:sp>
        <p:nvSpPr>
          <p:cNvPr id="5130" name="Line 17"/>
          <p:cNvSpPr/>
          <p:nvPr/>
        </p:nvSpPr>
        <p:spPr>
          <a:xfrm flipV="1">
            <a:off x="1628775" y="5410200"/>
            <a:ext cx="650557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1" name="Line 18"/>
          <p:cNvSpPr/>
          <p:nvPr/>
        </p:nvSpPr>
        <p:spPr>
          <a:xfrm flipV="1">
            <a:off x="1657350" y="4886325"/>
            <a:ext cx="652462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5132" name="Group 19"/>
          <p:cNvGrpSpPr/>
          <p:nvPr/>
        </p:nvGrpSpPr>
        <p:grpSpPr>
          <a:xfrm>
            <a:off x="1836738" y="2667000"/>
            <a:ext cx="1887537" cy="885825"/>
            <a:chOff x="1175" y="1848"/>
            <a:chExt cx="1189" cy="558"/>
          </a:xfrm>
        </p:grpSpPr>
        <p:sp>
          <p:nvSpPr>
            <p:cNvPr id="5149" name="Rectangle 20"/>
            <p:cNvSpPr/>
            <p:nvPr/>
          </p:nvSpPr>
          <p:spPr>
            <a:xfrm>
              <a:off x="1224" y="1848"/>
              <a:ext cx="1140" cy="516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50" name="Rectangle 21"/>
            <p:cNvSpPr/>
            <p:nvPr/>
          </p:nvSpPr>
          <p:spPr>
            <a:xfrm>
              <a:off x="1182" y="1890"/>
              <a:ext cx="1140" cy="51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51" name="Text Box 22"/>
            <p:cNvSpPr txBox="1"/>
            <p:nvPr/>
          </p:nvSpPr>
          <p:spPr>
            <a:xfrm>
              <a:off x="1175" y="1885"/>
              <a:ext cx="1100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选路协议</a:t>
              </a:r>
              <a:endPara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sz="1600" dirty="0">
                  <a:latin typeface="Comic Sans MS" panose="030F0702030302020204" pitchFamily="66" charset="0"/>
                </a:rPr>
                <a:t>路径选择</a:t>
              </a:r>
              <a:endParaRPr lang="zh-CN" altLang="en-US" sz="1600" dirty="0"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en-US" altLang="zh-CN" sz="1600" dirty="0">
                  <a:latin typeface="Comic Sans MS" panose="030F0702030302020204" pitchFamily="66" charset="0"/>
                </a:rPr>
                <a:t>RIP, OSPF, BGP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133" name="Freeform 23"/>
          <p:cNvSpPr/>
          <p:nvPr/>
        </p:nvSpPr>
        <p:spPr>
          <a:xfrm>
            <a:off x="3143250" y="3657600"/>
            <a:ext cx="628650" cy="390525"/>
          </a:xfrm>
          <a:custGeom>
            <a:avLst/>
            <a:gdLst>
              <a:gd name="txL" fmla="*/ 0 w 396"/>
              <a:gd name="txT" fmla="*/ 0 h 246"/>
              <a:gd name="txR" fmla="*/ 396 w 396"/>
              <a:gd name="txB" fmla="*/ 246 h 246"/>
            </a:gdLst>
            <a:ahLst/>
            <a:cxnLst>
              <a:cxn ang="0">
                <a:pos x="0" y="0"/>
              </a:cxn>
              <a:cxn ang="0">
                <a:pos x="150" y="186"/>
              </a:cxn>
              <a:cxn ang="0">
                <a:pos x="396" y="210"/>
              </a:cxn>
            </a:cxnLst>
            <a:rect l="txL" t="txT" r="txR" b="txB"/>
            <a:pathLst>
              <a:path w="396" h="246">
                <a:moveTo>
                  <a:pt x="0" y="0"/>
                </a:moveTo>
                <a:cubicBezTo>
                  <a:pt x="30" y="16"/>
                  <a:pt x="42" y="126"/>
                  <a:pt x="150" y="186"/>
                </a:cubicBezTo>
                <a:cubicBezTo>
                  <a:pt x="258" y="246"/>
                  <a:pt x="345" y="205"/>
                  <a:pt x="396" y="210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olid"/>
            <a:round/>
            <a:headEnd type="triangle" w="med" len="med"/>
            <a:tailEnd type="triangl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5134" name="Group 24"/>
          <p:cNvGrpSpPr/>
          <p:nvPr/>
        </p:nvGrpSpPr>
        <p:grpSpPr>
          <a:xfrm>
            <a:off x="5092700" y="2576513"/>
            <a:ext cx="3000375" cy="1181100"/>
            <a:chOff x="102" y="1272"/>
            <a:chExt cx="1890" cy="744"/>
          </a:xfrm>
        </p:grpSpPr>
        <p:sp>
          <p:nvSpPr>
            <p:cNvPr id="5146" name="Rectangle 25"/>
            <p:cNvSpPr/>
            <p:nvPr/>
          </p:nvSpPr>
          <p:spPr>
            <a:xfrm>
              <a:off x="144" y="1272"/>
              <a:ext cx="1848" cy="690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47" name="Rectangle 26"/>
            <p:cNvSpPr/>
            <p:nvPr/>
          </p:nvSpPr>
          <p:spPr>
            <a:xfrm>
              <a:off x="102" y="1314"/>
              <a:ext cx="1848" cy="702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48" name="Text Box 27"/>
            <p:cNvSpPr txBox="1"/>
            <p:nvPr/>
          </p:nvSpPr>
          <p:spPr>
            <a:xfrm>
              <a:off x="116" y="1319"/>
              <a:ext cx="1036" cy="69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IP </a:t>
              </a:r>
              <a:r>
                <a:rPr lang="zh-CN" altLang="en-US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协议</a:t>
              </a:r>
              <a:endParaRPr lang="zh-CN" altLang="en-US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sz="1600" dirty="0">
                  <a:latin typeface="Comic Sans MS" panose="030F0702030302020204" pitchFamily="66" charset="0"/>
                </a:rPr>
                <a:t>编址规则</a:t>
              </a:r>
              <a:endParaRPr lang="en-US" altLang="zh-CN" sz="1600" dirty="0"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sz="1600" dirty="0">
                  <a:latin typeface="Comic Sans MS" panose="030F0702030302020204" pitchFamily="66" charset="0"/>
                </a:rPr>
                <a:t>数据报格式</a:t>
              </a:r>
              <a:endParaRPr lang="zh-CN" altLang="en-US" sz="1600" dirty="0"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dirty="0">
                  <a:latin typeface="Comic Sans MS" panose="030F0702030302020204" pitchFamily="66" charset="0"/>
                </a:rPr>
                <a:t>分组处理规则</a:t>
              </a:r>
              <a:endParaRPr lang="en-US" altLang="zh-CN" sz="16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135" name="Group 28"/>
          <p:cNvGrpSpPr/>
          <p:nvPr/>
        </p:nvGrpSpPr>
        <p:grpSpPr>
          <a:xfrm>
            <a:off x="5149850" y="3889375"/>
            <a:ext cx="2000250" cy="890588"/>
            <a:chOff x="72" y="1146"/>
            <a:chExt cx="1260" cy="561"/>
          </a:xfrm>
        </p:grpSpPr>
        <p:sp>
          <p:nvSpPr>
            <p:cNvPr id="5143" name="Rectangle 29"/>
            <p:cNvSpPr/>
            <p:nvPr/>
          </p:nvSpPr>
          <p:spPr>
            <a:xfrm>
              <a:off x="114" y="1146"/>
              <a:ext cx="1218" cy="516"/>
            </a:xfrm>
            <a:prstGeom prst="rect">
              <a:avLst/>
            </a:prstGeom>
            <a:solidFill>
              <a:schemeClr val="accent2"/>
            </a:solidFill>
            <a:ln w="19050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44" name="Rectangle 30"/>
            <p:cNvSpPr/>
            <p:nvPr/>
          </p:nvSpPr>
          <p:spPr>
            <a:xfrm>
              <a:off x="72" y="1188"/>
              <a:ext cx="1218" cy="516"/>
            </a:xfrm>
            <a:prstGeom prst="rect">
              <a:avLst/>
            </a:prstGeom>
            <a:solidFill>
              <a:schemeClr val="bg1"/>
            </a:solidFill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45" name="Text Box 31"/>
            <p:cNvSpPr txBox="1"/>
            <p:nvPr/>
          </p:nvSpPr>
          <p:spPr>
            <a:xfrm>
              <a:off x="80" y="1187"/>
              <a:ext cx="1197" cy="52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ICMP </a:t>
              </a:r>
              <a:r>
                <a:rPr lang="zh-CN" altLang="en-US" sz="1600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协议</a:t>
              </a:r>
              <a:endParaRPr lang="zh-CN" altLang="en-US" sz="160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sz="1600" dirty="0">
                  <a:latin typeface="Comic Sans MS" panose="030F0702030302020204" pitchFamily="66" charset="0"/>
                </a:rPr>
                <a:t>差错报告</a:t>
              </a:r>
              <a:endParaRPr lang="zh-CN" altLang="en-US" sz="1600" dirty="0">
                <a:latin typeface="Comic Sans MS" panose="030F0702030302020204" pitchFamily="66" charset="0"/>
              </a:endParaRPr>
            </a:p>
            <a:p>
              <a:pPr>
                <a:buChar char="•"/>
              </a:pPr>
              <a:r>
                <a:rPr lang="zh-CN" altLang="en-US" sz="1600" dirty="0">
                  <a:latin typeface="Comic Sans MS" panose="030F0702030302020204" pitchFamily="66" charset="0"/>
                </a:rPr>
                <a:t>路由器“信令</a:t>
              </a:r>
              <a:r>
                <a:rPr lang="en-US" altLang="zh-CN" sz="1600" dirty="0">
                  <a:latin typeface="Comic Sans MS" panose="030F0702030302020204" pitchFamily="66" charset="0"/>
                </a:rPr>
                <a:t>”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136" name="Line 32"/>
          <p:cNvSpPr/>
          <p:nvPr/>
        </p:nvSpPr>
        <p:spPr>
          <a:xfrm flipV="1">
            <a:off x="1657350" y="2466975"/>
            <a:ext cx="6524625" cy="95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37" name="Text Box 33"/>
          <p:cNvSpPr txBox="1"/>
          <p:nvPr/>
        </p:nvSpPr>
        <p:spPr>
          <a:xfrm>
            <a:off x="3098800" y="1993900"/>
            <a:ext cx="200342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bg2"/>
                </a:solidFill>
                <a:latin typeface="Comic Sans MS" panose="030F0702030302020204" pitchFamily="66" charset="0"/>
              </a:rPr>
              <a:t>运输层</a:t>
            </a:r>
            <a:r>
              <a:rPr lang="en-US" altLang="zh-CN" dirty="0">
                <a:solidFill>
                  <a:schemeClr val="bg2"/>
                </a:solidFill>
                <a:latin typeface="Comic Sans MS" panose="030F0702030302020204" pitchFamily="66" charset="0"/>
              </a:rPr>
              <a:t>: TCP, UDP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138" name="Text Box 34"/>
          <p:cNvSpPr txBox="1"/>
          <p:nvPr/>
        </p:nvSpPr>
        <p:spPr>
          <a:xfrm>
            <a:off x="4186238" y="4954588"/>
            <a:ext cx="8699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bg2"/>
                </a:solidFill>
                <a:latin typeface="Comic Sans MS" panose="030F0702030302020204" pitchFamily="66" charset="0"/>
              </a:rPr>
              <a:t>链路层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39" name="Text Box 35"/>
          <p:cNvSpPr txBox="1"/>
          <p:nvPr/>
        </p:nvSpPr>
        <p:spPr>
          <a:xfrm>
            <a:off x="4252913" y="5470525"/>
            <a:ext cx="8699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bg2"/>
                </a:solidFill>
                <a:latin typeface="Comic Sans MS" panose="030F0702030302020204" pitchFamily="66" charset="0"/>
              </a:rPr>
              <a:t>物理层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40" name="Text Box 36"/>
          <p:cNvSpPr txBox="1"/>
          <p:nvPr/>
        </p:nvSpPr>
        <p:spPr>
          <a:xfrm>
            <a:off x="473075" y="3240088"/>
            <a:ext cx="109855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sz="2400" dirty="0">
                <a:solidFill>
                  <a:srgbClr val="FF0000"/>
                </a:solidFill>
                <a:latin typeface="Comic Sans MS" panose="030F0702030302020204" pitchFamily="66" charset="0"/>
              </a:rPr>
              <a:t>网络层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41" name="Line 37"/>
          <p:cNvSpPr/>
          <p:nvPr/>
        </p:nvSpPr>
        <p:spPr>
          <a:xfrm flipV="1">
            <a:off x="1381125" y="2486025"/>
            <a:ext cx="0" cy="7429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5142" name="Line 38"/>
          <p:cNvSpPr/>
          <p:nvPr/>
        </p:nvSpPr>
        <p:spPr>
          <a:xfrm>
            <a:off x="1381125" y="4152900"/>
            <a:ext cx="0" cy="74295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301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301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IP:</a:t>
            </a:r>
            <a:r>
              <a:rPr lang="zh-CN" altLang="en-US" dirty="0"/>
              <a:t>无连接交付系统</a:t>
            </a:r>
            <a:endParaRPr lang="zh-CN" altLang="en-US" dirty="0"/>
          </a:p>
        </p:txBody>
      </p:sp>
      <p:sp>
        <p:nvSpPr>
          <p:cNvPr id="647171" name="Rectangle 3"/>
          <p:cNvSpPr>
            <a:spLocks noGrp="1" noChangeArrowheads="1"/>
          </p:cNvSpPr>
          <p:nvPr>
            <p:ph idx="1"/>
          </p:nvPr>
        </p:nvSpPr>
        <p:spPr>
          <a:xfrm>
            <a:off x="701675" y="1506538"/>
            <a:ext cx="7772400" cy="47625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pitchFamily="82" charset="2"/>
              <a:buChar char="r"/>
              <a:defRPr/>
            </a:pP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互联网服务被定义成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不可靠的、尽力而为、无连接</a:t>
            </a:r>
            <a:r>
              <a:rPr kumimoji="0" lang="zh-CN" altLang="en-US" sz="32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分组交付系统。</a:t>
            </a:r>
            <a:endParaRPr kumimoji="0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服务是不可靠的，因为分组可能丢失、重复、延迟或不按序交付等，但服务不检测这些情况，也不提醒发送方和接收方。</a:t>
            </a: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服务是尽力而为的</a:t>
            </a:r>
            <a:r>
              <a: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互联网并不随意地丢弃分组；只有当资源用完或底层网络出现故障时才可能出现不可靠性。</a:t>
            </a: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  <a:p>
            <a:pPr marL="742950" marR="0" lvl="1" indent="-285750" algn="l" defTabSz="914400" rtl="0" eaLnBrk="1" fontAlgn="base" latinLnBrk="0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ZapfDingbats" pitchFamily="82" charset="2"/>
              <a:buChar char="m"/>
              <a:defRPr/>
            </a:pP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服务是无连接的</a:t>
            </a:r>
            <a:r>
              <a:rPr kumimoji="0" lang="en-US" altLang="zh-CN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，</a:t>
            </a:r>
            <a:r>
              <a:rPr kumimoji="0" lang="zh-CN" altLang="en-US" sz="28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因为每个分组都是独立对待的。分组序列可能经过不同的传输路径或者有的丢失有的到达。</a:t>
            </a:r>
            <a:endParaRPr kumimoji="0" lang="zh-CN" altLang="en-US" sz="28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4035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4036" name="Rectangle 2"/>
          <p:cNvSpPr>
            <a:spLocks noGrp="1"/>
          </p:cNvSpPr>
          <p:nvPr>
            <p:ph type="title"/>
          </p:nvPr>
        </p:nvSpPr>
        <p:spPr>
          <a:xfrm>
            <a:off x="520700" y="0"/>
            <a:ext cx="7772400" cy="78105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/>
              <a:t>IP </a:t>
            </a:r>
            <a:r>
              <a:rPr lang="zh-CN" altLang="en-US" sz="3600" dirty="0"/>
              <a:t>数据报格式</a:t>
            </a:r>
            <a:endParaRPr lang="zh-CN" altLang="en-US" dirty="0"/>
          </a:p>
        </p:txBody>
      </p:sp>
      <p:sp>
        <p:nvSpPr>
          <p:cNvPr id="44037" name="Rectangle 4"/>
          <p:cNvSpPr/>
          <p:nvPr/>
        </p:nvSpPr>
        <p:spPr>
          <a:xfrm>
            <a:off x="3149600" y="1377950"/>
            <a:ext cx="3951288" cy="4824413"/>
          </a:xfrm>
          <a:prstGeom prst="rect">
            <a:avLst/>
          </a:prstGeom>
          <a:solidFill>
            <a:schemeClr val="accent2"/>
          </a:solidFill>
          <a:ln w="19050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4038" name="Rectangle 5"/>
          <p:cNvSpPr/>
          <p:nvPr/>
        </p:nvSpPr>
        <p:spPr>
          <a:xfrm>
            <a:off x="3054350" y="1484313"/>
            <a:ext cx="3951288" cy="4805362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/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39" name="Text Box 6"/>
          <p:cNvSpPr txBox="1"/>
          <p:nvPr/>
        </p:nvSpPr>
        <p:spPr>
          <a:xfrm>
            <a:off x="2998788" y="1549400"/>
            <a:ext cx="53022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ver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4040" name="Text Box 7"/>
          <p:cNvSpPr txBox="1"/>
          <p:nvPr/>
        </p:nvSpPr>
        <p:spPr>
          <a:xfrm>
            <a:off x="5595938" y="1592263"/>
            <a:ext cx="641350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长度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41" name="Line 8"/>
          <p:cNvSpPr/>
          <p:nvPr/>
        </p:nvSpPr>
        <p:spPr>
          <a:xfrm>
            <a:off x="3067050" y="2001838"/>
            <a:ext cx="3946525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2" name="Line 9"/>
          <p:cNvSpPr/>
          <p:nvPr/>
        </p:nvSpPr>
        <p:spPr>
          <a:xfrm flipH="1" flipV="1">
            <a:off x="5006975" y="1493838"/>
            <a:ext cx="0" cy="5064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3" name="Text Box 10"/>
          <p:cNvSpPr txBox="1"/>
          <p:nvPr/>
        </p:nvSpPr>
        <p:spPr>
          <a:xfrm>
            <a:off x="4503738" y="968375"/>
            <a:ext cx="94932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32 bits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4044" name="Line 11"/>
          <p:cNvSpPr/>
          <p:nvPr/>
        </p:nvSpPr>
        <p:spPr>
          <a:xfrm>
            <a:off x="5549900" y="1209675"/>
            <a:ext cx="1427163" cy="47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5" name="Line 12"/>
          <p:cNvSpPr/>
          <p:nvPr/>
        </p:nvSpPr>
        <p:spPr>
          <a:xfrm rot="10800000">
            <a:off x="3041650" y="1220788"/>
            <a:ext cx="134143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4046" name="Text Box 13"/>
          <p:cNvSpPr txBox="1"/>
          <p:nvPr/>
        </p:nvSpPr>
        <p:spPr>
          <a:xfrm>
            <a:off x="3281363" y="4418013"/>
            <a:ext cx="3686175" cy="7016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sz="2000" dirty="0">
                <a:latin typeface="Comic Sans MS" panose="030F0702030302020204" pitchFamily="66" charset="0"/>
              </a:rPr>
              <a:t>数据</a:t>
            </a:r>
            <a:endParaRPr lang="zh-CN" altLang="en-US" sz="2000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sz="2000" dirty="0">
                <a:latin typeface="Comic Sans MS" panose="030F0702030302020204" pitchFamily="66" charset="0"/>
              </a:rPr>
              <a:t>(</a:t>
            </a:r>
            <a:r>
              <a:rPr lang="zh-CN" altLang="en-US" sz="2000" dirty="0">
                <a:latin typeface="Comic Sans MS" panose="030F0702030302020204" pitchFamily="66" charset="0"/>
              </a:rPr>
              <a:t>变长</a:t>
            </a:r>
            <a:r>
              <a:rPr lang="en-US" altLang="zh-CN" sz="2000" dirty="0">
                <a:latin typeface="Comic Sans MS" panose="030F0702030302020204" pitchFamily="66" charset="0"/>
              </a:rPr>
              <a:t>,</a:t>
            </a:r>
            <a:r>
              <a:rPr lang="zh-CN" altLang="en-US" sz="2000" dirty="0">
                <a:latin typeface="Comic Sans MS" panose="030F0702030302020204" pitchFamily="66" charset="0"/>
              </a:rPr>
              <a:t>通常是一个</a:t>
            </a:r>
            <a:r>
              <a:rPr lang="en-US" altLang="zh-CN" sz="2000" dirty="0">
                <a:latin typeface="Comic Sans MS" panose="030F0702030302020204" pitchFamily="66" charset="0"/>
              </a:rPr>
              <a:t>TCP</a:t>
            </a:r>
            <a:r>
              <a:rPr lang="zh-CN" altLang="en-US" sz="2000" dirty="0">
                <a:latin typeface="Comic Sans MS" panose="030F0702030302020204" pitchFamily="66" charset="0"/>
              </a:rPr>
              <a:t>或</a:t>
            </a:r>
            <a:r>
              <a:rPr lang="en-US" altLang="zh-CN" sz="2000" dirty="0">
                <a:latin typeface="Comic Sans MS" panose="030F0702030302020204" pitchFamily="66" charset="0"/>
              </a:rPr>
              <a:t>UDP</a:t>
            </a:r>
            <a:r>
              <a:rPr lang="zh-CN" altLang="en-US" sz="2000" dirty="0">
                <a:latin typeface="Comic Sans MS" panose="030F0702030302020204" pitchFamily="66" charset="0"/>
              </a:rPr>
              <a:t>段</a:t>
            </a:r>
            <a:r>
              <a:rPr lang="en-US" altLang="zh-CN" sz="2000" dirty="0">
                <a:latin typeface="Comic Sans MS" panose="030F0702030302020204" pitchFamily="66" charset="0"/>
              </a:rPr>
              <a:t>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4047" name="Text Box 14"/>
          <p:cNvSpPr txBox="1"/>
          <p:nvPr/>
        </p:nvSpPr>
        <p:spPr>
          <a:xfrm>
            <a:off x="2973388" y="2095500"/>
            <a:ext cx="21526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16-bit</a:t>
            </a:r>
            <a:r>
              <a:rPr lang="zh-CN" altLang="en-US" dirty="0">
                <a:latin typeface="Comic Sans MS" panose="030F0702030302020204" pitchFamily="66" charset="0"/>
              </a:rPr>
              <a:t>标识符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4048" name="Line 15"/>
          <p:cNvSpPr/>
          <p:nvPr/>
        </p:nvSpPr>
        <p:spPr>
          <a:xfrm flipV="1">
            <a:off x="3060700" y="3500438"/>
            <a:ext cx="395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49" name="Line 16"/>
          <p:cNvSpPr/>
          <p:nvPr/>
        </p:nvSpPr>
        <p:spPr>
          <a:xfrm flipV="1">
            <a:off x="3060700" y="3976688"/>
            <a:ext cx="395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0" name="Text Box 17"/>
          <p:cNvSpPr txBox="1"/>
          <p:nvPr/>
        </p:nvSpPr>
        <p:spPr>
          <a:xfrm>
            <a:off x="5202555" y="2583180"/>
            <a:ext cx="15557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互联网检查和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51" name="Text Box 18"/>
          <p:cNvSpPr txBox="1"/>
          <p:nvPr/>
        </p:nvSpPr>
        <p:spPr>
          <a:xfrm>
            <a:off x="3181350" y="258318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寿命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52" name="Text Box 19"/>
          <p:cNvSpPr txBox="1"/>
          <p:nvPr/>
        </p:nvSpPr>
        <p:spPr>
          <a:xfrm>
            <a:off x="4103688" y="3114675"/>
            <a:ext cx="176847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32 bit</a:t>
            </a:r>
            <a:r>
              <a:rPr lang="zh-CN" altLang="en-US" dirty="0">
                <a:latin typeface="Comic Sans MS" panose="030F0702030302020204" pitchFamily="66" charset="0"/>
              </a:rPr>
              <a:t>源</a:t>
            </a:r>
            <a:r>
              <a:rPr lang="en-US" altLang="zh-CN" dirty="0">
                <a:latin typeface="Comic Sans MS" panose="030F0702030302020204" pitchFamily="66" charset="0"/>
              </a:rPr>
              <a:t>IP</a:t>
            </a:r>
            <a:r>
              <a:rPr lang="zh-CN" altLang="en-US" dirty="0">
                <a:latin typeface="Comic Sans MS" panose="030F0702030302020204" pitchFamily="66" charset="0"/>
              </a:rPr>
              <a:t>地址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4053" name="Text Box 20"/>
          <p:cNvSpPr txBox="1"/>
          <p:nvPr/>
        </p:nvSpPr>
        <p:spPr>
          <a:xfrm>
            <a:off x="1184275" y="863600"/>
            <a:ext cx="157162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en-US" altLang="zh-CN" dirty="0">
                <a:latin typeface="Comic Sans MS" panose="030F0702030302020204" pitchFamily="66" charset="0"/>
              </a:rPr>
              <a:t>IP</a:t>
            </a:r>
            <a:r>
              <a:rPr lang="zh-CN" altLang="en-US" dirty="0">
                <a:latin typeface="Comic Sans MS" panose="030F0702030302020204" pitchFamily="66" charset="0"/>
              </a:rPr>
              <a:t>协议版本号</a:t>
            </a:r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44054" name="Text Box 21"/>
          <p:cNvSpPr txBox="1"/>
          <p:nvPr/>
        </p:nvSpPr>
        <p:spPr>
          <a:xfrm>
            <a:off x="1652588" y="1392238"/>
            <a:ext cx="10985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dirty="0">
                <a:latin typeface="Comic Sans MS" panose="030F0702030302020204" pitchFamily="66" charset="0"/>
              </a:rPr>
              <a:t>首部长度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r"/>
            <a:r>
              <a:rPr lang="en-US" altLang="zh-CN" dirty="0">
                <a:latin typeface="Comic Sans MS" panose="030F0702030302020204" pitchFamily="66" charset="0"/>
              </a:rPr>
              <a:t> (</a:t>
            </a:r>
            <a:r>
              <a:rPr lang="zh-CN" altLang="en-US" dirty="0">
                <a:latin typeface="Comic Sans MS" panose="030F0702030302020204" pitchFamily="66" charset="0"/>
              </a:rPr>
              <a:t>字节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44055" name="Text Box 22"/>
          <p:cNvSpPr txBox="1"/>
          <p:nvPr/>
        </p:nvSpPr>
        <p:spPr>
          <a:xfrm>
            <a:off x="785813" y="2392363"/>
            <a:ext cx="2055812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dirty="0">
                <a:latin typeface="Comic Sans MS" panose="030F0702030302020204" pitchFamily="66" charset="0"/>
              </a:rPr>
              <a:t>剩余跳的最大数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algn="r"/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在每台路由器减</a:t>
            </a:r>
            <a:r>
              <a:rPr lang="en-US" altLang="zh-CN" dirty="0">
                <a:latin typeface="Comic Sans MS" panose="030F0702030302020204" pitchFamily="66" charset="0"/>
              </a:rPr>
              <a:t>1)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44056" name="Line 23"/>
          <p:cNvSpPr/>
          <p:nvPr/>
        </p:nvSpPr>
        <p:spPr>
          <a:xfrm>
            <a:off x="2652713" y="1189038"/>
            <a:ext cx="528637" cy="461962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7" name="Line 24"/>
          <p:cNvSpPr/>
          <p:nvPr/>
        </p:nvSpPr>
        <p:spPr>
          <a:xfrm>
            <a:off x="2681288" y="1746250"/>
            <a:ext cx="904875" cy="147638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58" name="Text Box 25"/>
          <p:cNvSpPr txBox="1"/>
          <p:nvPr/>
        </p:nvSpPr>
        <p:spPr>
          <a:xfrm>
            <a:off x="7319963" y="1792288"/>
            <a:ext cx="1444625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对分段</a:t>
            </a:r>
            <a:r>
              <a:rPr lang="en-US" altLang="zh-CN" dirty="0">
                <a:latin typeface="Comic Sans MS" panose="030F0702030302020204" pitchFamily="66" charset="0"/>
              </a:rPr>
              <a:t>/</a:t>
            </a:r>
            <a:r>
              <a:rPr lang="zh-CN" altLang="en-US" dirty="0">
                <a:latin typeface="Comic Sans MS" panose="030F0702030302020204" pitchFamily="66" charset="0"/>
              </a:rPr>
              <a:t>重装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44059" name="Text Box 26"/>
          <p:cNvSpPr txBox="1"/>
          <p:nvPr/>
        </p:nvSpPr>
        <p:spPr>
          <a:xfrm>
            <a:off x="7289800" y="1039813"/>
            <a:ext cx="15557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总数据报长度</a:t>
            </a:r>
            <a:endParaRPr lang="zh-CN" altLang="en-US" dirty="0">
              <a:latin typeface="Comic Sans MS" panose="030F0702030302020204" pitchFamily="66" charset="0"/>
            </a:endParaRPr>
          </a:p>
          <a:p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字节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44060" name="Text Box 27"/>
          <p:cNvSpPr txBox="1"/>
          <p:nvPr/>
        </p:nvSpPr>
        <p:spPr>
          <a:xfrm>
            <a:off x="1539875" y="3668713"/>
            <a:ext cx="13271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dirty="0">
                <a:latin typeface="Comic Sans MS" panose="030F0702030302020204" pitchFamily="66" charset="0"/>
              </a:rPr>
              <a:t>较高层协议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r"/>
            <a:r>
              <a:rPr lang="zh-CN" altLang="en-US" dirty="0">
                <a:latin typeface="Comic Sans MS" panose="030F0702030302020204" pitchFamily="66" charset="0"/>
              </a:rPr>
              <a:t>交付的负载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4061" name="Line 28"/>
          <p:cNvSpPr/>
          <p:nvPr/>
        </p:nvSpPr>
        <p:spPr>
          <a:xfrm flipV="1">
            <a:off x="2795588" y="2732088"/>
            <a:ext cx="1466850" cy="11239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2" name="Line 29"/>
          <p:cNvSpPr/>
          <p:nvPr/>
        </p:nvSpPr>
        <p:spPr>
          <a:xfrm flipH="1">
            <a:off x="5376863" y="2246313"/>
            <a:ext cx="2038350" cy="1905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3" name="Line 30"/>
          <p:cNvSpPr/>
          <p:nvPr/>
        </p:nvSpPr>
        <p:spPr>
          <a:xfrm flipH="1">
            <a:off x="6757988" y="1379538"/>
            <a:ext cx="638175" cy="40957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4" name="Text Box 31"/>
          <p:cNvSpPr txBox="1"/>
          <p:nvPr/>
        </p:nvSpPr>
        <p:spPr>
          <a:xfrm>
            <a:off x="3494088" y="1425575"/>
            <a:ext cx="641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首部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长度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65" name="Text Box 32"/>
          <p:cNvSpPr txBox="1"/>
          <p:nvPr/>
        </p:nvSpPr>
        <p:spPr>
          <a:xfrm>
            <a:off x="4244975" y="1416050"/>
            <a:ext cx="641350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服务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类型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66" name="Line 33"/>
          <p:cNvSpPr/>
          <p:nvPr/>
        </p:nvSpPr>
        <p:spPr>
          <a:xfrm flipH="1" flipV="1">
            <a:off x="4111625" y="1489075"/>
            <a:ext cx="0" cy="5064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7" name="Line 34"/>
          <p:cNvSpPr/>
          <p:nvPr/>
        </p:nvSpPr>
        <p:spPr>
          <a:xfrm flipH="1" flipV="1">
            <a:off x="3497263" y="1498600"/>
            <a:ext cx="0" cy="50641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68" name="Text Box 35"/>
          <p:cNvSpPr txBox="1"/>
          <p:nvPr/>
        </p:nvSpPr>
        <p:spPr>
          <a:xfrm>
            <a:off x="1290638" y="1963738"/>
            <a:ext cx="1508125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r"/>
            <a:r>
              <a:rPr lang="zh-CN" altLang="en-US" dirty="0">
                <a:latin typeface="Comic Sans MS" panose="030F0702030302020204" pitchFamily="66" charset="0"/>
              </a:rPr>
              <a:t>数据的“类型</a:t>
            </a:r>
            <a:r>
              <a:rPr lang="en-US" altLang="zh-CN" dirty="0">
                <a:latin typeface="Comic Sans MS" panose="030F0702030302020204" pitchFamily="66" charset="0"/>
              </a:rPr>
              <a:t>”</a:t>
            </a:r>
            <a:endParaRPr lang="en-US" altLang="zh-CN" sz="1000" dirty="0">
              <a:latin typeface="Times New Roman" panose="02020603050405020304" pitchFamily="18" charset="0"/>
            </a:endParaRPr>
          </a:p>
        </p:txBody>
      </p:sp>
      <p:sp>
        <p:nvSpPr>
          <p:cNvPr id="44069" name="Line 36"/>
          <p:cNvSpPr/>
          <p:nvPr/>
        </p:nvSpPr>
        <p:spPr>
          <a:xfrm flipV="1">
            <a:off x="2700338" y="1760538"/>
            <a:ext cx="1533525" cy="414337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0" name="Line 37"/>
          <p:cNvSpPr/>
          <p:nvPr/>
        </p:nvSpPr>
        <p:spPr>
          <a:xfrm flipH="1" flipV="1">
            <a:off x="5006975" y="2008188"/>
            <a:ext cx="0" cy="5064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1" name="Text Box 38"/>
          <p:cNvSpPr txBox="1"/>
          <p:nvPr/>
        </p:nvSpPr>
        <p:spPr>
          <a:xfrm>
            <a:off x="4859338" y="2085975"/>
            <a:ext cx="771525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标志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4072" name="Line 39"/>
          <p:cNvSpPr/>
          <p:nvPr/>
        </p:nvSpPr>
        <p:spPr>
          <a:xfrm flipH="1" flipV="1">
            <a:off x="5473700" y="1998663"/>
            <a:ext cx="0" cy="5064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3" name="Text Box 40"/>
          <p:cNvSpPr txBox="1"/>
          <p:nvPr/>
        </p:nvSpPr>
        <p:spPr>
          <a:xfrm>
            <a:off x="5516563" y="1952625"/>
            <a:ext cx="1428750" cy="3667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段偏移</a:t>
            </a: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4074" name="Line 41"/>
          <p:cNvSpPr/>
          <p:nvPr/>
        </p:nvSpPr>
        <p:spPr>
          <a:xfrm flipH="1" flipV="1">
            <a:off x="6738938" y="2141538"/>
            <a:ext cx="657225" cy="11430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5" name="Line 42"/>
          <p:cNvSpPr/>
          <p:nvPr/>
        </p:nvSpPr>
        <p:spPr>
          <a:xfrm flipH="1">
            <a:off x="4862513" y="2255838"/>
            <a:ext cx="2514600" cy="571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6" name="Line 43"/>
          <p:cNvSpPr/>
          <p:nvPr/>
        </p:nvSpPr>
        <p:spPr>
          <a:xfrm flipV="1">
            <a:off x="3060700" y="2509838"/>
            <a:ext cx="395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7" name="Line 44"/>
          <p:cNvSpPr/>
          <p:nvPr/>
        </p:nvSpPr>
        <p:spPr>
          <a:xfrm flipH="1" flipV="1">
            <a:off x="5006975" y="2513013"/>
            <a:ext cx="0" cy="5064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8" name="Line 45"/>
          <p:cNvSpPr/>
          <p:nvPr/>
        </p:nvSpPr>
        <p:spPr>
          <a:xfrm flipV="1">
            <a:off x="3041650" y="3024188"/>
            <a:ext cx="395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79" name="Text Box 46"/>
          <p:cNvSpPr txBox="1"/>
          <p:nvPr/>
        </p:nvSpPr>
        <p:spPr>
          <a:xfrm>
            <a:off x="4210050" y="258318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高层</a:t>
            </a:r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4080" name="Line 47"/>
          <p:cNvSpPr/>
          <p:nvPr/>
        </p:nvSpPr>
        <p:spPr>
          <a:xfrm flipH="1" flipV="1">
            <a:off x="4054475" y="2522538"/>
            <a:ext cx="0" cy="5064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1" name="Line 48"/>
          <p:cNvSpPr/>
          <p:nvPr/>
        </p:nvSpPr>
        <p:spPr>
          <a:xfrm>
            <a:off x="2776538" y="2698750"/>
            <a:ext cx="552450" cy="90488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2" name="Text Box 49"/>
          <p:cNvSpPr txBox="1"/>
          <p:nvPr/>
        </p:nvSpPr>
        <p:spPr>
          <a:xfrm>
            <a:off x="4037013" y="3552825"/>
            <a:ext cx="1997075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32 bit</a:t>
            </a:r>
            <a:r>
              <a:rPr lang="zh-CN" altLang="en-US" dirty="0">
                <a:latin typeface="Comic Sans MS" panose="030F0702030302020204" pitchFamily="66" charset="0"/>
              </a:rPr>
              <a:t>目的</a:t>
            </a:r>
            <a:r>
              <a:rPr lang="en-US" altLang="zh-CN" dirty="0">
                <a:latin typeface="Comic Sans MS" panose="030F0702030302020204" pitchFamily="66" charset="0"/>
              </a:rPr>
              <a:t>IP</a:t>
            </a:r>
            <a:r>
              <a:rPr lang="zh-CN" altLang="en-US" dirty="0">
                <a:latin typeface="Comic Sans MS" panose="030F0702030302020204" pitchFamily="66" charset="0"/>
              </a:rPr>
              <a:t>地址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44083" name="Line 50"/>
          <p:cNvSpPr/>
          <p:nvPr/>
        </p:nvSpPr>
        <p:spPr>
          <a:xfrm flipV="1">
            <a:off x="3060700" y="4424363"/>
            <a:ext cx="39512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4" name="Text Box 51"/>
          <p:cNvSpPr txBox="1"/>
          <p:nvPr/>
        </p:nvSpPr>
        <p:spPr>
          <a:xfrm>
            <a:off x="3984625" y="4019550"/>
            <a:ext cx="2020888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选项 </a:t>
            </a:r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如果有的话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en-US" altLang="zh-CN" sz="2400" dirty="0">
              <a:latin typeface="Times New Roman" panose="02020603050405020304" pitchFamily="18" charset="0"/>
            </a:endParaRPr>
          </a:p>
        </p:txBody>
      </p:sp>
      <p:sp>
        <p:nvSpPr>
          <p:cNvPr id="44085" name="Text Box 52"/>
          <p:cNvSpPr txBox="1"/>
          <p:nvPr/>
        </p:nvSpPr>
        <p:spPr>
          <a:xfrm>
            <a:off x="7205663" y="3973513"/>
            <a:ext cx="1938337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例如，时间戳，记录所经路径，定义访问的路由器列表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44086" name="Line 53"/>
          <p:cNvSpPr/>
          <p:nvPr/>
        </p:nvSpPr>
        <p:spPr>
          <a:xfrm flipH="1">
            <a:off x="6443663" y="4208463"/>
            <a:ext cx="819150" cy="9525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4087" name="Rectangle 54"/>
          <p:cNvSpPr/>
          <p:nvPr/>
        </p:nvSpPr>
        <p:spPr>
          <a:xfrm>
            <a:off x="233363" y="4451350"/>
            <a:ext cx="2587625" cy="2141538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en-US" altLang="zh-CN" sz="2000" u="sng" dirty="0">
                <a:latin typeface="Times New Roman" panose="02020603050405020304" pitchFamily="18" charset="0"/>
              </a:rPr>
              <a:t>TCP</a:t>
            </a:r>
            <a:r>
              <a:rPr lang="zh-CN" altLang="en-US" sz="2000" u="sng" dirty="0">
                <a:latin typeface="Times New Roman" panose="02020603050405020304" pitchFamily="18" charset="0"/>
              </a:rPr>
              <a:t>的开销多大</a:t>
            </a:r>
            <a:r>
              <a:rPr lang="en-US" altLang="zh-CN" sz="2000" u="sng" dirty="0">
                <a:latin typeface="Times New Roman" panose="02020603050405020304" pitchFamily="18" charset="0"/>
              </a:rPr>
              <a:t>?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zh-CN" sz="2000" dirty="0">
                <a:latin typeface="Times New Roman" panose="02020603050405020304" pitchFamily="18" charset="0"/>
              </a:rPr>
              <a:t>20 </a:t>
            </a:r>
            <a:r>
              <a:rPr lang="zh-CN" altLang="en-US" sz="2000" dirty="0">
                <a:latin typeface="Times New Roman" panose="02020603050405020304" pitchFamily="18" charset="0"/>
              </a:rPr>
              <a:t>字节 </a:t>
            </a:r>
            <a:r>
              <a:rPr lang="en-US" altLang="zh-CN" sz="2000" dirty="0">
                <a:latin typeface="Times New Roman" panose="02020603050405020304" pitchFamily="18" charset="0"/>
              </a:rPr>
              <a:t>TCP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zh-CN" sz="2000" dirty="0">
                <a:latin typeface="Times New Roman" panose="02020603050405020304" pitchFamily="18" charset="0"/>
              </a:rPr>
              <a:t>20 </a:t>
            </a:r>
            <a:r>
              <a:rPr lang="zh-CN" altLang="en-US" sz="2000" dirty="0">
                <a:latin typeface="Times New Roman" panose="02020603050405020304" pitchFamily="18" charset="0"/>
              </a:rPr>
              <a:t>字节 </a:t>
            </a:r>
            <a:r>
              <a:rPr lang="en-US" altLang="zh-CN" sz="2000" dirty="0">
                <a:latin typeface="Times New Roman" panose="02020603050405020304" pitchFamily="18" charset="0"/>
              </a:rPr>
              <a:t>IP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zh-CN" sz="2000" dirty="0">
                <a:latin typeface="Times New Roman" panose="02020603050405020304" pitchFamily="18" charset="0"/>
              </a:rPr>
              <a:t>= 40</a:t>
            </a:r>
            <a:r>
              <a:rPr lang="zh-CN" altLang="en-US" sz="2000" dirty="0">
                <a:latin typeface="Times New Roman" panose="02020603050405020304" pitchFamily="18" charset="0"/>
              </a:rPr>
              <a:t>字节</a:t>
            </a:r>
            <a:r>
              <a:rPr lang="en-US" altLang="zh-CN" sz="2000" dirty="0">
                <a:latin typeface="Times New Roman" panose="02020603050405020304" pitchFamily="18" charset="0"/>
              </a:rPr>
              <a:t>+ </a:t>
            </a:r>
            <a:r>
              <a:rPr lang="zh-CN" altLang="en-US" sz="2000" dirty="0">
                <a:latin typeface="Times New Roman" panose="02020603050405020304" pitchFamily="18" charset="0"/>
              </a:rPr>
              <a:t>应用层开销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5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151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IP</a:t>
            </a:r>
            <a:r>
              <a:rPr lang="zh-CN" altLang="en-US" dirty="0"/>
              <a:t>分片和重新组装</a:t>
            </a:r>
            <a:endParaRPr lang="en-US" altLang="zh-CN" dirty="0"/>
          </a:p>
        </p:txBody>
      </p:sp>
      <p:sp>
        <p:nvSpPr>
          <p:cNvPr id="6153" name="Rectangle 3"/>
          <p:cNvSpPr>
            <a:spLocks noGrp="1"/>
          </p:cNvSpPr>
          <p:nvPr>
            <p:ph sz="half" idx="1"/>
          </p:nvPr>
        </p:nvSpPr>
        <p:spPr>
          <a:xfrm>
            <a:off x="276225" y="1304925"/>
            <a:ext cx="38100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zh-CN" altLang="en-US" sz="2000" dirty="0">
                <a:latin typeface="+mn-lt"/>
                <a:ea typeface="+mn-ea"/>
                <a:cs typeface="+mn-cs"/>
              </a:rPr>
              <a:t>网络链路有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MTU (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最大传输长度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) </a:t>
            </a:r>
            <a:r>
              <a:rPr lang="en-US" altLang="zh-CN" sz="2000" dirty="0">
                <a:latin typeface="Comic Sans MS" panose="030F0702030302020204" pitchFamily="66" charset="0"/>
                <a:ea typeface="+mn-ea"/>
                <a:cs typeface="+mn-cs"/>
              </a:rPr>
              <a:t>–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最大可能的链路级帧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不同的链路类型不同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zh-CN" altLang="en-US" sz="2000" dirty="0">
                <a:latin typeface="+mn-lt"/>
                <a:ea typeface="+mn-ea"/>
                <a:cs typeface="+mn-cs"/>
              </a:rPr>
              <a:t>在网络中，大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IP 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数据报被分割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(</a:t>
            </a:r>
            <a:r>
              <a:rPr lang="en-US" altLang="zh-CN" sz="2000" dirty="0">
                <a:latin typeface="Comic Sans MS" panose="030F0702030302020204" pitchFamily="66" charset="0"/>
                <a:ea typeface="+mn-ea"/>
                <a:cs typeface="+mn-cs"/>
              </a:rPr>
              <a:t>“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分段</a:t>
            </a:r>
            <a:r>
              <a:rPr lang="zh-CN" altLang="en-US" sz="2000" dirty="0">
                <a:latin typeface="Comic Sans MS" panose="030F0702030302020204" pitchFamily="66" charset="0"/>
                <a:ea typeface="+mn-ea"/>
                <a:cs typeface="+mn-cs"/>
              </a:rPr>
              <a:t>”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)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一个数据报 变为几个数据报</a:t>
            </a:r>
            <a:endParaRPr lang="zh-CN" altLang="en-US" sz="18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仅在最后目的地</a:t>
            </a:r>
            <a:r>
              <a:rPr lang="en-US" altLang="zh-CN" sz="2000" dirty="0">
                <a:latin typeface="Comic Sans MS" panose="030F0702030302020204" pitchFamily="66" charset="0"/>
                <a:sym typeface="+mn-ea"/>
              </a:rPr>
              <a:t>“</a:t>
            </a:r>
            <a:r>
              <a:rPr lang="zh-CN" altLang="en-US" sz="2000" dirty="0">
                <a:sym typeface="+mn-ea"/>
              </a:rPr>
              <a:t>重新装配</a:t>
            </a:r>
            <a:r>
              <a:rPr lang="zh-CN" altLang="en-US" sz="2000" dirty="0">
                <a:latin typeface="Comic Sans MS" panose="030F0702030302020204" pitchFamily="66" charset="0"/>
                <a:sym typeface="+mn-ea"/>
              </a:rPr>
              <a:t>”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</a:t>
            </a:r>
            <a:r>
              <a:rPr lang="zh-CN" altLang="en-US" sz="2000" dirty="0">
                <a:latin typeface="+mn-lt"/>
                <a:ea typeface="+mn-ea"/>
              </a:rPr>
              <a:t>首部比特用于标识、排序相关段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6154" name="Freeform 4"/>
          <p:cNvSpPr/>
          <p:nvPr/>
        </p:nvSpPr>
        <p:spPr>
          <a:xfrm>
            <a:off x="4597400" y="1628775"/>
            <a:ext cx="2436813" cy="2255838"/>
          </a:xfrm>
          <a:custGeom>
            <a:avLst/>
            <a:gdLst>
              <a:gd name="txL" fmla="*/ 0 w 1292"/>
              <a:gd name="txT" fmla="*/ 0 h 1255"/>
              <a:gd name="txR" fmla="*/ 1292 w 1292"/>
              <a:gd name="txB" fmla="*/ 1255 h 1255"/>
            </a:gdLst>
            <a:ahLst/>
            <a:cxnLst>
              <a:cxn ang="0">
                <a:pos x="239" y="7"/>
              </a:cxn>
              <a:cxn ang="0">
                <a:pos x="35" y="157"/>
              </a:cxn>
              <a:cxn ang="0">
                <a:pos x="29" y="523"/>
              </a:cxn>
              <a:cxn ang="0">
                <a:pos x="53" y="829"/>
              </a:cxn>
              <a:cxn ang="0">
                <a:pos x="245" y="871"/>
              </a:cxn>
              <a:cxn ang="0">
                <a:pos x="647" y="1129"/>
              </a:cxn>
              <a:cxn ang="0">
                <a:pos x="995" y="1237"/>
              </a:cxn>
              <a:cxn ang="0">
                <a:pos x="1199" y="1021"/>
              </a:cxn>
              <a:cxn ang="0">
                <a:pos x="1271" y="445"/>
              </a:cxn>
              <a:cxn ang="0">
                <a:pos x="1205" y="211"/>
              </a:cxn>
              <a:cxn ang="0">
                <a:pos x="749" y="115"/>
              </a:cxn>
              <a:cxn ang="0">
                <a:pos x="239" y="7"/>
              </a:cxn>
            </a:cxnLst>
            <a:rect l="txL" t="txT" r="txR" b="tx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6155" name="Freeform 5"/>
          <p:cNvSpPr/>
          <p:nvPr/>
        </p:nvSpPr>
        <p:spPr>
          <a:xfrm>
            <a:off x="4597400" y="4030663"/>
            <a:ext cx="1976438" cy="1987550"/>
          </a:xfrm>
          <a:custGeom>
            <a:avLst/>
            <a:gdLst>
              <a:gd name="txL" fmla="*/ 0 w 873"/>
              <a:gd name="txT" fmla="*/ 0 h 940"/>
              <a:gd name="txR" fmla="*/ 873 w 873"/>
              <a:gd name="txB" fmla="*/ 940 h 940"/>
            </a:gdLst>
            <a:ahLst/>
            <a:cxnLst>
              <a:cxn ang="0">
                <a:pos x="2" y="405"/>
              </a:cxn>
              <a:cxn ang="0">
                <a:pos x="230" y="65"/>
              </a:cxn>
              <a:cxn ang="0">
                <a:pos x="555" y="22"/>
              </a:cxn>
              <a:cxn ang="0">
                <a:pos x="800" y="197"/>
              </a:cxn>
              <a:cxn ang="0">
                <a:pos x="866" y="347"/>
              </a:cxn>
              <a:cxn ang="0">
                <a:pos x="842" y="527"/>
              </a:cxn>
              <a:cxn ang="0">
                <a:pos x="788" y="767"/>
              </a:cxn>
              <a:cxn ang="0">
                <a:pos x="608" y="845"/>
              </a:cxn>
              <a:cxn ang="0">
                <a:pos x="418" y="925"/>
              </a:cxn>
              <a:cxn ang="0">
                <a:pos x="139" y="754"/>
              </a:cxn>
              <a:cxn ang="0">
                <a:pos x="2" y="405"/>
              </a:cxn>
            </a:cxnLst>
            <a:rect l="txL" t="txT" r="txR" b="txB"/>
            <a:pathLst>
              <a:path w="873" h="940">
                <a:moveTo>
                  <a:pt x="2" y="405"/>
                </a:moveTo>
                <a:cubicBezTo>
                  <a:pt x="17" y="290"/>
                  <a:pt x="138" y="129"/>
                  <a:pt x="230" y="65"/>
                </a:cubicBezTo>
                <a:cubicBezTo>
                  <a:pt x="322" y="1"/>
                  <a:pt x="460" y="0"/>
                  <a:pt x="555" y="22"/>
                </a:cubicBezTo>
                <a:cubicBezTo>
                  <a:pt x="650" y="44"/>
                  <a:pt x="748" y="143"/>
                  <a:pt x="800" y="197"/>
                </a:cubicBezTo>
                <a:cubicBezTo>
                  <a:pt x="852" y="251"/>
                  <a:pt x="859" y="292"/>
                  <a:pt x="866" y="347"/>
                </a:cubicBezTo>
                <a:cubicBezTo>
                  <a:pt x="873" y="402"/>
                  <a:pt x="855" y="457"/>
                  <a:pt x="842" y="527"/>
                </a:cubicBezTo>
                <a:cubicBezTo>
                  <a:pt x="829" y="597"/>
                  <a:pt x="827" y="714"/>
                  <a:pt x="788" y="767"/>
                </a:cubicBezTo>
                <a:cubicBezTo>
                  <a:pt x="749" y="820"/>
                  <a:pt x="670" y="819"/>
                  <a:pt x="608" y="845"/>
                </a:cubicBezTo>
                <a:cubicBezTo>
                  <a:pt x="546" y="871"/>
                  <a:pt x="496" y="940"/>
                  <a:pt x="418" y="925"/>
                </a:cubicBezTo>
                <a:cubicBezTo>
                  <a:pt x="340" y="910"/>
                  <a:pt x="208" y="840"/>
                  <a:pt x="139" y="754"/>
                </a:cubicBezTo>
                <a:cubicBezTo>
                  <a:pt x="69" y="667"/>
                  <a:pt x="0" y="546"/>
                  <a:pt x="2" y="405"/>
                </a:cubicBezTo>
                <a:close/>
              </a:path>
            </a:pathLst>
          </a:custGeom>
          <a:solidFill>
            <a:srgbClr val="00FF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6156" name="Group 6"/>
          <p:cNvGrpSpPr/>
          <p:nvPr/>
        </p:nvGrpSpPr>
        <p:grpSpPr>
          <a:xfrm>
            <a:off x="4191000" y="2008188"/>
            <a:ext cx="649288" cy="1247775"/>
            <a:chOff x="3314" y="1248"/>
            <a:chExt cx="344" cy="694"/>
          </a:xfrm>
        </p:grpSpPr>
        <p:graphicFrame>
          <p:nvGraphicFramePr>
            <p:cNvPr id="6148" name="Object 7"/>
            <p:cNvGraphicFramePr/>
            <p:nvPr/>
          </p:nvGraphicFramePr>
          <p:xfrm>
            <a:off x="3314" y="1248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3" name="" r:id="rId1" imgW="1305560" imgH="1082675" progId="MS_ClipArt_Gallery.2">
                    <p:embed/>
                  </p:oleObj>
                </mc:Choice>
                <mc:Fallback>
                  <p:oleObj name="" r:id="rId1" imgW="1305560" imgH="1082675" progId="MS_ClipArt_Gallery.2">
                    <p:embed/>
                    <p:pic>
                      <p:nvPicPr>
                        <p:cNvPr id="0" name="图片 308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14" y="1248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3" name="Line 8"/>
            <p:cNvSpPr/>
            <p:nvPr/>
          </p:nvSpPr>
          <p:spPr>
            <a:xfrm flipV="1">
              <a:off x="3606" y="1433"/>
              <a:ext cx="52" cy="5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6149" name="Object 9"/>
            <p:cNvGraphicFramePr/>
            <p:nvPr/>
          </p:nvGraphicFramePr>
          <p:xfrm>
            <a:off x="3314" y="1694"/>
            <a:ext cx="299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4" name="" r:id="rId3" imgW="1305560" imgH="1082675" progId="MS_ClipArt_Gallery.2">
                    <p:embed/>
                  </p:oleObj>
                </mc:Choice>
                <mc:Fallback>
                  <p:oleObj name="" r:id="rId3" imgW="1305560" imgH="1082675" progId="MS_ClipArt_Gallery.2">
                    <p:embed/>
                    <p:pic>
                      <p:nvPicPr>
                        <p:cNvPr id="0" name="图片 308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314" y="1694"/>
                          <a:ext cx="299" cy="24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294" name="Line 10"/>
            <p:cNvSpPr/>
            <p:nvPr/>
          </p:nvSpPr>
          <p:spPr>
            <a:xfrm flipV="1">
              <a:off x="3606" y="1882"/>
              <a:ext cx="52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6295" name="Group 11"/>
            <p:cNvGrpSpPr/>
            <p:nvPr/>
          </p:nvGrpSpPr>
          <p:grpSpPr>
            <a:xfrm>
              <a:off x="3404" y="1504"/>
              <a:ext cx="51" cy="167"/>
              <a:chOff x="3842" y="406"/>
              <a:chExt cx="51" cy="167"/>
            </a:xfrm>
          </p:grpSpPr>
          <p:sp>
            <p:nvSpPr>
              <p:cNvPr id="6297" name="Oval 12"/>
              <p:cNvSpPr/>
              <p:nvPr/>
            </p:nvSpPr>
            <p:spPr>
              <a:xfrm>
                <a:off x="3842" y="40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298" name="Oval 13"/>
              <p:cNvSpPr/>
              <p:nvPr/>
            </p:nvSpPr>
            <p:spPr>
              <a:xfrm>
                <a:off x="3844" y="46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299" name="Oval 14"/>
              <p:cNvSpPr/>
              <p:nvPr/>
            </p:nvSpPr>
            <p:spPr>
              <a:xfrm>
                <a:off x="3846" y="526"/>
                <a:ext cx="47" cy="47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6296" name="Line 15"/>
            <p:cNvSpPr/>
            <p:nvPr/>
          </p:nvSpPr>
          <p:spPr>
            <a:xfrm>
              <a:off x="3654" y="1431"/>
              <a:ext cx="0" cy="45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6157" name="Line 16"/>
          <p:cNvSpPr/>
          <p:nvPr/>
        </p:nvSpPr>
        <p:spPr>
          <a:xfrm flipV="1">
            <a:off x="4670425" y="2584450"/>
            <a:ext cx="127000" cy="3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8" name="Line 17"/>
          <p:cNvSpPr/>
          <p:nvPr/>
        </p:nvSpPr>
        <p:spPr>
          <a:xfrm>
            <a:off x="5246688" y="1909763"/>
            <a:ext cx="658812" cy="2794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59" name="Line 18"/>
          <p:cNvSpPr/>
          <p:nvPr/>
        </p:nvSpPr>
        <p:spPr>
          <a:xfrm>
            <a:off x="6092825" y="2246313"/>
            <a:ext cx="196850" cy="6699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0" name="Line 19"/>
          <p:cNvSpPr/>
          <p:nvPr/>
        </p:nvSpPr>
        <p:spPr>
          <a:xfrm>
            <a:off x="4995863" y="2022475"/>
            <a:ext cx="1587" cy="582613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1" name="Line 20"/>
          <p:cNvSpPr/>
          <p:nvPr/>
        </p:nvSpPr>
        <p:spPr>
          <a:xfrm>
            <a:off x="5021263" y="2670175"/>
            <a:ext cx="971550" cy="40163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2" name="Line 21"/>
          <p:cNvSpPr/>
          <p:nvPr/>
        </p:nvSpPr>
        <p:spPr>
          <a:xfrm flipH="1" flipV="1">
            <a:off x="6548438" y="3162300"/>
            <a:ext cx="476250" cy="6873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3" name="Line 22"/>
          <p:cNvSpPr/>
          <p:nvPr/>
        </p:nvSpPr>
        <p:spPr>
          <a:xfrm flipH="1">
            <a:off x="5254625" y="2214563"/>
            <a:ext cx="758825" cy="5175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4" name="Line 23"/>
          <p:cNvSpPr/>
          <p:nvPr/>
        </p:nvSpPr>
        <p:spPr>
          <a:xfrm flipH="1">
            <a:off x="5264150" y="1654175"/>
            <a:ext cx="476250" cy="34290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65" name="Line 24"/>
          <p:cNvSpPr/>
          <p:nvPr/>
        </p:nvSpPr>
        <p:spPr>
          <a:xfrm flipH="1">
            <a:off x="5981700" y="1830388"/>
            <a:ext cx="273050" cy="236537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166" name="Group 25"/>
          <p:cNvGrpSpPr/>
          <p:nvPr/>
        </p:nvGrpSpPr>
        <p:grpSpPr>
          <a:xfrm>
            <a:off x="4745038" y="1793875"/>
            <a:ext cx="679450" cy="314325"/>
            <a:chOff x="3600" y="219"/>
            <a:chExt cx="360" cy="175"/>
          </a:xfrm>
        </p:grpSpPr>
        <p:sp>
          <p:nvSpPr>
            <p:cNvPr id="6280" name="Oval 2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81" name="Line 27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82" name="Line 2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83" name="Rectangle 29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84" name="Oval 30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85" name="Group 3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90" name="Line 3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91" name="Line 3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92" name="Line 3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86" name="Group 3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87" name="Line 3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88" name="Line 3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89" name="Line 3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67" name="Group 39"/>
          <p:cNvGrpSpPr/>
          <p:nvPr/>
        </p:nvGrpSpPr>
        <p:grpSpPr>
          <a:xfrm>
            <a:off x="4762500" y="2451100"/>
            <a:ext cx="679450" cy="314325"/>
            <a:chOff x="3600" y="219"/>
            <a:chExt cx="360" cy="175"/>
          </a:xfrm>
        </p:grpSpPr>
        <p:sp>
          <p:nvSpPr>
            <p:cNvPr id="6267" name="Oval 40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68" name="Line 41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69" name="Line 42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70" name="Rectangle 4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71" name="Oval 44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72" name="Group 45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77" name="Line 4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78" name="Line 4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79" name="Line 4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73" name="Group 49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74" name="Line 5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75" name="Line 5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76" name="Line 52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68" name="Group 53"/>
          <p:cNvGrpSpPr/>
          <p:nvPr/>
        </p:nvGrpSpPr>
        <p:grpSpPr>
          <a:xfrm>
            <a:off x="5732463" y="2001838"/>
            <a:ext cx="676275" cy="314325"/>
            <a:chOff x="3600" y="219"/>
            <a:chExt cx="360" cy="175"/>
          </a:xfrm>
        </p:grpSpPr>
        <p:sp>
          <p:nvSpPr>
            <p:cNvPr id="6254" name="Oval 54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55" name="Line 55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6" name="Line 56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57" name="Rectangle 57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58" name="Oval 58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59" name="Group 59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64" name="Line 6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65" name="Line 6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66" name="Line 62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60" name="Group 63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61" name="Line 6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62" name="Line 6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63" name="Line 66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69" name="Group 67"/>
          <p:cNvGrpSpPr/>
          <p:nvPr/>
        </p:nvGrpSpPr>
        <p:grpSpPr>
          <a:xfrm>
            <a:off x="5976938" y="2908300"/>
            <a:ext cx="679450" cy="314325"/>
            <a:chOff x="3600" y="219"/>
            <a:chExt cx="360" cy="175"/>
          </a:xfrm>
        </p:grpSpPr>
        <p:sp>
          <p:nvSpPr>
            <p:cNvPr id="6241" name="Oval 68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42" name="Line 69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3" name="Line 70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44" name="Rectangle 71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45" name="Oval 72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46" name="Group 73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51" name="Line 74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2" name="Line 75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3" name="Line 76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47" name="Group 77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48" name="Line 7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9" name="Line 7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50" name="Line 80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70" name="Group 81"/>
          <p:cNvGrpSpPr/>
          <p:nvPr/>
        </p:nvGrpSpPr>
        <p:grpSpPr>
          <a:xfrm>
            <a:off x="5745163" y="4900613"/>
            <a:ext cx="715962" cy="311150"/>
            <a:chOff x="3600" y="219"/>
            <a:chExt cx="360" cy="175"/>
          </a:xfrm>
        </p:grpSpPr>
        <p:sp>
          <p:nvSpPr>
            <p:cNvPr id="6228" name="Oval 82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29" name="Line 83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30" name="Line 84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31" name="Rectangle 85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32" name="Oval 86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33" name="Group 87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38" name="Line 88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9" name="Line 89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40" name="Line 90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34" name="Group 91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35" name="Line 9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6" name="Line 9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37" name="Line 9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pSp>
        <p:nvGrpSpPr>
          <p:cNvPr id="6171" name="Group 95"/>
          <p:cNvGrpSpPr/>
          <p:nvPr/>
        </p:nvGrpSpPr>
        <p:grpSpPr>
          <a:xfrm>
            <a:off x="6738938" y="3889375"/>
            <a:ext cx="679450" cy="314325"/>
            <a:chOff x="3600" y="219"/>
            <a:chExt cx="360" cy="175"/>
          </a:xfrm>
        </p:grpSpPr>
        <p:sp>
          <p:nvSpPr>
            <p:cNvPr id="6215" name="Oval 9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16" name="Line 97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17" name="Line 9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6218" name="Rectangle 99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6219" name="Oval 100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220" name="Group 10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6225" name="Line 10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6" name="Line 10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7" name="Line 10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6221" name="Group 10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6222" name="Line 10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3" name="Line 10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224" name="Line 10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graphicFrame>
        <p:nvGraphicFramePr>
          <p:cNvPr id="6146" name="Object 109"/>
          <p:cNvGraphicFramePr/>
          <p:nvPr/>
        </p:nvGraphicFramePr>
        <p:xfrm>
          <a:off x="4705350" y="4392613"/>
          <a:ext cx="563563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7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08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705350" y="4392613"/>
                        <a:ext cx="563563" cy="4460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2" name="Line 110"/>
          <p:cNvSpPr/>
          <p:nvPr/>
        </p:nvSpPr>
        <p:spPr>
          <a:xfrm>
            <a:off x="5249863" y="4721225"/>
            <a:ext cx="314325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6147" name="Object 111"/>
          <p:cNvGraphicFramePr/>
          <p:nvPr/>
        </p:nvGraphicFramePr>
        <p:xfrm>
          <a:off x="4914900" y="5191125"/>
          <a:ext cx="56356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5" imgW="1305560" imgH="1082675" progId="MS_ClipArt_Gallery.2">
                  <p:embed/>
                </p:oleObj>
              </mc:Choice>
              <mc:Fallback>
                <p:oleObj name="" r:id="rId5" imgW="1305560" imgH="1082675" progId="MS_ClipArt_Gallery.2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914900" y="5191125"/>
                        <a:ext cx="563563" cy="4460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73" name="Line 112"/>
          <p:cNvSpPr/>
          <p:nvPr/>
        </p:nvSpPr>
        <p:spPr>
          <a:xfrm flipV="1">
            <a:off x="5465763" y="5529263"/>
            <a:ext cx="98425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174" name="Group 113"/>
          <p:cNvGrpSpPr/>
          <p:nvPr/>
        </p:nvGrpSpPr>
        <p:grpSpPr>
          <a:xfrm>
            <a:off x="5084763" y="4849813"/>
            <a:ext cx="96837" cy="300037"/>
            <a:chOff x="3842" y="406"/>
            <a:chExt cx="51" cy="167"/>
          </a:xfrm>
        </p:grpSpPr>
        <p:sp>
          <p:nvSpPr>
            <p:cNvPr id="6212" name="Oval 114"/>
            <p:cNvSpPr/>
            <p:nvPr/>
          </p:nvSpPr>
          <p:spPr>
            <a:xfrm>
              <a:off x="3842" y="40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13" name="Oval 115"/>
            <p:cNvSpPr/>
            <p:nvPr/>
          </p:nvSpPr>
          <p:spPr>
            <a:xfrm>
              <a:off x="3844" y="46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14" name="Oval 116"/>
            <p:cNvSpPr/>
            <p:nvPr/>
          </p:nvSpPr>
          <p:spPr>
            <a:xfrm>
              <a:off x="3846" y="526"/>
              <a:ext cx="47" cy="47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175" name="Line 117"/>
          <p:cNvSpPr/>
          <p:nvPr/>
        </p:nvSpPr>
        <p:spPr>
          <a:xfrm>
            <a:off x="5556250" y="4718050"/>
            <a:ext cx="0" cy="80962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76" name="Line 118"/>
          <p:cNvSpPr/>
          <p:nvPr/>
        </p:nvSpPr>
        <p:spPr>
          <a:xfrm>
            <a:off x="5556250" y="5067300"/>
            <a:ext cx="187325" cy="3175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177" name="Line 119"/>
          <p:cNvSpPr/>
          <p:nvPr/>
        </p:nvSpPr>
        <p:spPr>
          <a:xfrm flipH="1">
            <a:off x="6461125" y="4206875"/>
            <a:ext cx="636588" cy="877888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178" name="Group 120"/>
          <p:cNvGrpSpPr/>
          <p:nvPr/>
        </p:nvGrpSpPr>
        <p:grpSpPr>
          <a:xfrm rot="1433392">
            <a:off x="5003800" y="2955925"/>
            <a:ext cx="1028700" cy="171450"/>
            <a:chOff x="4712" y="1742"/>
            <a:chExt cx="648" cy="108"/>
          </a:xfrm>
        </p:grpSpPr>
        <p:sp>
          <p:nvSpPr>
            <p:cNvPr id="6210" name="Rectangle 121"/>
            <p:cNvSpPr/>
            <p:nvPr/>
          </p:nvSpPr>
          <p:spPr>
            <a:xfrm>
              <a:off x="4712" y="1742"/>
              <a:ext cx="648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11" name="Rectangle 122"/>
            <p:cNvSpPr/>
            <p:nvPr/>
          </p:nvSpPr>
          <p:spPr>
            <a:xfrm>
              <a:off x="4712" y="1742"/>
              <a:ext cx="534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179" name="Group 123"/>
          <p:cNvGrpSpPr/>
          <p:nvPr/>
        </p:nvGrpSpPr>
        <p:grpSpPr>
          <a:xfrm rot="3346875">
            <a:off x="6283325" y="3241675"/>
            <a:ext cx="447675" cy="171450"/>
            <a:chOff x="5078" y="1860"/>
            <a:chExt cx="282" cy="108"/>
          </a:xfrm>
        </p:grpSpPr>
        <p:sp>
          <p:nvSpPr>
            <p:cNvPr id="6208" name="Rectangle 124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09" name="Rectangle 125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180" name="Group 126"/>
          <p:cNvGrpSpPr/>
          <p:nvPr/>
        </p:nvGrpSpPr>
        <p:grpSpPr>
          <a:xfrm rot="3215306">
            <a:off x="6600825" y="3346450"/>
            <a:ext cx="447675" cy="171450"/>
            <a:chOff x="5078" y="1860"/>
            <a:chExt cx="282" cy="108"/>
          </a:xfrm>
        </p:grpSpPr>
        <p:sp>
          <p:nvSpPr>
            <p:cNvPr id="6206" name="Rectangle 127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07" name="Rectangle 128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181" name="Group 129"/>
          <p:cNvGrpSpPr/>
          <p:nvPr/>
        </p:nvGrpSpPr>
        <p:grpSpPr>
          <a:xfrm rot="3051000">
            <a:off x="6953250" y="3467100"/>
            <a:ext cx="447675" cy="171450"/>
            <a:chOff x="5078" y="1860"/>
            <a:chExt cx="282" cy="108"/>
          </a:xfrm>
        </p:grpSpPr>
        <p:sp>
          <p:nvSpPr>
            <p:cNvPr id="6204" name="Rectangle 130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05" name="Rectangle 131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182" name="Line 132"/>
          <p:cNvSpPr/>
          <p:nvPr/>
        </p:nvSpPr>
        <p:spPr>
          <a:xfrm>
            <a:off x="6007100" y="3276600"/>
            <a:ext cx="219075" cy="69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83" name="Line 133"/>
          <p:cNvSpPr/>
          <p:nvPr/>
        </p:nvSpPr>
        <p:spPr>
          <a:xfrm>
            <a:off x="6642100" y="3517900"/>
            <a:ext cx="133350" cy="177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84" name="Line 134"/>
          <p:cNvSpPr/>
          <p:nvPr/>
        </p:nvSpPr>
        <p:spPr>
          <a:xfrm>
            <a:off x="6965950" y="3616325"/>
            <a:ext cx="117475" cy="177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85" name="Line 135"/>
          <p:cNvSpPr/>
          <p:nvPr/>
        </p:nvSpPr>
        <p:spPr>
          <a:xfrm>
            <a:off x="7334250" y="3730625"/>
            <a:ext cx="101600" cy="18732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86" name="Text Box 136"/>
          <p:cNvSpPr txBox="1"/>
          <p:nvPr/>
        </p:nvSpPr>
        <p:spPr>
          <a:xfrm>
            <a:off x="6615113" y="2246313"/>
            <a:ext cx="2133600" cy="8255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latin typeface="Comic Sans MS" panose="030F0702030302020204" pitchFamily="66" charset="0"/>
              </a:rPr>
              <a:t>分段</a:t>
            </a:r>
            <a:r>
              <a:rPr lang="en-US" altLang="zh-CN" sz="1600" dirty="0">
                <a:latin typeface="Comic Sans MS" panose="030F0702030302020204" pitchFamily="66" charset="0"/>
              </a:rPr>
              <a:t>: 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r>
              <a:rPr lang="zh-CN" alt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输入</a:t>
            </a:r>
            <a:r>
              <a:rPr lang="en-US" altLang="zh-CN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:</a:t>
            </a:r>
            <a:r>
              <a:rPr lang="en-US" altLang="zh-CN" sz="1600" dirty="0">
                <a:latin typeface="Comic Sans MS" panose="030F0702030302020204" pitchFamily="66" charset="0"/>
              </a:rPr>
              <a:t> </a:t>
            </a:r>
            <a:r>
              <a:rPr lang="zh-CN" altLang="en-US" sz="1600" dirty="0">
                <a:latin typeface="Comic Sans MS" panose="030F0702030302020204" pitchFamily="66" charset="0"/>
              </a:rPr>
              <a:t>一个大的数据报</a:t>
            </a:r>
            <a:endParaRPr lang="zh-CN" altLang="en-US" sz="1600" dirty="0">
              <a:latin typeface="Comic Sans MS" panose="030F0702030302020204" pitchFamily="66" charset="0"/>
            </a:endParaRPr>
          </a:p>
          <a:p>
            <a:r>
              <a:rPr lang="zh-CN" altLang="en-US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输出</a:t>
            </a:r>
            <a:r>
              <a:rPr lang="en-US" altLang="zh-CN" sz="1600" dirty="0">
                <a:solidFill>
                  <a:schemeClr val="accent2"/>
                </a:solidFill>
                <a:latin typeface="Comic Sans MS" panose="030F0702030302020204" pitchFamily="66" charset="0"/>
              </a:rPr>
              <a:t>:</a:t>
            </a:r>
            <a:r>
              <a:rPr lang="en-US" altLang="zh-CN" sz="1600" dirty="0">
                <a:latin typeface="Comic Sans MS" panose="030F0702030302020204" pitchFamily="66" charset="0"/>
              </a:rPr>
              <a:t> 3</a:t>
            </a:r>
            <a:r>
              <a:rPr lang="zh-CN" altLang="en-US" sz="1600" dirty="0">
                <a:latin typeface="Comic Sans MS" panose="030F0702030302020204" pitchFamily="66" charset="0"/>
              </a:rPr>
              <a:t>个小的数据报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6187" name="Group 137"/>
          <p:cNvGrpSpPr/>
          <p:nvPr/>
        </p:nvGrpSpPr>
        <p:grpSpPr>
          <a:xfrm rot="-10773343">
            <a:off x="5610225" y="4352925"/>
            <a:ext cx="447675" cy="171450"/>
            <a:chOff x="5078" y="1860"/>
            <a:chExt cx="282" cy="108"/>
          </a:xfrm>
        </p:grpSpPr>
        <p:sp>
          <p:nvSpPr>
            <p:cNvPr id="6202" name="Rectangle 138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03" name="Rectangle 139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188" name="Group 140"/>
          <p:cNvGrpSpPr/>
          <p:nvPr/>
        </p:nvGrpSpPr>
        <p:grpSpPr>
          <a:xfrm rot="-10773343">
            <a:off x="5613400" y="4546600"/>
            <a:ext cx="447675" cy="171450"/>
            <a:chOff x="5078" y="1860"/>
            <a:chExt cx="282" cy="108"/>
          </a:xfrm>
        </p:grpSpPr>
        <p:sp>
          <p:nvSpPr>
            <p:cNvPr id="6200" name="Rectangle 141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201" name="Rectangle 142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189" name="Group 143"/>
          <p:cNvGrpSpPr/>
          <p:nvPr/>
        </p:nvGrpSpPr>
        <p:grpSpPr>
          <a:xfrm rot="-10773343">
            <a:off x="5616575" y="4740275"/>
            <a:ext cx="447675" cy="171450"/>
            <a:chOff x="5078" y="1860"/>
            <a:chExt cx="282" cy="108"/>
          </a:xfrm>
        </p:grpSpPr>
        <p:sp>
          <p:nvSpPr>
            <p:cNvPr id="6198" name="Rectangle 144"/>
            <p:cNvSpPr/>
            <p:nvPr/>
          </p:nvSpPr>
          <p:spPr>
            <a:xfrm>
              <a:off x="5216" y="1860"/>
              <a:ext cx="144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199" name="Rectangle 145"/>
            <p:cNvSpPr/>
            <p:nvPr/>
          </p:nvSpPr>
          <p:spPr>
            <a:xfrm>
              <a:off x="5078" y="1860"/>
              <a:ext cx="166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190" name="Line 146"/>
          <p:cNvSpPr/>
          <p:nvPr/>
        </p:nvSpPr>
        <p:spPr>
          <a:xfrm rot="9691848">
            <a:off x="5365750" y="4410075"/>
            <a:ext cx="219075" cy="69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1" name="Line 147"/>
          <p:cNvSpPr/>
          <p:nvPr/>
        </p:nvSpPr>
        <p:spPr>
          <a:xfrm rot="9691848">
            <a:off x="5356225" y="4584700"/>
            <a:ext cx="219075" cy="69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2" name="Line 148"/>
          <p:cNvSpPr/>
          <p:nvPr/>
        </p:nvSpPr>
        <p:spPr>
          <a:xfrm rot="9691848">
            <a:off x="5359400" y="4791075"/>
            <a:ext cx="219075" cy="69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193" name="Group 149"/>
          <p:cNvGrpSpPr/>
          <p:nvPr/>
        </p:nvGrpSpPr>
        <p:grpSpPr>
          <a:xfrm rot="10793026">
            <a:off x="4281488" y="4189413"/>
            <a:ext cx="1030287" cy="173037"/>
            <a:chOff x="4712" y="1742"/>
            <a:chExt cx="648" cy="108"/>
          </a:xfrm>
        </p:grpSpPr>
        <p:sp>
          <p:nvSpPr>
            <p:cNvPr id="6196" name="Rectangle 150"/>
            <p:cNvSpPr/>
            <p:nvPr/>
          </p:nvSpPr>
          <p:spPr>
            <a:xfrm>
              <a:off x="4712" y="1742"/>
              <a:ext cx="648" cy="108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197" name="Rectangle 151"/>
            <p:cNvSpPr/>
            <p:nvPr/>
          </p:nvSpPr>
          <p:spPr>
            <a:xfrm>
              <a:off x="4712" y="1742"/>
              <a:ext cx="534" cy="108"/>
            </a:xfrm>
            <a:prstGeom prst="rect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194" name="Line 152"/>
          <p:cNvSpPr/>
          <p:nvPr/>
        </p:nvSpPr>
        <p:spPr>
          <a:xfrm rot="9691848">
            <a:off x="4032250" y="4232275"/>
            <a:ext cx="219075" cy="698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195" name="Text Box 153"/>
          <p:cNvSpPr txBox="1"/>
          <p:nvPr/>
        </p:nvSpPr>
        <p:spPr>
          <a:xfrm>
            <a:off x="4672013" y="3843338"/>
            <a:ext cx="12461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reassembly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5059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506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IP</a:t>
            </a:r>
            <a:r>
              <a:rPr lang="zh-CN" altLang="en-US" dirty="0"/>
              <a:t>分片和重新组装</a:t>
            </a:r>
            <a:endParaRPr lang="en-US" altLang="zh-CN" dirty="0"/>
          </a:p>
        </p:txBody>
      </p:sp>
      <p:grpSp>
        <p:nvGrpSpPr>
          <p:cNvPr id="45061" name="Group 3"/>
          <p:cNvGrpSpPr/>
          <p:nvPr/>
        </p:nvGrpSpPr>
        <p:grpSpPr>
          <a:xfrm>
            <a:off x="3606800" y="1498600"/>
            <a:ext cx="4800600" cy="4022725"/>
            <a:chOff x="1218" y="944"/>
            <a:chExt cx="3024" cy="2534"/>
          </a:xfrm>
        </p:grpSpPr>
        <p:grpSp>
          <p:nvGrpSpPr>
            <p:cNvPr id="45067" name="Group 4"/>
            <p:cNvGrpSpPr/>
            <p:nvPr/>
          </p:nvGrpSpPr>
          <p:grpSpPr>
            <a:xfrm>
              <a:off x="1218" y="944"/>
              <a:ext cx="2676" cy="404"/>
              <a:chOff x="3006" y="1208"/>
              <a:chExt cx="2676" cy="404"/>
            </a:xfrm>
          </p:grpSpPr>
          <p:sp>
            <p:nvSpPr>
              <p:cNvPr id="45111" name="Rectangle 5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2" name="Rectangle 6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3" name="Text Box 7"/>
              <p:cNvSpPr txBox="1"/>
              <p:nvPr/>
            </p:nvSpPr>
            <p:spPr>
              <a:xfrm>
                <a:off x="3734" y="1208"/>
                <a:ext cx="299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Comic Sans MS" panose="030F0702030302020204" pitchFamily="66" charset="0"/>
                  </a:rPr>
                  <a:t>ID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=x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4" name="Text Box 8"/>
              <p:cNvSpPr txBox="1"/>
              <p:nvPr/>
            </p:nvSpPr>
            <p:spPr>
              <a:xfrm>
                <a:off x="4680" y="1208"/>
                <a:ext cx="404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偏移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5" name="Text Box 9"/>
              <p:cNvSpPr txBox="1"/>
              <p:nvPr/>
            </p:nvSpPr>
            <p:spPr>
              <a:xfrm>
                <a:off x="4041" y="1208"/>
                <a:ext cx="54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段标识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6" name="Text Box 10"/>
              <p:cNvSpPr txBox="1"/>
              <p:nvPr/>
            </p:nvSpPr>
            <p:spPr>
              <a:xfrm>
                <a:off x="3230" y="1208"/>
                <a:ext cx="477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Comic Sans MS" panose="030F0702030302020204" pitchFamily="66" charset="0"/>
                  </a:rPr>
                  <a:t>长度</a:t>
                </a:r>
                <a:r>
                  <a:rPr lang="en-US" altLang="zh-CN" dirty="0">
                    <a:latin typeface="Comic Sans MS" panose="030F0702030302020204" pitchFamily="66" charset="0"/>
                  </a:rPr>
                  <a:t>=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4000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17" name="Line 11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18" name="Line 12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19" name="Line 13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20" name="Line 14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21" name="Line 15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22" name="Rectangle 16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5068" name="Group 17"/>
            <p:cNvGrpSpPr/>
            <p:nvPr/>
          </p:nvGrpSpPr>
          <p:grpSpPr>
            <a:xfrm>
              <a:off x="1566" y="2036"/>
              <a:ext cx="2676" cy="416"/>
              <a:chOff x="3006" y="1196"/>
              <a:chExt cx="2676" cy="416"/>
            </a:xfrm>
          </p:grpSpPr>
          <p:sp>
            <p:nvSpPr>
              <p:cNvPr id="45099" name="Rectangle 18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0" name="Rectangle 19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1" name="Text Box 20"/>
              <p:cNvSpPr txBox="1"/>
              <p:nvPr/>
            </p:nvSpPr>
            <p:spPr>
              <a:xfrm>
                <a:off x="3734" y="1208"/>
                <a:ext cx="299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Comic Sans MS" panose="030F0702030302020204" pitchFamily="66" charset="0"/>
                  </a:rPr>
                  <a:t>ID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=x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2" name="Text Box 21"/>
              <p:cNvSpPr txBox="1"/>
              <p:nvPr/>
            </p:nvSpPr>
            <p:spPr>
              <a:xfrm>
                <a:off x="4680" y="1208"/>
                <a:ext cx="404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偏移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3" name="Text Box 22"/>
              <p:cNvSpPr txBox="1"/>
              <p:nvPr/>
            </p:nvSpPr>
            <p:spPr>
              <a:xfrm>
                <a:off x="4041" y="1208"/>
                <a:ext cx="54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段标识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=1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4" name="Text Box 23"/>
              <p:cNvSpPr txBox="1"/>
              <p:nvPr/>
            </p:nvSpPr>
            <p:spPr>
              <a:xfrm>
                <a:off x="3230" y="1196"/>
                <a:ext cx="51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Comic Sans MS" panose="030F0702030302020204" pitchFamily="66" charset="0"/>
                  </a:rPr>
                  <a:t>长度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=1500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105" name="Line 24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06" name="Line 25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07" name="Line 26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08" name="Line 27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09" name="Line 28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110" name="Rectangle 29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5069" name="Group 30"/>
            <p:cNvGrpSpPr/>
            <p:nvPr/>
          </p:nvGrpSpPr>
          <p:grpSpPr>
            <a:xfrm>
              <a:off x="1566" y="2540"/>
              <a:ext cx="2676" cy="416"/>
              <a:chOff x="3006" y="1196"/>
              <a:chExt cx="2676" cy="416"/>
            </a:xfrm>
          </p:grpSpPr>
          <p:sp>
            <p:nvSpPr>
              <p:cNvPr id="45087" name="Rectangle 31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88" name="Rectangle 32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89" name="Text Box 33"/>
              <p:cNvSpPr txBox="1"/>
              <p:nvPr/>
            </p:nvSpPr>
            <p:spPr>
              <a:xfrm>
                <a:off x="3734" y="1208"/>
                <a:ext cx="299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Comic Sans MS" panose="030F0702030302020204" pitchFamily="66" charset="0"/>
                  </a:rPr>
                  <a:t>ID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=x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90" name="Text Box 34"/>
              <p:cNvSpPr txBox="1"/>
              <p:nvPr/>
            </p:nvSpPr>
            <p:spPr>
              <a:xfrm>
                <a:off x="4667" y="1208"/>
                <a:ext cx="430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偏移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=185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91" name="Text Box 35"/>
              <p:cNvSpPr txBox="1"/>
              <p:nvPr/>
            </p:nvSpPr>
            <p:spPr>
              <a:xfrm>
                <a:off x="4041" y="1208"/>
                <a:ext cx="54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段标识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=1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92" name="Text Box 36"/>
              <p:cNvSpPr txBox="1"/>
              <p:nvPr/>
            </p:nvSpPr>
            <p:spPr>
              <a:xfrm>
                <a:off x="3230" y="1196"/>
                <a:ext cx="51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Comic Sans MS" panose="030F0702030302020204" pitchFamily="66" charset="0"/>
                  </a:rPr>
                  <a:t>长度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=1500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93" name="Line 37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4" name="Line 38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5" name="Line 39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6" name="Line 40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7" name="Line 41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98" name="Rectangle 42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45070" name="Group 43"/>
            <p:cNvGrpSpPr/>
            <p:nvPr/>
          </p:nvGrpSpPr>
          <p:grpSpPr>
            <a:xfrm>
              <a:off x="1560" y="3062"/>
              <a:ext cx="2676" cy="416"/>
              <a:chOff x="3006" y="1196"/>
              <a:chExt cx="2676" cy="416"/>
            </a:xfrm>
          </p:grpSpPr>
          <p:sp>
            <p:nvSpPr>
              <p:cNvPr id="45075" name="Rectangle 44"/>
              <p:cNvSpPr/>
              <p:nvPr/>
            </p:nvSpPr>
            <p:spPr>
              <a:xfrm>
                <a:off x="3048" y="1212"/>
                <a:ext cx="2634" cy="34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algn="ctr"/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76" name="Rectangle 45"/>
              <p:cNvSpPr/>
              <p:nvPr/>
            </p:nvSpPr>
            <p:spPr>
              <a:xfrm>
                <a:off x="3006" y="1242"/>
                <a:ext cx="2634" cy="342"/>
              </a:xfrm>
              <a:prstGeom prst="rect">
                <a:avLst/>
              </a:prstGeom>
              <a:solidFill>
                <a:schemeClr val="bg1"/>
              </a:solidFill>
              <a:ln w="19050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77" name="Text Box 46"/>
              <p:cNvSpPr txBox="1"/>
              <p:nvPr/>
            </p:nvSpPr>
            <p:spPr>
              <a:xfrm>
                <a:off x="3734" y="1208"/>
                <a:ext cx="299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latin typeface="Comic Sans MS" panose="030F0702030302020204" pitchFamily="66" charset="0"/>
                  </a:rPr>
                  <a:t>ID</a:t>
                </a:r>
                <a:endParaRPr lang="en-US" altLang="zh-CN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=x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78" name="Text Box 47"/>
              <p:cNvSpPr txBox="1"/>
              <p:nvPr/>
            </p:nvSpPr>
            <p:spPr>
              <a:xfrm>
                <a:off x="4656" y="1208"/>
                <a:ext cx="453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偏移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=370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79" name="Text Box 48"/>
              <p:cNvSpPr txBox="1"/>
              <p:nvPr/>
            </p:nvSpPr>
            <p:spPr>
              <a:xfrm>
                <a:off x="4041" y="1208"/>
                <a:ext cx="54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pPr algn="ctr"/>
                <a:r>
                  <a:rPr lang="zh-CN" altLang="en-US" dirty="0">
                    <a:latin typeface="Comic Sans MS" panose="030F0702030302020204" pitchFamily="66" charset="0"/>
                  </a:rPr>
                  <a:t>段标识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pPr algn="ctr"/>
                <a:r>
                  <a:rPr lang="en-US" altLang="zh-CN" dirty="0">
                    <a:latin typeface="Comic Sans MS" panose="030F0702030302020204" pitchFamily="66" charset="0"/>
                  </a:rPr>
                  <a:t>=0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80" name="Text Box 49"/>
              <p:cNvSpPr txBox="1"/>
              <p:nvPr/>
            </p:nvSpPr>
            <p:spPr>
              <a:xfrm>
                <a:off x="3230" y="1196"/>
                <a:ext cx="518" cy="40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dirty="0">
                    <a:latin typeface="Comic Sans MS" panose="030F0702030302020204" pitchFamily="66" charset="0"/>
                  </a:rPr>
                  <a:t>长度</a:t>
                </a:r>
                <a:endParaRPr lang="zh-CN" altLang="en-US" dirty="0">
                  <a:latin typeface="Comic Sans MS" panose="030F0702030302020204" pitchFamily="66" charset="0"/>
                </a:endParaRPr>
              </a:p>
              <a:p>
                <a:r>
                  <a:rPr lang="en-US" altLang="zh-CN" dirty="0">
                    <a:latin typeface="Comic Sans MS" panose="030F0702030302020204" pitchFamily="66" charset="0"/>
                  </a:rPr>
                  <a:t>=1040</a:t>
                </a:r>
                <a:endParaRPr lang="en-US" altLang="zh-CN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45081" name="Line 50"/>
              <p:cNvSpPr/>
              <p:nvPr/>
            </p:nvSpPr>
            <p:spPr>
              <a:xfrm>
                <a:off x="3246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82" name="Line 51"/>
              <p:cNvSpPr/>
              <p:nvPr/>
            </p:nvSpPr>
            <p:spPr>
              <a:xfrm>
                <a:off x="3750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83" name="Line 52"/>
              <p:cNvSpPr/>
              <p:nvPr/>
            </p:nvSpPr>
            <p:spPr>
              <a:xfrm>
                <a:off x="4020" y="1254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84" name="Line 53"/>
              <p:cNvSpPr/>
              <p:nvPr/>
            </p:nvSpPr>
            <p:spPr>
              <a:xfrm>
                <a:off x="4638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85" name="Line 54"/>
              <p:cNvSpPr/>
              <p:nvPr/>
            </p:nvSpPr>
            <p:spPr>
              <a:xfrm>
                <a:off x="5112" y="1242"/>
                <a:ext cx="0" cy="342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45086" name="Rectangle 55"/>
              <p:cNvSpPr/>
              <p:nvPr/>
            </p:nvSpPr>
            <p:spPr>
              <a:xfrm>
                <a:off x="5232" y="1212"/>
                <a:ext cx="138" cy="378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45071" name="Freeform 56"/>
            <p:cNvSpPr/>
            <p:nvPr/>
          </p:nvSpPr>
          <p:spPr>
            <a:xfrm>
              <a:off x="1290" y="1422"/>
              <a:ext cx="210" cy="1362"/>
            </a:xfrm>
            <a:custGeom>
              <a:avLst/>
              <a:gdLst>
                <a:gd name="txL" fmla="*/ 0 w 210"/>
                <a:gd name="txT" fmla="*/ 0 h 1362"/>
                <a:gd name="txR" fmla="*/ 210 w 210"/>
                <a:gd name="txB" fmla="*/ 1362 h 1362"/>
              </a:gdLst>
              <a:ahLst/>
              <a:cxnLst>
                <a:cxn ang="0">
                  <a:pos x="0" y="0"/>
                </a:cxn>
                <a:cxn ang="0">
                  <a:pos x="0" y="1362"/>
                </a:cxn>
                <a:cxn ang="0">
                  <a:pos x="210" y="858"/>
                </a:cxn>
              </a:cxnLst>
              <a:rect l="txL" t="txT" r="txR" b="txB"/>
              <a:pathLst>
                <a:path w="210" h="1362">
                  <a:moveTo>
                    <a:pt x="0" y="0"/>
                  </a:moveTo>
                  <a:lnTo>
                    <a:pt x="0" y="1362"/>
                  </a:lnTo>
                  <a:lnTo>
                    <a:pt x="210" y="858"/>
                  </a:lnTo>
                </a:path>
              </a:pathLst>
            </a:cu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5072" name="Line 57"/>
            <p:cNvSpPr/>
            <p:nvPr/>
          </p:nvSpPr>
          <p:spPr>
            <a:xfrm>
              <a:off x="1290" y="2766"/>
              <a:ext cx="228" cy="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3" name="Line 58"/>
            <p:cNvSpPr/>
            <p:nvPr/>
          </p:nvSpPr>
          <p:spPr>
            <a:xfrm>
              <a:off x="1296" y="2772"/>
              <a:ext cx="210" cy="498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5074" name="Text Box 59"/>
            <p:cNvSpPr txBox="1"/>
            <p:nvPr/>
          </p:nvSpPr>
          <p:spPr>
            <a:xfrm>
              <a:off x="1274" y="1472"/>
              <a:ext cx="246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一个大数据报 变为几个较小的数据报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45062" name="Rectangle 60"/>
          <p:cNvSpPr/>
          <p:nvPr/>
        </p:nvSpPr>
        <p:spPr>
          <a:xfrm>
            <a:off x="331788" y="1801813"/>
            <a:ext cx="2830512" cy="1677987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</a:pPr>
            <a:r>
              <a:rPr lang="zh-CN" altLang="en-US" sz="2000" u="sng" dirty="0">
                <a:solidFill>
                  <a:srgbClr val="FF0000"/>
                </a:solidFill>
                <a:latin typeface="Times New Roman" panose="02020603050405020304" pitchFamily="18" charset="0"/>
              </a:rPr>
              <a:t>例子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zh-CN" sz="2000" dirty="0">
                <a:latin typeface="Times New Roman" panose="02020603050405020304" pitchFamily="18" charset="0"/>
              </a:rPr>
              <a:t>4000</a:t>
            </a:r>
            <a:r>
              <a:rPr lang="zh-CN" altLang="en-US" sz="2000" dirty="0">
                <a:latin typeface="Times New Roman" panose="02020603050405020304" pitchFamily="18" charset="0"/>
              </a:rPr>
              <a:t>字节数据报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r>
              <a:rPr lang="en-US" altLang="zh-CN" sz="2000" dirty="0">
                <a:latin typeface="Times New Roman" panose="02020603050405020304" pitchFamily="18" charset="0"/>
              </a:rPr>
              <a:t>MTU = 1500</a:t>
            </a:r>
            <a:r>
              <a:rPr lang="zh-CN" altLang="en-US" sz="2000" dirty="0">
                <a:latin typeface="Times New Roman" panose="02020603050405020304" pitchFamily="18" charset="0"/>
              </a:rPr>
              <a:t>字节</a:t>
            </a:r>
            <a:endParaRPr lang="zh-CN" altLang="en-US" sz="2000" dirty="0">
              <a:latin typeface="Times New Roman" panose="02020603050405020304" pitchFamily="18" charset="0"/>
            </a:endParaRPr>
          </a:p>
          <a:p>
            <a:pPr marL="342900" indent="-342900" eaLnBrk="1">
              <a:spcBef>
                <a:spcPct val="20000"/>
              </a:spcBef>
              <a:buClr>
                <a:schemeClr val="accent2"/>
              </a:buClr>
              <a:buSzPct val="85000"/>
              <a:buFont typeface="ZapfDingbats" pitchFamily="82" charset="2"/>
              <a:buChar char="r"/>
            </a:pPr>
            <a:endParaRPr lang="zh-CN" altLang="en-US" sz="2000" dirty="0">
              <a:latin typeface="Times New Roman" panose="02020603050405020304" pitchFamily="18" charset="0"/>
            </a:endParaRPr>
          </a:p>
        </p:txBody>
      </p:sp>
      <p:sp>
        <p:nvSpPr>
          <p:cNvPr id="45063" name="Text Box 61"/>
          <p:cNvSpPr txBox="1"/>
          <p:nvPr/>
        </p:nvSpPr>
        <p:spPr>
          <a:xfrm>
            <a:off x="463550" y="3756025"/>
            <a:ext cx="237490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在数据字段</a:t>
            </a:r>
            <a:r>
              <a:rPr lang="en-US" altLang="zh-CN" dirty="0">
                <a:latin typeface="Comic Sans MS" panose="030F0702030302020204" pitchFamily="66" charset="0"/>
              </a:rPr>
              <a:t>1480 </a:t>
            </a:r>
            <a:r>
              <a:rPr lang="zh-CN" altLang="en-US" dirty="0">
                <a:latin typeface="Comic Sans MS" panose="030F0702030302020204" pitchFamily="66" charset="0"/>
              </a:rPr>
              <a:t>字节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45064" name="Line 62"/>
          <p:cNvSpPr/>
          <p:nvPr/>
        </p:nvSpPr>
        <p:spPr>
          <a:xfrm flipV="1">
            <a:off x="2085975" y="3592513"/>
            <a:ext cx="2536825" cy="581025"/>
          </a:xfrm>
          <a:prstGeom prst="line">
            <a:avLst/>
          </a:prstGeom>
          <a:ln w="19050" cap="flat" cmpd="sng">
            <a:solidFill>
              <a:srgbClr val="0080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45065" name="Text Box 63"/>
          <p:cNvSpPr txBox="1"/>
          <p:nvPr/>
        </p:nvSpPr>
        <p:spPr>
          <a:xfrm>
            <a:off x="1839913" y="4567238"/>
            <a:ext cx="10318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偏移 </a:t>
            </a:r>
            <a:r>
              <a:rPr lang="en-US" altLang="zh-CN" dirty="0">
                <a:latin typeface="Comic Sans MS" panose="030F0702030302020204" pitchFamily="66" charset="0"/>
              </a:rPr>
              <a:t>=</a:t>
            </a:r>
            <a:endParaRPr lang="en-US" altLang="zh-CN" dirty="0">
              <a:latin typeface="Comic Sans MS" panose="030F0702030302020204" pitchFamily="66" charset="0"/>
            </a:endParaRPr>
          </a:p>
          <a:p>
            <a:r>
              <a:rPr lang="en-US" altLang="zh-CN" dirty="0">
                <a:latin typeface="Comic Sans MS" panose="030F0702030302020204" pitchFamily="66" charset="0"/>
              </a:rPr>
              <a:t>1480/8 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45066" name="Line 64"/>
          <p:cNvSpPr/>
          <p:nvPr/>
        </p:nvSpPr>
        <p:spPr>
          <a:xfrm flipV="1">
            <a:off x="2870200" y="4440238"/>
            <a:ext cx="4032250" cy="412750"/>
          </a:xfrm>
          <a:prstGeom prst="line">
            <a:avLst/>
          </a:prstGeom>
          <a:ln w="19050" cap="flat" cmpd="sng">
            <a:solidFill>
              <a:srgbClr val="008000"/>
            </a:solidFill>
            <a:prstDash val="sysDot"/>
            <a:headEnd type="none" w="med" len="med"/>
            <a:tailEnd type="triangle" w="med" len="med"/>
          </a:ln>
        </p:spPr>
      </p:sp>
      <p:sp>
        <p:nvSpPr>
          <p:cNvPr id="2" name="Text Box 61"/>
          <p:cNvSpPr txBox="1"/>
          <p:nvPr/>
        </p:nvSpPr>
        <p:spPr>
          <a:xfrm>
            <a:off x="5547995" y="2820670"/>
            <a:ext cx="22402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dirty="0">
                <a:solidFill>
                  <a:schemeClr val="accent2"/>
                </a:solidFill>
                <a:latin typeface="Comic Sans MS" panose="030F0702030302020204" pitchFamily="66" charset="0"/>
              </a:rPr>
              <a:t>是不是最后一个分片</a:t>
            </a:r>
            <a:endParaRPr lang="zh-CN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  <p:sp>
        <p:nvSpPr>
          <p:cNvPr id="3" name="Text Box 61"/>
          <p:cNvSpPr txBox="1"/>
          <p:nvPr/>
        </p:nvSpPr>
        <p:spPr>
          <a:xfrm>
            <a:off x="4422775" y="5521325"/>
            <a:ext cx="3154680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dirty="0">
                <a:solidFill>
                  <a:schemeClr val="accent2"/>
                </a:solidFill>
                <a:latin typeface="Comic Sans MS" panose="030F0702030302020204" pitchFamily="66" charset="0"/>
              </a:rPr>
              <a:t>属于哪个数据包，好重新组装</a:t>
            </a:r>
            <a:endParaRPr lang="zh-CN" dirty="0">
              <a:solidFill>
                <a:schemeClr val="accent2"/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6083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608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46085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solidFill>
                  <a:srgbClr val="FF0000"/>
                </a:solidFill>
                <a:latin typeface="+mn-lt"/>
                <a:ea typeface="+mn-ea"/>
              </a:rPr>
              <a:t>IPv4</a:t>
            </a:r>
            <a:r>
              <a:rPr lang="zh-CN" altLang="en-US" sz="2000" dirty="0">
                <a:solidFill>
                  <a:srgbClr val="FF0000"/>
                </a:solidFill>
                <a:latin typeface="+mn-lt"/>
                <a:ea typeface="+mn-ea"/>
              </a:rPr>
              <a:t>编址</a:t>
            </a:r>
            <a:endParaRPr lang="zh-CN" altLang="en-US" sz="2000" dirty="0">
              <a:solidFill>
                <a:srgbClr val="FF0000"/>
              </a:solidFill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NAT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ICMP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IPv6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46086" name="Rectangle 4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7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7178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7179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600" dirty="0"/>
              <a:t>IP</a:t>
            </a:r>
            <a:r>
              <a:rPr lang="zh-CN" altLang="en-US" sz="3600" dirty="0"/>
              <a:t>编址</a:t>
            </a:r>
            <a:r>
              <a:rPr lang="en-US" altLang="zh-CN" sz="3600" dirty="0"/>
              <a:t>:</a:t>
            </a:r>
            <a:r>
              <a:rPr lang="zh-CN" altLang="en-US" sz="3600" dirty="0"/>
              <a:t>概述</a:t>
            </a:r>
            <a:endParaRPr lang="zh-CN" altLang="en-US" dirty="0"/>
          </a:p>
        </p:txBody>
      </p:sp>
      <p:sp>
        <p:nvSpPr>
          <p:cNvPr id="7180" name="Rectangle 3"/>
          <p:cNvSpPr>
            <a:spLocks noGrp="1"/>
          </p:cNvSpPr>
          <p:nvPr>
            <p:ph sz="half" idx="1"/>
          </p:nvPr>
        </p:nvSpPr>
        <p:spPr>
          <a:xfrm>
            <a:off x="476250" y="1333500"/>
            <a:ext cx="36957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IP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地址</a:t>
            </a: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对主机、路由器</a:t>
            </a:r>
            <a:r>
              <a:rPr lang="zh-CN" altLang="en-US" sz="2400" i="1" dirty="0">
                <a:latin typeface="+mn-lt"/>
                <a:ea typeface="+mn-ea"/>
                <a:cs typeface="+mn-cs"/>
              </a:rPr>
              <a:t>接口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的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32-bit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标识符 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i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接口</a:t>
            </a:r>
            <a:r>
              <a:rPr lang="en-US" altLang="zh-CN" sz="2400" i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在主机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/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路由器和物理链路之间的连接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路由器通常具有多个接口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主机可能具有多个接口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</a:t>
            </a:r>
            <a:r>
              <a:rPr lang="zh-CN" altLang="en-US" sz="2000" dirty="0">
                <a:latin typeface="+mn-lt"/>
                <a:ea typeface="+mn-ea"/>
              </a:rPr>
              <a:t>编址与每个接口相联系</a:t>
            </a:r>
            <a:endParaRPr lang="en-US" altLang="zh-CN" sz="2000" dirty="0">
              <a:latin typeface="+mn-lt"/>
              <a:ea typeface="+mn-ea"/>
            </a:endParaRPr>
          </a:p>
        </p:txBody>
      </p:sp>
      <p:graphicFrame>
        <p:nvGraphicFramePr>
          <p:cNvPr id="7170" name="Object 4"/>
          <p:cNvGraphicFramePr/>
          <p:nvPr/>
        </p:nvGraphicFramePr>
        <p:xfrm>
          <a:off x="4456113" y="12652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8" name="" r:id="rId1" imgW="1305560" imgH="1082675" progId="MS_ClipArt_Gallery.2">
                  <p:embed/>
                </p:oleObj>
              </mc:Choice>
              <mc:Fallback>
                <p:oleObj name="" r:id="rId1" imgW="1305560" imgH="1082675" progId="MS_ClipArt_Gallery.2">
                  <p:embed/>
                  <p:pic>
                    <p:nvPicPr>
                      <p:cNvPr id="0" name="图片 308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126523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1" name="Line 5"/>
          <p:cNvSpPr/>
          <p:nvPr/>
        </p:nvSpPr>
        <p:spPr>
          <a:xfrm>
            <a:off x="5016500" y="1638300"/>
            <a:ext cx="277813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82" name="Line 6"/>
          <p:cNvSpPr/>
          <p:nvPr/>
        </p:nvSpPr>
        <p:spPr>
          <a:xfrm flipH="1">
            <a:off x="5307013" y="1624013"/>
            <a:ext cx="0" cy="12906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83" name="Line 7"/>
          <p:cNvSpPr/>
          <p:nvPr/>
        </p:nvSpPr>
        <p:spPr>
          <a:xfrm flipV="1">
            <a:off x="5016500" y="2282825"/>
            <a:ext cx="277813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84" name="Line 8"/>
          <p:cNvSpPr/>
          <p:nvPr/>
        </p:nvSpPr>
        <p:spPr>
          <a:xfrm>
            <a:off x="5026025" y="2909888"/>
            <a:ext cx="27305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1" name="Object 9"/>
          <p:cNvGraphicFramePr/>
          <p:nvPr/>
        </p:nvGraphicFramePr>
        <p:xfrm>
          <a:off x="4456113" y="19319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0" name="" r:id="rId3" imgW="1305560" imgH="1082675" progId="MS_ClipArt_Gallery.2">
                  <p:embed/>
                </p:oleObj>
              </mc:Choice>
              <mc:Fallback>
                <p:oleObj name="" r:id="rId3" imgW="1305560" imgH="1082675" progId="MS_ClipArt_Gallery.2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19319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0"/>
          <p:cNvGraphicFramePr/>
          <p:nvPr/>
        </p:nvGraphicFramePr>
        <p:xfrm>
          <a:off x="4456113" y="25415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9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08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25415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Line 11"/>
          <p:cNvSpPr/>
          <p:nvPr/>
        </p:nvSpPr>
        <p:spPr>
          <a:xfrm>
            <a:off x="5307013" y="2481263"/>
            <a:ext cx="10350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186" name="Group 12"/>
          <p:cNvGrpSpPr/>
          <p:nvPr/>
        </p:nvGrpSpPr>
        <p:grpSpPr>
          <a:xfrm>
            <a:off x="6249988" y="2446338"/>
            <a:ext cx="711200" cy="381000"/>
            <a:chOff x="3600" y="219"/>
            <a:chExt cx="360" cy="175"/>
          </a:xfrm>
        </p:grpSpPr>
        <p:sp>
          <p:nvSpPr>
            <p:cNvPr id="7226" name="Oval 13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27" name="Line 14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8" name="Line 15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7229" name="Rectangle 16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7230" name="Oval 17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7231" name="Group 18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7236" name="Line 19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37" name="Line 20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38" name="Line 21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7232" name="Group 22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7233" name="Line 2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34" name="Line 2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7235" name="Line 2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7187" name="Text Box 26"/>
          <p:cNvSpPr txBox="1"/>
          <p:nvPr/>
        </p:nvSpPr>
        <p:spPr>
          <a:xfrm>
            <a:off x="4975225" y="13128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grpSp>
        <p:nvGrpSpPr>
          <p:cNvPr id="7188" name="Group 27"/>
          <p:cNvGrpSpPr/>
          <p:nvPr/>
        </p:nvGrpSpPr>
        <p:grpSpPr>
          <a:xfrm>
            <a:off x="4975225" y="1955800"/>
            <a:ext cx="1031875" cy="336550"/>
            <a:chOff x="3251" y="608"/>
            <a:chExt cx="650" cy="212"/>
          </a:xfrm>
        </p:grpSpPr>
        <p:sp>
          <p:nvSpPr>
            <p:cNvPr id="7224" name="Rectangle 28"/>
            <p:cNvSpPr/>
            <p:nvPr/>
          </p:nvSpPr>
          <p:spPr>
            <a:xfrm>
              <a:off x="3306" y="657"/>
              <a:ext cx="525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25" name="Text Box 29"/>
            <p:cNvSpPr txBox="1"/>
            <p:nvPr/>
          </p:nvSpPr>
          <p:spPr>
            <a:xfrm>
              <a:off x="3251" y="608"/>
              <a:ext cx="65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223.1.1.2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7189" name="Text Box 30"/>
          <p:cNvSpPr txBox="1"/>
          <p:nvPr/>
        </p:nvSpPr>
        <p:spPr>
          <a:xfrm>
            <a:off x="4860925" y="28940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223.1.1.3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190" name="Text Box 31"/>
          <p:cNvSpPr txBox="1"/>
          <p:nvPr/>
        </p:nvSpPr>
        <p:spPr>
          <a:xfrm>
            <a:off x="5651500" y="2222500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223.1.1.4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191" name="Line 32"/>
          <p:cNvSpPr/>
          <p:nvPr/>
        </p:nvSpPr>
        <p:spPr>
          <a:xfrm>
            <a:off x="6854825" y="2490788"/>
            <a:ext cx="101600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2" name="Text Box 33"/>
          <p:cNvSpPr txBox="1"/>
          <p:nvPr/>
        </p:nvSpPr>
        <p:spPr>
          <a:xfrm>
            <a:off x="6727825" y="2212975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223.1.2.9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193" name="Line 34"/>
          <p:cNvSpPr/>
          <p:nvPr/>
        </p:nvSpPr>
        <p:spPr>
          <a:xfrm flipH="1">
            <a:off x="7878763" y="1795463"/>
            <a:ext cx="0" cy="12906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3" name="Object 35"/>
          <p:cNvGraphicFramePr/>
          <p:nvPr/>
        </p:nvGraphicFramePr>
        <p:xfrm>
          <a:off x="8056563" y="150336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1" name="" r:id="rId5" imgW="1305560" imgH="1082675" progId="MS_ClipArt_Gallery.2">
                  <p:embed/>
                </p:oleObj>
              </mc:Choice>
              <mc:Fallback>
                <p:oleObj name="" r:id="rId5" imgW="1305560" imgH="1082675" progId="MS_ClipArt_Gallery.2">
                  <p:embed/>
                  <p:pic>
                    <p:nvPicPr>
                      <p:cNvPr id="0" name="图片 309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6563" y="1503363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4" name="Line 36"/>
          <p:cNvSpPr/>
          <p:nvPr/>
        </p:nvSpPr>
        <p:spPr>
          <a:xfrm>
            <a:off x="7878763" y="1800225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4" name="Object 37"/>
          <p:cNvGraphicFramePr/>
          <p:nvPr/>
        </p:nvGraphicFramePr>
        <p:xfrm>
          <a:off x="8061325" y="28844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2" name="" r:id="rId6" imgW="1305560" imgH="1082675" progId="MS_ClipArt_Gallery.2">
                  <p:embed/>
                </p:oleObj>
              </mc:Choice>
              <mc:Fallback>
                <p:oleObj name="" r:id="rId6" imgW="1305560" imgH="1082675" progId="MS_ClipArt_Gallery.2">
                  <p:embed/>
                  <p:pic>
                    <p:nvPicPr>
                      <p:cNvPr id="0" name="图片 309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61325" y="28844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5" name="Line 38"/>
          <p:cNvSpPr/>
          <p:nvPr/>
        </p:nvSpPr>
        <p:spPr>
          <a:xfrm>
            <a:off x="7878763" y="3071813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7196" name="Group 39"/>
          <p:cNvGrpSpPr/>
          <p:nvPr/>
        </p:nvGrpSpPr>
        <p:grpSpPr>
          <a:xfrm>
            <a:off x="7189788" y="2732088"/>
            <a:ext cx="1031875" cy="336550"/>
            <a:chOff x="4532" y="1229"/>
            <a:chExt cx="650" cy="212"/>
          </a:xfrm>
        </p:grpSpPr>
        <p:sp>
          <p:nvSpPr>
            <p:cNvPr id="7222" name="Rectangle 40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23" name="Text Box 41"/>
            <p:cNvSpPr txBox="1"/>
            <p:nvPr/>
          </p:nvSpPr>
          <p:spPr>
            <a:xfrm>
              <a:off x="4532" y="1229"/>
              <a:ext cx="65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223.1.2.2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7197" name="Group 42"/>
          <p:cNvGrpSpPr/>
          <p:nvPr/>
        </p:nvGrpSpPr>
        <p:grpSpPr>
          <a:xfrm>
            <a:off x="7151688" y="1760538"/>
            <a:ext cx="1031875" cy="336550"/>
            <a:chOff x="4532" y="1229"/>
            <a:chExt cx="650" cy="212"/>
          </a:xfrm>
        </p:grpSpPr>
        <p:sp>
          <p:nvSpPr>
            <p:cNvPr id="7220" name="Rectangle 43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21" name="Text Box 44"/>
            <p:cNvSpPr txBox="1"/>
            <p:nvPr/>
          </p:nvSpPr>
          <p:spPr>
            <a:xfrm>
              <a:off x="4532" y="1229"/>
              <a:ext cx="65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223.1.2.1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7198" name="Line 45"/>
          <p:cNvSpPr/>
          <p:nvPr/>
        </p:nvSpPr>
        <p:spPr>
          <a:xfrm flipH="1">
            <a:off x="6616700" y="2828925"/>
            <a:ext cx="0" cy="12906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199" name="Line 46"/>
          <p:cNvSpPr/>
          <p:nvPr/>
        </p:nvSpPr>
        <p:spPr>
          <a:xfrm flipH="1">
            <a:off x="6007100" y="4110038"/>
            <a:ext cx="11858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00" name="Line 47"/>
          <p:cNvSpPr/>
          <p:nvPr/>
        </p:nvSpPr>
        <p:spPr>
          <a:xfrm flipH="1" flipV="1">
            <a:off x="6003925" y="4102100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7201" name="Line 48"/>
          <p:cNvSpPr/>
          <p:nvPr/>
        </p:nvSpPr>
        <p:spPr>
          <a:xfrm flipH="1" flipV="1">
            <a:off x="7180263" y="4106863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7175" name="Object 49"/>
          <p:cNvGraphicFramePr/>
          <p:nvPr/>
        </p:nvGraphicFramePr>
        <p:xfrm>
          <a:off x="6965950" y="426561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3" name="" r:id="rId7" imgW="1305560" imgH="1082675" progId="MS_ClipArt_Gallery.2">
                  <p:embed/>
                </p:oleObj>
              </mc:Choice>
              <mc:Fallback>
                <p:oleObj name="" r:id="rId7" imgW="1305560" imgH="1082675" progId="MS_ClipArt_Gallery.2">
                  <p:embed/>
                  <p:pic>
                    <p:nvPicPr>
                      <p:cNvPr id="0" name="图片 309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65950" y="4265613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6" name="Object 50"/>
          <p:cNvGraphicFramePr/>
          <p:nvPr/>
        </p:nvGraphicFramePr>
        <p:xfrm>
          <a:off x="5708650" y="427990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4" name="" r:id="rId8" imgW="1305560" imgH="1082675" progId="MS_ClipArt_Gallery.2">
                  <p:embed/>
                </p:oleObj>
              </mc:Choice>
              <mc:Fallback>
                <p:oleObj name="" r:id="rId8" imgW="1305560" imgH="1082675" progId="MS_ClipArt_Gallery.2">
                  <p:embed/>
                  <p:pic>
                    <p:nvPicPr>
                      <p:cNvPr id="0" name="图片 309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08650" y="4279900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202" name="Group 51"/>
          <p:cNvGrpSpPr/>
          <p:nvPr/>
        </p:nvGrpSpPr>
        <p:grpSpPr>
          <a:xfrm>
            <a:off x="7151688" y="3984625"/>
            <a:ext cx="1031875" cy="336550"/>
            <a:chOff x="4532" y="1229"/>
            <a:chExt cx="650" cy="212"/>
          </a:xfrm>
        </p:grpSpPr>
        <p:sp>
          <p:nvSpPr>
            <p:cNvPr id="7218" name="Rectangle 52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19" name="Text Box 53"/>
            <p:cNvSpPr txBox="1"/>
            <p:nvPr/>
          </p:nvSpPr>
          <p:spPr>
            <a:xfrm>
              <a:off x="4532" y="1229"/>
              <a:ext cx="65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223.1.3.2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7203" name="Group 54"/>
          <p:cNvGrpSpPr/>
          <p:nvPr/>
        </p:nvGrpSpPr>
        <p:grpSpPr>
          <a:xfrm>
            <a:off x="5003800" y="4013200"/>
            <a:ext cx="1031875" cy="336550"/>
            <a:chOff x="4532" y="1229"/>
            <a:chExt cx="650" cy="212"/>
          </a:xfrm>
        </p:grpSpPr>
        <p:sp>
          <p:nvSpPr>
            <p:cNvPr id="7216" name="Rectangle 55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17" name="Text Box 56"/>
            <p:cNvSpPr txBox="1"/>
            <p:nvPr/>
          </p:nvSpPr>
          <p:spPr>
            <a:xfrm>
              <a:off x="4532" y="1229"/>
              <a:ext cx="650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223.1.3.1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7204" name="Group 57"/>
          <p:cNvGrpSpPr/>
          <p:nvPr/>
        </p:nvGrpSpPr>
        <p:grpSpPr>
          <a:xfrm>
            <a:off x="6003925" y="2874963"/>
            <a:ext cx="1144588" cy="336550"/>
            <a:chOff x="4532" y="1229"/>
            <a:chExt cx="721" cy="212"/>
          </a:xfrm>
        </p:grpSpPr>
        <p:sp>
          <p:nvSpPr>
            <p:cNvPr id="7214" name="Rectangle 58"/>
            <p:cNvSpPr/>
            <p:nvPr/>
          </p:nvSpPr>
          <p:spPr>
            <a:xfrm>
              <a:off x="4587" y="1284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7215" name="Text Box 59"/>
            <p:cNvSpPr txBox="1"/>
            <p:nvPr/>
          </p:nvSpPr>
          <p:spPr>
            <a:xfrm>
              <a:off x="4532" y="1229"/>
              <a:ext cx="721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223.1.3.27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7205" name="Text Box 60"/>
          <p:cNvSpPr txBox="1"/>
          <p:nvPr/>
        </p:nvSpPr>
        <p:spPr>
          <a:xfrm>
            <a:off x="3984625" y="5341938"/>
            <a:ext cx="504348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223.1.1.1 = 11011111 00000001 00000001 00000001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206" name="Freeform 61"/>
          <p:cNvSpPr/>
          <p:nvPr/>
        </p:nvSpPr>
        <p:spPr>
          <a:xfrm>
            <a:off x="5162550" y="5597525"/>
            <a:ext cx="892175" cy="92075"/>
          </a:xfrm>
          <a:custGeom>
            <a:avLst/>
            <a:gdLst>
              <a:gd name="txL" fmla="*/ 0 w 562"/>
              <a:gd name="txT" fmla="*/ 0 h 58"/>
              <a:gd name="txR" fmla="*/ 562 w 562"/>
              <a:gd name="txB" fmla="*/ 58 h 58"/>
            </a:gdLst>
            <a:ahLst/>
            <a:cxnLst>
              <a:cxn ang="0">
                <a:pos x="0" y="0"/>
              </a:cxn>
              <a:cxn ang="0">
                <a:pos x="0" y="58"/>
              </a:cxn>
              <a:cxn ang="0">
                <a:pos x="562" y="58"/>
              </a:cxn>
              <a:cxn ang="0">
                <a:pos x="562" y="16"/>
              </a:cxn>
            </a:cxnLst>
            <a:rect l="txL" t="txT" r="txR" b="txB"/>
            <a:pathLst>
              <a:path w="562" h="58">
                <a:moveTo>
                  <a:pt x="0" y="0"/>
                </a:moveTo>
                <a:lnTo>
                  <a:pt x="0" y="58"/>
                </a:lnTo>
                <a:lnTo>
                  <a:pt x="562" y="58"/>
                </a:lnTo>
                <a:lnTo>
                  <a:pt x="562" y="1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7207" name="Freeform 62"/>
          <p:cNvSpPr/>
          <p:nvPr/>
        </p:nvSpPr>
        <p:spPr>
          <a:xfrm>
            <a:off x="6124575" y="5616575"/>
            <a:ext cx="892175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50"/>
              </a:cxn>
              <a:cxn ang="0">
                <a:pos x="562" y="50"/>
              </a:cxn>
              <a:cxn ang="0">
                <a:pos x="562" y="8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7208" name="Freeform 63"/>
          <p:cNvSpPr/>
          <p:nvPr/>
        </p:nvSpPr>
        <p:spPr>
          <a:xfrm>
            <a:off x="7089775" y="5619750"/>
            <a:ext cx="869950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50"/>
              </a:cxn>
              <a:cxn ang="0">
                <a:pos x="562" y="50"/>
              </a:cxn>
              <a:cxn ang="0">
                <a:pos x="562" y="8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7209" name="Freeform 64"/>
          <p:cNvSpPr/>
          <p:nvPr/>
        </p:nvSpPr>
        <p:spPr>
          <a:xfrm>
            <a:off x="8054975" y="5622925"/>
            <a:ext cx="869950" cy="79375"/>
          </a:xfrm>
          <a:custGeom>
            <a:avLst/>
            <a:gdLst>
              <a:gd name="txL" fmla="*/ 0 w 562"/>
              <a:gd name="txT" fmla="*/ 0 h 50"/>
              <a:gd name="txR" fmla="*/ 562 w 562"/>
              <a:gd name="txB" fmla="*/ 50 h 50"/>
            </a:gdLst>
            <a:ahLst/>
            <a:cxnLst>
              <a:cxn ang="0">
                <a:pos x="0" y="0"/>
              </a:cxn>
              <a:cxn ang="0">
                <a:pos x="0" y="50"/>
              </a:cxn>
              <a:cxn ang="0">
                <a:pos x="562" y="50"/>
              </a:cxn>
              <a:cxn ang="0">
                <a:pos x="562" y="8"/>
              </a:cxn>
            </a:cxnLst>
            <a:rect l="txL" t="txT" r="txR" b="txB"/>
            <a:pathLst>
              <a:path w="562" h="50">
                <a:moveTo>
                  <a:pt x="0" y="0"/>
                </a:moveTo>
                <a:lnTo>
                  <a:pt x="0" y="50"/>
                </a:lnTo>
                <a:lnTo>
                  <a:pt x="562" y="50"/>
                </a:lnTo>
                <a:lnTo>
                  <a:pt x="562" y="8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7210" name="Text Box 65"/>
          <p:cNvSpPr txBox="1"/>
          <p:nvPr/>
        </p:nvSpPr>
        <p:spPr>
          <a:xfrm>
            <a:off x="5360988" y="5818188"/>
            <a:ext cx="5222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211" name="Text Box 66"/>
          <p:cNvSpPr txBox="1"/>
          <p:nvPr/>
        </p:nvSpPr>
        <p:spPr>
          <a:xfrm>
            <a:off x="6403975" y="5827713"/>
            <a:ext cx="296863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212" name="Text Box 67"/>
          <p:cNvSpPr txBox="1"/>
          <p:nvPr/>
        </p:nvSpPr>
        <p:spPr>
          <a:xfrm>
            <a:off x="8361363" y="5827713"/>
            <a:ext cx="296862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7213" name="Text Box 68"/>
          <p:cNvSpPr txBox="1"/>
          <p:nvPr/>
        </p:nvSpPr>
        <p:spPr>
          <a:xfrm>
            <a:off x="7342188" y="5827713"/>
            <a:ext cx="296862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201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8202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8203" name="Freeform 2"/>
          <p:cNvSpPr/>
          <p:nvPr/>
        </p:nvSpPr>
        <p:spPr>
          <a:xfrm>
            <a:off x="4378325" y="1160463"/>
            <a:ext cx="1941513" cy="2049462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1201" y="756"/>
              </a:cxn>
              <a:cxn ang="0">
                <a:pos x="702" y="670"/>
              </a:cxn>
              <a:cxn ang="0">
                <a:pos x="608" y="103"/>
              </a:cxn>
              <a:cxn ang="0">
                <a:pos x="335" y="52"/>
              </a:cxn>
              <a:cxn ang="0">
                <a:pos x="65" y="82"/>
              </a:cxn>
              <a:cxn ang="0">
                <a:pos x="41" y="544"/>
              </a:cxn>
              <a:cxn ang="0">
                <a:pos x="38" y="751"/>
              </a:cxn>
              <a:cxn ang="0">
                <a:pos x="23" y="940"/>
              </a:cxn>
              <a:cxn ang="0">
                <a:pos x="17" y="1114"/>
              </a:cxn>
              <a:cxn ang="0">
                <a:pos x="128" y="1219"/>
              </a:cxn>
              <a:cxn ang="0">
                <a:pos x="602" y="1243"/>
              </a:cxn>
              <a:cxn ang="0">
                <a:pos x="686" y="930"/>
              </a:cxn>
              <a:cxn ang="0">
                <a:pos x="1177" y="916"/>
              </a:cxn>
              <a:cxn ang="0">
                <a:pos x="1201" y="75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04" name="Freeform 3"/>
          <p:cNvSpPr/>
          <p:nvPr/>
        </p:nvSpPr>
        <p:spPr>
          <a:xfrm>
            <a:off x="6894513" y="1447800"/>
            <a:ext cx="1906587" cy="1958975"/>
          </a:xfrm>
          <a:custGeom>
            <a:avLst/>
            <a:gdLst>
              <a:gd name="txL" fmla="*/ 0 w 1201"/>
              <a:gd name="txT" fmla="*/ 0 h 1234"/>
              <a:gd name="txR" fmla="*/ 1201 w 1201"/>
              <a:gd name="txB" fmla="*/ 1234 h 1234"/>
            </a:gdLst>
            <a:ahLst/>
            <a:cxnLst>
              <a:cxn ang="0">
                <a:pos x="25" y="709"/>
              </a:cxn>
              <a:cxn ang="0">
                <a:pos x="526" y="780"/>
              </a:cxn>
              <a:cxn ang="0">
                <a:pos x="613" y="1134"/>
              </a:cxn>
              <a:cxn ang="0">
                <a:pos x="946" y="1230"/>
              </a:cxn>
              <a:cxn ang="0">
                <a:pos x="1171" y="1107"/>
              </a:cxn>
              <a:cxn ang="0">
                <a:pos x="1126" y="894"/>
              </a:cxn>
              <a:cxn ang="0">
                <a:pos x="1114" y="693"/>
              </a:cxn>
              <a:cxn ang="0">
                <a:pos x="1099" y="423"/>
              </a:cxn>
              <a:cxn ang="0">
                <a:pos x="1141" y="216"/>
              </a:cxn>
              <a:cxn ang="0">
                <a:pos x="1102" y="33"/>
              </a:cxn>
              <a:cxn ang="0">
                <a:pos x="646" y="81"/>
              </a:cxn>
              <a:cxn ang="0">
                <a:pos x="535" y="519"/>
              </a:cxn>
              <a:cxn ang="0">
                <a:pos x="44" y="548"/>
              </a:cxn>
              <a:cxn ang="0">
                <a:pos x="25" y="709"/>
              </a:cxn>
            </a:cxnLst>
            <a:rect l="txL" t="txT" r="txR" b="tx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05" name="Freeform 4"/>
          <p:cNvSpPr/>
          <p:nvPr/>
        </p:nvSpPr>
        <p:spPr>
          <a:xfrm>
            <a:off x="5578475" y="2881313"/>
            <a:ext cx="2041525" cy="1979612"/>
          </a:xfrm>
          <a:custGeom>
            <a:avLst/>
            <a:gdLst>
              <a:gd name="txL" fmla="*/ 0 w 1286"/>
              <a:gd name="txT" fmla="*/ 0 h 1247"/>
              <a:gd name="txR" fmla="*/ 1286 w 1286"/>
              <a:gd name="txB" fmla="*/ 1247 h 1247"/>
            </a:gdLst>
            <a:ahLst/>
            <a:cxnLst>
              <a:cxn ang="0">
                <a:pos x="587" y="30"/>
              </a:cxn>
              <a:cxn ang="0">
                <a:pos x="509" y="618"/>
              </a:cxn>
              <a:cxn ang="0">
                <a:pos x="77" y="909"/>
              </a:cxn>
              <a:cxn ang="0">
                <a:pos x="47" y="1095"/>
              </a:cxn>
              <a:cxn ang="0">
                <a:pos x="140" y="1224"/>
              </a:cxn>
              <a:cxn ang="0">
                <a:pos x="461" y="1209"/>
              </a:cxn>
              <a:cxn ang="0">
                <a:pos x="692" y="1209"/>
              </a:cxn>
              <a:cxn ang="0">
                <a:pos x="1190" y="1227"/>
              </a:cxn>
              <a:cxn ang="0">
                <a:pos x="1271" y="1089"/>
              </a:cxn>
              <a:cxn ang="0">
                <a:pos x="1139" y="741"/>
              </a:cxn>
              <a:cxn ang="0">
                <a:pos x="800" y="627"/>
              </a:cxn>
              <a:cxn ang="0">
                <a:pos x="749" y="42"/>
              </a:cxn>
              <a:cxn ang="0">
                <a:pos x="587" y="30"/>
              </a:cxn>
            </a:cxnLst>
            <a:rect l="txL" t="txT" r="txR" b="tx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06" name="Rectangle 5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子网</a:t>
            </a:r>
            <a:endParaRPr lang="zh-CN" altLang="en-US" dirty="0"/>
          </a:p>
        </p:txBody>
      </p:sp>
      <p:sp>
        <p:nvSpPr>
          <p:cNvPr id="8207" name="Rectangle 6"/>
          <p:cNvSpPr>
            <a:spLocks noGrp="1"/>
          </p:cNvSpPr>
          <p:nvPr>
            <p:ph sz="half" idx="1"/>
          </p:nvPr>
        </p:nvSpPr>
        <p:spPr>
          <a:xfrm>
            <a:off x="476250" y="1333500"/>
            <a:ext cx="36957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IP</a:t>
            </a: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地址</a:t>
            </a: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 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子网部分</a:t>
            </a:r>
            <a:r>
              <a:rPr lang="en-US" altLang="zh-CN" sz="2000" dirty="0">
                <a:latin typeface="+mn-lt"/>
                <a:ea typeface="+mn-ea"/>
              </a:rPr>
              <a:t>(</a:t>
            </a:r>
            <a:r>
              <a:rPr lang="zh-CN" altLang="en-US" sz="2000" dirty="0">
                <a:latin typeface="+mn-lt"/>
                <a:ea typeface="+mn-ea"/>
              </a:rPr>
              <a:t>高阶比特</a:t>
            </a:r>
            <a:r>
              <a:rPr lang="en-US" altLang="zh-CN" sz="2000" dirty="0">
                <a:latin typeface="+mn-lt"/>
                <a:ea typeface="+mn-ea"/>
              </a:rPr>
              <a:t>)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主机部分</a:t>
            </a:r>
            <a:r>
              <a:rPr lang="en-US" altLang="zh-CN" sz="2000" dirty="0">
                <a:latin typeface="+mn-lt"/>
                <a:ea typeface="+mn-ea"/>
              </a:rPr>
              <a:t>(</a:t>
            </a:r>
            <a:r>
              <a:rPr lang="zh-CN" altLang="en-US" sz="2000" dirty="0">
                <a:latin typeface="+mn-lt"/>
                <a:ea typeface="+mn-ea"/>
              </a:rPr>
              <a:t>低阶比特</a:t>
            </a:r>
            <a:r>
              <a:rPr lang="en-US" altLang="zh-CN" sz="2000" dirty="0">
                <a:latin typeface="+mn-lt"/>
                <a:ea typeface="+mn-ea"/>
              </a:rPr>
              <a:t>) 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zh-CN" altLang="en-US" sz="2400" i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什么是子网 </a:t>
            </a:r>
            <a:r>
              <a:rPr lang="en-US" altLang="zh-CN" sz="2400" i="1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?</a:t>
            </a:r>
            <a:endParaRPr lang="en-US" altLang="zh-CN" sz="2400" i="1" dirty="0">
              <a:solidFill>
                <a:schemeClr val="accent2"/>
              </a:solidFill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具有</a:t>
            </a:r>
            <a:r>
              <a:rPr lang="en-US" altLang="zh-CN" sz="2000" dirty="0">
                <a:latin typeface="+mn-lt"/>
                <a:ea typeface="+mn-ea"/>
              </a:rPr>
              <a:t>IP</a:t>
            </a:r>
            <a:r>
              <a:rPr lang="zh-CN" altLang="en-US" sz="2000" dirty="0">
                <a:latin typeface="+mn-lt"/>
                <a:ea typeface="+mn-ea"/>
              </a:rPr>
              <a:t>地址相同的子网部分的设备接口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能够物理上互相到达而没有中间路由器</a:t>
            </a:r>
            <a:endParaRPr lang="en-US" altLang="zh-CN" sz="2000" dirty="0">
              <a:latin typeface="+mn-lt"/>
              <a:ea typeface="+mn-ea"/>
            </a:endParaRPr>
          </a:p>
        </p:txBody>
      </p:sp>
      <p:graphicFrame>
        <p:nvGraphicFramePr>
          <p:cNvPr id="8194" name="Object 7"/>
          <p:cNvGraphicFramePr/>
          <p:nvPr/>
        </p:nvGraphicFramePr>
        <p:xfrm>
          <a:off x="4456113" y="12652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1" imgW="1305560" imgH="1082675" progId="MS_ClipArt_Gallery.2">
                  <p:embed/>
                </p:oleObj>
              </mc:Choice>
              <mc:Fallback>
                <p:oleObj name="" r:id="rId1" imgW="1305560" imgH="1082675" progId="MS_ClipArt_Gallery.2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126523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8" name="Line 8"/>
          <p:cNvSpPr/>
          <p:nvPr/>
        </p:nvSpPr>
        <p:spPr>
          <a:xfrm>
            <a:off x="5016500" y="1638300"/>
            <a:ext cx="277813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09" name="Line 9"/>
          <p:cNvSpPr/>
          <p:nvPr/>
        </p:nvSpPr>
        <p:spPr>
          <a:xfrm flipH="1">
            <a:off x="5307013" y="1624013"/>
            <a:ext cx="0" cy="12906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0" name="Line 10"/>
          <p:cNvSpPr/>
          <p:nvPr/>
        </p:nvSpPr>
        <p:spPr>
          <a:xfrm flipV="1">
            <a:off x="5016500" y="2282825"/>
            <a:ext cx="277813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11" name="Line 11"/>
          <p:cNvSpPr/>
          <p:nvPr/>
        </p:nvSpPr>
        <p:spPr>
          <a:xfrm>
            <a:off x="5026025" y="2909888"/>
            <a:ext cx="27305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8195" name="Object 12"/>
          <p:cNvGraphicFramePr/>
          <p:nvPr/>
        </p:nvGraphicFramePr>
        <p:xfrm>
          <a:off x="4456113" y="19319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" r:id="rId3" imgW="1305560" imgH="1082675" progId="MS_ClipArt_Gallery.2">
                  <p:embed/>
                </p:oleObj>
              </mc:Choice>
              <mc:Fallback>
                <p:oleObj name="" r:id="rId3" imgW="1305560" imgH="1082675" progId="MS_ClipArt_Gallery.2">
                  <p:embed/>
                  <p:pic>
                    <p:nvPicPr>
                      <p:cNvPr id="0" name="图片 309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19319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13"/>
          <p:cNvGraphicFramePr/>
          <p:nvPr/>
        </p:nvGraphicFramePr>
        <p:xfrm>
          <a:off x="4456113" y="25415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7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09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56113" y="25415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12" name="Line 14"/>
          <p:cNvSpPr/>
          <p:nvPr/>
        </p:nvSpPr>
        <p:spPr>
          <a:xfrm>
            <a:off x="5307013" y="2481263"/>
            <a:ext cx="10350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8213" name="Group 15"/>
          <p:cNvGrpSpPr/>
          <p:nvPr/>
        </p:nvGrpSpPr>
        <p:grpSpPr>
          <a:xfrm>
            <a:off x="6249988" y="2446338"/>
            <a:ext cx="711200" cy="381000"/>
            <a:chOff x="3600" y="219"/>
            <a:chExt cx="360" cy="175"/>
          </a:xfrm>
        </p:grpSpPr>
        <p:sp>
          <p:nvSpPr>
            <p:cNvPr id="8240" name="Oval 16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8241" name="Line 17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2" name="Line 18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243" name="Rectangle 19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8244" name="Oval 20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8245" name="Group 21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8250" name="Line 22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51" name="Line 23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52" name="Line 24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8246" name="Group 25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8247" name="Line 2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8" name="Line 2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8249" name="Line 2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8214" name="Text Box 29"/>
          <p:cNvSpPr txBox="1"/>
          <p:nvPr/>
        </p:nvSpPr>
        <p:spPr>
          <a:xfrm>
            <a:off x="4975225" y="13128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15" name="Rectangle 30"/>
          <p:cNvSpPr/>
          <p:nvPr/>
        </p:nvSpPr>
        <p:spPr>
          <a:xfrm>
            <a:off x="5062538" y="2033588"/>
            <a:ext cx="309562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16" name="Text Box 31"/>
          <p:cNvSpPr txBox="1"/>
          <p:nvPr/>
        </p:nvSpPr>
        <p:spPr>
          <a:xfrm>
            <a:off x="4976813" y="19415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17" name="Text Box 32"/>
          <p:cNvSpPr txBox="1"/>
          <p:nvPr/>
        </p:nvSpPr>
        <p:spPr>
          <a:xfrm>
            <a:off x="4860925" y="28940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223.1.1.3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18" name="Text Box 33"/>
          <p:cNvSpPr txBox="1"/>
          <p:nvPr/>
        </p:nvSpPr>
        <p:spPr>
          <a:xfrm>
            <a:off x="5651500" y="2222500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223.1.1.4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19" name="Line 34"/>
          <p:cNvSpPr/>
          <p:nvPr/>
        </p:nvSpPr>
        <p:spPr>
          <a:xfrm>
            <a:off x="6854825" y="2490788"/>
            <a:ext cx="101600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0" name="Text Box 35"/>
          <p:cNvSpPr txBox="1"/>
          <p:nvPr/>
        </p:nvSpPr>
        <p:spPr>
          <a:xfrm>
            <a:off x="6727825" y="2212975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223.1.2.9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21" name="Line 36"/>
          <p:cNvSpPr/>
          <p:nvPr/>
        </p:nvSpPr>
        <p:spPr>
          <a:xfrm flipH="1">
            <a:off x="7878763" y="1795463"/>
            <a:ext cx="0" cy="129063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8197" name="Object 37"/>
          <p:cNvGraphicFramePr/>
          <p:nvPr/>
        </p:nvGraphicFramePr>
        <p:xfrm>
          <a:off x="8056563" y="150336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8" name="" r:id="rId5" imgW="1305560" imgH="1082675" progId="MS_ClipArt_Gallery.2">
                  <p:embed/>
                </p:oleObj>
              </mc:Choice>
              <mc:Fallback>
                <p:oleObj name="" r:id="rId5" imgW="1305560" imgH="1082675" progId="MS_ClipArt_Gallery.2">
                  <p:embed/>
                  <p:pic>
                    <p:nvPicPr>
                      <p:cNvPr id="0" name="图片 309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56563" y="1503363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2" name="Line 38"/>
          <p:cNvSpPr/>
          <p:nvPr/>
        </p:nvSpPr>
        <p:spPr>
          <a:xfrm>
            <a:off x="7878763" y="1800225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8198" name="Object 39"/>
          <p:cNvGraphicFramePr/>
          <p:nvPr/>
        </p:nvGraphicFramePr>
        <p:xfrm>
          <a:off x="8061325" y="28844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9" name="" r:id="rId6" imgW="1305560" imgH="1082675" progId="MS_ClipArt_Gallery.2">
                  <p:embed/>
                </p:oleObj>
              </mc:Choice>
              <mc:Fallback>
                <p:oleObj name="" r:id="rId6" imgW="1305560" imgH="1082675" progId="MS_ClipArt_Gallery.2">
                  <p:embed/>
                  <p:pic>
                    <p:nvPicPr>
                      <p:cNvPr id="0" name="图片 309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061325" y="28844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23" name="Line 40"/>
          <p:cNvSpPr/>
          <p:nvPr/>
        </p:nvSpPr>
        <p:spPr>
          <a:xfrm>
            <a:off x="7878763" y="3071813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4" name="Rectangle 41"/>
          <p:cNvSpPr/>
          <p:nvPr/>
        </p:nvSpPr>
        <p:spPr>
          <a:xfrm>
            <a:off x="7824788" y="2819400"/>
            <a:ext cx="171450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25" name="Text Box 42"/>
          <p:cNvSpPr txBox="1"/>
          <p:nvPr/>
        </p:nvSpPr>
        <p:spPr>
          <a:xfrm>
            <a:off x="7251700" y="2757488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26" name="Rectangle 43"/>
          <p:cNvSpPr/>
          <p:nvPr/>
        </p:nvSpPr>
        <p:spPr>
          <a:xfrm>
            <a:off x="7839075" y="1847850"/>
            <a:ext cx="247650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27" name="Text Box 44"/>
          <p:cNvSpPr txBox="1"/>
          <p:nvPr/>
        </p:nvSpPr>
        <p:spPr>
          <a:xfrm>
            <a:off x="7061200" y="17510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28" name="Line 45"/>
          <p:cNvSpPr/>
          <p:nvPr/>
        </p:nvSpPr>
        <p:spPr>
          <a:xfrm flipH="1">
            <a:off x="6616700" y="2828925"/>
            <a:ext cx="0" cy="129063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29" name="Line 46"/>
          <p:cNvSpPr/>
          <p:nvPr/>
        </p:nvSpPr>
        <p:spPr>
          <a:xfrm flipH="1">
            <a:off x="6007100" y="4110038"/>
            <a:ext cx="1185863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0" name="Line 47"/>
          <p:cNvSpPr/>
          <p:nvPr/>
        </p:nvSpPr>
        <p:spPr>
          <a:xfrm flipH="1" flipV="1">
            <a:off x="6003925" y="4102100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231" name="Line 48"/>
          <p:cNvSpPr/>
          <p:nvPr/>
        </p:nvSpPr>
        <p:spPr>
          <a:xfrm flipH="1" flipV="1">
            <a:off x="7180263" y="4106863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8199" name="Object 49"/>
          <p:cNvGraphicFramePr/>
          <p:nvPr/>
        </p:nvGraphicFramePr>
        <p:xfrm>
          <a:off x="6965950" y="426561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" r:id="rId7" imgW="1305560" imgH="1082675" progId="MS_ClipArt_Gallery.2">
                  <p:embed/>
                </p:oleObj>
              </mc:Choice>
              <mc:Fallback>
                <p:oleObj name="" r:id="rId7" imgW="1305560" imgH="1082675" progId="MS_ClipArt_Gallery.2">
                  <p:embed/>
                  <p:pic>
                    <p:nvPicPr>
                      <p:cNvPr id="0" name="图片 310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65950" y="4265613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00" name="Object 50"/>
          <p:cNvGraphicFramePr/>
          <p:nvPr/>
        </p:nvGraphicFramePr>
        <p:xfrm>
          <a:off x="5708650" y="4279900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0" name="" r:id="rId8" imgW="1305560" imgH="1082675" progId="MS_ClipArt_Gallery.2">
                  <p:embed/>
                </p:oleObj>
              </mc:Choice>
              <mc:Fallback>
                <p:oleObj name="" r:id="rId8" imgW="1305560" imgH="1082675" progId="MS_ClipArt_Gallery.2">
                  <p:embed/>
                  <p:pic>
                    <p:nvPicPr>
                      <p:cNvPr id="0" name="图片 309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08650" y="4279900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32" name="Text Box 51"/>
          <p:cNvSpPr txBox="1"/>
          <p:nvPr/>
        </p:nvSpPr>
        <p:spPr>
          <a:xfrm>
            <a:off x="7185025" y="3956050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33" name="Rectangle 52"/>
          <p:cNvSpPr/>
          <p:nvPr/>
        </p:nvSpPr>
        <p:spPr>
          <a:xfrm>
            <a:off x="4848225" y="3829050"/>
            <a:ext cx="847725" cy="1809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34" name="Text Box 53"/>
          <p:cNvSpPr txBox="1"/>
          <p:nvPr/>
        </p:nvSpPr>
        <p:spPr>
          <a:xfrm>
            <a:off x="5008563" y="3994150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35" name="Rectangle 54"/>
          <p:cNvSpPr/>
          <p:nvPr/>
        </p:nvSpPr>
        <p:spPr>
          <a:xfrm>
            <a:off x="6553200" y="2962275"/>
            <a:ext cx="128588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8236" name="Text Box 55"/>
          <p:cNvSpPr txBox="1"/>
          <p:nvPr/>
        </p:nvSpPr>
        <p:spPr>
          <a:xfrm>
            <a:off x="6115050" y="2922588"/>
            <a:ext cx="114458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223.1.3.27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37" name="Text Box 56"/>
          <p:cNvSpPr txBox="1"/>
          <p:nvPr/>
        </p:nvSpPr>
        <p:spPr>
          <a:xfrm>
            <a:off x="5305425" y="5027613"/>
            <a:ext cx="23717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dirty="0">
                <a:latin typeface="Comic Sans MS" panose="030F0702030302020204" pitchFamily="66" charset="0"/>
              </a:rPr>
              <a:t>网络由</a:t>
            </a:r>
            <a:r>
              <a:rPr lang="en-US" altLang="zh-CN" sz="2000" dirty="0">
                <a:latin typeface="Comic Sans MS" panose="030F0702030302020204" pitchFamily="66" charset="0"/>
              </a:rPr>
              <a:t>3</a:t>
            </a:r>
            <a:r>
              <a:rPr lang="zh-CN" altLang="en-US" sz="2000" dirty="0">
                <a:latin typeface="Comic Sans MS" panose="030F0702030302020204" pitchFamily="66" charset="0"/>
              </a:rPr>
              <a:t>个子网组成</a:t>
            </a:r>
            <a:endParaRPr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8238" name="Text Box 57"/>
          <p:cNvSpPr txBox="1"/>
          <p:nvPr/>
        </p:nvSpPr>
        <p:spPr>
          <a:xfrm>
            <a:off x="6842125" y="3432175"/>
            <a:ext cx="65881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LAN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8239" name="Line 58"/>
          <p:cNvSpPr/>
          <p:nvPr/>
        </p:nvSpPr>
        <p:spPr>
          <a:xfrm flipH="1">
            <a:off x="6705600" y="3695700"/>
            <a:ext cx="171450" cy="3048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25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9226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9227" name="Rectangle 5"/>
          <p:cNvSpPr>
            <a:spLocks noGrp="1"/>
          </p:cNvSpPr>
          <p:nvPr>
            <p:ph type="title"/>
          </p:nvPr>
        </p:nvSpPr>
        <p:spPr>
          <a:xfrm>
            <a:off x="503238" y="155575"/>
            <a:ext cx="5208587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子网</a:t>
            </a:r>
            <a:endParaRPr lang="zh-CN" altLang="en-US" dirty="0"/>
          </a:p>
        </p:txBody>
      </p:sp>
      <p:sp>
        <p:nvSpPr>
          <p:cNvPr id="9228" name="Rectangle 6"/>
          <p:cNvSpPr>
            <a:spLocks noGrp="1"/>
          </p:cNvSpPr>
          <p:nvPr>
            <p:ph sz="half" idx="1"/>
          </p:nvPr>
        </p:nvSpPr>
        <p:spPr>
          <a:xfrm>
            <a:off x="476250" y="1333500"/>
            <a:ext cx="36957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endParaRPr lang="zh-CN" altLang="en-US" sz="2400" dirty="0">
              <a:latin typeface="+mn-lt"/>
              <a:ea typeface="+mn-ea"/>
              <a:cs typeface="+mn-cs"/>
            </a:endParaRPr>
          </a:p>
        </p:txBody>
      </p:sp>
      <p:grpSp>
        <p:nvGrpSpPr>
          <p:cNvPr id="9229" name="Group 59"/>
          <p:cNvGrpSpPr/>
          <p:nvPr/>
        </p:nvGrpSpPr>
        <p:grpSpPr>
          <a:xfrm>
            <a:off x="4506913" y="460375"/>
            <a:ext cx="4422775" cy="4413250"/>
            <a:chOff x="2758" y="589"/>
            <a:chExt cx="2786" cy="2780"/>
          </a:xfrm>
        </p:grpSpPr>
        <p:sp>
          <p:nvSpPr>
            <p:cNvPr id="9232" name="Freeform 2"/>
            <p:cNvSpPr/>
            <p:nvPr/>
          </p:nvSpPr>
          <p:spPr>
            <a:xfrm>
              <a:off x="2758" y="731"/>
              <a:ext cx="1223" cy="1291"/>
            </a:xfrm>
            <a:custGeom>
              <a:avLst/>
              <a:gdLst>
                <a:gd name="txL" fmla="*/ 0 w 1223"/>
                <a:gd name="txT" fmla="*/ 0 h 1291"/>
                <a:gd name="txR" fmla="*/ 1223 w 1223"/>
                <a:gd name="txB" fmla="*/ 1291 h 1291"/>
              </a:gdLst>
              <a:ahLst/>
              <a:cxnLst>
                <a:cxn ang="0">
                  <a:pos x="1201" y="756"/>
                </a:cxn>
                <a:cxn ang="0">
                  <a:pos x="702" y="670"/>
                </a:cxn>
                <a:cxn ang="0">
                  <a:pos x="608" y="103"/>
                </a:cxn>
                <a:cxn ang="0">
                  <a:pos x="335" y="52"/>
                </a:cxn>
                <a:cxn ang="0">
                  <a:pos x="65" y="82"/>
                </a:cxn>
                <a:cxn ang="0">
                  <a:pos x="41" y="544"/>
                </a:cxn>
                <a:cxn ang="0">
                  <a:pos x="38" y="751"/>
                </a:cxn>
                <a:cxn ang="0">
                  <a:pos x="23" y="940"/>
                </a:cxn>
                <a:cxn ang="0">
                  <a:pos x="17" y="1114"/>
                </a:cxn>
                <a:cxn ang="0">
                  <a:pos x="128" y="1219"/>
                </a:cxn>
                <a:cxn ang="0">
                  <a:pos x="602" y="1243"/>
                </a:cxn>
                <a:cxn ang="0">
                  <a:pos x="686" y="930"/>
                </a:cxn>
                <a:cxn ang="0">
                  <a:pos x="1177" y="916"/>
                </a:cxn>
                <a:cxn ang="0">
                  <a:pos x="1201" y="756"/>
                </a:cxn>
              </a:cxnLst>
              <a:rect l="txL" t="txT" r="txR" b="txB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9233" name="Freeform 3"/>
            <p:cNvSpPr/>
            <p:nvPr/>
          </p:nvSpPr>
          <p:spPr>
            <a:xfrm>
              <a:off x="4343" y="912"/>
              <a:ext cx="1201" cy="1234"/>
            </a:xfrm>
            <a:custGeom>
              <a:avLst/>
              <a:gdLst>
                <a:gd name="txL" fmla="*/ 0 w 1201"/>
                <a:gd name="txT" fmla="*/ 0 h 1234"/>
                <a:gd name="txR" fmla="*/ 1201 w 1201"/>
                <a:gd name="txB" fmla="*/ 1234 h 1234"/>
              </a:gdLst>
              <a:ahLst/>
              <a:cxnLst>
                <a:cxn ang="0">
                  <a:pos x="25" y="709"/>
                </a:cxn>
                <a:cxn ang="0">
                  <a:pos x="526" y="780"/>
                </a:cxn>
                <a:cxn ang="0">
                  <a:pos x="613" y="1134"/>
                </a:cxn>
                <a:cxn ang="0">
                  <a:pos x="946" y="1230"/>
                </a:cxn>
                <a:cxn ang="0">
                  <a:pos x="1171" y="1107"/>
                </a:cxn>
                <a:cxn ang="0">
                  <a:pos x="1126" y="894"/>
                </a:cxn>
                <a:cxn ang="0">
                  <a:pos x="1114" y="693"/>
                </a:cxn>
                <a:cxn ang="0">
                  <a:pos x="1099" y="423"/>
                </a:cxn>
                <a:cxn ang="0">
                  <a:pos x="1141" y="216"/>
                </a:cxn>
                <a:cxn ang="0">
                  <a:pos x="1102" y="33"/>
                </a:cxn>
                <a:cxn ang="0">
                  <a:pos x="646" y="81"/>
                </a:cxn>
                <a:cxn ang="0">
                  <a:pos x="535" y="519"/>
                </a:cxn>
                <a:cxn ang="0">
                  <a:pos x="44" y="548"/>
                </a:cxn>
                <a:cxn ang="0">
                  <a:pos x="25" y="709"/>
                </a:cxn>
              </a:cxnLst>
              <a:rect l="txL" t="txT" r="txR" b="txB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9234" name="Freeform 4"/>
            <p:cNvSpPr/>
            <p:nvPr/>
          </p:nvSpPr>
          <p:spPr>
            <a:xfrm>
              <a:off x="3514" y="1815"/>
              <a:ext cx="1286" cy="1247"/>
            </a:xfrm>
            <a:custGeom>
              <a:avLst/>
              <a:gdLst>
                <a:gd name="txL" fmla="*/ 0 w 1286"/>
                <a:gd name="txT" fmla="*/ 0 h 1247"/>
                <a:gd name="txR" fmla="*/ 1286 w 1286"/>
                <a:gd name="txB" fmla="*/ 1247 h 1247"/>
              </a:gdLst>
              <a:ahLst/>
              <a:cxnLst>
                <a:cxn ang="0">
                  <a:pos x="587" y="30"/>
                </a:cxn>
                <a:cxn ang="0">
                  <a:pos x="509" y="618"/>
                </a:cxn>
                <a:cxn ang="0">
                  <a:pos x="77" y="909"/>
                </a:cxn>
                <a:cxn ang="0">
                  <a:pos x="47" y="1095"/>
                </a:cxn>
                <a:cxn ang="0">
                  <a:pos x="140" y="1224"/>
                </a:cxn>
                <a:cxn ang="0">
                  <a:pos x="461" y="1209"/>
                </a:cxn>
                <a:cxn ang="0">
                  <a:pos x="692" y="1209"/>
                </a:cxn>
                <a:cxn ang="0">
                  <a:pos x="1190" y="1227"/>
                </a:cxn>
                <a:cxn ang="0">
                  <a:pos x="1271" y="1089"/>
                </a:cxn>
                <a:cxn ang="0">
                  <a:pos x="1139" y="741"/>
                </a:cxn>
                <a:cxn ang="0">
                  <a:pos x="800" y="627"/>
                </a:cxn>
                <a:cxn ang="0">
                  <a:pos x="749" y="42"/>
                </a:cxn>
                <a:cxn ang="0">
                  <a:pos x="587" y="30"/>
                </a:cxn>
              </a:cxnLst>
              <a:rect l="txL" t="txT" r="txR" b="txB"/>
              <a:pathLst>
                <a:path w="1286" h="1247">
                  <a:moveTo>
                    <a:pt x="587" y="30"/>
                  </a:moveTo>
                  <a:cubicBezTo>
                    <a:pt x="473" y="60"/>
                    <a:pt x="601" y="475"/>
                    <a:pt x="509" y="618"/>
                  </a:cubicBezTo>
                  <a:cubicBezTo>
                    <a:pt x="424" y="765"/>
                    <a:pt x="154" y="830"/>
                    <a:pt x="77" y="909"/>
                  </a:cubicBezTo>
                  <a:cubicBezTo>
                    <a:pt x="0" y="988"/>
                    <a:pt x="37" y="1043"/>
                    <a:pt x="47" y="1095"/>
                  </a:cubicBezTo>
                  <a:cubicBezTo>
                    <a:pt x="57" y="1147"/>
                    <a:pt x="71" y="1205"/>
                    <a:pt x="140" y="1224"/>
                  </a:cubicBezTo>
                  <a:cubicBezTo>
                    <a:pt x="209" y="1243"/>
                    <a:pt x="369" y="1212"/>
                    <a:pt x="461" y="1209"/>
                  </a:cubicBezTo>
                  <a:cubicBezTo>
                    <a:pt x="553" y="1206"/>
                    <a:pt x="571" y="1206"/>
                    <a:pt x="692" y="1209"/>
                  </a:cubicBezTo>
                  <a:cubicBezTo>
                    <a:pt x="813" y="1212"/>
                    <a:pt x="1094" y="1247"/>
                    <a:pt x="1190" y="1227"/>
                  </a:cubicBezTo>
                  <a:cubicBezTo>
                    <a:pt x="1286" y="1207"/>
                    <a:pt x="1279" y="1170"/>
                    <a:pt x="1271" y="1089"/>
                  </a:cubicBezTo>
                  <a:cubicBezTo>
                    <a:pt x="1263" y="1008"/>
                    <a:pt x="1217" y="818"/>
                    <a:pt x="1139" y="741"/>
                  </a:cubicBezTo>
                  <a:cubicBezTo>
                    <a:pt x="1061" y="664"/>
                    <a:pt x="865" y="743"/>
                    <a:pt x="800" y="627"/>
                  </a:cubicBezTo>
                  <a:cubicBezTo>
                    <a:pt x="735" y="511"/>
                    <a:pt x="785" y="142"/>
                    <a:pt x="749" y="42"/>
                  </a:cubicBezTo>
                  <a:cubicBezTo>
                    <a:pt x="695" y="15"/>
                    <a:pt x="701" y="0"/>
                    <a:pt x="587" y="30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aphicFrame>
          <p:nvGraphicFramePr>
            <p:cNvPr id="9218" name="Object 7"/>
            <p:cNvGraphicFramePr/>
            <p:nvPr/>
          </p:nvGraphicFramePr>
          <p:xfrm>
            <a:off x="2807" y="79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2" name="" r:id="rId1" imgW="1305560" imgH="1082675" progId="MS_ClipArt_Gallery.2">
                    <p:embed/>
                  </p:oleObj>
                </mc:Choice>
                <mc:Fallback>
                  <p:oleObj name="" r:id="rId1" imgW="1305560" imgH="1082675" progId="MS_ClipArt_Gallery.2">
                    <p:embed/>
                    <p:pic>
                      <p:nvPicPr>
                        <p:cNvPr id="0" name="图片 3101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07" y="79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5" name="Line 8"/>
            <p:cNvSpPr/>
            <p:nvPr/>
          </p:nvSpPr>
          <p:spPr>
            <a:xfrm>
              <a:off x="3160" y="1032"/>
              <a:ext cx="175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6" name="Line 9"/>
            <p:cNvSpPr/>
            <p:nvPr/>
          </p:nvSpPr>
          <p:spPr>
            <a:xfrm flipH="1">
              <a:off x="3343" y="1023"/>
              <a:ext cx="0" cy="8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7" name="Line 10"/>
            <p:cNvSpPr/>
            <p:nvPr/>
          </p:nvSpPr>
          <p:spPr>
            <a:xfrm flipV="1">
              <a:off x="3160" y="1438"/>
              <a:ext cx="175" cy="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38" name="Line 11"/>
            <p:cNvSpPr/>
            <p:nvPr/>
          </p:nvSpPr>
          <p:spPr>
            <a:xfrm>
              <a:off x="3166" y="1833"/>
              <a:ext cx="172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219" name="Object 12"/>
            <p:cNvGraphicFramePr/>
            <p:nvPr/>
          </p:nvGraphicFramePr>
          <p:xfrm>
            <a:off x="2807" y="121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4" name="" r:id="rId3" imgW="1305560" imgH="1082675" progId="MS_ClipArt_Gallery.2">
                    <p:embed/>
                  </p:oleObj>
                </mc:Choice>
                <mc:Fallback>
                  <p:oleObj name="" r:id="rId3" imgW="1305560" imgH="1082675" progId="MS_ClipArt_Gallery.2">
                    <p:embed/>
                    <p:pic>
                      <p:nvPicPr>
                        <p:cNvPr id="0" name="图片 3103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07" y="121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0" name="Object 13"/>
            <p:cNvGraphicFramePr/>
            <p:nvPr/>
          </p:nvGraphicFramePr>
          <p:xfrm>
            <a:off x="2807" y="1601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3" name="" r:id="rId4" imgW="1305560" imgH="1082675" progId="MS_ClipArt_Gallery.2">
                    <p:embed/>
                  </p:oleObj>
                </mc:Choice>
                <mc:Fallback>
                  <p:oleObj name="" r:id="rId4" imgW="1305560" imgH="1082675" progId="MS_ClipArt_Gallery.2">
                    <p:embed/>
                    <p:pic>
                      <p:nvPicPr>
                        <p:cNvPr id="0" name="图片 3102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2807" y="1601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39" name="Line 14"/>
            <p:cNvSpPr/>
            <p:nvPr/>
          </p:nvSpPr>
          <p:spPr>
            <a:xfrm>
              <a:off x="3343" y="1563"/>
              <a:ext cx="652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pSp>
          <p:nvGrpSpPr>
            <p:cNvPr id="9240" name="Group 15"/>
            <p:cNvGrpSpPr/>
            <p:nvPr/>
          </p:nvGrpSpPr>
          <p:grpSpPr>
            <a:xfrm>
              <a:off x="3937" y="1541"/>
              <a:ext cx="448" cy="240"/>
              <a:chOff x="3600" y="219"/>
              <a:chExt cx="360" cy="175"/>
            </a:xfrm>
          </p:grpSpPr>
          <p:sp>
            <p:nvSpPr>
              <p:cNvPr id="9253" name="Oval 16"/>
              <p:cNvSpPr/>
              <p:nvPr/>
            </p:nvSpPr>
            <p:spPr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9254" name="Line 17"/>
              <p:cNvSpPr/>
              <p:nvPr/>
            </p:nvSpPr>
            <p:spPr>
              <a:xfrm>
                <a:off x="3603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5" name="Line 18"/>
              <p:cNvSpPr/>
              <p:nvPr/>
            </p:nvSpPr>
            <p:spPr>
              <a:xfrm>
                <a:off x="3960" y="289"/>
                <a:ext cx="0" cy="60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9256" name="Rectangle 19"/>
              <p:cNvSpPr/>
              <p:nvPr/>
            </p:nvSpPr>
            <p:spPr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57" name="Oval 20"/>
              <p:cNvSpPr/>
              <p:nvPr/>
            </p:nvSpPr>
            <p:spPr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9258" name="Group 21"/>
              <p:cNvGrpSpPr/>
              <p:nvPr/>
            </p:nvGrpSpPr>
            <p:grpSpPr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9263" name="Line 2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64" name="Line 2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65" name="Line 2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9259" name="Group 25"/>
              <p:cNvGrpSpPr/>
              <p:nvPr/>
            </p:nvGrpSpPr>
            <p:grpSpPr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9260" name="Line 2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61" name="Line 2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9262" name="Line 2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9241" name="Text Box 33"/>
            <p:cNvSpPr txBox="1"/>
            <p:nvPr/>
          </p:nvSpPr>
          <p:spPr>
            <a:xfrm>
              <a:off x="3243" y="589"/>
              <a:ext cx="82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223.1.1.0/24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  <p:sp>
          <p:nvSpPr>
            <p:cNvPr id="9242" name="Line 34"/>
            <p:cNvSpPr/>
            <p:nvPr/>
          </p:nvSpPr>
          <p:spPr>
            <a:xfrm>
              <a:off x="4318" y="1569"/>
              <a:ext cx="640" cy="1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3" name="Text Box 35"/>
            <p:cNvSpPr txBox="1"/>
            <p:nvPr/>
          </p:nvSpPr>
          <p:spPr>
            <a:xfrm>
              <a:off x="4668" y="672"/>
              <a:ext cx="82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223.1.2.0/24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  <p:sp>
          <p:nvSpPr>
            <p:cNvPr id="9244" name="Line 36"/>
            <p:cNvSpPr/>
            <p:nvPr/>
          </p:nvSpPr>
          <p:spPr>
            <a:xfrm flipH="1">
              <a:off x="4963" y="1131"/>
              <a:ext cx="0" cy="8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221" name="Object 37"/>
            <p:cNvGraphicFramePr/>
            <p:nvPr/>
          </p:nvGraphicFramePr>
          <p:xfrm>
            <a:off x="5075" y="94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6" name="" r:id="rId5" imgW="1305560" imgH="1082675" progId="MS_ClipArt_Gallery.2">
                    <p:embed/>
                  </p:oleObj>
                </mc:Choice>
                <mc:Fallback>
                  <p:oleObj name="" r:id="rId5" imgW="1305560" imgH="1082675" progId="MS_ClipArt_Gallery.2">
                    <p:embed/>
                    <p:pic>
                      <p:nvPicPr>
                        <p:cNvPr id="0" name="图片 3105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075" y="94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5" name="Line 38"/>
            <p:cNvSpPr/>
            <p:nvPr/>
          </p:nvSpPr>
          <p:spPr>
            <a:xfrm>
              <a:off x="4963" y="1134"/>
              <a:ext cx="148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222" name="Object 39"/>
            <p:cNvGraphicFramePr/>
            <p:nvPr/>
          </p:nvGraphicFramePr>
          <p:xfrm>
            <a:off x="5078" y="181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7" name="" r:id="rId6" imgW="1305560" imgH="1082675" progId="MS_ClipArt_Gallery.2">
                    <p:embed/>
                  </p:oleObj>
                </mc:Choice>
                <mc:Fallback>
                  <p:oleObj name="" r:id="rId6" imgW="1305560" imgH="1082675" progId="MS_ClipArt_Gallery.2">
                    <p:embed/>
                    <p:pic>
                      <p:nvPicPr>
                        <p:cNvPr id="0" name="图片 3106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5078" y="181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46" name="Line 40"/>
            <p:cNvSpPr/>
            <p:nvPr/>
          </p:nvSpPr>
          <p:spPr>
            <a:xfrm>
              <a:off x="4963" y="1935"/>
              <a:ext cx="148" cy="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7" name="Line 45"/>
            <p:cNvSpPr/>
            <p:nvPr/>
          </p:nvSpPr>
          <p:spPr>
            <a:xfrm flipH="1">
              <a:off x="4168" y="1782"/>
              <a:ext cx="0" cy="813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8" name="Line 46"/>
            <p:cNvSpPr/>
            <p:nvPr/>
          </p:nvSpPr>
          <p:spPr>
            <a:xfrm flipH="1">
              <a:off x="3784" y="2589"/>
              <a:ext cx="747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49" name="Line 47"/>
            <p:cNvSpPr/>
            <p:nvPr/>
          </p:nvSpPr>
          <p:spPr>
            <a:xfrm flipH="1" flipV="1">
              <a:off x="3782" y="2584"/>
              <a:ext cx="2" cy="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9250" name="Line 48"/>
            <p:cNvSpPr/>
            <p:nvPr/>
          </p:nvSpPr>
          <p:spPr>
            <a:xfrm flipH="1" flipV="1">
              <a:off x="4523" y="2587"/>
              <a:ext cx="2" cy="152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graphicFrame>
          <p:nvGraphicFramePr>
            <p:cNvPr id="9223" name="Object 49"/>
            <p:cNvGraphicFramePr/>
            <p:nvPr/>
          </p:nvGraphicFramePr>
          <p:xfrm>
            <a:off x="4388" y="2687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5" name="" r:id="rId7" imgW="1305560" imgH="1082675" progId="MS_ClipArt_Gallery.2">
                    <p:embed/>
                  </p:oleObj>
                </mc:Choice>
                <mc:Fallback>
                  <p:oleObj name="" r:id="rId7" imgW="1305560" imgH="1082675" progId="MS_ClipArt_Gallery.2">
                    <p:embed/>
                    <p:pic>
                      <p:nvPicPr>
                        <p:cNvPr id="0" name="图片 3104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388" y="2687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224" name="Object 50"/>
            <p:cNvGraphicFramePr/>
            <p:nvPr/>
          </p:nvGraphicFramePr>
          <p:xfrm>
            <a:off x="3596" y="2696"/>
            <a:ext cx="368" cy="2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108" name="" r:id="rId8" imgW="1305560" imgH="1082675" progId="MS_ClipArt_Gallery.2">
                    <p:embed/>
                  </p:oleObj>
                </mc:Choice>
                <mc:Fallback>
                  <p:oleObj name="" r:id="rId8" imgW="1305560" imgH="1082675" progId="MS_ClipArt_Gallery.2">
                    <p:embed/>
                    <p:pic>
                      <p:nvPicPr>
                        <p:cNvPr id="0" name="图片 3107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3596" y="2696"/>
                          <a:ext cx="368" cy="292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51" name="Text Box 51"/>
            <p:cNvSpPr txBox="1"/>
            <p:nvPr/>
          </p:nvSpPr>
          <p:spPr>
            <a:xfrm>
              <a:off x="3739" y="3157"/>
              <a:ext cx="828" cy="21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Arial" panose="020B0604020202020204" pitchFamily="34" charset="0"/>
                </a:rPr>
                <a:t>223.1.3.0/24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  <p:sp>
          <p:nvSpPr>
            <p:cNvPr id="9252" name="Rectangle 52"/>
            <p:cNvSpPr/>
            <p:nvPr/>
          </p:nvSpPr>
          <p:spPr>
            <a:xfrm>
              <a:off x="3054" y="2412"/>
              <a:ext cx="534" cy="114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9230" name="Rectangle 60"/>
          <p:cNvSpPr>
            <a:spLocks noGrp="1"/>
          </p:cNvSpPr>
          <p:nvPr>
            <p:ph sz="half" idx="2"/>
          </p:nvPr>
        </p:nvSpPr>
        <p:spPr>
          <a:xfrm>
            <a:off x="515938" y="1535113"/>
            <a:ext cx="38100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  <a:buFont typeface="ZapfDingbats" pitchFamily="82" charset="2"/>
              <a:buNone/>
            </a:pPr>
            <a:r>
              <a:rPr lang="zh-CN" altLang="en-US" sz="2400" u="sng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判断方法</a:t>
            </a:r>
            <a:endParaRPr lang="zh-CN" altLang="en-US" sz="2400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为了决定子网，从其主机或路由器分离每个接口，生成孤立网络的岛。每个孤立的网络被称为一个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子网</a:t>
            </a:r>
            <a:endParaRPr lang="en-US" altLang="zh-CN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231" name="Text Box 61"/>
          <p:cNvSpPr txBox="1"/>
          <p:nvPr/>
        </p:nvSpPr>
        <p:spPr>
          <a:xfrm>
            <a:off x="5537200" y="5073650"/>
            <a:ext cx="21113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dirty="0">
                <a:latin typeface="Comic Sans MS" panose="030F0702030302020204" pitchFamily="66" charset="0"/>
              </a:rPr>
              <a:t>子网掩码</a:t>
            </a:r>
            <a:r>
              <a:rPr lang="en-US" altLang="zh-CN" sz="2400" dirty="0">
                <a:latin typeface="Comic Sans MS" panose="030F0702030302020204" pitchFamily="66" charset="0"/>
              </a:rPr>
              <a:t>: /24</a:t>
            </a:r>
            <a:endParaRPr lang="en-US" altLang="zh-C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" y="215900"/>
            <a:ext cx="8528685" cy="646303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9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0250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0251" name="Freeform 2"/>
          <p:cNvSpPr/>
          <p:nvPr/>
        </p:nvSpPr>
        <p:spPr>
          <a:xfrm>
            <a:off x="6115050" y="2819400"/>
            <a:ext cx="1268413" cy="1463675"/>
          </a:xfrm>
          <a:custGeom>
            <a:avLst/>
            <a:gdLst>
              <a:gd name="txL" fmla="*/ 0 w 799"/>
              <a:gd name="txT" fmla="*/ 0 h 922"/>
              <a:gd name="txR" fmla="*/ 799 w 799"/>
              <a:gd name="txB" fmla="*/ 922 h 922"/>
            </a:gdLst>
            <a:ahLst/>
            <a:cxnLst>
              <a:cxn ang="0">
                <a:pos x="6" y="66"/>
              </a:cxn>
              <a:cxn ang="0">
                <a:pos x="341" y="446"/>
              </a:cxn>
              <a:cxn ang="0">
                <a:pos x="648" y="858"/>
              </a:cxn>
              <a:cxn ang="0">
                <a:pos x="768" y="828"/>
              </a:cxn>
              <a:cxn ang="0">
                <a:pos x="463" y="354"/>
              </a:cxn>
              <a:cxn ang="0">
                <a:pos x="60" y="0"/>
              </a:cxn>
              <a:cxn ang="0">
                <a:pos x="6" y="66"/>
              </a:cxn>
            </a:cxnLst>
            <a:rect l="txL" t="txT" r="txR" b="txB"/>
            <a:pathLst>
              <a:path w="799" h="922">
                <a:moveTo>
                  <a:pt x="6" y="66"/>
                </a:moveTo>
                <a:cubicBezTo>
                  <a:pt x="13" y="117"/>
                  <a:pt x="234" y="314"/>
                  <a:pt x="341" y="446"/>
                </a:cubicBezTo>
                <a:cubicBezTo>
                  <a:pt x="448" y="578"/>
                  <a:pt x="577" y="794"/>
                  <a:pt x="648" y="858"/>
                </a:cubicBezTo>
                <a:cubicBezTo>
                  <a:pt x="719" y="922"/>
                  <a:pt x="799" y="912"/>
                  <a:pt x="768" y="828"/>
                </a:cubicBezTo>
                <a:cubicBezTo>
                  <a:pt x="737" y="744"/>
                  <a:pt x="581" y="492"/>
                  <a:pt x="463" y="354"/>
                </a:cubicBezTo>
                <a:cubicBezTo>
                  <a:pt x="345" y="216"/>
                  <a:pt x="136" y="48"/>
                  <a:pt x="60" y="0"/>
                </a:cubicBezTo>
                <a:cubicBezTo>
                  <a:pt x="25" y="47"/>
                  <a:pt x="0" y="15"/>
                  <a:pt x="6" y="6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52" name="Freeform 3"/>
          <p:cNvSpPr/>
          <p:nvPr/>
        </p:nvSpPr>
        <p:spPr>
          <a:xfrm>
            <a:off x="4819650" y="4330700"/>
            <a:ext cx="2257425" cy="327025"/>
          </a:xfrm>
          <a:custGeom>
            <a:avLst/>
            <a:gdLst>
              <a:gd name="txL" fmla="*/ 0 w 1422"/>
              <a:gd name="txT" fmla="*/ 0 h 206"/>
              <a:gd name="txR" fmla="*/ 1422 w 1422"/>
              <a:gd name="txB" fmla="*/ 206 h 206"/>
            </a:gdLst>
            <a:ahLst/>
            <a:cxnLst>
              <a:cxn ang="0">
                <a:pos x="42" y="176"/>
              </a:cxn>
              <a:cxn ang="0">
                <a:pos x="641" y="166"/>
              </a:cxn>
              <a:cxn ang="0">
                <a:pos x="1266" y="170"/>
              </a:cxn>
              <a:cxn ang="0">
                <a:pos x="1320" y="32"/>
              </a:cxn>
              <a:cxn ang="0">
                <a:pos x="657" y="14"/>
              </a:cxn>
              <a:cxn ang="0">
                <a:pos x="45" y="27"/>
              </a:cxn>
              <a:cxn ang="0">
                <a:pos x="42" y="176"/>
              </a:cxn>
            </a:cxnLst>
            <a:rect l="txL" t="txT" r="txR" b="txB"/>
            <a:pathLst>
              <a:path w="1422" h="206">
                <a:moveTo>
                  <a:pt x="42" y="176"/>
                </a:moveTo>
                <a:cubicBezTo>
                  <a:pt x="84" y="206"/>
                  <a:pt x="437" y="167"/>
                  <a:pt x="641" y="166"/>
                </a:cubicBezTo>
                <a:cubicBezTo>
                  <a:pt x="845" y="165"/>
                  <a:pt x="1153" y="192"/>
                  <a:pt x="1266" y="170"/>
                </a:cubicBezTo>
                <a:cubicBezTo>
                  <a:pt x="1379" y="148"/>
                  <a:pt x="1422" y="58"/>
                  <a:pt x="1320" y="32"/>
                </a:cubicBezTo>
                <a:cubicBezTo>
                  <a:pt x="1218" y="6"/>
                  <a:pt x="869" y="15"/>
                  <a:pt x="657" y="14"/>
                </a:cubicBezTo>
                <a:cubicBezTo>
                  <a:pt x="445" y="13"/>
                  <a:pt x="147" y="0"/>
                  <a:pt x="45" y="27"/>
                </a:cubicBezTo>
                <a:cubicBezTo>
                  <a:pt x="56" y="84"/>
                  <a:pt x="0" y="146"/>
                  <a:pt x="42" y="17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53" name="Freeform 4"/>
          <p:cNvSpPr/>
          <p:nvPr/>
        </p:nvSpPr>
        <p:spPr>
          <a:xfrm>
            <a:off x="4562475" y="2743200"/>
            <a:ext cx="1158875" cy="1547813"/>
          </a:xfrm>
          <a:custGeom>
            <a:avLst/>
            <a:gdLst>
              <a:gd name="txL" fmla="*/ 0 w 730"/>
              <a:gd name="txT" fmla="*/ 0 h 975"/>
              <a:gd name="txR" fmla="*/ 730 w 730"/>
              <a:gd name="txB" fmla="*/ 975 h 975"/>
            </a:gdLst>
            <a:ahLst/>
            <a:cxnLst>
              <a:cxn ang="0">
                <a:pos x="157" y="952"/>
              </a:cxn>
              <a:cxn ang="0">
                <a:pos x="462" y="498"/>
              </a:cxn>
              <a:cxn ang="0">
                <a:pos x="708" y="144"/>
              </a:cxn>
              <a:cxn ang="0">
                <a:pos x="594" y="42"/>
              </a:cxn>
              <a:cxn ang="0">
                <a:pos x="348" y="396"/>
              </a:cxn>
              <a:cxn ang="0">
                <a:pos x="0" y="900"/>
              </a:cxn>
              <a:cxn ang="0">
                <a:pos x="157" y="952"/>
              </a:cxn>
            </a:cxnLst>
            <a:rect l="txL" t="txT" r="txR" b="txB"/>
            <a:pathLst>
              <a:path w="730" h="975">
                <a:moveTo>
                  <a:pt x="157" y="952"/>
                </a:moveTo>
                <a:cubicBezTo>
                  <a:pt x="272" y="930"/>
                  <a:pt x="357" y="644"/>
                  <a:pt x="462" y="498"/>
                </a:cubicBezTo>
                <a:cubicBezTo>
                  <a:pt x="554" y="363"/>
                  <a:pt x="686" y="220"/>
                  <a:pt x="708" y="144"/>
                </a:cubicBezTo>
                <a:cubicBezTo>
                  <a:pt x="730" y="68"/>
                  <a:pt x="654" y="0"/>
                  <a:pt x="594" y="42"/>
                </a:cubicBezTo>
                <a:cubicBezTo>
                  <a:pt x="534" y="84"/>
                  <a:pt x="447" y="253"/>
                  <a:pt x="348" y="396"/>
                </a:cubicBezTo>
                <a:cubicBezTo>
                  <a:pt x="249" y="539"/>
                  <a:pt x="32" y="807"/>
                  <a:pt x="0" y="900"/>
                </a:cubicBezTo>
                <a:cubicBezTo>
                  <a:pt x="53" y="924"/>
                  <a:pt x="43" y="975"/>
                  <a:pt x="157" y="952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54" name="Freeform 5"/>
          <p:cNvSpPr/>
          <p:nvPr/>
        </p:nvSpPr>
        <p:spPr>
          <a:xfrm rot="5265760">
            <a:off x="5310188" y="560388"/>
            <a:ext cx="1612900" cy="2049462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1201" y="756"/>
              </a:cxn>
              <a:cxn ang="0">
                <a:pos x="702" y="670"/>
              </a:cxn>
              <a:cxn ang="0">
                <a:pos x="608" y="103"/>
              </a:cxn>
              <a:cxn ang="0">
                <a:pos x="335" y="52"/>
              </a:cxn>
              <a:cxn ang="0">
                <a:pos x="65" y="82"/>
              </a:cxn>
              <a:cxn ang="0">
                <a:pos x="41" y="544"/>
              </a:cxn>
              <a:cxn ang="0">
                <a:pos x="38" y="751"/>
              </a:cxn>
              <a:cxn ang="0">
                <a:pos x="23" y="940"/>
              </a:cxn>
              <a:cxn ang="0">
                <a:pos x="17" y="1114"/>
              </a:cxn>
              <a:cxn ang="0">
                <a:pos x="128" y="1219"/>
              </a:cxn>
              <a:cxn ang="0">
                <a:pos x="602" y="1243"/>
              </a:cxn>
              <a:cxn ang="0">
                <a:pos x="686" y="930"/>
              </a:cxn>
              <a:cxn ang="0">
                <a:pos x="1177" y="916"/>
              </a:cxn>
              <a:cxn ang="0">
                <a:pos x="1201" y="75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55" name="Rectangle 6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子网</a:t>
            </a:r>
            <a:endParaRPr lang="zh-CN" altLang="en-US" dirty="0"/>
          </a:p>
        </p:txBody>
      </p:sp>
      <p:sp>
        <p:nvSpPr>
          <p:cNvPr id="10256" name="Rectangle 7"/>
          <p:cNvSpPr>
            <a:spLocks noGrp="1"/>
          </p:cNvSpPr>
          <p:nvPr>
            <p:ph sz="half" idx="1"/>
          </p:nvPr>
        </p:nvSpPr>
        <p:spPr>
          <a:xfrm>
            <a:off x="447675" y="1314450"/>
            <a:ext cx="3695700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  <a:buFont typeface="ZapfDingbats" pitchFamily="82" charset="2"/>
              <a:buNone/>
            </a:pPr>
            <a:r>
              <a:rPr lang="zh-CN" altLang="en-US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多少个子网</a:t>
            </a:r>
            <a:r>
              <a:rPr lang="en-US" altLang="zh-CN" sz="24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?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  <p:graphicFrame>
        <p:nvGraphicFramePr>
          <p:cNvPr id="10242" name="Object 8"/>
          <p:cNvGraphicFramePr/>
          <p:nvPr/>
        </p:nvGraphicFramePr>
        <p:xfrm>
          <a:off x="6389688" y="950913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9" name="" r:id="rId1" imgW="1305560" imgH="1082675" progId="MS_ClipArt_Gallery.2">
                  <p:embed/>
                </p:oleObj>
              </mc:Choice>
              <mc:Fallback>
                <p:oleObj name="" r:id="rId1" imgW="1305560" imgH="1082675" progId="MS_ClipArt_Gallery.2">
                  <p:embed/>
                  <p:pic>
                    <p:nvPicPr>
                      <p:cNvPr id="0" name="图片 310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389688" y="950913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7" name="Line 9"/>
          <p:cNvSpPr/>
          <p:nvPr/>
        </p:nvSpPr>
        <p:spPr>
          <a:xfrm flipH="1">
            <a:off x="5226050" y="1576388"/>
            <a:ext cx="15001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58" name="Line 10"/>
          <p:cNvSpPr/>
          <p:nvPr/>
        </p:nvSpPr>
        <p:spPr>
          <a:xfrm flipH="1" flipV="1">
            <a:off x="6727825" y="1401763"/>
            <a:ext cx="3175" cy="1651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59" name="Line 11"/>
          <p:cNvSpPr/>
          <p:nvPr/>
        </p:nvSpPr>
        <p:spPr>
          <a:xfrm flipH="1">
            <a:off x="5227638" y="1347788"/>
            <a:ext cx="3175" cy="2254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0243" name="Object 12"/>
          <p:cNvGraphicFramePr/>
          <p:nvPr/>
        </p:nvGraphicFramePr>
        <p:xfrm>
          <a:off x="5780088" y="8461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0" name="" r:id="rId3" imgW="1305560" imgH="1082675" progId="MS_ClipArt_Gallery.2">
                  <p:embed/>
                </p:oleObj>
              </mc:Choice>
              <mc:Fallback>
                <p:oleObj name="" r:id="rId3" imgW="1305560" imgH="1082675" progId="MS_ClipArt_Gallery.2">
                  <p:embed/>
                  <p:pic>
                    <p:nvPicPr>
                      <p:cNvPr id="0" name="图片 310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80088" y="84613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4" name="Object 13"/>
          <p:cNvGraphicFramePr/>
          <p:nvPr/>
        </p:nvGraphicFramePr>
        <p:xfrm>
          <a:off x="5151438" y="9794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1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11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51438" y="9794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0" name="Line 14"/>
          <p:cNvSpPr/>
          <p:nvPr/>
        </p:nvSpPr>
        <p:spPr>
          <a:xfrm flipH="1">
            <a:off x="5856288" y="1585913"/>
            <a:ext cx="3175" cy="7969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61" name="Text Box 15"/>
          <p:cNvSpPr txBox="1"/>
          <p:nvPr/>
        </p:nvSpPr>
        <p:spPr>
          <a:xfrm>
            <a:off x="4237038" y="1346200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62" name="Rectangle 16"/>
          <p:cNvSpPr/>
          <p:nvPr/>
        </p:nvSpPr>
        <p:spPr>
          <a:xfrm>
            <a:off x="5729288" y="2052638"/>
            <a:ext cx="309562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63" name="Text Box 17"/>
          <p:cNvSpPr txBox="1"/>
          <p:nvPr/>
        </p:nvSpPr>
        <p:spPr>
          <a:xfrm>
            <a:off x="5372100" y="19542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223.1.1.3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64" name="Text Box 18"/>
          <p:cNvSpPr txBox="1"/>
          <p:nvPr/>
        </p:nvSpPr>
        <p:spPr>
          <a:xfrm>
            <a:off x="6684963" y="13509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223.1.1.4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65" name="Freeform 19"/>
          <p:cNvSpPr/>
          <p:nvPr/>
        </p:nvSpPr>
        <p:spPr>
          <a:xfrm>
            <a:off x="3622675" y="4564063"/>
            <a:ext cx="1539875" cy="1490662"/>
          </a:xfrm>
          <a:custGeom>
            <a:avLst/>
            <a:gdLst>
              <a:gd name="txL" fmla="*/ 0 w 970"/>
              <a:gd name="txT" fmla="*/ 0 h 939"/>
              <a:gd name="txR" fmla="*/ 970 w 970"/>
              <a:gd name="txB" fmla="*/ 939 h 939"/>
            </a:gdLst>
            <a:ahLst/>
            <a:cxnLst>
              <a:cxn ang="0">
                <a:pos x="451" y="41"/>
              </a:cxn>
              <a:cxn ang="0">
                <a:pos x="388" y="431"/>
              </a:cxn>
              <a:cxn ang="0">
                <a:pos x="64" y="479"/>
              </a:cxn>
              <a:cxn ang="0">
                <a:pos x="7" y="791"/>
              </a:cxn>
              <a:cxn ang="0">
                <a:pos x="100" y="920"/>
              </a:cxn>
              <a:cxn ang="0">
                <a:pos x="421" y="905"/>
              </a:cxn>
              <a:cxn ang="0">
                <a:pos x="652" y="905"/>
              </a:cxn>
              <a:cxn ang="0">
                <a:pos x="904" y="857"/>
              </a:cxn>
              <a:cxn ang="0">
                <a:pos x="916" y="473"/>
              </a:cxn>
              <a:cxn ang="0">
                <a:pos x="580" y="443"/>
              </a:cxn>
              <a:cxn ang="0">
                <a:pos x="526" y="65"/>
              </a:cxn>
              <a:cxn ang="0">
                <a:pos x="529" y="53"/>
              </a:cxn>
              <a:cxn ang="0">
                <a:pos x="451" y="41"/>
              </a:cxn>
            </a:cxnLst>
            <a:rect l="txL" t="txT" r="txR" b="txB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10266" name="Group 20"/>
          <p:cNvGrpSpPr/>
          <p:nvPr/>
        </p:nvGrpSpPr>
        <p:grpSpPr>
          <a:xfrm>
            <a:off x="4059238" y="4275138"/>
            <a:ext cx="711200" cy="381000"/>
            <a:chOff x="3600" y="219"/>
            <a:chExt cx="360" cy="175"/>
          </a:xfrm>
        </p:grpSpPr>
        <p:sp>
          <p:nvSpPr>
            <p:cNvPr id="10324" name="Oval 2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0325" name="Line 2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26" name="Line 2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27" name="Rectangle 2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28" name="Oval 2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0329" name="Group 2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334" name="Line 2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35" name="Line 2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36" name="Line 2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330" name="Group 3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0331" name="Line 3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32" name="Line 3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33" name="Line 3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267" name="Line 34"/>
          <p:cNvSpPr/>
          <p:nvPr/>
        </p:nvSpPr>
        <p:spPr>
          <a:xfrm flipH="1">
            <a:off x="4378325" y="4667250"/>
            <a:ext cx="0" cy="7048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68" name="Line 35"/>
          <p:cNvSpPr/>
          <p:nvPr/>
        </p:nvSpPr>
        <p:spPr>
          <a:xfrm flipH="1" flipV="1">
            <a:off x="3859213" y="5372100"/>
            <a:ext cx="1019175" cy="47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69" name="Line 36"/>
          <p:cNvSpPr/>
          <p:nvPr/>
        </p:nvSpPr>
        <p:spPr>
          <a:xfrm flipH="1" flipV="1">
            <a:off x="3870325" y="5387975"/>
            <a:ext cx="3175" cy="1698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0" name="Line 37"/>
          <p:cNvSpPr/>
          <p:nvPr/>
        </p:nvSpPr>
        <p:spPr>
          <a:xfrm flipH="1" flipV="1">
            <a:off x="4865688" y="537368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0245" name="Object 38"/>
          <p:cNvGraphicFramePr/>
          <p:nvPr/>
        </p:nvGraphicFramePr>
        <p:xfrm>
          <a:off x="4413250" y="547528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5" imgW="1305560" imgH="1082675" progId="MS_ClipArt_Gallery.2">
                  <p:embed/>
                </p:oleObj>
              </mc:Choice>
              <mc:Fallback>
                <p:oleObj name="" r:id="rId5" imgW="1305560" imgH="1082675" progId="MS_ClipArt_Gallery.2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413250" y="547528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39"/>
          <p:cNvGraphicFramePr/>
          <p:nvPr/>
        </p:nvGraphicFramePr>
        <p:xfrm>
          <a:off x="3765550" y="548957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6" name="" r:id="rId6" imgW="1305560" imgH="1082675" progId="MS_ClipArt_Gallery.2">
                  <p:embed/>
                </p:oleObj>
              </mc:Choice>
              <mc:Fallback>
                <p:oleObj name="" r:id="rId6" imgW="1305560" imgH="1082675" progId="MS_ClipArt_Gallery.2">
                  <p:embed/>
                  <p:pic>
                    <p:nvPicPr>
                      <p:cNvPr id="0" name="图片 311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765550" y="5489575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1" name="Text Box 40"/>
          <p:cNvSpPr txBox="1"/>
          <p:nvPr/>
        </p:nvSpPr>
        <p:spPr>
          <a:xfrm>
            <a:off x="4813300" y="5260975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72" name="Text Box 41"/>
          <p:cNvSpPr txBox="1"/>
          <p:nvPr/>
        </p:nvSpPr>
        <p:spPr>
          <a:xfrm>
            <a:off x="2917825" y="52562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73" name="Rectangle 42"/>
          <p:cNvSpPr/>
          <p:nvPr/>
        </p:nvSpPr>
        <p:spPr>
          <a:xfrm>
            <a:off x="4319588" y="4767263"/>
            <a:ext cx="128587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74" name="Text Box 43"/>
          <p:cNvSpPr txBox="1"/>
          <p:nvPr/>
        </p:nvSpPr>
        <p:spPr>
          <a:xfrm>
            <a:off x="3876675" y="4706938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223.1.2.6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75" name="Freeform 45"/>
          <p:cNvSpPr/>
          <p:nvPr/>
        </p:nvSpPr>
        <p:spPr>
          <a:xfrm>
            <a:off x="6651625" y="4583113"/>
            <a:ext cx="1539875" cy="1490662"/>
          </a:xfrm>
          <a:custGeom>
            <a:avLst/>
            <a:gdLst>
              <a:gd name="txL" fmla="*/ 0 w 970"/>
              <a:gd name="txT" fmla="*/ 0 h 939"/>
              <a:gd name="txR" fmla="*/ 970 w 970"/>
              <a:gd name="txB" fmla="*/ 939 h 939"/>
            </a:gdLst>
            <a:ahLst/>
            <a:cxnLst>
              <a:cxn ang="0">
                <a:pos x="451" y="41"/>
              </a:cxn>
              <a:cxn ang="0">
                <a:pos x="388" y="431"/>
              </a:cxn>
              <a:cxn ang="0">
                <a:pos x="64" y="479"/>
              </a:cxn>
              <a:cxn ang="0">
                <a:pos x="7" y="791"/>
              </a:cxn>
              <a:cxn ang="0">
                <a:pos x="100" y="920"/>
              </a:cxn>
              <a:cxn ang="0">
                <a:pos x="421" y="905"/>
              </a:cxn>
              <a:cxn ang="0">
                <a:pos x="652" y="905"/>
              </a:cxn>
              <a:cxn ang="0">
                <a:pos x="904" y="857"/>
              </a:cxn>
              <a:cxn ang="0">
                <a:pos x="916" y="473"/>
              </a:cxn>
              <a:cxn ang="0">
                <a:pos x="580" y="443"/>
              </a:cxn>
              <a:cxn ang="0">
                <a:pos x="526" y="65"/>
              </a:cxn>
              <a:cxn ang="0">
                <a:pos x="529" y="53"/>
              </a:cxn>
              <a:cxn ang="0">
                <a:pos x="451" y="41"/>
              </a:cxn>
            </a:cxnLst>
            <a:rect l="txL" t="txT" r="txR" b="txB"/>
            <a:pathLst>
              <a:path w="970" h="939">
                <a:moveTo>
                  <a:pt x="451" y="41"/>
                </a:moveTo>
                <a:cubicBezTo>
                  <a:pt x="415" y="47"/>
                  <a:pt x="452" y="358"/>
                  <a:pt x="388" y="431"/>
                </a:cubicBezTo>
                <a:cubicBezTo>
                  <a:pt x="324" y="504"/>
                  <a:pt x="128" y="419"/>
                  <a:pt x="64" y="479"/>
                </a:cubicBezTo>
                <a:cubicBezTo>
                  <a:pt x="0" y="539"/>
                  <a:pt x="1" y="718"/>
                  <a:pt x="7" y="791"/>
                </a:cubicBezTo>
                <a:cubicBezTo>
                  <a:pt x="13" y="864"/>
                  <a:pt x="31" y="901"/>
                  <a:pt x="100" y="920"/>
                </a:cubicBezTo>
                <a:cubicBezTo>
                  <a:pt x="169" y="939"/>
                  <a:pt x="329" y="908"/>
                  <a:pt x="421" y="905"/>
                </a:cubicBezTo>
                <a:cubicBezTo>
                  <a:pt x="513" y="902"/>
                  <a:pt x="572" y="913"/>
                  <a:pt x="652" y="905"/>
                </a:cubicBezTo>
                <a:cubicBezTo>
                  <a:pt x="732" y="897"/>
                  <a:pt x="860" y="929"/>
                  <a:pt x="904" y="857"/>
                </a:cubicBezTo>
                <a:cubicBezTo>
                  <a:pt x="948" y="785"/>
                  <a:pt x="970" y="542"/>
                  <a:pt x="916" y="473"/>
                </a:cubicBezTo>
                <a:cubicBezTo>
                  <a:pt x="862" y="404"/>
                  <a:pt x="645" y="511"/>
                  <a:pt x="580" y="443"/>
                </a:cubicBezTo>
                <a:cubicBezTo>
                  <a:pt x="515" y="375"/>
                  <a:pt x="534" y="130"/>
                  <a:pt x="526" y="65"/>
                </a:cubicBezTo>
                <a:cubicBezTo>
                  <a:pt x="518" y="0"/>
                  <a:pt x="542" y="57"/>
                  <a:pt x="529" y="53"/>
                </a:cubicBezTo>
                <a:cubicBezTo>
                  <a:pt x="520" y="26"/>
                  <a:pt x="487" y="35"/>
                  <a:pt x="451" y="41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pSp>
        <p:nvGrpSpPr>
          <p:cNvPr id="10276" name="Group 46"/>
          <p:cNvGrpSpPr/>
          <p:nvPr/>
        </p:nvGrpSpPr>
        <p:grpSpPr>
          <a:xfrm>
            <a:off x="7088188" y="4294188"/>
            <a:ext cx="711200" cy="381000"/>
            <a:chOff x="3600" y="219"/>
            <a:chExt cx="360" cy="175"/>
          </a:xfrm>
        </p:grpSpPr>
        <p:sp>
          <p:nvSpPr>
            <p:cNvPr id="10311" name="Oval 47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0312" name="Line 48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13" name="Line 49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14" name="Rectangle 50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15" name="Oval 51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0316" name="Group 52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321" name="Line 53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22" name="Line 54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23" name="Line 55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317" name="Group 56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0318" name="Line 5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19" name="Line 5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20" name="Line 5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277" name="Line 60"/>
          <p:cNvSpPr/>
          <p:nvPr/>
        </p:nvSpPr>
        <p:spPr>
          <a:xfrm flipH="1">
            <a:off x="7407275" y="4686300"/>
            <a:ext cx="0" cy="7048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8" name="Line 61"/>
          <p:cNvSpPr/>
          <p:nvPr/>
        </p:nvSpPr>
        <p:spPr>
          <a:xfrm flipH="1" flipV="1">
            <a:off x="6888163" y="5391150"/>
            <a:ext cx="1019175" cy="47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79" name="Line 62"/>
          <p:cNvSpPr/>
          <p:nvPr/>
        </p:nvSpPr>
        <p:spPr>
          <a:xfrm flipH="1" flipV="1">
            <a:off x="6899275" y="5407025"/>
            <a:ext cx="3175" cy="169863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0" name="Line 63"/>
          <p:cNvSpPr/>
          <p:nvPr/>
        </p:nvSpPr>
        <p:spPr>
          <a:xfrm flipH="1" flipV="1">
            <a:off x="7894638" y="539273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aphicFrame>
        <p:nvGraphicFramePr>
          <p:cNvPr id="10247" name="Object 64"/>
          <p:cNvGraphicFramePr/>
          <p:nvPr/>
        </p:nvGraphicFramePr>
        <p:xfrm>
          <a:off x="7442200" y="5494338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5" name="" r:id="rId7" imgW="1305560" imgH="1082675" progId="MS_ClipArt_Gallery.2">
                  <p:embed/>
                </p:oleObj>
              </mc:Choice>
              <mc:Fallback>
                <p:oleObj name="" r:id="rId7" imgW="1305560" imgH="1082675" progId="MS_ClipArt_Gallery.2">
                  <p:embed/>
                  <p:pic>
                    <p:nvPicPr>
                      <p:cNvPr id="0" name="图片 311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42200" y="5494338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65"/>
          <p:cNvGraphicFramePr/>
          <p:nvPr/>
        </p:nvGraphicFramePr>
        <p:xfrm>
          <a:off x="6794500" y="5508625"/>
          <a:ext cx="584200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4" name="" r:id="rId8" imgW="1305560" imgH="1082675" progId="MS_ClipArt_Gallery.2">
                  <p:embed/>
                </p:oleObj>
              </mc:Choice>
              <mc:Fallback>
                <p:oleObj name="" r:id="rId8" imgW="1305560" imgH="1082675" progId="MS_ClipArt_Gallery.2">
                  <p:embed/>
                  <p:pic>
                    <p:nvPicPr>
                      <p:cNvPr id="0" name="图片 311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794500" y="5508625"/>
                        <a:ext cx="584200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81" name="Text Box 66"/>
          <p:cNvSpPr txBox="1"/>
          <p:nvPr/>
        </p:nvSpPr>
        <p:spPr>
          <a:xfrm>
            <a:off x="7842250" y="5280025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82" name="Text Box 67"/>
          <p:cNvSpPr txBox="1"/>
          <p:nvPr/>
        </p:nvSpPr>
        <p:spPr>
          <a:xfrm>
            <a:off x="5946775" y="52752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83" name="Rectangle 68"/>
          <p:cNvSpPr/>
          <p:nvPr/>
        </p:nvSpPr>
        <p:spPr>
          <a:xfrm>
            <a:off x="7348538" y="4786313"/>
            <a:ext cx="128587" cy="180975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84" name="Text Box 69"/>
          <p:cNvSpPr txBox="1"/>
          <p:nvPr/>
        </p:nvSpPr>
        <p:spPr>
          <a:xfrm>
            <a:off x="6899275" y="4751388"/>
            <a:ext cx="114458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223.1.3.27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grpSp>
        <p:nvGrpSpPr>
          <p:cNvPr id="10285" name="Group 70"/>
          <p:cNvGrpSpPr/>
          <p:nvPr/>
        </p:nvGrpSpPr>
        <p:grpSpPr>
          <a:xfrm>
            <a:off x="5526088" y="2389188"/>
            <a:ext cx="711200" cy="381000"/>
            <a:chOff x="3600" y="219"/>
            <a:chExt cx="360" cy="175"/>
          </a:xfrm>
        </p:grpSpPr>
        <p:sp>
          <p:nvSpPr>
            <p:cNvPr id="10298" name="Oval 71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0299" name="Line 72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00" name="Line 73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0301" name="Rectangle 74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0302" name="Oval 75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0303" name="Group 76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0308" name="Line 77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9" name="Line 78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10" name="Line 79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0304" name="Group 80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0305" name="Line 8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6" name="Line 8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0307" name="Line 8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0286" name="Line 84"/>
          <p:cNvSpPr/>
          <p:nvPr/>
        </p:nvSpPr>
        <p:spPr>
          <a:xfrm flipH="1" flipV="1">
            <a:off x="6108700" y="1306513"/>
            <a:ext cx="3175" cy="26511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87" name="Rectangle 85"/>
          <p:cNvSpPr/>
          <p:nvPr/>
        </p:nvSpPr>
        <p:spPr>
          <a:xfrm>
            <a:off x="6053138" y="1343025"/>
            <a:ext cx="109537" cy="195263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0288" name="Text Box 86"/>
          <p:cNvSpPr txBox="1"/>
          <p:nvPr/>
        </p:nvSpPr>
        <p:spPr>
          <a:xfrm>
            <a:off x="5618163" y="5572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223.1.1.2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0289" name="Line 87"/>
          <p:cNvSpPr/>
          <p:nvPr/>
        </p:nvSpPr>
        <p:spPr>
          <a:xfrm flipV="1">
            <a:off x="4591050" y="2762250"/>
            <a:ext cx="1114425" cy="15430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0" name="Line 88"/>
          <p:cNvSpPr/>
          <p:nvPr/>
        </p:nvSpPr>
        <p:spPr>
          <a:xfrm flipH="1" flipV="1">
            <a:off x="6105525" y="2743200"/>
            <a:ext cx="1276350" cy="154305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1" name="Line 89"/>
          <p:cNvSpPr/>
          <p:nvPr/>
        </p:nvSpPr>
        <p:spPr>
          <a:xfrm flipH="1" flipV="1">
            <a:off x="4781550" y="4505325"/>
            <a:ext cx="2305050" cy="952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292" name="Text Box 90"/>
          <p:cNvSpPr txBox="1"/>
          <p:nvPr/>
        </p:nvSpPr>
        <p:spPr>
          <a:xfrm>
            <a:off x="6184900" y="2655888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223.1.7.0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93" name="Text Box 91"/>
          <p:cNvSpPr txBox="1"/>
          <p:nvPr/>
        </p:nvSpPr>
        <p:spPr>
          <a:xfrm>
            <a:off x="7261225" y="39417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223.1.7.1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94" name="Text Box 92"/>
          <p:cNvSpPr txBox="1"/>
          <p:nvPr/>
        </p:nvSpPr>
        <p:spPr>
          <a:xfrm>
            <a:off x="6022975" y="4198938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223.1.8.0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95" name="Text Box 93"/>
          <p:cNvSpPr txBox="1"/>
          <p:nvPr/>
        </p:nvSpPr>
        <p:spPr>
          <a:xfrm>
            <a:off x="4775200" y="4198938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223.1.8.1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96" name="Text Box 94"/>
          <p:cNvSpPr txBox="1"/>
          <p:nvPr/>
        </p:nvSpPr>
        <p:spPr>
          <a:xfrm>
            <a:off x="3698875" y="390366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223.1.9.1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0297" name="Text Box 95"/>
          <p:cNvSpPr txBox="1"/>
          <p:nvPr/>
        </p:nvSpPr>
        <p:spPr>
          <a:xfrm>
            <a:off x="4565650" y="2665413"/>
            <a:ext cx="10318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Arial" panose="020B0604020202020204" pitchFamily="34" charset="0"/>
              </a:rPr>
              <a:t>223.1.9.2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分类编址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533400" y="209296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A:8</a:t>
            </a:r>
            <a:r>
              <a:rPr lang="zh-CN" altLang="en-US">
                <a:sym typeface="+mn-ea"/>
              </a:rPr>
              <a:t>比特子网地址</a:t>
            </a:r>
            <a:endParaRPr lang="zh-CN" altLang="en-US"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3400" y="2508885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B:16</a:t>
            </a:r>
            <a:r>
              <a:rPr lang="zh-CN" altLang="en-US">
                <a:sym typeface="+mn-ea"/>
              </a:rPr>
              <a:t>比特子网地址</a:t>
            </a:r>
            <a:endParaRPr lang="zh-CN" altLang="en-US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33400" y="2961640"/>
            <a:ext cx="4572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C:24</a:t>
            </a:r>
            <a:r>
              <a:rPr lang="zh-CN" altLang="en-US">
                <a:sym typeface="+mn-ea"/>
              </a:rPr>
              <a:t>比特子网地址</a:t>
            </a:r>
            <a:r>
              <a:rPr lang="zh-CN" altLang="en-US">
                <a:sym typeface="+mn-ea"/>
              </a:rPr>
              <a:t>，最多容纳</a:t>
            </a:r>
            <a:r>
              <a:rPr lang="en-US" altLang="zh-CN">
                <a:sym typeface="+mn-ea"/>
              </a:rPr>
              <a:t>2^8-2</a:t>
            </a:r>
            <a:endParaRPr lang="en-US" altLang="zh-CN"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33400" y="4361180"/>
            <a:ext cx="68389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255.255.255.255</a:t>
            </a:r>
            <a:r>
              <a:rPr lang="zh-CN" altLang="en-US">
                <a:sym typeface="+mn-ea"/>
              </a:rPr>
              <a:t>为广播目的地址，发送到整个子网中的所有主机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710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710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IP</a:t>
            </a:r>
            <a:r>
              <a:rPr lang="zh-CN" altLang="en-US" dirty="0"/>
              <a:t>编址</a:t>
            </a:r>
            <a:r>
              <a:rPr lang="en-US" altLang="zh-CN" dirty="0"/>
              <a:t>: CIDR</a:t>
            </a:r>
            <a:endParaRPr lang="en-US" altLang="zh-CN" dirty="0"/>
          </a:p>
        </p:txBody>
      </p:sp>
      <p:sp>
        <p:nvSpPr>
          <p:cNvPr id="47109" name="Rectangle 3"/>
          <p:cNvSpPr>
            <a:spLocks noGrp="1"/>
          </p:cNvSpPr>
          <p:nvPr>
            <p:ph idx="1"/>
          </p:nvPr>
        </p:nvSpPr>
        <p:spPr>
          <a:xfrm>
            <a:off x="565150" y="1328738"/>
            <a:ext cx="8107363" cy="3171825"/>
          </a:xfrm>
        </p:spPr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sz="3200" dirty="0"/>
              <a:t>无类型域间选路</a:t>
            </a:r>
            <a:r>
              <a:rPr lang="en-US" altLang="zh-CN" sz="3200" dirty="0"/>
              <a:t>(</a:t>
            </a:r>
            <a:r>
              <a:rPr lang="en-US" altLang="zh-CN" sz="3200" dirty="0">
                <a:solidFill>
                  <a:srgbClr val="FF0000"/>
                </a:solidFill>
              </a:rPr>
              <a:t>C</a:t>
            </a:r>
            <a:r>
              <a:rPr lang="en-US" altLang="zh-CN" sz="3200" dirty="0"/>
              <a:t>lassless </a:t>
            </a:r>
            <a:r>
              <a:rPr lang="en-US" altLang="zh-CN" sz="3200" dirty="0">
                <a:solidFill>
                  <a:srgbClr val="FF0000"/>
                </a:solidFill>
              </a:rPr>
              <a:t>I</a:t>
            </a:r>
            <a:r>
              <a:rPr lang="en-US" altLang="zh-CN" sz="3200" dirty="0"/>
              <a:t>nter</a:t>
            </a:r>
            <a:r>
              <a:rPr lang="en-US" altLang="zh-CN" sz="3200" dirty="0">
                <a:solidFill>
                  <a:srgbClr val="FF0000"/>
                </a:solidFill>
              </a:rPr>
              <a:t>D</a:t>
            </a:r>
            <a:r>
              <a:rPr lang="en-US" altLang="zh-CN" sz="3200" dirty="0"/>
              <a:t>omain </a:t>
            </a:r>
            <a:r>
              <a:rPr lang="en-US" altLang="zh-CN" sz="3200" dirty="0">
                <a:solidFill>
                  <a:srgbClr val="FF0000"/>
                </a:solidFill>
              </a:rPr>
              <a:t>R</a:t>
            </a:r>
            <a:r>
              <a:rPr lang="en-US" altLang="zh-CN" sz="3200" dirty="0"/>
              <a:t>outing,</a:t>
            </a:r>
            <a:r>
              <a:rPr lang="en-US" altLang="zh-CN" sz="3200" dirty="0">
                <a:solidFill>
                  <a:srgbClr val="FF0000"/>
                </a:solidFill>
              </a:rPr>
              <a:t>CIDR</a:t>
            </a:r>
            <a:r>
              <a:rPr lang="en-US" altLang="zh-CN" sz="3200" dirty="0"/>
              <a:t>)</a:t>
            </a:r>
            <a:endParaRPr lang="zh-CN" altLang="en-US" sz="3200" dirty="0"/>
          </a:p>
          <a:p>
            <a:pPr lvl="1" eaLnBrk="1"/>
            <a:r>
              <a:rPr lang="zh-CN" altLang="en-US" dirty="0"/>
              <a:t>任意长的地址的子网部分</a:t>
            </a:r>
            <a:endParaRPr lang="zh-CN" altLang="en-US" dirty="0"/>
          </a:p>
          <a:p>
            <a:pPr lvl="1" eaLnBrk="1"/>
            <a:r>
              <a:rPr lang="zh-CN" altLang="en-US" dirty="0"/>
              <a:t>地址格式</a:t>
            </a:r>
            <a:r>
              <a:rPr lang="en-US" altLang="zh-CN" dirty="0"/>
              <a:t>: </a:t>
            </a:r>
            <a:r>
              <a:rPr lang="en-US" altLang="zh-CN" dirty="0">
                <a:solidFill>
                  <a:srgbClr val="FF0000"/>
                </a:solidFill>
              </a:rPr>
              <a:t>a.b.c.d/x</a:t>
            </a:r>
            <a:r>
              <a:rPr lang="en-US" altLang="zh-CN" dirty="0"/>
              <a:t>, </a:t>
            </a:r>
            <a:r>
              <a:rPr lang="zh-CN" altLang="en-US" dirty="0"/>
              <a:t>其中</a:t>
            </a:r>
            <a:r>
              <a:rPr lang="en-US" altLang="zh-CN" dirty="0"/>
              <a:t>x</a:t>
            </a:r>
            <a:r>
              <a:rPr lang="zh-CN" altLang="en-US" dirty="0"/>
              <a:t>是地址子网部分的比特长度</a:t>
            </a:r>
            <a:endParaRPr lang="en-US" altLang="zh-CN" dirty="0"/>
          </a:p>
        </p:txBody>
      </p:sp>
      <p:grpSp>
        <p:nvGrpSpPr>
          <p:cNvPr id="47110" name="Group 4"/>
          <p:cNvGrpSpPr/>
          <p:nvPr/>
        </p:nvGrpSpPr>
        <p:grpSpPr>
          <a:xfrm>
            <a:off x="1423988" y="4622800"/>
            <a:ext cx="6124575" cy="1644650"/>
            <a:chOff x="1339" y="887"/>
            <a:chExt cx="3858" cy="1036"/>
          </a:xfrm>
        </p:grpSpPr>
        <p:sp>
          <p:nvSpPr>
            <p:cNvPr id="47111" name="Text Box 5"/>
            <p:cNvSpPr txBox="1"/>
            <p:nvPr/>
          </p:nvSpPr>
          <p:spPr>
            <a:xfrm>
              <a:off x="1339" y="1262"/>
              <a:ext cx="3858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solidFill>
                    <a:schemeClr val="accent2"/>
                  </a:solidFill>
                  <a:latin typeface="Arial" panose="020B0604020202020204" pitchFamily="34" charset="0"/>
                </a:rPr>
                <a:t>11001000  00010111</a:t>
              </a:r>
              <a:r>
                <a:rPr lang="en-US" altLang="zh-CN" sz="2400" dirty="0">
                  <a:latin typeface="Arial" panose="020B0604020202020204" pitchFamily="34" charset="0"/>
                </a:rPr>
                <a:t>  </a:t>
              </a:r>
              <a:r>
                <a:rPr lang="en-US" altLang="zh-CN" sz="2400" dirty="0">
                  <a:solidFill>
                    <a:schemeClr val="accent2"/>
                  </a:solidFill>
                  <a:latin typeface="Arial" panose="020B0604020202020204" pitchFamily="34" charset="0"/>
                </a:rPr>
                <a:t>0001000</a:t>
              </a:r>
              <a:r>
                <a:rPr lang="en-US" altLang="zh-CN" sz="2400" dirty="0">
                  <a:latin typeface="Arial" panose="020B0604020202020204" pitchFamily="34" charset="0"/>
                </a:rPr>
                <a:t>0  00000000</a:t>
              </a:r>
              <a:endParaRPr lang="en-US" altLang="zh-CN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47112" name="Text Box 6"/>
            <p:cNvSpPr txBox="1"/>
            <p:nvPr/>
          </p:nvSpPr>
          <p:spPr>
            <a:xfrm>
              <a:off x="2314" y="910"/>
              <a:ext cx="6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dirty="0">
                  <a:solidFill>
                    <a:schemeClr val="accent2"/>
                  </a:solidFill>
                  <a:latin typeface="Comic Sans MS" panose="030F0702030302020204" pitchFamily="66" charset="0"/>
                </a:rPr>
                <a:t>子网部分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7113" name="Text Box 7"/>
            <p:cNvSpPr txBox="1"/>
            <p:nvPr/>
          </p:nvSpPr>
          <p:spPr>
            <a:xfrm>
              <a:off x="4328" y="887"/>
              <a:ext cx="692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/>
              <a:r>
                <a:rPr lang="zh-CN" altLang="en-US" dirty="0">
                  <a:latin typeface="Comic Sans MS" panose="030F0702030302020204" pitchFamily="66" charset="0"/>
                </a:rPr>
                <a:t>主机部分</a:t>
              </a:r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47114" name="Line 8"/>
            <p:cNvSpPr/>
            <p:nvPr/>
          </p:nvSpPr>
          <p:spPr>
            <a:xfrm>
              <a:off x="3020" y="1121"/>
              <a:ext cx="1021" cy="0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15" name="Line 9"/>
            <p:cNvSpPr/>
            <p:nvPr/>
          </p:nvSpPr>
          <p:spPr>
            <a:xfrm flipH="1">
              <a:off x="1408" y="1118"/>
              <a:ext cx="924" cy="7"/>
            </a:xfrm>
            <a:prstGeom prst="line">
              <a:avLst/>
            </a:prstGeom>
            <a:ln w="28575" cap="flat" cmpd="sng">
              <a:solidFill>
                <a:schemeClr val="accent2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16" name="Line 10"/>
            <p:cNvSpPr/>
            <p:nvPr/>
          </p:nvSpPr>
          <p:spPr>
            <a:xfrm flipH="1" flipV="1">
              <a:off x="4055" y="1123"/>
              <a:ext cx="436" cy="7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17" name="Line 11"/>
            <p:cNvSpPr/>
            <p:nvPr/>
          </p:nvSpPr>
          <p:spPr>
            <a:xfrm flipV="1">
              <a:off x="4778" y="1121"/>
              <a:ext cx="375" cy="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sp>
          <p:nvSpPr>
            <p:cNvPr id="47118" name="Text Box 12"/>
            <p:cNvSpPr txBox="1"/>
            <p:nvPr/>
          </p:nvSpPr>
          <p:spPr>
            <a:xfrm>
              <a:off x="2559" y="1635"/>
              <a:ext cx="1497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400" dirty="0">
                  <a:latin typeface="Comic Sans MS" panose="030F0702030302020204" pitchFamily="66" charset="0"/>
                </a:rPr>
                <a:t>200.23.16.0/</a:t>
              </a:r>
              <a:r>
                <a:rPr lang="en-US" altLang="zh-CN" sz="2400" dirty="0">
                  <a:solidFill>
                    <a:schemeClr val="accent2"/>
                  </a:solidFill>
                  <a:latin typeface="Comic Sans MS" panose="030F0702030302020204" pitchFamily="66" charset="0"/>
                </a:rPr>
                <a:t>23</a:t>
              </a:r>
              <a:endParaRPr lang="en-US" altLang="zh-CN" sz="2400" dirty="0">
                <a:solidFill>
                  <a:schemeClr val="accent2"/>
                </a:solidFill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985520" y="1364615"/>
            <a:ext cx="77387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假设某单位拥有一个</a:t>
            </a:r>
            <a:r>
              <a:rPr lang="en-US" altLang="zh-CN"/>
              <a:t>CIDR</a:t>
            </a:r>
            <a:r>
              <a:rPr lang="zh-CN" altLang="en-US"/>
              <a:t>地址块为</a:t>
            </a:r>
            <a:r>
              <a:rPr lang="en-US" altLang="zh-CN"/>
              <a:t>208.115.21.0/24,</a:t>
            </a:r>
            <a:r>
              <a:rPr lang="zh-CN" altLang="en-US"/>
              <a:t>该单位有三个部门，各部门的主机台数分别为</a:t>
            </a:r>
            <a:r>
              <a:rPr lang="en-US" altLang="zh-CN"/>
              <a:t>50,</a:t>
            </a:r>
            <a:r>
              <a:rPr lang="zh-CN" altLang="en-US"/>
              <a:t>、</a:t>
            </a:r>
            <a:r>
              <a:rPr lang="en-US" altLang="zh-CN"/>
              <a:t>20</a:t>
            </a:r>
            <a:r>
              <a:rPr lang="zh-CN" altLang="en-US"/>
              <a:t>、</a:t>
            </a:r>
            <a:r>
              <a:rPr lang="en-US" altLang="zh-CN"/>
              <a:t>5</a:t>
            </a:r>
            <a:r>
              <a:rPr lang="zh-CN" altLang="en-US"/>
              <a:t>台。采用定长的子网掩码给各部门分配</a:t>
            </a:r>
            <a:r>
              <a:rPr lang="en-US" altLang="zh-CN"/>
              <a:t>IP</a:t>
            </a:r>
            <a:r>
              <a:rPr lang="zh-CN" altLang="en-US"/>
              <a:t>地址。怎么分配？</a:t>
            </a:r>
            <a:r>
              <a:rPr lang="en-US" altLang="zh-CN"/>
              <a:t> 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286000" y="3091180"/>
            <a:ext cx="4572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b="1">
                <a:sym typeface="+mn-ea"/>
              </a:rPr>
              <a:t>请基于</a:t>
            </a:r>
            <a:r>
              <a:rPr lang="en-US" altLang="zh-CN" sz="2000" b="1">
                <a:sym typeface="+mn-ea"/>
              </a:rPr>
              <a:t>CIDR</a:t>
            </a:r>
            <a:r>
              <a:rPr lang="zh-CN" altLang="en-US" sz="2000" b="1">
                <a:sym typeface="+mn-ea"/>
              </a:rPr>
              <a:t>写出</a:t>
            </a:r>
            <a:r>
              <a:rPr lang="en-US" altLang="zh-CN" sz="2000" b="1">
                <a:sym typeface="+mn-ea"/>
              </a:rPr>
              <a:t>3</a:t>
            </a:r>
            <a:r>
              <a:rPr lang="zh-CN" altLang="en-US" sz="2000" b="1">
                <a:sym typeface="+mn-ea"/>
              </a:rPr>
              <a:t>个固定长度的地址块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813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813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600" dirty="0"/>
              <a:t>IP</a:t>
            </a:r>
            <a:r>
              <a:rPr lang="zh-CN" altLang="en-US" sz="3600" dirty="0"/>
              <a:t>编址</a:t>
            </a:r>
            <a:r>
              <a:rPr lang="en-US" altLang="zh-CN" sz="3600" dirty="0"/>
              <a:t>: </a:t>
            </a:r>
            <a:r>
              <a:rPr lang="zh-CN" altLang="en-US" sz="3600" dirty="0"/>
              <a:t>如何得到一个地址</a:t>
            </a:r>
            <a:r>
              <a:rPr lang="en-US" altLang="zh-CN" sz="3600" dirty="0"/>
              <a:t>?</a:t>
            </a:r>
            <a:endParaRPr lang="en-US" altLang="zh-CN" dirty="0"/>
          </a:p>
        </p:txBody>
      </p:sp>
      <p:sp>
        <p:nvSpPr>
          <p:cNvPr id="48133" name="Rectangle 3"/>
          <p:cNvSpPr>
            <a:spLocks noGrp="1"/>
          </p:cNvSpPr>
          <p:nvPr>
            <p:ph idx="1"/>
          </p:nvPr>
        </p:nvSpPr>
        <p:spPr>
          <a:xfrm>
            <a:off x="511175" y="1687513"/>
            <a:ext cx="8034338" cy="3359150"/>
          </a:xfrm>
        </p:spPr>
        <p:txBody>
          <a:bodyPr vert="horz" wrap="square" lIns="91440" tIns="45720" rIns="91440" bIns="45720" anchor="t" anchorCtr="0"/>
          <a:p>
            <a:pPr eaLnBrk="1">
              <a:lnSpc>
                <a:spcPct val="80000"/>
              </a:lnSpc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问题：</a:t>
            </a:r>
            <a:r>
              <a:rPr lang="zh-CN" altLang="en-US" dirty="0"/>
              <a:t>主机怎样得到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?</a:t>
            </a:r>
            <a:endParaRPr lang="en-US" altLang="zh-CN" dirty="0"/>
          </a:p>
          <a:p>
            <a:pPr eaLnBrk="1">
              <a:lnSpc>
                <a:spcPct val="80000"/>
              </a:lnSpc>
              <a:buNone/>
            </a:pPr>
            <a:endParaRPr lang="en-US" altLang="zh-CN" dirty="0"/>
          </a:p>
          <a:p>
            <a:pPr eaLnBrk="1">
              <a:lnSpc>
                <a:spcPct val="80000"/>
              </a:lnSpc>
            </a:pPr>
            <a:r>
              <a:rPr lang="zh-CN" altLang="en-US" sz="2400" dirty="0"/>
              <a:t>由系统管理员在文件中的硬编码</a:t>
            </a:r>
            <a:endParaRPr lang="en-US" altLang="zh-CN" sz="2400" dirty="0"/>
          </a:p>
          <a:p>
            <a:pPr lvl="1" eaLnBrk="1">
              <a:lnSpc>
                <a:spcPct val="80000"/>
              </a:lnSpc>
            </a:pPr>
            <a:r>
              <a:rPr lang="en-US" altLang="zh-CN" dirty="0"/>
              <a:t>Wintel: </a:t>
            </a:r>
            <a:r>
              <a:rPr lang="zh-CN" altLang="en-US" dirty="0"/>
              <a:t>控制面板</a:t>
            </a:r>
            <a:r>
              <a:rPr lang="en-US" altLang="zh-CN" dirty="0"/>
              <a:t>-&gt;</a:t>
            </a:r>
            <a:r>
              <a:rPr lang="zh-CN" altLang="en-US" dirty="0"/>
              <a:t>网络</a:t>
            </a:r>
            <a:r>
              <a:rPr lang="en-US" altLang="zh-CN" dirty="0"/>
              <a:t>-&gt;</a:t>
            </a:r>
            <a:r>
              <a:rPr lang="zh-CN" altLang="en-US" dirty="0"/>
              <a:t>配置</a:t>
            </a:r>
            <a:r>
              <a:rPr lang="en-US" altLang="zh-CN" dirty="0"/>
              <a:t>-&gt;TCP/IP-&gt;</a:t>
            </a:r>
            <a:r>
              <a:rPr lang="zh-CN" altLang="en-US" dirty="0"/>
              <a:t>属性</a:t>
            </a:r>
            <a:endParaRPr lang="zh-CN" altLang="en-US" dirty="0"/>
          </a:p>
          <a:p>
            <a:pPr lvl="1" eaLnBrk="1">
              <a:lnSpc>
                <a:spcPct val="80000"/>
              </a:lnSpc>
            </a:pPr>
            <a:r>
              <a:rPr lang="en-US" altLang="zh-CN" dirty="0"/>
              <a:t>UNIX: /etc/rc.config</a:t>
            </a:r>
            <a:endParaRPr lang="en-US" altLang="zh-CN" dirty="0"/>
          </a:p>
          <a:p>
            <a:pPr eaLnBrk="1">
              <a:lnSpc>
                <a:spcPct val="8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动态主机配置协议</a:t>
            </a:r>
            <a:r>
              <a:rPr lang="en-US" altLang="zh-CN" sz="2400" dirty="0">
                <a:solidFill>
                  <a:srgbClr val="FF0000"/>
                </a:solidFill>
              </a:rPr>
              <a:t>(D</a:t>
            </a:r>
            <a:r>
              <a:rPr lang="en-US" altLang="zh-CN" sz="2400" dirty="0"/>
              <a:t>ynamic </a:t>
            </a:r>
            <a:r>
              <a:rPr lang="en-US" altLang="zh-CN" sz="2400" dirty="0">
                <a:solidFill>
                  <a:srgbClr val="FF0000"/>
                </a:solidFill>
              </a:rPr>
              <a:t>H</a:t>
            </a:r>
            <a:r>
              <a:rPr lang="en-US" altLang="zh-CN" sz="2400" dirty="0"/>
              <a:t>ost </a:t>
            </a: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r>
              <a:rPr lang="en-US" altLang="zh-CN" sz="2400" dirty="0"/>
              <a:t>onfiguration </a:t>
            </a:r>
            <a:r>
              <a:rPr lang="en-US" altLang="zh-CN" sz="2400" dirty="0">
                <a:solidFill>
                  <a:srgbClr val="FF0000"/>
                </a:solidFill>
              </a:rPr>
              <a:t>P</a:t>
            </a:r>
            <a:r>
              <a:rPr lang="en-US" altLang="zh-CN" sz="2400" dirty="0"/>
              <a:t>rotocol </a:t>
            </a:r>
            <a:r>
              <a:rPr lang="en-US" altLang="zh-CN" sz="2400" dirty="0">
                <a:solidFill>
                  <a:srgbClr val="FF0000"/>
                </a:solidFill>
              </a:rPr>
              <a:t>DHCP):</a:t>
            </a:r>
            <a:r>
              <a:rPr lang="en-US" altLang="zh-CN" sz="2400" dirty="0"/>
              <a:t> </a:t>
            </a:r>
            <a:r>
              <a:rPr lang="zh-CN" altLang="en-US" sz="2400" dirty="0"/>
              <a:t>动态地从服务器得到地址</a:t>
            </a:r>
            <a:endParaRPr lang="en-US" altLang="zh-CN" sz="2400" dirty="0"/>
          </a:p>
          <a:p>
            <a:pPr lvl="1" eaLnBrk="1">
              <a:lnSpc>
                <a:spcPct val="80000"/>
              </a:lnSpc>
            </a:pPr>
            <a:r>
              <a:rPr lang="en-US" altLang="zh-CN" dirty="0">
                <a:latin typeface="Comic Sans MS" panose="030F0702030302020204" pitchFamily="66" charset="0"/>
              </a:rPr>
              <a:t>“</a:t>
            </a:r>
            <a:r>
              <a:rPr lang="zh-CN" altLang="en-US" dirty="0"/>
              <a:t>即插即用</a:t>
            </a:r>
            <a:r>
              <a:rPr lang="zh-CN" altLang="en-US" dirty="0">
                <a:latin typeface="Comic Sans MS" panose="030F0702030302020204" pitchFamily="66" charset="0"/>
              </a:rPr>
              <a:t>”</a:t>
            </a:r>
            <a:r>
              <a:rPr lang="zh-CN" altLang="en-US" dirty="0"/>
              <a:t> </a:t>
            </a:r>
            <a:endParaRPr lang="zh-CN" altLang="en-US" dirty="0"/>
          </a:p>
          <a:p>
            <a:pPr eaLnBrk="1">
              <a:lnSpc>
                <a:spcPct val="80000"/>
              </a:lnSpc>
              <a:buNone/>
            </a:pPr>
            <a:r>
              <a:rPr lang="en-US" altLang="zh-CN" sz="2400" dirty="0"/>
              <a:t>    (</a:t>
            </a:r>
            <a:r>
              <a:rPr lang="zh-CN" altLang="en-US" sz="2400" dirty="0"/>
              <a:t>详情参见下章</a:t>
            </a:r>
            <a:r>
              <a:rPr lang="en-US" altLang="zh-CN" sz="2400" dirty="0"/>
              <a:t>)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222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222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dirty="0"/>
              <a:t>IP</a:t>
            </a:r>
            <a:r>
              <a:rPr lang="zh-CN" altLang="en-US" sz="3200" dirty="0"/>
              <a:t>编址</a:t>
            </a:r>
            <a:r>
              <a:rPr lang="en-US" altLang="zh-CN" sz="3200" dirty="0"/>
              <a:t>: </a:t>
            </a:r>
            <a:r>
              <a:rPr lang="zh-CN" altLang="en-US" sz="3200" dirty="0"/>
              <a:t>其他问题</a:t>
            </a:r>
            <a:endParaRPr lang="zh-CN" altLang="en-US" dirty="0"/>
          </a:p>
        </p:txBody>
      </p:sp>
      <p:sp>
        <p:nvSpPr>
          <p:cNvPr id="5222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u="sng" dirty="0">
                <a:solidFill>
                  <a:schemeClr val="accent2"/>
                </a:solidFill>
              </a:rPr>
              <a:t>问题：</a:t>
            </a:r>
            <a:r>
              <a:rPr lang="en-US" altLang="zh-CN" dirty="0"/>
              <a:t>ISP</a:t>
            </a:r>
            <a:r>
              <a:rPr lang="zh-CN" altLang="en-US" dirty="0"/>
              <a:t>怎样得到地址块</a:t>
            </a:r>
            <a:r>
              <a:rPr lang="en-US" altLang="zh-CN" dirty="0"/>
              <a:t>?</a:t>
            </a:r>
            <a:endParaRPr lang="en-US" altLang="zh-CN" dirty="0"/>
          </a:p>
          <a:p>
            <a:pPr eaLnBrk="1">
              <a:buNone/>
            </a:pPr>
            <a:r>
              <a:rPr lang="zh-CN" altLang="en-US" u="sng" dirty="0">
                <a:solidFill>
                  <a:schemeClr val="accent2"/>
                </a:solidFill>
              </a:rPr>
              <a:t>回答</a:t>
            </a:r>
            <a:r>
              <a:rPr lang="en-US" altLang="zh-CN" u="sng" dirty="0">
                <a:solidFill>
                  <a:schemeClr val="accent2"/>
                </a:solidFill>
              </a:rPr>
              <a:t>:</a:t>
            </a:r>
            <a:r>
              <a:rPr lang="zh-CN" altLang="en-US" dirty="0"/>
              <a:t>因特网名字与号码分配团体</a:t>
            </a:r>
            <a:r>
              <a:rPr lang="en-US" altLang="zh-CN" dirty="0"/>
              <a:t>( </a:t>
            </a:r>
            <a:r>
              <a:rPr lang="en-US" altLang="zh-CN" sz="2400" dirty="0">
                <a:solidFill>
                  <a:srgbClr val="FF0000"/>
                </a:solidFill>
              </a:rPr>
              <a:t>I</a:t>
            </a:r>
            <a:r>
              <a:rPr lang="en-US" altLang="zh-CN" sz="2400" dirty="0"/>
              <a:t>nternet </a:t>
            </a:r>
            <a:r>
              <a:rPr lang="en-US" altLang="zh-CN" sz="2400" dirty="0">
                <a:solidFill>
                  <a:srgbClr val="FF0000"/>
                </a:solidFill>
              </a:rPr>
              <a:t>C</a:t>
            </a:r>
            <a:r>
              <a:rPr lang="en-US" altLang="zh-CN" sz="2400" dirty="0"/>
              <a:t>orporation for </a:t>
            </a:r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ssigned 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ames and </a:t>
            </a:r>
            <a:r>
              <a:rPr lang="en-US" altLang="zh-CN" sz="2400" dirty="0">
                <a:solidFill>
                  <a:srgbClr val="FF0000"/>
                </a:solidFill>
              </a:rPr>
              <a:t>N</a:t>
            </a:r>
            <a:r>
              <a:rPr lang="en-US" altLang="zh-CN" sz="2400" dirty="0"/>
              <a:t>umbers,</a:t>
            </a:r>
            <a:r>
              <a:rPr lang="en-US" altLang="zh-CN" sz="2400" dirty="0">
                <a:solidFill>
                  <a:srgbClr val="FF0000"/>
                </a:solidFill>
              </a:rPr>
              <a:t>ICANN</a:t>
            </a:r>
            <a:r>
              <a:rPr lang="en-US" altLang="zh-CN" sz="2400" dirty="0"/>
              <a:t> )</a:t>
            </a:r>
            <a:endParaRPr lang="en-US" altLang="zh-CN" sz="2400" dirty="0"/>
          </a:p>
          <a:p>
            <a:pPr lvl="1" eaLnBrk="1"/>
            <a:r>
              <a:rPr lang="zh-CN" altLang="en-US" dirty="0"/>
              <a:t>分配地址</a:t>
            </a:r>
            <a:endParaRPr lang="zh-CN" altLang="en-US" dirty="0"/>
          </a:p>
          <a:p>
            <a:pPr lvl="1" eaLnBrk="1"/>
            <a:r>
              <a:rPr lang="zh-CN" altLang="en-US" dirty="0"/>
              <a:t>管理</a:t>
            </a:r>
            <a:r>
              <a:rPr lang="en-US" altLang="zh-CN" dirty="0"/>
              <a:t>DNS</a:t>
            </a:r>
            <a:endParaRPr lang="en-US" altLang="zh-CN" dirty="0"/>
          </a:p>
          <a:p>
            <a:pPr lvl="1" eaLnBrk="1"/>
            <a:r>
              <a:rPr lang="zh-CN" altLang="en-US" dirty="0"/>
              <a:t>分配域名，调解争议</a:t>
            </a:r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6017" name="Footer Placeholder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Network Layer</a:t>
            </a:r>
            <a:endParaRPr lang="en-US" altLang="zh-CN" sz="1200">
              <a:latin typeface="Tahoma" panose="020B0604030504040204" charset="0"/>
            </a:endParaRPr>
          </a:p>
        </p:txBody>
      </p:sp>
      <p:sp>
        <p:nvSpPr>
          <p:cNvPr id="86018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4-</a:t>
            </a:r>
            <a:fld id="{9A0DB2DC-4C9A-4742-B13C-FB6460FD3503}" type="slidenum">
              <a:rPr lang="en-US" altLang="zh-CN" sz="1200">
                <a:latin typeface="Tahoma" panose="020B0604030504040204" charset="0"/>
              </a:rPr>
            </a:fld>
            <a:endParaRPr lang="en-US" altLang="zh-CN" sz="1200">
              <a:latin typeface="Tahoma" panose="020B0604030504040204" charset="0"/>
            </a:endParaRPr>
          </a:p>
        </p:txBody>
      </p:sp>
      <p:pic>
        <p:nvPicPr>
          <p:cNvPr id="86019" name="Picture 4" descr="underline_bas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963" y="1025525"/>
            <a:ext cx="8228012" cy="1730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5061" name="Rectangle 2"/>
          <p:cNvSpPr>
            <a:spLocks noGrp="1" noChangeArrowheads="1"/>
          </p:cNvSpPr>
          <p:nvPr>
            <p:ph type="title"/>
          </p:nvPr>
        </p:nvSpPr>
        <p:spPr>
          <a:xfrm>
            <a:off x="177800" y="268288"/>
            <a:ext cx="8826500" cy="11430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36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DHCP: </a:t>
            </a:r>
            <a:r>
              <a:rPr kumimoji="0" lang="en-US" sz="3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Dynamic Host Configuration Protocol</a:t>
            </a:r>
            <a:endParaRPr kumimoji="0" lang="en-US" sz="3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86021" name="Rectangle 3"/>
          <p:cNvSpPr>
            <a:spLocks noGrp="1"/>
          </p:cNvSpPr>
          <p:nvPr>
            <p:ph idx="1"/>
          </p:nvPr>
        </p:nvSpPr>
        <p:spPr>
          <a:xfrm>
            <a:off x="511175" y="1587500"/>
            <a:ext cx="8632825" cy="335915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i="1">
                <a:solidFill>
                  <a:srgbClr val="CC0000"/>
                </a:solidFill>
              </a:rPr>
              <a:t>目标</a:t>
            </a:r>
            <a:r>
              <a:rPr lang="en-US" altLang="zh-CN" i="1">
                <a:solidFill>
                  <a:srgbClr val="CC0000"/>
                </a:solidFill>
              </a:rPr>
              <a:t>:</a:t>
            </a:r>
            <a:r>
              <a:rPr lang="en-US" altLang="zh-CN" sz="2400"/>
              <a:t> 允许主机在加入网络时从网络服务器动态获取其IP地址</a:t>
            </a:r>
            <a:endParaRPr lang="en-US" altLang="zh-CN" sz="2400"/>
          </a:p>
          <a:p>
            <a:pPr lvl="1"/>
            <a:r>
              <a:rPr lang="zh-CN" altLang="en-US"/>
              <a:t>在用户离开时，可以释放地址</a:t>
            </a:r>
            <a:endParaRPr lang="zh-CN" altLang="en-US"/>
          </a:p>
          <a:p>
            <a:pPr lvl="1"/>
            <a:r>
              <a:t>允许地址重用(仅在连接/“on”时保留地址)</a:t>
            </a:r>
          </a:p>
          <a:p>
            <a:pPr lvl="1"/>
            <a:r>
              <a:rPr lang="zh-CN" altLang="en-US"/>
              <a:t>支持用户的可移动性</a:t>
            </a:r>
            <a:endParaRPr lang="en-US" altLang="zh-CN"/>
          </a:p>
          <a:p>
            <a:pPr>
              <a:buNone/>
            </a:pPr>
            <a:r>
              <a:rPr lang="en-US" altLang="zh-CN" i="1">
                <a:solidFill>
                  <a:srgbClr val="CC0000"/>
                </a:solidFill>
              </a:rPr>
              <a:t>DHCP </a:t>
            </a:r>
            <a:r>
              <a:rPr lang="zh-CN" altLang="en-US" i="1">
                <a:solidFill>
                  <a:srgbClr val="CC0000"/>
                </a:solidFill>
              </a:rPr>
              <a:t>四个步骤</a:t>
            </a:r>
            <a:r>
              <a:rPr lang="en-US" altLang="zh-CN" i="1">
                <a:solidFill>
                  <a:srgbClr val="CC0000"/>
                </a:solidFill>
              </a:rPr>
              <a:t>:</a:t>
            </a:r>
            <a:endParaRPr lang="en-US" altLang="zh-CN" i="1">
              <a:solidFill>
                <a:srgbClr val="CC0000"/>
              </a:solidFill>
            </a:endParaRPr>
          </a:p>
          <a:p>
            <a:pPr lvl="1"/>
            <a:r>
              <a:rPr lang="en-US" altLang="zh-CN"/>
              <a:t>host broadcasts </a:t>
            </a:r>
            <a:r>
              <a:rPr lang="ja-JP" altLang="en-US">
                <a:solidFill>
                  <a:srgbClr val="CC0000"/>
                </a:solidFill>
              </a:rPr>
              <a:t>“</a:t>
            </a:r>
            <a:r>
              <a:rPr lang="en-US" altLang="ja-JP">
                <a:solidFill>
                  <a:srgbClr val="CC0000"/>
                </a:solidFill>
              </a:rPr>
              <a:t>DHCP discover</a:t>
            </a:r>
            <a:r>
              <a:rPr lang="ja-JP" altLang="en-US">
                <a:solidFill>
                  <a:srgbClr val="CC0000"/>
                </a:solidFill>
              </a:rPr>
              <a:t>”</a:t>
            </a:r>
            <a:r>
              <a:rPr lang="en-US" altLang="ja-JP"/>
              <a:t> msg [optional]</a:t>
            </a:r>
            <a:endParaRPr lang="en-US" altLang="ja-JP"/>
          </a:p>
          <a:p>
            <a:pPr lvl="1"/>
            <a:r>
              <a:rPr lang="en-US" altLang="zh-CN"/>
              <a:t>DHCP server responds with </a:t>
            </a:r>
            <a:r>
              <a:rPr lang="ja-JP" altLang="en-US">
                <a:solidFill>
                  <a:srgbClr val="CC0000"/>
                </a:solidFill>
              </a:rPr>
              <a:t>“</a:t>
            </a:r>
            <a:r>
              <a:rPr lang="en-US" altLang="ja-JP">
                <a:solidFill>
                  <a:srgbClr val="CC0000"/>
                </a:solidFill>
              </a:rPr>
              <a:t>DHCP offer</a:t>
            </a:r>
            <a:r>
              <a:rPr lang="ja-JP" altLang="en-US">
                <a:solidFill>
                  <a:srgbClr val="CC0000"/>
                </a:solidFill>
              </a:rPr>
              <a:t>”</a:t>
            </a:r>
            <a:r>
              <a:rPr lang="en-US" altLang="ja-JP"/>
              <a:t> msg [optional]</a:t>
            </a:r>
            <a:endParaRPr lang="en-US" altLang="ja-JP"/>
          </a:p>
          <a:p>
            <a:pPr lvl="1"/>
            <a:r>
              <a:rPr lang="en-US" altLang="zh-CN"/>
              <a:t>host requests IP address: </a:t>
            </a:r>
            <a:r>
              <a:rPr lang="ja-JP" altLang="en-US">
                <a:solidFill>
                  <a:srgbClr val="CC0000"/>
                </a:solidFill>
              </a:rPr>
              <a:t>“</a:t>
            </a:r>
            <a:r>
              <a:rPr lang="en-US" altLang="ja-JP">
                <a:solidFill>
                  <a:srgbClr val="CC0000"/>
                </a:solidFill>
              </a:rPr>
              <a:t>DHCP request</a:t>
            </a:r>
            <a:r>
              <a:rPr lang="ja-JP" altLang="en-US">
                <a:solidFill>
                  <a:srgbClr val="CC0000"/>
                </a:solidFill>
              </a:rPr>
              <a:t>”</a:t>
            </a:r>
            <a:r>
              <a:rPr lang="en-US" altLang="ja-JP"/>
              <a:t> msg</a:t>
            </a:r>
            <a:endParaRPr lang="en-US" altLang="ja-JP"/>
          </a:p>
          <a:p>
            <a:pPr lvl="1"/>
            <a:r>
              <a:rPr lang="en-US" altLang="zh-CN"/>
              <a:t>DHCP server sends address: </a:t>
            </a:r>
            <a:r>
              <a:rPr lang="ja-JP" altLang="en-US">
                <a:solidFill>
                  <a:srgbClr val="CC0000"/>
                </a:solidFill>
              </a:rPr>
              <a:t>“</a:t>
            </a:r>
            <a:r>
              <a:rPr lang="en-US" altLang="ja-JP">
                <a:solidFill>
                  <a:srgbClr val="CC0000"/>
                </a:solidFill>
              </a:rPr>
              <a:t>DHCP ack</a:t>
            </a:r>
            <a:r>
              <a:rPr lang="ja-JP" altLang="en-US">
                <a:solidFill>
                  <a:srgbClr val="CC0000"/>
                </a:solidFill>
              </a:rPr>
              <a:t>”</a:t>
            </a:r>
            <a:r>
              <a:rPr lang="en-US" altLang="ja-JP"/>
              <a:t> msg </a:t>
            </a:r>
            <a:endParaRPr lang="en-US" altLang="ja-JP"/>
          </a:p>
          <a:p>
            <a:endParaRPr lang="en-US" altLang="zh-C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8065" name="Footer Placeholder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Network Layer</a:t>
            </a:r>
            <a:endParaRPr lang="en-US" altLang="zh-CN" sz="1200">
              <a:latin typeface="Tahoma" panose="020B0604030504040204" charset="0"/>
            </a:endParaRPr>
          </a:p>
        </p:txBody>
      </p:sp>
      <p:sp>
        <p:nvSpPr>
          <p:cNvPr id="88066" name="Slide Number Placeholder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latin typeface="Tahoma" panose="020B0604030504040204" charset="0"/>
              </a:rPr>
              <a:t>4-</a:t>
            </a:r>
            <a:fld id="{9A0DB2DC-4C9A-4742-B13C-FB6460FD3503}" type="slidenum">
              <a:rPr lang="en-US" altLang="zh-CN" sz="1200">
                <a:latin typeface="Tahoma" panose="020B0604030504040204" charset="0"/>
              </a:rPr>
            </a:fld>
            <a:endParaRPr lang="en-US" altLang="zh-CN" sz="1200">
              <a:latin typeface="Tahoma" panose="020B0604030504040204" charset="0"/>
            </a:endParaRPr>
          </a:p>
        </p:txBody>
      </p:sp>
      <p:sp>
        <p:nvSpPr>
          <p:cNvPr id="46084" name="Rectangle 2"/>
          <p:cNvSpPr>
            <a:spLocks noGrp="1" noChangeArrowheads="1"/>
          </p:cNvSpPr>
          <p:nvPr>
            <p:ph type="title"/>
          </p:nvPr>
        </p:nvSpPr>
        <p:spPr>
          <a:xfrm>
            <a:off x="438150" y="255588"/>
            <a:ext cx="6824663" cy="898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0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DHCP client-server scenario</a:t>
            </a:r>
            <a:endParaRPr kumimoji="0" lang="en-US" sz="40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sp>
        <p:nvSpPr>
          <p:cNvPr id="88068" name="Rectangle 3"/>
          <p:cNvSpPr/>
          <p:nvPr/>
        </p:nvSpPr>
        <p:spPr>
          <a:xfrm>
            <a:off x="2408238" y="6037263"/>
            <a:ext cx="4978400" cy="3190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88069" name="Rectangle 63"/>
          <p:cNvSpPr/>
          <p:nvPr/>
        </p:nvSpPr>
        <p:spPr>
          <a:xfrm>
            <a:off x="6210300" y="6770688"/>
            <a:ext cx="85725" cy="41116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70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endParaRPr lang="en-US" altLang="zh-CN" sz="1800">
              <a:latin typeface="Comic Sans MS" panose="030F0702030302020204" pitchFamily="66" charset="0"/>
            </a:endParaRPr>
          </a:p>
        </p:txBody>
      </p:sp>
      <p:sp>
        <p:nvSpPr>
          <p:cNvPr id="88070" name="Text Box 97"/>
          <p:cNvSpPr txBox="1"/>
          <p:nvPr/>
        </p:nvSpPr>
        <p:spPr>
          <a:xfrm>
            <a:off x="869950" y="1903413"/>
            <a:ext cx="13144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Arial" panose="020B0604020202020204" pitchFamily="34" charset="0"/>
              </a:rPr>
              <a:t>223.1.1.0/24</a:t>
            </a:r>
            <a:endParaRPr lang="en-US" altLang="zh-CN" sz="1600" b="1" i="1">
              <a:latin typeface="Arial" panose="020B0604020202020204" pitchFamily="34" charset="0"/>
            </a:endParaRPr>
          </a:p>
        </p:txBody>
      </p:sp>
      <p:sp>
        <p:nvSpPr>
          <p:cNvPr id="88071" name="Text Box 98"/>
          <p:cNvSpPr txBox="1"/>
          <p:nvPr/>
        </p:nvSpPr>
        <p:spPr>
          <a:xfrm>
            <a:off x="4348163" y="4398963"/>
            <a:ext cx="13144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Arial" panose="020B0604020202020204" pitchFamily="34" charset="0"/>
              </a:rPr>
              <a:t>223.1.2.0/24</a:t>
            </a:r>
            <a:endParaRPr lang="en-US" altLang="zh-CN" sz="1600" b="1" i="1">
              <a:latin typeface="Arial" panose="020B0604020202020204" pitchFamily="34" charset="0"/>
            </a:endParaRPr>
          </a:p>
        </p:txBody>
      </p:sp>
      <p:sp>
        <p:nvSpPr>
          <p:cNvPr id="88072" name="Text Box 99"/>
          <p:cNvSpPr txBox="1"/>
          <p:nvPr/>
        </p:nvSpPr>
        <p:spPr>
          <a:xfrm>
            <a:off x="2651125" y="5992813"/>
            <a:ext cx="13144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 b="1" i="1">
                <a:latin typeface="Arial" panose="020B0604020202020204" pitchFamily="34" charset="0"/>
              </a:rPr>
              <a:t>223.1.3.0/24</a:t>
            </a:r>
            <a:endParaRPr lang="en-US" altLang="zh-CN" sz="1600" b="1" i="1">
              <a:latin typeface="Arial" panose="020B0604020202020204" pitchFamily="34" charset="0"/>
            </a:endParaRPr>
          </a:p>
        </p:txBody>
      </p:sp>
      <p:sp>
        <p:nvSpPr>
          <p:cNvPr id="88073" name="Rectangle 100"/>
          <p:cNvSpPr/>
          <p:nvPr/>
        </p:nvSpPr>
        <p:spPr>
          <a:xfrm>
            <a:off x="1663700" y="4233863"/>
            <a:ext cx="847725" cy="1809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88074" name="Freeform 101"/>
          <p:cNvSpPr/>
          <p:nvPr/>
        </p:nvSpPr>
        <p:spPr>
          <a:xfrm>
            <a:off x="1076325" y="2173288"/>
            <a:ext cx="1941513" cy="2049462"/>
          </a:xfrm>
          <a:custGeom>
            <a:avLst/>
            <a:gdLst>
              <a:gd name="txL" fmla="*/ 0 w 1223"/>
              <a:gd name="txT" fmla="*/ 0 h 1291"/>
              <a:gd name="txR" fmla="*/ 1223 w 1223"/>
              <a:gd name="txB" fmla="*/ 1291 h 1291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8075" name="Freeform 102"/>
          <p:cNvSpPr/>
          <p:nvPr/>
        </p:nvSpPr>
        <p:spPr>
          <a:xfrm>
            <a:off x="3603625" y="2482850"/>
            <a:ext cx="1906588" cy="1958975"/>
          </a:xfrm>
          <a:custGeom>
            <a:avLst/>
            <a:gdLst>
              <a:gd name="txL" fmla="*/ 0 w 1201"/>
              <a:gd name="txT" fmla="*/ 0 h 1234"/>
              <a:gd name="txR" fmla="*/ 1201 w 1201"/>
              <a:gd name="txB" fmla="*/ 1234 h 1234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8076" name="Freeform 103"/>
          <p:cNvSpPr/>
          <p:nvPr/>
        </p:nvSpPr>
        <p:spPr>
          <a:xfrm>
            <a:off x="2276475" y="3916363"/>
            <a:ext cx="2041525" cy="1979612"/>
          </a:xfrm>
          <a:custGeom>
            <a:avLst/>
            <a:gdLst>
              <a:gd name="txL" fmla="*/ 0 w 1286"/>
              <a:gd name="txT" fmla="*/ 0 h 1247"/>
              <a:gd name="txR" fmla="*/ 1286 w 1286"/>
              <a:gd name="txB" fmla="*/ 1247 h 1247"/>
            </a:gdLst>
            <a:ahLst/>
            <a:cxnLst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  <a:cxn ang="0">
                <a:pos x="2147483646" y="2147483646"/>
              </a:cxn>
            </a:cxnLst>
            <a:rect l="txL" t="txT" r="txR" b="tx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rgbClr val="66CCFF">
              <a:alpha val="100000"/>
            </a:srgbClr>
          </a:solidFill>
          <a:ln w="9525">
            <a:noFill/>
          </a:ln>
        </p:spPr>
        <p:txBody>
          <a:bodyPr/>
          <a:p>
            <a:endParaRPr lang="zh-CN" altLang="en-US"/>
          </a:p>
        </p:txBody>
      </p:sp>
      <p:sp>
        <p:nvSpPr>
          <p:cNvPr id="88077" name="Line 104"/>
          <p:cNvSpPr/>
          <p:nvPr/>
        </p:nvSpPr>
        <p:spPr>
          <a:xfrm>
            <a:off x="1625600" y="2695575"/>
            <a:ext cx="277813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78" name="Line 106"/>
          <p:cNvSpPr/>
          <p:nvPr/>
        </p:nvSpPr>
        <p:spPr>
          <a:xfrm flipV="1">
            <a:off x="1674813" y="3416300"/>
            <a:ext cx="277812" cy="31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79" name="Line 107"/>
          <p:cNvSpPr/>
          <p:nvPr/>
        </p:nvSpPr>
        <p:spPr>
          <a:xfrm>
            <a:off x="1635125" y="3967163"/>
            <a:ext cx="273050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0" name="Line 108"/>
          <p:cNvSpPr/>
          <p:nvPr/>
        </p:nvSpPr>
        <p:spPr>
          <a:xfrm flipV="1">
            <a:off x="2478088" y="3544888"/>
            <a:ext cx="561975" cy="1587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1" name="Text Box 109"/>
          <p:cNvSpPr txBox="1"/>
          <p:nvPr/>
        </p:nvSpPr>
        <p:spPr>
          <a:xfrm>
            <a:off x="1673225" y="2370138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223.1.1.1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082" name="Text Box 111"/>
          <p:cNvSpPr txBox="1"/>
          <p:nvPr/>
        </p:nvSpPr>
        <p:spPr>
          <a:xfrm>
            <a:off x="1558925" y="3995738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223.1.1.3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083" name="Text Box 112"/>
          <p:cNvSpPr txBox="1"/>
          <p:nvPr/>
        </p:nvSpPr>
        <p:spPr>
          <a:xfrm>
            <a:off x="2305050" y="3235325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223.1.1.4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084" name="Line 113"/>
          <p:cNvSpPr/>
          <p:nvPr/>
        </p:nvSpPr>
        <p:spPr>
          <a:xfrm flipV="1">
            <a:off x="3552825" y="3546475"/>
            <a:ext cx="533400" cy="1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5" name="Text Box 114"/>
          <p:cNvSpPr txBox="1"/>
          <p:nvPr/>
        </p:nvSpPr>
        <p:spPr>
          <a:xfrm>
            <a:off x="3425825" y="3236913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223.1.2.9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086" name="Line 116"/>
          <p:cNvSpPr/>
          <p:nvPr/>
        </p:nvSpPr>
        <p:spPr>
          <a:xfrm>
            <a:off x="4745038" y="285750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7" name="Line 117"/>
          <p:cNvSpPr/>
          <p:nvPr/>
        </p:nvSpPr>
        <p:spPr>
          <a:xfrm>
            <a:off x="4799013" y="4133850"/>
            <a:ext cx="2349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8" name="Line 120"/>
          <p:cNvSpPr/>
          <p:nvPr/>
        </p:nvSpPr>
        <p:spPr>
          <a:xfrm flipH="1">
            <a:off x="3311525" y="3886200"/>
            <a:ext cx="3175" cy="70802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89" name="Line 122"/>
          <p:cNvSpPr/>
          <p:nvPr/>
        </p:nvSpPr>
        <p:spPr>
          <a:xfrm flipH="1" flipV="1">
            <a:off x="2736850" y="5230813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90" name="Line 123"/>
          <p:cNvSpPr/>
          <p:nvPr/>
        </p:nvSpPr>
        <p:spPr>
          <a:xfrm flipH="1" flipV="1">
            <a:off x="3878263" y="5164138"/>
            <a:ext cx="3175" cy="2413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88091" name="Text Box 124"/>
          <p:cNvSpPr txBox="1"/>
          <p:nvPr/>
        </p:nvSpPr>
        <p:spPr>
          <a:xfrm>
            <a:off x="3849688" y="5041900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223.1.3.2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092" name="Text Box 127"/>
          <p:cNvSpPr txBox="1"/>
          <p:nvPr/>
        </p:nvSpPr>
        <p:spPr>
          <a:xfrm>
            <a:off x="1701800" y="5053013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223.1.3.1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grpSp>
        <p:nvGrpSpPr>
          <p:cNvPr id="88093" name="Group 129"/>
          <p:cNvGrpSpPr/>
          <p:nvPr/>
        </p:nvGrpSpPr>
        <p:grpSpPr>
          <a:xfrm>
            <a:off x="1071563" y="2397125"/>
            <a:ext cx="641350" cy="558800"/>
            <a:chOff x="-44" y="1473"/>
            <a:chExt cx="981" cy="1105"/>
          </a:xfrm>
        </p:grpSpPr>
        <p:pic>
          <p:nvPicPr>
            <p:cNvPr id="88191" name="Picture 130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92" name="Freeform 131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4" name="Group 132"/>
          <p:cNvGrpSpPr/>
          <p:nvPr/>
        </p:nvGrpSpPr>
        <p:grpSpPr>
          <a:xfrm>
            <a:off x="1066800" y="3006725"/>
            <a:ext cx="641350" cy="558800"/>
            <a:chOff x="-44" y="1473"/>
            <a:chExt cx="981" cy="1105"/>
          </a:xfrm>
        </p:grpSpPr>
        <p:pic>
          <p:nvPicPr>
            <p:cNvPr id="88189" name="Picture 133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90" name="Freeform 134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5" name="Group 135"/>
          <p:cNvGrpSpPr/>
          <p:nvPr/>
        </p:nvGrpSpPr>
        <p:grpSpPr>
          <a:xfrm>
            <a:off x="1095375" y="3616325"/>
            <a:ext cx="641350" cy="558800"/>
            <a:chOff x="-44" y="1473"/>
            <a:chExt cx="981" cy="1105"/>
          </a:xfrm>
        </p:grpSpPr>
        <p:pic>
          <p:nvPicPr>
            <p:cNvPr id="88187" name="Picture 136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88" name="Freeform 137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6" name="Group 138"/>
          <p:cNvGrpSpPr/>
          <p:nvPr/>
        </p:nvGrpSpPr>
        <p:grpSpPr>
          <a:xfrm flipH="1">
            <a:off x="4803775" y="2565400"/>
            <a:ext cx="641350" cy="558800"/>
            <a:chOff x="-44" y="1473"/>
            <a:chExt cx="981" cy="1105"/>
          </a:xfrm>
        </p:grpSpPr>
        <p:pic>
          <p:nvPicPr>
            <p:cNvPr id="88185" name="Picture 139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86" name="Freeform 140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7" name="Group 141"/>
          <p:cNvGrpSpPr/>
          <p:nvPr/>
        </p:nvGrpSpPr>
        <p:grpSpPr>
          <a:xfrm flipH="1">
            <a:off x="4878388" y="3844925"/>
            <a:ext cx="641350" cy="558800"/>
            <a:chOff x="-44" y="1473"/>
            <a:chExt cx="981" cy="1105"/>
          </a:xfrm>
        </p:grpSpPr>
        <p:pic>
          <p:nvPicPr>
            <p:cNvPr id="88183" name="Picture 142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84" name="Freeform 143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8" name="Group 144"/>
          <p:cNvGrpSpPr/>
          <p:nvPr/>
        </p:nvGrpSpPr>
        <p:grpSpPr>
          <a:xfrm flipH="1">
            <a:off x="3670300" y="5368925"/>
            <a:ext cx="641350" cy="558800"/>
            <a:chOff x="-44" y="1473"/>
            <a:chExt cx="981" cy="1105"/>
          </a:xfrm>
        </p:grpSpPr>
        <p:pic>
          <p:nvPicPr>
            <p:cNvPr id="88181" name="Picture 145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82" name="Freeform 146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099" name="Group 147"/>
          <p:cNvGrpSpPr/>
          <p:nvPr/>
        </p:nvGrpSpPr>
        <p:grpSpPr>
          <a:xfrm flipH="1">
            <a:off x="2506663" y="5410200"/>
            <a:ext cx="641350" cy="558800"/>
            <a:chOff x="-44" y="1473"/>
            <a:chExt cx="981" cy="1105"/>
          </a:xfrm>
        </p:grpSpPr>
        <p:pic>
          <p:nvPicPr>
            <p:cNvPr id="88179" name="Picture 148" descr="desktop_computer_stylized_medium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88180" name="Freeform 149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>
                <a:gd name="txL" fmla="*/ 0 w 356"/>
                <a:gd name="txT" fmla="*/ 0 h 368"/>
                <a:gd name="txR" fmla="*/ 356 w 356"/>
                <a:gd name="txB" fmla="*/ 368 h 368"/>
              </a:gdLst>
              <a:ahLst/>
              <a:cxnLst>
                <a:cxn ang="0">
                  <a:pos x="0" y="0"/>
                </a:cxn>
                <a:cxn ang="0">
                  <a:pos x="10045" y="645"/>
                </a:cxn>
                <a:cxn ang="0">
                  <a:pos x="11917" y="13448"/>
                </a:cxn>
                <a:cxn ang="0">
                  <a:pos x="2626" y="16818"/>
                </a:cxn>
                <a:cxn ang="0">
                  <a:pos x="0" y="0"/>
                </a:cxn>
              </a:cxnLst>
              <a:rect l="txL" t="txT" r="txR" b="tx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27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88100" name="Group 150"/>
          <p:cNvGrpSpPr/>
          <p:nvPr/>
        </p:nvGrpSpPr>
        <p:grpSpPr>
          <a:xfrm>
            <a:off x="2935288" y="3503613"/>
            <a:ext cx="698500" cy="355600"/>
            <a:chOff x="4396" y="1245"/>
            <a:chExt cx="672" cy="248"/>
          </a:xfrm>
        </p:grpSpPr>
        <p:sp>
          <p:nvSpPr>
            <p:cNvPr id="88171" name="Oval 407"/>
            <p:cNvSpPr/>
            <p:nvPr/>
          </p:nvSpPr>
          <p:spPr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88172" name="Rectangle 410"/>
            <p:cNvSpPr/>
            <p:nvPr/>
          </p:nvSpPr>
          <p:spPr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2700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sp>
          <p:nvSpPr>
            <p:cNvPr id="88173" name="Oval 411"/>
            <p:cNvSpPr/>
            <p:nvPr/>
          </p:nvSpPr>
          <p:spPr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  <a:tileRect/>
            </a:gradFill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Times New Roman" panose="02020603050405020304" pitchFamily="18" charset="0"/>
                <a:ea typeface="Arial" panose="020B0604020202020204" pitchFamily="34" charset="0"/>
              </a:endParaRPr>
            </a:p>
          </p:txBody>
        </p:sp>
        <p:grpSp>
          <p:nvGrpSpPr>
            <p:cNvPr id="88174" name="Group 154"/>
            <p:cNvGrpSpPr/>
            <p:nvPr/>
          </p:nvGrpSpPr>
          <p:grpSpPr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88177" name="Freeform 155"/>
              <p:cNvSpPr/>
              <p:nvPr/>
            </p:nvSpPr>
            <p:spPr>
              <a:xfrm>
                <a:off x="2468" y="1332"/>
                <a:ext cx="310" cy="60"/>
              </a:xfrm>
              <a:custGeom>
                <a:avLst/>
                <a:gdLst>
                  <a:gd name="txL" fmla="*/ 0 w 310"/>
                  <a:gd name="txT" fmla="*/ 0 h 60"/>
                  <a:gd name="txR" fmla="*/ 310 w 310"/>
                  <a:gd name="txB" fmla="*/ 60 h 60"/>
                </a:gdLst>
                <a:ahLst/>
                <a:cxnLst>
                  <a:cxn ang="0">
                    <a:pos x="0" y="60"/>
                  </a:cxn>
                  <a:cxn ang="0">
                    <a:pos x="96" y="60"/>
                  </a:cxn>
                  <a:cxn ang="0">
                    <a:pos x="192" y="0"/>
                  </a:cxn>
                  <a:cxn ang="0">
                    <a:pos x="310" y="0"/>
                  </a:cxn>
                </a:cxnLst>
                <a:rect l="txL" t="txT" r="txR" b="tx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78" name="Freeform 156"/>
              <p:cNvSpPr/>
              <p:nvPr/>
            </p:nvSpPr>
            <p:spPr>
              <a:xfrm>
                <a:off x="2482" y="1332"/>
                <a:ext cx="282" cy="60"/>
              </a:xfrm>
              <a:custGeom>
                <a:avLst/>
                <a:gdLst>
                  <a:gd name="txL" fmla="*/ 0 w 282"/>
                  <a:gd name="txT" fmla="*/ 0 h 60"/>
                  <a:gd name="txR" fmla="*/ 282 w 282"/>
                  <a:gd name="txB" fmla="*/ 60 h 60"/>
                </a:gdLst>
                <a:ahLst/>
                <a:cxnLst>
                  <a:cxn ang="0">
                    <a:pos x="0" y="0"/>
                  </a:cxn>
                  <a:cxn ang="0">
                    <a:pos x="96" y="0"/>
                  </a:cxn>
                  <a:cxn ang="0">
                    <a:pos x="192" y="60"/>
                  </a:cxn>
                  <a:cxn ang="0">
                    <a:pos x="282" y="60"/>
                  </a:cxn>
                </a:cxnLst>
                <a:rect l="txL" t="txT" r="txR" b="tx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ap="flat" cmpd="sng">
                <a:solidFill>
                  <a:srgbClr val="000000">
                    <a:alpha val="100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8175" name="Line 157"/>
            <p:cNvSpPr/>
            <p:nvPr/>
          </p:nvSpPr>
          <p:spPr>
            <a:xfrm>
              <a:off x="4399" y="1321"/>
              <a:ext cx="0" cy="109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88176" name="Line 158"/>
            <p:cNvSpPr/>
            <p:nvPr/>
          </p:nvSpPr>
          <p:spPr>
            <a:xfrm>
              <a:off x="5063" y="1326"/>
              <a:ext cx="0" cy="107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8101" name="Rectangle 162"/>
          <p:cNvSpPr/>
          <p:nvPr/>
        </p:nvSpPr>
        <p:spPr>
          <a:xfrm>
            <a:off x="1789113" y="3119438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>
              <a:latin typeface="Arial" panose="020B0604020202020204" pitchFamily="34" charset="0"/>
            </a:endParaRPr>
          </a:p>
        </p:txBody>
      </p:sp>
      <p:sp>
        <p:nvSpPr>
          <p:cNvPr id="88102" name="Text Box 110"/>
          <p:cNvSpPr txBox="1"/>
          <p:nvPr/>
        </p:nvSpPr>
        <p:spPr>
          <a:xfrm>
            <a:off x="1624013" y="3025775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223.1.1.2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103" name="Rectangle 165"/>
          <p:cNvSpPr/>
          <p:nvPr/>
        </p:nvSpPr>
        <p:spPr>
          <a:xfrm>
            <a:off x="4530725" y="3829050"/>
            <a:ext cx="288925" cy="233363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>
              <a:latin typeface="Arial" panose="020B0604020202020204" pitchFamily="34" charset="0"/>
            </a:endParaRPr>
          </a:p>
        </p:txBody>
      </p:sp>
      <p:sp>
        <p:nvSpPr>
          <p:cNvPr id="88104" name="Rectangle 166"/>
          <p:cNvSpPr/>
          <p:nvPr/>
        </p:nvSpPr>
        <p:spPr>
          <a:xfrm>
            <a:off x="3178175" y="4014788"/>
            <a:ext cx="288925" cy="233362"/>
          </a:xfrm>
          <a:prstGeom prst="rect">
            <a:avLst/>
          </a:prstGeom>
          <a:solidFill>
            <a:srgbClr val="66CCFF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400">
              <a:latin typeface="Arial" panose="020B0604020202020204" pitchFamily="34" charset="0"/>
            </a:endParaRPr>
          </a:p>
        </p:txBody>
      </p:sp>
      <p:sp>
        <p:nvSpPr>
          <p:cNvPr id="88105" name="Text Box 128"/>
          <p:cNvSpPr txBox="1"/>
          <p:nvPr/>
        </p:nvSpPr>
        <p:spPr>
          <a:xfrm>
            <a:off x="2801938" y="3976688"/>
            <a:ext cx="1033462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223.1.3.27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106" name="Text Box 118"/>
          <p:cNvSpPr txBox="1"/>
          <p:nvPr/>
        </p:nvSpPr>
        <p:spPr>
          <a:xfrm>
            <a:off x="3900488" y="3843338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223.1.2.2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107" name="Text Box 119"/>
          <p:cNvSpPr txBox="1"/>
          <p:nvPr/>
        </p:nvSpPr>
        <p:spPr>
          <a:xfrm>
            <a:off x="4730750" y="2327275"/>
            <a:ext cx="933450" cy="3079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400">
                <a:latin typeface="Arial" panose="020B0604020202020204" pitchFamily="34" charset="0"/>
              </a:rPr>
              <a:t>223.1.2.1</a:t>
            </a:r>
            <a:endParaRPr lang="en-US" altLang="zh-CN" sz="1400">
              <a:latin typeface="Comic Sans MS" panose="030F0702030302020204" pitchFamily="66" charset="0"/>
            </a:endParaRPr>
          </a:p>
        </p:txBody>
      </p:sp>
      <p:sp>
        <p:nvSpPr>
          <p:cNvPr id="88108" name="Text Box 168"/>
          <p:cNvSpPr txBox="1"/>
          <p:nvPr/>
        </p:nvSpPr>
        <p:spPr>
          <a:xfrm>
            <a:off x="3465513" y="1760538"/>
            <a:ext cx="906462" cy="6096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C0000"/>
                </a:solidFill>
                <a:latin typeface="Arial" panose="020B0604020202020204" pitchFamily="34" charset="0"/>
              </a:rPr>
              <a:t>DHCP</a:t>
            </a:r>
            <a:endParaRPr lang="en-US" altLang="zh-CN" sz="2000" i="1">
              <a:solidFill>
                <a:srgbClr val="CC00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C0000"/>
                </a:solidFill>
                <a:latin typeface="Arial" panose="020B0604020202020204" pitchFamily="34" charset="0"/>
              </a:rPr>
              <a:t>server</a:t>
            </a:r>
            <a:endParaRPr lang="en-US" altLang="zh-CN" sz="2000" i="1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88109" name="Text Box 170"/>
          <p:cNvSpPr txBox="1"/>
          <p:nvPr/>
        </p:nvSpPr>
        <p:spPr>
          <a:xfrm>
            <a:off x="6627813" y="3059113"/>
            <a:ext cx="1820862" cy="11271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Arial" panose="020B0604020202020204" pitchFamily="34" charset="0"/>
              </a:rPr>
              <a:t>arriving </a:t>
            </a:r>
            <a:r>
              <a:rPr lang="en-US" altLang="zh-CN" sz="2000" i="1">
                <a:solidFill>
                  <a:srgbClr val="CC0000"/>
                </a:solidFill>
                <a:latin typeface="Arial" panose="020B0604020202020204" pitchFamily="34" charset="0"/>
              </a:rPr>
              <a:t>DHCP</a:t>
            </a:r>
            <a:endParaRPr lang="en-US" altLang="zh-CN" sz="2000" i="1">
              <a:solidFill>
                <a:srgbClr val="CC0000"/>
              </a:solidFill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solidFill>
                  <a:srgbClr val="CC0000"/>
                </a:solidFill>
                <a:latin typeface="Arial" panose="020B0604020202020204" pitchFamily="34" charset="0"/>
              </a:rPr>
              <a:t>client</a:t>
            </a:r>
            <a:r>
              <a:rPr lang="en-US" altLang="zh-CN" sz="2000" i="1">
                <a:latin typeface="Arial" panose="020B0604020202020204" pitchFamily="34" charset="0"/>
              </a:rPr>
              <a:t> needs </a:t>
            </a:r>
            <a:endParaRPr lang="en-US" altLang="zh-CN" sz="2000" i="1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Arial" panose="020B0604020202020204" pitchFamily="34" charset="0"/>
              </a:rPr>
              <a:t>address in this</a:t>
            </a:r>
            <a:endParaRPr lang="en-US" altLang="zh-CN" sz="2000" i="1">
              <a:latin typeface="Arial" panose="020B060402020202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i="1">
                <a:latin typeface="Arial" panose="020B0604020202020204" pitchFamily="34" charset="0"/>
              </a:rPr>
              <a:t>network</a:t>
            </a:r>
            <a:endParaRPr lang="en-US" altLang="zh-CN" sz="2000" i="1">
              <a:latin typeface="Arial" panose="020B0604020202020204" pitchFamily="34" charset="0"/>
            </a:endParaRPr>
          </a:p>
        </p:txBody>
      </p:sp>
      <p:grpSp>
        <p:nvGrpSpPr>
          <p:cNvPr id="88110" name="Group 195"/>
          <p:cNvGrpSpPr/>
          <p:nvPr/>
        </p:nvGrpSpPr>
        <p:grpSpPr>
          <a:xfrm>
            <a:off x="3873500" y="2395538"/>
            <a:ext cx="401638" cy="681037"/>
            <a:chOff x="4140" y="429"/>
            <a:chExt cx="1425" cy="2396"/>
          </a:xfrm>
        </p:grpSpPr>
        <p:sp>
          <p:nvSpPr>
            <p:cNvPr id="88139" name="Freeform 196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5" y="0"/>
                </a:cxn>
                <a:cxn ang="0">
                  <a:pos x="24" y="38"/>
                </a:cxn>
                <a:cxn ang="0">
                  <a:pos x="24" y="295"/>
                </a:cxn>
                <a:cxn ang="0">
                  <a:pos x="0" y="309"/>
                </a:cxn>
                <a:cxn ang="0">
                  <a:pos x="5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40" name="Rectangle 197"/>
            <p:cNvSpPr/>
            <p:nvPr/>
          </p:nvSpPr>
          <p:spPr>
            <a:xfrm>
              <a:off x="4208" y="429"/>
              <a:ext cx="1048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41" name="Freeform 198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14" y="25"/>
                </a:cxn>
                <a:cxn ang="0">
                  <a:pos x="2" y="282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42" name="Freeform 199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23" y="15"/>
                </a:cxn>
                <a:cxn ang="0">
                  <a:pos x="23" y="27"/>
                </a:cxn>
                <a:cxn ang="0">
                  <a:pos x="0" y="11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43" name="Rectangle 200"/>
            <p:cNvSpPr/>
            <p:nvPr/>
          </p:nvSpPr>
          <p:spPr>
            <a:xfrm>
              <a:off x="4213" y="691"/>
              <a:ext cx="597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grpSp>
          <p:nvGrpSpPr>
            <p:cNvPr id="88144" name="Group 201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8169" name="AutoShape 202"/>
              <p:cNvSpPr/>
              <p:nvPr/>
            </p:nvSpPr>
            <p:spPr>
              <a:xfrm>
                <a:off x="613" y="2569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8170" name="AutoShape 203"/>
              <p:cNvSpPr/>
              <p:nvPr/>
            </p:nvSpPr>
            <p:spPr>
              <a:xfrm>
                <a:off x="627" y="2585"/>
                <a:ext cx="689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8145" name="Rectangle 204"/>
            <p:cNvSpPr/>
            <p:nvPr/>
          </p:nvSpPr>
          <p:spPr>
            <a:xfrm>
              <a:off x="4224" y="1021"/>
              <a:ext cx="597" cy="4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grpSp>
          <p:nvGrpSpPr>
            <p:cNvPr id="88146" name="Group 205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8167" name="AutoShape 206"/>
              <p:cNvSpPr/>
              <p:nvPr/>
            </p:nvSpPr>
            <p:spPr>
              <a:xfrm>
                <a:off x="616" y="2567"/>
                <a:ext cx="724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8168" name="AutoShape 207"/>
              <p:cNvSpPr/>
              <p:nvPr/>
            </p:nvSpPr>
            <p:spPr>
              <a:xfrm>
                <a:off x="630" y="2584"/>
                <a:ext cx="689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8147" name="Rectangle 208"/>
            <p:cNvSpPr/>
            <p:nvPr/>
          </p:nvSpPr>
          <p:spPr>
            <a:xfrm>
              <a:off x="4219" y="1356"/>
              <a:ext cx="59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48" name="Rectangle 209"/>
            <p:cNvSpPr/>
            <p:nvPr/>
          </p:nvSpPr>
          <p:spPr>
            <a:xfrm>
              <a:off x="4230" y="1658"/>
              <a:ext cx="591" cy="45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grpSp>
          <p:nvGrpSpPr>
            <p:cNvPr id="88149" name="Group 210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8165" name="AutoShape 211"/>
              <p:cNvSpPr/>
              <p:nvPr/>
            </p:nvSpPr>
            <p:spPr>
              <a:xfrm>
                <a:off x="617" y="2576"/>
                <a:ext cx="723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8166" name="AutoShape 212"/>
              <p:cNvSpPr/>
              <p:nvPr/>
            </p:nvSpPr>
            <p:spPr>
              <a:xfrm>
                <a:off x="631" y="2586"/>
                <a:ext cx="68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8150" name="Freeform 213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23" y="14"/>
                </a:cxn>
                <a:cxn ang="0">
                  <a:pos x="23" y="25"/>
                </a:cxn>
                <a:cxn ang="0">
                  <a:pos x="0" y="10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88151" name="Group 214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8163" name="AutoShape 215"/>
              <p:cNvSpPr/>
              <p:nvPr/>
            </p:nvSpPr>
            <p:spPr>
              <a:xfrm>
                <a:off x="612" y="2569"/>
                <a:ext cx="730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  <p:sp>
            <p:nvSpPr>
              <p:cNvPr id="88164" name="AutoShape 216"/>
              <p:cNvSpPr/>
              <p:nvPr/>
            </p:nvSpPr>
            <p:spPr>
              <a:xfrm>
                <a:off x="626" y="2586"/>
                <a:ext cx="695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742950" indent="-28575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88152" name="Rectangle 217"/>
            <p:cNvSpPr/>
            <p:nvPr/>
          </p:nvSpPr>
          <p:spPr>
            <a:xfrm>
              <a:off x="5250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53" name="Freeform 218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21" y="15"/>
                </a:cxn>
                <a:cxn ang="0">
                  <a:pos x="21" y="28"/>
                </a:cxn>
                <a:cxn ang="0">
                  <a:pos x="0" y="10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54" name="Freeform 219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22" y="19"/>
                </a:cxn>
                <a:cxn ang="0">
                  <a:pos x="20" y="33"/>
                </a:cxn>
                <a:cxn ang="0">
                  <a:pos x="2" y="14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55" name="Oval 220"/>
            <p:cNvSpPr/>
            <p:nvPr/>
          </p:nvSpPr>
          <p:spPr>
            <a:xfrm>
              <a:off x="5514" y="2613"/>
              <a:ext cx="51" cy="95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56" name="Freeform 221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13"/>
                </a:cxn>
                <a:cxn ang="0">
                  <a:pos x="2" y="28"/>
                </a:cxn>
                <a:cxn ang="0">
                  <a:pos x="22" y="13"/>
                </a:cxn>
                <a:cxn ang="0">
                  <a:pos x="21" y="0"/>
                </a:cxn>
                <a:cxn ang="0">
                  <a:pos x="0" y="13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88157" name="AutoShape 222"/>
            <p:cNvSpPr/>
            <p:nvPr/>
          </p:nvSpPr>
          <p:spPr>
            <a:xfrm>
              <a:off x="4140" y="2680"/>
              <a:ext cx="1200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58" name="AutoShape 223"/>
            <p:cNvSpPr/>
            <p:nvPr/>
          </p:nvSpPr>
          <p:spPr>
            <a:xfrm>
              <a:off x="4208" y="2713"/>
              <a:ext cx="1070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59" name="Oval 224"/>
            <p:cNvSpPr/>
            <p:nvPr/>
          </p:nvSpPr>
          <p:spPr>
            <a:xfrm>
              <a:off x="4309" y="2384"/>
              <a:ext cx="158" cy="140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60" name="Oval 225"/>
            <p:cNvSpPr/>
            <p:nvPr/>
          </p:nvSpPr>
          <p:spPr>
            <a:xfrm>
              <a:off x="4484" y="2384"/>
              <a:ext cx="163" cy="145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solidFill>
                  <a:srgbClr val="FF0000"/>
                </a:solidFill>
                <a:latin typeface="Arial" panose="020B0604020202020204" pitchFamily="34" charset="0"/>
                <a:ea typeface="Arial" panose="020B0604020202020204" pitchFamily="34" charset="0"/>
              </a:endParaRPr>
            </a:p>
          </p:txBody>
        </p:sp>
        <p:sp>
          <p:nvSpPr>
            <p:cNvPr id="88161" name="Oval 226"/>
            <p:cNvSpPr/>
            <p:nvPr/>
          </p:nvSpPr>
          <p:spPr>
            <a:xfrm>
              <a:off x="4664" y="2384"/>
              <a:ext cx="158" cy="140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  <p:sp>
          <p:nvSpPr>
            <p:cNvPr id="88162" name="Rectangle 227"/>
            <p:cNvSpPr/>
            <p:nvPr/>
          </p:nvSpPr>
          <p:spPr>
            <a:xfrm>
              <a:off x="5064" y="1836"/>
              <a:ext cx="84" cy="760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742950" indent="-28575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400">
                <a:latin typeface="Arial" panose="020B0604020202020204" pitchFamily="34" charset="0"/>
              </a:endParaRPr>
            </a:p>
          </p:txBody>
        </p:sp>
      </p:grpSp>
      <p:grpSp>
        <p:nvGrpSpPr>
          <p:cNvPr id="88111" name="Group 231"/>
          <p:cNvGrpSpPr/>
          <p:nvPr/>
        </p:nvGrpSpPr>
        <p:grpSpPr>
          <a:xfrm>
            <a:off x="5486400" y="3141663"/>
            <a:ext cx="1101725" cy="549275"/>
            <a:chOff x="3428" y="1798"/>
            <a:chExt cx="694" cy="346"/>
          </a:xfrm>
        </p:grpSpPr>
        <p:grpSp>
          <p:nvGrpSpPr>
            <p:cNvPr id="88115" name="Group 229"/>
            <p:cNvGrpSpPr/>
            <p:nvPr/>
          </p:nvGrpSpPr>
          <p:grpSpPr>
            <a:xfrm>
              <a:off x="3628" y="1798"/>
              <a:ext cx="494" cy="346"/>
              <a:chOff x="4420" y="878"/>
              <a:chExt cx="614" cy="458"/>
            </a:xfrm>
          </p:grpSpPr>
          <p:pic>
            <p:nvPicPr>
              <p:cNvPr id="88117" name="Picture 173" descr="laptop_keyboard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9064" flipH="1">
                <a:off x="4420" y="1108"/>
                <a:ext cx="527" cy="228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8118" name="Freeform 174"/>
              <p:cNvSpPr/>
              <p:nvPr/>
            </p:nvSpPr>
            <p:spPr>
              <a:xfrm>
                <a:off x="4595" y="888"/>
                <a:ext cx="424" cy="297"/>
              </a:xfrm>
              <a:custGeom>
                <a:avLst/>
                <a:gdLst>
                  <a:gd name="txL" fmla="*/ 0 w 2982"/>
                  <a:gd name="txT" fmla="*/ 0 h 2442"/>
                  <a:gd name="txR" fmla="*/ 2982 w 2982"/>
                  <a:gd name="txB" fmla="*/ 2442 h 2442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>
                  <a:alpha val="100000"/>
                </a:schemeClr>
              </a:solidFill>
              <a:ln w="9525" cap="flat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pic>
            <p:nvPicPr>
              <p:cNvPr id="88119" name="Picture 175" descr="screen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16" y="895"/>
                <a:ext cx="385" cy="271"/>
              </a:xfrm>
              <a:prstGeom prst="rect">
                <a:avLst/>
              </a:prstGeom>
              <a:noFill/>
              <a:ln w="9525">
                <a:noFill/>
              </a:ln>
            </p:spPr>
          </p:pic>
          <p:sp>
            <p:nvSpPr>
              <p:cNvPr id="88120" name="Freeform 176"/>
              <p:cNvSpPr/>
              <p:nvPr/>
            </p:nvSpPr>
            <p:spPr>
              <a:xfrm>
                <a:off x="4672" y="879"/>
                <a:ext cx="359" cy="55"/>
              </a:xfrm>
              <a:custGeom>
                <a:avLst/>
                <a:gdLst>
                  <a:gd name="txL" fmla="*/ 0 w 2528"/>
                  <a:gd name="txT" fmla="*/ 0 h 455"/>
                  <a:gd name="txR" fmla="*/ 2528 w 2528"/>
                  <a:gd name="txB" fmla="*/ 455 h 455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EAEAEA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1" name="Freeform 177"/>
              <p:cNvSpPr/>
              <p:nvPr/>
            </p:nvSpPr>
            <p:spPr>
              <a:xfrm>
                <a:off x="4591" y="878"/>
                <a:ext cx="100" cy="230"/>
              </a:xfrm>
              <a:custGeom>
                <a:avLst/>
                <a:gdLst>
                  <a:gd name="txL" fmla="*/ 0 w 702"/>
                  <a:gd name="txT" fmla="*/ 0 h 1893"/>
                  <a:gd name="txR" fmla="*/ 702 w 702"/>
                  <a:gd name="txB" fmla="*/ 1893 h 189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2" name="Freeform 178"/>
              <p:cNvSpPr/>
              <p:nvPr/>
            </p:nvSpPr>
            <p:spPr>
              <a:xfrm>
                <a:off x="4921" y="920"/>
                <a:ext cx="108" cy="265"/>
              </a:xfrm>
              <a:custGeom>
                <a:avLst/>
                <a:gdLst>
                  <a:gd name="txL" fmla="*/ 0 w 756"/>
                  <a:gd name="txT" fmla="*/ 0 h 2184"/>
                  <a:gd name="txR" fmla="*/ 756 w 756"/>
                  <a:gd name="txB" fmla="*/ 2184 h 2184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54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3" name="Freeform 179"/>
              <p:cNvSpPr/>
              <p:nvPr/>
            </p:nvSpPr>
            <p:spPr>
              <a:xfrm>
                <a:off x="4590" y="1097"/>
                <a:ext cx="394" cy="89"/>
              </a:xfrm>
              <a:custGeom>
                <a:avLst/>
                <a:gdLst>
                  <a:gd name="txL" fmla="*/ 0 w 2773"/>
                  <a:gd name="txT" fmla="*/ 0 h 738"/>
                  <a:gd name="txR" fmla="*/ 2773 w 2773"/>
                  <a:gd name="txB" fmla="*/ 738 h 738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>
                      <a:alpha val="100000"/>
                    </a:srgbClr>
                  </a:gs>
                  <a:gs pos="100000">
                    <a:schemeClr val="bg1">
                      <a:alpha val="100000"/>
                    </a:scheme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4" name="Freeform 180"/>
              <p:cNvSpPr/>
              <p:nvPr/>
            </p:nvSpPr>
            <p:spPr>
              <a:xfrm>
                <a:off x="4933" y="922"/>
                <a:ext cx="101" cy="266"/>
              </a:xfrm>
              <a:custGeom>
                <a:avLst/>
                <a:gdLst>
                  <a:gd name="txL" fmla="*/ 0 w 637"/>
                  <a:gd name="txT" fmla="*/ 0 h 1659"/>
                  <a:gd name="txR" fmla="*/ 637 w 637"/>
                  <a:gd name="txB" fmla="*/ 1659 h 1659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5" name="Freeform 181"/>
              <p:cNvSpPr/>
              <p:nvPr/>
            </p:nvSpPr>
            <p:spPr>
              <a:xfrm>
                <a:off x="4590" y="1109"/>
                <a:ext cx="351" cy="88"/>
              </a:xfrm>
              <a:custGeom>
                <a:avLst/>
                <a:gdLst>
                  <a:gd name="txL" fmla="*/ 0 w 2216"/>
                  <a:gd name="txT" fmla="*/ 0 h 550"/>
                  <a:gd name="txR" fmla="*/ 2216 w 2216"/>
                  <a:gd name="txB" fmla="*/ 550 h 550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>
                      <a:alpha val="100000"/>
                    </a:srgbClr>
                  </a:gs>
                  <a:gs pos="100000">
                    <a:srgbClr val="808080">
                      <a:alpha val="100000"/>
                    </a:srgbClr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grpSp>
            <p:nvGrpSpPr>
              <p:cNvPr id="88126" name="Group 182"/>
              <p:cNvGrpSpPr/>
              <p:nvPr/>
            </p:nvGrpSpPr>
            <p:grpSpPr>
              <a:xfrm>
                <a:off x="4584" y="1203"/>
                <a:ext cx="119" cy="53"/>
                <a:chOff x="1740" y="2642"/>
                <a:chExt cx="752" cy="327"/>
              </a:xfrm>
            </p:grpSpPr>
            <p:sp>
              <p:nvSpPr>
                <p:cNvPr id="88133" name="Freeform 183"/>
                <p:cNvSpPr/>
                <p:nvPr/>
              </p:nvSpPr>
              <p:spPr>
                <a:xfrm>
                  <a:off x="1740" y="2642"/>
                  <a:ext cx="752" cy="327"/>
                </a:xfrm>
                <a:custGeom>
                  <a:avLst/>
                  <a:gdLst>
                    <a:gd name="txL" fmla="*/ 0 w 752"/>
                    <a:gd name="txT" fmla="*/ 0 h 327"/>
                    <a:gd name="txR" fmla="*/ 752 w 752"/>
                    <a:gd name="txB" fmla="*/ 327 h 327"/>
                  </a:gdLst>
                  <a:ahLst/>
                  <a:cxnLst>
                    <a:cxn ang="0">
                      <a:pos x="293" y="0"/>
                    </a:cxn>
                    <a:cxn ang="0">
                      <a:pos x="752" y="124"/>
                    </a:cxn>
                    <a:cxn ang="0">
                      <a:pos x="470" y="327"/>
                    </a:cxn>
                    <a:cxn ang="0">
                      <a:pos x="0" y="183"/>
                    </a:cxn>
                    <a:cxn ang="0">
                      <a:pos x="293" y="0"/>
                    </a:cxn>
                  </a:cxnLst>
                  <a:rect l="txL" t="txT" r="txR" b="txB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8134" name="Freeform 184"/>
                <p:cNvSpPr/>
                <p:nvPr/>
              </p:nvSpPr>
              <p:spPr>
                <a:xfrm>
                  <a:off x="1754" y="2649"/>
                  <a:ext cx="726" cy="311"/>
                </a:xfrm>
                <a:custGeom>
                  <a:avLst/>
                  <a:gdLst>
                    <a:gd name="txL" fmla="*/ 0 w 726"/>
                    <a:gd name="txT" fmla="*/ 0 h 311"/>
                    <a:gd name="txR" fmla="*/ 726 w 726"/>
                    <a:gd name="txB" fmla="*/ 311 h 311"/>
                  </a:gdLst>
                  <a:ahLst/>
                  <a:cxnLst>
                    <a:cxn ang="0">
                      <a:pos x="282" y="0"/>
                    </a:cxn>
                    <a:cxn ang="0">
                      <a:pos x="726" y="119"/>
                    </a:cxn>
                    <a:cxn ang="0">
                      <a:pos x="457" y="311"/>
                    </a:cxn>
                    <a:cxn ang="0">
                      <a:pos x="0" y="173"/>
                    </a:cxn>
                    <a:cxn ang="0">
                      <a:pos x="282" y="0"/>
                    </a:cxn>
                  </a:cxnLst>
                  <a:rect l="txL" t="txT" r="txR" b="txB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>
                        <a:alpha val="100000"/>
                      </a:srgbClr>
                    </a:gs>
                    <a:gs pos="100000">
                      <a:srgbClr val="DDDDDD">
                        <a:alpha val="100000"/>
                      </a:srgbClr>
                    </a:gs>
                  </a:gsLst>
                  <a:lin ang="18900000" scaled="1"/>
                  <a:tileRect/>
                </a:gra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8135" name="Freeform 185"/>
                <p:cNvSpPr/>
                <p:nvPr/>
              </p:nvSpPr>
              <p:spPr>
                <a:xfrm>
                  <a:off x="1808" y="2770"/>
                  <a:ext cx="258" cy="100"/>
                </a:xfrm>
                <a:custGeom>
                  <a:avLst/>
                  <a:gdLst>
                    <a:gd name="txL" fmla="*/ 0 w 258"/>
                    <a:gd name="txT" fmla="*/ 0 h 100"/>
                    <a:gd name="txR" fmla="*/ 258 w 258"/>
                    <a:gd name="txB" fmla="*/ 100 h 100"/>
                  </a:gdLst>
                  <a:ahLst/>
                  <a:cxnLst>
                    <a:cxn ang="0">
                      <a:pos x="0" y="44"/>
                    </a:cxn>
                    <a:cxn ang="0">
                      <a:pos x="75" y="0"/>
                    </a:cxn>
                    <a:cxn ang="0">
                      <a:pos x="258" y="50"/>
                    </a:cxn>
                    <a:cxn ang="0">
                      <a:pos x="183" y="100"/>
                    </a:cxn>
                    <a:cxn ang="0">
                      <a:pos x="0" y="44"/>
                    </a:cxn>
                  </a:cxnLst>
                  <a:rect l="txL" t="txT" r="txR" b="txB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8136" name="Freeform 186"/>
                <p:cNvSpPr/>
                <p:nvPr/>
              </p:nvSpPr>
              <p:spPr>
                <a:xfrm>
                  <a:off x="1799" y="2816"/>
                  <a:ext cx="194" cy="63"/>
                </a:xfrm>
                <a:custGeom>
                  <a:avLst/>
                  <a:gdLst>
                    <a:gd name="txL" fmla="*/ 0 w 194"/>
                    <a:gd name="txT" fmla="*/ 0 h 63"/>
                    <a:gd name="txR" fmla="*/ 194 w 194"/>
                    <a:gd name="txB" fmla="*/ 63 h 63"/>
                  </a:gdLst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8137" name="Freeform 187"/>
                <p:cNvSpPr/>
                <p:nvPr/>
              </p:nvSpPr>
              <p:spPr>
                <a:xfrm>
                  <a:off x="2020" y="2834"/>
                  <a:ext cx="258" cy="102"/>
                </a:xfrm>
                <a:custGeom>
                  <a:avLst/>
                  <a:gdLst>
                    <a:gd name="txL" fmla="*/ 0 w 258"/>
                    <a:gd name="txT" fmla="*/ 0 h 102"/>
                    <a:gd name="txR" fmla="*/ 258 w 258"/>
                    <a:gd name="txB" fmla="*/ 102 h 102"/>
                  </a:gdLst>
                  <a:ahLst/>
                  <a:cxnLst>
                    <a:cxn ang="0">
                      <a:pos x="0" y="46"/>
                    </a:cxn>
                    <a:cxn ang="0">
                      <a:pos x="71" y="0"/>
                    </a:cxn>
                    <a:cxn ang="0">
                      <a:pos x="258" y="52"/>
                    </a:cxn>
                    <a:cxn ang="0">
                      <a:pos x="183" y="102"/>
                    </a:cxn>
                    <a:cxn ang="0">
                      <a:pos x="0" y="46"/>
                    </a:cxn>
                  </a:cxnLst>
                  <a:rect l="txL" t="txT" r="txR" b="txB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>
                    <a:alpha val="100000"/>
                  </a:scheme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88138" name="Freeform 188"/>
                <p:cNvSpPr/>
                <p:nvPr/>
              </p:nvSpPr>
              <p:spPr>
                <a:xfrm>
                  <a:off x="2011" y="2882"/>
                  <a:ext cx="194" cy="63"/>
                </a:xfrm>
                <a:custGeom>
                  <a:avLst/>
                  <a:gdLst>
                    <a:gd name="txL" fmla="*/ 0 w 194"/>
                    <a:gd name="txT" fmla="*/ 0 h 63"/>
                    <a:gd name="txR" fmla="*/ 194 w 194"/>
                    <a:gd name="txB" fmla="*/ 63 h 63"/>
                  </a:gdLst>
                  <a:ahLst/>
                  <a:cxnLst>
                    <a:cxn ang="0">
                      <a:pos x="12" y="0"/>
                    </a:cxn>
                    <a:cxn ang="0">
                      <a:pos x="194" y="53"/>
                    </a:cxn>
                    <a:cxn ang="0">
                      <a:pos x="180" y="63"/>
                    </a:cxn>
                    <a:cxn ang="0">
                      <a:pos x="0" y="9"/>
                    </a:cxn>
                    <a:cxn ang="0">
                      <a:pos x="12" y="0"/>
                    </a:cxn>
                  </a:cxnLst>
                  <a:rect l="txL" t="txT" r="txR" b="txB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>
                    <a:alpha val="100000"/>
                  </a:srgbClr>
                </a:solidFill>
                <a:ln w="9525">
                  <a:noFill/>
                </a:ln>
              </p:spPr>
              <p:txBody>
                <a:bodyPr/>
                <a:p>
                  <a:endParaRPr lang="zh-CN" altLang="en-US"/>
                </a:p>
              </p:txBody>
            </p:sp>
          </p:grpSp>
          <p:sp>
            <p:nvSpPr>
              <p:cNvPr id="88127" name="Freeform 189"/>
              <p:cNvSpPr/>
              <p:nvPr/>
            </p:nvSpPr>
            <p:spPr>
              <a:xfrm>
                <a:off x="4788" y="1211"/>
                <a:ext cx="144" cy="116"/>
              </a:xfrm>
              <a:custGeom>
                <a:avLst/>
                <a:gdLst>
                  <a:gd name="txL" fmla="*/ 0 w 990"/>
                  <a:gd name="txT" fmla="*/ 0 h 792"/>
                  <a:gd name="txR" fmla="*/ 990 w 990"/>
                  <a:gd name="txB" fmla="*/ 792 h 792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8" name="Freeform 190"/>
              <p:cNvSpPr/>
              <p:nvPr/>
            </p:nvSpPr>
            <p:spPr>
              <a:xfrm>
                <a:off x="4420" y="1220"/>
                <a:ext cx="369" cy="106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29" name="Freeform 191"/>
              <p:cNvSpPr/>
              <p:nvPr/>
            </p:nvSpPr>
            <p:spPr>
              <a:xfrm>
                <a:off x="4420" y="1201"/>
                <a:ext cx="4" cy="21"/>
              </a:xfrm>
              <a:custGeom>
                <a:avLst/>
                <a:gdLst>
                  <a:gd name="txL" fmla="*/ 0 w 26"/>
                  <a:gd name="txT" fmla="*/ 0 h 147"/>
                  <a:gd name="txR" fmla="*/ 26 w 26"/>
                  <a:gd name="txB" fmla="*/ 147 h 147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30" name="Freeform 192"/>
              <p:cNvSpPr/>
              <p:nvPr/>
            </p:nvSpPr>
            <p:spPr>
              <a:xfrm>
                <a:off x="4421" y="1114"/>
                <a:ext cx="171" cy="88"/>
              </a:xfrm>
              <a:custGeom>
                <a:avLst/>
                <a:gdLst>
                  <a:gd name="txL" fmla="*/ 0 w 1176"/>
                  <a:gd name="txT" fmla="*/ 0 h 606"/>
                  <a:gd name="txR" fmla="*/ 1176 w 1176"/>
                  <a:gd name="txB" fmla="*/ 606 h 606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31" name="Freeform 193"/>
              <p:cNvSpPr/>
              <p:nvPr/>
            </p:nvSpPr>
            <p:spPr>
              <a:xfrm>
                <a:off x="4432" y="1205"/>
                <a:ext cx="350" cy="102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8132" name="Freeform 194"/>
              <p:cNvSpPr/>
              <p:nvPr/>
            </p:nvSpPr>
            <p:spPr>
              <a:xfrm flipV="1">
                <a:off x="4782" y="1198"/>
                <a:ext cx="142" cy="105"/>
              </a:xfrm>
              <a:custGeom>
                <a:avLst/>
                <a:gdLst>
                  <a:gd name="txL" fmla="*/ 0 w 2532"/>
                  <a:gd name="txT" fmla="*/ 0 h 723"/>
                  <a:gd name="txR" fmla="*/ 2532 w 2532"/>
                  <a:gd name="txB" fmla="*/ 723 h 723"/>
                </a:gdLst>
                <a:ahLst/>
                <a:cxnLst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txL" t="txT" r="txR" b="txB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88116" name="Line 230"/>
            <p:cNvSpPr/>
            <p:nvPr/>
          </p:nvSpPr>
          <p:spPr>
            <a:xfrm flipH="1">
              <a:off x="3428" y="2002"/>
              <a:ext cx="27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</p:grpSp>
      <p:sp>
        <p:nvSpPr>
          <p:cNvPr id="88112" name="AutoShape 232"/>
          <p:cNvSpPr/>
          <p:nvPr/>
        </p:nvSpPr>
        <p:spPr>
          <a:xfrm>
            <a:off x="5754688" y="3698875"/>
            <a:ext cx="976312" cy="374650"/>
          </a:xfrm>
          <a:prstGeom prst="leftArrow">
            <a:avLst>
              <a:gd name="adj1" fmla="val 50000"/>
              <a:gd name="adj2" fmla="val 65148"/>
            </a:avLst>
          </a:prstGeom>
          <a:gradFill rotWithShape="1">
            <a:gsLst>
              <a:gs pos="0">
                <a:srgbClr val="CC0000"/>
              </a:gs>
              <a:gs pos="100000">
                <a:schemeClr val="bg1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zh-CN" altLang="zh-CN" sz="1800">
              <a:latin typeface="Arial" panose="020B0604020202020204" pitchFamily="34" charset="0"/>
            </a:endParaRPr>
          </a:p>
        </p:txBody>
      </p:sp>
      <p:sp>
        <p:nvSpPr>
          <p:cNvPr id="88113" name="Line 233"/>
          <p:cNvSpPr/>
          <p:nvPr/>
        </p:nvSpPr>
        <p:spPr>
          <a:xfrm flipH="1">
            <a:off x="4268788" y="2954338"/>
            <a:ext cx="314325" cy="4762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88114" name="Picture 235" descr="underline_base"/>
          <p:cNvPicPr/>
          <p:nvPr/>
        </p:nvPicPr>
        <p:blipFill>
          <a:blip r:embed="rId4"/>
          <a:stretch>
            <a:fillRect/>
          </a:stretch>
        </p:blipFill>
        <p:spPr>
          <a:xfrm>
            <a:off x="514350" y="931863"/>
            <a:ext cx="6399213" cy="1730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0113" name="Footer Placeholder 4"/>
          <p:cNvSpPr txBox="1">
            <a:spLocks noGrp="1"/>
          </p:cNvSpPr>
          <p:nvPr>
            <p:ph type="ftr" sz="quarter" idx="3"/>
          </p:nvPr>
        </p:nvSpPr>
        <p:spPr/>
        <p:txBody>
          <a:bodyPr/>
          <a:p>
            <a:pPr marL="0" indent="0"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ahoma" panose="020B0604030504040204" charset="0"/>
                <a:ea typeface="MS PGothic" panose="020B0600070205080204" pitchFamily="34" charset="-128"/>
                <a:cs typeface="MS PGothic" panose="020B0600070205080204" pitchFamily="34" charset="-128"/>
              </a:rPr>
              <a:t>Network Layer</a:t>
            </a:r>
            <a:endParaRPr lang="en-US" altLang="zh-CN" sz="1200">
              <a:solidFill>
                <a:srgbClr val="000000"/>
              </a:solidFill>
              <a:latin typeface="Tahoma" panose="020B060403050404020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90114" name="Slide Number Placeholder 5"/>
          <p:cNvSpPr txBox="1">
            <a:spLocks noGrp="1"/>
          </p:cNvSpPr>
          <p:nvPr>
            <p:ph type="sldNum" sz="quarter" idx="4"/>
          </p:nvPr>
        </p:nvSpPr>
        <p:spPr/>
        <p:txBody>
          <a:bodyPr/>
          <a:p>
            <a:pPr marL="0" indent="0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>
                <a:solidFill>
                  <a:srgbClr val="000000"/>
                </a:solidFill>
                <a:latin typeface="Tahoma" panose="020B0604030504040204" charset="0"/>
              </a:rPr>
              <a:t>4-</a:t>
            </a:r>
            <a:fld id="{9A0DB2DC-4C9A-4742-B13C-FB6460FD3503}" type="slidenum">
              <a:rPr lang="en-US" altLang="zh-CN" sz="1200">
                <a:solidFill>
                  <a:srgbClr val="000000"/>
                </a:solidFill>
                <a:latin typeface="Tahoma" panose="020B0604030504040204" charset="0"/>
              </a:rPr>
            </a:fld>
            <a:endParaRPr lang="en-US" altLang="zh-CN" sz="1200">
              <a:solidFill>
                <a:srgbClr val="000000"/>
              </a:solidFill>
              <a:latin typeface="Tahoma" panose="020B0604030504040204" charset="0"/>
            </a:endParaRPr>
          </a:p>
        </p:txBody>
      </p:sp>
      <p:sp>
        <p:nvSpPr>
          <p:cNvPr id="90115" name="Text Box 7"/>
          <p:cNvSpPr txBox="1"/>
          <p:nvPr/>
        </p:nvSpPr>
        <p:spPr>
          <a:xfrm>
            <a:off x="881063" y="1270000"/>
            <a:ext cx="2341562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C0000"/>
                </a:solidFill>
                <a:latin typeface="Arial" panose="020B0604020202020204" pitchFamily="34" charset="0"/>
              </a:rPr>
              <a:t>DHCP server: 223.1.2.5</a:t>
            </a:r>
            <a:endParaRPr lang="en-US" altLang="zh-CN" sz="16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90116" name="Text Box 8"/>
          <p:cNvSpPr txBox="1"/>
          <p:nvPr/>
        </p:nvSpPr>
        <p:spPr>
          <a:xfrm>
            <a:off x="6037263" y="1311275"/>
            <a:ext cx="849312" cy="5080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688975" indent="-231775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</a:lstStyle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C0000"/>
                </a:solidFill>
                <a:latin typeface="Arial" panose="020B0604020202020204" pitchFamily="34" charset="0"/>
              </a:rPr>
              <a:t>arriving</a:t>
            </a:r>
            <a:endParaRPr lang="en-US" altLang="zh-CN" sz="1600">
              <a:solidFill>
                <a:srgbClr val="CC0000"/>
              </a:solidFill>
              <a:latin typeface="Arial" panose="020B0604020202020204" pitchFamily="34" charset="0"/>
            </a:endParaRPr>
          </a:p>
          <a:p>
            <a:pPr marL="0" lvl="0" indent="0"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600">
                <a:solidFill>
                  <a:srgbClr val="CC0000"/>
                </a:solidFill>
                <a:latin typeface="Arial" panose="020B0604020202020204" pitchFamily="34" charset="0"/>
              </a:rPr>
              <a:t> client</a:t>
            </a:r>
            <a:endParaRPr lang="en-US" altLang="zh-CN" sz="1600">
              <a:solidFill>
                <a:srgbClr val="CC0000"/>
              </a:solidFill>
              <a:latin typeface="Arial" panose="020B0604020202020204" pitchFamily="34" charset="0"/>
            </a:endParaRPr>
          </a:p>
        </p:txBody>
      </p:sp>
      <p:sp>
        <p:nvSpPr>
          <p:cNvPr id="90117" name="Line 10"/>
          <p:cNvSpPr/>
          <p:nvPr/>
        </p:nvSpPr>
        <p:spPr>
          <a:xfrm flipH="1">
            <a:off x="1816100" y="2163763"/>
            <a:ext cx="11113" cy="4027487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90118" name="Line 11"/>
          <p:cNvSpPr/>
          <p:nvPr/>
        </p:nvSpPr>
        <p:spPr>
          <a:xfrm flipH="1">
            <a:off x="6342063" y="2239963"/>
            <a:ext cx="11112" cy="4140200"/>
          </a:xfrm>
          <a:prstGeom prst="line">
            <a:avLst/>
          </a:prstGeom>
          <a:ln w="9525" cap="flat" cmpd="sng">
            <a:solidFill>
              <a:schemeClr val="bg2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" name="Group 5"/>
          <p:cNvGrpSpPr/>
          <p:nvPr/>
        </p:nvGrpSpPr>
        <p:grpSpPr>
          <a:xfrm>
            <a:off x="1860550" y="1343025"/>
            <a:ext cx="4395788" cy="1401763"/>
            <a:chOff x="1860550" y="1343025"/>
            <a:chExt cx="4395788" cy="1401763"/>
          </a:xfrm>
        </p:grpSpPr>
        <p:sp>
          <p:nvSpPr>
            <p:cNvPr id="90202" name="Line 9"/>
            <p:cNvSpPr/>
            <p:nvPr/>
          </p:nvSpPr>
          <p:spPr>
            <a:xfrm flipH="1">
              <a:off x="1860550" y="2208213"/>
              <a:ext cx="4395788" cy="536575"/>
            </a:xfrm>
            <a:prstGeom prst="line">
              <a:avLst/>
            </a:prstGeom>
            <a:ln w="19050" cap="flat" cmpd="sng">
              <a:solidFill>
                <a:srgbClr val="000000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90203" name="Group 23"/>
            <p:cNvGrpSpPr/>
            <p:nvPr/>
          </p:nvGrpSpPr>
          <p:grpSpPr>
            <a:xfrm>
              <a:off x="3389313" y="1343025"/>
              <a:ext cx="2673350" cy="1116013"/>
              <a:chOff x="11865" y="3885"/>
              <a:chExt cx="3720" cy="1260"/>
            </a:xfrm>
          </p:grpSpPr>
          <p:sp>
            <p:nvSpPr>
              <p:cNvPr id="90204" name="Text Box 24"/>
              <p:cNvSpPr txBox="1"/>
              <p:nvPr/>
            </p:nvSpPr>
            <p:spPr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 b="1">
                    <a:solidFill>
                      <a:srgbClr val="000000"/>
                    </a:solidFill>
                    <a:latin typeface="Arial" panose="020B0604020202020204" pitchFamily="34" charset="0"/>
                  </a:rPr>
                  <a:t>DHCP discover</a:t>
                </a:r>
                <a:endParaRPr lang="en-US" altLang="zh-CN" sz="1200" b="1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  <p:sp>
            <p:nvSpPr>
              <p:cNvPr id="90205" name="Text Box 25"/>
              <p:cNvSpPr txBox="1"/>
              <p:nvPr/>
            </p:nvSpPr>
            <p:spPr>
              <a:xfrm>
                <a:off x="12015" y="4231"/>
                <a:ext cx="3570" cy="914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src : 0.0.0.0, 68     </a:t>
                </a:r>
                <a:endPara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dest.: 255.255.255.255,67</a:t>
                </a:r>
                <a:endPara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yiaddr:    0.0.0.0</a:t>
                </a:r>
                <a:endPara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zh-CN" sz="1200">
                    <a:solidFill>
                      <a:srgbClr val="000000"/>
                    </a:solidFill>
                    <a:latin typeface="Arial" panose="020B0604020202020204" pitchFamily="34" charset="0"/>
                  </a:rPr>
                  <a:t>transaction ID: 654</a:t>
                </a:r>
                <a:endParaRPr lang="en-US" altLang="zh-CN" sz="1600">
                  <a:solidFill>
                    <a:srgbClr val="00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34825" name="Line 26"/>
          <p:cNvSpPr/>
          <p:nvPr/>
        </p:nvSpPr>
        <p:spPr>
          <a:xfrm>
            <a:off x="1903413" y="3194050"/>
            <a:ext cx="4395787" cy="538163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7" name="Group 6"/>
          <p:cNvGrpSpPr/>
          <p:nvPr/>
        </p:nvGrpSpPr>
        <p:grpSpPr>
          <a:xfrm>
            <a:off x="3562350" y="2579688"/>
            <a:ext cx="2520950" cy="1217612"/>
            <a:chOff x="3562350" y="2579688"/>
            <a:chExt cx="2520950" cy="1217612"/>
          </a:xfrm>
        </p:grpSpPr>
        <p:sp>
          <p:nvSpPr>
            <p:cNvPr id="90200" name="Text Box 27"/>
            <p:cNvSpPr txBox="1"/>
            <p:nvPr/>
          </p:nvSpPr>
          <p:spPr>
            <a:xfrm>
              <a:off x="3562350" y="2579688"/>
              <a:ext cx="1379538" cy="330200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DHCP offer</a:t>
              </a:r>
              <a:endParaRPr lang="en-US" altLang="zh-CN" sz="16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0201" name="Text Box 28"/>
            <p:cNvSpPr txBox="1"/>
            <p:nvPr/>
          </p:nvSpPr>
          <p:spPr>
            <a:xfrm>
              <a:off x="3659188" y="2832100"/>
              <a:ext cx="2424112" cy="9652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src: 223.1.2.5, 67      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dest:  255.255.255.255, 68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yiaddrr: 223.1.2.4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transaction ID: 654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lifetime: 3600 secs</a:t>
              </a:r>
              <a:endParaRPr lang="en-US" altLang="zh-CN" sz="8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828" name="Line 29"/>
          <p:cNvSpPr/>
          <p:nvPr/>
        </p:nvSpPr>
        <p:spPr>
          <a:xfrm flipH="1">
            <a:off x="1795463" y="4422775"/>
            <a:ext cx="4395787" cy="536575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8" name="Group 7"/>
          <p:cNvGrpSpPr/>
          <p:nvPr/>
        </p:nvGrpSpPr>
        <p:grpSpPr>
          <a:xfrm>
            <a:off x="1966913" y="3765550"/>
            <a:ext cx="2887662" cy="1260475"/>
            <a:chOff x="1966913" y="3765550"/>
            <a:chExt cx="2887662" cy="1260475"/>
          </a:xfrm>
        </p:grpSpPr>
        <p:sp>
          <p:nvSpPr>
            <p:cNvPr id="90198" name="Text Box 30"/>
            <p:cNvSpPr txBox="1"/>
            <p:nvPr/>
          </p:nvSpPr>
          <p:spPr>
            <a:xfrm>
              <a:off x="1966913" y="3765550"/>
              <a:ext cx="1379537" cy="32861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DHCP request</a:t>
              </a:r>
              <a:endParaRPr lang="en-US" altLang="zh-CN" sz="16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0199" name="Text Box 31"/>
            <p:cNvSpPr txBox="1"/>
            <p:nvPr/>
          </p:nvSpPr>
          <p:spPr>
            <a:xfrm>
              <a:off x="2097088" y="4027488"/>
              <a:ext cx="2757487" cy="998537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src:  0.0.0.0, 68     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dest::  255.255.255.255, 67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yiaddrr: 223.1.2.4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transaction ID: 655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lifetime: 3600 secs</a:t>
              </a:r>
              <a:endParaRPr lang="en-US" altLang="zh-CN" sz="16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34831" name="Line 32"/>
          <p:cNvSpPr/>
          <p:nvPr/>
        </p:nvSpPr>
        <p:spPr>
          <a:xfrm>
            <a:off x="1881188" y="5453063"/>
            <a:ext cx="4395787" cy="538162"/>
          </a:xfrm>
          <a:prstGeom prst="line">
            <a:avLst/>
          </a:prstGeom>
          <a:ln w="19050" cap="flat" cmpd="sng">
            <a:solidFill>
              <a:srgbClr val="00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9" name="Group 8"/>
          <p:cNvGrpSpPr/>
          <p:nvPr/>
        </p:nvGrpSpPr>
        <p:grpSpPr>
          <a:xfrm>
            <a:off x="3519488" y="5168900"/>
            <a:ext cx="2509837" cy="1271588"/>
            <a:chOff x="3519488" y="5168900"/>
            <a:chExt cx="2509837" cy="1271588"/>
          </a:xfrm>
        </p:grpSpPr>
        <p:sp>
          <p:nvSpPr>
            <p:cNvPr id="90196" name="Text Box 33"/>
            <p:cNvSpPr txBox="1"/>
            <p:nvPr/>
          </p:nvSpPr>
          <p:spPr>
            <a:xfrm>
              <a:off x="3519488" y="5168900"/>
              <a:ext cx="1379537" cy="328613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 b="1">
                  <a:solidFill>
                    <a:srgbClr val="000000"/>
                  </a:solidFill>
                  <a:latin typeface="Arial" panose="020B0604020202020204" pitchFamily="34" charset="0"/>
                </a:rPr>
                <a:t>DHCP ACK</a:t>
              </a:r>
              <a:endParaRPr lang="en-US" altLang="zh-CN" sz="16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90197" name="Text Box 34"/>
            <p:cNvSpPr txBox="1"/>
            <p:nvPr/>
          </p:nvSpPr>
          <p:spPr>
            <a:xfrm>
              <a:off x="3616325" y="5421313"/>
              <a:ext cx="2413000" cy="1019175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src: 223.1.2.5, 67      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dest:  255.255.255.255, 68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yiaddrr: 223.1.2.4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transaction ID: 655</a:t>
              </a:r>
              <a:endParaRPr lang="en-US" altLang="zh-CN" sz="1200">
                <a:solidFill>
                  <a:srgbClr val="000000"/>
                </a:solidFill>
                <a:latin typeface="Arial" panose="020B0604020202020204" pitchFamily="34" charset="0"/>
              </a:endParaRPr>
            </a:p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200">
                  <a:solidFill>
                    <a:srgbClr val="000000"/>
                  </a:solidFill>
                  <a:latin typeface="Arial" panose="020B0604020202020204" pitchFamily="34" charset="0"/>
                </a:rPr>
                <a:t>lifetime: 3600 secs</a:t>
              </a:r>
              <a:endParaRPr lang="en-US" altLang="zh-CN" sz="1000">
                <a:solidFill>
                  <a:srgbClr val="000000"/>
                </a:solidFill>
                <a:latin typeface="Comic Sans MS" panose="030F0702030302020204" pitchFamily="66" charset="0"/>
              </a:endParaRPr>
            </a:p>
          </p:txBody>
        </p:sp>
      </p:grpSp>
      <p:grpSp>
        <p:nvGrpSpPr>
          <p:cNvPr id="90126" name="Group 36"/>
          <p:cNvGrpSpPr/>
          <p:nvPr/>
        </p:nvGrpSpPr>
        <p:grpSpPr>
          <a:xfrm>
            <a:off x="6294438" y="1781175"/>
            <a:ext cx="784225" cy="549275"/>
            <a:chOff x="4420" y="878"/>
            <a:chExt cx="614" cy="458"/>
          </a:xfrm>
        </p:grpSpPr>
        <p:pic>
          <p:nvPicPr>
            <p:cNvPr id="90174" name="Picture 37" descr="laptop_keyboard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109064" flipH="1">
              <a:off x="4420" y="1108"/>
              <a:ext cx="527" cy="22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75" name="Freeform 38"/>
            <p:cNvSpPr/>
            <p:nvPr/>
          </p:nvSpPr>
          <p:spPr>
            <a:xfrm>
              <a:off x="4595" y="888"/>
              <a:ext cx="424" cy="297"/>
            </a:xfrm>
            <a:custGeom>
              <a:avLst/>
              <a:gdLst>
                <a:gd name="txL" fmla="*/ 0 w 2982"/>
                <a:gd name="txT" fmla="*/ 0 h 2442"/>
                <a:gd name="txR" fmla="*/ 2982 w 2982"/>
                <a:gd name="txB" fmla="*/ 2442 h 244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>
                <a:alpha val="100000"/>
              </a:scheme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pic>
          <p:nvPicPr>
            <p:cNvPr id="90176" name="Picture 39" descr="screen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16" y="895"/>
              <a:ext cx="385" cy="27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90177" name="Freeform 40"/>
            <p:cNvSpPr/>
            <p:nvPr/>
          </p:nvSpPr>
          <p:spPr>
            <a:xfrm>
              <a:off x="4672" y="879"/>
              <a:ext cx="359" cy="55"/>
            </a:xfrm>
            <a:custGeom>
              <a:avLst/>
              <a:gdLst>
                <a:gd name="txL" fmla="*/ 0 w 2528"/>
                <a:gd name="txT" fmla="*/ 0 h 455"/>
                <a:gd name="txR" fmla="*/ 2528 w 2528"/>
                <a:gd name="txB" fmla="*/ 455 h 455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EAEAEA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78" name="Freeform 41"/>
            <p:cNvSpPr/>
            <p:nvPr/>
          </p:nvSpPr>
          <p:spPr>
            <a:xfrm>
              <a:off x="4591" y="878"/>
              <a:ext cx="100" cy="230"/>
            </a:xfrm>
            <a:custGeom>
              <a:avLst/>
              <a:gdLst>
                <a:gd name="txL" fmla="*/ 0 w 702"/>
                <a:gd name="txT" fmla="*/ 0 h 1893"/>
                <a:gd name="txR" fmla="*/ 702 w 702"/>
                <a:gd name="txB" fmla="*/ 1893 h 189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79" name="Freeform 42"/>
            <p:cNvSpPr/>
            <p:nvPr/>
          </p:nvSpPr>
          <p:spPr>
            <a:xfrm>
              <a:off x="4921" y="920"/>
              <a:ext cx="108" cy="265"/>
            </a:xfrm>
            <a:custGeom>
              <a:avLst/>
              <a:gdLst>
                <a:gd name="txL" fmla="*/ 0 w 756"/>
                <a:gd name="txT" fmla="*/ 0 h 2184"/>
                <a:gd name="txR" fmla="*/ 756 w 756"/>
                <a:gd name="txB" fmla="*/ 2184 h 2184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540000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0" name="Freeform 43"/>
            <p:cNvSpPr/>
            <p:nvPr/>
          </p:nvSpPr>
          <p:spPr>
            <a:xfrm>
              <a:off x="4590" y="1097"/>
              <a:ext cx="394" cy="89"/>
            </a:xfrm>
            <a:custGeom>
              <a:avLst/>
              <a:gdLst>
                <a:gd name="txL" fmla="*/ 0 w 2773"/>
                <a:gd name="txT" fmla="*/ 0 h 738"/>
                <a:gd name="txR" fmla="*/ 2773 w 2773"/>
                <a:gd name="txB" fmla="*/ 738 h 738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>
                    <a:alpha val="100000"/>
                  </a:srgbClr>
                </a:gs>
                <a:gs pos="100000">
                  <a:schemeClr val="bg1">
                    <a:alpha val="100000"/>
                  </a:scheme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1" name="Freeform 44"/>
            <p:cNvSpPr/>
            <p:nvPr/>
          </p:nvSpPr>
          <p:spPr>
            <a:xfrm>
              <a:off x="4933" y="922"/>
              <a:ext cx="101" cy="266"/>
            </a:xfrm>
            <a:custGeom>
              <a:avLst/>
              <a:gdLst>
                <a:gd name="txL" fmla="*/ 0 w 637"/>
                <a:gd name="txT" fmla="*/ 0 h 1659"/>
                <a:gd name="txR" fmla="*/ 637 w 637"/>
                <a:gd name="txB" fmla="*/ 1659 h 1659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2" name="Freeform 45"/>
            <p:cNvSpPr/>
            <p:nvPr/>
          </p:nvSpPr>
          <p:spPr>
            <a:xfrm>
              <a:off x="4590" y="1109"/>
              <a:ext cx="351" cy="88"/>
            </a:xfrm>
            <a:custGeom>
              <a:avLst/>
              <a:gdLst>
                <a:gd name="txL" fmla="*/ 0 w 2216"/>
                <a:gd name="txT" fmla="*/ 0 h 550"/>
                <a:gd name="txR" fmla="*/ 2216 w 2216"/>
                <a:gd name="txB" fmla="*/ 550 h 550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0183" name="Group 46"/>
            <p:cNvGrpSpPr/>
            <p:nvPr/>
          </p:nvGrpSpPr>
          <p:grpSpPr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90190" name="Freeform 47"/>
              <p:cNvSpPr/>
              <p:nvPr/>
            </p:nvSpPr>
            <p:spPr>
              <a:xfrm>
                <a:off x="1740" y="2642"/>
                <a:ext cx="752" cy="327"/>
              </a:xfrm>
              <a:custGeom>
                <a:avLst/>
                <a:gdLst>
                  <a:gd name="txL" fmla="*/ 0 w 752"/>
                  <a:gd name="txT" fmla="*/ 0 h 327"/>
                  <a:gd name="txR" fmla="*/ 752 w 752"/>
                  <a:gd name="txB" fmla="*/ 327 h 327"/>
                </a:gdLst>
                <a:ahLst/>
                <a:cxnLst>
                  <a:cxn ang="0">
                    <a:pos x="293" y="0"/>
                  </a:cxn>
                  <a:cxn ang="0">
                    <a:pos x="752" y="124"/>
                  </a:cxn>
                  <a:cxn ang="0">
                    <a:pos x="470" y="327"/>
                  </a:cxn>
                  <a:cxn ang="0">
                    <a:pos x="0" y="183"/>
                  </a:cxn>
                  <a:cxn ang="0">
                    <a:pos x="293" y="0"/>
                  </a:cxn>
                </a:cxnLst>
                <a:rect l="txL" t="txT" r="txR" b="tx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91" name="Freeform 48"/>
              <p:cNvSpPr/>
              <p:nvPr/>
            </p:nvSpPr>
            <p:spPr>
              <a:xfrm>
                <a:off x="1754" y="2649"/>
                <a:ext cx="726" cy="311"/>
              </a:xfrm>
              <a:custGeom>
                <a:avLst/>
                <a:gdLst>
                  <a:gd name="txL" fmla="*/ 0 w 726"/>
                  <a:gd name="txT" fmla="*/ 0 h 311"/>
                  <a:gd name="txR" fmla="*/ 726 w 726"/>
                  <a:gd name="txB" fmla="*/ 311 h 311"/>
                </a:gdLst>
                <a:ahLst/>
                <a:cxnLst>
                  <a:cxn ang="0">
                    <a:pos x="282" y="0"/>
                  </a:cxn>
                  <a:cxn ang="0">
                    <a:pos x="726" y="119"/>
                  </a:cxn>
                  <a:cxn ang="0">
                    <a:pos x="457" y="311"/>
                  </a:cxn>
                  <a:cxn ang="0">
                    <a:pos x="0" y="173"/>
                  </a:cxn>
                  <a:cxn ang="0">
                    <a:pos x="282" y="0"/>
                  </a:cxn>
                </a:cxnLst>
                <a:rect l="txL" t="txT" r="txR" b="tx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>
                      <a:alpha val="100000"/>
                    </a:srgbClr>
                  </a:gs>
                  <a:gs pos="100000">
                    <a:srgbClr val="DDDDDD">
                      <a:alpha val="100000"/>
                    </a:srgbClr>
                  </a:gs>
                </a:gsLst>
                <a:lin ang="18900000" scaled="1"/>
                <a:tileRect/>
              </a:gra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92" name="Freeform 49"/>
              <p:cNvSpPr/>
              <p:nvPr/>
            </p:nvSpPr>
            <p:spPr>
              <a:xfrm>
                <a:off x="1808" y="2770"/>
                <a:ext cx="258" cy="100"/>
              </a:xfrm>
              <a:custGeom>
                <a:avLst/>
                <a:gdLst>
                  <a:gd name="txL" fmla="*/ 0 w 258"/>
                  <a:gd name="txT" fmla="*/ 0 h 100"/>
                  <a:gd name="txR" fmla="*/ 258 w 258"/>
                  <a:gd name="txB" fmla="*/ 100 h 100"/>
                </a:gdLst>
                <a:ahLst/>
                <a:cxnLst>
                  <a:cxn ang="0">
                    <a:pos x="0" y="44"/>
                  </a:cxn>
                  <a:cxn ang="0">
                    <a:pos x="75" y="0"/>
                  </a:cxn>
                  <a:cxn ang="0">
                    <a:pos x="258" y="50"/>
                  </a:cxn>
                  <a:cxn ang="0">
                    <a:pos x="183" y="100"/>
                  </a:cxn>
                  <a:cxn ang="0">
                    <a:pos x="0" y="44"/>
                  </a:cxn>
                </a:cxnLst>
                <a:rect l="txL" t="txT" r="txR" b="tx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93" name="Freeform 50"/>
              <p:cNvSpPr/>
              <p:nvPr/>
            </p:nvSpPr>
            <p:spPr>
              <a:xfrm>
                <a:off x="1799" y="2816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94" name="Freeform 51"/>
              <p:cNvSpPr/>
              <p:nvPr/>
            </p:nvSpPr>
            <p:spPr>
              <a:xfrm>
                <a:off x="2020" y="2834"/>
                <a:ext cx="258" cy="102"/>
              </a:xfrm>
              <a:custGeom>
                <a:avLst/>
                <a:gdLst>
                  <a:gd name="txL" fmla="*/ 0 w 258"/>
                  <a:gd name="txT" fmla="*/ 0 h 102"/>
                  <a:gd name="txR" fmla="*/ 258 w 258"/>
                  <a:gd name="txB" fmla="*/ 102 h 102"/>
                </a:gdLst>
                <a:ahLst/>
                <a:cxnLst>
                  <a:cxn ang="0">
                    <a:pos x="0" y="46"/>
                  </a:cxn>
                  <a:cxn ang="0">
                    <a:pos x="71" y="0"/>
                  </a:cxn>
                  <a:cxn ang="0">
                    <a:pos x="258" y="52"/>
                  </a:cxn>
                  <a:cxn ang="0">
                    <a:pos x="183" y="102"/>
                  </a:cxn>
                  <a:cxn ang="0">
                    <a:pos x="0" y="46"/>
                  </a:cxn>
                </a:cxnLst>
                <a:rect l="txL" t="txT" r="txR" b="tx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>
                  <a:alpha val="100000"/>
                </a:scheme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0195" name="Freeform 52"/>
              <p:cNvSpPr/>
              <p:nvPr/>
            </p:nvSpPr>
            <p:spPr>
              <a:xfrm>
                <a:off x="2011" y="2882"/>
                <a:ext cx="194" cy="63"/>
              </a:xfrm>
              <a:custGeom>
                <a:avLst/>
                <a:gdLst>
                  <a:gd name="txL" fmla="*/ 0 w 194"/>
                  <a:gd name="txT" fmla="*/ 0 h 63"/>
                  <a:gd name="txR" fmla="*/ 194 w 194"/>
                  <a:gd name="txB" fmla="*/ 63 h 63"/>
                </a:gdLst>
                <a:ahLst/>
                <a:cxnLst>
                  <a:cxn ang="0">
                    <a:pos x="12" y="0"/>
                  </a:cxn>
                  <a:cxn ang="0">
                    <a:pos x="194" y="53"/>
                  </a:cxn>
                  <a:cxn ang="0">
                    <a:pos x="180" y="63"/>
                  </a:cxn>
                  <a:cxn ang="0">
                    <a:pos x="0" y="9"/>
                  </a:cxn>
                  <a:cxn ang="0">
                    <a:pos x="12" y="0"/>
                  </a:cxn>
                </a:cxnLst>
                <a:rect l="txL" t="txT" r="txR" b="tx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>
                  <a:alpha val="100000"/>
                </a:srgbClr>
              </a:solidFill>
              <a:ln w="9525">
                <a:noFill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90184" name="Freeform 53"/>
            <p:cNvSpPr/>
            <p:nvPr/>
          </p:nvSpPr>
          <p:spPr>
            <a:xfrm>
              <a:off x="4788" y="1211"/>
              <a:ext cx="144" cy="116"/>
            </a:xfrm>
            <a:custGeom>
              <a:avLst/>
              <a:gdLst>
                <a:gd name="txL" fmla="*/ 0 w 990"/>
                <a:gd name="txT" fmla="*/ 0 h 792"/>
                <a:gd name="txR" fmla="*/ 990 w 990"/>
                <a:gd name="txB" fmla="*/ 792 h 792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5" name="Freeform 54"/>
            <p:cNvSpPr/>
            <p:nvPr/>
          </p:nvSpPr>
          <p:spPr>
            <a:xfrm>
              <a:off x="4420" y="1220"/>
              <a:ext cx="369" cy="106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6" name="Freeform 55"/>
            <p:cNvSpPr/>
            <p:nvPr/>
          </p:nvSpPr>
          <p:spPr>
            <a:xfrm>
              <a:off x="4420" y="1201"/>
              <a:ext cx="4" cy="21"/>
            </a:xfrm>
            <a:custGeom>
              <a:avLst/>
              <a:gdLst>
                <a:gd name="txL" fmla="*/ 0 w 26"/>
                <a:gd name="txT" fmla="*/ 0 h 147"/>
                <a:gd name="txR" fmla="*/ 26 w 26"/>
                <a:gd name="txB" fmla="*/ 147 h 147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7" name="Freeform 56"/>
            <p:cNvSpPr/>
            <p:nvPr/>
          </p:nvSpPr>
          <p:spPr>
            <a:xfrm>
              <a:off x="4421" y="1114"/>
              <a:ext cx="171" cy="88"/>
            </a:xfrm>
            <a:custGeom>
              <a:avLst/>
              <a:gdLst>
                <a:gd name="txL" fmla="*/ 0 w 1176"/>
                <a:gd name="txT" fmla="*/ 0 h 606"/>
                <a:gd name="txR" fmla="*/ 1176 w 1176"/>
                <a:gd name="txB" fmla="*/ 606 h 606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8" name="Freeform 57"/>
            <p:cNvSpPr/>
            <p:nvPr/>
          </p:nvSpPr>
          <p:spPr>
            <a:xfrm>
              <a:off x="4432" y="1205"/>
              <a:ext cx="350" cy="102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89" name="Freeform 58"/>
            <p:cNvSpPr/>
            <p:nvPr/>
          </p:nvSpPr>
          <p:spPr>
            <a:xfrm flipV="1">
              <a:off x="4782" y="1198"/>
              <a:ext cx="142" cy="105"/>
            </a:xfrm>
            <a:custGeom>
              <a:avLst/>
              <a:gdLst>
                <a:gd name="txL" fmla="*/ 0 w 2532"/>
                <a:gd name="txT" fmla="*/ 0 h 723"/>
                <a:gd name="txR" fmla="*/ 2532 w 2532"/>
                <a:gd name="txB" fmla="*/ 723 h 723"/>
              </a:gdLst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txL" t="txT" r="txR" b="tx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90127" name="Group 60"/>
          <p:cNvGrpSpPr/>
          <p:nvPr/>
        </p:nvGrpSpPr>
        <p:grpSpPr>
          <a:xfrm>
            <a:off x="1717675" y="1590675"/>
            <a:ext cx="334963" cy="536575"/>
            <a:chOff x="4140" y="429"/>
            <a:chExt cx="1425" cy="2396"/>
          </a:xfrm>
        </p:grpSpPr>
        <p:sp>
          <p:nvSpPr>
            <p:cNvPr id="90142" name="Freeform 61"/>
            <p:cNvSpPr/>
            <p:nvPr/>
          </p:nvSpPr>
          <p:spPr>
            <a:xfrm>
              <a:off x="5268" y="433"/>
              <a:ext cx="283" cy="2286"/>
            </a:xfrm>
            <a:custGeom>
              <a:avLst/>
              <a:gdLst>
                <a:gd name="txL" fmla="*/ 0 w 354"/>
                <a:gd name="txT" fmla="*/ 0 h 2742"/>
                <a:gd name="txR" fmla="*/ 354 w 354"/>
                <a:gd name="txB" fmla="*/ 2742 h 2742"/>
              </a:gdLst>
              <a:ahLst/>
              <a:cxnLst>
                <a:cxn ang="0">
                  <a:pos x="4" y="0"/>
                </a:cxn>
                <a:cxn ang="0">
                  <a:pos x="19" y="32"/>
                </a:cxn>
                <a:cxn ang="0">
                  <a:pos x="19" y="246"/>
                </a:cxn>
                <a:cxn ang="0">
                  <a:pos x="0" y="258"/>
                </a:cxn>
                <a:cxn ang="0">
                  <a:pos x="4" y="0"/>
                </a:cxn>
              </a:cxnLst>
              <a:rect l="txL" t="txT" r="txR" b="tx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>
                    <a:alpha val="100000"/>
                  </a:srgbClr>
                </a:gs>
                <a:gs pos="100000">
                  <a:srgbClr val="333333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43" name="Rectangle 62"/>
            <p:cNvSpPr/>
            <p:nvPr/>
          </p:nvSpPr>
          <p:spPr>
            <a:xfrm>
              <a:off x="4208" y="429"/>
              <a:ext cx="1047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44" name="Freeform 63"/>
            <p:cNvSpPr/>
            <p:nvPr/>
          </p:nvSpPr>
          <p:spPr>
            <a:xfrm>
              <a:off x="5321" y="570"/>
              <a:ext cx="169" cy="2115"/>
            </a:xfrm>
            <a:custGeom>
              <a:avLst/>
              <a:gdLst>
                <a:gd name="txL" fmla="*/ 0 w 211"/>
                <a:gd name="txT" fmla="*/ 0 h 2537"/>
                <a:gd name="txR" fmla="*/ 211 w 211"/>
                <a:gd name="txB" fmla="*/ 2537 h 2537"/>
              </a:gdLst>
              <a:ahLst/>
              <a:cxnLst>
                <a:cxn ang="0">
                  <a:pos x="2" y="0"/>
                </a:cxn>
                <a:cxn ang="0">
                  <a:pos x="11" y="21"/>
                </a:cxn>
                <a:cxn ang="0">
                  <a:pos x="2" y="235"/>
                </a:cxn>
                <a:cxn ang="0">
                  <a:pos x="2" y="0"/>
                </a:cxn>
              </a:cxnLst>
              <a:rect l="txL" t="txT" r="txR" b="tx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>
                    <a:alpha val="100000"/>
                  </a:srgbClr>
                </a:gs>
                <a:gs pos="100000">
                  <a:srgbClr val="F8F8F8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45" name="Freeform 64"/>
            <p:cNvSpPr/>
            <p:nvPr/>
          </p:nvSpPr>
          <p:spPr>
            <a:xfrm>
              <a:off x="5284" y="1640"/>
              <a:ext cx="263" cy="189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18" y="13"/>
                </a:cxn>
                <a:cxn ang="0">
                  <a:pos x="18" y="23"/>
                </a:cxn>
                <a:cxn ang="0">
                  <a:pos x="0" y="9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46" name="Rectangle 65"/>
            <p:cNvSpPr/>
            <p:nvPr/>
          </p:nvSpPr>
          <p:spPr>
            <a:xfrm>
              <a:off x="4214" y="691"/>
              <a:ext cx="594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90147" name="Group 66"/>
            <p:cNvGrpSpPr/>
            <p:nvPr/>
          </p:nvGrpSpPr>
          <p:grpSpPr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0172" name="AutoShape 67"/>
              <p:cNvSpPr/>
              <p:nvPr/>
            </p:nvSpPr>
            <p:spPr>
              <a:xfrm>
                <a:off x="613" y="2570"/>
                <a:ext cx="725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90173" name="AutoShape 68"/>
              <p:cNvSpPr/>
              <p:nvPr/>
            </p:nvSpPr>
            <p:spPr>
              <a:xfrm>
                <a:off x="629" y="2584"/>
                <a:ext cx="691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</p:grpSp>
        <p:sp>
          <p:nvSpPr>
            <p:cNvPr id="90148" name="Rectangle 69"/>
            <p:cNvSpPr/>
            <p:nvPr/>
          </p:nvSpPr>
          <p:spPr>
            <a:xfrm>
              <a:off x="4221" y="1017"/>
              <a:ext cx="60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90149" name="Group 70"/>
            <p:cNvGrpSpPr/>
            <p:nvPr/>
          </p:nvGrpSpPr>
          <p:grpSpPr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0170" name="AutoShape 71"/>
              <p:cNvSpPr/>
              <p:nvPr/>
            </p:nvSpPr>
            <p:spPr>
              <a:xfrm>
                <a:off x="615" y="2570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90171" name="AutoShape 72"/>
              <p:cNvSpPr/>
              <p:nvPr/>
            </p:nvSpPr>
            <p:spPr>
              <a:xfrm>
                <a:off x="632" y="2585"/>
                <a:ext cx="691" cy="110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</p:grpSp>
        <p:sp>
          <p:nvSpPr>
            <p:cNvPr id="90150" name="Rectangle 73"/>
            <p:cNvSpPr/>
            <p:nvPr/>
          </p:nvSpPr>
          <p:spPr>
            <a:xfrm>
              <a:off x="4214" y="1358"/>
              <a:ext cx="601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51" name="Rectangle 74"/>
            <p:cNvSpPr/>
            <p:nvPr/>
          </p:nvSpPr>
          <p:spPr>
            <a:xfrm>
              <a:off x="4228" y="1655"/>
              <a:ext cx="594" cy="50"/>
            </a:xfrm>
            <a:prstGeom prst="rect">
              <a:avLst/>
            </a:prstGeom>
            <a:solidFill>
              <a:schemeClr val="tx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grpSp>
          <p:nvGrpSpPr>
            <p:cNvPr id="90152" name="Group 75"/>
            <p:cNvGrpSpPr/>
            <p:nvPr/>
          </p:nvGrpSpPr>
          <p:grpSpPr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0168" name="AutoShape 76"/>
              <p:cNvSpPr/>
              <p:nvPr/>
            </p:nvSpPr>
            <p:spPr>
              <a:xfrm>
                <a:off x="613" y="2568"/>
                <a:ext cx="724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90169" name="AutoShape 77"/>
              <p:cNvSpPr/>
              <p:nvPr/>
            </p:nvSpPr>
            <p:spPr>
              <a:xfrm>
                <a:off x="630" y="2581"/>
                <a:ext cx="690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</p:grpSp>
        <p:sp>
          <p:nvSpPr>
            <p:cNvPr id="90153" name="Freeform 78"/>
            <p:cNvSpPr/>
            <p:nvPr/>
          </p:nvSpPr>
          <p:spPr>
            <a:xfrm>
              <a:off x="5288" y="1354"/>
              <a:ext cx="263" cy="188"/>
            </a:xfrm>
            <a:custGeom>
              <a:avLst/>
              <a:gdLst>
                <a:gd name="txL" fmla="*/ 0 w 328"/>
                <a:gd name="txT" fmla="*/ 0 h 226"/>
                <a:gd name="txR" fmla="*/ 328 w 328"/>
                <a:gd name="txB" fmla="*/ 226 h 226"/>
              </a:gdLst>
              <a:ahLst/>
              <a:cxnLst>
                <a:cxn ang="0">
                  <a:pos x="2" y="0"/>
                </a:cxn>
                <a:cxn ang="0">
                  <a:pos x="18" y="12"/>
                </a:cxn>
                <a:cxn ang="0">
                  <a:pos x="18" y="21"/>
                </a:cxn>
                <a:cxn ang="0">
                  <a:pos x="0" y="8"/>
                </a:cxn>
                <a:cxn ang="0">
                  <a:pos x="2" y="0"/>
                </a:cxn>
              </a:cxnLst>
              <a:rect l="txL" t="txT" r="txR" b="tx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0154" name="Group 79"/>
            <p:cNvGrpSpPr/>
            <p:nvPr/>
          </p:nvGrpSpPr>
          <p:grpSpPr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90166" name="AutoShape 80"/>
              <p:cNvSpPr/>
              <p:nvPr/>
            </p:nvSpPr>
            <p:spPr>
              <a:xfrm>
                <a:off x="617" y="2570"/>
                <a:ext cx="724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  <p:sp>
            <p:nvSpPr>
              <p:cNvPr id="90167" name="AutoShape 81"/>
              <p:cNvSpPr/>
              <p:nvPr/>
            </p:nvSpPr>
            <p:spPr>
              <a:xfrm>
                <a:off x="633" y="2584"/>
                <a:ext cx="690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lstStyle>
                <a:lvl1pPr marL="342900" indent="-342900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  <a:cs typeface="MS PGothic" panose="020B0600070205080204" pitchFamily="34" charset="-128"/>
                  </a:defRPr>
                </a:lvl1pPr>
                <a:lvl2pPr marL="688975" indent="-231775" algn="l" rtl="0" eaLnBrk="0" fontAlgn="base" hangingPunct="0">
                  <a:lnSpc>
                    <a:spcPct val="85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sz="2400">
                    <a:solidFill>
                      <a:schemeClr val="tx1"/>
                    </a:solidFill>
                    <a:latin typeface="+mn-lt"/>
                    <a:ea typeface="MS PGothic" panose="020B0600070205080204" pitchFamily="34" charset="-128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pitchFamily="34" charset="-128"/>
                  </a:defRPr>
                </a:lvl5pPr>
              </a:lstStyle>
              <a:p>
                <a:pPr marL="0" lvl="0" indent="0" algn="ctr"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zh-CN" altLang="zh-CN" sz="1600">
                  <a:solidFill>
                    <a:srgbClr val="000000"/>
                  </a:solidFill>
                  <a:latin typeface="Tahoma" panose="020B0604030504040204" charset="0"/>
                </a:endParaRPr>
              </a:p>
            </p:txBody>
          </p:sp>
        </p:grpSp>
        <p:sp>
          <p:nvSpPr>
            <p:cNvPr id="90155" name="Rectangle 82"/>
            <p:cNvSpPr/>
            <p:nvPr/>
          </p:nvSpPr>
          <p:spPr>
            <a:xfrm>
              <a:off x="5248" y="429"/>
              <a:ext cx="68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56" name="Freeform 83"/>
            <p:cNvSpPr/>
            <p:nvPr/>
          </p:nvSpPr>
          <p:spPr>
            <a:xfrm>
              <a:off x="5312" y="1007"/>
              <a:ext cx="237" cy="213"/>
            </a:xfrm>
            <a:custGeom>
              <a:avLst/>
              <a:gdLst>
                <a:gd name="txL" fmla="*/ 0 w 296"/>
                <a:gd name="txT" fmla="*/ 0 h 256"/>
                <a:gd name="txR" fmla="*/ 296 w 296"/>
                <a:gd name="txB" fmla="*/ 256 h 256"/>
              </a:gdLst>
              <a:ahLst/>
              <a:cxnLst>
                <a:cxn ang="0">
                  <a:pos x="2" y="0"/>
                </a:cxn>
                <a:cxn ang="0">
                  <a:pos x="17" y="12"/>
                </a:cxn>
                <a:cxn ang="0">
                  <a:pos x="17" y="23"/>
                </a:cxn>
                <a:cxn ang="0">
                  <a:pos x="0" y="8"/>
                </a:cxn>
                <a:cxn ang="0">
                  <a:pos x="2" y="0"/>
                </a:cxn>
              </a:cxnLst>
              <a:rect l="txL" t="txT" r="txR" b="tx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57" name="Freeform 84"/>
            <p:cNvSpPr/>
            <p:nvPr/>
          </p:nvSpPr>
          <p:spPr>
            <a:xfrm>
              <a:off x="5315" y="680"/>
              <a:ext cx="244" cy="240"/>
            </a:xfrm>
            <a:custGeom>
              <a:avLst/>
              <a:gdLst>
                <a:gd name="txL" fmla="*/ 0 w 304"/>
                <a:gd name="txT" fmla="*/ 0 h 288"/>
                <a:gd name="txR" fmla="*/ 304 w 304"/>
                <a:gd name="txB" fmla="*/ 288 h 288"/>
              </a:gdLst>
              <a:ahLst/>
              <a:cxnLst>
                <a:cxn ang="0">
                  <a:pos x="0" y="0"/>
                </a:cxn>
                <a:cxn ang="0">
                  <a:pos x="18" y="16"/>
                </a:cxn>
                <a:cxn ang="0">
                  <a:pos x="16" y="28"/>
                </a:cxn>
                <a:cxn ang="0">
                  <a:pos x="2" y="12"/>
                </a:cxn>
                <a:cxn ang="0">
                  <a:pos x="0" y="0"/>
                </a:cxn>
              </a:cxnLst>
              <a:rect l="txL" t="txT" r="txR" b="tx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>
                    <a:alpha val="100000"/>
                  </a:srgbClr>
                </a:gs>
                <a:gs pos="100000">
                  <a:srgbClr val="808080">
                    <a:alpha val="100000"/>
                  </a:srgbClr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58" name="Oval 85"/>
            <p:cNvSpPr/>
            <p:nvPr/>
          </p:nvSpPr>
          <p:spPr>
            <a:xfrm>
              <a:off x="5518" y="2612"/>
              <a:ext cx="47" cy="92"/>
            </a:xfrm>
            <a:prstGeom prst="ellipse">
              <a:avLst/>
            </a:prstGeom>
            <a:solidFill>
              <a:srgbClr val="3333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59" name="Freeform 86"/>
            <p:cNvSpPr/>
            <p:nvPr/>
          </p:nvSpPr>
          <p:spPr>
            <a:xfrm>
              <a:off x="5302" y="2614"/>
              <a:ext cx="245" cy="200"/>
            </a:xfrm>
            <a:custGeom>
              <a:avLst/>
              <a:gdLst>
                <a:gd name="txL" fmla="*/ 0 w 306"/>
                <a:gd name="txT" fmla="*/ 0 h 240"/>
                <a:gd name="txR" fmla="*/ 306 w 306"/>
                <a:gd name="txB" fmla="*/ 240 h 240"/>
              </a:gdLst>
              <a:ahLst/>
              <a:cxnLst>
                <a:cxn ang="0">
                  <a:pos x="0" y="11"/>
                </a:cxn>
                <a:cxn ang="0">
                  <a:pos x="2" y="23"/>
                </a:cxn>
                <a:cxn ang="0">
                  <a:pos x="18" y="11"/>
                </a:cxn>
                <a:cxn ang="0">
                  <a:pos x="17" y="0"/>
                </a:cxn>
                <a:cxn ang="0">
                  <a:pos x="0" y="11"/>
                </a:cxn>
              </a:cxnLst>
              <a:rect l="txL" t="txT" r="txR" b="tx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9525">
              <a:noFill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90160" name="AutoShape 87"/>
            <p:cNvSpPr/>
            <p:nvPr/>
          </p:nvSpPr>
          <p:spPr>
            <a:xfrm>
              <a:off x="4140" y="2676"/>
              <a:ext cx="1202" cy="149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61" name="AutoShape 88"/>
            <p:cNvSpPr/>
            <p:nvPr/>
          </p:nvSpPr>
          <p:spPr>
            <a:xfrm>
              <a:off x="4208" y="2712"/>
              <a:ext cx="1067" cy="78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  <a:tileRect/>
            </a:gra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62" name="Oval 89"/>
            <p:cNvSpPr/>
            <p:nvPr/>
          </p:nvSpPr>
          <p:spPr>
            <a:xfrm>
              <a:off x="4309" y="2385"/>
              <a:ext cx="155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63" name="Oval 90"/>
            <p:cNvSpPr/>
            <p:nvPr/>
          </p:nvSpPr>
          <p:spPr>
            <a:xfrm>
              <a:off x="4484" y="2385"/>
              <a:ext cx="162" cy="142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FF0000"/>
                </a:solidFill>
                <a:latin typeface="Tahoma" panose="020B0604030504040204" charset="0"/>
                <a:ea typeface="Arial" panose="020B0604020202020204" pitchFamily="34" charset="0"/>
              </a:endParaRPr>
            </a:p>
          </p:txBody>
        </p:sp>
        <p:sp>
          <p:nvSpPr>
            <p:cNvPr id="90164" name="Oval 91"/>
            <p:cNvSpPr/>
            <p:nvPr/>
          </p:nvSpPr>
          <p:spPr>
            <a:xfrm>
              <a:off x="4660" y="2378"/>
              <a:ext cx="162" cy="142"/>
            </a:xfrm>
            <a:prstGeom prst="ellipse">
              <a:avLst/>
            </a:prstGeom>
            <a:solidFill>
              <a:srgbClr val="33CC33"/>
            </a:solidFill>
            <a:ln w="9525">
              <a:noFill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65" name="Rectangle 92"/>
            <p:cNvSpPr/>
            <p:nvPr/>
          </p:nvSpPr>
          <p:spPr>
            <a:xfrm>
              <a:off x="5065" y="1833"/>
              <a:ext cx="81" cy="766"/>
            </a:xfrm>
            <a:prstGeom prst="rect">
              <a:avLst/>
            </a:prstGeom>
            <a:solidFill>
              <a:srgbClr val="292929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</p:grpSp>
      <p:sp>
        <p:nvSpPr>
          <p:cNvPr id="47125" name="Rectangle 94"/>
          <p:cNvSpPr>
            <a:spLocks noGrp="1" noChangeArrowheads="1"/>
          </p:cNvSpPr>
          <p:nvPr>
            <p:ph type="title"/>
          </p:nvPr>
        </p:nvSpPr>
        <p:spPr>
          <a:xfrm>
            <a:off x="438150" y="255588"/>
            <a:ext cx="6824663" cy="898525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j-lt"/>
                <a:ea typeface="MS PGothic" panose="020B0600070205080204" pitchFamily="34" charset="-128"/>
                <a:cs typeface="+mj-cs"/>
              </a:rPr>
              <a:t>DHCP client-server scenario</a:t>
            </a:r>
            <a:endParaRPr kumimoji="0" lang="en-US" sz="4400" b="0" i="0" u="none" strike="noStrike" kern="0" cap="none" spc="0" normalizeH="0" baseline="0" noProof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j-lt"/>
              <a:ea typeface="MS PGothic" panose="020B0600070205080204" pitchFamily="34" charset="-128"/>
              <a:cs typeface="+mj-cs"/>
            </a:endParaRPr>
          </a:p>
        </p:txBody>
      </p:sp>
      <p:pic>
        <p:nvPicPr>
          <p:cNvPr id="90129" name="Picture 95" descr="underline_base"/>
          <p:cNvPicPr/>
          <p:nvPr/>
        </p:nvPicPr>
        <p:blipFill>
          <a:blip r:embed="rId3"/>
          <a:stretch>
            <a:fillRect/>
          </a:stretch>
        </p:blipFill>
        <p:spPr>
          <a:xfrm>
            <a:off x="514350" y="931863"/>
            <a:ext cx="6399213" cy="173037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5" name="Group 4"/>
          <p:cNvGrpSpPr/>
          <p:nvPr/>
        </p:nvGrpSpPr>
        <p:grpSpPr>
          <a:xfrm>
            <a:off x="3505200" y="1663700"/>
            <a:ext cx="2540000" cy="733425"/>
            <a:chOff x="7333085" y="2736938"/>
            <a:chExt cx="2539755" cy="733428"/>
          </a:xfrm>
        </p:grpSpPr>
        <p:sp>
          <p:nvSpPr>
            <p:cNvPr id="90140" name="Rectangle 2"/>
            <p:cNvSpPr/>
            <p:nvPr/>
          </p:nvSpPr>
          <p:spPr>
            <a:xfrm>
              <a:off x="7333085" y="2736938"/>
              <a:ext cx="2521866" cy="733428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41" name="TextBox 1"/>
            <p:cNvSpPr txBox="1"/>
            <p:nvPr/>
          </p:nvSpPr>
          <p:spPr>
            <a:xfrm>
              <a:off x="7344917" y="2797391"/>
              <a:ext cx="2527923" cy="5847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Broadcast: is there a DHCP server out there?</a:t>
              </a:r>
              <a:endParaRPr lang="en-US" altLang="zh-CN" sz="1600">
                <a:solidFill>
                  <a:srgbClr val="FF0000"/>
                </a:solidFill>
                <a:latin typeface="Tahoma" panose="020B060403050404020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670300" y="2871788"/>
            <a:ext cx="2528888" cy="884237"/>
            <a:chOff x="9144000" y="3229217"/>
            <a:chExt cx="2527923" cy="885135"/>
          </a:xfrm>
        </p:grpSpPr>
        <p:sp>
          <p:nvSpPr>
            <p:cNvPr id="90138" name="Rectangle 87"/>
            <p:cNvSpPr/>
            <p:nvPr/>
          </p:nvSpPr>
          <p:spPr>
            <a:xfrm>
              <a:off x="9144000" y="3229217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39" name="TextBox 88"/>
            <p:cNvSpPr txBox="1"/>
            <p:nvPr/>
          </p:nvSpPr>
          <p:spPr>
            <a:xfrm>
              <a:off x="9144000" y="3271783"/>
              <a:ext cx="2527923" cy="830997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Broadcast: I</a:t>
              </a:r>
              <a:r>
                <a:rPr lang="en-US" altLang="en-US" sz="1600">
                  <a:solidFill>
                    <a:srgbClr val="FF0000"/>
                  </a:solidFill>
                  <a:latin typeface="Tahoma" panose="020B0604030504040204" charset="0"/>
                </a:rPr>
                <a:t>’</a:t>
              </a: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m a DHCP server! Here</a:t>
              </a:r>
              <a:r>
                <a:rPr lang="en-US" altLang="en-US" sz="1600">
                  <a:solidFill>
                    <a:srgbClr val="FF0000"/>
                  </a:solidFill>
                  <a:latin typeface="Tahoma" panose="020B0604030504040204" charset="0"/>
                </a:rPr>
                <a:t>’</a:t>
              </a: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s an IP address you can use </a:t>
              </a:r>
              <a:endParaRPr lang="en-US" altLang="zh-CN" sz="1600">
                <a:solidFill>
                  <a:srgbClr val="FF0000"/>
                </a:solidFill>
                <a:latin typeface="Tahoma" panose="020B0604030504040204" charset="0"/>
              </a:endParaRP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286000" y="4097338"/>
            <a:ext cx="2527300" cy="884237"/>
            <a:chOff x="8956574" y="4615923"/>
            <a:chExt cx="2527923" cy="885135"/>
          </a:xfrm>
        </p:grpSpPr>
        <p:sp>
          <p:nvSpPr>
            <p:cNvPr id="90136" name="Rectangle 89"/>
            <p:cNvSpPr/>
            <p:nvPr/>
          </p:nvSpPr>
          <p:spPr>
            <a:xfrm>
              <a:off x="8956574" y="4615923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37" name="TextBox 90"/>
            <p:cNvSpPr txBox="1"/>
            <p:nvPr/>
          </p:nvSpPr>
          <p:spPr>
            <a:xfrm>
              <a:off x="8956574" y="4765817"/>
              <a:ext cx="2527923" cy="5847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Broadcast: OK.  I</a:t>
              </a:r>
              <a:r>
                <a:rPr lang="en-US" altLang="en-US" sz="1600">
                  <a:solidFill>
                    <a:srgbClr val="FF0000"/>
                  </a:solidFill>
                  <a:latin typeface="Tahoma" panose="020B0604030504040204" charset="0"/>
                </a:rPr>
                <a:t>’</a:t>
              </a: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ll take that IP address!</a:t>
              </a:r>
              <a:endParaRPr lang="en-US" altLang="zh-CN" sz="1600">
                <a:solidFill>
                  <a:srgbClr val="FF0000"/>
                </a:solidFill>
                <a:latin typeface="Tahoma" panose="020B060403050404020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3652838" y="5465763"/>
            <a:ext cx="2528887" cy="885825"/>
            <a:chOff x="9144000" y="5555417"/>
            <a:chExt cx="2527923" cy="885135"/>
          </a:xfrm>
        </p:grpSpPr>
        <p:sp>
          <p:nvSpPr>
            <p:cNvPr id="90134" name="Rectangle 91"/>
            <p:cNvSpPr/>
            <p:nvPr/>
          </p:nvSpPr>
          <p:spPr>
            <a:xfrm>
              <a:off x="9144000" y="5555417"/>
              <a:ext cx="2351575" cy="885135"/>
            </a:xfrm>
            <a:prstGeom prst="rect">
              <a:avLst/>
            </a:prstGeom>
            <a:solidFill>
              <a:srgbClr val="FFFFFF"/>
            </a:solidFill>
            <a:ln w="9525">
              <a:noFill/>
            </a:ln>
          </p:spPr>
          <p:txBody>
            <a:bodyPr wrap="none"/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600">
                <a:solidFill>
                  <a:srgbClr val="000000"/>
                </a:solidFill>
                <a:latin typeface="Tahoma" panose="020B0604030504040204" charset="0"/>
              </a:endParaRPr>
            </a:p>
          </p:txBody>
        </p:sp>
        <p:sp>
          <p:nvSpPr>
            <p:cNvPr id="90135" name="TextBox 92"/>
            <p:cNvSpPr txBox="1"/>
            <p:nvPr/>
          </p:nvSpPr>
          <p:spPr>
            <a:xfrm>
              <a:off x="9144000" y="5705311"/>
              <a:ext cx="2527923" cy="584776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  <a:cs typeface="MS PGothic" panose="020B0600070205080204" pitchFamily="34" charset="-128"/>
                </a:defRPr>
              </a:lvl1pPr>
              <a:lvl2pPr marL="688975" indent="-231775" algn="l" rtl="0" eaLnBrk="0" fontAlgn="base" hangingPunct="0">
                <a:lnSpc>
                  <a:spcPct val="85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000099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MS PGothic" panose="020B0600070205080204" pitchFamily="34" charset="-128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pitchFamily="34" charset="-128"/>
                </a:defRPr>
              </a:lvl5pPr>
            </a:lstStyle>
            <a:p>
              <a:pPr marL="0" lvl="0" indent="0"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Broadcast: OK.  You</a:t>
              </a:r>
              <a:r>
                <a:rPr lang="en-US" altLang="en-US" sz="1600">
                  <a:solidFill>
                    <a:srgbClr val="FF0000"/>
                  </a:solidFill>
                  <a:latin typeface="Tahoma" panose="020B0604030504040204" charset="0"/>
                </a:rPr>
                <a:t>’</a:t>
              </a:r>
              <a:r>
                <a:rPr lang="en-US" altLang="zh-CN" sz="1600">
                  <a:solidFill>
                    <a:srgbClr val="FF0000"/>
                  </a:solidFill>
                  <a:latin typeface="Tahoma" panose="020B0604030504040204" charset="0"/>
                </a:rPr>
                <a:t>ve got that IP address!</a:t>
              </a:r>
              <a:endParaRPr lang="en-US" altLang="zh-CN" sz="1600">
                <a:solidFill>
                  <a:srgbClr val="FF0000"/>
                </a:solidFill>
                <a:latin typeface="Tahoma" panose="020B060403050404020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4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4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75" y="183515"/>
            <a:ext cx="8603615" cy="65278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815" y="160020"/>
            <a:ext cx="8973820" cy="66979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4915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49156" name="Rectangle 2"/>
          <p:cNvSpPr>
            <a:spLocks noGrp="1"/>
          </p:cNvSpPr>
          <p:nvPr>
            <p:ph type="title"/>
          </p:nvPr>
        </p:nvSpPr>
        <p:spPr>
          <a:xfrm>
            <a:off x="414338" y="228600"/>
            <a:ext cx="7772400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/>
              <a:t>IP</a:t>
            </a:r>
            <a:r>
              <a:rPr lang="zh-CN" altLang="en-US" sz="3600" dirty="0"/>
              <a:t>编址</a:t>
            </a:r>
            <a:r>
              <a:rPr lang="en-US" altLang="zh-CN" sz="3600" dirty="0"/>
              <a:t>:</a:t>
            </a:r>
            <a:r>
              <a:rPr lang="zh-CN" altLang="en-US" sz="3600" dirty="0"/>
              <a:t>如何得到一个地址</a:t>
            </a:r>
            <a:r>
              <a:rPr lang="en-US" altLang="zh-CN" sz="3600" dirty="0"/>
              <a:t>?</a:t>
            </a:r>
            <a:endParaRPr lang="en-US" altLang="zh-CN" sz="3600" dirty="0"/>
          </a:p>
        </p:txBody>
      </p:sp>
      <p:sp>
        <p:nvSpPr>
          <p:cNvPr id="49157" name="Rectangle 3"/>
          <p:cNvSpPr>
            <a:spLocks noGrp="1"/>
          </p:cNvSpPr>
          <p:nvPr>
            <p:ph idx="1"/>
          </p:nvPr>
        </p:nvSpPr>
        <p:spPr>
          <a:xfrm>
            <a:off x="487363" y="1343025"/>
            <a:ext cx="8077200" cy="1809750"/>
          </a:xfrm>
        </p:spPr>
        <p:txBody>
          <a:bodyPr vert="horz" wrap="square" lIns="91440" tIns="45720" rIns="91440" bIns="45720" anchor="t" anchorCtr="0"/>
          <a:p>
            <a:pPr eaLnBrk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问题：</a:t>
            </a:r>
            <a:r>
              <a:rPr lang="zh-CN" altLang="en-US" i="1" dirty="0"/>
              <a:t>网络</a:t>
            </a:r>
            <a:r>
              <a:rPr lang="zh-CN" altLang="en-US" dirty="0"/>
              <a:t>怎样得到</a:t>
            </a:r>
            <a:r>
              <a:rPr lang="en-US" altLang="zh-CN" dirty="0"/>
              <a:t>IP</a:t>
            </a:r>
            <a:r>
              <a:rPr lang="zh-CN" altLang="en-US" dirty="0"/>
              <a:t>地址的子网部分</a:t>
            </a:r>
            <a:r>
              <a:rPr lang="en-US" altLang="zh-CN" dirty="0"/>
              <a:t>?</a:t>
            </a:r>
            <a:endParaRPr lang="en-US" altLang="zh-CN" dirty="0"/>
          </a:p>
          <a:p>
            <a:pPr eaLnBrk="1">
              <a:buNone/>
            </a:pPr>
            <a:r>
              <a:rPr lang="zh-CN" altLang="en-US" u="sng" dirty="0">
                <a:solidFill>
                  <a:srgbClr val="FF0000"/>
                </a:solidFill>
              </a:rPr>
              <a:t>回答</a:t>
            </a:r>
            <a:r>
              <a:rPr lang="en-US" altLang="zh-CN" u="sng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从它的</a:t>
            </a:r>
            <a:r>
              <a:rPr lang="en-US" altLang="zh-CN" dirty="0"/>
              <a:t>ISP</a:t>
            </a:r>
            <a:r>
              <a:rPr lang="zh-CN" altLang="en-US" dirty="0"/>
              <a:t>的地址空间得到分配的部分</a:t>
            </a:r>
            <a:endParaRPr lang="en-US" altLang="zh-CN" sz="2400" dirty="0"/>
          </a:p>
        </p:txBody>
      </p:sp>
      <p:sp>
        <p:nvSpPr>
          <p:cNvPr id="49158" name="Text Box 4"/>
          <p:cNvSpPr txBox="1"/>
          <p:nvPr/>
        </p:nvSpPr>
        <p:spPr>
          <a:xfrm>
            <a:off x="592138" y="3514725"/>
            <a:ext cx="8551862" cy="237966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ISP</a:t>
            </a:r>
            <a:r>
              <a:rPr lang="zh-CN" altLang="en-US" dirty="0">
                <a:solidFill>
                  <a:schemeClr val="accent2"/>
                </a:solidFill>
                <a:latin typeface="Arial" panose="020B0604020202020204" pitchFamily="34" charset="0"/>
              </a:rPr>
              <a:t>的块    </a:t>
            </a:r>
            <a:r>
              <a:rPr lang="en-US" altLang="zh-CN" u="sng" dirty="0">
                <a:solidFill>
                  <a:schemeClr val="accent2"/>
                </a:solidFill>
                <a:latin typeface="Arial" panose="020B0604020202020204" pitchFamily="34" charset="0"/>
              </a:rPr>
              <a:t>1001000  00010111   0001</a:t>
            </a:r>
            <a:r>
              <a:rPr lang="en-US" altLang="zh-CN" dirty="0">
                <a:solidFill>
                  <a:schemeClr val="accent2"/>
                </a:solidFill>
                <a:latin typeface="Arial" panose="020B0604020202020204" pitchFamily="34" charset="0"/>
              </a:rPr>
              <a:t>0000  00000000    200.23.16.0/20 </a:t>
            </a:r>
            <a:endParaRPr lang="en-US" altLang="zh-CN" dirty="0">
              <a:solidFill>
                <a:schemeClr val="accent2"/>
              </a:solidFill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组织 </a:t>
            </a:r>
            <a:r>
              <a:rPr lang="en-US" altLang="zh-CN" dirty="0">
                <a:latin typeface="Arial" panose="020B0604020202020204" pitchFamily="34" charset="0"/>
              </a:rPr>
              <a:t>0    	  </a:t>
            </a:r>
            <a:r>
              <a:rPr lang="en-US" altLang="zh-CN" u="sng" dirty="0">
                <a:latin typeface="Arial" panose="020B0604020202020204" pitchFamily="34" charset="0"/>
              </a:rPr>
              <a:t>11001000  00010111  0001000</a:t>
            </a:r>
            <a:r>
              <a:rPr lang="en-US" altLang="zh-CN" dirty="0">
                <a:latin typeface="Arial" panose="020B0604020202020204" pitchFamily="34" charset="0"/>
              </a:rPr>
              <a:t>0  00000000    200.23.16.0/23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组织 </a:t>
            </a:r>
            <a:r>
              <a:rPr lang="en-US" altLang="zh-CN" dirty="0">
                <a:latin typeface="Arial" panose="020B0604020202020204" pitchFamily="34" charset="0"/>
              </a:rPr>
              <a:t>1      </a:t>
            </a:r>
            <a:r>
              <a:rPr lang="en-US" altLang="zh-CN" u="sng" dirty="0">
                <a:latin typeface="Arial" panose="020B0604020202020204" pitchFamily="34" charset="0"/>
              </a:rPr>
              <a:t>11001000  00010111  0001001</a:t>
            </a:r>
            <a:r>
              <a:rPr lang="en-US" altLang="zh-CN" dirty="0">
                <a:latin typeface="Arial" panose="020B0604020202020204" pitchFamily="34" charset="0"/>
              </a:rPr>
              <a:t>0  00000000    200.23.18.0/23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组织 </a:t>
            </a:r>
            <a:r>
              <a:rPr lang="en-US" altLang="zh-CN" dirty="0">
                <a:latin typeface="Arial" panose="020B0604020202020204" pitchFamily="34" charset="0"/>
              </a:rPr>
              <a:t>2      </a:t>
            </a:r>
            <a:r>
              <a:rPr lang="en-US" altLang="zh-CN" u="sng" dirty="0">
                <a:latin typeface="Arial" panose="020B0604020202020204" pitchFamily="34" charset="0"/>
              </a:rPr>
              <a:t>11001000  00010111  0001010</a:t>
            </a:r>
            <a:r>
              <a:rPr lang="en-US" altLang="zh-CN" dirty="0">
                <a:latin typeface="Arial" panose="020B0604020202020204" pitchFamily="34" charset="0"/>
              </a:rPr>
              <a:t>0  00000000    200.23.20.0/23 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   ...                                          …..                                   ….                ….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zh-CN" altLang="en-US" dirty="0">
                <a:latin typeface="Arial" panose="020B0604020202020204" pitchFamily="34" charset="0"/>
              </a:rPr>
              <a:t>组织 </a:t>
            </a:r>
            <a:r>
              <a:rPr lang="en-US" altLang="zh-CN" dirty="0">
                <a:latin typeface="Arial" panose="020B0604020202020204" pitchFamily="34" charset="0"/>
              </a:rPr>
              <a:t>7      </a:t>
            </a:r>
            <a:r>
              <a:rPr lang="en-US" altLang="zh-CN" u="sng" dirty="0">
                <a:latin typeface="Arial" panose="020B0604020202020204" pitchFamily="34" charset="0"/>
              </a:rPr>
              <a:t>11001000  00010111  0001111</a:t>
            </a:r>
            <a:r>
              <a:rPr lang="en-US" altLang="zh-CN" dirty="0">
                <a:latin typeface="Arial" panose="020B0604020202020204" pitchFamily="34" charset="0"/>
              </a:rPr>
              <a:t>0  00000000    200.23.30.0/23</a:t>
            </a:r>
            <a:r>
              <a:rPr lang="en-US" altLang="zh-CN" sz="2400" dirty="0">
                <a:latin typeface="Times New Roman" panose="02020603050405020304" pitchFamily="18" charset="0"/>
              </a:rPr>
              <a:t> 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232453" name="Line 5"/>
          <p:cNvSpPr/>
          <p:nvPr/>
        </p:nvSpPr>
        <p:spPr>
          <a:xfrm flipH="1">
            <a:off x="5076825" y="3335338"/>
            <a:ext cx="7938" cy="24733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2454" name="Line 6"/>
          <p:cNvSpPr/>
          <p:nvPr/>
        </p:nvSpPr>
        <p:spPr>
          <a:xfrm flipH="1">
            <a:off x="4411663" y="3443288"/>
            <a:ext cx="7937" cy="2473325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32455" name="Text Box 7"/>
          <p:cNvSpPr txBox="1"/>
          <p:nvPr/>
        </p:nvSpPr>
        <p:spPr>
          <a:xfrm>
            <a:off x="5043488" y="5829300"/>
            <a:ext cx="641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聚合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32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32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32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245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0179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018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316913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等级编址</a:t>
            </a:r>
            <a:r>
              <a:rPr lang="en-US" altLang="zh-CN" sz="3600" dirty="0"/>
              <a:t>: </a:t>
            </a:r>
            <a:r>
              <a:rPr lang="zh-CN" altLang="en-US" sz="3600" dirty="0"/>
              <a:t>路由聚合</a:t>
            </a:r>
            <a:endParaRPr lang="zh-CN" altLang="en-US" sz="4400" dirty="0"/>
          </a:p>
        </p:txBody>
      </p:sp>
      <p:sp>
        <p:nvSpPr>
          <p:cNvPr id="50181" name="Freeform 3"/>
          <p:cNvSpPr/>
          <p:nvPr/>
        </p:nvSpPr>
        <p:spPr>
          <a:xfrm>
            <a:off x="5175250" y="412115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1272" y="18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0182" name="Line 4"/>
          <p:cNvSpPr/>
          <p:nvPr/>
        </p:nvSpPr>
        <p:spPr>
          <a:xfrm flipV="1">
            <a:off x="2832100" y="4397375"/>
            <a:ext cx="89535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3" name="Line 5"/>
          <p:cNvSpPr/>
          <p:nvPr/>
        </p:nvSpPr>
        <p:spPr>
          <a:xfrm>
            <a:off x="2860675" y="3768725"/>
            <a:ext cx="7524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4" name="Line 6"/>
          <p:cNvSpPr/>
          <p:nvPr/>
        </p:nvSpPr>
        <p:spPr>
          <a:xfrm>
            <a:off x="2927350" y="2987675"/>
            <a:ext cx="847725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185" name="Freeform 7"/>
          <p:cNvSpPr/>
          <p:nvPr/>
        </p:nvSpPr>
        <p:spPr>
          <a:xfrm>
            <a:off x="3573463" y="356711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439" y="97"/>
              </a:cxn>
              <a:cxn ang="0">
                <a:pos x="205" y="19"/>
              </a:cxn>
              <a:cxn ang="0">
                <a:pos x="55" y="73"/>
              </a:cxn>
              <a:cxn ang="0">
                <a:pos x="4" y="456"/>
              </a:cxn>
              <a:cxn ang="0">
                <a:pos x="77" y="582"/>
              </a:cxn>
              <a:cxn ang="0">
                <a:pos x="451" y="587"/>
              </a:cxn>
              <a:cxn ang="0">
                <a:pos x="685" y="613"/>
              </a:cxn>
              <a:cxn ang="0">
                <a:pos x="925" y="565"/>
              </a:cxn>
              <a:cxn ang="0">
                <a:pos x="1099" y="330"/>
              </a:cxn>
              <a:cxn ang="0">
                <a:pos x="1036" y="138"/>
              </a:cxn>
              <a:cxn ang="0">
                <a:pos x="691" y="91"/>
              </a:cxn>
              <a:cxn ang="0">
                <a:pos x="439" y="97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0186" name="Text Box 8"/>
          <p:cNvSpPr txBox="1"/>
          <p:nvPr/>
        </p:nvSpPr>
        <p:spPr>
          <a:xfrm>
            <a:off x="5407025" y="3297238"/>
            <a:ext cx="1811338" cy="730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“向我发送地址始于</a:t>
            </a:r>
            <a:r>
              <a:rPr lang="en-US" altLang="zh-CN" sz="1400" dirty="0">
                <a:latin typeface="Comic Sans MS" panose="030F0702030302020204" pitchFamily="66" charset="0"/>
              </a:rPr>
              <a:t>200.23.16.0/20</a:t>
            </a:r>
            <a:r>
              <a:rPr lang="zh-CN" altLang="en-US" sz="1400" dirty="0">
                <a:latin typeface="Comic Sans MS" panose="030F0702030302020204" pitchFamily="66" charset="0"/>
              </a:rPr>
              <a:t>的任何分组</a:t>
            </a:r>
            <a:r>
              <a:rPr lang="en-US" altLang="zh-CN" sz="1400" dirty="0">
                <a:latin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0187" name="Group 9"/>
          <p:cNvGrpSpPr/>
          <p:nvPr/>
        </p:nvGrpSpPr>
        <p:grpSpPr>
          <a:xfrm>
            <a:off x="758825" y="2760663"/>
            <a:ext cx="2338388" cy="404812"/>
            <a:chOff x="1004" y="1639"/>
            <a:chExt cx="1473" cy="255"/>
          </a:xfrm>
        </p:grpSpPr>
        <p:sp>
          <p:nvSpPr>
            <p:cNvPr id="50220" name="Freeform 10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0221" name="Text Box 11"/>
            <p:cNvSpPr txBox="1"/>
            <p:nvPr/>
          </p:nvSpPr>
          <p:spPr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200.23.16.0/23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0188" name="Group 12"/>
          <p:cNvGrpSpPr/>
          <p:nvPr/>
        </p:nvGrpSpPr>
        <p:grpSpPr>
          <a:xfrm>
            <a:off x="787400" y="3351213"/>
            <a:ext cx="2338388" cy="404812"/>
            <a:chOff x="1004" y="1639"/>
            <a:chExt cx="1473" cy="255"/>
          </a:xfrm>
        </p:grpSpPr>
        <p:sp>
          <p:nvSpPr>
            <p:cNvPr id="50218" name="Freeform 13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0219" name="Text Box 14"/>
            <p:cNvSpPr txBox="1"/>
            <p:nvPr/>
          </p:nvSpPr>
          <p:spPr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200.23.18.0/23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0189" name="Group 15"/>
          <p:cNvGrpSpPr/>
          <p:nvPr/>
        </p:nvGrpSpPr>
        <p:grpSpPr>
          <a:xfrm>
            <a:off x="701675" y="4770438"/>
            <a:ext cx="2338388" cy="404812"/>
            <a:chOff x="1004" y="1639"/>
            <a:chExt cx="1473" cy="255"/>
          </a:xfrm>
        </p:grpSpPr>
        <p:sp>
          <p:nvSpPr>
            <p:cNvPr id="50216" name="Freeform 16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0217" name="Text Box 17"/>
            <p:cNvSpPr txBox="1"/>
            <p:nvPr/>
          </p:nvSpPr>
          <p:spPr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200.23.30.0/23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0190" name="Text Box 18"/>
          <p:cNvSpPr txBox="1"/>
          <p:nvPr/>
        </p:nvSpPr>
        <p:spPr>
          <a:xfrm>
            <a:off x="3606800" y="4002088"/>
            <a:ext cx="1646238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Comic Sans MS" panose="030F0702030302020204" pitchFamily="66" charset="0"/>
              </a:rPr>
              <a:t>Fly-By-Night-ISP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0191" name="Freeform 19"/>
          <p:cNvSpPr/>
          <p:nvPr/>
        </p:nvSpPr>
        <p:spPr>
          <a:xfrm>
            <a:off x="7169150" y="3184525"/>
            <a:ext cx="730250" cy="2535238"/>
          </a:xfrm>
          <a:custGeom>
            <a:avLst/>
            <a:gdLst>
              <a:gd name="txL" fmla="*/ 0 w 460"/>
              <a:gd name="txT" fmla="*/ 0 h 1597"/>
              <a:gd name="txR" fmla="*/ 460 w 460"/>
              <a:gd name="txB" fmla="*/ 1597 h 1597"/>
            </a:gdLst>
            <a:ahLst/>
            <a:cxnLst>
              <a:cxn ang="0">
                <a:pos x="328" y="56"/>
              </a:cxn>
              <a:cxn ang="0">
                <a:pos x="208" y="218"/>
              </a:cxn>
              <a:cxn ang="0">
                <a:pos x="58" y="536"/>
              </a:cxn>
              <a:cxn ang="0">
                <a:pos x="7" y="919"/>
              </a:cxn>
              <a:cxn ang="0">
                <a:pos x="100" y="1118"/>
              </a:cxn>
              <a:cxn ang="0">
                <a:pos x="220" y="1352"/>
              </a:cxn>
              <a:cxn ang="0">
                <a:pos x="424" y="1562"/>
              </a:cxn>
              <a:cxn ang="0">
                <a:pos x="436" y="1142"/>
              </a:cxn>
              <a:cxn ang="0">
                <a:pos x="424" y="1046"/>
              </a:cxn>
              <a:cxn ang="0">
                <a:pos x="346" y="854"/>
              </a:cxn>
              <a:cxn ang="0">
                <a:pos x="310" y="602"/>
              </a:cxn>
              <a:cxn ang="0">
                <a:pos x="328" y="56"/>
              </a:cxn>
            </a:cxnLst>
            <a:rect l="txL" t="txT" r="txR" b="txB"/>
            <a:pathLst>
              <a:path w="460" h="1597">
                <a:moveTo>
                  <a:pt x="328" y="56"/>
                </a:moveTo>
                <a:cubicBezTo>
                  <a:pt x="247" y="0"/>
                  <a:pt x="253" y="138"/>
                  <a:pt x="208" y="218"/>
                </a:cubicBezTo>
                <a:cubicBezTo>
                  <a:pt x="163" y="298"/>
                  <a:pt x="91" y="419"/>
                  <a:pt x="58" y="536"/>
                </a:cubicBezTo>
                <a:cubicBezTo>
                  <a:pt x="25" y="653"/>
                  <a:pt x="0" y="822"/>
                  <a:pt x="7" y="919"/>
                </a:cubicBezTo>
                <a:cubicBezTo>
                  <a:pt x="14" y="1016"/>
                  <a:pt x="64" y="1046"/>
                  <a:pt x="100" y="1118"/>
                </a:cubicBezTo>
                <a:cubicBezTo>
                  <a:pt x="136" y="1190"/>
                  <a:pt x="166" y="1278"/>
                  <a:pt x="220" y="1352"/>
                </a:cubicBezTo>
                <a:cubicBezTo>
                  <a:pt x="274" y="1426"/>
                  <a:pt x="388" y="1597"/>
                  <a:pt x="424" y="1562"/>
                </a:cubicBezTo>
                <a:cubicBezTo>
                  <a:pt x="460" y="1527"/>
                  <a:pt x="436" y="1228"/>
                  <a:pt x="436" y="1142"/>
                </a:cubicBezTo>
                <a:cubicBezTo>
                  <a:pt x="436" y="1056"/>
                  <a:pt x="439" y="1094"/>
                  <a:pt x="424" y="1046"/>
                </a:cubicBezTo>
                <a:cubicBezTo>
                  <a:pt x="409" y="998"/>
                  <a:pt x="365" y="928"/>
                  <a:pt x="346" y="854"/>
                </a:cubicBezTo>
                <a:cubicBezTo>
                  <a:pt x="327" y="780"/>
                  <a:pt x="313" y="735"/>
                  <a:pt x="310" y="602"/>
                </a:cubicBezTo>
                <a:cubicBezTo>
                  <a:pt x="307" y="469"/>
                  <a:pt x="324" y="170"/>
                  <a:pt x="328" y="5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0192" name="Text Box 20"/>
          <p:cNvSpPr txBox="1"/>
          <p:nvPr/>
        </p:nvSpPr>
        <p:spPr>
          <a:xfrm>
            <a:off x="758825" y="2506663"/>
            <a:ext cx="700088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0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0193" name="Text Box 21"/>
          <p:cNvSpPr txBox="1"/>
          <p:nvPr/>
        </p:nvSpPr>
        <p:spPr>
          <a:xfrm>
            <a:off x="787400" y="4516438"/>
            <a:ext cx="700088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7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0194" name="Text Box 22"/>
          <p:cNvSpPr txBox="1"/>
          <p:nvPr/>
        </p:nvSpPr>
        <p:spPr>
          <a:xfrm>
            <a:off x="7407275" y="4311650"/>
            <a:ext cx="71755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因特网</a:t>
            </a:r>
            <a:endParaRPr lang="zh-CN" altLang="en-US" sz="1400" dirty="0">
              <a:latin typeface="Comic Sans MS" panose="030F0702030302020204" pitchFamily="66" charset="0"/>
            </a:endParaRPr>
          </a:p>
        </p:txBody>
      </p:sp>
      <p:sp>
        <p:nvSpPr>
          <p:cNvPr id="50195" name="Text Box 23"/>
          <p:cNvSpPr txBox="1"/>
          <p:nvPr/>
        </p:nvSpPr>
        <p:spPr>
          <a:xfrm>
            <a:off x="768350" y="3154363"/>
            <a:ext cx="671513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1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0196" name="Freeform 24"/>
          <p:cNvSpPr/>
          <p:nvPr/>
        </p:nvSpPr>
        <p:spPr>
          <a:xfrm>
            <a:off x="3516313" y="4881563"/>
            <a:ext cx="1773237" cy="979487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439" y="97"/>
              </a:cxn>
              <a:cxn ang="0">
                <a:pos x="205" y="19"/>
              </a:cxn>
              <a:cxn ang="0">
                <a:pos x="55" y="73"/>
              </a:cxn>
              <a:cxn ang="0">
                <a:pos x="4" y="456"/>
              </a:cxn>
              <a:cxn ang="0">
                <a:pos x="77" y="582"/>
              </a:cxn>
              <a:cxn ang="0">
                <a:pos x="451" y="587"/>
              </a:cxn>
              <a:cxn ang="0">
                <a:pos x="685" y="613"/>
              </a:cxn>
              <a:cxn ang="0">
                <a:pos x="925" y="565"/>
              </a:cxn>
              <a:cxn ang="0">
                <a:pos x="1099" y="330"/>
              </a:cxn>
              <a:cxn ang="0">
                <a:pos x="1036" y="138"/>
              </a:cxn>
              <a:cxn ang="0">
                <a:pos x="691" y="91"/>
              </a:cxn>
              <a:cxn ang="0">
                <a:pos x="439" y="97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0197" name="Text Box 25"/>
          <p:cNvSpPr txBox="1"/>
          <p:nvPr/>
        </p:nvSpPr>
        <p:spPr>
          <a:xfrm>
            <a:off x="3816350" y="5259388"/>
            <a:ext cx="1063625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Comic Sans MS" panose="030F0702030302020204" pitchFamily="66" charset="0"/>
              </a:rPr>
              <a:t>ISPs-R-Us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0198" name="Freeform 26"/>
          <p:cNvSpPr/>
          <p:nvPr/>
        </p:nvSpPr>
        <p:spPr>
          <a:xfrm flipV="1">
            <a:off x="5241925" y="4902200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1272" y="18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0199" name="Line 27"/>
          <p:cNvSpPr/>
          <p:nvPr/>
        </p:nvSpPr>
        <p:spPr>
          <a:xfrm>
            <a:off x="3032125" y="5445125"/>
            <a:ext cx="485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0" name="Line 28"/>
          <p:cNvSpPr/>
          <p:nvPr/>
        </p:nvSpPr>
        <p:spPr>
          <a:xfrm flipV="1">
            <a:off x="2879725" y="5511800"/>
            <a:ext cx="6381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1" name="Line 29"/>
          <p:cNvSpPr/>
          <p:nvPr/>
        </p:nvSpPr>
        <p:spPr>
          <a:xfrm flipV="1">
            <a:off x="3317875" y="5759450"/>
            <a:ext cx="247650" cy="4095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0202" name="Text Box 30"/>
          <p:cNvSpPr txBox="1"/>
          <p:nvPr/>
        </p:nvSpPr>
        <p:spPr>
          <a:xfrm>
            <a:off x="5530850" y="5105400"/>
            <a:ext cx="2030413" cy="730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“向我发送地址始于</a:t>
            </a:r>
            <a:r>
              <a:rPr lang="en-US" altLang="zh-CN" sz="1400" dirty="0">
                <a:latin typeface="Comic Sans MS" panose="030F0702030302020204" pitchFamily="66" charset="0"/>
              </a:rPr>
              <a:t>199.31.0.0/16</a:t>
            </a:r>
            <a:r>
              <a:rPr lang="zh-CN" altLang="en-US" sz="1400" dirty="0">
                <a:latin typeface="Comic Sans MS" panose="030F0702030302020204" pitchFamily="66" charset="0"/>
              </a:rPr>
              <a:t>的任何分组</a:t>
            </a:r>
            <a:r>
              <a:rPr lang="en-US" altLang="zh-CN" sz="1400" dirty="0">
                <a:latin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0203" name="Group 31"/>
          <p:cNvGrpSpPr/>
          <p:nvPr/>
        </p:nvGrpSpPr>
        <p:grpSpPr>
          <a:xfrm>
            <a:off x="806450" y="3941763"/>
            <a:ext cx="2338388" cy="404812"/>
            <a:chOff x="1004" y="1639"/>
            <a:chExt cx="1473" cy="255"/>
          </a:xfrm>
        </p:grpSpPr>
        <p:sp>
          <p:nvSpPr>
            <p:cNvPr id="50214" name="Freeform 32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0215" name="Text Box 33"/>
            <p:cNvSpPr txBox="1"/>
            <p:nvPr/>
          </p:nvSpPr>
          <p:spPr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200.23.20.0/23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0204" name="Text Box 34"/>
          <p:cNvSpPr txBox="1"/>
          <p:nvPr/>
        </p:nvSpPr>
        <p:spPr>
          <a:xfrm>
            <a:off x="787400" y="3744913"/>
            <a:ext cx="700088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2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0205" name="Group 35"/>
          <p:cNvGrpSpPr/>
          <p:nvPr/>
        </p:nvGrpSpPr>
        <p:grpSpPr>
          <a:xfrm>
            <a:off x="2155825" y="4205288"/>
            <a:ext cx="296863" cy="663575"/>
            <a:chOff x="870" y="2945"/>
            <a:chExt cx="187" cy="418"/>
          </a:xfrm>
        </p:grpSpPr>
        <p:sp>
          <p:nvSpPr>
            <p:cNvPr id="50211" name="Text Box 36"/>
            <p:cNvSpPr txBox="1"/>
            <p:nvPr/>
          </p:nvSpPr>
          <p:spPr>
            <a:xfrm>
              <a:off x="872" y="2945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0212" name="Text Box 37"/>
            <p:cNvSpPr txBox="1"/>
            <p:nvPr/>
          </p:nvSpPr>
          <p:spPr>
            <a:xfrm>
              <a:off x="870" y="3030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0213" name="Text Box 38"/>
            <p:cNvSpPr txBox="1"/>
            <p:nvPr/>
          </p:nvSpPr>
          <p:spPr>
            <a:xfrm>
              <a:off x="871" y="3113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0206" name="Group 39"/>
          <p:cNvGrpSpPr/>
          <p:nvPr/>
        </p:nvGrpSpPr>
        <p:grpSpPr>
          <a:xfrm>
            <a:off x="3184525" y="3910013"/>
            <a:ext cx="296863" cy="663575"/>
            <a:chOff x="870" y="2945"/>
            <a:chExt cx="187" cy="418"/>
          </a:xfrm>
        </p:grpSpPr>
        <p:sp>
          <p:nvSpPr>
            <p:cNvPr id="50208" name="Text Box 40"/>
            <p:cNvSpPr txBox="1"/>
            <p:nvPr/>
          </p:nvSpPr>
          <p:spPr>
            <a:xfrm>
              <a:off x="872" y="2945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0209" name="Text Box 41"/>
            <p:cNvSpPr txBox="1"/>
            <p:nvPr/>
          </p:nvSpPr>
          <p:spPr>
            <a:xfrm>
              <a:off x="870" y="3030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0210" name="Text Box 42"/>
            <p:cNvSpPr txBox="1"/>
            <p:nvPr/>
          </p:nvSpPr>
          <p:spPr>
            <a:xfrm>
              <a:off x="871" y="3113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0207" name="Text Box 43"/>
          <p:cNvSpPr txBox="1"/>
          <p:nvPr/>
        </p:nvSpPr>
        <p:spPr>
          <a:xfrm>
            <a:off x="933450" y="1431925"/>
            <a:ext cx="3681413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等级编址允许有效的通告选路信息</a:t>
            </a:r>
            <a:r>
              <a:rPr lang="en-US" altLang="zh-CN" dirty="0">
                <a:latin typeface="Comic Sans MS" panose="030F0702030302020204" pitchFamily="66" charset="0"/>
              </a:rPr>
              <a:t>: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0200" y="164465"/>
            <a:ext cx="8483600" cy="639699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3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1203" name="灯片编号占位符 4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1204" name="Rectangle 2"/>
          <p:cNvSpPr>
            <a:spLocks noGrp="1"/>
          </p:cNvSpPr>
          <p:nvPr>
            <p:ph type="title"/>
          </p:nvPr>
        </p:nvSpPr>
        <p:spPr>
          <a:xfrm>
            <a:off x="490538" y="374650"/>
            <a:ext cx="8316912" cy="1143000"/>
          </a:xfrm>
        </p:spPr>
        <p:txBody>
          <a:bodyPr vert="horz" wrap="square" lIns="91440" tIns="45720" rIns="91440" bIns="45720" anchor="ctr" anchorCtr="0"/>
          <a:p>
            <a:r>
              <a:rPr lang="zh-CN" altLang="en-US" sz="3600" dirty="0"/>
              <a:t>等级编址</a:t>
            </a:r>
            <a:r>
              <a:rPr lang="en-US" altLang="zh-CN" sz="3600" dirty="0"/>
              <a:t>: </a:t>
            </a:r>
            <a:r>
              <a:rPr lang="zh-CN" altLang="en-US" sz="3600" dirty="0"/>
              <a:t>更为特定的路由</a:t>
            </a:r>
            <a:endParaRPr lang="en-US" altLang="zh-CN" sz="4400" dirty="0"/>
          </a:p>
        </p:txBody>
      </p:sp>
      <p:sp>
        <p:nvSpPr>
          <p:cNvPr id="51205" name="Text Box 3"/>
          <p:cNvSpPr txBox="1"/>
          <p:nvPr/>
        </p:nvSpPr>
        <p:spPr>
          <a:xfrm>
            <a:off x="660400" y="1739900"/>
            <a:ext cx="2624455" cy="3683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l"/>
            <a:r>
              <a:rPr lang="zh-CN" altLang="en-US" dirty="0">
                <a:sym typeface="+mn-ea"/>
              </a:rPr>
              <a:t>组织 </a:t>
            </a:r>
            <a:r>
              <a:rPr lang="en-US" altLang="zh-CN" dirty="0">
                <a:sym typeface="+mn-ea"/>
              </a:rPr>
              <a:t>1</a:t>
            </a:r>
            <a:r>
              <a:rPr lang="zh-CN" altLang="en-US" dirty="0">
                <a:sym typeface="+mn-ea"/>
              </a:rPr>
              <a:t>变更到</a:t>
            </a:r>
            <a:r>
              <a:rPr lang="en-US" altLang="zh-CN" dirty="0">
                <a:latin typeface="Comic Sans MS" panose="030F0702030302020204" pitchFamily="66" charset="0"/>
              </a:rPr>
              <a:t>ISPs-R-Us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1206" name="Freeform 4"/>
          <p:cNvSpPr/>
          <p:nvPr/>
        </p:nvSpPr>
        <p:spPr>
          <a:xfrm>
            <a:off x="5164138" y="3836988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1272" y="18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07" name="Line 5"/>
          <p:cNvSpPr/>
          <p:nvPr/>
        </p:nvSpPr>
        <p:spPr>
          <a:xfrm flipV="1">
            <a:off x="2820988" y="4113213"/>
            <a:ext cx="895350" cy="4572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8" name="Line 6"/>
          <p:cNvSpPr/>
          <p:nvPr/>
        </p:nvSpPr>
        <p:spPr>
          <a:xfrm flipV="1">
            <a:off x="3182938" y="5389563"/>
            <a:ext cx="333375" cy="2476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09" name="Line 7"/>
          <p:cNvSpPr/>
          <p:nvPr/>
        </p:nvSpPr>
        <p:spPr>
          <a:xfrm>
            <a:off x="2916238" y="2703513"/>
            <a:ext cx="847725" cy="76200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10" name="Freeform 8"/>
          <p:cNvSpPr/>
          <p:nvPr/>
        </p:nvSpPr>
        <p:spPr>
          <a:xfrm>
            <a:off x="3562350" y="3282950"/>
            <a:ext cx="1773238" cy="979488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439" y="97"/>
              </a:cxn>
              <a:cxn ang="0">
                <a:pos x="205" y="19"/>
              </a:cxn>
              <a:cxn ang="0">
                <a:pos x="55" y="73"/>
              </a:cxn>
              <a:cxn ang="0">
                <a:pos x="4" y="456"/>
              </a:cxn>
              <a:cxn ang="0">
                <a:pos x="77" y="582"/>
              </a:cxn>
              <a:cxn ang="0">
                <a:pos x="451" y="587"/>
              </a:cxn>
              <a:cxn ang="0">
                <a:pos x="685" y="613"/>
              </a:cxn>
              <a:cxn ang="0">
                <a:pos x="925" y="565"/>
              </a:cxn>
              <a:cxn ang="0">
                <a:pos x="1099" y="330"/>
              </a:cxn>
              <a:cxn ang="0">
                <a:pos x="1036" y="138"/>
              </a:cxn>
              <a:cxn ang="0">
                <a:pos x="691" y="91"/>
              </a:cxn>
              <a:cxn ang="0">
                <a:pos x="439" y="97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11" name="Text Box 9"/>
          <p:cNvSpPr txBox="1"/>
          <p:nvPr/>
        </p:nvSpPr>
        <p:spPr>
          <a:xfrm>
            <a:off x="5395913" y="3013075"/>
            <a:ext cx="1662112" cy="730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“向我发送地址始于</a:t>
            </a:r>
            <a:r>
              <a:rPr lang="en-US" altLang="zh-CN" sz="1400" dirty="0">
                <a:latin typeface="Comic Sans MS" panose="030F0702030302020204" pitchFamily="66" charset="0"/>
              </a:rPr>
              <a:t>200.23.16.0/20</a:t>
            </a:r>
            <a:r>
              <a:rPr lang="zh-CN" altLang="en-US" sz="1400" dirty="0">
                <a:latin typeface="Comic Sans MS" panose="030F0702030302020204" pitchFamily="66" charset="0"/>
              </a:rPr>
              <a:t>的任何分组</a:t>
            </a:r>
            <a:r>
              <a:rPr lang="en-US" altLang="zh-CN" sz="1400" dirty="0">
                <a:latin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1212" name="Group 10"/>
          <p:cNvGrpSpPr/>
          <p:nvPr/>
        </p:nvGrpSpPr>
        <p:grpSpPr>
          <a:xfrm>
            <a:off x="747713" y="2476500"/>
            <a:ext cx="2338387" cy="404813"/>
            <a:chOff x="1004" y="1639"/>
            <a:chExt cx="1473" cy="255"/>
          </a:xfrm>
        </p:grpSpPr>
        <p:sp>
          <p:nvSpPr>
            <p:cNvPr id="51244" name="Freeform 11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245" name="Text Box 12"/>
            <p:cNvSpPr txBox="1"/>
            <p:nvPr/>
          </p:nvSpPr>
          <p:spPr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200.23.16.0/23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1213" name="Group 13"/>
          <p:cNvGrpSpPr/>
          <p:nvPr/>
        </p:nvGrpSpPr>
        <p:grpSpPr>
          <a:xfrm>
            <a:off x="957263" y="5553075"/>
            <a:ext cx="2338387" cy="404813"/>
            <a:chOff x="1004" y="1639"/>
            <a:chExt cx="1473" cy="255"/>
          </a:xfrm>
        </p:grpSpPr>
        <p:sp>
          <p:nvSpPr>
            <p:cNvPr id="51242" name="Freeform 14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243" name="Text Box 15"/>
            <p:cNvSpPr txBox="1"/>
            <p:nvPr/>
          </p:nvSpPr>
          <p:spPr>
            <a:xfrm>
              <a:off x="1226" y="1667"/>
              <a:ext cx="103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200.23.18.0/23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1214" name="Group 16"/>
          <p:cNvGrpSpPr/>
          <p:nvPr/>
        </p:nvGrpSpPr>
        <p:grpSpPr>
          <a:xfrm>
            <a:off x="690563" y="4486275"/>
            <a:ext cx="2338387" cy="404813"/>
            <a:chOff x="1004" y="1639"/>
            <a:chExt cx="1473" cy="255"/>
          </a:xfrm>
        </p:grpSpPr>
        <p:sp>
          <p:nvSpPr>
            <p:cNvPr id="51240" name="Freeform 17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241" name="Text Box 18"/>
            <p:cNvSpPr txBox="1"/>
            <p:nvPr/>
          </p:nvSpPr>
          <p:spPr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200.23.30.0/23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1215" name="Text Box 19"/>
          <p:cNvSpPr txBox="1"/>
          <p:nvPr/>
        </p:nvSpPr>
        <p:spPr>
          <a:xfrm>
            <a:off x="3595688" y="3717925"/>
            <a:ext cx="1646237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Comic Sans MS" panose="030F0702030302020204" pitchFamily="66" charset="0"/>
              </a:rPr>
              <a:t>Fly-By-Night-ISP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1216" name="Freeform 20"/>
          <p:cNvSpPr/>
          <p:nvPr/>
        </p:nvSpPr>
        <p:spPr>
          <a:xfrm>
            <a:off x="7158038" y="2900363"/>
            <a:ext cx="730250" cy="2535237"/>
          </a:xfrm>
          <a:custGeom>
            <a:avLst/>
            <a:gdLst>
              <a:gd name="txL" fmla="*/ 0 w 460"/>
              <a:gd name="txT" fmla="*/ 0 h 1597"/>
              <a:gd name="txR" fmla="*/ 460 w 460"/>
              <a:gd name="txB" fmla="*/ 1597 h 1597"/>
            </a:gdLst>
            <a:ahLst/>
            <a:cxnLst>
              <a:cxn ang="0">
                <a:pos x="328" y="56"/>
              </a:cxn>
              <a:cxn ang="0">
                <a:pos x="208" y="218"/>
              </a:cxn>
              <a:cxn ang="0">
                <a:pos x="58" y="536"/>
              </a:cxn>
              <a:cxn ang="0">
                <a:pos x="7" y="919"/>
              </a:cxn>
              <a:cxn ang="0">
                <a:pos x="100" y="1118"/>
              </a:cxn>
              <a:cxn ang="0">
                <a:pos x="220" y="1352"/>
              </a:cxn>
              <a:cxn ang="0">
                <a:pos x="424" y="1562"/>
              </a:cxn>
              <a:cxn ang="0">
                <a:pos x="436" y="1142"/>
              </a:cxn>
              <a:cxn ang="0">
                <a:pos x="424" y="1046"/>
              </a:cxn>
              <a:cxn ang="0">
                <a:pos x="346" y="854"/>
              </a:cxn>
              <a:cxn ang="0">
                <a:pos x="310" y="602"/>
              </a:cxn>
              <a:cxn ang="0">
                <a:pos x="328" y="56"/>
              </a:cxn>
            </a:cxnLst>
            <a:rect l="txL" t="txT" r="txR" b="txB"/>
            <a:pathLst>
              <a:path w="460" h="1597">
                <a:moveTo>
                  <a:pt x="328" y="56"/>
                </a:moveTo>
                <a:cubicBezTo>
                  <a:pt x="247" y="0"/>
                  <a:pt x="253" y="138"/>
                  <a:pt x="208" y="218"/>
                </a:cubicBezTo>
                <a:cubicBezTo>
                  <a:pt x="163" y="298"/>
                  <a:pt x="91" y="419"/>
                  <a:pt x="58" y="536"/>
                </a:cubicBezTo>
                <a:cubicBezTo>
                  <a:pt x="25" y="653"/>
                  <a:pt x="0" y="822"/>
                  <a:pt x="7" y="919"/>
                </a:cubicBezTo>
                <a:cubicBezTo>
                  <a:pt x="14" y="1016"/>
                  <a:pt x="64" y="1046"/>
                  <a:pt x="100" y="1118"/>
                </a:cubicBezTo>
                <a:cubicBezTo>
                  <a:pt x="136" y="1190"/>
                  <a:pt x="166" y="1278"/>
                  <a:pt x="220" y="1352"/>
                </a:cubicBezTo>
                <a:cubicBezTo>
                  <a:pt x="274" y="1426"/>
                  <a:pt x="388" y="1597"/>
                  <a:pt x="424" y="1562"/>
                </a:cubicBezTo>
                <a:cubicBezTo>
                  <a:pt x="460" y="1527"/>
                  <a:pt x="436" y="1228"/>
                  <a:pt x="436" y="1142"/>
                </a:cubicBezTo>
                <a:cubicBezTo>
                  <a:pt x="436" y="1056"/>
                  <a:pt x="439" y="1094"/>
                  <a:pt x="424" y="1046"/>
                </a:cubicBezTo>
                <a:cubicBezTo>
                  <a:pt x="409" y="998"/>
                  <a:pt x="365" y="928"/>
                  <a:pt x="346" y="854"/>
                </a:cubicBezTo>
                <a:cubicBezTo>
                  <a:pt x="327" y="780"/>
                  <a:pt x="313" y="735"/>
                  <a:pt x="310" y="602"/>
                </a:cubicBezTo>
                <a:cubicBezTo>
                  <a:pt x="307" y="469"/>
                  <a:pt x="324" y="170"/>
                  <a:pt x="328" y="56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17" name="Text Box 21"/>
          <p:cNvSpPr txBox="1"/>
          <p:nvPr/>
        </p:nvSpPr>
        <p:spPr>
          <a:xfrm>
            <a:off x="747713" y="2222500"/>
            <a:ext cx="700087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0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1218" name="Text Box 22"/>
          <p:cNvSpPr txBox="1"/>
          <p:nvPr/>
        </p:nvSpPr>
        <p:spPr>
          <a:xfrm>
            <a:off x="776288" y="4232275"/>
            <a:ext cx="700087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7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1219" name="Text Box 23"/>
          <p:cNvSpPr txBox="1"/>
          <p:nvPr/>
        </p:nvSpPr>
        <p:spPr>
          <a:xfrm>
            <a:off x="7396163" y="4027488"/>
            <a:ext cx="717550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因特网</a:t>
            </a:r>
            <a:endParaRPr lang="zh-CN" altLang="en-US" sz="1400" dirty="0">
              <a:latin typeface="Comic Sans MS" panose="030F0702030302020204" pitchFamily="66" charset="0"/>
            </a:endParaRPr>
          </a:p>
        </p:txBody>
      </p:sp>
      <p:sp>
        <p:nvSpPr>
          <p:cNvPr id="51220" name="Text Box 24"/>
          <p:cNvSpPr txBox="1"/>
          <p:nvPr/>
        </p:nvSpPr>
        <p:spPr>
          <a:xfrm>
            <a:off x="938213" y="5356225"/>
            <a:ext cx="671512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1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sp>
        <p:nvSpPr>
          <p:cNvPr id="51221" name="Freeform 25"/>
          <p:cNvSpPr/>
          <p:nvPr/>
        </p:nvSpPr>
        <p:spPr>
          <a:xfrm>
            <a:off x="3505200" y="4597400"/>
            <a:ext cx="1773238" cy="979488"/>
          </a:xfrm>
          <a:custGeom>
            <a:avLst/>
            <a:gdLst>
              <a:gd name="txL" fmla="*/ 0 w 1117"/>
              <a:gd name="txT" fmla="*/ 0 h 617"/>
              <a:gd name="txR" fmla="*/ 1117 w 1117"/>
              <a:gd name="txB" fmla="*/ 617 h 617"/>
            </a:gdLst>
            <a:ahLst/>
            <a:cxnLst>
              <a:cxn ang="0">
                <a:pos x="439" y="97"/>
              </a:cxn>
              <a:cxn ang="0">
                <a:pos x="205" y="19"/>
              </a:cxn>
              <a:cxn ang="0">
                <a:pos x="55" y="73"/>
              </a:cxn>
              <a:cxn ang="0">
                <a:pos x="4" y="456"/>
              </a:cxn>
              <a:cxn ang="0">
                <a:pos x="77" y="582"/>
              </a:cxn>
              <a:cxn ang="0">
                <a:pos x="451" y="587"/>
              </a:cxn>
              <a:cxn ang="0">
                <a:pos x="685" y="613"/>
              </a:cxn>
              <a:cxn ang="0">
                <a:pos x="925" y="565"/>
              </a:cxn>
              <a:cxn ang="0">
                <a:pos x="1099" y="330"/>
              </a:cxn>
              <a:cxn ang="0">
                <a:pos x="1036" y="138"/>
              </a:cxn>
              <a:cxn ang="0">
                <a:pos x="691" y="91"/>
              </a:cxn>
              <a:cxn ang="0">
                <a:pos x="439" y="97"/>
              </a:cxn>
            </a:cxnLst>
            <a:rect l="txL" t="txT" r="txR" b="tx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22" name="Text Box 26"/>
          <p:cNvSpPr txBox="1"/>
          <p:nvPr/>
        </p:nvSpPr>
        <p:spPr>
          <a:xfrm>
            <a:off x="3805238" y="4975225"/>
            <a:ext cx="1063625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400" dirty="0">
                <a:latin typeface="Comic Sans MS" panose="030F0702030302020204" pitchFamily="66" charset="0"/>
              </a:rPr>
              <a:t>ISPs-R-Us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51223" name="Freeform 27"/>
          <p:cNvSpPr/>
          <p:nvPr/>
        </p:nvSpPr>
        <p:spPr>
          <a:xfrm flipV="1">
            <a:off x="5230813" y="4618038"/>
            <a:ext cx="2019300" cy="295275"/>
          </a:xfrm>
          <a:custGeom>
            <a:avLst/>
            <a:gdLst>
              <a:gd name="txL" fmla="*/ 0 w 1272"/>
              <a:gd name="txT" fmla="*/ 0 h 186"/>
              <a:gd name="txR" fmla="*/ 1272 w 1272"/>
              <a:gd name="txB" fmla="*/ 186 h 186"/>
            </a:gdLst>
            <a:ahLst/>
            <a:cxnLst>
              <a:cxn ang="0">
                <a:pos x="0" y="0"/>
              </a:cxn>
              <a:cxn ang="0">
                <a:pos x="1272" y="186"/>
              </a:cxn>
            </a:cxnLst>
            <a:rect l="txL" t="txT" r="txR" b="tx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51224" name="Line 28"/>
          <p:cNvSpPr/>
          <p:nvPr/>
        </p:nvSpPr>
        <p:spPr>
          <a:xfrm>
            <a:off x="3021013" y="5160963"/>
            <a:ext cx="4857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25" name="Line 29"/>
          <p:cNvSpPr/>
          <p:nvPr/>
        </p:nvSpPr>
        <p:spPr>
          <a:xfrm flipV="1">
            <a:off x="2868613" y="5227638"/>
            <a:ext cx="638175" cy="1714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26" name="Line 30"/>
          <p:cNvSpPr/>
          <p:nvPr/>
        </p:nvSpPr>
        <p:spPr>
          <a:xfrm flipV="1">
            <a:off x="3306763" y="5475288"/>
            <a:ext cx="247650" cy="409575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51227" name="Text Box 31"/>
          <p:cNvSpPr txBox="1"/>
          <p:nvPr/>
        </p:nvSpPr>
        <p:spPr>
          <a:xfrm>
            <a:off x="5519738" y="4870450"/>
            <a:ext cx="1660525" cy="9429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“向我发送地址始于</a:t>
            </a:r>
            <a:r>
              <a:rPr lang="en-US" altLang="zh-CN" sz="1400" dirty="0">
                <a:latin typeface="Comic Sans MS" panose="030F0702030302020204" pitchFamily="66" charset="0"/>
              </a:rPr>
              <a:t>199.31.0.0/16</a:t>
            </a:r>
            <a:r>
              <a:rPr lang="zh-CN" altLang="en-US" sz="1400" dirty="0">
                <a:latin typeface="Comic Sans MS" panose="030F0702030302020204" pitchFamily="66" charset="0"/>
              </a:rPr>
              <a:t>或</a:t>
            </a:r>
            <a:r>
              <a:rPr lang="en-US" altLang="zh-CN" sz="1400" dirty="0">
                <a:latin typeface="Comic Sans MS" panose="030F0702030302020204" pitchFamily="66" charset="0"/>
              </a:rPr>
              <a:t>200.23.18.0/23</a:t>
            </a:r>
            <a:r>
              <a:rPr lang="zh-CN" altLang="en-US" sz="1400" dirty="0">
                <a:latin typeface="Comic Sans MS" panose="030F0702030302020204" pitchFamily="66" charset="0"/>
              </a:rPr>
              <a:t>的任何分组</a:t>
            </a:r>
            <a:r>
              <a:rPr lang="en-US" altLang="zh-CN" sz="1400" dirty="0">
                <a:latin typeface="Comic Sans MS" panose="030F0702030302020204" pitchFamily="66" charset="0"/>
              </a:rPr>
              <a:t>”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1228" name="Group 32"/>
          <p:cNvGrpSpPr/>
          <p:nvPr/>
        </p:nvGrpSpPr>
        <p:grpSpPr>
          <a:xfrm>
            <a:off x="795338" y="3657600"/>
            <a:ext cx="2338387" cy="404813"/>
            <a:chOff x="1004" y="1639"/>
            <a:chExt cx="1473" cy="255"/>
          </a:xfrm>
        </p:grpSpPr>
        <p:sp>
          <p:nvSpPr>
            <p:cNvPr id="51238" name="Freeform 33"/>
            <p:cNvSpPr/>
            <p:nvPr/>
          </p:nvSpPr>
          <p:spPr>
            <a:xfrm>
              <a:off x="1004" y="1639"/>
              <a:ext cx="1473" cy="255"/>
            </a:xfrm>
            <a:custGeom>
              <a:avLst/>
              <a:gdLst>
                <a:gd name="txL" fmla="*/ 0 w 1473"/>
                <a:gd name="txT" fmla="*/ 0 h 255"/>
                <a:gd name="txR" fmla="*/ 1473 w 1473"/>
                <a:gd name="txB" fmla="*/ 255 h 255"/>
              </a:gdLst>
              <a:ahLst/>
              <a:cxnLst>
                <a:cxn ang="0">
                  <a:pos x="172" y="11"/>
                </a:cxn>
                <a:cxn ang="0">
                  <a:pos x="73" y="94"/>
                </a:cxn>
                <a:cxn ang="0">
                  <a:pos x="146" y="220"/>
                </a:cxn>
                <a:cxn ang="0">
                  <a:pos x="520" y="225"/>
                </a:cxn>
                <a:cxn ang="0">
                  <a:pos x="754" y="251"/>
                </a:cxn>
                <a:cxn ang="0">
                  <a:pos x="1306" y="203"/>
                </a:cxn>
                <a:cxn ang="0">
                  <a:pos x="1360" y="29"/>
                </a:cxn>
                <a:cxn ang="0">
                  <a:pos x="628" y="29"/>
                </a:cxn>
                <a:cxn ang="0">
                  <a:pos x="172" y="11"/>
                </a:cxn>
              </a:cxnLst>
              <a:rect l="txL" t="txT" r="txR" b="tx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 w="9525">
              <a:noFill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51239" name="Text Box 34"/>
            <p:cNvSpPr txBox="1"/>
            <p:nvPr/>
          </p:nvSpPr>
          <p:spPr>
            <a:xfrm>
              <a:off x="1226" y="1667"/>
              <a:ext cx="1058" cy="212"/>
            </a:xfrm>
            <a:prstGeom prst="rect">
              <a:avLst/>
            </a:prstGeom>
            <a:solidFill>
              <a:srgbClr val="66CCFF"/>
            </a:solidFill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1600" dirty="0">
                  <a:latin typeface="Comic Sans MS" panose="030F0702030302020204" pitchFamily="66" charset="0"/>
                </a:rPr>
                <a:t>200.23.20.0/23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51229" name="Text Box 35"/>
          <p:cNvSpPr txBox="1"/>
          <p:nvPr/>
        </p:nvSpPr>
        <p:spPr>
          <a:xfrm>
            <a:off x="776288" y="3460750"/>
            <a:ext cx="700087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400" dirty="0">
                <a:latin typeface="Comic Sans MS" panose="030F0702030302020204" pitchFamily="66" charset="0"/>
              </a:rPr>
              <a:t>组织 </a:t>
            </a:r>
            <a:r>
              <a:rPr lang="en-US" altLang="zh-CN" sz="1400" dirty="0">
                <a:latin typeface="Comic Sans MS" panose="030F0702030302020204" pitchFamily="66" charset="0"/>
              </a:rPr>
              <a:t>2</a:t>
            </a:r>
            <a:endParaRPr lang="en-US" altLang="zh-CN" sz="1400" dirty="0">
              <a:latin typeface="Comic Sans MS" panose="030F0702030302020204" pitchFamily="66" charset="0"/>
            </a:endParaRPr>
          </a:p>
        </p:txBody>
      </p:sp>
      <p:grpSp>
        <p:nvGrpSpPr>
          <p:cNvPr id="51230" name="Group 36"/>
          <p:cNvGrpSpPr/>
          <p:nvPr/>
        </p:nvGrpSpPr>
        <p:grpSpPr>
          <a:xfrm>
            <a:off x="2144713" y="3921125"/>
            <a:ext cx="296862" cy="663575"/>
            <a:chOff x="870" y="2945"/>
            <a:chExt cx="187" cy="418"/>
          </a:xfrm>
        </p:grpSpPr>
        <p:sp>
          <p:nvSpPr>
            <p:cNvPr id="51235" name="Text Box 37"/>
            <p:cNvSpPr txBox="1"/>
            <p:nvPr/>
          </p:nvSpPr>
          <p:spPr>
            <a:xfrm>
              <a:off x="872" y="2945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1236" name="Text Box 38"/>
            <p:cNvSpPr txBox="1"/>
            <p:nvPr/>
          </p:nvSpPr>
          <p:spPr>
            <a:xfrm>
              <a:off x="870" y="3030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1237" name="Text Box 39"/>
            <p:cNvSpPr txBox="1"/>
            <p:nvPr/>
          </p:nvSpPr>
          <p:spPr>
            <a:xfrm>
              <a:off x="871" y="3113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51231" name="Group 40"/>
          <p:cNvGrpSpPr/>
          <p:nvPr/>
        </p:nvGrpSpPr>
        <p:grpSpPr>
          <a:xfrm>
            <a:off x="3173413" y="3625850"/>
            <a:ext cx="296862" cy="663575"/>
            <a:chOff x="870" y="2945"/>
            <a:chExt cx="187" cy="418"/>
          </a:xfrm>
        </p:grpSpPr>
        <p:sp>
          <p:nvSpPr>
            <p:cNvPr id="51232" name="Text Box 41"/>
            <p:cNvSpPr txBox="1"/>
            <p:nvPr/>
          </p:nvSpPr>
          <p:spPr>
            <a:xfrm>
              <a:off x="872" y="2945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1233" name="Text Box 42"/>
            <p:cNvSpPr txBox="1"/>
            <p:nvPr/>
          </p:nvSpPr>
          <p:spPr>
            <a:xfrm>
              <a:off x="870" y="3030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  <p:sp>
          <p:nvSpPr>
            <p:cNvPr id="51234" name="Text Box 43"/>
            <p:cNvSpPr txBox="1"/>
            <p:nvPr/>
          </p:nvSpPr>
          <p:spPr>
            <a:xfrm>
              <a:off x="871" y="3113"/>
              <a:ext cx="185" cy="25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sz="2000" b="1" dirty="0">
                  <a:latin typeface="Comic Sans MS" panose="030F0702030302020204" pitchFamily="66" charset="0"/>
                </a:rPr>
                <a:t>.</a:t>
              </a:r>
              <a:endParaRPr lang="en-US" altLang="zh-CN" sz="2000" dirty="0">
                <a:latin typeface="Comic Sans MS" panose="030F0702030302020204" pitchFamily="66" charset="0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135" y="312420"/>
            <a:ext cx="8533765" cy="637349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3251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325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53253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IPv4</a:t>
            </a:r>
            <a:r>
              <a:rPr lang="zh-CN" altLang="en-US" sz="2000" dirty="0">
                <a:latin typeface="+mn-lt"/>
                <a:ea typeface="+mn-ea"/>
              </a:rPr>
              <a:t>编址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solidFill>
                  <a:srgbClr val="FF0000"/>
                </a:solidFill>
                <a:latin typeface="+mn-lt"/>
                <a:ea typeface="+mn-ea"/>
              </a:rPr>
              <a:t>NAT</a:t>
            </a:r>
            <a:endParaRPr lang="en-US" altLang="zh-CN" sz="2000" dirty="0">
              <a:solidFill>
                <a:srgbClr val="FF0000"/>
              </a:solidFill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ICMP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IPv6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53254" name="Rectangle 4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9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1270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1271" name="Freeform 2"/>
          <p:cNvSpPr/>
          <p:nvPr/>
        </p:nvSpPr>
        <p:spPr>
          <a:xfrm>
            <a:off x="4152900" y="1871663"/>
            <a:ext cx="3738563" cy="2697162"/>
          </a:xfrm>
          <a:custGeom>
            <a:avLst/>
            <a:gdLst>
              <a:gd name="txL" fmla="*/ 0 w 2355"/>
              <a:gd name="txT" fmla="*/ 0 h 1699"/>
              <a:gd name="txR" fmla="*/ 2355 w 2355"/>
              <a:gd name="txB" fmla="*/ 1699 h 1699"/>
            </a:gdLst>
            <a:ahLst/>
            <a:cxnLst>
              <a:cxn ang="0">
                <a:pos x="349" y="761"/>
              </a:cxn>
              <a:cxn ang="0">
                <a:pos x="1651" y="732"/>
              </a:cxn>
              <a:cxn ang="0">
                <a:pos x="1773" y="230"/>
              </a:cxn>
              <a:cxn ang="0">
                <a:pos x="2029" y="8"/>
              </a:cxn>
              <a:cxn ang="0">
                <a:pos x="2267" y="183"/>
              </a:cxn>
              <a:cxn ang="0">
                <a:pos x="2355" y="942"/>
              </a:cxn>
              <a:cxn ang="0">
                <a:pos x="2267" y="1592"/>
              </a:cxn>
              <a:cxn ang="0">
                <a:pos x="1840" y="1586"/>
              </a:cxn>
              <a:cxn ang="0">
                <a:pos x="1670" y="1025"/>
              </a:cxn>
              <a:cxn ang="0">
                <a:pos x="220" y="923"/>
              </a:cxn>
              <a:cxn ang="0">
                <a:pos x="349" y="761"/>
              </a:cxn>
            </a:cxnLst>
            <a:rect l="txL" t="txT" r="txR" b="tx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1272" name="Rectangle 3"/>
          <p:cNvSpPr>
            <a:spLocks noGrp="1"/>
          </p:cNvSpPr>
          <p:nvPr>
            <p:ph type="title"/>
          </p:nvPr>
        </p:nvSpPr>
        <p:spPr>
          <a:xfrm>
            <a:off x="533400" y="228600"/>
            <a:ext cx="8091488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NAT: </a:t>
            </a:r>
            <a:r>
              <a:rPr lang="zh-CN" altLang="en-US" dirty="0"/>
              <a:t>网络地址转换</a:t>
            </a:r>
            <a:endParaRPr lang="zh-CN" altLang="en-US" dirty="0"/>
          </a:p>
        </p:txBody>
      </p:sp>
      <p:sp>
        <p:nvSpPr>
          <p:cNvPr id="11273" name="Freeform 4"/>
          <p:cNvSpPr/>
          <p:nvPr/>
        </p:nvSpPr>
        <p:spPr>
          <a:xfrm>
            <a:off x="0" y="2638425"/>
            <a:ext cx="3825875" cy="1355725"/>
          </a:xfrm>
          <a:custGeom>
            <a:avLst/>
            <a:gdLst>
              <a:gd name="txL" fmla="*/ 0 w 2269"/>
              <a:gd name="txT" fmla="*/ 0 h 854"/>
              <a:gd name="txR" fmla="*/ 2269 w 2269"/>
              <a:gd name="txB" fmla="*/ 854 h 854"/>
            </a:gdLst>
            <a:ahLst/>
            <a:cxnLst>
              <a:cxn ang="0">
                <a:pos x="1888" y="285"/>
              </a:cxn>
              <a:cxn ang="0">
                <a:pos x="418" y="283"/>
              </a:cxn>
              <a:cxn ang="0">
                <a:pos x="60" y="83"/>
              </a:cxn>
              <a:cxn ang="0">
                <a:pos x="60" y="781"/>
              </a:cxn>
              <a:cxn ang="0">
                <a:pos x="374" y="519"/>
              </a:cxn>
              <a:cxn ang="0">
                <a:pos x="2017" y="447"/>
              </a:cxn>
              <a:cxn ang="0">
                <a:pos x="1888" y="285"/>
              </a:cxn>
            </a:cxnLst>
            <a:rect l="txL" t="txT" r="txR" b="tx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11266" name="Object 5"/>
          <p:cNvGraphicFramePr/>
          <p:nvPr/>
        </p:nvGraphicFramePr>
        <p:xfrm>
          <a:off x="7181850" y="2182813"/>
          <a:ext cx="555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1" imgW="1305560" imgH="1082675" progId="MS_ClipArt_Gallery.2">
                  <p:embed/>
                </p:oleObj>
              </mc:Choice>
              <mc:Fallback>
                <p:oleObj name="" r:id="rId1" imgW="1305560" imgH="1082675" progId="MS_ClipArt_Gallery.2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181850" y="2182813"/>
                        <a:ext cx="555625" cy="4635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/>
          <p:cNvGraphicFramePr/>
          <p:nvPr/>
        </p:nvGraphicFramePr>
        <p:xfrm>
          <a:off x="7231063" y="2971800"/>
          <a:ext cx="579437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7" name="" r:id="rId3" imgW="1305560" imgH="1082675" progId="MS_ClipArt_Gallery.2">
                  <p:embed/>
                </p:oleObj>
              </mc:Choice>
              <mc:Fallback>
                <p:oleObj name="" r:id="rId3" imgW="1305560" imgH="1082675" progId="MS_ClipArt_Gallery.2">
                  <p:embed/>
                  <p:pic>
                    <p:nvPicPr>
                      <p:cNvPr id="0" name="图片 311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31063" y="2971800"/>
                        <a:ext cx="579437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8" name="Object 7"/>
          <p:cNvGraphicFramePr/>
          <p:nvPr/>
        </p:nvGraphicFramePr>
        <p:xfrm>
          <a:off x="7202488" y="3736975"/>
          <a:ext cx="56356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11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02488" y="3736975"/>
                        <a:ext cx="563562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4" name="Line 8"/>
          <p:cNvSpPr/>
          <p:nvPr/>
        </p:nvSpPr>
        <p:spPr>
          <a:xfrm>
            <a:off x="4267200" y="3194050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5" name="Line 9"/>
          <p:cNvSpPr/>
          <p:nvPr/>
        </p:nvSpPr>
        <p:spPr>
          <a:xfrm flipH="1">
            <a:off x="7102475" y="2451100"/>
            <a:ext cx="9525" cy="14922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6" name="Line 10"/>
          <p:cNvSpPr/>
          <p:nvPr/>
        </p:nvSpPr>
        <p:spPr>
          <a:xfrm>
            <a:off x="7107238" y="2446338"/>
            <a:ext cx="1333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7" name="Line 11"/>
          <p:cNvSpPr/>
          <p:nvPr/>
        </p:nvSpPr>
        <p:spPr>
          <a:xfrm flipV="1">
            <a:off x="7113588" y="3951288"/>
            <a:ext cx="1714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78" name="Text Box 12"/>
          <p:cNvSpPr txBox="1"/>
          <p:nvPr/>
        </p:nvSpPr>
        <p:spPr>
          <a:xfrm>
            <a:off x="7732713" y="2181225"/>
            <a:ext cx="8921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10.0.0.1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1279" name="Text Box 13"/>
          <p:cNvSpPr txBox="1"/>
          <p:nvPr/>
        </p:nvSpPr>
        <p:spPr>
          <a:xfrm>
            <a:off x="7859713" y="2949575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10.0.0.2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1280" name="Text Box 14"/>
          <p:cNvSpPr txBox="1"/>
          <p:nvPr/>
        </p:nvSpPr>
        <p:spPr>
          <a:xfrm>
            <a:off x="7821613" y="3844925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10.0.0.3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1281" name="Text Box 15"/>
          <p:cNvSpPr txBox="1"/>
          <p:nvPr/>
        </p:nvSpPr>
        <p:spPr>
          <a:xfrm>
            <a:off x="4217988" y="2771775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10.0.0.4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1282" name="Line 16"/>
          <p:cNvSpPr/>
          <p:nvPr/>
        </p:nvSpPr>
        <p:spPr>
          <a:xfrm flipH="1">
            <a:off x="4341813" y="3022600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83" name="Text Box 17"/>
          <p:cNvSpPr txBox="1"/>
          <p:nvPr/>
        </p:nvSpPr>
        <p:spPr>
          <a:xfrm>
            <a:off x="2379663" y="3328988"/>
            <a:ext cx="129540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138.76.29.7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1284" name="Line 18"/>
          <p:cNvSpPr/>
          <p:nvPr/>
        </p:nvSpPr>
        <p:spPr>
          <a:xfrm flipH="1">
            <a:off x="3602038" y="3260725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grpSp>
        <p:nvGrpSpPr>
          <p:cNvPr id="11285" name="Group 19"/>
          <p:cNvGrpSpPr/>
          <p:nvPr/>
        </p:nvGrpSpPr>
        <p:grpSpPr>
          <a:xfrm>
            <a:off x="3746500" y="3054350"/>
            <a:ext cx="555625" cy="307975"/>
            <a:chOff x="3600" y="219"/>
            <a:chExt cx="360" cy="175"/>
          </a:xfrm>
        </p:grpSpPr>
        <p:sp>
          <p:nvSpPr>
            <p:cNvPr id="11298" name="Oval 20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1299" name="Line 21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0" name="Line 22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1301" name="Rectangle 23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1302" name="Oval 24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1303" name="Group 25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1308" name="Line 26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9" name="Line 27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10" name="Line 28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1304" name="Group 29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1305" name="Line 30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6" name="Line 31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1307" name="Line 32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11286" name="Line 33"/>
          <p:cNvSpPr/>
          <p:nvPr/>
        </p:nvSpPr>
        <p:spPr>
          <a:xfrm>
            <a:off x="706438" y="3222625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87" name="Text Box 34"/>
          <p:cNvSpPr txBox="1"/>
          <p:nvPr/>
        </p:nvSpPr>
        <p:spPr>
          <a:xfrm>
            <a:off x="5110163" y="1660525"/>
            <a:ext cx="1495425" cy="9159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本地网络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如归属网络</a:t>
            </a:r>
            <a:r>
              <a:rPr lang="en-US" altLang="zh-CN" dirty="0">
                <a:latin typeface="Comic Sans MS" panose="030F0702030302020204" pitchFamily="66" charset="0"/>
              </a:rPr>
              <a:t>)</a:t>
            </a:r>
            <a:endParaRPr lang="en-US" altLang="zh-CN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10.0.0/24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11288" name="Line 35"/>
          <p:cNvSpPr/>
          <p:nvPr/>
        </p:nvSpPr>
        <p:spPr>
          <a:xfrm>
            <a:off x="6985000" y="1900238"/>
            <a:ext cx="1385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89" name="Line 36"/>
          <p:cNvSpPr/>
          <p:nvPr/>
        </p:nvSpPr>
        <p:spPr>
          <a:xfrm>
            <a:off x="4033838" y="1760538"/>
            <a:ext cx="0" cy="108108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1290" name="Line 37"/>
          <p:cNvSpPr/>
          <p:nvPr/>
        </p:nvSpPr>
        <p:spPr>
          <a:xfrm flipH="1" flipV="1">
            <a:off x="4173538" y="1887538"/>
            <a:ext cx="898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91" name="Line 38"/>
          <p:cNvSpPr/>
          <p:nvPr/>
        </p:nvSpPr>
        <p:spPr>
          <a:xfrm>
            <a:off x="2578100" y="1900238"/>
            <a:ext cx="13858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92" name="Line 39"/>
          <p:cNvSpPr/>
          <p:nvPr/>
        </p:nvSpPr>
        <p:spPr>
          <a:xfrm flipH="1" flipV="1">
            <a:off x="766763" y="1887538"/>
            <a:ext cx="898525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93" name="Text Box 40"/>
          <p:cNvSpPr txBox="1"/>
          <p:nvPr/>
        </p:nvSpPr>
        <p:spPr>
          <a:xfrm>
            <a:off x="1241425" y="1647825"/>
            <a:ext cx="1784350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zh-CN" altLang="en-US" dirty="0">
                <a:latin typeface="Comic Sans MS" panose="030F0702030302020204" pitchFamily="66" charset="0"/>
              </a:rPr>
              <a:t>因特网其他部分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1294" name="Line 41"/>
          <p:cNvSpPr/>
          <p:nvPr/>
        </p:nvSpPr>
        <p:spPr>
          <a:xfrm flipH="1" flipV="1">
            <a:off x="2819400" y="3644900"/>
            <a:ext cx="11113" cy="788988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95" name="Text Box 42"/>
          <p:cNvSpPr txBox="1"/>
          <p:nvPr/>
        </p:nvSpPr>
        <p:spPr>
          <a:xfrm>
            <a:off x="5227638" y="4414838"/>
            <a:ext cx="3630612" cy="7016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000" dirty="0">
                <a:latin typeface="Comic Sans MS" panose="030F0702030302020204" pitchFamily="66" charset="0"/>
              </a:rPr>
              <a:t>具有该网源或目的的数据报都有</a:t>
            </a:r>
            <a:r>
              <a:rPr lang="en-US" altLang="zh-CN" sz="2000" dirty="0">
                <a:latin typeface="Comic Sans MS" panose="030F0702030302020204" pitchFamily="66" charset="0"/>
              </a:rPr>
              <a:t>10.0.0/24</a:t>
            </a:r>
            <a:r>
              <a:rPr lang="zh-CN" altLang="en-US" sz="2000" dirty="0">
                <a:latin typeface="Comic Sans MS" panose="030F0702030302020204" pitchFamily="66" charset="0"/>
              </a:rPr>
              <a:t>的地址</a:t>
            </a:r>
            <a:r>
              <a:rPr lang="en-US" altLang="zh-CN" sz="2000" dirty="0">
                <a:latin typeface="Comic Sans MS" panose="030F0702030302020204" pitchFamily="66" charset="0"/>
              </a:rPr>
              <a:t>(</a:t>
            </a:r>
            <a:r>
              <a:rPr lang="zh-CN" altLang="en-US" sz="2000" dirty="0">
                <a:latin typeface="Comic Sans MS" panose="030F0702030302020204" pitchFamily="66" charset="0"/>
              </a:rPr>
              <a:t>照常</a:t>
            </a:r>
            <a:r>
              <a:rPr lang="en-US" altLang="zh-CN" sz="2000" dirty="0">
                <a:latin typeface="Comic Sans MS" panose="030F0702030302020204" pitchFamily="66" charset="0"/>
              </a:rPr>
              <a:t>)</a:t>
            </a:r>
            <a:endParaRPr lang="en-US" altLang="zh-CN" sz="2000" dirty="0">
              <a:latin typeface="Comic Sans MS" panose="030F0702030302020204" pitchFamily="66" charset="0"/>
            </a:endParaRPr>
          </a:p>
        </p:txBody>
      </p:sp>
      <p:sp>
        <p:nvSpPr>
          <p:cNvPr id="11296" name="Line 43"/>
          <p:cNvSpPr/>
          <p:nvPr/>
        </p:nvSpPr>
        <p:spPr>
          <a:xfrm flipH="1" flipV="1">
            <a:off x="5838825" y="3451225"/>
            <a:ext cx="11113" cy="9969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1297" name="Text Box 44"/>
          <p:cNvSpPr txBox="1"/>
          <p:nvPr/>
        </p:nvSpPr>
        <p:spPr>
          <a:xfrm>
            <a:off x="0" y="4424363"/>
            <a:ext cx="4498975" cy="10064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/>
            <a:r>
              <a:rPr lang="zh-CN" altLang="en-US" sz="2000" i="1" dirty="0">
                <a:solidFill>
                  <a:srgbClr val="FF0000"/>
                </a:solidFill>
                <a:latin typeface="Comic Sans MS" panose="030F0702030302020204" pitchFamily="66" charset="0"/>
              </a:rPr>
              <a:t>所有</a:t>
            </a:r>
            <a:r>
              <a:rPr lang="zh-CN" altLang="en-US" sz="2000" dirty="0">
                <a:latin typeface="Comic Sans MS" panose="030F0702030302020204" pitchFamily="66" charset="0"/>
              </a:rPr>
              <a:t>数据报本地</a:t>
            </a:r>
            <a:r>
              <a:rPr lang="zh-CN" altLang="en-US" sz="2000" i="1" dirty="0">
                <a:solidFill>
                  <a:srgbClr val="FF0000"/>
                </a:solidFill>
                <a:latin typeface="Comic Sans MS" panose="030F0702030302020204" pitchFamily="66" charset="0"/>
              </a:rPr>
              <a:t>离开</a:t>
            </a:r>
            <a:r>
              <a:rPr lang="zh-CN" altLang="en-US" sz="2000" dirty="0">
                <a:latin typeface="Comic Sans MS" panose="030F0702030302020204" pitchFamily="66" charset="0"/>
              </a:rPr>
              <a:t>本地网络具有</a:t>
            </a:r>
            <a:r>
              <a:rPr lang="zh-CN" altLang="en-US" sz="2000" i="1" dirty="0">
                <a:solidFill>
                  <a:srgbClr val="FF0000"/>
                </a:solidFill>
                <a:latin typeface="Comic Sans MS" panose="030F0702030302020204" pitchFamily="66" charset="0"/>
              </a:rPr>
              <a:t>相同</a:t>
            </a:r>
            <a:r>
              <a:rPr lang="zh-CN" altLang="en-US" sz="2000" dirty="0">
                <a:latin typeface="Comic Sans MS" panose="030F0702030302020204" pitchFamily="66" charset="0"/>
              </a:rPr>
              <a:t>的单一源</a:t>
            </a:r>
            <a:r>
              <a:rPr lang="en-US" altLang="zh-CN" sz="2000" dirty="0">
                <a:latin typeface="Comic Sans MS" panose="030F0702030302020204" pitchFamily="66" charset="0"/>
              </a:rPr>
              <a:t>NAT IP</a:t>
            </a:r>
            <a:r>
              <a:rPr lang="zh-CN" altLang="en-US" sz="2000" dirty="0">
                <a:latin typeface="Comic Sans MS" panose="030F0702030302020204" pitchFamily="66" charset="0"/>
              </a:rPr>
              <a:t>地址</a:t>
            </a:r>
            <a:r>
              <a:rPr lang="en-US" altLang="zh-CN" sz="2000" dirty="0">
                <a:latin typeface="Comic Sans MS" panose="030F0702030302020204" pitchFamily="66" charset="0"/>
              </a:rPr>
              <a:t>: 138.76.29.7,</a:t>
            </a:r>
            <a:endParaRPr lang="en-US" altLang="zh-CN" sz="2000" dirty="0">
              <a:latin typeface="Comic Sans MS" panose="030F0702030302020204" pitchFamily="66" charset="0"/>
            </a:endParaRPr>
          </a:p>
          <a:p>
            <a:pPr algn="ctr"/>
            <a:r>
              <a:rPr lang="zh-CN" altLang="en-US" sz="2000" dirty="0">
                <a:latin typeface="Comic Sans MS" panose="030F0702030302020204" pitchFamily="66" charset="0"/>
              </a:rPr>
              <a:t>不同的源端口号</a:t>
            </a:r>
            <a:endParaRPr lang="zh-CN" altLang="en-US" sz="2000" dirty="0">
              <a:latin typeface="Comic Sans MS" panose="030F0702030302020204" pitchFamily="66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" y="228600"/>
            <a:ext cx="8705215" cy="662495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427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4276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966075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NAT: </a:t>
            </a:r>
            <a:r>
              <a:rPr lang="zh-CN" altLang="en-US" dirty="0"/>
              <a:t>网络地址转换</a:t>
            </a:r>
            <a:endParaRPr lang="zh-CN" altLang="en-US" dirty="0"/>
          </a:p>
        </p:txBody>
      </p:sp>
      <p:sp>
        <p:nvSpPr>
          <p:cNvPr id="54277" name="Rectangle 3"/>
          <p:cNvSpPr>
            <a:spLocks noGrp="1"/>
          </p:cNvSpPr>
          <p:nvPr>
            <p:ph idx="1"/>
          </p:nvPr>
        </p:nvSpPr>
        <p:spPr>
          <a:xfrm>
            <a:off x="228600" y="1600200"/>
            <a:ext cx="8575675" cy="4648200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dirty="0">
                <a:solidFill>
                  <a:srgbClr val="FF0000"/>
                </a:solidFill>
              </a:rPr>
              <a:t>动机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外部关注本地网络只使用的一个</a:t>
            </a:r>
            <a:r>
              <a:rPr lang="en-US" altLang="zh-CN" dirty="0"/>
              <a:t>IP</a:t>
            </a:r>
            <a:r>
              <a:rPr lang="zh-CN" altLang="en-US" dirty="0"/>
              <a:t>地址 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/>
            <a:r>
              <a:rPr lang="zh-CN" altLang="en-US" sz="2800" dirty="0"/>
              <a:t>对</a:t>
            </a:r>
            <a:r>
              <a:rPr lang="en-US" altLang="zh-CN" sz="2800" dirty="0"/>
              <a:t>ISP</a:t>
            </a:r>
            <a:r>
              <a:rPr lang="zh-CN" altLang="en-US" sz="2800" dirty="0"/>
              <a:t>无需分配地址范围：对所有设备只用一个</a:t>
            </a:r>
            <a:r>
              <a:rPr lang="en-US" altLang="zh-CN" sz="2800" dirty="0"/>
              <a:t>IP</a:t>
            </a:r>
            <a:r>
              <a:rPr lang="zh-CN" altLang="en-US" sz="2800" dirty="0"/>
              <a:t>地址</a:t>
            </a:r>
            <a:endParaRPr lang="en-US" altLang="zh-CN" sz="2800" dirty="0"/>
          </a:p>
          <a:p>
            <a:pPr lvl="1" eaLnBrk="1"/>
            <a:r>
              <a:rPr lang="zh-CN" altLang="en-US" sz="2800" dirty="0"/>
              <a:t>能够改变本地网络中的设备地址，而不必通知外部</a:t>
            </a:r>
            <a:endParaRPr lang="zh-CN" altLang="en-US" sz="2800" dirty="0"/>
          </a:p>
          <a:p>
            <a:pPr lvl="1" eaLnBrk="1"/>
            <a:r>
              <a:rPr lang="zh-CN" altLang="en-US" sz="2800" dirty="0"/>
              <a:t>本地网络中的设备不显式地可寻址、由外部所见</a:t>
            </a:r>
            <a:r>
              <a:rPr lang="en-US" altLang="zh-CN" sz="2800" dirty="0"/>
              <a:t>(</a:t>
            </a:r>
            <a:r>
              <a:rPr lang="zh-CN" altLang="en-US" sz="2800" dirty="0"/>
              <a:t>增强安全性</a:t>
            </a:r>
            <a:r>
              <a:rPr lang="en-US" altLang="zh-CN" sz="2800" dirty="0"/>
              <a:t>)</a:t>
            </a:r>
            <a:endParaRPr lang="en-US" altLang="zh-CN" sz="2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529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5300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7966075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NAT: </a:t>
            </a:r>
            <a:r>
              <a:rPr lang="zh-CN" altLang="en-US" dirty="0"/>
              <a:t>网络地址转换</a:t>
            </a:r>
            <a:endParaRPr lang="zh-CN" altLang="en-US" dirty="0"/>
          </a:p>
        </p:txBody>
      </p:sp>
      <p:sp>
        <p:nvSpPr>
          <p:cNvPr id="55301" name="Rectangle 3"/>
          <p:cNvSpPr>
            <a:spLocks noGrp="1"/>
          </p:cNvSpPr>
          <p:nvPr>
            <p:ph idx="1"/>
          </p:nvPr>
        </p:nvSpPr>
        <p:spPr>
          <a:xfrm>
            <a:off x="196850" y="1282700"/>
            <a:ext cx="8575675" cy="4648200"/>
          </a:xfrm>
        </p:spPr>
        <p:txBody>
          <a:bodyPr vert="horz" wrap="square" lIns="91440" tIns="45720" rIns="91440" bIns="45720" anchor="t" anchorCtr="0"/>
          <a:p>
            <a:pPr eaLnBrk="1">
              <a:lnSpc>
                <a:spcPct val="90000"/>
              </a:lnSpc>
              <a:buNone/>
            </a:pPr>
            <a:r>
              <a:rPr lang="zh-CN" altLang="en-US" sz="2400" dirty="0">
                <a:solidFill>
                  <a:srgbClr val="FF0000"/>
                </a:solidFill>
              </a:rPr>
              <a:t>实现</a:t>
            </a:r>
            <a:r>
              <a:rPr lang="en-US" altLang="zh-CN" sz="2400" dirty="0">
                <a:solidFill>
                  <a:srgbClr val="FF0000"/>
                </a:solidFill>
              </a:rPr>
              <a:t>:</a:t>
            </a:r>
            <a:r>
              <a:rPr lang="en-US" altLang="zh-CN" sz="2400" dirty="0"/>
              <a:t> NAT </a:t>
            </a:r>
            <a:r>
              <a:rPr lang="zh-CN" altLang="en-US" sz="2400" dirty="0"/>
              <a:t>路由器必须</a:t>
            </a:r>
            <a:r>
              <a:rPr lang="en-US" altLang="zh-CN" sz="2400" dirty="0"/>
              <a:t>:</a:t>
            </a:r>
            <a:br>
              <a:rPr lang="en-US" altLang="zh-CN" sz="2400" dirty="0"/>
            </a:br>
            <a:endParaRPr lang="en-US" altLang="zh-CN" sz="2400" dirty="0"/>
          </a:p>
          <a:p>
            <a:pPr lvl="1" eaLnBrk="1">
              <a:lnSpc>
                <a:spcPct val="90000"/>
              </a:lnSpc>
            </a:pPr>
            <a:r>
              <a:rPr lang="zh-CN" altLang="en-US" i="1" dirty="0">
                <a:solidFill>
                  <a:schemeClr val="accent2"/>
                </a:solidFill>
              </a:rPr>
              <a:t>出数据报</a:t>
            </a:r>
            <a:r>
              <a:rPr lang="en-US" altLang="zh-CN" i="1" dirty="0">
                <a:solidFill>
                  <a:schemeClr val="accent2"/>
                </a:solidFill>
              </a:rPr>
              <a:t>: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/>
              <a:t>每个外出的数据报用</a:t>
            </a:r>
            <a:r>
              <a:rPr lang="en-US" altLang="zh-CN" dirty="0"/>
              <a:t>(NAT IP</a:t>
            </a:r>
            <a:r>
              <a:rPr lang="zh-CN" altLang="en-US" dirty="0"/>
              <a:t>地址</a:t>
            </a:r>
            <a:r>
              <a:rPr lang="en-US" altLang="zh-CN" dirty="0"/>
              <a:t>, </a:t>
            </a:r>
            <a:r>
              <a:rPr lang="zh-CN" altLang="en-US" dirty="0"/>
              <a:t>新</a:t>
            </a:r>
            <a:r>
              <a:rPr lang="en-US" altLang="zh-CN" dirty="0"/>
              <a:t>port #)</a:t>
            </a:r>
            <a:r>
              <a:rPr lang="zh-CN" altLang="en-US" dirty="0">
                <a:solidFill>
                  <a:schemeClr val="accent2"/>
                </a:solidFill>
              </a:rPr>
              <a:t> </a:t>
            </a:r>
            <a:r>
              <a:rPr lang="zh-CN" altLang="en-US" i="1" dirty="0">
                <a:solidFill>
                  <a:schemeClr val="accent2"/>
                </a:solidFill>
              </a:rPr>
              <a:t>代替</a:t>
            </a:r>
            <a:r>
              <a:rPr lang="en-US" altLang="zh-CN" dirty="0"/>
              <a:t>(</a:t>
            </a:r>
            <a:r>
              <a:rPr lang="zh-CN" altLang="en-US" dirty="0"/>
              <a:t>源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, port #)</a:t>
            </a:r>
            <a:endParaRPr lang="en-US" altLang="zh-CN" dirty="0"/>
          </a:p>
          <a:p>
            <a:pPr lvl="2" eaLnBrk="1">
              <a:lnSpc>
                <a:spcPct val="90000"/>
              </a:lnSpc>
              <a:buNone/>
            </a:pPr>
            <a:r>
              <a:rPr lang="en-US" altLang="zh-CN" sz="2400" dirty="0"/>
              <a:t>. . . </a:t>
            </a:r>
            <a:r>
              <a:rPr lang="zh-CN" altLang="en-US" sz="2400" dirty="0"/>
              <a:t>远程的客户机</a:t>
            </a:r>
            <a:r>
              <a:rPr lang="en-US" altLang="zh-CN" sz="2400" dirty="0"/>
              <a:t>/</a:t>
            </a:r>
            <a:r>
              <a:rPr lang="zh-CN" altLang="en-US" sz="2400" dirty="0"/>
              <a:t>路由器的响应，将用</a:t>
            </a:r>
            <a:r>
              <a:rPr lang="en-US" altLang="zh-CN" sz="2400" dirty="0"/>
              <a:t>(NAT IP</a:t>
            </a:r>
            <a:r>
              <a:rPr lang="zh-CN" altLang="en-US" sz="2400" dirty="0"/>
              <a:t>地址</a:t>
            </a:r>
            <a:r>
              <a:rPr lang="en-US" altLang="zh-CN" sz="2400" dirty="0"/>
              <a:t>, new port #)</a:t>
            </a:r>
            <a:r>
              <a:rPr lang="zh-CN" altLang="en-US" sz="2400" dirty="0"/>
              <a:t>作为目的地址 </a:t>
            </a:r>
            <a:br>
              <a:rPr lang="en-US" altLang="zh-CN" sz="2400" dirty="0"/>
            </a:br>
            <a:endParaRPr lang="en-US" altLang="zh-CN" sz="2400" dirty="0"/>
          </a:p>
          <a:p>
            <a:pPr lvl="1" eaLnBrk="1">
              <a:lnSpc>
                <a:spcPct val="90000"/>
              </a:lnSpc>
            </a:pPr>
            <a:r>
              <a:rPr lang="zh-CN" altLang="en-US" i="1" dirty="0">
                <a:solidFill>
                  <a:schemeClr val="accent2"/>
                </a:solidFill>
              </a:rPr>
              <a:t>记住</a:t>
            </a:r>
            <a:r>
              <a:rPr lang="en-US" altLang="zh-CN" i="1" dirty="0">
                <a:solidFill>
                  <a:schemeClr val="accent2"/>
                </a:solidFill>
              </a:rPr>
              <a:t>(</a:t>
            </a:r>
            <a:r>
              <a:rPr lang="zh-CN" altLang="en-US" i="1" dirty="0">
                <a:solidFill>
                  <a:schemeClr val="accent2"/>
                </a:solidFill>
              </a:rPr>
              <a:t>在</a:t>
            </a:r>
            <a:r>
              <a:rPr lang="en-US" altLang="zh-CN" i="1" dirty="0">
                <a:solidFill>
                  <a:schemeClr val="accent2"/>
                </a:solidFill>
              </a:rPr>
              <a:t>NAT</a:t>
            </a:r>
            <a:r>
              <a:rPr lang="zh-CN" altLang="en-US" i="1" dirty="0">
                <a:solidFill>
                  <a:schemeClr val="accent2"/>
                </a:solidFill>
              </a:rPr>
              <a:t>转换表中</a:t>
            </a:r>
            <a:r>
              <a:rPr lang="en-US" altLang="zh-CN" i="1" dirty="0">
                <a:solidFill>
                  <a:schemeClr val="accent2"/>
                </a:solidFill>
              </a:rPr>
              <a:t>)</a:t>
            </a:r>
            <a:r>
              <a:rPr lang="zh-CN" altLang="en-US" dirty="0"/>
              <a:t>每个 </a:t>
            </a:r>
            <a:r>
              <a:rPr lang="en-US" altLang="zh-CN" dirty="0"/>
              <a:t>(</a:t>
            </a:r>
            <a:r>
              <a:rPr lang="zh-CN" altLang="en-US" dirty="0"/>
              <a:t>源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, port #)</a:t>
            </a:r>
            <a:r>
              <a:rPr lang="zh-CN" altLang="en-US" dirty="0"/>
              <a:t>到</a:t>
            </a:r>
            <a:r>
              <a:rPr lang="en-US" altLang="zh-CN" dirty="0"/>
              <a:t>(NAT IP</a:t>
            </a:r>
            <a:r>
              <a:rPr lang="zh-CN" altLang="en-US" dirty="0"/>
              <a:t>地址</a:t>
            </a:r>
            <a:r>
              <a:rPr lang="en-US" altLang="zh-CN" dirty="0"/>
              <a:t>, </a:t>
            </a:r>
            <a:r>
              <a:rPr lang="zh-CN" altLang="en-US" dirty="0"/>
              <a:t>新</a:t>
            </a:r>
            <a:r>
              <a:rPr lang="en-US" altLang="zh-CN" dirty="0"/>
              <a:t>port #) </a:t>
            </a:r>
            <a:r>
              <a:rPr lang="zh-CN" altLang="en-US" dirty="0"/>
              <a:t>转换对</a:t>
            </a:r>
            <a:br>
              <a:rPr lang="zh-CN" altLang="en-US" dirty="0"/>
            </a:br>
            <a:endParaRPr lang="zh-CN" altLang="en-US" dirty="0"/>
          </a:p>
          <a:p>
            <a:pPr lvl="1" eaLnBrk="1">
              <a:lnSpc>
                <a:spcPct val="90000"/>
              </a:lnSpc>
            </a:pPr>
            <a:r>
              <a:rPr lang="zh-CN" altLang="en-US" i="1" dirty="0">
                <a:solidFill>
                  <a:schemeClr val="accent2"/>
                </a:solidFill>
              </a:rPr>
              <a:t>入数据报</a:t>
            </a:r>
            <a:r>
              <a:rPr lang="en-US" altLang="zh-CN" i="1" dirty="0">
                <a:solidFill>
                  <a:schemeClr val="accent2"/>
                </a:solidFill>
              </a:rPr>
              <a:t>: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zh-CN" altLang="en-US" dirty="0"/>
              <a:t>对每个入数据报的地址字段用存储在</a:t>
            </a:r>
            <a:r>
              <a:rPr lang="en-US" altLang="zh-CN" dirty="0"/>
              <a:t>NAT</a:t>
            </a:r>
            <a:r>
              <a:rPr lang="zh-CN" altLang="en-US" dirty="0"/>
              <a:t>表中的</a:t>
            </a:r>
            <a:r>
              <a:rPr lang="en-US" altLang="zh-CN" dirty="0"/>
              <a:t>(</a:t>
            </a:r>
            <a:r>
              <a:rPr lang="zh-CN" altLang="en-US" dirty="0"/>
              <a:t>源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, port #)</a:t>
            </a:r>
            <a:r>
              <a:rPr lang="zh-CN" altLang="en-US" i="1" dirty="0">
                <a:solidFill>
                  <a:schemeClr val="accent2"/>
                </a:solidFill>
              </a:rPr>
              <a:t>替代</a:t>
            </a:r>
            <a:r>
              <a:rPr lang="zh-CN" altLang="en-US" dirty="0"/>
              <a:t>对应的</a:t>
            </a:r>
            <a:r>
              <a:rPr lang="en-US" altLang="zh-CN" i="1" dirty="0">
                <a:solidFill>
                  <a:schemeClr val="accent2"/>
                </a:solidFill>
              </a:rPr>
              <a:t> </a:t>
            </a:r>
            <a:r>
              <a:rPr lang="en-US" altLang="zh-CN" dirty="0"/>
              <a:t>(NAT IP</a:t>
            </a:r>
            <a:r>
              <a:rPr lang="zh-CN" altLang="en-US" dirty="0"/>
              <a:t>地址</a:t>
            </a:r>
            <a:r>
              <a:rPr lang="en-US" altLang="zh-CN" dirty="0"/>
              <a:t>, </a:t>
            </a:r>
            <a:r>
              <a:rPr lang="zh-CN" altLang="en-US" dirty="0"/>
              <a:t>新</a:t>
            </a:r>
            <a:r>
              <a:rPr lang="en-US" altLang="zh-CN" dirty="0"/>
              <a:t>port #) </a:t>
            </a:r>
            <a:endParaRPr lang="zh-CN" altLang="en-US" dirty="0"/>
          </a:p>
        </p:txBody>
      </p:sp>
    </p:spTree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3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12294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12295" name="Freeform 2"/>
          <p:cNvSpPr/>
          <p:nvPr/>
        </p:nvSpPr>
        <p:spPr>
          <a:xfrm>
            <a:off x="179388" y="3651250"/>
            <a:ext cx="4089400" cy="1355725"/>
          </a:xfrm>
          <a:custGeom>
            <a:avLst/>
            <a:gdLst>
              <a:gd name="txL" fmla="*/ 0 w 2269"/>
              <a:gd name="txT" fmla="*/ 0 h 854"/>
              <a:gd name="txR" fmla="*/ 2269 w 2269"/>
              <a:gd name="txB" fmla="*/ 854 h 854"/>
            </a:gdLst>
            <a:ahLst/>
            <a:cxnLst>
              <a:cxn ang="0">
                <a:pos x="1888" y="285"/>
              </a:cxn>
              <a:cxn ang="0">
                <a:pos x="418" y="283"/>
              </a:cxn>
              <a:cxn ang="0">
                <a:pos x="60" y="83"/>
              </a:cxn>
              <a:cxn ang="0">
                <a:pos x="60" y="781"/>
              </a:cxn>
              <a:cxn ang="0">
                <a:pos x="374" y="519"/>
              </a:cxn>
              <a:cxn ang="0">
                <a:pos x="2017" y="447"/>
              </a:cxn>
              <a:cxn ang="0">
                <a:pos x="1888" y="285"/>
              </a:cxn>
            </a:cxnLst>
            <a:rect l="txL" t="txT" r="txR" b="txB"/>
            <a:pathLst>
              <a:path w="2269" h="854">
                <a:moveTo>
                  <a:pt x="1888" y="285"/>
                </a:moveTo>
                <a:cubicBezTo>
                  <a:pt x="1622" y="258"/>
                  <a:pt x="723" y="317"/>
                  <a:pt x="418" y="283"/>
                </a:cubicBezTo>
                <a:cubicBezTo>
                  <a:pt x="113" y="249"/>
                  <a:pt x="120" y="0"/>
                  <a:pt x="60" y="83"/>
                </a:cubicBezTo>
                <a:cubicBezTo>
                  <a:pt x="0" y="166"/>
                  <a:pt x="8" y="708"/>
                  <a:pt x="60" y="781"/>
                </a:cubicBezTo>
                <a:cubicBezTo>
                  <a:pt x="112" y="854"/>
                  <a:pt x="48" y="575"/>
                  <a:pt x="374" y="519"/>
                </a:cubicBezTo>
                <a:cubicBezTo>
                  <a:pt x="700" y="463"/>
                  <a:pt x="1765" y="486"/>
                  <a:pt x="2017" y="447"/>
                </a:cubicBezTo>
                <a:cubicBezTo>
                  <a:pt x="2269" y="408"/>
                  <a:pt x="2110" y="319"/>
                  <a:pt x="1888" y="285"/>
                </a:cubicBezTo>
                <a:close/>
              </a:path>
            </a:pathLst>
          </a:custGeom>
          <a:gradFill rotWithShape="1">
            <a:gsLst>
              <a:gs pos="0">
                <a:srgbClr val="FFFFFF">
                  <a:alpha val="98000"/>
                </a:srgbClr>
              </a:gs>
              <a:gs pos="100000">
                <a:srgbClr val="66CCFF"/>
              </a:gs>
            </a:gsLst>
            <a:lin ang="0" scaled="1"/>
            <a:tileRect/>
          </a:gra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2296" name="Rectangle 3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dirty="0"/>
              <a:t>NAT: </a:t>
            </a:r>
            <a:r>
              <a:rPr lang="zh-CN" altLang="en-US" sz="3200" dirty="0"/>
              <a:t>网络地址转换</a:t>
            </a:r>
            <a:endParaRPr lang="zh-CN" altLang="en-US" sz="3200" dirty="0"/>
          </a:p>
        </p:txBody>
      </p:sp>
      <p:sp>
        <p:nvSpPr>
          <p:cNvPr id="12297" name="Freeform 4"/>
          <p:cNvSpPr/>
          <p:nvPr/>
        </p:nvSpPr>
        <p:spPr>
          <a:xfrm>
            <a:off x="4468813" y="2922588"/>
            <a:ext cx="3738562" cy="2697162"/>
          </a:xfrm>
          <a:custGeom>
            <a:avLst/>
            <a:gdLst>
              <a:gd name="txL" fmla="*/ 0 w 2355"/>
              <a:gd name="txT" fmla="*/ 0 h 1699"/>
              <a:gd name="txR" fmla="*/ 2355 w 2355"/>
              <a:gd name="txB" fmla="*/ 1699 h 1699"/>
            </a:gdLst>
            <a:ahLst/>
            <a:cxnLst>
              <a:cxn ang="0">
                <a:pos x="349" y="761"/>
              </a:cxn>
              <a:cxn ang="0">
                <a:pos x="1651" y="732"/>
              </a:cxn>
              <a:cxn ang="0">
                <a:pos x="1773" y="230"/>
              </a:cxn>
              <a:cxn ang="0">
                <a:pos x="2029" y="8"/>
              </a:cxn>
              <a:cxn ang="0">
                <a:pos x="2267" y="183"/>
              </a:cxn>
              <a:cxn ang="0">
                <a:pos x="2355" y="942"/>
              </a:cxn>
              <a:cxn ang="0">
                <a:pos x="2267" y="1592"/>
              </a:cxn>
              <a:cxn ang="0">
                <a:pos x="1840" y="1586"/>
              </a:cxn>
              <a:cxn ang="0">
                <a:pos x="1670" y="1025"/>
              </a:cxn>
              <a:cxn ang="0">
                <a:pos x="220" y="923"/>
              </a:cxn>
              <a:cxn ang="0">
                <a:pos x="349" y="761"/>
              </a:cxn>
            </a:cxnLst>
            <a:rect l="txL" t="txT" r="txR" b="txB"/>
            <a:pathLst>
              <a:path w="2355" h="1699">
                <a:moveTo>
                  <a:pt x="349" y="761"/>
                </a:moveTo>
                <a:cubicBezTo>
                  <a:pt x="587" y="729"/>
                  <a:pt x="1414" y="820"/>
                  <a:pt x="1651" y="732"/>
                </a:cubicBezTo>
                <a:cubicBezTo>
                  <a:pt x="1888" y="644"/>
                  <a:pt x="1710" y="351"/>
                  <a:pt x="1773" y="230"/>
                </a:cubicBezTo>
                <a:cubicBezTo>
                  <a:pt x="1836" y="109"/>
                  <a:pt x="1947" y="16"/>
                  <a:pt x="2029" y="8"/>
                </a:cubicBezTo>
                <a:cubicBezTo>
                  <a:pt x="2111" y="0"/>
                  <a:pt x="2213" y="27"/>
                  <a:pt x="2267" y="183"/>
                </a:cubicBezTo>
                <a:cubicBezTo>
                  <a:pt x="2321" y="339"/>
                  <a:pt x="2355" y="707"/>
                  <a:pt x="2355" y="942"/>
                </a:cubicBezTo>
                <a:cubicBezTo>
                  <a:pt x="2355" y="1177"/>
                  <a:pt x="2353" y="1485"/>
                  <a:pt x="2267" y="1592"/>
                </a:cubicBezTo>
                <a:cubicBezTo>
                  <a:pt x="2181" y="1699"/>
                  <a:pt x="1939" y="1680"/>
                  <a:pt x="1840" y="1586"/>
                </a:cubicBezTo>
                <a:cubicBezTo>
                  <a:pt x="1741" y="1492"/>
                  <a:pt x="1940" y="1135"/>
                  <a:pt x="1670" y="1025"/>
                </a:cubicBezTo>
                <a:cubicBezTo>
                  <a:pt x="1400" y="915"/>
                  <a:pt x="440" y="967"/>
                  <a:pt x="220" y="923"/>
                </a:cubicBezTo>
                <a:cubicBezTo>
                  <a:pt x="0" y="879"/>
                  <a:pt x="127" y="795"/>
                  <a:pt x="349" y="761"/>
                </a:cubicBezTo>
                <a:close/>
              </a:path>
            </a:pathLst>
          </a:custGeom>
          <a:solidFill>
            <a:srgbClr val="66CCFF"/>
          </a:solidFill>
          <a:ln w="9525">
            <a:noFill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graphicFrame>
        <p:nvGraphicFramePr>
          <p:cNvPr id="12290" name="Object 5"/>
          <p:cNvGraphicFramePr/>
          <p:nvPr>
            <p:ph sz="half" idx="2"/>
          </p:nvPr>
        </p:nvGraphicFramePr>
        <p:xfrm>
          <a:off x="7497763" y="3233738"/>
          <a:ext cx="555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0" name="" r:id="rId1" imgW="1305560" imgH="1082675" progId="MS_ClipArt_Gallery.2">
                  <p:embed/>
                </p:oleObj>
              </mc:Choice>
              <mc:Fallback>
                <p:oleObj name="" r:id="rId1" imgW="1305560" imgH="1082675" progId="MS_ClipArt_Gallery.2">
                  <p:embed/>
                  <p:pic>
                    <p:nvPicPr>
                      <p:cNvPr id="0" name="图片 311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497763" y="3233738"/>
                        <a:ext cx="555625" cy="4635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6"/>
          <p:cNvGraphicFramePr/>
          <p:nvPr/>
        </p:nvGraphicFramePr>
        <p:xfrm>
          <a:off x="7546975" y="4022725"/>
          <a:ext cx="5794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2" name="" r:id="rId3" imgW="1305560" imgH="1082675" progId="MS_ClipArt_Gallery.2">
                  <p:embed/>
                </p:oleObj>
              </mc:Choice>
              <mc:Fallback>
                <p:oleObj name="" r:id="rId3" imgW="1305560" imgH="1082675" progId="MS_ClipArt_Gallery.2">
                  <p:embed/>
                  <p:pic>
                    <p:nvPicPr>
                      <p:cNvPr id="0" name="图片 311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46975" y="4022725"/>
                        <a:ext cx="579438" cy="4826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7"/>
          <p:cNvGraphicFramePr/>
          <p:nvPr/>
        </p:nvGraphicFramePr>
        <p:xfrm>
          <a:off x="7518400" y="4787900"/>
          <a:ext cx="56356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3" name="" r:id="rId4" imgW="1305560" imgH="1082675" progId="MS_ClipArt_Gallery.2">
                  <p:embed/>
                </p:oleObj>
              </mc:Choice>
              <mc:Fallback>
                <p:oleObj name="" r:id="rId4" imgW="1305560" imgH="1082675" progId="MS_ClipArt_Gallery.2">
                  <p:embed/>
                  <p:pic>
                    <p:nvPicPr>
                      <p:cNvPr id="0" name="图片 311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518400" y="4787900"/>
                        <a:ext cx="563563" cy="469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8" name="Line 8"/>
          <p:cNvSpPr/>
          <p:nvPr/>
        </p:nvSpPr>
        <p:spPr>
          <a:xfrm>
            <a:off x="4583113" y="4244975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299" name="Line 9"/>
          <p:cNvSpPr/>
          <p:nvPr/>
        </p:nvSpPr>
        <p:spPr>
          <a:xfrm flipH="1">
            <a:off x="7418388" y="3502025"/>
            <a:ext cx="9525" cy="14922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0" name="Line 10"/>
          <p:cNvSpPr/>
          <p:nvPr/>
        </p:nvSpPr>
        <p:spPr>
          <a:xfrm>
            <a:off x="7423150" y="3497263"/>
            <a:ext cx="133350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1" name="Line 11"/>
          <p:cNvSpPr/>
          <p:nvPr/>
        </p:nvSpPr>
        <p:spPr>
          <a:xfrm flipV="1">
            <a:off x="7429500" y="5002213"/>
            <a:ext cx="1714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02" name="Text Box 12"/>
          <p:cNvSpPr txBox="1"/>
          <p:nvPr/>
        </p:nvSpPr>
        <p:spPr>
          <a:xfrm>
            <a:off x="8048625" y="3232150"/>
            <a:ext cx="89217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10.0.0.1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2303" name="Text Box 13"/>
          <p:cNvSpPr txBox="1"/>
          <p:nvPr/>
        </p:nvSpPr>
        <p:spPr>
          <a:xfrm>
            <a:off x="8175625" y="4000500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10.0.0.2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2304" name="Text Box 14"/>
          <p:cNvSpPr txBox="1"/>
          <p:nvPr/>
        </p:nvSpPr>
        <p:spPr>
          <a:xfrm>
            <a:off x="8137525" y="4895850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10.0.0.3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grpSp>
        <p:nvGrpSpPr>
          <p:cNvPr id="2" name="Group 15"/>
          <p:cNvGrpSpPr/>
          <p:nvPr/>
        </p:nvGrpSpPr>
        <p:grpSpPr>
          <a:xfrm>
            <a:off x="5635625" y="2860675"/>
            <a:ext cx="1871663" cy="1033463"/>
            <a:chOff x="3550" y="2055"/>
            <a:chExt cx="1179" cy="651"/>
          </a:xfrm>
        </p:grpSpPr>
        <p:grpSp>
          <p:nvGrpSpPr>
            <p:cNvPr id="12387" name="Group 16"/>
            <p:cNvGrpSpPr/>
            <p:nvPr/>
          </p:nvGrpSpPr>
          <p:grpSpPr>
            <a:xfrm>
              <a:off x="3550" y="2055"/>
              <a:ext cx="1179" cy="357"/>
              <a:chOff x="4381" y="786"/>
              <a:chExt cx="1108" cy="357"/>
            </a:xfrm>
          </p:grpSpPr>
          <p:sp>
            <p:nvSpPr>
              <p:cNvPr id="12392" name="Rectangle 17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93" name="Text Box 18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200" dirty="0">
                    <a:latin typeface="Comic Sans MS" panose="030F0702030302020204" pitchFamily="66" charset="0"/>
                  </a:rPr>
                  <a:t>S: 10.0.0.1, 3345</a:t>
                </a:r>
                <a:endParaRPr lang="en-US" altLang="zh-CN" sz="12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1200" dirty="0">
                    <a:latin typeface="Comic Sans MS" panose="030F0702030302020204" pitchFamily="66" charset="0"/>
                  </a:rPr>
                  <a:t>D: 128.119.40.186, 80</a:t>
                </a:r>
                <a:endParaRPr lang="en-US" altLang="zh-CN" sz="1200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394" name="Group 19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2399" name="Freeform 20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/>
                <a:p>
                  <a:endParaRPr lang="zh-CN" altLang="en-US" dirty="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2400" name="Line 21"/>
                <p:cNvSpPr/>
                <p:nvPr/>
              </p:nvSpPr>
              <p:spPr>
                <a:xfrm flipH="1">
                  <a:off x="5512" y="1608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401" name="Line 22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95" name="Group 23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2396" name="Freeform 24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/>
                <a:p>
                  <a:endParaRPr lang="zh-CN" altLang="en-US" dirty="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2397" name="Line 25"/>
                <p:cNvSpPr/>
                <p:nvPr/>
              </p:nvSpPr>
              <p:spPr>
                <a:xfrm flipH="1">
                  <a:off x="5512" y="1608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398" name="Line 26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2388" name="Freeform 27"/>
            <p:cNvSpPr/>
            <p:nvPr/>
          </p:nvSpPr>
          <p:spPr>
            <a:xfrm>
              <a:off x="3573" y="2364"/>
              <a:ext cx="564" cy="342"/>
            </a:xfrm>
            <a:custGeom>
              <a:avLst/>
              <a:gdLst>
                <a:gd name="txL" fmla="*/ 0 w 417"/>
                <a:gd name="txT" fmla="*/ 0 h 264"/>
                <a:gd name="txR" fmla="*/ 417 w 417"/>
                <a:gd name="txB" fmla="*/ 264 h 264"/>
              </a:gdLst>
              <a:ahLst/>
              <a:cxnLst>
                <a:cxn ang="0">
                  <a:pos x="0" y="264"/>
                </a:cxn>
                <a:cxn ang="0">
                  <a:pos x="417" y="264"/>
                </a:cxn>
                <a:cxn ang="0">
                  <a:pos x="417" y="0"/>
                </a:cxn>
              </a:cxnLst>
              <a:rect l="txL" t="txT" r="txR" b="txB"/>
              <a:pathLst>
                <a:path w="417" h="264">
                  <a:moveTo>
                    <a:pt x="0" y="264"/>
                  </a:moveTo>
                  <a:lnTo>
                    <a:pt x="417" y="264"/>
                  </a:lnTo>
                  <a:lnTo>
                    <a:pt x="417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389" name="Group 28"/>
            <p:cNvGrpSpPr/>
            <p:nvPr/>
          </p:nvGrpSpPr>
          <p:grpSpPr>
            <a:xfrm>
              <a:off x="4032" y="2419"/>
              <a:ext cx="218" cy="231"/>
              <a:chOff x="5140" y="403"/>
              <a:chExt cx="218" cy="231"/>
            </a:xfrm>
          </p:grpSpPr>
          <p:sp>
            <p:nvSpPr>
              <p:cNvPr id="12390" name="Oval 29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91" name="Text Box 30"/>
              <p:cNvSpPr txBox="1"/>
              <p:nvPr/>
            </p:nvSpPr>
            <p:spPr>
              <a:xfrm>
                <a:off x="5154" y="403"/>
                <a:ext cx="181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1</a:t>
                </a:r>
                <a:endPara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2306" name="Text Box 31"/>
          <p:cNvSpPr txBox="1"/>
          <p:nvPr/>
        </p:nvSpPr>
        <p:spPr>
          <a:xfrm>
            <a:off x="4533900" y="3822700"/>
            <a:ext cx="923925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10.0.0.4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2307" name="Line 32"/>
          <p:cNvSpPr/>
          <p:nvPr/>
        </p:nvSpPr>
        <p:spPr>
          <a:xfrm flipH="1">
            <a:off x="4657725" y="4073525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08" name="Text Box 33"/>
          <p:cNvSpPr txBox="1"/>
          <p:nvPr/>
        </p:nvSpPr>
        <p:spPr>
          <a:xfrm>
            <a:off x="2695575" y="4379913"/>
            <a:ext cx="129540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138.76.29.7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12309" name="Line 34"/>
          <p:cNvSpPr/>
          <p:nvPr/>
        </p:nvSpPr>
        <p:spPr>
          <a:xfrm flipH="1">
            <a:off x="3917950" y="4311650"/>
            <a:ext cx="85725" cy="128588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grpSp>
        <p:nvGrpSpPr>
          <p:cNvPr id="7" name="Group 35"/>
          <p:cNvGrpSpPr/>
          <p:nvPr/>
        </p:nvGrpSpPr>
        <p:grpSpPr>
          <a:xfrm>
            <a:off x="6469063" y="1541463"/>
            <a:ext cx="2027237" cy="1417637"/>
            <a:chOff x="3944" y="971"/>
            <a:chExt cx="1277" cy="893"/>
          </a:xfrm>
        </p:grpSpPr>
        <p:sp>
          <p:nvSpPr>
            <p:cNvPr id="12385" name="Text Box 36"/>
            <p:cNvSpPr txBox="1"/>
            <p:nvPr/>
          </p:nvSpPr>
          <p:spPr>
            <a:xfrm>
              <a:off x="4121" y="971"/>
              <a:ext cx="1100" cy="57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u="sng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1:</a:t>
              </a:r>
              <a:r>
                <a: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 </a:t>
              </a:r>
              <a:r>
                <a: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主机</a:t>
              </a:r>
              <a:r>
                <a: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10.0.0.1 </a:t>
              </a:r>
              <a:endParaRPr lang="en-US" altLang="zh-CN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r>
                <a:rPr lang="zh-CN" altLang="en-US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发送数据报到</a:t>
              </a:r>
              <a:endParaRPr lang="zh-CN" altLang="en-US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  <a:p>
              <a:r>
                <a: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rPr>
                <a:t>128.119.40, 80</a:t>
              </a:r>
              <a:endParaRPr lang="en-US" altLang="zh-CN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12386" name="Line 37"/>
            <p:cNvSpPr/>
            <p:nvPr/>
          </p:nvSpPr>
          <p:spPr>
            <a:xfrm flipH="1">
              <a:off x="3944" y="1105"/>
              <a:ext cx="197" cy="759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headEnd type="none" w="med" len="med"/>
              <a:tailEnd type="triangle" w="med" len="med"/>
            </a:ln>
          </p:spPr>
        </p:sp>
      </p:grpSp>
      <p:sp>
        <p:nvSpPr>
          <p:cNvPr id="12311" name="Freeform 38"/>
          <p:cNvSpPr/>
          <p:nvPr/>
        </p:nvSpPr>
        <p:spPr>
          <a:xfrm>
            <a:off x="2344738" y="2627313"/>
            <a:ext cx="3862387" cy="1531937"/>
          </a:xfrm>
          <a:custGeom>
            <a:avLst/>
            <a:gdLst>
              <a:gd name="txL" fmla="*/ 0 w 2433"/>
              <a:gd name="txT" fmla="*/ 0 h 965"/>
              <a:gd name="txR" fmla="*/ 2433 w 2433"/>
              <a:gd name="txB" fmla="*/ 965 h 965"/>
            </a:gdLst>
            <a:ahLst/>
            <a:cxnLst>
              <a:cxn ang="0">
                <a:pos x="0" y="64"/>
              </a:cxn>
              <a:cxn ang="0">
                <a:pos x="2352" y="64"/>
              </a:cxn>
              <a:cxn ang="0">
                <a:pos x="1640" y="450"/>
              </a:cxn>
              <a:cxn ang="0">
                <a:pos x="1308" y="965"/>
              </a:cxn>
              <a:cxn ang="0">
                <a:pos x="1159" y="965"/>
              </a:cxn>
              <a:cxn ang="0">
                <a:pos x="820" y="396"/>
              </a:cxn>
              <a:cxn ang="0">
                <a:pos x="0" y="64"/>
              </a:cxn>
            </a:cxnLst>
            <a:rect l="txL" t="txT" r="txR" b="txB"/>
            <a:pathLst>
              <a:path w="2433" h="965">
                <a:moveTo>
                  <a:pt x="0" y="64"/>
                </a:moveTo>
                <a:cubicBezTo>
                  <a:pt x="0" y="64"/>
                  <a:pt x="2079" y="0"/>
                  <a:pt x="2352" y="64"/>
                </a:cubicBezTo>
                <a:cubicBezTo>
                  <a:pt x="2433" y="57"/>
                  <a:pt x="1814" y="309"/>
                  <a:pt x="1640" y="450"/>
                </a:cubicBezTo>
                <a:cubicBezTo>
                  <a:pt x="1466" y="591"/>
                  <a:pt x="1383" y="888"/>
                  <a:pt x="1308" y="965"/>
                </a:cubicBezTo>
                <a:lnTo>
                  <a:pt x="1159" y="965"/>
                </a:lnTo>
                <a:cubicBezTo>
                  <a:pt x="1078" y="870"/>
                  <a:pt x="1013" y="546"/>
                  <a:pt x="820" y="396"/>
                </a:cubicBezTo>
                <a:cubicBezTo>
                  <a:pt x="583" y="207"/>
                  <a:pt x="189" y="142"/>
                  <a:pt x="0" y="64"/>
                </a:cubicBezTo>
                <a:close/>
              </a:path>
            </a:pathLst>
          </a:custGeom>
          <a:gradFill rotWithShape="1">
            <a:gsLst>
              <a:gs pos="0">
                <a:schemeClr val="hlink"/>
              </a:gs>
              <a:gs pos="100000">
                <a:schemeClr val="bg1"/>
              </a:gs>
            </a:gsLst>
            <a:lin ang="5400000" scaled="1"/>
            <a:tileRect/>
          </a:gradFill>
          <a:ln w="3175" cap="flat" cmpd="sng">
            <a:solidFill>
              <a:schemeClr val="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2312" name="Rectangle 39"/>
          <p:cNvSpPr/>
          <p:nvPr/>
        </p:nvSpPr>
        <p:spPr>
          <a:xfrm>
            <a:off x="2344738" y="1374775"/>
            <a:ext cx="3784600" cy="1354138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2313" name="Text Box 40"/>
          <p:cNvSpPr txBox="1"/>
          <p:nvPr/>
        </p:nvSpPr>
        <p:spPr>
          <a:xfrm>
            <a:off x="2541588" y="1423988"/>
            <a:ext cx="3368675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NAT </a:t>
            </a:r>
            <a:r>
              <a:rPr lang="zh-CN" altLang="en-US" dirty="0">
                <a:latin typeface="Comic Sans MS" panose="030F0702030302020204" pitchFamily="66" charset="0"/>
              </a:rPr>
              <a:t>转换表</a:t>
            </a:r>
            <a:endParaRPr lang="zh-CN" altLang="en-US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WAN </a:t>
            </a:r>
            <a:r>
              <a:rPr lang="zh-CN" altLang="en-US" dirty="0">
                <a:latin typeface="Comic Sans MS" panose="030F0702030302020204" pitchFamily="66" charset="0"/>
              </a:rPr>
              <a:t>侧地址         </a:t>
            </a:r>
            <a:r>
              <a:rPr lang="en-US" altLang="zh-CN" dirty="0">
                <a:latin typeface="Comic Sans MS" panose="030F0702030302020204" pitchFamily="66" charset="0"/>
              </a:rPr>
              <a:t>LAN </a:t>
            </a:r>
            <a:r>
              <a:rPr lang="zh-CN" altLang="en-US" dirty="0">
                <a:latin typeface="Comic Sans MS" panose="030F0702030302020204" pitchFamily="66" charset="0"/>
              </a:rPr>
              <a:t>侧地址</a:t>
            </a:r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12314" name="Line 41"/>
          <p:cNvSpPr/>
          <p:nvPr/>
        </p:nvSpPr>
        <p:spPr>
          <a:xfrm flipV="1">
            <a:off x="2344738" y="1747838"/>
            <a:ext cx="3790950" cy="111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5" name="Line 42"/>
          <p:cNvSpPr/>
          <p:nvPr/>
        </p:nvSpPr>
        <p:spPr>
          <a:xfrm flipV="1">
            <a:off x="2359025" y="2025650"/>
            <a:ext cx="3749675" cy="11113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2316" name="Line 43"/>
          <p:cNvSpPr/>
          <p:nvPr/>
        </p:nvSpPr>
        <p:spPr>
          <a:xfrm>
            <a:off x="4468813" y="1770063"/>
            <a:ext cx="3175" cy="955675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12317" name="Group 44"/>
          <p:cNvGrpSpPr/>
          <p:nvPr/>
        </p:nvGrpSpPr>
        <p:grpSpPr>
          <a:xfrm>
            <a:off x="4062413" y="4105275"/>
            <a:ext cx="555625" cy="307975"/>
            <a:chOff x="3600" y="219"/>
            <a:chExt cx="360" cy="175"/>
          </a:xfrm>
        </p:grpSpPr>
        <p:sp>
          <p:nvSpPr>
            <p:cNvPr id="12372" name="Oval 45"/>
            <p:cNvSpPr/>
            <p:nvPr/>
          </p:nvSpPr>
          <p:spPr>
            <a:xfrm>
              <a:off x="3603" y="297"/>
              <a:ext cx="357" cy="97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2373" name="Line 46"/>
            <p:cNvSpPr/>
            <p:nvPr/>
          </p:nvSpPr>
          <p:spPr>
            <a:xfrm>
              <a:off x="3603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4" name="Line 47"/>
            <p:cNvSpPr/>
            <p:nvPr/>
          </p:nvSpPr>
          <p:spPr>
            <a:xfrm>
              <a:off x="3960" y="289"/>
              <a:ext cx="0" cy="60"/>
            </a:xfrm>
            <a:prstGeom prst="line">
              <a:avLst/>
            </a:prstGeom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sp>
        <p:sp>
          <p:nvSpPr>
            <p:cNvPr id="12375" name="Rectangle 48"/>
            <p:cNvSpPr/>
            <p:nvPr/>
          </p:nvSpPr>
          <p:spPr>
            <a:xfrm>
              <a:off x="3603" y="289"/>
              <a:ext cx="354" cy="59"/>
            </a:xfrm>
            <a:prstGeom prst="rect">
              <a:avLst/>
            </a:prstGeom>
            <a:solidFill>
              <a:schemeClr val="hlink"/>
            </a:solidFill>
            <a:ln w="12700">
              <a:noFill/>
            </a:ln>
          </p:spPr>
          <p:txBody>
            <a:bodyPr wrap="none" anchor="ctr" anchorCtr="0"/>
            <a:p>
              <a:pPr algn="ctr"/>
              <a:endParaRPr lang="zh-CN" altLang="en-US" sz="2400" dirty="0">
                <a:latin typeface="Times New Roman" panose="02020603050405020304" pitchFamily="18" charset="0"/>
              </a:endParaRPr>
            </a:p>
          </p:txBody>
        </p:sp>
        <p:sp>
          <p:nvSpPr>
            <p:cNvPr id="12376" name="Oval 49"/>
            <p:cNvSpPr/>
            <p:nvPr/>
          </p:nvSpPr>
          <p:spPr>
            <a:xfrm>
              <a:off x="3600" y="219"/>
              <a:ext cx="357" cy="113"/>
            </a:xfrm>
            <a:prstGeom prst="ellipse">
              <a:avLst/>
            </a:prstGeom>
            <a:solidFill>
              <a:schemeClr val="hlink"/>
            </a:soli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377" name="Group 50"/>
            <p:cNvGrpSpPr/>
            <p:nvPr/>
          </p:nvGrpSpPr>
          <p:grpSpPr>
            <a:xfrm>
              <a:off x="3686" y="244"/>
              <a:ext cx="177" cy="66"/>
              <a:chOff x="2848" y="848"/>
              <a:chExt cx="140" cy="98"/>
            </a:xfrm>
          </p:grpSpPr>
          <p:sp>
            <p:nvSpPr>
              <p:cNvPr id="12382" name="Line 51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83" name="Line 52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84" name="Line 53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378" name="Group 54"/>
            <p:cNvGrpSpPr/>
            <p:nvPr/>
          </p:nvGrpSpPr>
          <p:grpSpPr>
            <a:xfrm flipV="1">
              <a:off x="3686" y="243"/>
              <a:ext cx="177" cy="66"/>
              <a:chOff x="2848" y="848"/>
              <a:chExt cx="140" cy="98"/>
            </a:xfrm>
          </p:grpSpPr>
          <p:sp>
            <p:nvSpPr>
              <p:cNvPr id="12379" name="Line 55"/>
              <p:cNvSpPr/>
              <p:nvPr/>
            </p:nvSpPr>
            <p:spPr>
              <a:xfrm flipV="1">
                <a:off x="2848" y="848"/>
                <a:ext cx="50" cy="2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80" name="Line 56"/>
              <p:cNvSpPr/>
              <p:nvPr/>
            </p:nvSpPr>
            <p:spPr>
              <a:xfrm>
                <a:off x="2944" y="946"/>
                <a:ext cx="44" cy="0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81" name="Line 57"/>
              <p:cNvSpPr/>
              <p:nvPr/>
            </p:nvSpPr>
            <p:spPr>
              <a:xfrm>
                <a:off x="2894" y="850"/>
                <a:ext cx="52" cy="96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</p:grpSp>
      <p:sp>
        <p:nvSpPr>
          <p:cNvPr id="619578" name="Text Box 58"/>
          <p:cNvSpPr txBox="1"/>
          <p:nvPr/>
        </p:nvSpPr>
        <p:spPr>
          <a:xfrm>
            <a:off x="2362200" y="2049463"/>
            <a:ext cx="3783013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138.76.29.7, 5001   10.0.0.1, 3345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……                                         ……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grpSp>
        <p:nvGrpSpPr>
          <p:cNvPr id="11" name="Group 59"/>
          <p:cNvGrpSpPr/>
          <p:nvPr/>
        </p:nvGrpSpPr>
        <p:grpSpPr>
          <a:xfrm>
            <a:off x="4765675" y="3435350"/>
            <a:ext cx="2784475" cy="1631950"/>
            <a:chOff x="3002" y="2417"/>
            <a:chExt cx="1754" cy="1028"/>
          </a:xfrm>
        </p:grpSpPr>
        <p:sp>
          <p:nvSpPr>
            <p:cNvPr id="12358" name="Rectangle 60"/>
            <p:cNvSpPr/>
            <p:nvPr/>
          </p:nvSpPr>
          <p:spPr>
            <a:xfrm>
              <a:off x="3002" y="3051"/>
              <a:ext cx="1175" cy="2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2359" name="Text Box 61"/>
            <p:cNvSpPr txBox="1"/>
            <p:nvPr/>
          </p:nvSpPr>
          <p:spPr>
            <a:xfrm>
              <a:off x="3104" y="3042"/>
              <a:ext cx="1112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1200" dirty="0">
                  <a:latin typeface="Comic Sans MS" panose="030F0702030302020204" pitchFamily="66" charset="0"/>
                </a:rPr>
                <a:t>S: 128.119.40.186, 80 </a:t>
              </a:r>
              <a:endParaRPr lang="en-US" altLang="zh-CN" sz="1200" dirty="0">
                <a:latin typeface="Comic Sans MS" panose="030F0702030302020204" pitchFamily="66" charset="0"/>
              </a:endParaRPr>
            </a:p>
            <a:p>
              <a:r>
                <a:rPr lang="en-US" altLang="zh-CN" sz="1200" dirty="0">
                  <a:latin typeface="Comic Sans MS" panose="030F0702030302020204" pitchFamily="66" charset="0"/>
                </a:rPr>
                <a:t>D: 10.0.0.1, 3345</a:t>
              </a:r>
              <a:endParaRPr lang="en-US" altLang="zh-CN" sz="1200" dirty="0">
                <a:latin typeface="Comic Sans MS" panose="030F0702030302020204" pitchFamily="66" charset="0"/>
              </a:endParaRPr>
            </a:p>
            <a:p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360" name="Group 62"/>
            <p:cNvGrpSpPr/>
            <p:nvPr/>
          </p:nvGrpSpPr>
          <p:grpSpPr>
            <a:xfrm>
              <a:off x="3054" y="3007"/>
              <a:ext cx="51" cy="99"/>
              <a:chOff x="5508" y="1599"/>
              <a:chExt cx="48" cy="99"/>
            </a:xfrm>
          </p:grpSpPr>
          <p:sp>
            <p:nvSpPr>
              <p:cNvPr id="12369" name="Freeform 63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70" name="Line 64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71" name="Line 65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361" name="Group 66"/>
            <p:cNvGrpSpPr/>
            <p:nvPr/>
          </p:nvGrpSpPr>
          <p:grpSpPr>
            <a:xfrm>
              <a:off x="3059" y="3248"/>
              <a:ext cx="51" cy="99"/>
              <a:chOff x="5508" y="1599"/>
              <a:chExt cx="48" cy="99"/>
            </a:xfrm>
          </p:grpSpPr>
          <p:sp>
            <p:nvSpPr>
              <p:cNvPr id="12366" name="Freeform 67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67" name="Line 68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68" name="Line 69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362" name="Freeform 70"/>
            <p:cNvSpPr/>
            <p:nvPr/>
          </p:nvSpPr>
          <p:spPr>
            <a:xfrm>
              <a:off x="4179" y="2417"/>
              <a:ext cx="577" cy="768"/>
            </a:xfrm>
            <a:custGeom>
              <a:avLst/>
              <a:gdLst>
                <a:gd name="txL" fmla="*/ 0 w 577"/>
                <a:gd name="txT" fmla="*/ 0 h 768"/>
                <a:gd name="txR" fmla="*/ 577 w 577"/>
                <a:gd name="txB" fmla="*/ 768 h 768"/>
              </a:gdLst>
              <a:ahLst/>
              <a:cxnLst>
                <a:cxn ang="0">
                  <a:pos x="577" y="0"/>
                </a:cxn>
                <a:cxn ang="0">
                  <a:pos x="342" y="0"/>
                </a:cxn>
                <a:cxn ang="0">
                  <a:pos x="342" y="768"/>
                </a:cxn>
                <a:cxn ang="0">
                  <a:pos x="0" y="760"/>
                </a:cxn>
              </a:cxnLst>
              <a:rect l="txL" t="txT" r="txR" b="txB"/>
              <a:pathLst>
                <a:path w="577" h="768">
                  <a:moveTo>
                    <a:pt x="577" y="0"/>
                  </a:moveTo>
                  <a:lnTo>
                    <a:pt x="342" y="0"/>
                  </a:lnTo>
                  <a:lnTo>
                    <a:pt x="342" y="768"/>
                  </a:lnTo>
                  <a:lnTo>
                    <a:pt x="0" y="76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</p:spPr>
          <p:txBody>
            <a:bodyPr wrap="none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363" name="Group 71"/>
            <p:cNvGrpSpPr/>
            <p:nvPr/>
          </p:nvGrpSpPr>
          <p:grpSpPr>
            <a:xfrm>
              <a:off x="4240" y="3064"/>
              <a:ext cx="218" cy="231"/>
              <a:chOff x="5140" y="403"/>
              <a:chExt cx="218" cy="231"/>
            </a:xfrm>
          </p:grpSpPr>
          <p:sp>
            <p:nvSpPr>
              <p:cNvPr id="12364" name="Oval 72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65" name="Text Box 73"/>
              <p:cNvSpPr txBox="1"/>
              <p:nvPr/>
            </p:nvSpPr>
            <p:spPr>
              <a:xfrm>
                <a:off x="5154" y="403"/>
                <a:ext cx="20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4</a:t>
                </a:r>
                <a:endPara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grpSp>
        <p:nvGrpSpPr>
          <p:cNvPr id="15" name="Group 74"/>
          <p:cNvGrpSpPr/>
          <p:nvPr/>
        </p:nvGrpSpPr>
        <p:grpSpPr>
          <a:xfrm>
            <a:off x="1531938" y="3641725"/>
            <a:ext cx="2497137" cy="566738"/>
            <a:chOff x="1026" y="3559"/>
            <a:chExt cx="1573" cy="357"/>
          </a:xfrm>
        </p:grpSpPr>
        <p:grpSp>
          <p:nvGrpSpPr>
            <p:cNvPr id="12343" name="Group 75"/>
            <p:cNvGrpSpPr/>
            <p:nvPr/>
          </p:nvGrpSpPr>
          <p:grpSpPr>
            <a:xfrm>
              <a:off x="1412" y="3559"/>
              <a:ext cx="1187" cy="357"/>
              <a:chOff x="4381" y="786"/>
              <a:chExt cx="1108" cy="357"/>
            </a:xfrm>
          </p:grpSpPr>
          <p:sp>
            <p:nvSpPr>
              <p:cNvPr id="12348" name="Rectangle 76"/>
              <p:cNvSpPr/>
              <p:nvPr/>
            </p:nvSpPr>
            <p:spPr>
              <a:xfrm>
                <a:off x="4385" y="830"/>
                <a:ext cx="1104" cy="256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49" name="Text Box 77"/>
              <p:cNvSpPr txBox="1"/>
              <p:nvPr/>
            </p:nvSpPr>
            <p:spPr>
              <a:xfrm>
                <a:off x="4381" y="813"/>
                <a:ext cx="1045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>
                <a:spAutoFit/>
              </a:bodyPr>
              <a:p>
                <a:r>
                  <a:rPr lang="en-US" altLang="zh-CN" sz="1200" dirty="0">
                    <a:latin typeface="Comic Sans MS" panose="030F0702030302020204" pitchFamily="66" charset="0"/>
                  </a:rPr>
                  <a:t>S: 138.76.29.7, 5001</a:t>
                </a:r>
                <a:endParaRPr lang="en-US" altLang="zh-CN" sz="1200" dirty="0">
                  <a:latin typeface="Comic Sans MS" panose="030F0702030302020204" pitchFamily="66" charset="0"/>
                </a:endParaRPr>
              </a:p>
              <a:p>
                <a:r>
                  <a:rPr lang="en-US" altLang="zh-CN" sz="1200" dirty="0">
                    <a:latin typeface="Comic Sans MS" panose="030F0702030302020204" pitchFamily="66" charset="0"/>
                  </a:rPr>
                  <a:t>D: 128.119.40.186, 80</a:t>
                </a:r>
                <a:endParaRPr lang="en-US" altLang="zh-CN" sz="1200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12350" name="Group 78"/>
              <p:cNvGrpSpPr/>
              <p:nvPr/>
            </p:nvGrpSpPr>
            <p:grpSpPr>
              <a:xfrm>
                <a:off x="5394" y="786"/>
                <a:ext cx="48" cy="99"/>
                <a:chOff x="5508" y="1599"/>
                <a:chExt cx="48" cy="99"/>
              </a:xfrm>
            </p:grpSpPr>
            <p:sp>
              <p:nvSpPr>
                <p:cNvPr id="12355" name="Freeform 79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/>
                <a:p>
                  <a:endParaRPr lang="zh-CN" altLang="en-US" dirty="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2356" name="Line 80"/>
                <p:cNvSpPr/>
                <p:nvPr/>
              </p:nvSpPr>
              <p:spPr>
                <a:xfrm flipH="1">
                  <a:off x="5512" y="1608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357" name="Line 81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12351" name="Group 82"/>
              <p:cNvGrpSpPr/>
              <p:nvPr/>
            </p:nvGrpSpPr>
            <p:grpSpPr>
              <a:xfrm>
                <a:off x="5382" y="1044"/>
                <a:ext cx="48" cy="99"/>
                <a:chOff x="5508" y="1599"/>
                <a:chExt cx="48" cy="99"/>
              </a:xfrm>
            </p:grpSpPr>
            <p:sp>
              <p:nvSpPr>
                <p:cNvPr id="12352" name="Freeform 83"/>
                <p:cNvSpPr/>
                <p:nvPr/>
              </p:nvSpPr>
              <p:spPr>
                <a:xfrm>
                  <a:off x="5508" y="1599"/>
                  <a:ext cx="48" cy="99"/>
                </a:xfrm>
                <a:custGeom>
                  <a:avLst/>
                  <a:gdLst>
                    <a:gd name="txL" fmla="*/ 0 w 48"/>
                    <a:gd name="txT" fmla="*/ 0 h 99"/>
                    <a:gd name="txR" fmla="*/ 48 w 48"/>
                    <a:gd name="txB" fmla="*/ 99 h 99"/>
                  </a:gdLst>
                  <a:ahLst/>
                  <a:cxnLst>
                    <a:cxn ang="0">
                      <a:pos x="21" y="0"/>
                    </a:cxn>
                    <a:cxn ang="0">
                      <a:pos x="0" y="72"/>
                    </a:cxn>
                    <a:cxn ang="0">
                      <a:pos x="27" y="99"/>
                    </a:cxn>
                    <a:cxn ang="0">
                      <a:pos x="48" y="21"/>
                    </a:cxn>
                    <a:cxn ang="0">
                      <a:pos x="21" y="0"/>
                    </a:cxn>
                  </a:cxnLst>
                  <a:rect l="txL" t="txT" r="txR" b="txB"/>
                  <a:pathLst>
                    <a:path w="48" h="99">
                      <a:moveTo>
                        <a:pt x="21" y="0"/>
                      </a:moveTo>
                      <a:lnTo>
                        <a:pt x="0" y="72"/>
                      </a:lnTo>
                      <a:lnTo>
                        <a:pt x="27" y="99"/>
                      </a:lnTo>
                      <a:lnTo>
                        <a:pt x="48" y="21"/>
                      </a:lnTo>
                      <a:lnTo>
                        <a:pt x="21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9525">
                  <a:noFill/>
                </a:ln>
              </p:spPr>
              <p:txBody>
                <a:bodyPr wrap="none"/>
                <a:p>
                  <a:endParaRPr lang="zh-CN" altLang="en-US" dirty="0">
                    <a:latin typeface="Comic Sans MS" panose="030F0702030302020204" pitchFamily="66" charset="0"/>
                  </a:endParaRPr>
                </a:p>
              </p:txBody>
            </p:sp>
            <p:sp>
              <p:nvSpPr>
                <p:cNvPr id="12353" name="Line 84"/>
                <p:cNvSpPr/>
                <p:nvPr/>
              </p:nvSpPr>
              <p:spPr>
                <a:xfrm flipH="1">
                  <a:off x="5512" y="1608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12354" name="Line 85"/>
                <p:cNvSpPr/>
                <p:nvPr/>
              </p:nvSpPr>
              <p:spPr>
                <a:xfrm flipH="1">
                  <a:off x="5536" y="1620"/>
                  <a:ext cx="20" cy="68"/>
                </a:xfrm>
                <a:prstGeom prst="line">
                  <a:avLst/>
                </a:prstGeom>
                <a:ln w="952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12344" name="Line 86"/>
            <p:cNvSpPr/>
            <p:nvPr/>
          </p:nvSpPr>
          <p:spPr>
            <a:xfrm flipH="1">
              <a:off x="1026" y="3729"/>
              <a:ext cx="3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none" w="med" len="med"/>
              <a:tailEnd type="triangle" w="med" len="med"/>
            </a:ln>
          </p:spPr>
        </p:sp>
        <p:grpSp>
          <p:nvGrpSpPr>
            <p:cNvPr id="12345" name="Group 87"/>
            <p:cNvGrpSpPr/>
            <p:nvPr/>
          </p:nvGrpSpPr>
          <p:grpSpPr>
            <a:xfrm>
              <a:off x="1143" y="3616"/>
              <a:ext cx="218" cy="231"/>
              <a:chOff x="5140" y="403"/>
              <a:chExt cx="218" cy="231"/>
            </a:xfrm>
          </p:grpSpPr>
          <p:sp>
            <p:nvSpPr>
              <p:cNvPr id="12346" name="Oval 88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47" name="Text Box 89"/>
              <p:cNvSpPr txBox="1"/>
              <p:nvPr/>
            </p:nvSpPr>
            <p:spPr>
              <a:xfrm>
                <a:off x="5154" y="403"/>
                <a:ext cx="20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2</a:t>
                </a:r>
                <a:endPara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12321" name="Text Box 91"/>
          <p:cNvSpPr txBox="1"/>
          <p:nvPr/>
        </p:nvSpPr>
        <p:spPr>
          <a:xfrm>
            <a:off x="0" y="1643063"/>
            <a:ext cx="2278063" cy="146526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u="sng" dirty="0">
                <a:solidFill>
                  <a:srgbClr val="FF0000"/>
                </a:solidFill>
                <a:latin typeface="Comic Sans MS" panose="030F0702030302020204" pitchFamily="66" charset="0"/>
              </a:rPr>
              <a:t>2: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 NAT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路由器改变数据报源地址从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10.0.0.1, 3345 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到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138.76.29.7, 5001,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更新表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322" name="Line 92"/>
          <p:cNvSpPr/>
          <p:nvPr/>
        </p:nvSpPr>
        <p:spPr>
          <a:xfrm>
            <a:off x="2039938" y="3159125"/>
            <a:ext cx="233362" cy="565150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3" name="Line 93"/>
          <p:cNvSpPr/>
          <p:nvPr/>
        </p:nvSpPr>
        <p:spPr>
          <a:xfrm flipV="1">
            <a:off x="2024063" y="2436813"/>
            <a:ext cx="1052512" cy="722312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2324" name="Line 94"/>
          <p:cNvSpPr/>
          <p:nvPr/>
        </p:nvSpPr>
        <p:spPr>
          <a:xfrm flipV="1">
            <a:off x="2024063" y="2378075"/>
            <a:ext cx="3130550" cy="779463"/>
          </a:xfrm>
          <a:prstGeom prst="line">
            <a:avLst/>
          </a:prstGeom>
          <a:ln w="19050" cap="flat" cmpd="sng">
            <a:solidFill>
              <a:srgbClr val="FF0000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20" name="Group 95"/>
          <p:cNvGrpSpPr/>
          <p:nvPr/>
        </p:nvGrpSpPr>
        <p:grpSpPr>
          <a:xfrm>
            <a:off x="1360488" y="4681538"/>
            <a:ext cx="2471737" cy="696912"/>
            <a:chOff x="1163" y="3752"/>
            <a:chExt cx="1557" cy="439"/>
          </a:xfrm>
        </p:grpSpPr>
        <p:sp>
          <p:nvSpPr>
            <p:cNvPr id="12329" name="Rectangle 96"/>
            <p:cNvSpPr/>
            <p:nvPr/>
          </p:nvSpPr>
          <p:spPr>
            <a:xfrm>
              <a:off x="1163" y="3796"/>
              <a:ext cx="1183" cy="256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12330" name="Text Box 97"/>
            <p:cNvSpPr txBox="1"/>
            <p:nvPr/>
          </p:nvSpPr>
          <p:spPr>
            <a:xfrm>
              <a:off x="1281" y="3788"/>
              <a:ext cx="1120" cy="403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r>
                <a:rPr lang="en-US" altLang="zh-CN" sz="1200" dirty="0">
                  <a:latin typeface="Comic Sans MS" panose="030F0702030302020204" pitchFamily="66" charset="0"/>
                </a:rPr>
                <a:t>S: 128.119.40.186, 80 </a:t>
              </a:r>
              <a:endParaRPr lang="en-US" altLang="zh-CN" sz="1200" dirty="0">
                <a:latin typeface="Comic Sans MS" panose="030F0702030302020204" pitchFamily="66" charset="0"/>
              </a:endParaRPr>
            </a:p>
            <a:p>
              <a:r>
                <a:rPr lang="en-US" altLang="zh-CN" sz="1200" dirty="0">
                  <a:latin typeface="Comic Sans MS" panose="030F0702030302020204" pitchFamily="66" charset="0"/>
                </a:rPr>
                <a:t>D: 138.76.29.7, 5001</a:t>
              </a:r>
              <a:endParaRPr lang="en-US" altLang="zh-CN" sz="1200" dirty="0">
                <a:latin typeface="Comic Sans MS" panose="030F0702030302020204" pitchFamily="66" charset="0"/>
              </a:endParaRPr>
            </a:p>
            <a:p>
              <a:endParaRPr lang="zh-CN" altLang="en-US" sz="1200" dirty="0">
                <a:latin typeface="Comic Sans MS" panose="030F0702030302020204" pitchFamily="66" charset="0"/>
              </a:endParaRPr>
            </a:p>
          </p:txBody>
        </p:sp>
        <p:grpSp>
          <p:nvGrpSpPr>
            <p:cNvPr id="12331" name="Group 98"/>
            <p:cNvGrpSpPr/>
            <p:nvPr/>
          </p:nvGrpSpPr>
          <p:grpSpPr>
            <a:xfrm>
              <a:off x="1214" y="3752"/>
              <a:ext cx="52" cy="99"/>
              <a:chOff x="5508" y="1599"/>
              <a:chExt cx="48" cy="99"/>
            </a:xfrm>
          </p:grpSpPr>
          <p:sp>
            <p:nvSpPr>
              <p:cNvPr id="12340" name="Freeform 99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41" name="Line 100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42" name="Line 101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grpSp>
          <p:nvGrpSpPr>
            <p:cNvPr id="12332" name="Group 102"/>
            <p:cNvGrpSpPr/>
            <p:nvPr/>
          </p:nvGrpSpPr>
          <p:grpSpPr>
            <a:xfrm>
              <a:off x="1193" y="3984"/>
              <a:ext cx="52" cy="99"/>
              <a:chOff x="5508" y="1599"/>
              <a:chExt cx="48" cy="99"/>
            </a:xfrm>
          </p:grpSpPr>
          <p:sp>
            <p:nvSpPr>
              <p:cNvPr id="12337" name="Freeform 103"/>
              <p:cNvSpPr/>
              <p:nvPr/>
            </p:nvSpPr>
            <p:spPr>
              <a:xfrm>
                <a:off x="5508" y="1599"/>
                <a:ext cx="48" cy="99"/>
              </a:xfrm>
              <a:custGeom>
                <a:avLst/>
                <a:gdLst>
                  <a:gd name="txL" fmla="*/ 0 w 48"/>
                  <a:gd name="txT" fmla="*/ 0 h 99"/>
                  <a:gd name="txR" fmla="*/ 48 w 48"/>
                  <a:gd name="txB" fmla="*/ 99 h 99"/>
                </a:gdLst>
                <a:ahLst/>
                <a:cxnLst>
                  <a:cxn ang="0">
                    <a:pos x="21" y="0"/>
                  </a:cxn>
                  <a:cxn ang="0">
                    <a:pos x="0" y="72"/>
                  </a:cxn>
                  <a:cxn ang="0">
                    <a:pos x="27" y="99"/>
                  </a:cxn>
                  <a:cxn ang="0">
                    <a:pos x="48" y="21"/>
                  </a:cxn>
                  <a:cxn ang="0">
                    <a:pos x="21" y="0"/>
                  </a:cxn>
                </a:cxnLst>
                <a:rect l="txL" t="txT" r="txR" b="txB"/>
                <a:pathLst>
                  <a:path w="48" h="99">
                    <a:moveTo>
                      <a:pt x="21" y="0"/>
                    </a:moveTo>
                    <a:lnTo>
                      <a:pt x="0" y="72"/>
                    </a:lnTo>
                    <a:lnTo>
                      <a:pt x="27" y="99"/>
                    </a:lnTo>
                    <a:lnTo>
                      <a:pt x="48" y="21"/>
                    </a:lnTo>
                    <a:lnTo>
                      <a:pt x="21" y="0"/>
                    </a:lnTo>
                    <a:close/>
                  </a:path>
                </a:pathLst>
              </a:custGeom>
              <a:solidFill>
                <a:schemeClr val="bg1"/>
              </a:solidFill>
              <a:ln w="9525">
                <a:noFill/>
              </a:ln>
            </p:spPr>
            <p:txBody>
              <a:bodyPr wrap="none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38" name="Line 104"/>
              <p:cNvSpPr/>
              <p:nvPr/>
            </p:nvSpPr>
            <p:spPr>
              <a:xfrm flipH="1">
                <a:off x="5512" y="1608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12339" name="Line 105"/>
              <p:cNvSpPr/>
              <p:nvPr/>
            </p:nvSpPr>
            <p:spPr>
              <a:xfrm flipH="1">
                <a:off x="5536" y="1620"/>
                <a:ext cx="20" cy="68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</p:grpSp>
        <p:sp>
          <p:nvSpPr>
            <p:cNvPr id="12333" name="Line 106"/>
            <p:cNvSpPr/>
            <p:nvPr/>
          </p:nvSpPr>
          <p:spPr>
            <a:xfrm flipH="1">
              <a:off x="2344" y="3931"/>
              <a:ext cx="376" cy="0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headEnd type="triangle" w="med" len="med"/>
              <a:tailEnd type="none" w="med" len="med"/>
            </a:ln>
          </p:spPr>
        </p:sp>
        <p:grpSp>
          <p:nvGrpSpPr>
            <p:cNvPr id="12334" name="Group 107"/>
            <p:cNvGrpSpPr/>
            <p:nvPr/>
          </p:nvGrpSpPr>
          <p:grpSpPr>
            <a:xfrm>
              <a:off x="2409" y="3818"/>
              <a:ext cx="218" cy="231"/>
              <a:chOff x="5140" y="403"/>
              <a:chExt cx="218" cy="231"/>
            </a:xfrm>
          </p:grpSpPr>
          <p:sp>
            <p:nvSpPr>
              <p:cNvPr id="12335" name="Oval 108"/>
              <p:cNvSpPr/>
              <p:nvPr/>
            </p:nvSpPr>
            <p:spPr>
              <a:xfrm>
                <a:off x="5140" y="410"/>
                <a:ext cx="218" cy="218"/>
              </a:xfrm>
              <a:prstGeom prst="ellipse">
                <a:avLst/>
              </a:prstGeom>
              <a:solidFill>
                <a:schemeClr val="bg1"/>
              </a:solidFill>
              <a:ln w="9525" cap="flat" cmpd="sng">
                <a:solidFill>
                  <a:srgbClr val="FF0000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12336" name="Text Box 109"/>
              <p:cNvSpPr txBox="1"/>
              <p:nvPr/>
            </p:nvSpPr>
            <p:spPr>
              <a:xfrm>
                <a:off x="5154" y="403"/>
                <a:ext cx="204" cy="23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en-US" altLang="zh-CN" dirty="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3</a:t>
                </a:r>
                <a:endParaRPr lang="en-US" altLang="zh-CN" dirty="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</p:grpSp>
      <p:sp>
        <p:nvSpPr>
          <p:cNvPr id="619630" name="Text Box 110"/>
          <p:cNvSpPr txBox="1"/>
          <p:nvPr/>
        </p:nvSpPr>
        <p:spPr>
          <a:xfrm>
            <a:off x="1317625" y="5141913"/>
            <a:ext cx="2586038" cy="6413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u="sng" dirty="0">
                <a:solidFill>
                  <a:srgbClr val="FF0000"/>
                </a:solidFill>
                <a:latin typeface="Comic Sans MS" panose="030F0702030302020204" pitchFamily="66" charset="0"/>
              </a:rPr>
              <a:t>3: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 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回答到达的目的地址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 138.76.29.7, 5001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19631" name="Text Box 111"/>
          <p:cNvSpPr txBox="1"/>
          <p:nvPr/>
        </p:nvSpPr>
        <p:spPr>
          <a:xfrm>
            <a:off x="4741863" y="4976813"/>
            <a:ext cx="3171825" cy="11906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r>
              <a:rPr lang="en-US" altLang="zh-CN" u="sng" dirty="0">
                <a:solidFill>
                  <a:srgbClr val="FF0000"/>
                </a:solidFill>
                <a:latin typeface="Comic Sans MS" panose="030F0702030302020204" pitchFamily="66" charset="0"/>
              </a:rPr>
              <a:t>4: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 NAT 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路由器改变数据报</a:t>
            </a:r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目的地址从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138.76.29.7, 5001</a:t>
            </a:r>
            <a:r>
              <a:rPr lang="zh-CN" altLang="en-US" dirty="0">
                <a:solidFill>
                  <a:srgbClr val="FF0000"/>
                </a:solidFill>
                <a:latin typeface="Comic Sans MS" panose="030F0702030302020204" pitchFamily="66" charset="0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Comic Sans MS" panose="030F0702030302020204" pitchFamily="66" charset="0"/>
              </a:rPr>
              <a:t>10.0.0.1, 3345</a:t>
            </a:r>
            <a:r>
              <a:rPr lang="en-US" altLang="zh-CN" dirty="0">
                <a:latin typeface="Comic Sans MS" panose="030F0702030302020204" pitchFamily="66" charset="0"/>
              </a:rPr>
              <a:t> </a:t>
            </a:r>
            <a:endParaRPr lang="en-US" altLang="zh-CN" dirty="0">
              <a:solidFill>
                <a:srgbClr val="FF0000"/>
              </a:solidFill>
              <a:latin typeface="Comic Sans MS" panose="030F0702030302020204" pitchFamily="66" charset="0"/>
            </a:endParaRPr>
          </a:p>
          <a:p>
            <a:endParaRPr lang="zh-CN" altLang="en-US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2328" name="Line 112"/>
          <p:cNvSpPr/>
          <p:nvPr/>
        </p:nvSpPr>
        <p:spPr>
          <a:xfrm>
            <a:off x="1022350" y="4273550"/>
            <a:ext cx="3025775" cy="635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9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9578" grpId="0"/>
      <p:bldP spid="619630" grpId="0"/>
      <p:bldP spid="61963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632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6324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sz="3200" dirty="0"/>
              <a:t>NAT: </a:t>
            </a:r>
            <a:r>
              <a:rPr lang="zh-CN" altLang="en-US" sz="3200" dirty="0"/>
              <a:t>网络地址转换</a:t>
            </a:r>
            <a:endParaRPr lang="zh-CN" altLang="en-US" dirty="0"/>
          </a:p>
        </p:txBody>
      </p:sp>
      <p:sp>
        <p:nvSpPr>
          <p:cNvPr id="56325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/>
            <a:r>
              <a:rPr lang="en-US" altLang="zh-CN" dirty="0"/>
              <a:t>16-bit </a:t>
            </a:r>
            <a:r>
              <a:rPr lang="zh-CN" altLang="en-US" dirty="0"/>
              <a:t>端口号字段</a:t>
            </a:r>
            <a:r>
              <a:rPr lang="en-US" altLang="zh-CN" dirty="0"/>
              <a:t>: </a:t>
            </a:r>
            <a:endParaRPr lang="en-US" altLang="zh-CN" dirty="0"/>
          </a:p>
          <a:p>
            <a:pPr lvl="1" eaLnBrk="1"/>
            <a:r>
              <a:rPr lang="zh-CN" altLang="en-US" dirty="0"/>
              <a:t>用一个</a:t>
            </a:r>
            <a:r>
              <a:rPr lang="en-US" altLang="zh-CN" dirty="0"/>
              <a:t>LAN</a:t>
            </a:r>
            <a:r>
              <a:rPr lang="zh-CN" altLang="en-US" dirty="0"/>
              <a:t>侧地址支持</a:t>
            </a:r>
            <a:r>
              <a:rPr lang="en-US" altLang="zh-CN" dirty="0"/>
              <a:t>60,000 </a:t>
            </a:r>
            <a:r>
              <a:rPr lang="zh-CN" altLang="en-US" dirty="0"/>
              <a:t>并行连接</a:t>
            </a:r>
            <a:r>
              <a:rPr lang="en-US" altLang="zh-CN" dirty="0"/>
              <a:t>!</a:t>
            </a:r>
            <a:endParaRPr lang="en-US" altLang="zh-CN" dirty="0"/>
          </a:p>
          <a:p>
            <a:pPr eaLnBrk="1"/>
            <a:r>
              <a:rPr lang="en-US" altLang="zh-CN" dirty="0"/>
              <a:t>NAT </a:t>
            </a:r>
            <a:r>
              <a:rPr lang="zh-CN" altLang="en-US" dirty="0"/>
              <a:t>引起争议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/>
            <a:r>
              <a:rPr lang="zh-CN" altLang="en-US" dirty="0"/>
              <a:t>路由器的处理上升为第</a:t>
            </a:r>
            <a:r>
              <a:rPr lang="en-US" altLang="zh-CN" dirty="0"/>
              <a:t>4</a:t>
            </a:r>
            <a:r>
              <a:rPr lang="zh-CN" altLang="en-US" dirty="0"/>
              <a:t>层（对端口进行了处理）</a:t>
            </a:r>
            <a:endParaRPr lang="en-US" altLang="zh-CN" dirty="0"/>
          </a:p>
          <a:p>
            <a:pPr lvl="1" eaLnBrk="1"/>
            <a:r>
              <a:rPr lang="zh-CN" altLang="en-US" dirty="0"/>
              <a:t>违反了端到端原则（复杂性放到网络边缘而非核心）</a:t>
            </a:r>
            <a:endParaRPr lang="en-US" altLang="zh-CN" dirty="0"/>
          </a:p>
          <a:p>
            <a:pPr lvl="2" eaLnBrk="1"/>
            <a:r>
              <a:rPr lang="zh-CN" altLang="en-US" dirty="0"/>
              <a:t>应用设计者必须要考虑 </a:t>
            </a:r>
            <a:r>
              <a:rPr lang="en-US" altLang="zh-CN" dirty="0"/>
              <a:t>NAT</a:t>
            </a:r>
            <a:r>
              <a:rPr lang="zh-CN" altLang="en-US" dirty="0"/>
              <a:t>可能性，如 </a:t>
            </a:r>
            <a:r>
              <a:rPr lang="en-US" altLang="zh-CN" dirty="0"/>
              <a:t>P2P</a:t>
            </a:r>
            <a:r>
              <a:rPr lang="zh-CN" altLang="en-US" dirty="0"/>
              <a:t>应用程序</a:t>
            </a:r>
            <a:endParaRPr lang="zh-CN" altLang="en-US" dirty="0"/>
          </a:p>
          <a:p>
            <a:pPr lvl="1" eaLnBrk="1"/>
            <a:r>
              <a:rPr lang="zh-CN" altLang="en-US" dirty="0"/>
              <a:t>地址短缺应当由</a:t>
            </a:r>
            <a:r>
              <a:rPr lang="en-US" altLang="zh-CN" dirty="0"/>
              <a:t>IPv6</a:t>
            </a:r>
            <a:r>
              <a:rPr lang="zh-CN" altLang="en-US" dirty="0"/>
              <a:t>来解决</a:t>
            </a:r>
            <a:endParaRPr lang="en-US" altLang="zh-CN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7347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734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57349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IPv4</a:t>
            </a:r>
            <a:r>
              <a:rPr lang="zh-CN" altLang="en-US" sz="2000" dirty="0">
                <a:latin typeface="+mn-lt"/>
                <a:ea typeface="+mn-ea"/>
              </a:rPr>
              <a:t>编址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NAT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solidFill>
                  <a:srgbClr val="FF0000"/>
                </a:solidFill>
                <a:latin typeface="+mn-lt"/>
                <a:ea typeface="+mn-ea"/>
              </a:rPr>
              <a:t>ICMP</a:t>
            </a:r>
            <a:endParaRPr lang="en-US" altLang="zh-CN" sz="2000" dirty="0">
              <a:solidFill>
                <a:srgbClr val="FF0000"/>
              </a:solidFill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IPv6</a:t>
            </a:r>
            <a:endParaRPr lang="en-US" altLang="zh-CN" sz="2000" dirty="0">
              <a:latin typeface="+mn-lt"/>
              <a:ea typeface="+mn-ea"/>
            </a:endParaRPr>
          </a:p>
        </p:txBody>
      </p:sp>
      <p:sp>
        <p:nvSpPr>
          <p:cNvPr id="57350" name="Rectangle 4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8371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8372" name="Rectangle 2"/>
          <p:cNvSpPr>
            <a:spLocks noGrp="1"/>
          </p:cNvSpPr>
          <p:nvPr>
            <p:ph type="title"/>
          </p:nvPr>
        </p:nvSpPr>
        <p:spPr>
          <a:xfrm>
            <a:off x="533400" y="228600"/>
            <a:ext cx="8124825" cy="1143000"/>
          </a:xfrm>
        </p:spPr>
        <p:txBody>
          <a:bodyPr vert="horz" wrap="square" lIns="91440" tIns="45720" rIns="91440" bIns="45720" anchor="ctr" anchorCtr="0"/>
          <a:p>
            <a:r>
              <a:rPr lang="en-US" altLang="zh-CN" sz="3600" dirty="0"/>
              <a:t>ICMP: </a:t>
            </a:r>
            <a:r>
              <a:rPr lang="zh-CN" altLang="en-US" sz="3600" dirty="0"/>
              <a:t>互联网控制报文协议</a:t>
            </a:r>
            <a:endParaRPr lang="zh-CN" altLang="en-US" sz="4400" dirty="0"/>
          </a:p>
        </p:txBody>
      </p:sp>
      <p:sp>
        <p:nvSpPr>
          <p:cNvPr id="58373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zh-CN" altLang="en-US" sz="2000" dirty="0">
                <a:latin typeface="+mn-lt"/>
                <a:ea typeface="+mn-ea"/>
                <a:cs typeface="+mn-cs"/>
              </a:rPr>
              <a:t>由主机和路由器用于网络级信息的通信</a:t>
            </a:r>
            <a:endParaRPr lang="zh-CN" altLang="en-US" sz="20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差错报告：不可达主机，网络，端口</a:t>
            </a:r>
            <a:r>
              <a:rPr lang="en-US" altLang="zh-CN" sz="2000" dirty="0">
                <a:latin typeface="+mn-lt"/>
                <a:ea typeface="+mn-ea"/>
              </a:rPr>
              <a:t>, </a:t>
            </a:r>
            <a:r>
              <a:rPr lang="zh-CN" altLang="en-US" sz="2000" dirty="0">
                <a:latin typeface="+mn-lt"/>
                <a:ea typeface="+mn-ea"/>
              </a:rPr>
              <a:t>协议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回声请求</a:t>
            </a:r>
            <a:r>
              <a:rPr lang="en-US" altLang="zh-CN" sz="2000" dirty="0">
                <a:latin typeface="+mn-lt"/>
                <a:ea typeface="+mn-ea"/>
              </a:rPr>
              <a:t>/</a:t>
            </a:r>
            <a:r>
              <a:rPr lang="zh-CN" altLang="en-US" sz="2000" dirty="0">
                <a:latin typeface="+mn-lt"/>
                <a:ea typeface="+mn-ea"/>
              </a:rPr>
              <a:t>回答</a:t>
            </a:r>
            <a:r>
              <a:rPr lang="en-US" altLang="zh-CN" sz="2000" dirty="0">
                <a:latin typeface="+mn-lt"/>
                <a:ea typeface="+mn-ea"/>
              </a:rPr>
              <a:t> (</a:t>
            </a:r>
            <a:r>
              <a:rPr lang="zh-CN" altLang="en-US" sz="2000" dirty="0">
                <a:latin typeface="+mn-lt"/>
                <a:ea typeface="+mn-ea"/>
              </a:rPr>
              <a:t>由 </a:t>
            </a:r>
            <a:r>
              <a:rPr lang="en-US" altLang="zh-CN" sz="2000" dirty="0">
                <a:latin typeface="+mn-lt"/>
                <a:ea typeface="+mn-ea"/>
              </a:rPr>
              <a:t>ping</a:t>
            </a:r>
            <a:r>
              <a:rPr lang="zh-CN" altLang="en-US" sz="2000" dirty="0">
                <a:latin typeface="+mn-lt"/>
                <a:ea typeface="+mn-ea"/>
              </a:rPr>
              <a:t>使用</a:t>
            </a:r>
            <a:r>
              <a:rPr lang="en-US" altLang="zh-CN" sz="2000" dirty="0">
                <a:latin typeface="+mn-lt"/>
                <a:ea typeface="+mn-ea"/>
              </a:rPr>
              <a:t>)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zh-CN" altLang="en-US" sz="2000" dirty="0">
                <a:latin typeface="+mn-lt"/>
                <a:ea typeface="+mn-ea"/>
                <a:cs typeface="+mn-cs"/>
              </a:rPr>
              <a:t>网络层 </a:t>
            </a:r>
            <a:r>
              <a:rPr lang="zh-CN" altLang="en-US" sz="2000" dirty="0">
                <a:latin typeface="Comic Sans MS" panose="030F0702030302020204" pitchFamily="66" charset="0"/>
                <a:ea typeface="+mn-ea"/>
                <a:cs typeface="+mn-cs"/>
              </a:rPr>
              <a:t>“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上面的</a:t>
            </a:r>
            <a:r>
              <a:rPr lang="zh-CN" altLang="en-US" sz="2000" dirty="0">
                <a:latin typeface="Comic Sans MS" panose="030F0702030302020204" pitchFamily="66" charset="0"/>
                <a:ea typeface="+mn-ea"/>
                <a:cs typeface="+mn-cs"/>
              </a:rPr>
              <a:t>”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 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IP:</a:t>
            </a:r>
            <a:endParaRPr lang="en-US" altLang="zh-CN" sz="20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 </a:t>
            </a:r>
            <a:r>
              <a:rPr lang="zh-CN" altLang="en-US" sz="2000" dirty="0">
                <a:latin typeface="+mn-lt"/>
                <a:ea typeface="+mn-ea"/>
              </a:rPr>
              <a:t>数据报中携带</a:t>
            </a:r>
            <a:r>
              <a:rPr lang="en-US" altLang="zh-CN" sz="2000" dirty="0">
                <a:latin typeface="+mn-lt"/>
                <a:ea typeface="+mn-ea"/>
              </a:rPr>
              <a:t>ICMP </a:t>
            </a:r>
            <a:r>
              <a:rPr lang="zh-CN" altLang="en-US" sz="2000" dirty="0">
                <a:latin typeface="+mn-lt"/>
                <a:ea typeface="+mn-ea"/>
              </a:rPr>
              <a:t>报文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ICMP</a:t>
            </a:r>
            <a:r>
              <a:rPr lang="zh-CN" altLang="en-US" sz="2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报文</a:t>
            </a:r>
            <a:r>
              <a:rPr lang="en-US" altLang="zh-CN" sz="2000" dirty="0">
                <a:solidFill>
                  <a:schemeClr val="accent2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 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类型、编码以及引起差错的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IP 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数据报 的前面 </a:t>
            </a:r>
            <a:r>
              <a:rPr lang="en-US" altLang="zh-CN" sz="2000" dirty="0">
                <a:latin typeface="+mn-lt"/>
                <a:ea typeface="+mn-ea"/>
                <a:cs typeface="+mn-cs"/>
              </a:rPr>
              <a:t>8 </a:t>
            </a:r>
            <a:r>
              <a:rPr lang="zh-CN" altLang="en-US" sz="2000" dirty="0">
                <a:latin typeface="+mn-lt"/>
                <a:ea typeface="+mn-ea"/>
                <a:cs typeface="+mn-cs"/>
              </a:rPr>
              <a:t>字节</a:t>
            </a:r>
            <a:endParaRPr lang="zh-CN" altLang="en-US" sz="2000" dirty="0">
              <a:latin typeface="+mn-lt"/>
              <a:ea typeface="+mn-ea"/>
              <a:cs typeface="+mn-cs"/>
            </a:endParaRPr>
          </a:p>
        </p:txBody>
      </p:sp>
      <p:sp>
        <p:nvSpPr>
          <p:cNvPr id="58374" name="Text Box 4"/>
          <p:cNvSpPr txBox="1"/>
          <p:nvPr/>
        </p:nvSpPr>
        <p:spPr>
          <a:xfrm>
            <a:off x="4584700" y="1760538"/>
            <a:ext cx="4318000" cy="4211637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u="sng" dirty="0">
                <a:latin typeface="Arial" panose="020B0604020202020204" pitchFamily="34" charset="0"/>
              </a:rPr>
              <a:t>类型</a:t>
            </a:r>
            <a:r>
              <a:rPr lang="zh-CN" altLang="en-US" dirty="0">
                <a:latin typeface="Arial" panose="020B0604020202020204" pitchFamily="34" charset="0"/>
              </a:rPr>
              <a:t>  </a:t>
            </a:r>
            <a:r>
              <a:rPr lang="zh-CN" altLang="en-US" u="sng" dirty="0">
                <a:latin typeface="Arial" panose="020B0604020202020204" pitchFamily="34" charset="0"/>
              </a:rPr>
              <a:t>编码</a:t>
            </a:r>
            <a:r>
              <a:rPr lang="zh-CN" altLang="en-US" dirty="0">
                <a:latin typeface="Arial" panose="020B0604020202020204" pitchFamily="34" charset="0"/>
              </a:rPr>
              <a:t>     </a:t>
            </a:r>
            <a:r>
              <a:rPr lang="zh-CN" altLang="en-US" u="sng" dirty="0">
                <a:latin typeface="Arial" panose="020B0604020202020204" pitchFamily="34" charset="0"/>
              </a:rPr>
              <a:t>描述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0        0         </a:t>
            </a:r>
            <a:r>
              <a:rPr lang="zh-CN" altLang="en-US" dirty="0">
                <a:latin typeface="Arial" panose="020B0604020202020204" pitchFamily="34" charset="0"/>
              </a:rPr>
              <a:t>回声回答 </a:t>
            </a:r>
            <a:r>
              <a:rPr lang="en-US" altLang="zh-CN" dirty="0">
                <a:latin typeface="Arial" panose="020B0604020202020204" pitchFamily="34" charset="0"/>
              </a:rPr>
              <a:t>(ping)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3        0         </a:t>
            </a:r>
            <a:r>
              <a:rPr lang="zh-CN" altLang="en-US" dirty="0">
                <a:latin typeface="Arial" panose="020B0604020202020204" pitchFamily="34" charset="0"/>
              </a:rPr>
              <a:t>目的网络不可达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3        1         </a:t>
            </a:r>
            <a:r>
              <a:rPr lang="zh-CN" altLang="en-US" dirty="0">
                <a:latin typeface="Arial" panose="020B0604020202020204" pitchFamily="34" charset="0"/>
              </a:rPr>
              <a:t>目的主机不可达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3        2         </a:t>
            </a:r>
            <a:r>
              <a:rPr lang="zh-CN" altLang="en-US" dirty="0">
                <a:latin typeface="Arial" panose="020B0604020202020204" pitchFamily="34" charset="0"/>
              </a:rPr>
              <a:t>目的协议不可达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3        3         </a:t>
            </a:r>
            <a:r>
              <a:rPr lang="zh-CN" altLang="en-US" dirty="0">
                <a:latin typeface="Arial" panose="020B0604020202020204" pitchFamily="34" charset="0"/>
              </a:rPr>
              <a:t>目的端口不可达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3        6         </a:t>
            </a:r>
            <a:r>
              <a:rPr lang="zh-CN" altLang="en-US" dirty="0">
                <a:latin typeface="Arial" panose="020B0604020202020204" pitchFamily="34" charset="0"/>
              </a:rPr>
              <a:t>目的网络未知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3        7         </a:t>
            </a:r>
            <a:r>
              <a:rPr lang="zh-CN" altLang="en-US" dirty="0">
                <a:latin typeface="Arial" panose="020B0604020202020204" pitchFamily="34" charset="0"/>
              </a:rPr>
              <a:t>目的主机未知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4        0         </a:t>
            </a:r>
            <a:r>
              <a:rPr lang="zh-CN" altLang="en-US" dirty="0">
                <a:latin typeface="Comic Sans MS" panose="030F0702030302020204" pitchFamily="66" charset="0"/>
              </a:rPr>
              <a:t>源抑制</a:t>
            </a:r>
            <a:r>
              <a:rPr lang="en-US" altLang="zh-CN" dirty="0">
                <a:latin typeface="Comic Sans MS" panose="030F0702030302020204" pitchFamily="66" charset="0"/>
              </a:rPr>
              <a:t>(</a:t>
            </a:r>
            <a:r>
              <a:rPr lang="zh-CN" altLang="en-US" dirty="0">
                <a:latin typeface="Comic Sans MS" panose="030F0702030302020204" pitchFamily="66" charset="0"/>
              </a:rPr>
              <a:t>拥塞控制</a:t>
            </a:r>
            <a:r>
              <a:rPr lang="en-US" altLang="zh-CN" dirty="0">
                <a:latin typeface="Comic Sans MS" panose="030F0702030302020204" pitchFamily="66" charset="0"/>
              </a:rPr>
              <a:t>—</a:t>
            </a:r>
            <a:r>
              <a:rPr lang="zh-CN" altLang="en-US" dirty="0">
                <a:latin typeface="Comic Sans MS" panose="030F0702030302020204" pitchFamily="66" charset="0"/>
              </a:rPr>
              <a:t>未使用）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8        0         </a:t>
            </a:r>
            <a:r>
              <a:rPr lang="zh-CN" altLang="en-US" dirty="0">
                <a:latin typeface="Arial" panose="020B0604020202020204" pitchFamily="34" charset="0"/>
              </a:rPr>
              <a:t>回声请求</a:t>
            </a:r>
            <a:r>
              <a:rPr lang="en-US" altLang="zh-CN" dirty="0">
                <a:latin typeface="Arial" panose="020B0604020202020204" pitchFamily="34" charset="0"/>
              </a:rPr>
              <a:t> (ping)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9        0         </a:t>
            </a:r>
            <a:r>
              <a:rPr lang="zh-CN" altLang="en-US" dirty="0">
                <a:latin typeface="Arial" panose="020B0604020202020204" pitchFamily="34" charset="0"/>
              </a:rPr>
              <a:t>路由通告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10      0         </a:t>
            </a:r>
            <a:r>
              <a:rPr lang="zh-CN" altLang="en-US" dirty="0">
                <a:latin typeface="Arial" panose="020B0604020202020204" pitchFamily="34" charset="0"/>
              </a:rPr>
              <a:t>路由器发现</a:t>
            </a:r>
            <a:endParaRPr lang="en-US" altLang="zh-CN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11      0         TTL</a:t>
            </a:r>
            <a:r>
              <a:rPr lang="zh-CN" altLang="en-US" dirty="0">
                <a:latin typeface="Arial" panose="020B0604020202020204" pitchFamily="34" charset="0"/>
              </a:rPr>
              <a:t>过期</a:t>
            </a:r>
            <a:endParaRPr lang="zh-CN" altLang="en-US" dirty="0">
              <a:latin typeface="Arial" panose="020B0604020202020204" pitchFamily="34" charset="0"/>
            </a:endParaRPr>
          </a:p>
          <a:p>
            <a:r>
              <a:rPr lang="en-US" altLang="zh-CN" dirty="0">
                <a:latin typeface="Arial" panose="020B0604020202020204" pitchFamily="34" charset="0"/>
              </a:rPr>
              <a:t>12      0         </a:t>
            </a:r>
            <a:r>
              <a:rPr lang="zh-CN" altLang="en-US" dirty="0">
                <a:latin typeface="Arial" panose="020B0604020202020204" pitchFamily="34" charset="0"/>
              </a:rPr>
              <a:t>坏的</a:t>
            </a:r>
            <a:r>
              <a:rPr lang="en-US" altLang="zh-CN" dirty="0">
                <a:latin typeface="Arial" panose="020B0604020202020204" pitchFamily="34" charset="0"/>
              </a:rPr>
              <a:t>IP</a:t>
            </a:r>
            <a:r>
              <a:rPr lang="zh-CN" altLang="en-US" dirty="0">
                <a:latin typeface="Arial" panose="020B0604020202020204" pitchFamily="34" charset="0"/>
              </a:rPr>
              <a:t>首部</a:t>
            </a:r>
            <a:endParaRPr lang="zh-CN" altLang="en-US" dirty="0">
              <a:latin typeface="Arial" panose="020B0604020202020204" pitchFamily="34" charset="0"/>
            </a:endParaRPr>
          </a:p>
          <a:p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59395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939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Traceroute</a:t>
            </a:r>
            <a:r>
              <a:rPr lang="zh-CN" altLang="en-US" dirty="0"/>
              <a:t>和</a:t>
            </a:r>
            <a:r>
              <a:rPr lang="en-US" altLang="zh-CN" dirty="0"/>
              <a:t>ICMP</a:t>
            </a:r>
            <a:endParaRPr lang="en-US" altLang="zh-CN" dirty="0"/>
          </a:p>
        </p:txBody>
      </p:sp>
      <p:sp>
        <p:nvSpPr>
          <p:cNvPr id="59397" name="Rectangle 3"/>
          <p:cNvSpPr>
            <a:spLocks noGrp="1"/>
          </p:cNvSpPr>
          <p:nvPr>
            <p:ph sz="half" idx="1"/>
          </p:nvPr>
        </p:nvSpPr>
        <p:spPr/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源向目的地发送一系列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UDP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第一个 </a:t>
            </a:r>
            <a:r>
              <a:rPr lang="en-US" altLang="zh-CN" sz="2000" dirty="0">
                <a:latin typeface="+mn-lt"/>
                <a:ea typeface="+mn-ea"/>
              </a:rPr>
              <a:t>TTL =1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第二个 </a:t>
            </a:r>
            <a:r>
              <a:rPr lang="en-US" altLang="zh-CN" sz="2000" dirty="0">
                <a:latin typeface="+mn-lt"/>
                <a:ea typeface="+mn-ea"/>
              </a:rPr>
              <a:t>TTL=2, </a:t>
            </a:r>
            <a:r>
              <a:rPr lang="zh-CN" altLang="en-US" sz="2000" dirty="0">
                <a:latin typeface="+mn-lt"/>
                <a:ea typeface="+mn-ea"/>
              </a:rPr>
              <a:t>等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不可能的端口号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当第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n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个数据报 到达第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n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和路由器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: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路由器丢弃数据报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并向源发送一个</a:t>
            </a:r>
            <a:r>
              <a:rPr lang="en-US" altLang="zh-CN" sz="2000" dirty="0">
                <a:latin typeface="+mn-lt"/>
                <a:ea typeface="+mn-ea"/>
              </a:rPr>
              <a:t>ICMP</a:t>
            </a:r>
            <a:r>
              <a:rPr lang="zh-CN" altLang="en-US" sz="2000" dirty="0">
                <a:latin typeface="+mn-lt"/>
                <a:ea typeface="+mn-ea"/>
              </a:rPr>
              <a:t>报文</a:t>
            </a:r>
            <a:r>
              <a:rPr lang="en-US" altLang="zh-CN" sz="2000" dirty="0">
                <a:latin typeface="+mn-lt"/>
                <a:ea typeface="+mn-ea"/>
              </a:rPr>
              <a:t> (</a:t>
            </a:r>
            <a:r>
              <a:rPr lang="zh-CN" altLang="en-US" sz="2000" dirty="0">
                <a:latin typeface="+mn-lt"/>
                <a:ea typeface="+mn-ea"/>
              </a:rPr>
              <a:t>类型 </a:t>
            </a:r>
            <a:r>
              <a:rPr lang="en-US" altLang="zh-CN" sz="2000" dirty="0">
                <a:latin typeface="+mn-lt"/>
                <a:ea typeface="+mn-ea"/>
              </a:rPr>
              <a:t>11, </a:t>
            </a:r>
            <a:r>
              <a:rPr lang="zh-CN" altLang="en-US" sz="2000" dirty="0">
                <a:latin typeface="+mn-lt"/>
                <a:ea typeface="+mn-ea"/>
              </a:rPr>
              <a:t>编码</a:t>
            </a:r>
            <a:r>
              <a:rPr lang="en-US" altLang="zh-CN" sz="2000" dirty="0">
                <a:latin typeface="+mn-lt"/>
                <a:ea typeface="+mn-ea"/>
              </a:rPr>
              <a:t>0)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报文包括路由器的名字和</a:t>
            </a:r>
            <a:r>
              <a:rPr lang="en-US" altLang="zh-CN" sz="2000" dirty="0">
                <a:latin typeface="+mn-lt"/>
                <a:ea typeface="+mn-ea"/>
              </a:rPr>
              <a:t>IP</a:t>
            </a:r>
            <a:r>
              <a:rPr lang="zh-CN" altLang="en-US" sz="2000" dirty="0">
                <a:latin typeface="+mn-lt"/>
                <a:ea typeface="+mn-ea"/>
              </a:rPr>
              <a:t>地址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59398" name="Rectangle 4"/>
          <p:cNvSpPr>
            <a:spLocks noGrp="1"/>
          </p:cNvSpPr>
          <p:nvPr>
            <p:ph sz="half" idx="2"/>
          </p:nvPr>
        </p:nvSpPr>
        <p:spPr/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当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ICMP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报文到达，源计算 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RTT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Traceroute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执行上述过程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3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次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  <a:buFont typeface="ZapfDingbats" pitchFamily="82" charset="2"/>
              <a:buNone/>
            </a:pPr>
            <a:r>
              <a:rPr lang="zh-CN" altLang="en-US" sz="2400" u="sng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停止规则</a:t>
            </a:r>
            <a:endParaRPr lang="en-US" altLang="zh-CN" sz="2400" u="sng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UDP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段最终到达目的地主机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目的地返回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ICMP </a:t>
            </a:r>
            <a:r>
              <a:rPr lang="en-US" altLang="zh-CN" sz="2400" dirty="0">
                <a:latin typeface="Comic Sans MS" panose="030F0702030302020204" pitchFamily="66" charset="0"/>
                <a:ea typeface="+mn-ea"/>
                <a:cs typeface="+mn-cs"/>
              </a:rPr>
              <a:t>“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主机不可达</a:t>
            </a:r>
            <a:r>
              <a:rPr lang="zh-CN" altLang="en-US" sz="2400" dirty="0">
                <a:latin typeface="Comic Sans MS" panose="030F0702030302020204" pitchFamily="66" charset="0"/>
                <a:ea typeface="+mn-ea"/>
                <a:cs typeface="+mn-cs"/>
              </a:rPr>
              <a:t>”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分组 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(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类型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3,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编码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3)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zh-CN" altLang="en-US" sz="2400" dirty="0">
                <a:latin typeface="+mn-lt"/>
                <a:ea typeface="+mn-ea"/>
                <a:cs typeface="+mn-cs"/>
              </a:rPr>
              <a:t>当源得到该</a:t>
            </a:r>
            <a:r>
              <a:rPr lang="en-US" altLang="zh-CN" sz="2400" dirty="0">
                <a:latin typeface="+mn-lt"/>
                <a:ea typeface="+mn-ea"/>
                <a:cs typeface="+mn-cs"/>
              </a:rPr>
              <a:t>ICMP,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停止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5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0419" name="灯片编号占位符 6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042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第</a:t>
            </a:r>
            <a:r>
              <a:rPr lang="en-US" altLang="zh-CN" dirty="0"/>
              <a:t>4</a:t>
            </a:r>
            <a:r>
              <a:rPr lang="zh-CN" altLang="en-US" dirty="0"/>
              <a:t>章</a:t>
            </a:r>
            <a:r>
              <a:rPr lang="en-US" altLang="zh-CN" dirty="0"/>
              <a:t>  </a:t>
            </a:r>
            <a:r>
              <a:rPr lang="zh-CN" altLang="en-US" dirty="0"/>
              <a:t>网络层</a:t>
            </a:r>
            <a:endParaRPr lang="zh-CN" altLang="en-US" dirty="0"/>
          </a:p>
        </p:txBody>
      </p:sp>
      <p:sp>
        <p:nvSpPr>
          <p:cNvPr id="60421" name="Rectangle 3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51763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4. 1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概述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4.2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虚电路和数据报网络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4.3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路由器的构成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4.4 IP: </a:t>
            </a:r>
            <a:r>
              <a:rPr lang="zh-CN" altLang="en-US" sz="2400" dirty="0">
                <a:solidFill>
                  <a:srgbClr val="FF0000"/>
                </a:solidFill>
                <a:latin typeface="+mn-lt"/>
                <a:ea typeface="+mn-ea"/>
                <a:cs typeface="+mn-cs"/>
              </a:rPr>
              <a:t>网际协议</a:t>
            </a:r>
            <a:endParaRPr lang="zh-CN" altLang="en-US" sz="2400" dirty="0">
              <a:solidFill>
                <a:srgbClr val="FF0000"/>
              </a:solidFill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数据报格式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IPv4</a:t>
            </a:r>
            <a:r>
              <a:rPr lang="zh-CN" altLang="en-US" sz="2000" dirty="0">
                <a:latin typeface="+mn-lt"/>
                <a:ea typeface="+mn-ea"/>
              </a:rPr>
              <a:t>编址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NAT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ICMP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solidFill>
                  <a:srgbClr val="FF0000"/>
                </a:solidFill>
                <a:latin typeface="+mn-lt"/>
                <a:ea typeface="+mn-ea"/>
              </a:rPr>
              <a:t>IPv6</a:t>
            </a:r>
            <a:endParaRPr lang="en-US" altLang="zh-CN" sz="2000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60422" name="Rectangle 4"/>
          <p:cNvSpPr>
            <a:spLocks noGrp="1"/>
          </p:cNvSpPr>
          <p:nvPr>
            <p:ph sz="half" idx="2"/>
          </p:nvPr>
        </p:nvSpPr>
        <p:spPr>
          <a:xfrm>
            <a:off x="4598988" y="1568450"/>
            <a:ext cx="3503612" cy="4648200"/>
          </a:xfrm>
        </p:spPr>
        <p:txBody>
          <a:bodyPr vert="horz" wrap="square" lIns="91440" tIns="45720" rIns="91440" bIns="45720" anchor="t" anchorCtr="0"/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4.5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选路概念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4.6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选路算法</a:t>
            </a:r>
            <a:endParaRPr lang="zh-CN" altLang="en-US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链路状态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距离矢量</a:t>
            </a:r>
            <a:endParaRPr lang="zh-CN" altLang="en-US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zh-CN" altLang="en-US" sz="2000" dirty="0">
                <a:latin typeface="+mn-lt"/>
                <a:ea typeface="+mn-ea"/>
              </a:rPr>
              <a:t>等级选路</a:t>
            </a:r>
            <a:endParaRPr lang="zh-CN" altLang="en-US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4.7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互联网中选路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RIP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OSPF</a:t>
            </a:r>
            <a:endParaRPr lang="en-US" altLang="zh-CN" sz="2000" dirty="0">
              <a:latin typeface="+mn-lt"/>
              <a:ea typeface="+mn-ea"/>
            </a:endParaRPr>
          </a:p>
          <a:p>
            <a:pPr lvl="1" eaLnBrk="1">
              <a:buSzPct val="75000"/>
            </a:pPr>
            <a:r>
              <a:rPr lang="en-US" altLang="zh-CN" sz="2000" dirty="0">
                <a:latin typeface="+mn-lt"/>
                <a:ea typeface="+mn-ea"/>
              </a:rPr>
              <a:t>BGP</a:t>
            </a:r>
            <a:endParaRPr lang="en-US" altLang="zh-CN" sz="2000" dirty="0">
              <a:latin typeface="+mn-lt"/>
              <a:ea typeface="+mn-ea"/>
            </a:endParaRPr>
          </a:p>
          <a:p>
            <a:pPr eaLnBrk="1">
              <a:buSzPct val="85000"/>
            </a:pPr>
            <a:r>
              <a:rPr lang="en-US" altLang="zh-CN" sz="2400" dirty="0">
                <a:latin typeface="+mn-lt"/>
                <a:ea typeface="+mn-ea"/>
                <a:cs typeface="+mn-cs"/>
              </a:rPr>
              <a:t>4.8 </a:t>
            </a:r>
            <a:r>
              <a:rPr lang="zh-CN" altLang="en-US" sz="2400" dirty="0">
                <a:latin typeface="+mn-lt"/>
                <a:ea typeface="+mn-ea"/>
                <a:cs typeface="+mn-cs"/>
              </a:rPr>
              <a:t>广播和多播选路</a:t>
            </a:r>
            <a:endParaRPr lang="en-US" altLang="zh-CN" sz="2400" dirty="0"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1443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1444" name="Rectangle 2"/>
          <p:cNvSpPr>
            <a:spLocks noGrp="1"/>
          </p:cNvSpPr>
          <p:nvPr>
            <p:ph type="title"/>
          </p:nvPr>
        </p:nvSpPr>
        <p:spPr>
          <a:xfrm>
            <a:off x="685800" y="422275"/>
            <a:ext cx="7772400" cy="838200"/>
          </a:xfrm>
        </p:spPr>
        <p:txBody>
          <a:bodyPr vert="horz" wrap="square" lIns="91440" tIns="45720" rIns="91440" bIns="45720" anchor="ctr" anchorCtr="0"/>
          <a:p>
            <a:r>
              <a:rPr lang="en-US" altLang="zh-CN" dirty="0"/>
              <a:t>IPv6</a:t>
            </a:r>
            <a:endParaRPr lang="en-US" altLang="zh-CN" dirty="0"/>
          </a:p>
        </p:txBody>
      </p:sp>
      <p:sp>
        <p:nvSpPr>
          <p:cNvPr id="61445" name="Rectangle 3"/>
          <p:cNvSpPr>
            <a:spLocks noGrp="1"/>
          </p:cNvSpPr>
          <p:nvPr>
            <p:ph idx="1"/>
          </p:nvPr>
        </p:nvSpPr>
        <p:spPr>
          <a:xfrm>
            <a:off x="511175" y="1401763"/>
            <a:ext cx="8205788" cy="5105400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dirty="0">
                <a:solidFill>
                  <a:srgbClr val="FF0000"/>
                </a:solidFill>
              </a:rPr>
              <a:t>初始动机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 </a:t>
            </a:r>
            <a:r>
              <a:rPr lang="en-US" altLang="zh-CN" dirty="0"/>
              <a:t>32-bit</a:t>
            </a:r>
            <a:r>
              <a:rPr lang="zh-CN" altLang="en-US" dirty="0"/>
              <a:t>地址空间很快将会被完全分配完</a:t>
            </a:r>
            <a:endParaRPr lang="en-US" altLang="zh-CN" dirty="0"/>
          </a:p>
          <a:p>
            <a:pPr eaLnBrk="1"/>
            <a:r>
              <a:rPr lang="zh-CN" altLang="en-US" dirty="0"/>
              <a:t>附加的动机</a:t>
            </a:r>
            <a:r>
              <a:rPr lang="en-US" altLang="zh-CN" dirty="0"/>
              <a:t>:</a:t>
            </a:r>
            <a:endParaRPr lang="en-US" altLang="zh-CN" dirty="0"/>
          </a:p>
          <a:p>
            <a:pPr lvl="1" eaLnBrk="1"/>
            <a:r>
              <a:rPr lang="zh-CN" altLang="en-US" dirty="0"/>
              <a:t>首部格式帮助速率处理</a:t>
            </a:r>
            <a:r>
              <a:rPr lang="en-US" altLang="zh-CN" dirty="0"/>
              <a:t>/</a:t>
            </a:r>
            <a:r>
              <a:rPr lang="zh-CN" altLang="en-US" dirty="0"/>
              <a:t>转发</a:t>
            </a:r>
            <a:endParaRPr lang="zh-CN" altLang="en-US" dirty="0"/>
          </a:p>
          <a:p>
            <a:pPr lvl="1" eaLnBrk="1"/>
            <a:r>
              <a:rPr lang="zh-CN" altLang="en-US" dirty="0"/>
              <a:t>首部变化以促进</a:t>
            </a:r>
            <a:r>
              <a:rPr lang="en-US" altLang="zh-CN" dirty="0"/>
              <a:t>QoS </a:t>
            </a:r>
            <a:endParaRPr lang="en-US" altLang="zh-CN" dirty="0"/>
          </a:p>
          <a:p>
            <a:pPr lvl="1" eaLnBrk="1">
              <a:buNone/>
            </a:pPr>
            <a:r>
              <a:rPr lang="en-US" altLang="zh-CN" dirty="0">
                <a:solidFill>
                  <a:srgbClr val="FF0000"/>
                </a:solidFill>
              </a:rPr>
              <a:t>IPv6 </a:t>
            </a:r>
            <a:r>
              <a:rPr lang="zh-CN" altLang="en-US" dirty="0">
                <a:solidFill>
                  <a:srgbClr val="FF0000"/>
                </a:solidFill>
              </a:rPr>
              <a:t>数据报格式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endParaRPr lang="en-US" altLang="zh-CN" dirty="0"/>
          </a:p>
          <a:p>
            <a:pPr lvl="1" eaLnBrk="1"/>
            <a:r>
              <a:rPr lang="zh-CN" altLang="en-US" dirty="0"/>
              <a:t>固定长度 </a:t>
            </a:r>
            <a:r>
              <a:rPr lang="en-US" altLang="zh-CN" dirty="0"/>
              <a:t>40 </a:t>
            </a:r>
            <a:r>
              <a:rPr lang="zh-CN" altLang="en-US" dirty="0"/>
              <a:t>字节首部</a:t>
            </a:r>
            <a:endParaRPr lang="zh-CN" altLang="en-US" dirty="0"/>
          </a:p>
          <a:p>
            <a:pPr lvl="1" eaLnBrk="1"/>
            <a:r>
              <a:rPr lang="zh-CN" altLang="en-US" dirty="0"/>
              <a:t>不允许分段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246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246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en-US" altLang="zh-CN" dirty="0"/>
              <a:t>IPv6</a:t>
            </a:r>
            <a:r>
              <a:rPr lang="zh-CN" altLang="en-US" dirty="0"/>
              <a:t>首部</a:t>
            </a:r>
            <a:r>
              <a:rPr lang="en-US" altLang="zh-CN" dirty="0"/>
              <a:t>(</a:t>
            </a:r>
            <a:r>
              <a:rPr lang="zh-CN" altLang="en-US" dirty="0"/>
              <a:t>续</a:t>
            </a:r>
            <a:r>
              <a:rPr lang="en-US" altLang="zh-CN" dirty="0"/>
              <a:t>)</a:t>
            </a:r>
            <a:endParaRPr lang="en-US" altLang="zh-CN" dirty="0"/>
          </a:p>
        </p:txBody>
      </p:sp>
      <p:pic>
        <p:nvPicPr>
          <p:cNvPr id="62469" name="Picture 3" descr="471 ipv6 header forma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575" y="3022600"/>
            <a:ext cx="4865688" cy="3279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2470" name="Rectangle 4"/>
          <p:cNvSpPr/>
          <p:nvPr/>
        </p:nvSpPr>
        <p:spPr>
          <a:xfrm>
            <a:off x="479425" y="1358900"/>
            <a:ext cx="8229600" cy="11874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优先级 </a:t>
            </a:r>
            <a:r>
              <a:rPr lang="en-US" altLang="zh-CN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: </a:t>
            </a:r>
            <a:r>
              <a:rPr lang="zh-CN" altLang="en-US" sz="2400" dirty="0">
                <a:latin typeface="Comic Sans MS" panose="030F0702030302020204" pitchFamily="66" charset="0"/>
              </a:rPr>
              <a:t>标识特殊流的分组优先权</a:t>
            </a:r>
            <a:endParaRPr lang="en-US" altLang="zh-CN" sz="2400" dirty="0">
              <a:latin typeface="Comic Sans MS" panose="030F0702030302020204" pitchFamily="66" charset="0"/>
            </a:endParaRPr>
          </a:p>
          <a:p>
            <a:r>
              <a:rPr lang="zh-CN" altLang="en-US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流标签</a:t>
            </a:r>
            <a:r>
              <a:rPr lang="en-US" altLang="zh-CN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US" altLang="zh-CN" sz="2400" dirty="0">
                <a:latin typeface="Comic Sans MS" panose="030F0702030302020204" pitchFamily="66" charset="0"/>
              </a:rPr>
              <a:t> </a:t>
            </a:r>
            <a:r>
              <a:rPr lang="zh-CN" altLang="en-US" sz="2400" dirty="0">
                <a:latin typeface="Comic Sans MS" panose="030F0702030302020204" pitchFamily="66" charset="0"/>
              </a:rPr>
              <a:t>标识在相同“流”中的</a:t>
            </a:r>
            <a:r>
              <a:rPr lang="en-US" altLang="zh-CN" sz="2400" dirty="0">
                <a:latin typeface="Comic Sans MS" panose="030F0702030302020204" pitchFamily="66" charset="0"/>
              </a:rPr>
              <a:t>i</a:t>
            </a:r>
            <a:r>
              <a:rPr lang="zh-CN" altLang="en-US" sz="2400" dirty="0">
                <a:latin typeface="Comic Sans MS" panose="030F0702030302020204" pitchFamily="66" charset="0"/>
              </a:rPr>
              <a:t>数据报</a:t>
            </a:r>
            <a:r>
              <a:rPr lang="en-US" altLang="zh-CN" sz="2400" dirty="0">
                <a:latin typeface="Comic Sans MS" panose="030F0702030302020204" pitchFamily="66" charset="0"/>
              </a:rPr>
              <a:t>(</a:t>
            </a:r>
            <a:r>
              <a:rPr lang="zh-CN" altLang="en-US" sz="2400" dirty="0">
                <a:latin typeface="Comic Sans MS" panose="030F0702030302020204" pitchFamily="66" charset="0"/>
              </a:rPr>
              <a:t>流的概念没有很好定义</a:t>
            </a:r>
            <a:r>
              <a:rPr lang="en-US" altLang="zh-CN" sz="2400" dirty="0">
                <a:latin typeface="Comic Sans MS" panose="030F0702030302020204" pitchFamily="66" charset="0"/>
              </a:rPr>
              <a:t>)</a:t>
            </a:r>
            <a:endParaRPr lang="en-US" altLang="zh-CN" sz="2400" dirty="0">
              <a:latin typeface="Comic Sans MS" panose="030F0702030302020204" pitchFamily="66" charset="0"/>
            </a:endParaRPr>
          </a:p>
          <a:p>
            <a:r>
              <a:rPr lang="zh-CN" altLang="en-US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下一个首部</a:t>
            </a:r>
            <a:r>
              <a:rPr lang="en-US" altLang="zh-CN" sz="2400" i="1" dirty="0">
                <a:solidFill>
                  <a:srgbClr val="FF0000"/>
                </a:solidFill>
                <a:latin typeface="Comic Sans MS" panose="030F0702030302020204" pitchFamily="66" charset="0"/>
              </a:rPr>
              <a:t>:</a:t>
            </a:r>
            <a:r>
              <a:rPr lang="en-US" altLang="zh-CN" sz="2400" dirty="0">
                <a:latin typeface="Comic Sans MS" panose="030F0702030302020204" pitchFamily="66" charset="0"/>
              </a:rPr>
              <a:t> </a:t>
            </a:r>
            <a:r>
              <a:rPr lang="zh-CN" altLang="en-US" sz="2400" dirty="0">
                <a:latin typeface="Comic Sans MS" panose="030F0702030302020204" pitchFamily="66" charset="0"/>
              </a:rPr>
              <a:t>标识数据的上层协议</a:t>
            </a:r>
            <a:endParaRPr lang="en-US" altLang="zh-CN" sz="2400" dirty="0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3491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349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与</a:t>
            </a:r>
            <a:r>
              <a:rPr lang="en-US" altLang="zh-CN" dirty="0"/>
              <a:t>IPv4</a:t>
            </a:r>
            <a:r>
              <a:rPr lang="zh-CN" altLang="en-US" dirty="0"/>
              <a:t>相比的其他变化</a:t>
            </a:r>
            <a:endParaRPr lang="en-US" altLang="zh-CN" dirty="0"/>
          </a:p>
        </p:txBody>
      </p:sp>
      <p:sp>
        <p:nvSpPr>
          <p:cNvPr id="63493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eaLnBrk="1"/>
            <a:r>
              <a:rPr lang="zh-CN" altLang="en-US" i="1" dirty="0">
                <a:solidFill>
                  <a:srgbClr val="FF0000"/>
                </a:solidFill>
              </a:rPr>
              <a:t>检查和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r>
              <a:rPr lang="en-US" altLang="zh-CN" i="1" dirty="0"/>
              <a:t> </a:t>
            </a:r>
            <a:r>
              <a:rPr lang="zh-CN" altLang="en-US" dirty="0"/>
              <a:t>完全去除以减小每跳的处理时间</a:t>
            </a:r>
            <a:endParaRPr lang="en-US" altLang="zh-CN" dirty="0"/>
          </a:p>
          <a:p>
            <a:pPr eaLnBrk="1"/>
            <a:r>
              <a:rPr lang="zh-CN" altLang="en-US" i="1" dirty="0">
                <a:solidFill>
                  <a:srgbClr val="FF0000"/>
                </a:solidFill>
              </a:rPr>
              <a:t>选项</a:t>
            </a:r>
            <a:r>
              <a:rPr lang="en-US" altLang="zh-CN" i="1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允许，但在首部之外，由</a:t>
            </a:r>
            <a:r>
              <a:rPr lang="zh-CN" altLang="en-US" dirty="0">
                <a:latin typeface="Comic Sans MS" panose="030F0702030302020204" pitchFamily="66" charset="0"/>
              </a:rPr>
              <a:t>“</a:t>
            </a:r>
            <a:r>
              <a:rPr lang="zh-CN" altLang="en-US" dirty="0"/>
              <a:t>下一个首部</a:t>
            </a:r>
            <a:r>
              <a:rPr lang="zh-CN" altLang="en-US" dirty="0">
                <a:latin typeface="Comic Sans MS" panose="030F0702030302020204" pitchFamily="66" charset="0"/>
              </a:rPr>
              <a:t>”</a:t>
            </a:r>
            <a:r>
              <a:rPr lang="zh-CN" altLang="en-US" dirty="0"/>
              <a:t>字段指示</a:t>
            </a:r>
            <a:endParaRPr lang="en-US" altLang="zh-CN" dirty="0"/>
          </a:p>
          <a:p>
            <a:pPr eaLnBrk="1"/>
            <a:r>
              <a:rPr lang="en-US" altLang="zh-CN" i="1" dirty="0">
                <a:solidFill>
                  <a:srgbClr val="FF0000"/>
                </a:solidFill>
              </a:rPr>
              <a:t>ICMPv6:</a:t>
            </a:r>
            <a:r>
              <a:rPr lang="en-US" altLang="zh-CN" dirty="0"/>
              <a:t> </a:t>
            </a:r>
            <a:r>
              <a:rPr lang="zh-CN" altLang="en-US" dirty="0"/>
              <a:t>新版本的 </a:t>
            </a:r>
            <a:r>
              <a:rPr lang="en-US" altLang="zh-CN" dirty="0"/>
              <a:t>ICMP</a:t>
            </a:r>
            <a:endParaRPr lang="en-US" altLang="zh-CN" dirty="0"/>
          </a:p>
          <a:p>
            <a:pPr lvl="1" eaLnBrk="1"/>
            <a:r>
              <a:rPr lang="zh-CN" altLang="en-US" dirty="0"/>
              <a:t>附加的报文类型，如</a:t>
            </a:r>
            <a:r>
              <a:rPr lang="en-US" altLang="zh-CN" dirty="0"/>
              <a:t> </a:t>
            </a:r>
            <a:r>
              <a:rPr lang="en-US" altLang="zh-CN" dirty="0">
                <a:latin typeface="Comic Sans MS" panose="030F0702030302020204" pitchFamily="66" charset="0"/>
              </a:rPr>
              <a:t>“</a:t>
            </a:r>
            <a:r>
              <a:rPr lang="zh-CN" altLang="en-US" dirty="0"/>
              <a:t>分组太大</a:t>
            </a:r>
            <a:r>
              <a:rPr lang="en-US" altLang="zh-CN" dirty="0">
                <a:latin typeface="Comic Sans MS" panose="030F0702030302020204" pitchFamily="66" charset="0"/>
              </a:rPr>
              <a:t>”</a:t>
            </a:r>
            <a:endParaRPr lang="en-US" altLang="zh-CN" dirty="0"/>
          </a:p>
          <a:p>
            <a:pPr lvl="1" eaLnBrk="1"/>
            <a:r>
              <a:rPr lang="zh-CN" altLang="en-US" dirty="0"/>
              <a:t>多播组管理功能</a:t>
            </a:r>
            <a:endParaRPr lang="en-US" altLang="zh-CN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4515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451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r>
              <a:rPr lang="zh-CN" altLang="en-US" dirty="0"/>
              <a:t>从 </a:t>
            </a:r>
            <a:r>
              <a:rPr lang="en-US" altLang="zh-CN" dirty="0"/>
              <a:t>IPv4</a:t>
            </a:r>
            <a:r>
              <a:rPr lang="zh-CN" altLang="en-US" dirty="0"/>
              <a:t>到</a:t>
            </a:r>
            <a:r>
              <a:rPr lang="en-US" altLang="zh-CN" dirty="0"/>
              <a:t>IPv6</a:t>
            </a:r>
            <a:r>
              <a:rPr lang="zh-CN" altLang="en-US" dirty="0"/>
              <a:t>的迁移</a:t>
            </a:r>
            <a:endParaRPr lang="zh-CN" altLang="en-US" dirty="0"/>
          </a:p>
        </p:txBody>
      </p:sp>
      <p:sp>
        <p:nvSpPr>
          <p:cNvPr id="64517" name="Rectangle 3"/>
          <p:cNvSpPr>
            <a:spLocks noGrp="1"/>
          </p:cNvSpPr>
          <p:nvPr>
            <p:ph idx="1"/>
          </p:nvPr>
        </p:nvSpPr>
        <p:spPr>
          <a:xfrm>
            <a:off x="533400" y="1600200"/>
            <a:ext cx="8256588" cy="4238625"/>
          </a:xfrm>
        </p:spPr>
        <p:txBody>
          <a:bodyPr vert="horz" wrap="square" lIns="91440" tIns="45720" rIns="91440" bIns="45720" anchor="t" anchorCtr="0"/>
          <a:p>
            <a:pPr eaLnBrk="1"/>
            <a:r>
              <a:rPr lang="zh-CN" altLang="en-US" dirty="0"/>
              <a:t>并非所有的路由器能被同时更新</a:t>
            </a:r>
            <a:endParaRPr lang="en-US" altLang="zh-CN" dirty="0"/>
          </a:p>
          <a:p>
            <a:pPr lvl="1" eaLnBrk="1"/>
            <a:r>
              <a:rPr lang="zh-CN" altLang="en-US" dirty="0"/>
              <a:t>无</a:t>
            </a:r>
            <a:r>
              <a:rPr lang="en-US" altLang="zh-CN" dirty="0">
                <a:latin typeface="Comic Sans MS" panose="030F0702030302020204" pitchFamily="66" charset="0"/>
              </a:rPr>
              <a:t>“</a:t>
            </a:r>
            <a:r>
              <a:rPr lang="zh-CN" altLang="en-US" dirty="0"/>
              <a:t>标志日 </a:t>
            </a:r>
            <a:r>
              <a:rPr lang="en-US" altLang="zh-CN" dirty="0">
                <a:latin typeface="Comic Sans MS" panose="030F0702030302020204" pitchFamily="66" charset="0"/>
              </a:rPr>
              <a:t>”</a:t>
            </a:r>
            <a:endParaRPr lang="en-US" altLang="zh-CN" dirty="0"/>
          </a:p>
          <a:p>
            <a:pPr lvl="1" eaLnBrk="1"/>
            <a:r>
              <a:rPr lang="en-US" altLang="zh-CN" dirty="0"/>
              <a:t>IPv4</a:t>
            </a:r>
            <a:r>
              <a:rPr lang="zh-CN" altLang="en-US" dirty="0"/>
              <a:t>和</a:t>
            </a:r>
            <a:r>
              <a:rPr lang="en-US" altLang="zh-CN" dirty="0"/>
              <a:t>IPv6</a:t>
            </a:r>
            <a:r>
              <a:rPr lang="zh-CN" altLang="en-US" dirty="0"/>
              <a:t>路由器混合将如何运行</a:t>
            </a:r>
            <a:r>
              <a:rPr lang="en-US" altLang="zh-CN" dirty="0"/>
              <a:t>? </a:t>
            </a:r>
            <a:endParaRPr lang="en-US" altLang="zh-CN" dirty="0"/>
          </a:p>
          <a:p>
            <a:pPr eaLnBrk="1"/>
            <a:r>
              <a:rPr lang="zh-CN" altLang="en-US" i="1" dirty="0">
                <a:solidFill>
                  <a:srgbClr val="FF0000"/>
                </a:solidFill>
              </a:rPr>
              <a:t>隧道</a:t>
            </a:r>
            <a:r>
              <a:rPr lang="en-US" altLang="zh-CN" i="1" dirty="0">
                <a:solidFill>
                  <a:srgbClr val="FF0000"/>
                </a:solidFill>
              </a:rPr>
              <a:t>:</a:t>
            </a:r>
            <a:r>
              <a:rPr lang="en-US" altLang="zh-CN" dirty="0"/>
              <a:t> </a:t>
            </a:r>
            <a:r>
              <a:rPr lang="zh-CN" altLang="en-US" dirty="0"/>
              <a:t>在</a:t>
            </a:r>
            <a:r>
              <a:rPr lang="en-US" altLang="zh-CN" dirty="0"/>
              <a:t>IPv</a:t>
            </a:r>
            <a:r>
              <a:rPr lang="zh-CN" altLang="en-US" dirty="0"/>
              <a:t>路由器之间</a:t>
            </a:r>
            <a:r>
              <a:rPr lang="en-US" altLang="zh-CN" dirty="0"/>
              <a:t>IPv6</a:t>
            </a:r>
            <a:r>
              <a:rPr lang="zh-CN" altLang="en-US" dirty="0"/>
              <a:t>数据报作为</a:t>
            </a:r>
            <a:r>
              <a:rPr lang="en-US" altLang="zh-CN" dirty="0"/>
              <a:t>IPv4</a:t>
            </a:r>
            <a:r>
              <a:rPr lang="zh-CN" altLang="en-US" dirty="0"/>
              <a:t>数据报的负载</a:t>
            </a:r>
            <a:endParaRPr lang="en-US" altLang="zh-CN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290" y="378460"/>
            <a:ext cx="8313420" cy="631825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r>
              <a:rPr lang="zh-CN" altLang="en-US" sz="1400" dirty="0"/>
              <a:t>网络层</a:t>
            </a:r>
            <a:endParaRPr lang="zh-CN" altLang="en-US" sz="1400" dirty="0">
              <a:latin typeface="Times New Roman" panose="02020603050405020304" pitchFamily="18" charset="0"/>
            </a:endParaRPr>
          </a:p>
        </p:txBody>
      </p:sp>
      <p:sp>
        <p:nvSpPr>
          <p:cNvPr id="65539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Comic Sans MS" panose="030F0702030302020204" pitchFamily="66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65540" name="Rectangle 2"/>
          <p:cNvSpPr>
            <a:spLocks noGrp="1"/>
          </p:cNvSpPr>
          <p:nvPr>
            <p:ph type="title"/>
          </p:nvPr>
        </p:nvSpPr>
        <p:spPr>
          <a:xfrm>
            <a:off x="307975" y="214313"/>
            <a:ext cx="7772400" cy="990600"/>
          </a:xfrm>
        </p:spPr>
        <p:txBody>
          <a:bodyPr vert="horz" wrap="square" lIns="91440" tIns="45720" rIns="91440" bIns="45720" anchor="ctr" anchorCtr="0"/>
          <a:p>
            <a:r>
              <a:rPr lang="zh-CN" altLang="en-US" dirty="0"/>
              <a:t>隧道</a:t>
            </a:r>
            <a:endParaRPr lang="zh-CN" altLang="en-US" dirty="0"/>
          </a:p>
        </p:txBody>
      </p:sp>
      <p:grpSp>
        <p:nvGrpSpPr>
          <p:cNvPr id="65541" name="Group 3"/>
          <p:cNvGrpSpPr/>
          <p:nvPr/>
        </p:nvGrpSpPr>
        <p:grpSpPr>
          <a:xfrm>
            <a:off x="2152650" y="1122363"/>
            <a:ext cx="708025" cy="638175"/>
            <a:chOff x="1898" y="728"/>
            <a:chExt cx="446" cy="402"/>
          </a:xfrm>
        </p:grpSpPr>
        <p:grpSp>
          <p:nvGrpSpPr>
            <p:cNvPr id="65735" name="Group 4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737" name="Oval 5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738" name="Line 6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39" name="Line 7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40" name="Rectangle 8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741" name="Oval 9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742" name="Group 10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747" name="Line 1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48" name="Line 1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49" name="Line 1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743" name="Group 14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744" name="Line 1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45" name="Line 1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46" name="Line 1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736" name="Text Box 18"/>
            <p:cNvSpPr txBox="1"/>
            <p:nvPr/>
          </p:nvSpPr>
          <p:spPr>
            <a:xfrm>
              <a:off x="2010" y="728"/>
              <a:ext cx="22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A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42" name="Group 19"/>
          <p:cNvGrpSpPr/>
          <p:nvPr/>
        </p:nvGrpSpPr>
        <p:grpSpPr>
          <a:xfrm>
            <a:off x="3198813" y="1127125"/>
            <a:ext cx="708025" cy="638175"/>
            <a:chOff x="1898" y="728"/>
            <a:chExt cx="446" cy="402"/>
          </a:xfrm>
        </p:grpSpPr>
        <p:grpSp>
          <p:nvGrpSpPr>
            <p:cNvPr id="65720" name="Group 20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722" name="Oval 21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723" name="Line 22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24" name="Line 23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25" name="Rectangle 24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726" name="Oval 25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727" name="Group 26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732" name="Line 2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33" name="Line 2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34" name="Line 2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728" name="Group 30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729" name="Line 3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30" name="Line 3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31" name="Line 3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721" name="Text Box 34"/>
            <p:cNvSpPr txBox="1"/>
            <p:nvPr/>
          </p:nvSpPr>
          <p:spPr>
            <a:xfrm>
              <a:off x="2010" y="728"/>
              <a:ext cx="20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B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43" name="Group 35"/>
          <p:cNvGrpSpPr/>
          <p:nvPr/>
        </p:nvGrpSpPr>
        <p:grpSpPr>
          <a:xfrm>
            <a:off x="6213475" y="1117600"/>
            <a:ext cx="708025" cy="638175"/>
            <a:chOff x="1898" y="728"/>
            <a:chExt cx="446" cy="402"/>
          </a:xfrm>
        </p:grpSpPr>
        <p:grpSp>
          <p:nvGrpSpPr>
            <p:cNvPr id="65705" name="Group 36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707" name="Oval 37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708" name="Line 38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09" name="Line 39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710" name="Rectangle 40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711" name="Oval 41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712" name="Group 42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717" name="Line 4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18" name="Line 4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19" name="Line 4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713" name="Group 46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714" name="Line 4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15" name="Line 4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16" name="Line 4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706" name="Text Box 50"/>
            <p:cNvSpPr txBox="1"/>
            <p:nvPr/>
          </p:nvSpPr>
          <p:spPr>
            <a:xfrm>
              <a:off x="2010" y="728"/>
              <a:ext cx="20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E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44" name="Group 51"/>
          <p:cNvGrpSpPr/>
          <p:nvPr/>
        </p:nvGrpSpPr>
        <p:grpSpPr>
          <a:xfrm>
            <a:off x="7204075" y="1106488"/>
            <a:ext cx="708025" cy="638175"/>
            <a:chOff x="1898" y="728"/>
            <a:chExt cx="446" cy="402"/>
          </a:xfrm>
        </p:grpSpPr>
        <p:grpSp>
          <p:nvGrpSpPr>
            <p:cNvPr id="65690" name="Group 52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92" name="Oval 53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93" name="Line 54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94" name="Line 55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95" name="Rectangle 56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96" name="Oval 57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97" name="Group 58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702" name="Line 5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03" name="Line 6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04" name="Line 6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98" name="Group 62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99" name="Line 6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00" name="Line 6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701" name="Line 6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91" name="Text Box 66"/>
            <p:cNvSpPr txBox="1"/>
            <p:nvPr/>
          </p:nvSpPr>
          <p:spPr>
            <a:xfrm>
              <a:off x="2010" y="728"/>
              <a:ext cx="2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F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5545" name="Rectangle 67"/>
          <p:cNvSpPr/>
          <p:nvPr/>
        </p:nvSpPr>
        <p:spPr>
          <a:xfrm>
            <a:off x="3905250" y="1589088"/>
            <a:ext cx="2281238" cy="66675"/>
          </a:xfrm>
          <a:prstGeom prst="rect">
            <a:avLst/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endParaRPr lang="zh-CN" altLang="en-US" dirty="0">
              <a:latin typeface="Comic Sans MS" panose="030F0702030302020204" pitchFamily="66" charset="0"/>
            </a:endParaRPr>
          </a:p>
        </p:txBody>
      </p:sp>
      <p:sp>
        <p:nvSpPr>
          <p:cNvPr id="65546" name="Line 68"/>
          <p:cNvSpPr/>
          <p:nvPr/>
        </p:nvSpPr>
        <p:spPr>
          <a:xfrm flipV="1">
            <a:off x="2871788" y="1612900"/>
            <a:ext cx="3238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7" name="Line 69"/>
          <p:cNvSpPr/>
          <p:nvPr/>
        </p:nvSpPr>
        <p:spPr>
          <a:xfrm flipV="1">
            <a:off x="6918325" y="1593850"/>
            <a:ext cx="3238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48" name="Text Box 70"/>
          <p:cNvSpPr txBox="1"/>
          <p:nvPr/>
        </p:nvSpPr>
        <p:spPr>
          <a:xfrm>
            <a:off x="2209800" y="1727200"/>
            <a:ext cx="62388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49" name="Text Box 71"/>
          <p:cNvSpPr txBox="1"/>
          <p:nvPr/>
        </p:nvSpPr>
        <p:spPr>
          <a:xfrm>
            <a:off x="3255963" y="1728788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50" name="Text Box 72"/>
          <p:cNvSpPr txBox="1"/>
          <p:nvPr/>
        </p:nvSpPr>
        <p:spPr>
          <a:xfrm>
            <a:off x="6281738" y="1720850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51" name="Text Box 73"/>
          <p:cNvSpPr txBox="1"/>
          <p:nvPr/>
        </p:nvSpPr>
        <p:spPr>
          <a:xfrm>
            <a:off x="7262813" y="1724025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52" name="Text Box 74"/>
          <p:cNvSpPr txBox="1"/>
          <p:nvPr/>
        </p:nvSpPr>
        <p:spPr>
          <a:xfrm>
            <a:off x="4667250" y="1231900"/>
            <a:ext cx="5905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隧道</a:t>
            </a:r>
            <a:endParaRPr lang="zh-CN" altLang="en-US" sz="1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5553" name="Text Box 75"/>
          <p:cNvSpPr txBox="1"/>
          <p:nvPr/>
        </p:nvSpPr>
        <p:spPr>
          <a:xfrm>
            <a:off x="414338" y="1314450"/>
            <a:ext cx="1166812" cy="3667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逻辑视图</a:t>
            </a:r>
            <a:r>
              <a:rPr lang="en-US" altLang="zh-CN" dirty="0">
                <a:latin typeface="Comic Sans MS" panose="030F0702030302020204" pitchFamily="66" charset="0"/>
              </a:rPr>
              <a:t>: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65554" name="Text Box 76"/>
          <p:cNvSpPr txBox="1"/>
          <p:nvPr/>
        </p:nvSpPr>
        <p:spPr>
          <a:xfrm>
            <a:off x="309563" y="2468563"/>
            <a:ext cx="1166812" cy="3667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latin typeface="Comic Sans MS" panose="030F0702030302020204" pitchFamily="66" charset="0"/>
              </a:rPr>
              <a:t>物理视图</a:t>
            </a:r>
            <a:r>
              <a:rPr lang="en-US" altLang="zh-CN" dirty="0">
                <a:latin typeface="Comic Sans MS" panose="030F0702030302020204" pitchFamily="66" charset="0"/>
              </a:rPr>
              <a:t>: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grpSp>
        <p:nvGrpSpPr>
          <p:cNvPr id="65555" name="Group 77"/>
          <p:cNvGrpSpPr/>
          <p:nvPr/>
        </p:nvGrpSpPr>
        <p:grpSpPr>
          <a:xfrm>
            <a:off x="2143125" y="2254250"/>
            <a:ext cx="708025" cy="638175"/>
            <a:chOff x="1898" y="728"/>
            <a:chExt cx="446" cy="402"/>
          </a:xfrm>
        </p:grpSpPr>
        <p:grpSp>
          <p:nvGrpSpPr>
            <p:cNvPr id="65675" name="Group 78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77" name="Oval 79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78" name="Line 80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79" name="Line 81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80" name="Rectangle 82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81" name="Oval 83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82" name="Group 84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87" name="Line 8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88" name="Line 8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89" name="Line 8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83" name="Group 88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84" name="Line 89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85" name="Line 90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86" name="Line 91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76" name="Text Box 92"/>
            <p:cNvSpPr txBox="1"/>
            <p:nvPr/>
          </p:nvSpPr>
          <p:spPr>
            <a:xfrm>
              <a:off x="2010" y="728"/>
              <a:ext cx="221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A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56" name="Group 93"/>
          <p:cNvGrpSpPr/>
          <p:nvPr/>
        </p:nvGrpSpPr>
        <p:grpSpPr>
          <a:xfrm>
            <a:off x="3189288" y="2259013"/>
            <a:ext cx="708025" cy="638175"/>
            <a:chOff x="1898" y="728"/>
            <a:chExt cx="446" cy="402"/>
          </a:xfrm>
        </p:grpSpPr>
        <p:grpSp>
          <p:nvGrpSpPr>
            <p:cNvPr id="65660" name="Group 94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62" name="Oval 95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63" name="Line 96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64" name="Line 97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65" name="Rectangle 98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66" name="Oval 99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67" name="Group 100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72" name="Line 10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73" name="Line 10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74" name="Line 10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68" name="Group 104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69" name="Line 105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70" name="Line 106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71" name="Line 107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61" name="Text Box 108"/>
            <p:cNvSpPr txBox="1"/>
            <p:nvPr/>
          </p:nvSpPr>
          <p:spPr>
            <a:xfrm>
              <a:off x="2010" y="728"/>
              <a:ext cx="207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B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57" name="Group 109"/>
          <p:cNvGrpSpPr/>
          <p:nvPr/>
        </p:nvGrpSpPr>
        <p:grpSpPr>
          <a:xfrm>
            <a:off x="6203950" y="2249488"/>
            <a:ext cx="708025" cy="638175"/>
            <a:chOff x="1898" y="728"/>
            <a:chExt cx="446" cy="402"/>
          </a:xfrm>
        </p:grpSpPr>
        <p:grpSp>
          <p:nvGrpSpPr>
            <p:cNvPr id="65645" name="Group 110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47" name="Oval 111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48" name="Line 112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49" name="Line 113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50" name="Rectangle 114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51" name="Oval 115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52" name="Group 116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57" name="Line 11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58" name="Line 11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59" name="Line 11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53" name="Group 120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54" name="Line 121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55" name="Line 122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56" name="Line 123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46" name="Text Box 124"/>
            <p:cNvSpPr txBox="1"/>
            <p:nvPr/>
          </p:nvSpPr>
          <p:spPr>
            <a:xfrm>
              <a:off x="2010" y="728"/>
              <a:ext cx="206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E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58" name="Group 125"/>
          <p:cNvGrpSpPr/>
          <p:nvPr/>
        </p:nvGrpSpPr>
        <p:grpSpPr>
          <a:xfrm>
            <a:off x="7194550" y="2238375"/>
            <a:ext cx="708025" cy="638175"/>
            <a:chOff x="1898" y="728"/>
            <a:chExt cx="446" cy="402"/>
          </a:xfrm>
        </p:grpSpPr>
        <p:grpSp>
          <p:nvGrpSpPr>
            <p:cNvPr id="65630" name="Group 126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32" name="Oval 127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33" name="Line 128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34" name="Line 129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35" name="Rectangle 130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36" name="Oval 131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37" name="Group 132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42" name="Line 133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43" name="Line 134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44" name="Line 135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38" name="Group 136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39" name="Line 137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40" name="Line 138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41" name="Line 139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31" name="Text Box 140"/>
            <p:cNvSpPr txBox="1"/>
            <p:nvPr/>
          </p:nvSpPr>
          <p:spPr>
            <a:xfrm>
              <a:off x="2010" y="728"/>
              <a:ext cx="2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F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5559" name="Line 141"/>
          <p:cNvSpPr/>
          <p:nvPr/>
        </p:nvSpPr>
        <p:spPr>
          <a:xfrm flipV="1">
            <a:off x="2862263" y="2744788"/>
            <a:ext cx="3238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60" name="Line 142"/>
          <p:cNvSpPr/>
          <p:nvPr/>
        </p:nvSpPr>
        <p:spPr>
          <a:xfrm flipV="1">
            <a:off x="6908800" y="2725738"/>
            <a:ext cx="323850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65561" name="Text Box 143"/>
          <p:cNvSpPr txBox="1"/>
          <p:nvPr/>
        </p:nvSpPr>
        <p:spPr>
          <a:xfrm>
            <a:off x="2200275" y="2859088"/>
            <a:ext cx="623888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62" name="Text Box 144"/>
          <p:cNvSpPr txBox="1"/>
          <p:nvPr/>
        </p:nvSpPr>
        <p:spPr>
          <a:xfrm>
            <a:off x="3246438" y="2860675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63" name="Text Box 145"/>
          <p:cNvSpPr txBox="1"/>
          <p:nvPr/>
        </p:nvSpPr>
        <p:spPr>
          <a:xfrm>
            <a:off x="6272213" y="2852738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64" name="Text Box 146"/>
          <p:cNvSpPr txBox="1"/>
          <p:nvPr/>
        </p:nvSpPr>
        <p:spPr>
          <a:xfrm>
            <a:off x="7253288" y="2855913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65" name="Line 147"/>
          <p:cNvSpPr/>
          <p:nvPr/>
        </p:nvSpPr>
        <p:spPr>
          <a:xfrm flipV="1">
            <a:off x="3895725" y="2735263"/>
            <a:ext cx="2325688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grpSp>
        <p:nvGrpSpPr>
          <p:cNvPr id="65566" name="Group 148"/>
          <p:cNvGrpSpPr/>
          <p:nvPr/>
        </p:nvGrpSpPr>
        <p:grpSpPr>
          <a:xfrm>
            <a:off x="4183063" y="2262188"/>
            <a:ext cx="708025" cy="638175"/>
            <a:chOff x="1898" y="728"/>
            <a:chExt cx="446" cy="402"/>
          </a:xfrm>
        </p:grpSpPr>
        <p:grpSp>
          <p:nvGrpSpPr>
            <p:cNvPr id="65615" name="Group 149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17" name="Oval 150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18" name="Line 151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19" name="Line 152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20" name="Rectangle 153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21" name="Oval 154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22" name="Group 155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27" name="Line 15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28" name="Line 15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29" name="Line 15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23" name="Group 159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24" name="Line 160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25" name="Line 161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26" name="Line 162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16" name="Text Box 163"/>
            <p:cNvSpPr txBox="1"/>
            <p:nvPr/>
          </p:nvSpPr>
          <p:spPr>
            <a:xfrm>
              <a:off x="2010" y="728"/>
              <a:ext cx="203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C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67" name="Group 164"/>
          <p:cNvGrpSpPr/>
          <p:nvPr/>
        </p:nvGrpSpPr>
        <p:grpSpPr>
          <a:xfrm>
            <a:off x="5172075" y="2252663"/>
            <a:ext cx="708025" cy="638175"/>
            <a:chOff x="1898" y="728"/>
            <a:chExt cx="446" cy="402"/>
          </a:xfrm>
        </p:grpSpPr>
        <p:grpSp>
          <p:nvGrpSpPr>
            <p:cNvPr id="65600" name="Group 165"/>
            <p:cNvGrpSpPr/>
            <p:nvPr/>
          </p:nvGrpSpPr>
          <p:grpSpPr>
            <a:xfrm>
              <a:off x="1898" y="918"/>
              <a:ext cx="446" cy="212"/>
              <a:chOff x="2210" y="903"/>
              <a:chExt cx="446" cy="212"/>
            </a:xfrm>
          </p:grpSpPr>
          <p:sp>
            <p:nvSpPr>
              <p:cNvPr id="65602" name="Oval 166"/>
              <p:cNvSpPr/>
              <p:nvPr/>
            </p:nvSpPr>
            <p:spPr>
              <a:xfrm>
                <a:off x="2213" y="969"/>
                <a:ext cx="443" cy="146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603" name="Line 167"/>
              <p:cNvSpPr/>
              <p:nvPr/>
            </p:nvSpPr>
            <p:spPr>
              <a:xfrm>
                <a:off x="2213" y="962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04" name="Line 168"/>
              <p:cNvSpPr/>
              <p:nvPr/>
            </p:nvSpPr>
            <p:spPr>
              <a:xfrm>
                <a:off x="2560" y="969"/>
                <a:ext cx="1" cy="78"/>
              </a:xfrm>
              <a:prstGeom prst="line">
                <a:avLst/>
              </a:prstGeom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</p:sp>
          <p:sp>
            <p:nvSpPr>
              <p:cNvPr id="65605" name="Rectangle 169"/>
              <p:cNvSpPr/>
              <p:nvPr/>
            </p:nvSpPr>
            <p:spPr>
              <a:xfrm>
                <a:off x="2213" y="962"/>
                <a:ext cx="439" cy="76"/>
              </a:xfrm>
              <a:prstGeom prst="rect">
                <a:avLst/>
              </a:prstGeom>
              <a:solidFill>
                <a:schemeClr val="hlink"/>
              </a:solidFill>
              <a:ln w="12700">
                <a:noFill/>
              </a:ln>
            </p:spPr>
            <p:txBody>
              <a:bodyPr wrap="none" anchor="ctr" anchorCtr="0"/>
              <a:p>
                <a:pPr algn="ctr"/>
                <a:endParaRPr lang="zh-CN" altLang="en-US" sz="2400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606" name="Oval 170"/>
              <p:cNvSpPr/>
              <p:nvPr/>
            </p:nvSpPr>
            <p:spPr>
              <a:xfrm>
                <a:off x="2210" y="903"/>
                <a:ext cx="443" cy="147"/>
              </a:xfrm>
              <a:prstGeom prst="ellipse">
                <a:avLst/>
              </a:prstGeom>
              <a:solidFill>
                <a:schemeClr val="hlink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65607" name="Group 171"/>
              <p:cNvGrpSpPr/>
              <p:nvPr/>
            </p:nvGrpSpPr>
            <p:grpSpPr>
              <a:xfrm>
                <a:off x="2319" y="931"/>
                <a:ext cx="221" cy="85"/>
                <a:chOff x="2848" y="848"/>
                <a:chExt cx="140" cy="98"/>
              </a:xfrm>
            </p:grpSpPr>
            <p:sp>
              <p:nvSpPr>
                <p:cNvPr id="65612" name="Line 172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13" name="Line 173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14" name="Line 174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  <p:grpSp>
            <p:nvGrpSpPr>
              <p:cNvPr id="65608" name="Group 175"/>
              <p:cNvGrpSpPr/>
              <p:nvPr/>
            </p:nvGrpSpPr>
            <p:grpSpPr>
              <a:xfrm flipV="1">
                <a:off x="2319" y="930"/>
                <a:ext cx="221" cy="87"/>
                <a:chOff x="2848" y="848"/>
                <a:chExt cx="140" cy="98"/>
              </a:xfrm>
            </p:grpSpPr>
            <p:sp>
              <p:nvSpPr>
                <p:cNvPr id="65609" name="Line 176"/>
                <p:cNvSpPr/>
                <p:nvPr/>
              </p:nvSpPr>
              <p:spPr>
                <a:xfrm flipV="1">
                  <a:off x="2848" y="848"/>
                  <a:ext cx="50" cy="2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10" name="Line 177"/>
                <p:cNvSpPr/>
                <p:nvPr/>
              </p:nvSpPr>
              <p:spPr>
                <a:xfrm>
                  <a:off x="2944" y="946"/>
                  <a:ext cx="44" cy="0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  <p:sp>
              <p:nvSpPr>
                <p:cNvPr id="65611" name="Line 178"/>
                <p:cNvSpPr/>
                <p:nvPr/>
              </p:nvSpPr>
              <p:spPr>
                <a:xfrm>
                  <a:off x="2894" y="850"/>
                  <a:ext cx="52" cy="96"/>
                </a:xfrm>
                <a:prstGeom prst="line">
                  <a:avLst/>
                </a:prstGeom>
                <a:ln w="28575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</p:sp>
          </p:grpSp>
        </p:grpSp>
        <p:sp>
          <p:nvSpPr>
            <p:cNvPr id="65601" name="Text Box 179"/>
            <p:cNvSpPr txBox="1"/>
            <p:nvPr/>
          </p:nvSpPr>
          <p:spPr>
            <a:xfrm>
              <a:off x="2010" y="728"/>
              <a:ext cx="220" cy="23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en-US" altLang="zh-CN" dirty="0">
                  <a:latin typeface="Comic Sans MS" panose="030F0702030302020204" pitchFamily="66" charset="0"/>
                </a:rPr>
                <a:t>D</a:t>
              </a:r>
              <a:endParaRPr lang="en-US" altLang="zh-CN" dirty="0">
                <a:latin typeface="Comic Sans MS" panose="030F0702030302020204" pitchFamily="66" charset="0"/>
              </a:endParaRPr>
            </a:p>
          </p:txBody>
        </p:sp>
      </p:grpSp>
      <p:sp>
        <p:nvSpPr>
          <p:cNvPr id="65568" name="Text Box 180"/>
          <p:cNvSpPr txBox="1"/>
          <p:nvPr/>
        </p:nvSpPr>
        <p:spPr>
          <a:xfrm>
            <a:off x="4227513" y="2863850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IPv4</a:t>
            </a:r>
            <a:endParaRPr lang="en-US" altLang="zh-CN" sz="1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65569" name="Text Box 181"/>
          <p:cNvSpPr txBox="1"/>
          <p:nvPr/>
        </p:nvSpPr>
        <p:spPr>
          <a:xfrm>
            <a:off x="5221288" y="2865438"/>
            <a:ext cx="623887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sz="1600" dirty="0">
                <a:solidFill>
                  <a:srgbClr val="FF0000"/>
                </a:solidFill>
                <a:latin typeface="Comic Sans MS" panose="030F0702030302020204" pitchFamily="66" charset="0"/>
              </a:rPr>
              <a:t>IPv4</a:t>
            </a:r>
            <a:endParaRPr lang="en-US" altLang="zh-CN" sz="1600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  <p:grpSp>
        <p:nvGrpSpPr>
          <p:cNvPr id="65570" name="Group 182"/>
          <p:cNvGrpSpPr/>
          <p:nvPr/>
        </p:nvGrpSpPr>
        <p:grpSpPr>
          <a:xfrm>
            <a:off x="2557463" y="3259138"/>
            <a:ext cx="771525" cy="1441450"/>
            <a:chOff x="4869" y="143"/>
            <a:chExt cx="486" cy="908"/>
          </a:xfrm>
        </p:grpSpPr>
        <p:sp>
          <p:nvSpPr>
            <p:cNvPr id="65598" name="Rectangle 183"/>
            <p:cNvSpPr/>
            <p:nvPr/>
          </p:nvSpPr>
          <p:spPr>
            <a:xfrm>
              <a:off x="4893" y="143"/>
              <a:ext cx="462" cy="9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5599" name="Text Box 184"/>
            <p:cNvSpPr txBox="1"/>
            <p:nvPr/>
          </p:nvSpPr>
          <p:spPr>
            <a:xfrm>
              <a:off x="4869" y="163"/>
              <a:ext cx="474" cy="8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400" dirty="0">
                  <a:latin typeface="Comic Sans MS" panose="030F0702030302020204" pitchFamily="66" charset="0"/>
                </a:rPr>
                <a:t>流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X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源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A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目的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F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endParaRPr lang="en-US" altLang="zh-CN" sz="1400" dirty="0">
                <a:latin typeface="Comic Sans MS" panose="030F0702030302020204" pitchFamily="66" charset="0"/>
              </a:endParaRPr>
            </a:p>
            <a:p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数据</a:t>
              </a:r>
              <a:endParaRPr lang="zh-CN" altLang="en-US" sz="14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71" name="Group 185"/>
          <p:cNvGrpSpPr/>
          <p:nvPr/>
        </p:nvGrpSpPr>
        <p:grpSpPr>
          <a:xfrm>
            <a:off x="6710363" y="3271838"/>
            <a:ext cx="771525" cy="1441450"/>
            <a:chOff x="4869" y="143"/>
            <a:chExt cx="486" cy="908"/>
          </a:xfrm>
        </p:grpSpPr>
        <p:sp>
          <p:nvSpPr>
            <p:cNvPr id="65596" name="Rectangle 186"/>
            <p:cNvSpPr/>
            <p:nvPr/>
          </p:nvSpPr>
          <p:spPr>
            <a:xfrm>
              <a:off x="4893" y="143"/>
              <a:ext cx="462" cy="908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sp>
          <p:nvSpPr>
            <p:cNvPr id="65597" name="Text Box 187"/>
            <p:cNvSpPr txBox="1"/>
            <p:nvPr/>
          </p:nvSpPr>
          <p:spPr>
            <a:xfrm>
              <a:off x="4869" y="163"/>
              <a:ext cx="474" cy="86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sz="1400" dirty="0">
                  <a:latin typeface="Comic Sans MS" panose="030F0702030302020204" pitchFamily="66" charset="0"/>
                </a:rPr>
                <a:t>流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X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源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A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目的</a:t>
              </a:r>
              <a:r>
                <a:rPr lang="en-US" altLang="zh-CN" sz="1400" dirty="0">
                  <a:latin typeface="Comic Sans MS" panose="030F0702030302020204" pitchFamily="66" charset="0"/>
                </a:rPr>
                <a:t>: F</a:t>
              </a:r>
              <a:endParaRPr lang="en-US" altLang="zh-CN" sz="1400" dirty="0">
                <a:latin typeface="Comic Sans MS" panose="030F0702030302020204" pitchFamily="66" charset="0"/>
              </a:endParaRPr>
            </a:p>
            <a:p>
              <a:endParaRPr lang="en-US" altLang="zh-CN" sz="1400" dirty="0">
                <a:latin typeface="Comic Sans MS" panose="030F0702030302020204" pitchFamily="66" charset="0"/>
              </a:endParaRPr>
            </a:p>
            <a:p>
              <a:endParaRPr lang="en-US" altLang="zh-CN" sz="1400" dirty="0">
                <a:latin typeface="Comic Sans MS" panose="030F0702030302020204" pitchFamily="66" charset="0"/>
              </a:endParaRPr>
            </a:p>
            <a:p>
              <a:r>
                <a:rPr lang="zh-CN" altLang="en-US" sz="1400" dirty="0">
                  <a:latin typeface="Comic Sans MS" panose="030F0702030302020204" pitchFamily="66" charset="0"/>
                </a:rPr>
                <a:t>数据</a:t>
              </a:r>
              <a:endParaRPr lang="zh-CN" altLang="en-US" sz="1400" dirty="0">
                <a:latin typeface="Comic Sans MS" panose="030F0702030302020204" pitchFamily="66" charset="0"/>
              </a:endParaRPr>
            </a:p>
          </p:txBody>
        </p:sp>
      </p:grpSp>
      <p:grpSp>
        <p:nvGrpSpPr>
          <p:cNvPr id="65572" name="Group 188"/>
          <p:cNvGrpSpPr/>
          <p:nvPr/>
        </p:nvGrpSpPr>
        <p:grpSpPr>
          <a:xfrm>
            <a:off x="3598863" y="3254375"/>
            <a:ext cx="984250" cy="2198688"/>
            <a:chOff x="4943" y="2152"/>
            <a:chExt cx="620" cy="1385"/>
          </a:xfrm>
        </p:grpSpPr>
        <p:sp>
          <p:nvSpPr>
            <p:cNvPr id="65591" name="Rectangle 189"/>
            <p:cNvSpPr/>
            <p:nvPr/>
          </p:nvSpPr>
          <p:spPr>
            <a:xfrm>
              <a:off x="4980" y="2155"/>
              <a:ext cx="583" cy="1382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5592" name="Group 190"/>
            <p:cNvGrpSpPr/>
            <p:nvPr/>
          </p:nvGrpSpPr>
          <p:grpSpPr>
            <a:xfrm>
              <a:off x="5001" y="2538"/>
              <a:ext cx="486" cy="908"/>
              <a:chOff x="4869" y="143"/>
              <a:chExt cx="486" cy="908"/>
            </a:xfrm>
          </p:grpSpPr>
          <p:sp>
            <p:nvSpPr>
              <p:cNvPr id="65594" name="Rectangle 191"/>
              <p:cNvSpPr/>
              <p:nvPr/>
            </p:nvSpPr>
            <p:spPr>
              <a:xfrm>
                <a:off x="4893" y="143"/>
                <a:ext cx="462" cy="9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595" name="Text Box 192"/>
              <p:cNvSpPr txBox="1"/>
              <p:nvPr/>
            </p:nvSpPr>
            <p:spPr>
              <a:xfrm>
                <a:off x="4869" y="163"/>
                <a:ext cx="474" cy="8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流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X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源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A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目的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F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数据</a:t>
                </a:r>
                <a:endParaRPr lang="zh-CN" altLang="en-US" sz="1400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65593" name="Text Box 193"/>
            <p:cNvSpPr txBox="1"/>
            <p:nvPr/>
          </p:nvSpPr>
          <p:spPr>
            <a:xfrm>
              <a:off x="4943" y="2152"/>
              <a:ext cx="5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源</a:t>
              </a:r>
              <a:r>
                <a:rPr lang="en-US" altLang="zh-CN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:B</a:t>
              </a:r>
              <a:endParaRPr lang="en-US" altLang="zh-CN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目的</a:t>
              </a:r>
              <a:r>
                <a:rPr lang="en-US" altLang="zh-CN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: E</a:t>
              </a:r>
              <a:endParaRPr lang="en-US" altLang="zh-CN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65573" name="Line 194"/>
          <p:cNvSpPr/>
          <p:nvPr/>
        </p:nvSpPr>
        <p:spPr>
          <a:xfrm>
            <a:off x="2603500" y="3162300"/>
            <a:ext cx="688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74" name="Line 195"/>
          <p:cNvSpPr/>
          <p:nvPr/>
        </p:nvSpPr>
        <p:spPr>
          <a:xfrm>
            <a:off x="3722688" y="3165475"/>
            <a:ext cx="688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75" name="Line 196"/>
          <p:cNvSpPr/>
          <p:nvPr/>
        </p:nvSpPr>
        <p:spPr>
          <a:xfrm>
            <a:off x="5757863" y="3167063"/>
            <a:ext cx="688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76" name="Line 197"/>
          <p:cNvSpPr/>
          <p:nvPr/>
        </p:nvSpPr>
        <p:spPr>
          <a:xfrm>
            <a:off x="6813550" y="3168650"/>
            <a:ext cx="688975" cy="0"/>
          </a:xfrm>
          <a:prstGeom prst="line">
            <a:avLst/>
          </a:prstGeom>
          <a:ln w="19050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grpSp>
        <p:nvGrpSpPr>
          <p:cNvPr id="65577" name="Group 198"/>
          <p:cNvGrpSpPr/>
          <p:nvPr/>
        </p:nvGrpSpPr>
        <p:grpSpPr>
          <a:xfrm>
            <a:off x="5611813" y="3257550"/>
            <a:ext cx="984250" cy="2198688"/>
            <a:chOff x="4943" y="2152"/>
            <a:chExt cx="620" cy="1385"/>
          </a:xfrm>
        </p:grpSpPr>
        <p:sp>
          <p:nvSpPr>
            <p:cNvPr id="65586" name="Rectangle 199"/>
            <p:cNvSpPr/>
            <p:nvPr/>
          </p:nvSpPr>
          <p:spPr>
            <a:xfrm>
              <a:off x="4980" y="2155"/>
              <a:ext cx="583" cy="1382"/>
            </a:xfrm>
            <a:prstGeom prst="rect">
              <a:avLst/>
            </a:prstGeom>
            <a:solidFill>
              <a:srgbClr val="FF00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endParaRPr lang="zh-CN" altLang="en-US" dirty="0">
                <a:latin typeface="Comic Sans MS" panose="030F0702030302020204" pitchFamily="66" charset="0"/>
              </a:endParaRPr>
            </a:p>
          </p:txBody>
        </p:sp>
        <p:grpSp>
          <p:nvGrpSpPr>
            <p:cNvPr id="65587" name="Group 200"/>
            <p:cNvGrpSpPr/>
            <p:nvPr/>
          </p:nvGrpSpPr>
          <p:grpSpPr>
            <a:xfrm>
              <a:off x="5001" y="2538"/>
              <a:ext cx="486" cy="908"/>
              <a:chOff x="4869" y="143"/>
              <a:chExt cx="486" cy="908"/>
            </a:xfrm>
          </p:grpSpPr>
          <p:sp>
            <p:nvSpPr>
              <p:cNvPr id="65589" name="Rectangle 201"/>
              <p:cNvSpPr/>
              <p:nvPr/>
            </p:nvSpPr>
            <p:spPr>
              <a:xfrm>
                <a:off x="4893" y="143"/>
                <a:ext cx="462" cy="908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5590" name="Text Box 202"/>
              <p:cNvSpPr txBox="1"/>
              <p:nvPr/>
            </p:nvSpPr>
            <p:spPr>
              <a:xfrm>
                <a:off x="4869" y="163"/>
                <a:ext cx="474" cy="86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none">
                <a:spAutoFit/>
              </a:bodyPr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流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X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源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A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目的</a:t>
                </a:r>
                <a:r>
                  <a:rPr lang="en-US" altLang="zh-CN" sz="1400" dirty="0">
                    <a:latin typeface="Comic Sans MS" panose="030F0702030302020204" pitchFamily="66" charset="0"/>
                  </a:rPr>
                  <a:t>: F</a:t>
                </a:r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endParaRPr lang="en-US" altLang="zh-CN" sz="1400" dirty="0">
                  <a:latin typeface="Comic Sans MS" panose="030F0702030302020204" pitchFamily="66" charset="0"/>
                </a:endParaRPr>
              </a:p>
              <a:p>
                <a:r>
                  <a:rPr lang="zh-CN" altLang="en-US" sz="1400" dirty="0">
                    <a:latin typeface="Comic Sans MS" panose="030F0702030302020204" pitchFamily="66" charset="0"/>
                  </a:rPr>
                  <a:t>数据</a:t>
                </a:r>
                <a:endParaRPr lang="zh-CN" altLang="en-US" sz="1400" dirty="0"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65588" name="Text Box 203"/>
            <p:cNvSpPr txBox="1"/>
            <p:nvPr/>
          </p:nvSpPr>
          <p:spPr>
            <a:xfrm>
              <a:off x="4943" y="2152"/>
              <a:ext cx="580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r>
                <a:rPr lang="zh-CN" altLang="en-US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源</a:t>
              </a:r>
              <a:r>
                <a:rPr lang="en-US" altLang="zh-CN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:B</a:t>
              </a:r>
              <a:endParaRPr lang="en-US" altLang="zh-CN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  <a:p>
              <a:r>
                <a:rPr lang="zh-CN" altLang="en-US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目的</a:t>
              </a:r>
              <a:r>
                <a:rPr lang="en-US" altLang="zh-CN" dirty="0">
                  <a:solidFill>
                    <a:schemeClr val="bg1"/>
                  </a:solidFill>
                  <a:latin typeface="Comic Sans MS" panose="030F0702030302020204" pitchFamily="66" charset="0"/>
                </a:rPr>
                <a:t>: E</a:t>
              </a:r>
              <a:endParaRPr lang="en-US" altLang="zh-CN" dirty="0">
                <a:solidFill>
                  <a:schemeClr val="bg1"/>
                </a:solidFill>
                <a:latin typeface="Comic Sans MS" panose="030F0702030302020204" pitchFamily="66" charset="0"/>
              </a:endParaRPr>
            </a:p>
          </p:txBody>
        </p:sp>
      </p:grpSp>
      <p:sp>
        <p:nvSpPr>
          <p:cNvPr id="65578" name="Text Box 204"/>
          <p:cNvSpPr txBox="1"/>
          <p:nvPr/>
        </p:nvSpPr>
        <p:spPr>
          <a:xfrm>
            <a:off x="2520950" y="5621338"/>
            <a:ext cx="892175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A-to-B: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79" name="Line 205"/>
          <p:cNvSpPr/>
          <p:nvPr/>
        </p:nvSpPr>
        <p:spPr>
          <a:xfrm>
            <a:off x="2946400" y="4916488"/>
            <a:ext cx="0" cy="7858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5580" name="Text Box 206"/>
          <p:cNvSpPr txBox="1"/>
          <p:nvPr/>
        </p:nvSpPr>
        <p:spPr>
          <a:xfrm>
            <a:off x="6794500" y="5634038"/>
            <a:ext cx="865188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E-to-F: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IPv6</a:t>
            </a:r>
            <a:endParaRPr lang="en-US" altLang="zh-CN" sz="1600" dirty="0">
              <a:latin typeface="Comic Sans MS" panose="030F0702030302020204" pitchFamily="66" charset="0"/>
            </a:endParaRPr>
          </a:p>
        </p:txBody>
      </p:sp>
      <p:sp>
        <p:nvSpPr>
          <p:cNvPr id="65581" name="Line 207"/>
          <p:cNvSpPr/>
          <p:nvPr/>
        </p:nvSpPr>
        <p:spPr>
          <a:xfrm>
            <a:off x="7207250" y="4929188"/>
            <a:ext cx="0" cy="785812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5582" name="Text Box 208"/>
          <p:cNvSpPr txBox="1"/>
          <p:nvPr/>
        </p:nvSpPr>
        <p:spPr>
          <a:xfrm>
            <a:off x="3365500" y="5743575"/>
            <a:ext cx="1530350" cy="58102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B-to-C: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IPv6 </a:t>
            </a:r>
            <a:r>
              <a:rPr lang="zh-CN" altLang="en-US" sz="1600" dirty="0">
                <a:latin typeface="Comic Sans MS" panose="030F0702030302020204" pitchFamily="66" charset="0"/>
              </a:rPr>
              <a:t>在</a:t>
            </a:r>
            <a:r>
              <a:rPr lang="en-US" altLang="zh-CN" sz="1600" dirty="0">
                <a:latin typeface="Comic Sans MS" panose="030F0702030302020204" pitchFamily="66" charset="0"/>
              </a:rPr>
              <a:t>IPv4</a:t>
            </a:r>
            <a:r>
              <a:rPr lang="zh-CN" altLang="en-US" sz="1600" dirty="0">
                <a:latin typeface="Comic Sans MS" panose="030F0702030302020204" pitchFamily="66" charset="0"/>
              </a:rPr>
              <a:t>中</a:t>
            </a:r>
            <a:endParaRPr lang="zh-CN" altLang="en-US" sz="1600" dirty="0">
              <a:latin typeface="Comic Sans MS" panose="030F0702030302020204" pitchFamily="66" charset="0"/>
            </a:endParaRPr>
          </a:p>
        </p:txBody>
      </p:sp>
      <p:sp>
        <p:nvSpPr>
          <p:cNvPr id="65583" name="Line 209"/>
          <p:cNvSpPr/>
          <p:nvPr/>
        </p:nvSpPr>
        <p:spPr>
          <a:xfrm>
            <a:off x="4108450" y="5510213"/>
            <a:ext cx="0" cy="184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65584" name="Text Box 210"/>
          <p:cNvSpPr txBox="1"/>
          <p:nvPr/>
        </p:nvSpPr>
        <p:spPr>
          <a:xfrm>
            <a:off x="5305425" y="5756275"/>
            <a:ext cx="1700213" cy="611188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/>
            <a:r>
              <a:rPr lang="en-US" altLang="zh-CN" sz="1600" dirty="0">
                <a:latin typeface="Comic Sans MS" panose="030F0702030302020204" pitchFamily="66" charset="0"/>
              </a:rPr>
              <a:t>B-to-C:</a:t>
            </a:r>
            <a:endParaRPr lang="en-US" altLang="zh-CN" sz="1600" dirty="0">
              <a:latin typeface="Comic Sans MS" panose="030F0702030302020204" pitchFamily="66" charset="0"/>
            </a:endParaRPr>
          </a:p>
          <a:p>
            <a:pPr algn="ctr"/>
            <a:r>
              <a:rPr lang="en-US" altLang="zh-CN" dirty="0">
                <a:latin typeface="Comic Sans MS" panose="030F0702030302020204" pitchFamily="66" charset="0"/>
              </a:rPr>
              <a:t>IPv6 </a:t>
            </a:r>
            <a:r>
              <a:rPr lang="zh-CN" altLang="en-US" dirty="0">
                <a:latin typeface="Comic Sans MS" panose="030F0702030302020204" pitchFamily="66" charset="0"/>
              </a:rPr>
              <a:t>在</a:t>
            </a:r>
            <a:r>
              <a:rPr lang="en-US" altLang="zh-CN" dirty="0">
                <a:latin typeface="Comic Sans MS" panose="030F0702030302020204" pitchFamily="66" charset="0"/>
              </a:rPr>
              <a:t>IPv4</a:t>
            </a:r>
            <a:r>
              <a:rPr lang="zh-CN" altLang="en-US" dirty="0">
                <a:latin typeface="Comic Sans MS" panose="030F0702030302020204" pitchFamily="66" charset="0"/>
              </a:rPr>
              <a:t>中</a:t>
            </a:r>
            <a:endParaRPr lang="en-US" altLang="zh-CN" dirty="0">
              <a:latin typeface="Comic Sans MS" panose="030F0702030302020204" pitchFamily="66" charset="0"/>
            </a:endParaRPr>
          </a:p>
        </p:txBody>
      </p:sp>
      <p:sp>
        <p:nvSpPr>
          <p:cNvPr id="65585" name="Line 211"/>
          <p:cNvSpPr/>
          <p:nvPr/>
        </p:nvSpPr>
        <p:spPr>
          <a:xfrm>
            <a:off x="6134100" y="5522913"/>
            <a:ext cx="0" cy="18415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triangle" w="med" len="med"/>
            <a:tailEnd type="none" w="med" len="med"/>
          </a:ln>
        </p:spPr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755" y="301625"/>
            <a:ext cx="8463915" cy="646366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60" y="123190"/>
            <a:ext cx="8844280" cy="673481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385" y="79375"/>
            <a:ext cx="8825230" cy="677862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9710" y="191770"/>
            <a:ext cx="8614410" cy="666686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0" y="156210"/>
            <a:ext cx="8638540" cy="654621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665" y="187960"/>
            <a:ext cx="8640445" cy="650430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5315" y="226695"/>
            <a:ext cx="7773670" cy="599503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commondata" val="eyJoZGlkIjoiNzQ4YzNhOGQ3YWVlMjQyYmJmNDZjZmVkNjYxZjU5ZTAifQ=="/>
</p:tagLst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10848</Words>
  <Application>WPS 演示</Application>
  <PresentationFormat>全屏显示(4:3)</PresentationFormat>
  <Paragraphs>1465</Paragraphs>
  <Slides>78</Slides>
  <Notes>161</Notes>
  <HiddenSlides>4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54</vt:i4>
      </vt:variant>
      <vt:variant>
        <vt:lpstr>幻灯片标题</vt:lpstr>
      </vt:variant>
      <vt:variant>
        <vt:i4>78</vt:i4>
      </vt:variant>
    </vt:vector>
  </HeadingPairs>
  <TitlesOfParts>
    <vt:vector size="152" baseType="lpstr">
      <vt:lpstr>Arial</vt:lpstr>
      <vt:lpstr>宋体</vt:lpstr>
      <vt:lpstr>Wingdings</vt:lpstr>
      <vt:lpstr>Comic Sans MS</vt:lpstr>
      <vt:lpstr>Times New Roman</vt:lpstr>
      <vt:lpstr>黑体</vt:lpstr>
      <vt:lpstr>ZapfDingbats</vt:lpstr>
      <vt:lpstr>微软雅黑</vt:lpstr>
      <vt:lpstr>Arial Unicode MS</vt:lpstr>
      <vt:lpstr>MS PGothic</vt:lpstr>
      <vt:lpstr>Times</vt:lpstr>
      <vt:lpstr>Tahoma</vt:lpstr>
      <vt:lpstr>Comic Sans MS</vt:lpstr>
      <vt:lpstr>楷体_GB2312</vt:lpstr>
      <vt:lpstr>MS Mincho</vt:lpstr>
      <vt:lpstr>Yu Gothic</vt:lpstr>
      <vt:lpstr>Wingdings</vt:lpstr>
      <vt:lpstr>新宋体</vt:lpstr>
      <vt:lpstr>Default Design</vt:lpstr>
      <vt:lpstr>1_Default Design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MS_ClipArt_Gallery.2</vt:lpstr>
      <vt:lpstr>PowerPoint 演示文稿</vt:lpstr>
      <vt:lpstr>第4章  网络层</vt:lpstr>
      <vt:lpstr>PowerPoint 演示文稿</vt:lpstr>
      <vt:lpstr>第4章  网络层</vt:lpstr>
      <vt:lpstr>网络层</vt:lpstr>
      <vt:lpstr>关键的网络层功能</vt:lpstr>
      <vt:lpstr>PowerPoint 演示文稿</vt:lpstr>
      <vt:lpstr>PowerPoint 演示文稿</vt:lpstr>
      <vt:lpstr>PowerPoint 演示文稿</vt:lpstr>
      <vt:lpstr>PowerPoint 演示文稿</vt:lpstr>
      <vt:lpstr>转发表</vt:lpstr>
      <vt:lpstr>最长前缀匹配</vt:lpstr>
      <vt:lpstr>第4章  网络层</vt:lpstr>
      <vt:lpstr>PowerPoint 演示文稿</vt:lpstr>
      <vt:lpstr>路由器体系结构概述</vt:lpstr>
      <vt:lpstr>输入端口功能</vt:lpstr>
      <vt:lpstr>三种类型的交换结构</vt:lpstr>
      <vt:lpstr>PowerPoint 演示文稿</vt:lpstr>
      <vt:lpstr>经内存交换</vt:lpstr>
      <vt:lpstr>经总线交换</vt:lpstr>
      <vt:lpstr>经互联网络的交换</vt:lpstr>
      <vt:lpstr>输出端口</vt:lpstr>
      <vt:lpstr>输出端口排队</vt:lpstr>
      <vt:lpstr>输入端口排队</vt:lpstr>
      <vt:lpstr>缓存多大够用?</vt:lpstr>
      <vt:lpstr>PowerPoint 演示文稿</vt:lpstr>
      <vt:lpstr>PowerPoint 演示文稿</vt:lpstr>
      <vt:lpstr>PowerPoint 演示文稿</vt:lpstr>
      <vt:lpstr>PowerPoint 演示文稿</vt:lpstr>
      <vt:lpstr>The Internet 网络层</vt:lpstr>
      <vt:lpstr>IP:无连接交付系统</vt:lpstr>
      <vt:lpstr>IP 数据报格式</vt:lpstr>
      <vt:lpstr>IP分片和重新组装</vt:lpstr>
      <vt:lpstr>IP分片和重新组装</vt:lpstr>
      <vt:lpstr>第4章  网络层</vt:lpstr>
      <vt:lpstr>IP编址:概述</vt:lpstr>
      <vt:lpstr>子网</vt:lpstr>
      <vt:lpstr>子网</vt:lpstr>
      <vt:lpstr>PowerPoint 演示文稿</vt:lpstr>
      <vt:lpstr>子网</vt:lpstr>
      <vt:lpstr>分类编址</vt:lpstr>
      <vt:lpstr>IP编址: CIDR</vt:lpstr>
      <vt:lpstr>PowerPoint 演示文稿</vt:lpstr>
      <vt:lpstr>IP编址: 如何得到一个地址?</vt:lpstr>
      <vt:lpstr>IP编址: 其他问题</vt:lpstr>
      <vt:lpstr>DHCP: Dynamic Host Configuration Protocol</vt:lpstr>
      <vt:lpstr>DHCP client-server scenario</vt:lpstr>
      <vt:lpstr>DHCP client-server scenario</vt:lpstr>
      <vt:lpstr>PowerPoint 演示文稿</vt:lpstr>
      <vt:lpstr>PowerPoint 演示文稿</vt:lpstr>
      <vt:lpstr>IP编址:如何得到一个地址?</vt:lpstr>
      <vt:lpstr>等级编址: 路由聚合</vt:lpstr>
      <vt:lpstr>PowerPoint 演示文稿</vt:lpstr>
      <vt:lpstr>等级编址: 更为特定的路由</vt:lpstr>
      <vt:lpstr>PowerPoint 演示文稿</vt:lpstr>
      <vt:lpstr>第4章  网络层</vt:lpstr>
      <vt:lpstr>NAT: 网络地址转换</vt:lpstr>
      <vt:lpstr>NAT: 网络地址转换</vt:lpstr>
      <vt:lpstr>NAT: 网络地址转换</vt:lpstr>
      <vt:lpstr>NAT: 网络地址转换</vt:lpstr>
      <vt:lpstr>NAT: 网络地址转换</vt:lpstr>
      <vt:lpstr>第4章  网络层</vt:lpstr>
      <vt:lpstr>ICMP: 互联网控制报文协议</vt:lpstr>
      <vt:lpstr>Traceroute和ICMP</vt:lpstr>
      <vt:lpstr>第4章  网络层</vt:lpstr>
      <vt:lpstr>IPv6</vt:lpstr>
      <vt:lpstr>IPv6首部(续)</vt:lpstr>
      <vt:lpstr>与IPv4相比的其他变化</vt:lpstr>
      <vt:lpstr>从 IPv4到IPv6的迁移</vt:lpstr>
      <vt:lpstr>PowerPoint 演示文稿</vt:lpstr>
      <vt:lpstr>隧道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3rd Edition: Chapter 4</dc:title>
  <dc:creator>陈鸣</dc:creator>
  <cp:lastModifiedBy>Admin</cp:lastModifiedBy>
  <cp:revision>496</cp:revision>
  <dcterms:created xsi:type="dcterms:W3CDTF">1999-10-08T19:08:00Z</dcterms:created>
  <dcterms:modified xsi:type="dcterms:W3CDTF">2024-12-03T11:52:10Z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891F2E87C2A04D108E4A1DBA367372EC_12</vt:lpwstr>
  </property>
  <property fmtid="{D5CDD505-2E9C-101B-9397-08002B2CF9AE}" pid="3" name="KSOProductBuildVer">
    <vt:lpwstr>2052-12.1.0.18912</vt:lpwstr>
  </property>
</Properties>
</file>