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541" r:id="rId3"/>
    <p:sldId id="542" r:id="rId5"/>
    <p:sldId id="543" r:id="rId6"/>
    <p:sldId id="544" r:id="rId7"/>
    <p:sldId id="545" r:id="rId8"/>
    <p:sldId id="546" r:id="rId9"/>
    <p:sldId id="547" r:id="rId10"/>
    <p:sldId id="548" r:id="rId11"/>
    <p:sldId id="549" r:id="rId12"/>
    <p:sldId id="550" r:id="rId13"/>
    <p:sldId id="551" r:id="rId14"/>
    <p:sldId id="553" r:id="rId15"/>
    <p:sldId id="554" r:id="rId16"/>
    <p:sldId id="556" r:id="rId17"/>
    <p:sldId id="682" r:id="rId18"/>
    <p:sldId id="692" r:id="rId19"/>
    <p:sldId id="557" r:id="rId20"/>
    <p:sldId id="698" r:id="rId21"/>
    <p:sldId id="558" r:id="rId22"/>
    <p:sldId id="559" r:id="rId23"/>
    <p:sldId id="560" r:id="rId24"/>
    <p:sldId id="562" r:id="rId25"/>
    <p:sldId id="563" r:id="rId26"/>
    <p:sldId id="564" r:id="rId27"/>
    <p:sldId id="565" r:id="rId28"/>
    <p:sldId id="566" r:id="rId29"/>
    <p:sldId id="699" r:id="rId30"/>
    <p:sldId id="567" r:id="rId31"/>
    <p:sldId id="696" r:id="rId32"/>
    <p:sldId id="684" r:id="rId33"/>
    <p:sldId id="568" r:id="rId34"/>
    <p:sldId id="700" r:id="rId35"/>
    <p:sldId id="569" r:id="rId36"/>
    <p:sldId id="570" r:id="rId37"/>
    <p:sldId id="701" r:id="rId38"/>
    <p:sldId id="571" r:id="rId39"/>
    <p:sldId id="572" r:id="rId40"/>
    <p:sldId id="573" r:id="rId41"/>
    <p:sldId id="574" r:id="rId42"/>
    <p:sldId id="576" r:id="rId43"/>
    <p:sldId id="578" r:id="rId44"/>
    <p:sldId id="579" r:id="rId45"/>
    <p:sldId id="580" r:id="rId46"/>
    <p:sldId id="761" r:id="rId47"/>
    <p:sldId id="702" r:id="rId48"/>
    <p:sldId id="581" r:id="rId49"/>
    <p:sldId id="711" r:id="rId50"/>
    <p:sldId id="697" r:id="rId51"/>
    <p:sldId id="582" r:id="rId52"/>
    <p:sldId id="583" r:id="rId53"/>
    <p:sldId id="584" r:id="rId54"/>
    <p:sldId id="586" r:id="rId55"/>
    <p:sldId id="703" r:id="rId56"/>
    <p:sldId id="587" r:id="rId57"/>
    <p:sldId id="710" r:id="rId58"/>
    <p:sldId id="685" r:id="rId59"/>
    <p:sldId id="686" r:id="rId60"/>
    <p:sldId id="588" r:id="rId61"/>
    <p:sldId id="589" r:id="rId62"/>
    <p:sldId id="590" r:id="rId63"/>
    <p:sldId id="591" r:id="rId64"/>
    <p:sldId id="592" r:id="rId65"/>
    <p:sldId id="762" r:id="rId66"/>
    <p:sldId id="704" r:id="rId67"/>
    <p:sldId id="594" r:id="rId68"/>
    <p:sldId id="595" r:id="rId69"/>
    <p:sldId id="596" r:id="rId70"/>
    <p:sldId id="597" r:id="rId71"/>
    <p:sldId id="598" r:id="rId72"/>
    <p:sldId id="600" r:id="rId73"/>
    <p:sldId id="712" r:id="rId74"/>
    <p:sldId id="601" r:id="rId75"/>
    <p:sldId id="763" r:id="rId76"/>
    <p:sldId id="602" r:id="rId77"/>
    <p:sldId id="688" r:id="rId78"/>
    <p:sldId id="689" r:id="rId79"/>
    <p:sldId id="691" r:id="rId80"/>
    <p:sldId id="603" r:id="rId81"/>
    <p:sldId id="607" r:id="rId82"/>
    <p:sldId id="705" r:id="rId83"/>
    <p:sldId id="610" r:id="rId84"/>
    <p:sldId id="611" r:id="rId85"/>
    <p:sldId id="706" r:id="rId86"/>
    <p:sldId id="613" r:id="rId87"/>
    <p:sldId id="615" r:id="rId88"/>
    <p:sldId id="617" r:id="rId89"/>
    <p:sldId id="713" r:id="rId90"/>
    <p:sldId id="714" r:id="rId91"/>
    <p:sldId id="715" r:id="rId92"/>
    <p:sldId id="716" r:id="rId93"/>
    <p:sldId id="717" r:id="rId94"/>
    <p:sldId id="718" r:id="rId95"/>
    <p:sldId id="719" r:id="rId96"/>
    <p:sldId id="720" r:id="rId97"/>
    <p:sldId id="753" r:id="rId98"/>
    <p:sldId id="754" r:id="rId99"/>
    <p:sldId id="721" r:id="rId100"/>
    <p:sldId id="722" r:id="rId101"/>
    <p:sldId id="724" r:id="rId102"/>
    <p:sldId id="725" r:id="rId103"/>
    <p:sldId id="726" r:id="rId104"/>
    <p:sldId id="727" r:id="rId105"/>
    <p:sldId id="777" r:id="rId106"/>
    <p:sldId id="778" r:id="rId107"/>
    <p:sldId id="764" r:id="rId108"/>
    <p:sldId id="755" r:id="rId109"/>
    <p:sldId id="756" r:id="rId110"/>
    <p:sldId id="773" r:id="rId111"/>
    <p:sldId id="774" r:id="rId112"/>
    <p:sldId id="775" r:id="rId113"/>
    <p:sldId id="776" r:id="rId114"/>
    <p:sldId id="765" r:id="rId115"/>
    <p:sldId id="842" r:id="rId116"/>
    <p:sldId id="766" r:id="rId117"/>
    <p:sldId id="767" r:id="rId118"/>
    <p:sldId id="768" r:id="rId119"/>
    <p:sldId id="769" r:id="rId120"/>
    <p:sldId id="770" r:id="rId121"/>
    <p:sldId id="771" r:id="rId122"/>
    <p:sldId id="772" r:id="rId123"/>
    <p:sldId id="841" r:id="rId124"/>
    <p:sldId id="840" r:id="rId125"/>
    <p:sldId id="757" r:id="rId126"/>
    <p:sldId id="759" r:id="rId127"/>
    <p:sldId id="760" r:id="rId128"/>
  </p:sldIdLst>
  <p:sldSz cx="9144000" cy="6858000" type="screen4x3"/>
  <p:notesSz cx="6858000" cy="9144000"/>
  <p:custDataLst>
    <p:tags r:id="rId13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CC3300"/>
    <a:srgbClr val="FF00FF"/>
    <a:srgbClr val="FF66FF"/>
    <a:srgbClr val="130A36"/>
    <a:srgbClr val="79710F"/>
    <a:srgbClr val="EEE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958"/>
    <p:restoredTop sz="82186"/>
  </p:normalViewPr>
  <p:slideViewPr>
    <p:cSldViewPr showGuides="1">
      <p:cViewPr varScale="1">
        <p:scale>
          <a:sx n="87" d="100"/>
          <a:sy n="87" d="100"/>
        </p:scale>
        <p:origin x="1083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61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2" Type="http://schemas.openxmlformats.org/officeDocument/2006/relationships/tags" Target="tags/tag1.xml"/><Relationship Id="rId131" Type="http://schemas.openxmlformats.org/officeDocument/2006/relationships/tableStyles" Target="tableStyles.xml"/><Relationship Id="rId130" Type="http://schemas.openxmlformats.org/officeDocument/2006/relationships/viewProps" Target="viewProps.xml"/><Relationship Id="rId13" Type="http://schemas.openxmlformats.org/officeDocument/2006/relationships/slide" Target="slides/slide10.xml"/><Relationship Id="rId129" Type="http://schemas.openxmlformats.org/officeDocument/2006/relationships/presProps" Target="presProps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53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可知关系</a:t>
            </a:r>
            <a:r>
              <a:rPr lang="en-US" altLang="zh-CN" dirty="0"/>
              <a:t>C</a:t>
            </a:r>
            <a:r>
              <a:rPr lang="zh-CN" altLang="en-US" dirty="0"/>
              <a:t>只有一个码</a:t>
            </a:r>
            <a:r>
              <a:rPr lang="en-US" altLang="zh-CN" dirty="0"/>
              <a:t>Cno</a:t>
            </a:r>
            <a:r>
              <a:rPr lang="zh-CN" altLang="en-US" dirty="0"/>
              <a:t>，且没有任何属性对</a:t>
            </a:r>
            <a:r>
              <a:rPr lang="en-US" altLang="zh-CN" dirty="0"/>
              <a:t>Cno</a:t>
            </a:r>
            <a:r>
              <a:rPr lang="zh-CN" altLang="en-US" dirty="0"/>
              <a:t>部分函数依赖或传递函数依赖，所以关系</a:t>
            </a:r>
            <a:r>
              <a:rPr lang="en-US" altLang="zh-CN" dirty="0"/>
              <a:t>C</a:t>
            </a:r>
            <a:r>
              <a:rPr lang="zh-CN" altLang="en-US" dirty="0"/>
              <a:t>属于第三范式，同时</a:t>
            </a:r>
            <a:r>
              <a:rPr lang="en-US" altLang="zh-CN" dirty="0"/>
              <a:t>Cno</a:t>
            </a:r>
            <a:r>
              <a:rPr lang="zh-CN" altLang="en-US" dirty="0"/>
              <a:t>是</a:t>
            </a:r>
            <a:r>
              <a:rPr lang="en-US" altLang="zh-CN" dirty="0"/>
              <a:t>C</a:t>
            </a:r>
            <a:r>
              <a:rPr lang="zh-CN" altLang="en-US" dirty="0"/>
              <a:t>中的唯一决定因素，所以</a:t>
            </a:r>
            <a:r>
              <a:rPr lang="en-US" altLang="zh-CN" dirty="0"/>
              <a:t>C</a:t>
            </a:r>
            <a:r>
              <a:rPr lang="zh-CN" altLang="en-US" dirty="0"/>
              <a:t>也属于</a:t>
            </a:r>
            <a:r>
              <a:rPr lang="en-US" altLang="zh-CN" dirty="0"/>
              <a:t>BC</a:t>
            </a:r>
            <a:r>
              <a:rPr lang="zh-CN" altLang="en-US" dirty="0"/>
              <a:t>范式。</a:t>
            </a:r>
            <a:endParaRPr lang="zh-CN" altLang="en-US" dirty="0"/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b="1" dirty="0"/>
              <a:t>判定方法：对于任意关系中，如果存在两个元组（就是行），记为</a:t>
            </a:r>
            <a:r>
              <a:rPr lang="en-US" altLang="zh-CN" b="1" dirty="0"/>
              <a:t>A,B</a:t>
            </a:r>
            <a:r>
              <a:rPr lang="zh-CN" altLang="en-US" b="1" dirty="0"/>
              <a:t>，如果他们的某一属性</a:t>
            </a:r>
            <a:r>
              <a:rPr lang="en-US" altLang="zh-CN" b="1" dirty="0"/>
              <a:t>X</a:t>
            </a:r>
            <a:r>
              <a:rPr lang="zh-CN" altLang="en-US" b="1" dirty="0"/>
              <a:t>的值相等，那么我们交换它们另外的属性</a:t>
            </a:r>
            <a:r>
              <a:rPr lang="en-US" altLang="zh-CN" b="1" dirty="0"/>
              <a:t>Y</a:t>
            </a:r>
            <a:r>
              <a:rPr lang="zh-CN" altLang="en-US" b="1" dirty="0"/>
              <a:t>的值后，得到的新的两个元组，在表中是可以在原来的表中找到与它们相匹配的元组的。</a:t>
            </a:r>
            <a:endParaRPr lang="zh-CN" altLang="en-US" dirty="0"/>
          </a:p>
        </p:txBody>
      </p:sp>
      <p:sp>
        <p:nvSpPr>
          <p:cNvPr id="901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b="1" dirty="0"/>
              <a:t>判定方法：对于任意关系中，如果存在两个元组（就是行），记为</a:t>
            </a:r>
            <a:r>
              <a:rPr lang="en-US" altLang="zh-CN" b="1" dirty="0"/>
              <a:t>A,B</a:t>
            </a:r>
            <a:r>
              <a:rPr lang="zh-CN" altLang="en-US" b="1" dirty="0"/>
              <a:t>，如果他们的某一属性</a:t>
            </a:r>
            <a:r>
              <a:rPr lang="en-US" altLang="zh-CN" b="1" dirty="0"/>
              <a:t>X</a:t>
            </a:r>
            <a:r>
              <a:rPr lang="zh-CN" altLang="en-US" b="1" dirty="0"/>
              <a:t>的值相等，那么我们交换它们另外的属性</a:t>
            </a:r>
            <a:r>
              <a:rPr lang="en-US" altLang="zh-CN" b="1" dirty="0"/>
              <a:t>Y</a:t>
            </a:r>
            <a:r>
              <a:rPr lang="zh-CN" altLang="en-US" b="1" dirty="0"/>
              <a:t>的值后，得到的新的两个元组，在表中是可以在原来的表中找到与它们相匹配的元组的。</a:t>
            </a:r>
            <a:endParaRPr lang="zh-CN" altLang="en-US" dirty="0"/>
          </a:p>
        </p:txBody>
      </p:sp>
      <p:sp>
        <p:nvSpPr>
          <p:cNvPr id="921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b="1" dirty="0"/>
              <a:t>判定方法：对于任意关系中，如果存在两个元组（就是行），记为</a:t>
            </a:r>
            <a:r>
              <a:rPr lang="en-US" altLang="zh-CN" b="1" dirty="0"/>
              <a:t>A,B</a:t>
            </a:r>
            <a:r>
              <a:rPr lang="zh-CN" altLang="en-US" b="1" dirty="0"/>
              <a:t>，如果他们的某一属性</a:t>
            </a:r>
            <a:r>
              <a:rPr lang="en-US" altLang="zh-CN" b="1" dirty="0"/>
              <a:t>X</a:t>
            </a:r>
            <a:r>
              <a:rPr lang="zh-CN" altLang="en-US" b="1" dirty="0"/>
              <a:t>的值相等，那么我们交换它们另外的属性</a:t>
            </a:r>
            <a:r>
              <a:rPr lang="en-US" altLang="zh-CN" b="1" dirty="0"/>
              <a:t>Y</a:t>
            </a:r>
            <a:r>
              <a:rPr lang="zh-CN" altLang="en-US" b="1" dirty="0"/>
              <a:t>的值后，得到的新的两个元组，在表中是可以在原来的表中找到与它们相匹配的元组的。</a:t>
            </a:r>
            <a:endParaRPr lang="zh-CN" altLang="en-US" dirty="0"/>
          </a:p>
        </p:txBody>
      </p:sp>
      <p:sp>
        <p:nvSpPr>
          <p:cNvPr id="962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>
                <a:solidFill>
                  <a:srgbClr val="FF9900"/>
                </a:solidFill>
              </a:rPr>
              <a:t>闭包就是由一个属性直接或间接推导出的所有属性的集合</a:t>
            </a:r>
            <a:endParaRPr lang="en-US" altLang="zh-CN" dirty="0">
              <a:solidFill>
                <a:srgbClr val="FF9900"/>
              </a:solidFill>
            </a:endParaRPr>
          </a:p>
          <a:p>
            <a:pPr lvl="0"/>
            <a:r>
              <a:rPr lang="en-US" altLang="zh-CN" dirty="0">
                <a:solidFill>
                  <a:srgbClr val="CC33CC"/>
                </a:solidFill>
              </a:rPr>
              <a:t>f={a-&gt;b,b-&gt;c,a-&gt;d,e-&gt;f} </a:t>
            </a:r>
            <a:r>
              <a:rPr lang="zh-CN" altLang="en-US" dirty="0">
                <a:solidFill>
                  <a:srgbClr val="CC33CC"/>
                </a:solidFill>
              </a:rPr>
              <a:t>由</a:t>
            </a:r>
            <a:r>
              <a:rPr lang="en-US" altLang="zh-CN" dirty="0">
                <a:solidFill>
                  <a:srgbClr val="CC33CC"/>
                </a:solidFill>
              </a:rPr>
              <a:t>a</a:t>
            </a:r>
            <a:r>
              <a:rPr lang="zh-CN" altLang="en-US" dirty="0">
                <a:solidFill>
                  <a:srgbClr val="CC33CC"/>
                </a:solidFill>
              </a:rPr>
              <a:t>可直接得到</a:t>
            </a:r>
            <a:r>
              <a:rPr lang="en-US" altLang="zh-CN" dirty="0">
                <a:solidFill>
                  <a:srgbClr val="CC33CC"/>
                </a:solidFill>
              </a:rPr>
              <a:t>b</a:t>
            </a:r>
            <a:r>
              <a:rPr lang="zh-CN" altLang="en-US" dirty="0">
                <a:solidFill>
                  <a:srgbClr val="CC33CC"/>
                </a:solidFill>
              </a:rPr>
              <a:t>和</a:t>
            </a:r>
            <a:r>
              <a:rPr lang="en-US" altLang="zh-CN" dirty="0">
                <a:solidFill>
                  <a:srgbClr val="CC33CC"/>
                </a:solidFill>
              </a:rPr>
              <a:t>d</a:t>
            </a:r>
            <a:r>
              <a:rPr lang="zh-CN" altLang="en-US" dirty="0">
                <a:solidFill>
                  <a:srgbClr val="CC33CC"/>
                </a:solidFill>
              </a:rPr>
              <a:t>，间接得到</a:t>
            </a:r>
            <a:r>
              <a:rPr lang="en-US" altLang="zh-CN" dirty="0">
                <a:solidFill>
                  <a:srgbClr val="CC33CC"/>
                </a:solidFill>
              </a:rPr>
              <a:t>c</a:t>
            </a:r>
            <a:r>
              <a:rPr lang="zh-CN" altLang="en-US" dirty="0">
                <a:solidFill>
                  <a:srgbClr val="CC33CC"/>
                </a:solidFill>
              </a:rPr>
              <a:t>，则</a:t>
            </a:r>
            <a:r>
              <a:rPr lang="en-US" altLang="zh-CN" dirty="0">
                <a:solidFill>
                  <a:srgbClr val="CC33CC"/>
                </a:solidFill>
              </a:rPr>
              <a:t>a</a:t>
            </a:r>
            <a:r>
              <a:rPr lang="zh-CN" altLang="en-US" dirty="0">
                <a:solidFill>
                  <a:srgbClr val="CC33CC"/>
                </a:solidFill>
              </a:rPr>
              <a:t>的闭包就是</a:t>
            </a:r>
            <a:r>
              <a:rPr lang="en-US" altLang="zh-CN" dirty="0">
                <a:solidFill>
                  <a:srgbClr val="CC33CC"/>
                </a:solidFill>
              </a:rPr>
              <a:t>{a,b,c,d}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1198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>
                <a:solidFill>
                  <a:srgbClr val="FF9900"/>
                </a:solidFill>
              </a:rPr>
              <a:t>闭包就是由一个属性直接或间接推导出的所有属性的集合</a:t>
            </a:r>
            <a:endParaRPr lang="en-US" altLang="zh-CN" dirty="0">
              <a:solidFill>
                <a:srgbClr val="FF9900"/>
              </a:solidFill>
            </a:endParaRPr>
          </a:p>
          <a:p>
            <a:pPr lvl="0"/>
            <a:r>
              <a:rPr lang="en-US" altLang="zh-CN" dirty="0">
                <a:solidFill>
                  <a:srgbClr val="CC33CC"/>
                </a:solidFill>
              </a:rPr>
              <a:t>f={a-&gt;b,b-&gt;c,a-&gt;d,e-&gt;f} </a:t>
            </a:r>
            <a:r>
              <a:rPr lang="zh-CN" altLang="en-US" dirty="0">
                <a:solidFill>
                  <a:srgbClr val="CC33CC"/>
                </a:solidFill>
              </a:rPr>
              <a:t>由</a:t>
            </a:r>
            <a:r>
              <a:rPr lang="en-US" altLang="zh-CN" dirty="0">
                <a:solidFill>
                  <a:srgbClr val="CC33CC"/>
                </a:solidFill>
              </a:rPr>
              <a:t>a</a:t>
            </a:r>
            <a:r>
              <a:rPr lang="zh-CN" altLang="en-US" dirty="0">
                <a:solidFill>
                  <a:srgbClr val="CC33CC"/>
                </a:solidFill>
              </a:rPr>
              <a:t>可直接得到</a:t>
            </a:r>
            <a:r>
              <a:rPr lang="en-US" altLang="zh-CN" dirty="0">
                <a:solidFill>
                  <a:srgbClr val="CC33CC"/>
                </a:solidFill>
              </a:rPr>
              <a:t>b</a:t>
            </a:r>
            <a:r>
              <a:rPr lang="zh-CN" altLang="en-US" dirty="0">
                <a:solidFill>
                  <a:srgbClr val="CC33CC"/>
                </a:solidFill>
              </a:rPr>
              <a:t>和</a:t>
            </a:r>
            <a:r>
              <a:rPr lang="en-US" altLang="zh-CN" dirty="0">
                <a:solidFill>
                  <a:srgbClr val="CC33CC"/>
                </a:solidFill>
              </a:rPr>
              <a:t>d</a:t>
            </a:r>
            <a:r>
              <a:rPr lang="zh-CN" altLang="en-US" dirty="0">
                <a:solidFill>
                  <a:srgbClr val="CC33CC"/>
                </a:solidFill>
              </a:rPr>
              <a:t>，间接得到</a:t>
            </a:r>
            <a:r>
              <a:rPr lang="en-US" altLang="zh-CN" dirty="0">
                <a:solidFill>
                  <a:srgbClr val="CC33CC"/>
                </a:solidFill>
              </a:rPr>
              <a:t>c</a:t>
            </a:r>
            <a:r>
              <a:rPr lang="zh-CN" altLang="en-US" dirty="0">
                <a:solidFill>
                  <a:srgbClr val="CC33CC"/>
                </a:solidFill>
              </a:rPr>
              <a:t>，则</a:t>
            </a:r>
            <a:r>
              <a:rPr lang="en-US" altLang="zh-CN" dirty="0">
                <a:solidFill>
                  <a:srgbClr val="CC33CC"/>
                </a:solidFill>
              </a:rPr>
              <a:t>a</a:t>
            </a:r>
            <a:r>
              <a:rPr lang="zh-CN" altLang="en-US" dirty="0">
                <a:solidFill>
                  <a:srgbClr val="CC33CC"/>
                </a:solidFill>
              </a:rPr>
              <a:t>的闭包就是</a:t>
            </a:r>
            <a:r>
              <a:rPr lang="en-US" altLang="zh-CN" dirty="0">
                <a:solidFill>
                  <a:srgbClr val="CC33CC"/>
                </a:solidFill>
              </a:rPr>
              <a:t>{a,b,c,d}</a:t>
            </a:r>
            <a:endParaRPr lang="zh-CN" altLang="en-US" dirty="0"/>
          </a:p>
        </p:txBody>
      </p:sp>
      <p:sp>
        <p:nvSpPr>
          <p:cNvPr id="1218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(2)</a:t>
            </a:r>
            <a:r>
              <a:rPr lang="zh-CN" altLang="en-US" dirty="0"/>
              <a:t>求</a:t>
            </a:r>
            <a:r>
              <a:rPr lang="en-US" altLang="zh-CN" dirty="0"/>
              <a:t>B</a:t>
            </a:r>
            <a:r>
              <a:rPr lang="zh-CN" altLang="en-US" dirty="0"/>
              <a:t>：在</a:t>
            </a:r>
            <a:r>
              <a:rPr lang="en-US" altLang="zh-CN" dirty="0"/>
              <a:t>F</a:t>
            </a:r>
            <a:r>
              <a:rPr lang="zh-CN" altLang="en-US" dirty="0"/>
              <a:t>中依次查找每个没有被标记的函数依赖，若“左边属性集”包含于</a:t>
            </a:r>
            <a:r>
              <a:rPr lang="en-US" altLang="zh-CN" dirty="0"/>
              <a:t>X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，则令 </a:t>
            </a:r>
            <a:r>
              <a:rPr lang="en-US" altLang="zh-CN" dirty="0"/>
              <a:t>X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r>
              <a:rPr lang="en-US" altLang="zh-CN" dirty="0"/>
              <a:t> = X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r>
              <a:rPr lang="en-US" altLang="zh-CN" dirty="0"/>
              <a:t>∪“</a:t>
            </a:r>
            <a:r>
              <a:rPr lang="zh-CN" altLang="en-US" dirty="0"/>
              <a:t>右边属性集”</a:t>
            </a:r>
            <a:r>
              <a:rPr lang="en-US" altLang="zh-CN" dirty="0"/>
              <a:t>,</a:t>
            </a:r>
            <a:r>
              <a:rPr lang="zh-CN" altLang="en-US" dirty="0"/>
              <a:t>为被访问过的函数依赖设置访问标记。</a:t>
            </a:r>
            <a:endParaRPr lang="en-US" altLang="zh-CN" dirty="0"/>
          </a:p>
          <a:p>
            <a:pPr lvl="0"/>
            <a:r>
              <a:rPr lang="zh-CN" altLang="en-US" b="1" dirty="0">
                <a:solidFill>
                  <a:srgbClr val="333333"/>
                </a:solidFill>
                <a:latin typeface="PingFang SC"/>
              </a:rPr>
              <a:t>闭包概念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　　以下是写的比较科学规范的闭包求解方法，设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均为关系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R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的属性集的子集，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R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上的函数依赖集，若对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R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的任一属性集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，一旦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X→B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，必有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B⊆Y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，且对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R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的任一满足以上条件的属性集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Y1 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，必有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Y⊆Y1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，此时称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为属性集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在函数依赖集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下的闭包，记作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baseline="30000" dirty="0">
                <a:solidFill>
                  <a:srgbClr val="333333"/>
                </a:solidFill>
                <a:latin typeface="PingFang SC"/>
              </a:rPr>
              <a:t>＋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。 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　　计算关系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R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的属性集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的闭包的步骤如下： 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　　第一步：设最终将成为闭包的属性集是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，把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初始化为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； 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　　第二步：检查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中的每一个函数依赖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A→B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，如果属性集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中所有属性均在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中，而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中有的属性不在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中，则将其加入到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中； 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　　第三步：重复第二步，直到没有属性可以添加到属性集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中为止。 最后得到的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Y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就是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baseline="30000" dirty="0">
                <a:solidFill>
                  <a:srgbClr val="333333"/>
                </a:solidFill>
                <a:latin typeface="PingFang SC"/>
              </a:rPr>
              <a:t>＋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      例（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）：   设有关系模式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R(U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F)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，其中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U={A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C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D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I}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F={A→D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AB→E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BI→E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CD→I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E→C}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，计算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(AE)</a:t>
            </a:r>
            <a:r>
              <a:rPr lang="en-US" altLang="zh-CN" baseline="30000" dirty="0">
                <a:solidFill>
                  <a:srgbClr val="333333"/>
                </a:solidFill>
                <a:latin typeface="PingFang SC"/>
              </a:rPr>
              <a:t>+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        解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:  (1) 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令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X={AE}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X(0)=AE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en-US" altLang="zh-CN" dirty="0">
                <a:solidFill>
                  <a:srgbClr val="333333"/>
                </a:solidFill>
                <a:latin typeface="PingFang SC"/>
              </a:rPr>
              <a:t>              (2)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在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中寻找尚未使用过的左边是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的子集的函数依赖，结果是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: A→D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 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E→C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；所以 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X(1)=X(0)DC=ACDE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 显然 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X(1)≠X(0).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en-US" altLang="zh-CN" dirty="0">
                <a:solidFill>
                  <a:srgbClr val="333333"/>
                </a:solidFill>
                <a:latin typeface="PingFang SC"/>
              </a:rPr>
              <a:t>              (3) 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在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中寻找尚未使用过的左边是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ACDE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的子集的函数依赖， 结果是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: CD→I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；所以 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X(2)=X(1)I=ACDEI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。虽然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）≠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X(1)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，但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中寻找尚未使用过函数依赖的左边已经没有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）的子集，所以不必再计算下去，即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(AE)</a:t>
            </a:r>
            <a:r>
              <a:rPr lang="en-US" altLang="zh-CN" baseline="30000" dirty="0">
                <a:solidFill>
                  <a:srgbClr val="333333"/>
                </a:solidFill>
                <a:latin typeface="PingFang SC"/>
              </a:rPr>
              <a:t>+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=ACDEI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。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　　　</a:t>
            </a:r>
            <a:r>
              <a:rPr lang="zh-CN" altLang="en-US" b="1" dirty="0">
                <a:solidFill>
                  <a:srgbClr val="333333"/>
                </a:solidFill>
                <a:latin typeface="PingFang SC"/>
              </a:rPr>
              <a:t>说白话一点：闭包就是由一个属性直接或间接推导出的所有属性的集合。</a:t>
            </a:r>
            <a:endParaRPr lang="zh-CN" altLang="en-US" dirty="0">
              <a:solidFill>
                <a:srgbClr val="333333"/>
              </a:solidFill>
              <a:latin typeface="PingFang SC"/>
            </a:endParaRPr>
          </a:p>
          <a:p>
            <a:pPr lvl="0"/>
            <a:r>
              <a:rPr lang="zh-CN" altLang="en-US" dirty="0">
                <a:solidFill>
                  <a:srgbClr val="333333"/>
                </a:solidFill>
                <a:latin typeface="PingFang SC"/>
              </a:rPr>
              <a:t>         例如：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f={a-&gt;b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b-&gt;c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a-&gt;d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e-&gt;f}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；由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可直接得到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d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，间接得到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c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，则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的闭包就是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{a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c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d}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 lvl="0"/>
            <a:endParaRPr lang="zh-CN" altLang="en-US" dirty="0"/>
          </a:p>
        </p:txBody>
      </p:sp>
      <p:sp>
        <p:nvSpPr>
          <p:cNvPr id="1239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69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详细步骤如下页</a:t>
            </a:r>
            <a:endParaRPr lang="zh-CN" altLang="en-US" dirty="0"/>
          </a:p>
        </p:txBody>
      </p:sp>
      <p:sp>
        <p:nvSpPr>
          <p:cNvPr id="1269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43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44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2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5796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796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49" name="图片 2048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3" name="图片 3072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097" name="图片 4096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1" name="图片 5120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45" name="图片 6144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169" name="图片 7168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193" name="图片 8192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17" name="图片 9216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41" name="图片 10240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r>
              <a:rPr lang="en-US" altLang="zh-CN" dirty="0">
                <a:latin typeface="Arial Black" panose="020B0A04020102020204" pitchFamily="34" charset="0"/>
              </a:rPr>
              <a:t>/103</a:t>
            </a:r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265" name="图片 11264" descr="ppt/media/image1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85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785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5" name="图片 1024" descr="ppt/media/image1.png"/>
          <p:cNvPicPr/>
          <p:nvPr userDrawn="1"/>
        </p:nvPicPr>
        <p:blipFill>
          <a:blip r:embed="rId13"/>
          <a:stretch>
            <a:fillRect/>
          </a:stretch>
        </p:blipFill>
        <p:spPr>
          <a:xfrm>
            <a:off x="8027988" y="0"/>
            <a:ext cx="111601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3"/>
          <p:cNvSpPr/>
          <p:nvPr/>
        </p:nvSpPr>
        <p:spPr>
          <a:xfrm>
            <a:off x="755650" y="990600"/>
            <a:ext cx="7924800" cy="3444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800" b="1" dirty="0">
              <a:latin typeface="Arial Black" panose="020B0A04020102020204" pitchFamily="34" charset="0"/>
              <a:ea typeface="隶书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b="1" dirty="0">
                <a:latin typeface="Arial Black" panose="020B0A04020102020204" pitchFamily="34" charset="0"/>
                <a:ea typeface="隶书" pitchFamily="49" charset="-122"/>
              </a:rPr>
              <a:t>数据库系统概论</a:t>
            </a:r>
            <a:endParaRPr lang="zh-CN" altLang="en-US" sz="4800" b="1" dirty="0">
              <a:latin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An Introduction to Database System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第六章 关系数据理论</a:t>
            </a:r>
            <a:endParaRPr lang="zh-CN" altLang="en-US" sz="4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第六章 关系数据理论</a:t>
            </a:r>
            <a:endParaRPr lang="zh-CN" altLang="en-US"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1187450" y="1773238"/>
            <a:ext cx="641985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6.1 </a:t>
            </a:r>
            <a:r>
              <a:rPr lang="zh-CN" altLang="en-US" b="1" dirty="0">
                <a:solidFill>
                  <a:schemeClr val="tx2"/>
                </a:solidFill>
              </a:rPr>
              <a:t>问题的提出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6.2 </a:t>
            </a:r>
            <a:r>
              <a:rPr lang="zh-CN" altLang="en-US" b="1" dirty="0"/>
              <a:t>规范化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6.3 </a:t>
            </a:r>
            <a:r>
              <a:rPr lang="zh-CN" altLang="en-US" b="1" dirty="0"/>
              <a:t>数据依赖的公理系统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6.4 </a:t>
            </a:r>
            <a:r>
              <a:rPr lang="zh-CN" altLang="en-US" b="1" dirty="0"/>
              <a:t>模式的分解（略）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6.5 </a:t>
            </a:r>
            <a:r>
              <a:rPr lang="zh-CN" altLang="en-US" b="1" dirty="0"/>
              <a:t>小结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6.1 </a:t>
            </a:r>
            <a:r>
              <a:rPr lang="zh-CN" altLang="en-US" b="1" dirty="0"/>
              <a:t>问题的提出</a:t>
            </a:r>
            <a:endParaRPr lang="zh-CN" altLang="en-US" b="1" dirty="0"/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lnSpc>
                <a:spcPct val="170000"/>
              </a:lnSpc>
              <a:buNone/>
            </a:pPr>
            <a:r>
              <a:rPr lang="zh-CN" altLang="en-US" sz="2800" b="1" dirty="0"/>
              <a:t>关系数据库逻辑设计</a:t>
            </a:r>
            <a:endParaRPr lang="zh-CN" altLang="en-US" sz="2800" b="1" dirty="0"/>
          </a:p>
          <a:p>
            <a:pPr lvl="1" algn="just" eaLnBrk="1" hangingPunct="1">
              <a:lnSpc>
                <a:spcPct val="170000"/>
              </a:lnSpc>
            </a:pPr>
            <a:r>
              <a:rPr lang="zh-CN" altLang="en-US" b="1" dirty="0"/>
              <a:t>针对具体问题，如何构造一个适合于它的数据模式</a:t>
            </a:r>
            <a:endParaRPr lang="zh-CN" altLang="en-US" b="1" dirty="0"/>
          </a:p>
          <a:p>
            <a:pPr lvl="1" algn="just" eaLnBrk="1" hangingPunct="1">
              <a:lnSpc>
                <a:spcPct val="170000"/>
              </a:lnSpc>
            </a:pPr>
            <a:r>
              <a:rPr lang="zh-CN" altLang="en-US" b="1" dirty="0"/>
              <a:t>数据库逻辑设计的工具──关系数据库的规范化理论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问题的提出</a:t>
            </a:r>
            <a:endParaRPr lang="zh-CN" altLang="en-US" b="1" dirty="0"/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900113" y="1557338"/>
            <a:ext cx="7786687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200000"/>
              </a:lnSpc>
              <a:buNone/>
            </a:pPr>
            <a:r>
              <a:rPr lang="zh-CN" altLang="en-US" sz="2800" b="1" dirty="0"/>
              <a:t>一、概念回顾</a:t>
            </a:r>
            <a:endParaRPr lang="zh-CN" altLang="en-US" sz="2800" b="1" dirty="0"/>
          </a:p>
          <a:p>
            <a:pPr eaLnBrk="1" hangingPunct="1">
              <a:lnSpc>
                <a:spcPct val="200000"/>
              </a:lnSpc>
              <a:buNone/>
            </a:pPr>
            <a:r>
              <a:rPr lang="zh-CN" altLang="en-US" sz="2800" b="1" dirty="0"/>
              <a:t>二、关系模式的形式化定义</a:t>
            </a:r>
            <a:endParaRPr lang="zh-CN" altLang="en-US" sz="2800" b="1" dirty="0"/>
          </a:p>
          <a:p>
            <a:pPr eaLnBrk="1" hangingPunct="1">
              <a:lnSpc>
                <a:spcPct val="200000"/>
              </a:lnSpc>
              <a:buNone/>
            </a:pPr>
            <a:r>
              <a:rPr lang="zh-CN" altLang="en-US" sz="2800" b="1" dirty="0"/>
              <a:t>三、什么是数据依赖</a:t>
            </a:r>
            <a:endParaRPr lang="zh-CN" altLang="en-US" sz="2800" b="1" dirty="0"/>
          </a:p>
          <a:p>
            <a:pPr eaLnBrk="1" hangingPunct="1">
              <a:lnSpc>
                <a:spcPct val="200000"/>
              </a:lnSpc>
              <a:buNone/>
            </a:pPr>
            <a:r>
              <a:rPr lang="zh-CN" altLang="en-US" sz="2800" b="1" dirty="0"/>
              <a:t>四、关系模式的简化定义</a:t>
            </a:r>
            <a:endParaRPr lang="zh-CN" altLang="en-US" sz="2800" b="1" dirty="0"/>
          </a:p>
          <a:p>
            <a:pPr eaLnBrk="1" hangingPunct="1">
              <a:lnSpc>
                <a:spcPct val="200000"/>
              </a:lnSpc>
              <a:buNone/>
            </a:pPr>
            <a:r>
              <a:rPr lang="zh-CN" altLang="en-US" sz="2800" b="1" dirty="0"/>
              <a:t>五、数据依赖对关系模式影响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一、概念回顾</a:t>
            </a:r>
            <a:endParaRPr lang="zh-CN" altLang="en-US" b="1" dirty="0"/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914400" y="1985963"/>
            <a:ext cx="7772400" cy="35575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FF00FF"/>
                </a:solidFill>
              </a:rPr>
              <a:t>关系</a:t>
            </a:r>
            <a:endParaRPr lang="zh-CN" altLang="en-US" sz="28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9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FF00FF"/>
                </a:solidFill>
              </a:rPr>
              <a:t>关系模式</a:t>
            </a:r>
            <a:endParaRPr lang="zh-CN" altLang="en-US" sz="28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900" b="1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FF00FF"/>
                </a:solidFill>
              </a:rPr>
              <a:t>关系数据库</a:t>
            </a:r>
            <a:endParaRPr lang="zh-CN" altLang="en-US" sz="28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9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FF00FF"/>
                </a:solidFill>
              </a:rPr>
              <a:t>关系数据库的模式</a:t>
            </a:r>
            <a:endParaRPr lang="zh-CN" altLang="en-US" sz="2800" b="1" dirty="0"/>
          </a:p>
        </p:txBody>
      </p:sp>
      <p:sp>
        <p:nvSpPr>
          <p:cNvPr id="1946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二、关系模式的形式化定义</a:t>
            </a:r>
            <a:endParaRPr lang="zh-CN" altLang="en-US" b="1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990600" y="16764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关系模式由五部分组成，即它是一个五元组：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                    </a:t>
            </a:r>
            <a:r>
              <a:rPr lang="en-US" altLang="zh-CN" b="1" dirty="0">
                <a:solidFill>
                  <a:srgbClr val="FF00FF"/>
                </a:solidFill>
              </a:rPr>
              <a:t>R(U, D, DOM, F)</a:t>
            </a:r>
            <a:endParaRPr lang="en-US" altLang="zh-CN" b="1" dirty="0">
              <a:solidFill>
                <a:srgbClr val="FF00FF"/>
              </a:solidFill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600" b="1" dirty="0"/>
              <a:t>R</a:t>
            </a:r>
            <a:r>
              <a:rPr lang="zh-CN" altLang="en-US" sz="2600" b="1" dirty="0"/>
              <a:t>：      关系名</a:t>
            </a:r>
            <a:endParaRPr lang="zh-CN" altLang="en-US" sz="2600" b="1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600" b="1" dirty="0"/>
              <a:t>U</a:t>
            </a:r>
            <a:r>
              <a:rPr lang="zh-CN" altLang="en-US" sz="2600" b="1" dirty="0"/>
              <a:t>：       组成该关系的属性名集合</a:t>
            </a:r>
            <a:endParaRPr lang="zh-CN" altLang="en-US" sz="2600" b="1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600" b="1" dirty="0"/>
              <a:t>D</a:t>
            </a:r>
            <a:r>
              <a:rPr lang="zh-CN" altLang="en-US" sz="2600" b="1" dirty="0"/>
              <a:t>：       属性组</a:t>
            </a:r>
            <a:r>
              <a:rPr lang="en-US" altLang="zh-CN" sz="2600" b="1" dirty="0"/>
              <a:t>U</a:t>
            </a:r>
            <a:r>
              <a:rPr lang="zh-CN" altLang="en-US" sz="2600" b="1" dirty="0"/>
              <a:t>中属性所来自的域</a:t>
            </a:r>
            <a:endParaRPr lang="zh-CN" altLang="en-US" sz="2600" b="1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600" b="1" dirty="0"/>
              <a:t>DOM</a:t>
            </a:r>
            <a:r>
              <a:rPr lang="zh-CN" altLang="en-US" sz="2600" b="1" dirty="0"/>
              <a:t>： 属性向域的映象集合</a:t>
            </a:r>
            <a:endParaRPr lang="zh-CN" altLang="en-US" sz="2600" b="1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600" b="1" dirty="0">
                <a:solidFill>
                  <a:srgbClr val="FF00FF"/>
                </a:solidFill>
              </a:rPr>
              <a:t>F</a:t>
            </a:r>
            <a:r>
              <a:rPr lang="zh-CN" altLang="en-US" sz="2600" b="1" dirty="0">
                <a:solidFill>
                  <a:srgbClr val="FF00FF"/>
                </a:solidFill>
              </a:rPr>
              <a:t>：       属性间数据的依赖关系集合</a:t>
            </a:r>
            <a:endParaRPr lang="zh-CN" altLang="en-US" sz="2600" b="1" dirty="0">
              <a:solidFill>
                <a:srgbClr val="FF00FF"/>
              </a:solidFill>
            </a:endParaRPr>
          </a:p>
        </p:txBody>
      </p:sp>
      <p:sp>
        <p:nvSpPr>
          <p:cNvPr id="20484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三、什么是数据依赖</a:t>
            </a:r>
            <a:endParaRPr lang="zh-CN" altLang="en-US" b="1" dirty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990600" y="16764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完整性约束的表现形式</a:t>
            </a:r>
            <a:endParaRPr lang="zh-CN" altLang="en-US" sz="2800" b="1" dirty="0"/>
          </a:p>
          <a:p>
            <a:pPr eaLnBrk="1" hangingPunct="1">
              <a:lnSpc>
                <a:spcPct val="210000"/>
              </a:lnSpc>
            </a:pPr>
            <a:r>
              <a:rPr lang="zh-CN" altLang="en-US" sz="2400" b="1" dirty="0"/>
              <a:t>限定属性取值范围：例如学生成绩必须在</a:t>
            </a:r>
            <a:r>
              <a:rPr lang="en-US" altLang="zh-CN" sz="2400" b="1" dirty="0"/>
              <a:t>0-100</a:t>
            </a:r>
            <a:r>
              <a:rPr lang="zh-CN" altLang="en-US" sz="2400" b="1" dirty="0"/>
              <a:t>之间</a:t>
            </a:r>
            <a:endParaRPr lang="zh-CN" altLang="en-US" sz="2400" b="1" dirty="0"/>
          </a:p>
          <a:p>
            <a:pPr eaLnBrk="1" hangingPunct="1">
              <a:lnSpc>
                <a:spcPct val="210000"/>
              </a:lnSpc>
              <a:spcBef>
                <a:spcPct val="50000"/>
              </a:spcBef>
              <a:spcAft>
                <a:spcPct val="50000"/>
              </a:spcAft>
            </a:pPr>
            <a:r>
              <a:rPr lang="zh-CN" altLang="en-US" sz="2400" b="1" dirty="0"/>
              <a:t>定义属性</a:t>
            </a:r>
            <a:r>
              <a:rPr lang="zh-CN" altLang="en-US" sz="2400" b="1" dirty="0">
                <a:solidFill>
                  <a:srgbClr val="FF00FF"/>
                </a:solidFill>
              </a:rPr>
              <a:t>值</a:t>
            </a:r>
            <a:r>
              <a:rPr lang="zh-CN" altLang="en-US" sz="2400" b="1" dirty="0"/>
              <a:t>间的相互关连（主要体现于值的</a:t>
            </a:r>
            <a:r>
              <a:rPr lang="zh-CN" altLang="en-US" sz="2400" b="1" dirty="0">
                <a:solidFill>
                  <a:srgbClr val="FF00FF"/>
                </a:solidFill>
              </a:rPr>
              <a:t>相等与否</a:t>
            </a:r>
            <a:r>
              <a:rPr lang="zh-CN" altLang="en-US" sz="2400" b="1" dirty="0"/>
              <a:t>），这就是数据依赖，它是数据库模式设计的关键</a:t>
            </a:r>
            <a:endParaRPr lang="zh-CN" altLang="en-US" sz="2400" b="1" dirty="0"/>
          </a:p>
        </p:txBody>
      </p:sp>
      <p:sp>
        <p:nvSpPr>
          <p:cNvPr id="21508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什么是数据依赖（续）</a:t>
            </a:r>
            <a:endParaRPr lang="zh-CN" altLang="en-US" b="1" dirty="0"/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539750" y="1773238"/>
            <a:ext cx="822960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3600" b="1" dirty="0"/>
              <a:t>2. </a:t>
            </a:r>
            <a:r>
              <a:rPr lang="zh-CN" altLang="en-US" sz="3600" b="1" dirty="0"/>
              <a:t>数据依赖</a:t>
            </a:r>
            <a:endParaRPr lang="zh-CN" altLang="en-US" sz="3600" b="1" dirty="0"/>
          </a:p>
          <a:p>
            <a:pPr eaLnBrk="1" hangingPunct="1">
              <a:lnSpc>
                <a:spcPct val="170000"/>
              </a:lnSpc>
            </a:pPr>
            <a:r>
              <a:rPr lang="zh-CN" altLang="en-US" b="1" dirty="0"/>
              <a:t>一个关系内部属性与属性之间的约束关系</a:t>
            </a:r>
            <a:endParaRPr lang="zh-CN" altLang="en-US" b="1" dirty="0"/>
          </a:p>
          <a:p>
            <a:pPr eaLnBrk="1" hangingPunct="1">
              <a:lnSpc>
                <a:spcPct val="170000"/>
              </a:lnSpc>
            </a:pPr>
            <a:r>
              <a:rPr lang="zh-CN" altLang="en-US" b="1" dirty="0"/>
              <a:t>现实世界属性间相互联系的抽象</a:t>
            </a:r>
            <a:endParaRPr lang="zh-CN" altLang="en-US" b="1" dirty="0"/>
          </a:p>
          <a:p>
            <a:pPr eaLnBrk="1" hangingPunct="1">
              <a:lnSpc>
                <a:spcPct val="170000"/>
              </a:lnSpc>
            </a:pPr>
            <a:r>
              <a:rPr lang="zh-CN" altLang="en-US" b="1" dirty="0"/>
              <a:t>数据内在的性质</a:t>
            </a:r>
            <a:endParaRPr lang="zh-CN" altLang="en-US" b="1" dirty="0"/>
          </a:p>
          <a:p>
            <a:pPr eaLnBrk="1" hangingPunct="1">
              <a:lnSpc>
                <a:spcPct val="170000"/>
              </a:lnSpc>
            </a:pPr>
            <a:r>
              <a:rPr lang="zh-CN" altLang="en-US" b="1" dirty="0">
                <a:solidFill>
                  <a:srgbClr val="FF00FF"/>
                </a:solidFill>
              </a:rPr>
              <a:t>语义</a:t>
            </a:r>
            <a:r>
              <a:rPr lang="zh-CN" altLang="en-US" b="1" dirty="0"/>
              <a:t>的体现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什么是数据依赖（续）</a:t>
            </a:r>
            <a:endParaRPr lang="zh-CN" altLang="en-US" b="1" dirty="0"/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7198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60000"/>
              </a:lnSpc>
              <a:buNone/>
            </a:pPr>
            <a:r>
              <a:rPr lang="en-US" altLang="zh-CN" sz="2800" b="1" dirty="0"/>
              <a:t>3. </a:t>
            </a:r>
            <a:r>
              <a:rPr lang="zh-CN" altLang="en-US" sz="2800" b="1" dirty="0"/>
              <a:t>数据依赖的类型</a:t>
            </a:r>
            <a:endParaRPr lang="zh-CN" altLang="en-US" sz="2800" b="1" dirty="0"/>
          </a:p>
          <a:p>
            <a:pPr eaLnBrk="1" hangingPunct="1">
              <a:lnSpc>
                <a:spcPct val="180000"/>
              </a:lnSpc>
              <a:spcAft>
                <a:spcPct val="30000"/>
              </a:spcAft>
            </a:pPr>
            <a:r>
              <a:rPr lang="zh-CN" altLang="en-US" sz="2400" b="1" dirty="0"/>
              <a:t>函数依赖（</a:t>
            </a:r>
            <a:r>
              <a:rPr lang="en-US" altLang="zh-CN" sz="2400" b="1" dirty="0"/>
              <a:t>Functional Dependency</a:t>
            </a:r>
            <a:r>
              <a:rPr lang="zh-CN" altLang="en-US" sz="2400" b="1" dirty="0"/>
              <a:t>，简记为</a:t>
            </a:r>
            <a:r>
              <a:rPr lang="en-US" altLang="zh-CN" sz="2400" b="1" dirty="0"/>
              <a:t>FD</a:t>
            </a:r>
            <a:r>
              <a:rPr lang="zh-CN" altLang="en-US" sz="2400" b="1" dirty="0"/>
              <a:t>）</a:t>
            </a:r>
            <a:endParaRPr lang="zh-CN" altLang="en-US" sz="2400" b="1" dirty="0"/>
          </a:p>
          <a:p>
            <a:pPr eaLnBrk="1" hangingPunct="1">
              <a:lnSpc>
                <a:spcPct val="180000"/>
              </a:lnSpc>
              <a:spcAft>
                <a:spcPct val="30000"/>
              </a:spcAft>
            </a:pPr>
            <a:r>
              <a:rPr lang="zh-CN" altLang="en-US" sz="2400" b="1" dirty="0"/>
              <a:t>多值依赖（</a:t>
            </a:r>
            <a:r>
              <a:rPr lang="en-US" altLang="zh-CN" sz="2400" b="1" dirty="0"/>
              <a:t>Multivalued Dependency</a:t>
            </a:r>
            <a:r>
              <a:rPr lang="zh-CN" altLang="en-US" sz="2400" b="1" dirty="0"/>
              <a:t>，简记为</a:t>
            </a:r>
            <a:r>
              <a:rPr lang="en-US" altLang="zh-CN" sz="2400" b="1" dirty="0"/>
              <a:t>MVD</a:t>
            </a:r>
            <a:r>
              <a:rPr lang="zh-CN" altLang="en-US" sz="2400" b="1" dirty="0"/>
              <a:t>）</a:t>
            </a:r>
            <a:endParaRPr lang="zh-CN" altLang="en-US" sz="2400" b="1" dirty="0"/>
          </a:p>
          <a:p>
            <a:pPr eaLnBrk="1" hangingPunct="1">
              <a:lnSpc>
                <a:spcPct val="180000"/>
              </a:lnSpc>
              <a:spcAft>
                <a:spcPct val="30000"/>
              </a:spcAft>
            </a:pPr>
            <a:r>
              <a:rPr lang="zh-CN" altLang="en-US" sz="2400" b="1" dirty="0"/>
              <a:t>其他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四、关系模式的简化表示</a:t>
            </a:r>
            <a:endParaRPr lang="zh-CN" altLang="en-US" b="1" dirty="0"/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Clr>
                <a:schemeClr val="accent1"/>
              </a:buClr>
            </a:pPr>
            <a:r>
              <a:rPr lang="zh-CN" altLang="en-US" sz="2800" b="1" dirty="0"/>
              <a:t>关系模式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U, D, DOM, F</a:t>
            </a:r>
            <a:r>
              <a:rPr lang="zh-CN" altLang="en-US" sz="2800" b="1" dirty="0"/>
              <a:t>）</a:t>
            </a:r>
            <a:endParaRPr lang="zh-CN" altLang="en-US" sz="2800" b="1" dirty="0"/>
          </a:p>
          <a:p>
            <a:pPr eaLnBrk="1" hangingPunct="1">
              <a:lnSpc>
                <a:spcPct val="140000"/>
              </a:lnSpc>
              <a:buFont typeface="宋体" panose="02010600030101010101" pitchFamily="2" charset="-122"/>
              <a:buNone/>
            </a:pPr>
            <a:r>
              <a:rPr lang="zh-CN" altLang="en-US" sz="2800" b="1" dirty="0"/>
              <a:t>    简化为一个三元组：</a:t>
            </a:r>
            <a:endParaRPr lang="zh-CN" altLang="en-US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                    </a:t>
            </a:r>
            <a:r>
              <a:rPr lang="en-US" altLang="zh-CN" sz="3600" b="1" dirty="0">
                <a:solidFill>
                  <a:srgbClr val="FF00FF"/>
                </a:solidFill>
              </a:rPr>
              <a:t>R</a:t>
            </a:r>
            <a:r>
              <a:rPr lang="zh-CN" altLang="en-US" sz="3600" b="1" dirty="0">
                <a:solidFill>
                  <a:srgbClr val="FF00FF"/>
                </a:solidFill>
              </a:rPr>
              <a:t>（</a:t>
            </a:r>
            <a:r>
              <a:rPr lang="en-US" altLang="zh-CN" sz="3600" b="1" dirty="0">
                <a:solidFill>
                  <a:srgbClr val="FF00FF"/>
                </a:solidFill>
              </a:rPr>
              <a:t>U, F</a:t>
            </a:r>
            <a:r>
              <a:rPr lang="zh-CN" altLang="en-US" sz="3600" b="1" dirty="0">
                <a:solidFill>
                  <a:srgbClr val="FF00FF"/>
                </a:solidFill>
              </a:rPr>
              <a:t>）</a:t>
            </a:r>
            <a:endParaRPr lang="zh-CN" altLang="en-US" sz="2800" b="1" dirty="0">
              <a:solidFill>
                <a:srgbClr val="FF00FF"/>
              </a:solidFill>
            </a:endParaRPr>
          </a:p>
          <a:p>
            <a:pPr eaLnBrk="1" hangingPunct="1">
              <a:lnSpc>
                <a:spcPct val="130000"/>
              </a:lnSpc>
              <a:buClr>
                <a:schemeClr val="accent1"/>
              </a:buClr>
            </a:pPr>
            <a:r>
              <a:rPr lang="zh-CN" altLang="en-US" sz="2800" b="1" dirty="0"/>
              <a:t>当且仅当</a:t>
            </a:r>
            <a:r>
              <a:rPr lang="en-US" altLang="zh-CN" sz="2800" b="1" dirty="0"/>
              <a:t>U</a:t>
            </a:r>
            <a:r>
              <a:rPr lang="zh-CN" altLang="en-US" sz="2800" b="1" dirty="0"/>
              <a:t>上的一个关系</a:t>
            </a:r>
            <a:r>
              <a:rPr lang="en-US" altLang="zh-CN" sz="4000" b="1" dirty="0">
                <a:solidFill>
                  <a:srgbClr val="FF00FF"/>
                </a:solidFill>
              </a:rPr>
              <a:t>r</a:t>
            </a:r>
            <a:r>
              <a:rPr lang="zh-CN" altLang="en-US" sz="2800" b="1" dirty="0"/>
              <a:t>满足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时，</a:t>
            </a:r>
            <a:r>
              <a:rPr lang="en-US" altLang="zh-CN" sz="4000" b="1" dirty="0">
                <a:solidFill>
                  <a:srgbClr val="FF00FF"/>
                </a:solidFill>
              </a:rPr>
              <a:t>r</a:t>
            </a:r>
            <a:r>
              <a:rPr lang="zh-CN" altLang="en-US" sz="2800" b="1" dirty="0"/>
              <a:t>称为</a:t>
            </a:r>
            <a:r>
              <a:rPr lang="zh-CN" altLang="en-US" sz="2800" b="1" dirty="0">
                <a:solidFill>
                  <a:srgbClr val="FF00FF"/>
                </a:solidFill>
              </a:rPr>
              <a:t>关系模式 </a:t>
            </a:r>
            <a:r>
              <a:rPr lang="en-US" altLang="zh-CN" b="1" dirty="0">
                <a:solidFill>
                  <a:srgbClr val="FF00FF"/>
                </a:solidFill>
              </a:rPr>
              <a:t>R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U, F</a:t>
            </a:r>
            <a:r>
              <a:rPr lang="zh-CN" altLang="en-US" sz="2800" b="1" dirty="0"/>
              <a:t>）的一个</a:t>
            </a:r>
            <a:r>
              <a:rPr lang="zh-CN" altLang="en-US" sz="2800" b="1" dirty="0">
                <a:solidFill>
                  <a:srgbClr val="FF00FF"/>
                </a:solidFill>
              </a:rPr>
              <a:t>关系</a:t>
            </a:r>
            <a:endParaRPr lang="zh-CN" altLang="en-US" b="1" dirty="0">
              <a:solidFill>
                <a:srgbClr val="FF00FF"/>
              </a:solidFill>
            </a:endParaRPr>
          </a:p>
        </p:txBody>
      </p:sp>
      <p:sp>
        <p:nvSpPr>
          <p:cNvPr id="2458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五、</a:t>
            </a:r>
            <a:r>
              <a:rPr lang="zh-CN" altLang="en-US" sz="4000" b="1" dirty="0"/>
              <a:t>数据依赖对关系模式的影响</a:t>
            </a:r>
            <a:endParaRPr lang="zh-CN" altLang="en-US" sz="4000" b="1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/>
              <a:t>[</a:t>
            </a:r>
            <a:r>
              <a:rPr lang="zh-CN" altLang="en-US" b="1" dirty="0"/>
              <a:t>例</a:t>
            </a:r>
            <a:r>
              <a:rPr lang="en-US" altLang="zh-CN" b="1" dirty="0"/>
              <a:t>1]</a:t>
            </a:r>
            <a:r>
              <a:rPr lang="zh-CN" altLang="en-US" b="1" dirty="0"/>
              <a:t>建立一个描述学校教务的数据库：</a:t>
            </a:r>
            <a:endParaRPr lang="zh-CN" altLang="en-US" b="1" dirty="0"/>
          </a:p>
          <a:p>
            <a:pPr lvl="1" eaLnBrk="1" hangingPunct="1">
              <a:buNone/>
            </a:pPr>
            <a:r>
              <a:rPr lang="zh-CN" altLang="en-US" sz="2600" b="1" dirty="0"/>
              <a:t>	学生的学号（</a:t>
            </a:r>
            <a:r>
              <a:rPr lang="en-US" altLang="zh-CN" sz="2600" b="1" dirty="0"/>
              <a:t>Sno</a:t>
            </a:r>
            <a:r>
              <a:rPr lang="zh-CN" altLang="en-US" sz="2600" b="1" dirty="0"/>
              <a:t>）、所在系（</a:t>
            </a:r>
            <a:r>
              <a:rPr lang="en-US" altLang="zh-CN" sz="2600" b="1" dirty="0"/>
              <a:t>Sdept</a:t>
            </a:r>
            <a:r>
              <a:rPr lang="zh-CN" altLang="en-US" sz="2600" b="1" dirty="0"/>
              <a:t>）</a:t>
            </a:r>
            <a:endParaRPr lang="zh-CN" altLang="en-US" sz="2600" b="1" dirty="0"/>
          </a:p>
          <a:p>
            <a:pPr lvl="1" eaLnBrk="1" hangingPunct="1">
              <a:buNone/>
            </a:pPr>
            <a:r>
              <a:rPr lang="zh-CN" altLang="en-US" sz="2600" b="1" dirty="0"/>
              <a:t>	系主任姓名（</a:t>
            </a:r>
            <a:r>
              <a:rPr lang="en-US" altLang="zh-CN" sz="2600" b="1" dirty="0"/>
              <a:t>Mname</a:t>
            </a:r>
            <a:r>
              <a:rPr lang="zh-CN" altLang="en-US" sz="2600" b="1" dirty="0"/>
              <a:t>）、课程名（</a:t>
            </a:r>
            <a:r>
              <a:rPr lang="en-US" altLang="zh-CN" sz="2600" b="1" dirty="0"/>
              <a:t>Cname</a:t>
            </a:r>
            <a:r>
              <a:rPr lang="zh-CN" altLang="en-US" sz="2600" b="1" dirty="0"/>
              <a:t>）</a:t>
            </a:r>
            <a:endParaRPr lang="zh-CN" altLang="en-US" sz="2600" b="1" dirty="0"/>
          </a:p>
          <a:p>
            <a:pPr lvl="1" eaLnBrk="1" hangingPunct="1">
              <a:buNone/>
            </a:pPr>
            <a:r>
              <a:rPr lang="zh-CN" altLang="en-US" sz="2600" b="1" dirty="0"/>
              <a:t>	成绩（</a:t>
            </a:r>
            <a:r>
              <a:rPr lang="en-US" altLang="zh-CN" sz="2600" b="1" dirty="0"/>
              <a:t>Grade</a:t>
            </a:r>
            <a:r>
              <a:rPr lang="zh-CN" altLang="en-US" sz="2600" b="1" dirty="0"/>
              <a:t>）</a:t>
            </a:r>
            <a:endParaRPr lang="zh-CN" altLang="en-US" sz="2600" b="1" dirty="0"/>
          </a:p>
          <a:p>
            <a:pPr lvl="1" eaLnBrk="1" hangingPunct="1">
              <a:buNone/>
            </a:pPr>
            <a:endParaRPr lang="zh-CN" altLang="en-US" sz="2600" b="1" dirty="0"/>
          </a:p>
          <a:p>
            <a:pPr lvl="1" eaLnBrk="1" hangingPunct="1"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单一</a:t>
            </a:r>
            <a:r>
              <a:rPr lang="zh-CN" altLang="en-US" b="1" dirty="0"/>
              <a:t>的关系模式 ：   </a:t>
            </a:r>
            <a:r>
              <a:rPr lang="en-US" altLang="zh-CN" b="1" dirty="0"/>
              <a:t>Student &lt;U</a:t>
            </a:r>
            <a:r>
              <a:rPr lang="zh-CN" altLang="en-US" b="1" dirty="0"/>
              <a:t>、</a:t>
            </a:r>
            <a:r>
              <a:rPr lang="en-US" altLang="zh-CN" b="1" dirty="0"/>
              <a:t>F&gt;</a:t>
            </a:r>
            <a:endParaRPr lang="en-US" altLang="zh-CN" b="1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b="1" i="1" dirty="0"/>
              <a:t>U </a:t>
            </a:r>
            <a:r>
              <a:rPr lang="zh-CN" altLang="en-US" b="1" i="1" dirty="0"/>
              <a:t>＝｛ </a:t>
            </a:r>
            <a:r>
              <a:rPr lang="en-US" altLang="zh-CN" b="1" i="1" dirty="0"/>
              <a:t>Sno, Sdept, Mname, Cname, Grade </a:t>
            </a:r>
            <a:r>
              <a:rPr lang="zh-CN" altLang="en-US" b="1" i="1" dirty="0"/>
              <a:t>｝</a:t>
            </a:r>
            <a:endParaRPr lang="zh-CN" altLang="en-US" b="1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数据依赖对关系模式的影响（续）</a:t>
            </a:r>
            <a:endParaRPr lang="zh-CN" altLang="en-US" sz="4000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990600" y="16764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dirty="0"/>
              <a:t>   </a:t>
            </a:r>
            <a:r>
              <a:rPr lang="zh-CN" altLang="en-US" sz="2800" dirty="0"/>
              <a:t>属性组</a:t>
            </a:r>
            <a:r>
              <a:rPr lang="en-US" altLang="zh-CN" sz="2800" dirty="0"/>
              <a:t>U</a:t>
            </a:r>
            <a:r>
              <a:rPr lang="zh-CN" altLang="en-US" sz="2800" dirty="0"/>
              <a:t>上的一组函数依赖</a:t>
            </a:r>
            <a:r>
              <a:rPr lang="en-US" altLang="zh-CN" sz="2800" dirty="0"/>
              <a:t>F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 </a:t>
            </a:r>
            <a:r>
              <a:rPr lang="en-US" altLang="zh-CN" sz="2800" dirty="0"/>
              <a:t>F </a:t>
            </a:r>
            <a:r>
              <a:rPr lang="zh-CN" altLang="en-US" sz="2800" dirty="0"/>
              <a:t>＝｛ </a:t>
            </a:r>
            <a:r>
              <a:rPr lang="en-US" altLang="zh-CN" sz="2800" dirty="0"/>
              <a:t>Sno → Sdept,  Sdept → Mname, </a:t>
            </a:r>
            <a:endParaRPr lang="en-US" altLang="zh-CN" sz="2800" dirty="0"/>
          </a:p>
          <a:p>
            <a:pPr eaLnBrk="1" hangingPunct="1">
              <a:spcBef>
                <a:spcPct val="10000"/>
              </a:spcBef>
              <a:buNone/>
            </a:pPr>
            <a:r>
              <a:rPr lang="en-US" altLang="zh-CN" sz="2800" dirty="0"/>
              <a:t>                (Sno, Cname) → Grade </a:t>
            </a:r>
            <a:r>
              <a:rPr lang="zh-CN" altLang="en-US" sz="2800" dirty="0"/>
              <a:t>｝</a:t>
            </a:r>
            <a:endParaRPr lang="zh-CN" altLang="en-US" sz="2800" dirty="0"/>
          </a:p>
        </p:txBody>
      </p:sp>
      <p:grpSp>
        <p:nvGrpSpPr>
          <p:cNvPr id="26628" name="Group 4"/>
          <p:cNvGrpSpPr/>
          <p:nvPr/>
        </p:nvGrpSpPr>
        <p:grpSpPr>
          <a:xfrm>
            <a:off x="1981200" y="3352800"/>
            <a:ext cx="5715000" cy="2667000"/>
            <a:chOff x="3000" y="4872"/>
            <a:chExt cx="5580" cy="2028"/>
          </a:xfrm>
        </p:grpSpPr>
        <p:sp>
          <p:nvSpPr>
            <p:cNvPr id="26630" name="Rectangle 5"/>
            <p:cNvSpPr/>
            <p:nvPr/>
          </p:nvSpPr>
          <p:spPr>
            <a:xfrm>
              <a:off x="3000" y="4872"/>
              <a:ext cx="3600" cy="1092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26631" name="Text Box 6"/>
            <p:cNvSpPr txBox="1"/>
            <p:nvPr/>
          </p:nvSpPr>
          <p:spPr>
            <a:xfrm>
              <a:off x="3360" y="5184"/>
              <a:ext cx="108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Sno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2" name="Text Box 7"/>
            <p:cNvSpPr txBox="1"/>
            <p:nvPr/>
          </p:nvSpPr>
          <p:spPr>
            <a:xfrm>
              <a:off x="4980" y="5184"/>
              <a:ext cx="126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Cname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633" name="Text Box 8"/>
            <p:cNvSpPr txBox="1"/>
            <p:nvPr/>
          </p:nvSpPr>
          <p:spPr>
            <a:xfrm>
              <a:off x="3360" y="6432"/>
              <a:ext cx="108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Sdept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4" name="Text Box 9"/>
            <p:cNvSpPr txBox="1"/>
            <p:nvPr/>
          </p:nvSpPr>
          <p:spPr>
            <a:xfrm>
              <a:off x="4980" y="6432"/>
              <a:ext cx="126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nam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5" name="Line 10"/>
            <p:cNvSpPr/>
            <p:nvPr/>
          </p:nvSpPr>
          <p:spPr>
            <a:xfrm>
              <a:off x="3900" y="5652"/>
              <a:ext cx="0" cy="78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636" name="Line 11"/>
            <p:cNvSpPr/>
            <p:nvPr/>
          </p:nvSpPr>
          <p:spPr>
            <a:xfrm>
              <a:off x="4437" y="6588"/>
              <a:ext cx="54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637" name="Text Box 12"/>
            <p:cNvSpPr txBox="1"/>
            <p:nvPr/>
          </p:nvSpPr>
          <p:spPr>
            <a:xfrm>
              <a:off x="7320" y="5184"/>
              <a:ext cx="1260" cy="468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Grade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38" name="Line 13"/>
            <p:cNvSpPr/>
            <p:nvPr/>
          </p:nvSpPr>
          <p:spPr>
            <a:xfrm>
              <a:off x="6600" y="5340"/>
              <a:ext cx="72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6629" name="灯片编号占位符 1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关系模式</a:t>
            </a:r>
            <a:r>
              <a:rPr lang="en-US" altLang="zh-CN" sz="3600" dirty="0"/>
              <a:t>Student&lt;U, F&gt;</a:t>
            </a:r>
            <a:r>
              <a:rPr lang="zh-CN" altLang="en-US" sz="3600" dirty="0"/>
              <a:t>中存在的问题</a:t>
            </a:r>
            <a:endParaRPr lang="zh-CN" altLang="en-US" sz="4000" dirty="0"/>
          </a:p>
        </p:txBody>
      </p:sp>
      <p:sp>
        <p:nvSpPr>
          <p:cNvPr id="27651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28775"/>
            <a:ext cx="7859713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ClrTx/>
              <a:buSzPct val="75000"/>
              <a:buFontTx/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1. </a:t>
            </a:r>
            <a:r>
              <a:rPr lang="zh-CN" altLang="en-US" sz="2000" b="1" dirty="0">
                <a:latin typeface="宋体" panose="02010600030101010101" pitchFamily="2" charset="-122"/>
              </a:rPr>
              <a:t>数据冗余太大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2. </a:t>
            </a:r>
            <a:r>
              <a:rPr lang="zh-CN" altLang="en-US" sz="2000" b="1" dirty="0">
                <a:latin typeface="宋体" panose="02010600030101010101" pitchFamily="2" charset="-122"/>
              </a:rPr>
              <a:t>更新异常（</a:t>
            </a:r>
            <a:r>
              <a:rPr lang="en-US" altLang="zh-CN" sz="2000" b="1" dirty="0">
                <a:latin typeface="宋体" panose="02010600030101010101" pitchFamily="2" charset="-122"/>
              </a:rPr>
              <a:t>Update Anomalies</a:t>
            </a:r>
            <a:r>
              <a:rPr lang="zh-CN" altLang="en-US" sz="2000" b="1" dirty="0">
                <a:latin typeface="宋体" panose="02010600030101010101" pitchFamily="2" charset="-122"/>
              </a:rPr>
              <a:t>）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3. </a:t>
            </a:r>
            <a:r>
              <a:rPr lang="zh-CN" altLang="en-US" sz="2000" b="1" dirty="0">
                <a:latin typeface="宋体" panose="02010600030101010101" pitchFamily="2" charset="-122"/>
              </a:rPr>
              <a:t>插入异常（</a:t>
            </a:r>
            <a:r>
              <a:rPr lang="en-US" altLang="zh-CN" sz="2000" b="1" dirty="0">
                <a:latin typeface="宋体" panose="02010600030101010101" pitchFamily="2" charset="-122"/>
              </a:rPr>
              <a:t>Insertion Anomalies</a:t>
            </a:r>
            <a:r>
              <a:rPr lang="zh-CN" altLang="en-US" sz="2000" b="1" dirty="0">
                <a:latin typeface="宋体" panose="02010600030101010101" pitchFamily="2" charset="-122"/>
              </a:rPr>
              <a:t>）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4. </a:t>
            </a:r>
            <a:r>
              <a:rPr lang="zh-CN" altLang="en-US" sz="2000" b="1" dirty="0">
                <a:latin typeface="宋体" panose="02010600030101010101" pitchFamily="2" charset="-122"/>
              </a:rPr>
              <a:t>删除异常（</a:t>
            </a:r>
            <a:r>
              <a:rPr lang="en-US" altLang="zh-CN" sz="2000" b="1" dirty="0">
                <a:latin typeface="宋体" panose="02010600030101010101" pitchFamily="2" charset="-122"/>
              </a:rPr>
              <a:t>Deletion Anomalies</a:t>
            </a:r>
            <a:r>
              <a:rPr lang="zh-CN" altLang="en-US" sz="2000" b="1" dirty="0">
                <a:latin typeface="宋体" panose="02010600030101010101" pitchFamily="2" charset="-122"/>
              </a:rPr>
              <a:t>）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06588" name="Group 60"/>
          <p:cNvGraphicFramePr>
            <a:graphicFrameLocks noGrp="1"/>
          </p:cNvGraphicFramePr>
          <p:nvPr>
            <p:ph sz="half" idx="1"/>
          </p:nvPr>
        </p:nvGraphicFramePr>
        <p:xfrm>
          <a:off x="1116013" y="3825875"/>
          <a:ext cx="6851650" cy="2560638"/>
        </p:xfrm>
        <a:graphic>
          <a:graphicData uri="http://schemas.openxmlformats.org/drawingml/2006/table">
            <a:tbl>
              <a:tblPr/>
              <a:tblGrid>
                <a:gridCol w="1371600"/>
                <a:gridCol w="1370012"/>
                <a:gridCol w="1368425"/>
                <a:gridCol w="1370013"/>
                <a:gridCol w="1371600"/>
              </a:tblGrid>
              <a:tr h="36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Sno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Sdept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Mname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Grade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计算机系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计算机系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计算机系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S4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计算机系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计算机系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78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6590" name="AutoShape 62"/>
          <p:cNvSpPr/>
          <p:nvPr/>
        </p:nvSpPr>
        <p:spPr>
          <a:xfrm>
            <a:off x="6011863" y="1700213"/>
            <a:ext cx="2232025" cy="720725"/>
          </a:xfrm>
          <a:prstGeom prst="wedgeRectCallout">
            <a:avLst>
              <a:gd name="adj1" fmla="val -112944"/>
              <a:gd name="adj2" fmla="val 54407"/>
            </a:avLst>
          </a:prstGeom>
          <a:solidFill>
            <a:srgbClr val="CCFFFF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更换系主任？</a:t>
            </a:r>
            <a:endParaRPr lang="zh-CN" altLang="en-US" sz="1800" dirty="0"/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更改系名？</a:t>
            </a:r>
            <a:endParaRPr lang="zh-CN" altLang="en-US" sz="1800" dirty="0"/>
          </a:p>
        </p:txBody>
      </p:sp>
      <p:sp>
        <p:nvSpPr>
          <p:cNvPr id="406591" name="AutoShape 63"/>
          <p:cNvSpPr/>
          <p:nvPr/>
        </p:nvSpPr>
        <p:spPr>
          <a:xfrm>
            <a:off x="6227763" y="2420938"/>
            <a:ext cx="2232025" cy="720725"/>
          </a:xfrm>
          <a:prstGeom prst="wedgeRectCallout">
            <a:avLst>
              <a:gd name="adj1" fmla="val -106116"/>
              <a:gd name="adj2" fmla="val 26653"/>
            </a:avLst>
          </a:prstGeom>
          <a:solidFill>
            <a:srgbClr val="CCFFFF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一个系刚成立，尚无学生？</a:t>
            </a:r>
            <a:endParaRPr lang="zh-CN" altLang="en-US" sz="1800" dirty="0"/>
          </a:p>
        </p:txBody>
      </p:sp>
      <p:sp>
        <p:nvSpPr>
          <p:cNvPr id="406592" name="AutoShape 64"/>
          <p:cNvSpPr/>
          <p:nvPr/>
        </p:nvSpPr>
        <p:spPr>
          <a:xfrm>
            <a:off x="6011863" y="3573463"/>
            <a:ext cx="2232025" cy="720725"/>
          </a:xfrm>
          <a:prstGeom prst="wedgeRectCallout">
            <a:avLst>
              <a:gd name="adj1" fmla="val -107468"/>
              <a:gd name="adj2" fmla="val -57931"/>
            </a:avLst>
          </a:prstGeom>
          <a:solidFill>
            <a:srgbClr val="CCFFFF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一个系的学生全部毕业了？</a:t>
            </a:r>
            <a:endParaRPr lang="zh-CN" altLang="en-US" sz="1800" dirty="0"/>
          </a:p>
        </p:txBody>
      </p:sp>
      <p:grpSp>
        <p:nvGrpSpPr>
          <p:cNvPr id="2" name="Group 67"/>
          <p:cNvGrpSpPr/>
          <p:nvPr/>
        </p:nvGrpSpPr>
        <p:grpSpPr>
          <a:xfrm>
            <a:off x="2339975" y="2133600"/>
            <a:ext cx="1511300" cy="2087563"/>
            <a:chOff x="1474" y="1344"/>
            <a:chExt cx="952" cy="1315"/>
          </a:xfrm>
        </p:grpSpPr>
        <p:sp>
          <p:nvSpPr>
            <p:cNvPr id="27707" name="Line 65"/>
            <p:cNvSpPr/>
            <p:nvPr/>
          </p:nvSpPr>
          <p:spPr>
            <a:xfrm>
              <a:off x="1474" y="1344"/>
              <a:ext cx="363" cy="1315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708" name="Line 66"/>
            <p:cNvSpPr/>
            <p:nvPr/>
          </p:nvSpPr>
          <p:spPr>
            <a:xfrm>
              <a:off x="1519" y="1344"/>
              <a:ext cx="907" cy="1315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7706" name="灯片编号占位符 12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06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6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065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90" grpId="0" animBg="1"/>
      <p:bldP spid="406591" grpId="0" animBg="1"/>
      <p:bldP spid="40659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数据依赖对关系模式的影响（续）</a:t>
            </a:r>
            <a:endParaRPr lang="zh-CN" altLang="en-US" sz="4000" dirty="0"/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1066800" y="16002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800" b="1" dirty="0">
                <a:solidFill>
                  <a:srgbClr val="FF00FF"/>
                </a:solidFill>
              </a:rPr>
              <a:t>结论：</a:t>
            </a:r>
            <a:endParaRPr lang="zh-CN" altLang="en-US" sz="2800" b="1" dirty="0">
              <a:solidFill>
                <a:srgbClr val="FF00FF"/>
              </a:solidFill>
            </a:endParaRPr>
          </a:p>
          <a:p>
            <a:pPr lvl="1" eaLnBrk="1" hangingPunct="1">
              <a:lnSpc>
                <a:spcPct val="120000"/>
              </a:lnSpc>
              <a:buSzPct val="75000"/>
              <a:buFont typeface="Wingdings" panose="05000000000000000000" pitchFamily="2" charset="2"/>
              <a:buChar char="n"/>
            </a:pPr>
            <a:r>
              <a:rPr lang="en-US" altLang="zh-CN" sz="2600" b="1" dirty="0"/>
              <a:t>Student</a:t>
            </a:r>
            <a:r>
              <a:rPr lang="zh-CN" altLang="en-US" sz="2600" b="1" dirty="0"/>
              <a:t>关系模式不是一个好的模式。</a:t>
            </a:r>
            <a:endParaRPr lang="zh-CN" altLang="en-US" sz="2600" b="1" dirty="0"/>
          </a:p>
          <a:p>
            <a:pPr lvl="1" eaLnBrk="1" hangingPunct="1">
              <a:lnSpc>
                <a:spcPct val="12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b="1" dirty="0"/>
              <a:t>“好”的模式：</a:t>
            </a:r>
            <a:endParaRPr lang="zh-CN" altLang="en-US" sz="2600" b="1" dirty="0"/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600" b="1" dirty="0"/>
              <a:t>不会发生插入异常、删除异常、更新异常，</a:t>
            </a:r>
            <a:endParaRPr lang="zh-CN" altLang="en-US" sz="2600" b="1" dirty="0"/>
          </a:p>
          <a:p>
            <a:pPr lvl="1"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sz="2600" b="1" dirty="0"/>
              <a:t>数据冗余应尽可能少</a:t>
            </a:r>
            <a:endParaRPr lang="zh-CN" altLang="en-US" sz="26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rgbClr val="FF00FF"/>
                </a:solidFill>
              </a:rPr>
              <a:t>原因：</a:t>
            </a:r>
            <a:r>
              <a:rPr lang="zh-CN" altLang="en-US" sz="2600" b="1" dirty="0"/>
              <a:t>由存在于模式中的</a:t>
            </a:r>
            <a:r>
              <a:rPr lang="zh-CN" altLang="en-US" sz="2600" b="1" dirty="0">
                <a:solidFill>
                  <a:srgbClr val="FF00FF"/>
                </a:solidFill>
              </a:rPr>
              <a:t>某些数据依赖</a:t>
            </a:r>
            <a:r>
              <a:rPr lang="zh-CN" altLang="en-US" sz="2600" b="1" dirty="0"/>
              <a:t>引起的</a:t>
            </a:r>
            <a:endParaRPr lang="zh-CN" altLang="en-US" sz="26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rgbClr val="FF00FF"/>
                </a:solidFill>
              </a:rPr>
              <a:t>解决方法：</a:t>
            </a:r>
            <a:r>
              <a:rPr lang="zh-CN" altLang="en-US" sz="2600" b="1" dirty="0"/>
              <a:t>通过</a:t>
            </a:r>
            <a:r>
              <a:rPr lang="zh-CN" altLang="en-US" sz="2600" b="1" dirty="0">
                <a:solidFill>
                  <a:srgbClr val="FF00FF"/>
                </a:solidFill>
              </a:rPr>
              <a:t>分解</a:t>
            </a:r>
            <a:r>
              <a:rPr lang="zh-CN" altLang="en-US" sz="2600" b="1" dirty="0"/>
              <a:t>关系模式来消除其中不合适</a:t>
            </a:r>
            <a:endParaRPr lang="zh-CN" altLang="en-US" sz="26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600" b="1" dirty="0"/>
              <a:t>                    的数据依赖</a:t>
            </a:r>
            <a:endParaRPr lang="zh-CN" altLang="en-US" sz="2600" b="1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600" b="1" dirty="0"/>
          </a:p>
        </p:txBody>
      </p:sp>
      <p:sp>
        <p:nvSpPr>
          <p:cNvPr id="28676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分解关系模式</a:t>
            </a:r>
            <a:endParaRPr lang="zh-CN" altLang="en-US" sz="4000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dirty="0"/>
              <a:t>把这个单一模式分成</a:t>
            </a:r>
            <a:r>
              <a:rPr lang="en-US" altLang="zh-CN" dirty="0"/>
              <a:t>3</a:t>
            </a:r>
            <a:r>
              <a:rPr lang="zh-CN" altLang="en-US" dirty="0"/>
              <a:t>个关系模式：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/>
              <a:t>     </a:t>
            </a:r>
            <a:r>
              <a:rPr lang="en-US" altLang="zh-CN" sz="2800" dirty="0"/>
              <a:t>S</a:t>
            </a:r>
            <a:r>
              <a:rPr lang="zh-CN" altLang="en-US" sz="2800" dirty="0"/>
              <a:t>（</a:t>
            </a:r>
            <a:r>
              <a:rPr lang="en-US" altLang="zh-CN" sz="2800" dirty="0"/>
              <a:t>Sno</a:t>
            </a:r>
            <a:r>
              <a:rPr lang="zh-CN" altLang="en-US" sz="2800" dirty="0"/>
              <a:t>，</a:t>
            </a:r>
            <a:r>
              <a:rPr lang="en-US" altLang="zh-CN" sz="2800" dirty="0"/>
              <a:t>Sdept</a:t>
            </a:r>
            <a:r>
              <a:rPr lang="zh-CN" altLang="en-US" sz="2800" dirty="0"/>
              <a:t>，</a:t>
            </a:r>
            <a:r>
              <a:rPr lang="en-US" altLang="zh-CN" sz="2800" dirty="0"/>
              <a:t>Sno → Sdept</a:t>
            </a:r>
            <a:r>
              <a:rPr lang="zh-CN" altLang="en-US" sz="2800" dirty="0"/>
              <a:t>）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/>
              <a:t>     SC</a:t>
            </a:r>
            <a:r>
              <a:rPr lang="zh-CN" altLang="en-US" sz="2800" dirty="0"/>
              <a:t>（</a:t>
            </a:r>
            <a:r>
              <a:rPr lang="en-US" altLang="zh-CN" sz="2800" dirty="0"/>
              <a:t>Sno</a:t>
            </a:r>
            <a:r>
              <a:rPr lang="zh-CN" altLang="en-US" sz="2800" dirty="0"/>
              <a:t>，</a:t>
            </a:r>
            <a:r>
              <a:rPr lang="en-US" altLang="zh-CN" sz="2800" dirty="0"/>
              <a:t>Cno</a:t>
            </a:r>
            <a:r>
              <a:rPr lang="zh-CN" altLang="en-US" sz="2800" dirty="0"/>
              <a:t>，</a:t>
            </a:r>
            <a:r>
              <a:rPr lang="en-US" altLang="zh-CN" sz="2800" dirty="0"/>
              <a:t>Grade</a:t>
            </a:r>
            <a:r>
              <a:rPr lang="zh-CN" altLang="en-US" sz="2800" dirty="0"/>
              <a:t>，（</a:t>
            </a:r>
            <a:r>
              <a:rPr lang="en-US" altLang="zh-CN" sz="2800" dirty="0"/>
              <a:t>Sno</a:t>
            </a:r>
            <a:r>
              <a:rPr lang="zh-CN" altLang="en-US" sz="2800" dirty="0"/>
              <a:t>，</a:t>
            </a:r>
            <a:r>
              <a:rPr lang="en-US" altLang="zh-CN" sz="2800" dirty="0"/>
              <a:t>Cno</a:t>
            </a:r>
            <a:r>
              <a:rPr lang="zh-CN" altLang="en-US" sz="2800" dirty="0"/>
              <a:t>） → </a:t>
            </a:r>
            <a:r>
              <a:rPr lang="en-US" altLang="zh-CN" sz="2800" dirty="0"/>
              <a:t>Grade</a:t>
            </a:r>
            <a:r>
              <a:rPr lang="zh-CN" altLang="en-US" sz="2800" dirty="0"/>
              <a:t>）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/>
              <a:t>     DEPT</a:t>
            </a:r>
            <a:r>
              <a:rPr lang="zh-CN" altLang="en-US" sz="2800" dirty="0"/>
              <a:t>（</a:t>
            </a:r>
            <a:r>
              <a:rPr lang="en-US" altLang="zh-CN" sz="2800" dirty="0"/>
              <a:t>Sdept</a:t>
            </a:r>
            <a:r>
              <a:rPr lang="zh-CN" altLang="en-US" sz="2800" dirty="0"/>
              <a:t>，</a:t>
            </a:r>
            <a:r>
              <a:rPr lang="en-US" altLang="zh-CN" sz="2800" dirty="0"/>
              <a:t>Mname</a:t>
            </a:r>
            <a:r>
              <a:rPr lang="zh-CN" altLang="en-US" sz="2800" dirty="0"/>
              <a:t>，</a:t>
            </a:r>
            <a:r>
              <a:rPr lang="en-US" altLang="zh-CN" sz="2800" dirty="0"/>
              <a:t>Sdept→ Mname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2970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第六章 关系数据理论</a:t>
            </a:r>
            <a:endParaRPr lang="zh-CN" altLang="en-US" dirty="0"/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1187450" y="1773238"/>
            <a:ext cx="641985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6.1 </a:t>
            </a:r>
            <a:r>
              <a:rPr lang="zh-CN" altLang="en-US" b="1" dirty="0"/>
              <a:t>问题的提出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3333FF"/>
                </a:solidFill>
              </a:rPr>
              <a:t>6.2 </a:t>
            </a:r>
            <a:r>
              <a:rPr lang="zh-CN" altLang="en-US" b="1" dirty="0">
                <a:solidFill>
                  <a:srgbClr val="3333FF"/>
                </a:solidFill>
              </a:rPr>
              <a:t>规范化</a:t>
            </a:r>
            <a:endParaRPr lang="zh-CN" altLang="en-US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6.3 </a:t>
            </a:r>
            <a:r>
              <a:rPr lang="zh-CN" altLang="en-US" b="1" dirty="0"/>
              <a:t>数据依赖的公理系统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6.4 </a:t>
            </a:r>
            <a:r>
              <a:rPr lang="zh-CN" altLang="en-US" b="1" dirty="0"/>
              <a:t>模式的分解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6.5 </a:t>
            </a:r>
            <a:r>
              <a:rPr lang="zh-CN" altLang="en-US" b="1" dirty="0"/>
              <a:t>小结</a:t>
            </a:r>
            <a:endParaRPr lang="zh-CN" altLang="en-US" b="1" dirty="0"/>
          </a:p>
        </p:txBody>
      </p:sp>
      <p:sp>
        <p:nvSpPr>
          <p:cNvPr id="30724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规范化</a:t>
            </a:r>
            <a:endParaRPr lang="zh-CN" altLang="en-US" dirty="0"/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endParaRPr lang="en-US" altLang="zh-CN" sz="2800" b="1" dirty="0"/>
          </a:p>
          <a:p>
            <a:pPr eaLnBrk="1" hangingPunct="1">
              <a:lnSpc>
                <a:spcPct val="210000"/>
              </a:lnSpc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>
                <a:solidFill>
                  <a:srgbClr val="FF00FF"/>
                </a:solidFill>
              </a:rPr>
              <a:t>规范化理论</a:t>
            </a:r>
            <a:r>
              <a:rPr lang="zh-CN" altLang="en-US" sz="2800" b="1" dirty="0"/>
              <a:t>正是用来改造关系模式，通过分解关系模式来消除其中不合适的数据依赖，以解决插入异常、删除异常、更新异常和数据冗余问题。</a:t>
            </a:r>
            <a:endParaRPr lang="zh-CN" altLang="en-US" sz="2800" b="1" dirty="0"/>
          </a:p>
        </p:txBody>
      </p:sp>
      <p:sp>
        <p:nvSpPr>
          <p:cNvPr id="31748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  </a:t>
            </a:r>
            <a:r>
              <a:rPr lang="zh-CN" altLang="en-US" sz="4000" dirty="0"/>
              <a:t>规范化</a:t>
            </a:r>
            <a:endParaRPr lang="zh-CN" altLang="en-US" sz="4000" dirty="0"/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1042988" y="1628775"/>
            <a:ext cx="7643812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6.2.1  </a:t>
            </a:r>
            <a:r>
              <a:rPr lang="zh-CN" altLang="en-US" sz="2400" b="1" dirty="0">
                <a:solidFill>
                  <a:srgbClr val="3333FF"/>
                </a:solidFill>
              </a:rPr>
              <a:t>函数依赖</a:t>
            </a:r>
            <a:endParaRPr lang="zh-CN" altLang="en-US" sz="24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  <p:sp>
        <p:nvSpPr>
          <p:cNvPr id="32772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6.2.1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Clr>
                <a:schemeClr val="accent1"/>
              </a:buClr>
            </a:pPr>
            <a:r>
              <a:rPr lang="zh-CN" altLang="en-US" b="1" dirty="0">
                <a:solidFill>
                  <a:srgbClr val="3333FF"/>
                </a:solidFill>
              </a:rPr>
              <a:t>函数依赖</a:t>
            </a:r>
            <a:endParaRPr lang="zh-CN" altLang="en-US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30000"/>
              </a:lnSpc>
              <a:buClr>
                <a:schemeClr val="accent1"/>
              </a:buClr>
            </a:pPr>
            <a:r>
              <a:rPr lang="zh-CN" altLang="en-US" b="1" dirty="0"/>
              <a:t>平凡函数依赖与非平凡函数依赖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  <a:buClr>
                <a:schemeClr val="accent1"/>
              </a:buClr>
            </a:pPr>
            <a:r>
              <a:rPr lang="zh-CN" altLang="en-US" b="1" dirty="0"/>
              <a:t>完全函数依赖与部分函数依赖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  <a:buClr>
                <a:schemeClr val="accent1"/>
              </a:buClr>
            </a:pPr>
            <a:r>
              <a:rPr lang="zh-CN" altLang="en-US" b="1" dirty="0"/>
              <a:t>传递函数依赖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  <a:buNone/>
            </a:pPr>
            <a:endParaRPr lang="en-US" altLang="zh-CN" b="1" dirty="0"/>
          </a:p>
        </p:txBody>
      </p:sp>
      <p:sp>
        <p:nvSpPr>
          <p:cNvPr id="33796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一、函数依赖</a:t>
            </a:r>
            <a:endParaRPr lang="zh-CN" altLang="en-US" dirty="0"/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468313" y="1773238"/>
            <a:ext cx="8424862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20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6.1   </a:t>
            </a:r>
            <a:r>
              <a:rPr lang="zh-CN" altLang="en-US" sz="2400" b="1" dirty="0"/>
              <a:t>设</a:t>
            </a:r>
            <a:r>
              <a:rPr lang="en-US" altLang="zh-CN" sz="2400" b="1" dirty="0"/>
              <a:t>R(U)</a:t>
            </a:r>
            <a:r>
              <a:rPr lang="zh-CN" altLang="en-US" sz="2400" b="1" dirty="0"/>
              <a:t>是一个属性集</a:t>
            </a:r>
            <a:r>
              <a:rPr lang="en-US" altLang="zh-CN" sz="2400" b="1" dirty="0"/>
              <a:t>U</a:t>
            </a:r>
            <a:r>
              <a:rPr lang="zh-CN" altLang="en-US" sz="2400" b="1" dirty="0"/>
              <a:t>上的关系模式，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是</a:t>
            </a:r>
            <a:r>
              <a:rPr lang="en-US" altLang="zh-CN" sz="2400" b="1" dirty="0"/>
              <a:t>U</a:t>
            </a:r>
            <a:r>
              <a:rPr lang="zh-CN" altLang="en-US" sz="2400" b="1" dirty="0"/>
              <a:t>的子集。</a:t>
            </a:r>
            <a:endParaRPr lang="zh-CN" altLang="en-US" sz="2400" b="1" dirty="0"/>
          </a:p>
          <a:p>
            <a:pPr eaLnBrk="1" hangingPunct="1">
              <a:lnSpc>
                <a:spcPct val="200000"/>
              </a:lnSpc>
              <a:buNone/>
            </a:pPr>
            <a:r>
              <a:rPr lang="zh-CN" altLang="en-US" sz="2400" b="1" dirty="0"/>
              <a:t>    若对于</a:t>
            </a:r>
            <a:r>
              <a:rPr lang="en-US" altLang="zh-CN" sz="2400" b="1" dirty="0"/>
              <a:t>R(U)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FF"/>
                </a:solidFill>
              </a:rPr>
              <a:t>任意</a:t>
            </a:r>
            <a:r>
              <a:rPr lang="zh-CN" altLang="en-US" sz="2400" b="1" dirty="0"/>
              <a:t>一个可能的关系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中不可能存在两个元组在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上的属性值相等， 而在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上的属性值不等， 则称 “</a:t>
            </a:r>
            <a:r>
              <a:rPr lang="en-US" altLang="zh-CN" sz="2400" b="1" dirty="0">
                <a:solidFill>
                  <a:srgbClr val="FF00FF"/>
                </a:solidFill>
              </a:rPr>
              <a:t>X</a:t>
            </a:r>
            <a:r>
              <a:rPr lang="zh-CN" altLang="en-US" sz="2400" b="1" dirty="0">
                <a:solidFill>
                  <a:srgbClr val="FF00FF"/>
                </a:solidFill>
              </a:rPr>
              <a:t>函数确定</a:t>
            </a:r>
            <a:r>
              <a:rPr lang="en-US" altLang="zh-CN" sz="2400" b="1" dirty="0">
                <a:solidFill>
                  <a:srgbClr val="FF00FF"/>
                </a:solidFill>
              </a:rPr>
              <a:t>Y</a:t>
            </a:r>
            <a:r>
              <a:rPr lang="en-US" altLang="zh-CN" sz="2400" b="1" dirty="0"/>
              <a:t>” </a:t>
            </a:r>
            <a:r>
              <a:rPr lang="zh-CN" altLang="en-US" sz="2400" b="1" dirty="0"/>
              <a:t>或  “</a:t>
            </a:r>
            <a:r>
              <a:rPr lang="en-US" altLang="zh-CN" sz="2400" b="1" dirty="0">
                <a:solidFill>
                  <a:srgbClr val="FF00FF"/>
                </a:solidFill>
              </a:rPr>
              <a:t>Y</a:t>
            </a:r>
            <a:r>
              <a:rPr lang="zh-CN" altLang="en-US" sz="2400" b="1" dirty="0">
                <a:solidFill>
                  <a:srgbClr val="FF00FF"/>
                </a:solidFill>
              </a:rPr>
              <a:t>函数依赖于</a:t>
            </a:r>
            <a:r>
              <a:rPr lang="en-US" altLang="zh-CN" sz="2400" b="1" dirty="0">
                <a:solidFill>
                  <a:srgbClr val="FF00FF"/>
                </a:solidFill>
              </a:rPr>
              <a:t>X</a:t>
            </a:r>
            <a:r>
              <a:rPr lang="en-US" altLang="zh-CN" sz="2400" b="1" dirty="0"/>
              <a:t>”</a:t>
            </a:r>
            <a:r>
              <a:rPr lang="zh-CN" altLang="en-US" sz="2400" b="1" dirty="0"/>
              <a:t>，记作</a:t>
            </a:r>
            <a:r>
              <a:rPr lang="en-US" altLang="zh-CN" sz="2400" b="1" dirty="0"/>
              <a:t>X→Y</a:t>
            </a:r>
            <a:r>
              <a:rPr lang="zh-CN" altLang="en-US" sz="2400" b="1" dirty="0"/>
              <a:t>。</a:t>
            </a:r>
            <a:r>
              <a:rPr lang="zh-CN" altLang="en-US" sz="2200" b="1" dirty="0"/>
              <a:t>  </a:t>
            </a:r>
            <a:endParaRPr lang="zh-CN" altLang="en-US" sz="2200" b="1" dirty="0"/>
          </a:p>
        </p:txBody>
      </p:sp>
      <p:sp>
        <p:nvSpPr>
          <p:cNvPr id="23559" name="Text Box 7"/>
          <p:cNvSpPr txBox="1"/>
          <p:nvPr/>
        </p:nvSpPr>
        <p:spPr>
          <a:xfrm>
            <a:off x="5148263" y="765175"/>
            <a:ext cx="3746500" cy="879475"/>
          </a:xfrm>
          <a:prstGeom prst="rect">
            <a:avLst/>
          </a:prstGeom>
          <a:solidFill>
            <a:srgbClr val="FFCC99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130A36"/>
                </a:solidFill>
              </a:rPr>
              <a:t>例：</a:t>
            </a:r>
            <a:r>
              <a:rPr lang="en-US" altLang="zh-CN" sz="2400" dirty="0">
                <a:solidFill>
                  <a:srgbClr val="130A36"/>
                </a:solidFill>
              </a:rPr>
              <a:t>X1=“</a:t>
            </a:r>
            <a:r>
              <a:rPr lang="zh-CN" altLang="en-US" sz="2400" dirty="0">
                <a:solidFill>
                  <a:srgbClr val="130A36"/>
                </a:solidFill>
              </a:rPr>
              <a:t>学号” </a:t>
            </a:r>
            <a:r>
              <a:rPr lang="en-US" altLang="zh-CN" sz="2400" dirty="0">
                <a:solidFill>
                  <a:srgbClr val="130A36"/>
                </a:solidFill>
              </a:rPr>
              <a:t>Y1=“</a:t>
            </a:r>
            <a:r>
              <a:rPr lang="zh-CN" altLang="en-US" sz="2400" dirty="0">
                <a:solidFill>
                  <a:srgbClr val="130A36"/>
                </a:solidFill>
              </a:rPr>
              <a:t>姓名” </a:t>
            </a:r>
            <a:endParaRPr lang="zh-CN" altLang="en-US" sz="2400" dirty="0">
              <a:solidFill>
                <a:srgbClr val="130A36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130A36"/>
                </a:solidFill>
              </a:rPr>
              <a:t>       X2=“</a:t>
            </a:r>
            <a:r>
              <a:rPr lang="zh-CN" altLang="en-US" sz="2400" dirty="0">
                <a:solidFill>
                  <a:srgbClr val="130A36"/>
                </a:solidFill>
              </a:rPr>
              <a:t>学号” </a:t>
            </a:r>
            <a:r>
              <a:rPr lang="en-US" altLang="zh-CN" sz="2400" dirty="0">
                <a:solidFill>
                  <a:srgbClr val="130A36"/>
                </a:solidFill>
              </a:rPr>
              <a:t>Y2=“</a:t>
            </a:r>
            <a:r>
              <a:rPr lang="zh-CN" altLang="en-US" sz="2400" dirty="0">
                <a:solidFill>
                  <a:srgbClr val="130A36"/>
                </a:solidFill>
              </a:rPr>
              <a:t>成绩”</a:t>
            </a:r>
            <a:endParaRPr lang="zh-CN" altLang="en-US" sz="2400" dirty="0">
              <a:solidFill>
                <a:srgbClr val="130A36"/>
              </a:solidFill>
            </a:endParaRPr>
          </a:p>
        </p:txBody>
      </p:sp>
      <p:sp>
        <p:nvSpPr>
          <p:cNvPr id="34821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说明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685800" y="1916113"/>
            <a:ext cx="8305800" cy="3744912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dirty="0"/>
              <a:t>1.</a:t>
            </a:r>
            <a:r>
              <a:rPr lang="en-US" altLang="zh-CN" dirty="0">
                <a:solidFill>
                  <a:srgbClr val="FF00FF"/>
                </a:solidFill>
              </a:rPr>
              <a:t> </a:t>
            </a:r>
            <a:r>
              <a:rPr lang="zh-CN" altLang="en-US" dirty="0">
                <a:solidFill>
                  <a:srgbClr val="FF00FF"/>
                </a:solidFill>
              </a:rPr>
              <a:t>所有关系实例</a:t>
            </a:r>
            <a:r>
              <a:rPr lang="zh-CN" altLang="en-US" dirty="0"/>
              <a:t>均要满足</a:t>
            </a:r>
            <a:endParaRPr lang="zh-CN" altLang="en-US" dirty="0"/>
          </a:p>
          <a:p>
            <a:pPr marL="533400" indent="-533400" eaLnBrk="1" hangingPunct="1">
              <a:lnSpc>
                <a:spcPct val="120000"/>
              </a:lnSpc>
              <a:buNone/>
            </a:pPr>
            <a:endParaRPr lang="zh-CN" altLang="en-US" sz="10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>
                <a:solidFill>
                  <a:srgbClr val="FF00FF"/>
                </a:solidFill>
              </a:rPr>
              <a:t>语义范畴</a:t>
            </a:r>
            <a:r>
              <a:rPr lang="zh-CN" altLang="en-US" dirty="0"/>
              <a:t>的概念</a:t>
            </a:r>
            <a:endParaRPr lang="zh-CN" altLang="en-US" dirty="0"/>
          </a:p>
          <a:p>
            <a:pPr marL="533400" indent="-533400" eaLnBrk="1" hangingPunct="1">
              <a:lnSpc>
                <a:spcPct val="120000"/>
              </a:lnSpc>
              <a:buNone/>
            </a:pPr>
            <a:endParaRPr lang="zh-CN" altLang="en-US" sz="1000" dirty="0"/>
          </a:p>
          <a:p>
            <a:pPr marL="533400" indent="-533400" eaLnBrk="1" hangingPunct="1">
              <a:lnSpc>
                <a:spcPct val="120000"/>
              </a:lnSpc>
              <a:buNone/>
            </a:pPr>
            <a:r>
              <a:rPr lang="en-US" altLang="zh-CN" dirty="0"/>
              <a:t>3. </a:t>
            </a:r>
            <a:r>
              <a:rPr lang="zh-CN" altLang="en-US" dirty="0"/>
              <a:t>数据库设计者可以对现实世界作强制的规定</a:t>
            </a:r>
            <a:endParaRPr lang="zh-CN" altLang="en-US" dirty="0"/>
          </a:p>
        </p:txBody>
      </p:sp>
      <p:sp>
        <p:nvSpPr>
          <p:cNvPr id="412676" name="AutoShape 4"/>
          <p:cNvSpPr/>
          <p:nvPr/>
        </p:nvSpPr>
        <p:spPr>
          <a:xfrm>
            <a:off x="5435600" y="2276475"/>
            <a:ext cx="2232025" cy="720725"/>
          </a:xfrm>
          <a:prstGeom prst="wedgeRectCallout">
            <a:avLst>
              <a:gd name="adj1" fmla="val -102347"/>
              <a:gd name="adj2" fmla="val 63657"/>
            </a:avLst>
          </a:prstGeom>
          <a:solidFill>
            <a:srgbClr val="CCFFFF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姓名→系别？</a:t>
            </a:r>
            <a:endParaRPr lang="zh-CN" altLang="en-US" sz="2400" dirty="0"/>
          </a:p>
        </p:txBody>
      </p:sp>
      <p:sp>
        <p:nvSpPr>
          <p:cNvPr id="35845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二、平凡函数依赖与非平凡函数依赖</a:t>
            </a:r>
            <a:endParaRPr lang="zh-CN" altLang="en-US" sz="3600" dirty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685800" y="1676400"/>
            <a:ext cx="8305800" cy="4114800"/>
          </a:xfrm>
        </p:spPr>
        <p:txBody>
          <a:bodyPr vert="horz" wrap="square" lIns="91440" tIns="45720" rIns="91440" bIns="45720" anchor="t" anchorCtr="0"/>
          <a:p>
            <a:pPr marL="361950" indent="-361950" defTabSz="914400" eaLnBrk="1" hangingPunct="1">
              <a:lnSpc>
                <a:spcPct val="130000"/>
              </a:lnSpc>
              <a:buNone/>
              <a:tabLst>
                <a:tab pos="361950" algn="l"/>
              </a:tabLst>
            </a:pPr>
            <a:r>
              <a:rPr lang="zh-CN" altLang="en-US" sz="2600" b="1" dirty="0"/>
              <a:t>在关系模式</a:t>
            </a:r>
            <a:r>
              <a:rPr lang="en-US" altLang="zh-CN" sz="2600" b="1" dirty="0"/>
              <a:t>R(U)</a:t>
            </a:r>
            <a:r>
              <a:rPr lang="zh-CN" altLang="en-US" sz="2600" b="1" dirty="0"/>
              <a:t>中，对于</a:t>
            </a:r>
            <a:r>
              <a:rPr lang="en-US" altLang="zh-CN" sz="2600" b="1" dirty="0"/>
              <a:t>U</a:t>
            </a:r>
            <a:r>
              <a:rPr lang="zh-CN" altLang="en-US" sz="2600" b="1" dirty="0"/>
              <a:t>的子集</a:t>
            </a:r>
            <a:r>
              <a:rPr lang="en-US" altLang="zh-CN" sz="2600" b="1" dirty="0"/>
              <a:t>X</a:t>
            </a:r>
            <a:r>
              <a:rPr lang="zh-CN" altLang="en-US" sz="2600" b="1" dirty="0"/>
              <a:t>和</a:t>
            </a:r>
            <a:r>
              <a:rPr lang="en-US" altLang="zh-CN" sz="2600" b="1" dirty="0"/>
              <a:t>Y</a:t>
            </a:r>
            <a:r>
              <a:rPr lang="zh-CN" altLang="en-US" sz="2600" b="1" dirty="0"/>
              <a:t>，</a:t>
            </a:r>
            <a:endParaRPr lang="zh-CN" altLang="en-US" sz="2600" b="1" dirty="0"/>
          </a:p>
          <a:p>
            <a:pPr marL="361950" indent="-361950" defTabSz="914400" eaLnBrk="1" hangingPunct="1">
              <a:lnSpc>
                <a:spcPct val="130000"/>
              </a:lnSpc>
              <a:buNone/>
              <a:tabLst>
                <a:tab pos="361950" algn="l"/>
              </a:tabLst>
            </a:pPr>
            <a:r>
              <a:rPr lang="zh-CN" altLang="en-US" sz="2600" b="1" dirty="0"/>
              <a:t>如果</a:t>
            </a:r>
            <a:r>
              <a:rPr lang="en-US" altLang="zh-CN" sz="2600" b="1" dirty="0"/>
              <a:t>X→Y</a:t>
            </a:r>
            <a:r>
              <a:rPr lang="zh-CN" altLang="en-US" sz="2600" b="1" dirty="0"/>
              <a:t>，但</a:t>
            </a:r>
            <a:r>
              <a:rPr lang="en-US" altLang="zh-CN" sz="2600" b="1" dirty="0"/>
              <a:t>Y </a:t>
            </a:r>
            <a:r>
              <a:rPr lang="en-US" altLang="zh-CN" sz="2600" b="1" dirty="0">
                <a:sym typeface="Symbol" panose="05050102010706020507" pitchFamily="18" charset="2"/>
              </a:rPr>
              <a:t></a:t>
            </a:r>
            <a:r>
              <a:rPr lang="en-US" altLang="zh-CN" sz="2600" b="1" dirty="0"/>
              <a:t> X</a:t>
            </a:r>
            <a:r>
              <a:rPr lang="zh-CN" altLang="en-US" sz="2600" b="1" dirty="0"/>
              <a:t>，则称</a:t>
            </a:r>
            <a:r>
              <a:rPr lang="en-US" altLang="zh-CN" sz="2600" b="1" dirty="0"/>
              <a:t>X→Y</a:t>
            </a:r>
            <a:r>
              <a:rPr lang="zh-CN" altLang="en-US" sz="2600" b="1" dirty="0">
                <a:solidFill>
                  <a:srgbClr val="FF00FF"/>
                </a:solidFill>
              </a:rPr>
              <a:t>是非平凡的函数依赖</a:t>
            </a:r>
            <a:endParaRPr lang="zh-CN" altLang="en-US" sz="2600" b="1" dirty="0">
              <a:solidFill>
                <a:srgbClr val="FF00FF"/>
              </a:solidFill>
            </a:endParaRPr>
          </a:p>
          <a:p>
            <a:pPr marL="361950" indent="-361950" defTabSz="914400" eaLnBrk="1" hangingPunct="1">
              <a:lnSpc>
                <a:spcPct val="130000"/>
              </a:lnSpc>
              <a:buNone/>
              <a:tabLst>
                <a:tab pos="361950" algn="l"/>
              </a:tabLst>
            </a:pPr>
            <a:r>
              <a:rPr lang="zh-CN" altLang="en-US" sz="2600" b="1" dirty="0"/>
              <a:t>若</a:t>
            </a:r>
            <a:r>
              <a:rPr lang="en-US" altLang="zh-CN" sz="2600" b="1" dirty="0"/>
              <a:t>X→Y</a:t>
            </a:r>
            <a:r>
              <a:rPr lang="zh-CN" altLang="en-US" sz="2600" b="1" dirty="0"/>
              <a:t>，但</a:t>
            </a:r>
            <a:r>
              <a:rPr lang="en-US" altLang="zh-CN" sz="2600" b="1" dirty="0"/>
              <a:t>Y </a:t>
            </a:r>
            <a:r>
              <a:rPr lang="en-US" altLang="zh-CN" sz="2600" b="1" dirty="0">
                <a:sym typeface="Symbol" panose="05050102010706020507" pitchFamily="18" charset="2"/>
              </a:rPr>
              <a:t></a:t>
            </a:r>
            <a:r>
              <a:rPr lang="en-US" altLang="zh-CN" sz="2600" b="1" dirty="0"/>
              <a:t> X,   </a:t>
            </a:r>
            <a:r>
              <a:rPr lang="zh-CN" altLang="en-US" sz="2600" b="1" dirty="0"/>
              <a:t>则称</a:t>
            </a:r>
            <a:r>
              <a:rPr lang="en-US" altLang="zh-CN" sz="2600" b="1" dirty="0"/>
              <a:t>X→Y</a:t>
            </a:r>
            <a:r>
              <a:rPr lang="zh-CN" altLang="en-US" sz="2600" b="1" dirty="0"/>
              <a:t>是</a:t>
            </a:r>
            <a:r>
              <a:rPr lang="zh-CN" altLang="en-US" sz="2600" b="1" dirty="0">
                <a:solidFill>
                  <a:srgbClr val="FF00FF"/>
                </a:solidFill>
              </a:rPr>
              <a:t>平凡的函数依赖</a:t>
            </a:r>
            <a:endParaRPr lang="zh-CN" altLang="en-US" sz="2600" b="1" dirty="0">
              <a:solidFill>
                <a:srgbClr val="FF00FF"/>
              </a:solidFill>
            </a:endParaRPr>
          </a:p>
          <a:p>
            <a:pPr marL="361950" indent="-361950" defTabSz="914400" eaLnBrk="1" hangingPunct="1">
              <a:lnSpc>
                <a:spcPct val="180000"/>
              </a:lnSpc>
              <a:tabLst>
                <a:tab pos="361950" algn="l"/>
              </a:tabLst>
            </a:pPr>
            <a:r>
              <a:rPr lang="zh-CN" altLang="en-US" sz="2600" b="1" dirty="0"/>
              <a:t>例：在关系</a:t>
            </a:r>
            <a:r>
              <a:rPr lang="en-US" altLang="zh-CN" sz="2600" b="1" dirty="0"/>
              <a:t>SC(Sno, Cno, Grade)</a:t>
            </a:r>
            <a:r>
              <a:rPr lang="zh-CN" altLang="en-US" sz="2600" b="1" dirty="0"/>
              <a:t>中，</a:t>
            </a:r>
            <a:endParaRPr lang="zh-CN" altLang="en-US" sz="2600" b="1" dirty="0"/>
          </a:p>
          <a:p>
            <a:pPr marL="361950" indent="-361950" defTabSz="914400" eaLnBrk="1" hangingPunct="1">
              <a:lnSpc>
                <a:spcPct val="140000"/>
              </a:lnSpc>
              <a:buNone/>
              <a:tabLst>
                <a:tab pos="361950" algn="l"/>
              </a:tabLst>
            </a:pPr>
            <a:r>
              <a:rPr lang="zh-CN" altLang="en-US" sz="2600" b="1" dirty="0"/>
              <a:t>            非平凡函数依赖： </a:t>
            </a:r>
            <a:r>
              <a:rPr lang="en-US" altLang="zh-CN" sz="2600" b="1" dirty="0"/>
              <a:t>(Sno, Cno) →</a:t>
            </a:r>
            <a:r>
              <a:rPr lang="en-US" altLang="zh-CN" sz="2600" b="1" baseline="46000" dirty="0"/>
              <a:t> </a:t>
            </a:r>
            <a:r>
              <a:rPr lang="en-US" altLang="zh-CN" sz="2600" b="1" dirty="0"/>
              <a:t>Grade</a:t>
            </a:r>
            <a:endParaRPr lang="en-US" altLang="zh-CN" sz="2600" b="1" dirty="0"/>
          </a:p>
          <a:p>
            <a:pPr marL="361950" indent="-361950" defTabSz="914400" eaLnBrk="1" hangingPunct="1">
              <a:lnSpc>
                <a:spcPct val="140000"/>
              </a:lnSpc>
              <a:buNone/>
              <a:tabLst>
                <a:tab pos="361950" algn="l"/>
              </a:tabLst>
            </a:pPr>
            <a:r>
              <a:rPr lang="en-US" altLang="zh-CN" sz="2600" b="1" dirty="0"/>
              <a:t>            </a:t>
            </a:r>
            <a:r>
              <a:rPr lang="zh-CN" altLang="en-US" sz="2600" b="1" dirty="0"/>
              <a:t>平凡函数依赖：     </a:t>
            </a:r>
            <a:r>
              <a:rPr lang="en-US" altLang="zh-CN" sz="2600" b="1" dirty="0"/>
              <a:t>(Sno, Cno) →</a:t>
            </a:r>
            <a:r>
              <a:rPr lang="en-US" altLang="zh-CN" sz="2600" b="1" baseline="46000" dirty="0"/>
              <a:t> </a:t>
            </a:r>
            <a:r>
              <a:rPr lang="en-US" altLang="zh-CN" sz="2600" b="1" dirty="0"/>
              <a:t>Sno </a:t>
            </a:r>
            <a:endParaRPr lang="en-US" altLang="zh-CN" sz="2600" b="1" dirty="0"/>
          </a:p>
          <a:p>
            <a:pPr marL="361950" indent="-361950" defTabSz="914400" eaLnBrk="1" hangingPunct="1">
              <a:lnSpc>
                <a:spcPct val="140000"/>
              </a:lnSpc>
              <a:buNone/>
              <a:tabLst>
                <a:tab pos="361950" algn="l"/>
              </a:tabLst>
            </a:pPr>
            <a:r>
              <a:rPr lang="en-US" altLang="zh-CN" sz="2600" b="1" dirty="0"/>
              <a:t>                                          (Sno, Cno) → Cno</a:t>
            </a:r>
            <a:endParaRPr lang="en-US" altLang="zh-CN" sz="2600" b="1" dirty="0"/>
          </a:p>
          <a:p>
            <a:pPr marL="361950" indent="-361950" algn="ctr" defTabSz="914400" eaLnBrk="1" hangingPunct="1">
              <a:lnSpc>
                <a:spcPct val="90000"/>
              </a:lnSpc>
              <a:buNone/>
              <a:tabLst>
                <a:tab pos="361950" algn="l"/>
              </a:tabLst>
            </a:pPr>
            <a:endParaRPr lang="en-US" altLang="zh-CN" sz="2600" b="1" dirty="0"/>
          </a:p>
        </p:txBody>
      </p:sp>
      <p:sp>
        <p:nvSpPr>
          <p:cNvPr id="36868" name="Line 4"/>
          <p:cNvSpPr/>
          <p:nvPr/>
        </p:nvSpPr>
        <p:spPr>
          <a:xfrm>
            <a:off x="3190875" y="2549525"/>
            <a:ext cx="228600" cy="231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9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平凡函数依赖与非平凡函数依赖（续）</a:t>
            </a:r>
            <a:endParaRPr lang="zh-CN" altLang="en-US" sz="3600" b="1" dirty="0"/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533400" y="1905000"/>
            <a:ext cx="7772400" cy="4548188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60000"/>
              </a:lnSpc>
            </a:pPr>
            <a:r>
              <a:rPr lang="zh-CN" altLang="en-US" b="1" dirty="0"/>
              <a:t>若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Y</a:t>
            </a:r>
            <a:r>
              <a:rPr lang="zh-CN" altLang="en-US" b="1" dirty="0"/>
              <a:t>，则</a:t>
            </a:r>
            <a:r>
              <a:rPr lang="en-US" altLang="zh-CN" b="1" i="1" dirty="0"/>
              <a:t>X</a:t>
            </a:r>
            <a:r>
              <a:rPr lang="zh-CN" altLang="en-US" b="1" dirty="0"/>
              <a:t>称为这个函数依赖的决定属性组，也称为决定因素（</a:t>
            </a:r>
            <a:r>
              <a:rPr lang="en-US" altLang="zh-CN" b="1" dirty="0"/>
              <a:t>Determinant</a:t>
            </a:r>
            <a:r>
              <a:rPr lang="zh-CN" altLang="en-US" b="1" dirty="0"/>
              <a:t>）。</a:t>
            </a:r>
            <a:endParaRPr lang="zh-CN" altLang="en-US" b="1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b="1" dirty="0"/>
              <a:t>若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Y</a:t>
            </a:r>
            <a:r>
              <a:rPr lang="zh-CN" altLang="en-US" b="1" dirty="0"/>
              <a:t>，</a:t>
            </a:r>
            <a:r>
              <a:rPr lang="en-US" altLang="zh-CN" b="1" i="1" dirty="0"/>
              <a:t>Y</a:t>
            </a:r>
            <a:r>
              <a:rPr lang="en-US" altLang="zh-CN" b="1" dirty="0"/>
              <a:t>→</a:t>
            </a:r>
            <a:r>
              <a:rPr lang="en-US" altLang="zh-CN" b="1" i="1" dirty="0"/>
              <a:t>X</a:t>
            </a:r>
            <a:r>
              <a:rPr lang="zh-CN" altLang="en-US" b="1" dirty="0"/>
              <a:t>，则记作</a:t>
            </a:r>
            <a:r>
              <a:rPr lang="en-US" altLang="zh-CN" b="1" i="1" dirty="0"/>
              <a:t>X</a:t>
            </a:r>
            <a:r>
              <a:rPr lang="en-US" altLang="zh-CN" b="1" dirty="0"/>
              <a:t>←→</a:t>
            </a:r>
            <a:r>
              <a:rPr lang="en-US" altLang="zh-CN" b="1" i="1" dirty="0"/>
              <a:t>Y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b="1" dirty="0"/>
              <a:t>若</a:t>
            </a:r>
            <a:r>
              <a:rPr lang="en-US" altLang="zh-CN" b="1" i="1" dirty="0"/>
              <a:t>Y</a:t>
            </a:r>
            <a:r>
              <a:rPr lang="zh-CN" altLang="en-US" b="1" dirty="0"/>
              <a:t>不函数依赖于</a:t>
            </a:r>
            <a:r>
              <a:rPr lang="en-US" altLang="zh-CN" b="1" i="1" dirty="0"/>
              <a:t>X</a:t>
            </a:r>
            <a:r>
              <a:rPr lang="zh-CN" altLang="en-US" b="1" dirty="0"/>
              <a:t>，则记作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Y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sp>
        <p:nvSpPr>
          <p:cNvPr id="37892" name="Line 6"/>
          <p:cNvSpPr/>
          <p:nvPr/>
        </p:nvSpPr>
        <p:spPr>
          <a:xfrm>
            <a:off x="6083300" y="4435475"/>
            <a:ext cx="144463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3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三、完全函数依赖与部分函数依赖</a:t>
            </a:r>
            <a:endParaRPr lang="zh-CN" altLang="en-US" sz="3600" b="1" dirty="0"/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914400" y="1981200"/>
            <a:ext cx="790575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6.2  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R(U)</a:t>
            </a:r>
            <a:r>
              <a:rPr lang="zh-CN" altLang="en-US" sz="2400" b="1" dirty="0"/>
              <a:t>中，如果</a:t>
            </a:r>
            <a:r>
              <a:rPr lang="en-US" altLang="zh-CN" sz="2400" b="1" dirty="0"/>
              <a:t>X→Y</a:t>
            </a:r>
            <a:r>
              <a:rPr lang="zh-CN" altLang="en-US" sz="2400" b="1" dirty="0"/>
              <a:t>，并且对于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的任何一个真子集</a:t>
            </a:r>
            <a:r>
              <a:rPr lang="en-US" altLang="zh-CN" sz="2400" b="1" dirty="0"/>
              <a:t>X’</a:t>
            </a:r>
            <a:r>
              <a:rPr lang="zh-CN" altLang="en-US" sz="2400" b="1" dirty="0"/>
              <a:t>，都有</a:t>
            </a:r>
            <a:r>
              <a:rPr lang="en-US" altLang="zh-CN" sz="2400" b="1" dirty="0"/>
              <a:t>X’     Y, </a:t>
            </a:r>
            <a:r>
              <a:rPr lang="zh-CN" altLang="en-US" sz="2400" b="1" dirty="0"/>
              <a:t>则称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对</a:t>
            </a:r>
            <a:r>
              <a:rPr lang="en-US" altLang="zh-CN" sz="2400" b="1" dirty="0"/>
              <a:t>X</a:t>
            </a:r>
            <a:r>
              <a:rPr lang="zh-CN" altLang="en-US" sz="2400" b="1" dirty="0">
                <a:solidFill>
                  <a:srgbClr val="FF00FF"/>
                </a:solidFill>
              </a:rPr>
              <a:t>完全函数依赖</a:t>
            </a:r>
            <a:r>
              <a:rPr lang="zh-CN" altLang="en-US" sz="2400" b="1" dirty="0"/>
              <a:t>，记作</a:t>
            </a:r>
            <a:endParaRPr lang="zh-CN" altLang="en-US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     </a:t>
            </a:r>
            <a:r>
              <a:rPr lang="en-US" altLang="zh-CN" sz="2400" b="1" dirty="0"/>
              <a:t>X </a:t>
            </a:r>
            <a:r>
              <a:rPr lang="en-US" altLang="zh-CN" sz="2400" b="1" baseline="46000" dirty="0"/>
              <a:t>F</a:t>
            </a:r>
            <a:r>
              <a:rPr lang="en-US" altLang="zh-CN" sz="2400" b="1" dirty="0"/>
              <a:t>  Y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  若</a:t>
            </a:r>
            <a:r>
              <a:rPr lang="en-US" altLang="zh-CN" sz="2400" b="1" dirty="0"/>
              <a:t>X→Y</a:t>
            </a:r>
            <a:r>
              <a:rPr lang="zh-CN" altLang="en-US" sz="2400" b="1" dirty="0"/>
              <a:t>，但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不完全函数依赖于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，则称</a:t>
            </a:r>
            <a:r>
              <a:rPr lang="en-US" altLang="zh-CN" sz="2400" b="1" dirty="0"/>
              <a:t>Y</a:t>
            </a:r>
            <a:r>
              <a:rPr lang="zh-CN" altLang="en-US" sz="2400" b="1" dirty="0"/>
              <a:t>对</a:t>
            </a:r>
            <a:r>
              <a:rPr lang="en-US" altLang="zh-CN" sz="2400" b="1" dirty="0"/>
              <a:t>X</a:t>
            </a:r>
            <a:r>
              <a:rPr lang="zh-CN" altLang="en-US" sz="2400" b="1" dirty="0">
                <a:solidFill>
                  <a:srgbClr val="FF00FF"/>
                </a:solidFill>
              </a:rPr>
              <a:t>部分函数依赖</a:t>
            </a:r>
            <a:r>
              <a:rPr lang="zh-CN" altLang="en-US" sz="2400" b="1" dirty="0"/>
              <a:t>，记作</a:t>
            </a:r>
            <a:r>
              <a:rPr lang="en-US" altLang="zh-CN" sz="2400" b="1" dirty="0"/>
              <a:t>X   </a:t>
            </a:r>
            <a:r>
              <a:rPr lang="en-US" altLang="zh-CN" sz="2400" b="1" baseline="30000" dirty="0"/>
              <a:t>P</a:t>
            </a:r>
            <a:r>
              <a:rPr lang="en-US" altLang="zh-CN" sz="2400" b="1" dirty="0"/>
              <a:t>   Y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b="1" dirty="0"/>
              <a:t>    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 b="1" dirty="0"/>
          </a:p>
        </p:txBody>
      </p:sp>
      <p:grpSp>
        <p:nvGrpSpPr>
          <p:cNvPr id="38916" name="Group 8"/>
          <p:cNvGrpSpPr/>
          <p:nvPr/>
        </p:nvGrpSpPr>
        <p:grpSpPr>
          <a:xfrm>
            <a:off x="3419475" y="2636838"/>
            <a:ext cx="381000" cy="290512"/>
            <a:chOff x="4105" y="1752"/>
            <a:chExt cx="240" cy="183"/>
          </a:xfrm>
        </p:grpSpPr>
        <p:sp>
          <p:nvSpPr>
            <p:cNvPr id="38920" name="Line 4"/>
            <p:cNvSpPr/>
            <p:nvPr/>
          </p:nvSpPr>
          <p:spPr>
            <a:xfrm>
              <a:off x="4150" y="1752"/>
              <a:ext cx="180" cy="18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21" name="Line 5"/>
            <p:cNvSpPr/>
            <p:nvPr/>
          </p:nvSpPr>
          <p:spPr>
            <a:xfrm>
              <a:off x="4105" y="1842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8917" name="Line 6"/>
          <p:cNvSpPr/>
          <p:nvPr/>
        </p:nvSpPr>
        <p:spPr>
          <a:xfrm>
            <a:off x="3132138" y="4365625"/>
            <a:ext cx="5032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918" name="Line 7"/>
          <p:cNvSpPr/>
          <p:nvPr/>
        </p:nvSpPr>
        <p:spPr>
          <a:xfrm>
            <a:off x="1619250" y="3357563"/>
            <a:ext cx="35877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8919" name="灯片编号占位符 10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完全函数依赖与部分函数依赖（续）</a:t>
            </a:r>
            <a:endParaRPr lang="zh-CN" altLang="en-US" sz="3600" b="1" dirty="0"/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990600" y="18288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endParaRPr lang="en-US" altLang="zh-CN" sz="28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b="1" dirty="0"/>
              <a:t>[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1] </a:t>
            </a:r>
            <a:r>
              <a:rPr lang="zh-CN" altLang="en-US" sz="2800" b="1" dirty="0"/>
              <a:t>中</a:t>
            </a:r>
            <a:r>
              <a:rPr lang="en-US" altLang="zh-CN" sz="2800" b="1" dirty="0"/>
              <a:t>(Sno,Cno)→Grade</a:t>
            </a:r>
            <a:r>
              <a:rPr lang="zh-CN" altLang="en-US" sz="2800" b="1" dirty="0"/>
              <a:t>是完全函数依赖，</a:t>
            </a:r>
            <a:endParaRPr lang="zh-CN" altLang="en-US" sz="28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b="1" dirty="0"/>
              <a:t>             </a:t>
            </a:r>
            <a:r>
              <a:rPr lang="en-US" altLang="zh-CN" sz="2800" b="1" dirty="0"/>
              <a:t>(Sno,Cno)→Sdept</a:t>
            </a:r>
            <a:r>
              <a:rPr lang="zh-CN" altLang="en-US" sz="2800" b="1" dirty="0"/>
              <a:t>是部分函数依赖</a:t>
            </a:r>
            <a:endParaRPr lang="zh-CN" altLang="en-US" sz="28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b="1" dirty="0"/>
              <a:t>              因为</a:t>
            </a:r>
            <a:r>
              <a:rPr lang="en-US" altLang="zh-CN" sz="2800" b="1" dirty="0"/>
              <a:t>Sno →Sdept</a:t>
            </a:r>
            <a:r>
              <a:rPr lang="zh-CN" altLang="en-US" sz="2800" b="1" dirty="0"/>
              <a:t>成立，且</a:t>
            </a:r>
            <a:r>
              <a:rPr lang="en-US" altLang="zh-CN" sz="2800" b="1" dirty="0"/>
              <a:t>Sno</a:t>
            </a:r>
            <a:r>
              <a:rPr lang="zh-CN" altLang="en-US" sz="2800" b="1" dirty="0"/>
              <a:t>是（</a:t>
            </a:r>
            <a:r>
              <a:rPr lang="en-US" altLang="zh-CN" sz="2800" b="1" dirty="0"/>
              <a:t>Sno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Cno</a:t>
            </a:r>
            <a:r>
              <a:rPr lang="zh-CN" altLang="en-US" sz="2800" b="1" dirty="0"/>
              <a:t>）的真子集</a:t>
            </a:r>
            <a:endParaRPr lang="zh-CN" altLang="en-US" sz="2800" b="1" dirty="0"/>
          </a:p>
          <a:p>
            <a:pPr eaLnBrk="1" hangingPunct="1">
              <a:lnSpc>
                <a:spcPct val="80000"/>
              </a:lnSpc>
              <a:buNone/>
            </a:pPr>
            <a:endParaRPr lang="zh-CN" altLang="en-US" sz="2800" b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/>
              <a:t> </a:t>
            </a:r>
            <a:endParaRPr lang="zh-CN" altLang="en-US" sz="2800" b="1" dirty="0"/>
          </a:p>
        </p:txBody>
      </p:sp>
      <p:sp>
        <p:nvSpPr>
          <p:cNvPr id="39940" name="Text Box 8"/>
          <p:cNvSpPr txBox="1"/>
          <p:nvPr/>
        </p:nvSpPr>
        <p:spPr>
          <a:xfrm>
            <a:off x="3960813" y="2414588"/>
            <a:ext cx="323850" cy="3667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F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39941" name="Text Box 9"/>
          <p:cNvSpPr txBox="1"/>
          <p:nvPr/>
        </p:nvSpPr>
        <p:spPr>
          <a:xfrm>
            <a:off x="4032250" y="3133725"/>
            <a:ext cx="323850" cy="36671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P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39942" name="灯片编号占位符 7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四、传递函数依赖</a:t>
            </a:r>
            <a:endParaRPr lang="zh-CN" altLang="en-US" dirty="0"/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990600" y="19050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1" dirty="0"/>
              <a:t>定义</a:t>
            </a:r>
            <a:r>
              <a:rPr lang="en-US" altLang="zh-CN" sz="2800" b="1" dirty="0"/>
              <a:t>6.3</a:t>
            </a:r>
            <a:r>
              <a:rPr lang="en-US" altLang="zh-CN" sz="2800" dirty="0"/>
              <a:t>  </a:t>
            </a:r>
            <a:r>
              <a:rPr lang="zh-CN" altLang="en-US" sz="2800" dirty="0"/>
              <a:t>在</a:t>
            </a:r>
            <a:r>
              <a:rPr lang="en-US" altLang="zh-CN" sz="2800" dirty="0"/>
              <a:t>R(U)</a:t>
            </a:r>
            <a:r>
              <a:rPr lang="zh-CN" altLang="en-US" sz="2800" dirty="0"/>
              <a:t>中，如果</a:t>
            </a:r>
            <a:r>
              <a:rPr lang="en-US" altLang="zh-CN" sz="2800" dirty="0"/>
              <a:t>X→Y</a:t>
            </a:r>
            <a:r>
              <a:rPr lang="zh-CN" altLang="en-US" sz="2800" dirty="0"/>
              <a:t>，</a:t>
            </a:r>
            <a:r>
              <a:rPr lang="en-US" altLang="zh-CN" sz="2800" dirty="0"/>
              <a:t>(Y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X) ,Y→X Y→Z</a:t>
            </a:r>
            <a:r>
              <a:rPr lang="zh-CN" altLang="en-US" sz="2800" dirty="0"/>
              <a:t>， 则称</a:t>
            </a:r>
            <a:r>
              <a:rPr lang="en-US" altLang="zh-CN" sz="2800" dirty="0"/>
              <a:t>Z</a:t>
            </a:r>
            <a:r>
              <a:rPr lang="zh-CN" altLang="en-US" sz="2800" dirty="0"/>
              <a:t>对</a:t>
            </a:r>
            <a:r>
              <a:rPr lang="en-US" altLang="zh-CN" sz="2800" dirty="0"/>
              <a:t>X</a:t>
            </a:r>
            <a:r>
              <a:rPr lang="zh-CN" altLang="en-US" sz="2800" dirty="0">
                <a:solidFill>
                  <a:srgbClr val="FF00FF"/>
                </a:solidFill>
              </a:rPr>
              <a:t>传递函数依赖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    记为：</a:t>
            </a:r>
            <a:r>
              <a:rPr lang="en-US" altLang="zh-CN" sz="2800" dirty="0"/>
              <a:t>X → Z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/>
              <a:t> </a:t>
            </a:r>
            <a:r>
              <a:rPr lang="zh-CN" altLang="en-US" sz="2800" dirty="0"/>
              <a:t>注</a:t>
            </a:r>
            <a:r>
              <a:rPr lang="en-US" altLang="zh-CN" sz="2800" dirty="0"/>
              <a:t>: </a:t>
            </a:r>
            <a:r>
              <a:rPr lang="zh-CN" altLang="en-US" sz="2800" dirty="0"/>
              <a:t>如果</a:t>
            </a:r>
            <a:r>
              <a:rPr lang="en-US" altLang="zh-CN" sz="2800" dirty="0"/>
              <a:t>Y→X</a:t>
            </a:r>
            <a:r>
              <a:rPr lang="zh-CN" altLang="en-US" sz="2800" dirty="0"/>
              <a:t>， 即</a:t>
            </a:r>
            <a:r>
              <a:rPr lang="en-US" altLang="zh-CN" sz="2800" dirty="0"/>
              <a:t>X←→Y</a:t>
            </a:r>
            <a:r>
              <a:rPr lang="zh-CN" altLang="en-US" sz="2800" dirty="0"/>
              <a:t>，则</a:t>
            </a:r>
            <a:r>
              <a:rPr lang="en-US" altLang="zh-CN" sz="2800" dirty="0">
                <a:solidFill>
                  <a:srgbClr val="FF00FF"/>
                </a:solidFill>
              </a:rPr>
              <a:t>Z</a:t>
            </a:r>
            <a:r>
              <a:rPr lang="zh-CN" altLang="en-US" sz="2800" dirty="0">
                <a:solidFill>
                  <a:srgbClr val="FF00FF"/>
                </a:solidFill>
              </a:rPr>
              <a:t>直接依赖于</a:t>
            </a:r>
            <a:r>
              <a:rPr lang="en-US" altLang="zh-CN" sz="2800" dirty="0">
                <a:solidFill>
                  <a:srgbClr val="FF00FF"/>
                </a:solidFill>
              </a:rPr>
              <a:t>X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: </a:t>
            </a:r>
            <a:r>
              <a:rPr lang="zh-CN" altLang="en-US" sz="2800" dirty="0"/>
              <a:t>在关系</a:t>
            </a:r>
            <a:r>
              <a:rPr lang="en-US" altLang="zh-CN" sz="2800" dirty="0"/>
              <a:t>Std(Sno, Sdept, Mname)</a:t>
            </a:r>
            <a:r>
              <a:rPr lang="zh-CN" altLang="en-US" sz="2800" dirty="0"/>
              <a:t>中，有：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	  </a:t>
            </a:r>
            <a:r>
              <a:rPr lang="en-US" altLang="zh-CN" sz="2800" dirty="0"/>
              <a:t>Sno → Sdept</a:t>
            </a:r>
            <a:r>
              <a:rPr lang="zh-CN" altLang="en-US" sz="2800" dirty="0"/>
              <a:t>，</a:t>
            </a:r>
            <a:r>
              <a:rPr lang="en-US" altLang="zh-CN" sz="2800" dirty="0"/>
              <a:t>Sdept → Mname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/>
              <a:t>      Mname</a:t>
            </a:r>
            <a:r>
              <a:rPr lang="zh-CN" altLang="en-US" sz="2800" dirty="0"/>
              <a:t>传递函数依赖于</a:t>
            </a:r>
            <a:r>
              <a:rPr lang="en-US" altLang="zh-CN" sz="2800" dirty="0"/>
              <a:t>Sno</a:t>
            </a:r>
            <a:endParaRPr lang="en-US" altLang="zh-CN" sz="2800" dirty="0"/>
          </a:p>
        </p:txBody>
      </p:sp>
      <p:sp>
        <p:nvSpPr>
          <p:cNvPr id="40964" name="Line 4"/>
          <p:cNvSpPr/>
          <p:nvPr/>
        </p:nvSpPr>
        <p:spPr>
          <a:xfrm>
            <a:off x="7812088" y="1989138"/>
            <a:ext cx="215900" cy="36036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5" name="Line 6"/>
          <p:cNvSpPr/>
          <p:nvPr/>
        </p:nvSpPr>
        <p:spPr>
          <a:xfrm>
            <a:off x="6659563" y="2044700"/>
            <a:ext cx="228600" cy="304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6" name="Text Box 7"/>
          <p:cNvSpPr txBox="1"/>
          <p:nvPr/>
        </p:nvSpPr>
        <p:spPr>
          <a:xfrm>
            <a:off x="2771775" y="2636838"/>
            <a:ext cx="539750" cy="3048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Times New Roman" panose="02020603050405020304" pitchFamily="18" charset="0"/>
              </a:rPr>
              <a:t>传递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0967" name="灯片编号占位符 8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  </a:t>
            </a:r>
            <a:r>
              <a:rPr lang="zh-CN" altLang="en-US" sz="4000" dirty="0"/>
              <a:t>规范化</a:t>
            </a:r>
            <a:endParaRPr lang="zh-CN" altLang="en-US" sz="4000" dirty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1042988" y="1981200"/>
            <a:ext cx="7643812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6.2.2  </a:t>
            </a:r>
            <a:r>
              <a:rPr lang="zh-CN" altLang="en-US" sz="2400" b="1" dirty="0">
                <a:solidFill>
                  <a:srgbClr val="3333FF"/>
                </a:solidFill>
              </a:rPr>
              <a:t>码</a:t>
            </a:r>
            <a:endParaRPr lang="zh-CN" altLang="en-US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  <p:sp>
        <p:nvSpPr>
          <p:cNvPr id="41988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6.2.2 </a:t>
            </a:r>
            <a:r>
              <a:rPr lang="zh-CN" altLang="en-US" dirty="0"/>
              <a:t>码</a:t>
            </a:r>
            <a:endParaRPr lang="zh-CN" altLang="en-US" dirty="0"/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914400" y="2046288"/>
            <a:ext cx="7772400" cy="35575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70000"/>
              </a:lnSpc>
              <a:buNone/>
            </a:pPr>
            <a:r>
              <a:rPr lang="zh-CN" altLang="en-US" sz="2800" b="1" dirty="0"/>
              <a:t>定义</a:t>
            </a:r>
            <a:r>
              <a:rPr lang="en-US" altLang="zh-CN" sz="2800" b="1" dirty="0"/>
              <a:t>6.4</a:t>
            </a:r>
            <a:r>
              <a:rPr lang="en-US" altLang="zh-CN" sz="2800" dirty="0"/>
              <a:t>  </a:t>
            </a:r>
            <a:r>
              <a:rPr lang="zh-CN" altLang="en-US" sz="2800" dirty="0"/>
              <a:t>设</a:t>
            </a:r>
            <a:r>
              <a:rPr lang="en-US" altLang="zh-CN" sz="2800" dirty="0"/>
              <a:t>K</a:t>
            </a:r>
            <a:r>
              <a:rPr lang="zh-CN" altLang="en-US" sz="2800" dirty="0"/>
              <a:t>为</a:t>
            </a:r>
            <a:r>
              <a:rPr lang="en-US" altLang="zh-CN" sz="2800" dirty="0"/>
              <a:t>R&lt;U,F&gt;</a:t>
            </a:r>
            <a:r>
              <a:rPr lang="zh-CN" altLang="en-US" sz="2800" dirty="0"/>
              <a:t>中的属性或属性组合。若</a:t>
            </a:r>
            <a:r>
              <a:rPr lang="en-US" altLang="zh-CN" sz="2800" dirty="0"/>
              <a:t>K  </a:t>
            </a:r>
            <a:r>
              <a:rPr lang="en-US" altLang="zh-CN" sz="2800" baseline="46000" dirty="0"/>
              <a:t>  </a:t>
            </a:r>
            <a:r>
              <a:rPr lang="en-US" altLang="zh-CN" sz="2800" dirty="0"/>
              <a:t>U</a:t>
            </a:r>
            <a:r>
              <a:rPr lang="zh-CN" altLang="en-US" sz="2800" dirty="0"/>
              <a:t>，  则</a:t>
            </a:r>
            <a:r>
              <a:rPr lang="en-US" altLang="zh-CN" sz="2800" dirty="0"/>
              <a:t>K</a:t>
            </a:r>
            <a:r>
              <a:rPr lang="zh-CN" altLang="en-US" sz="2800" dirty="0"/>
              <a:t>称为</a:t>
            </a:r>
            <a:r>
              <a:rPr lang="en-US" altLang="zh-CN" sz="2800" dirty="0"/>
              <a:t>R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FF"/>
                </a:solidFill>
              </a:rPr>
              <a:t>侯选码</a:t>
            </a:r>
            <a:r>
              <a:rPr lang="zh-CN" altLang="en-US" sz="2800" dirty="0"/>
              <a:t>（</a:t>
            </a:r>
            <a:r>
              <a:rPr lang="en-US" altLang="zh-CN" sz="2800" dirty="0"/>
              <a:t>Candidate Key</a:t>
            </a:r>
            <a:r>
              <a:rPr lang="zh-CN" altLang="en-US" sz="2800" dirty="0"/>
              <a:t>）。</a:t>
            </a:r>
            <a:endParaRPr lang="zh-CN" altLang="en-US" sz="2800" dirty="0"/>
          </a:p>
          <a:p>
            <a:pPr eaLnBrk="1" hangingPunct="1">
              <a:lnSpc>
                <a:spcPct val="170000"/>
              </a:lnSpc>
              <a:buNone/>
            </a:pPr>
            <a:r>
              <a:rPr lang="zh-CN" altLang="en-US" sz="2800" dirty="0"/>
              <a:t>     若候选码多于一个，则选定其中的一个做为</a:t>
            </a:r>
            <a:r>
              <a:rPr lang="zh-CN" altLang="en-US" sz="2800" dirty="0">
                <a:solidFill>
                  <a:srgbClr val="FF00FF"/>
                </a:solidFill>
              </a:rPr>
              <a:t>主码</a:t>
            </a:r>
            <a:r>
              <a:rPr lang="zh-CN" altLang="en-US" sz="2800" dirty="0"/>
              <a:t>（</a:t>
            </a:r>
            <a:r>
              <a:rPr lang="en-US" altLang="zh-CN" sz="2800" dirty="0"/>
              <a:t>Primary Key</a:t>
            </a:r>
            <a:r>
              <a:rPr lang="zh-CN" altLang="en-US" sz="2800" dirty="0"/>
              <a:t>）。</a:t>
            </a:r>
            <a:endParaRPr lang="zh-CN" altLang="en-US" sz="2800" dirty="0"/>
          </a:p>
        </p:txBody>
      </p:sp>
      <p:sp>
        <p:nvSpPr>
          <p:cNvPr id="43012" name="Line 4"/>
          <p:cNvSpPr/>
          <p:nvPr/>
        </p:nvSpPr>
        <p:spPr>
          <a:xfrm>
            <a:off x="1547813" y="3284538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013" name="Text Box 5"/>
          <p:cNvSpPr txBox="1"/>
          <p:nvPr/>
        </p:nvSpPr>
        <p:spPr>
          <a:xfrm>
            <a:off x="1547813" y="2924175"/>
            <a:ext cx="296862" cy="33655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F</a:t>
            </a:r>
            <a:endParaRPr lang="en-US" altLang="zh-CN" sz="1600" dirty="0">
              <a:latin typeface="Times New Roman" panose="02020603050405020304" pitchFamily="18" charset="0"/>
            </a:endParaRPr>
          </a:p>
        </p:txBody>
      </p:sp>
      <p:sp>
        <p:nvSpPr>
          <p:cNvPr id="43014" name="灯片编号占位符 7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码（续）</a:t>
            </a:r>
            <a:endParaRPr lang="zh-CN" altLang="en-US" sz="4000" dirty="0"/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457200" y="1828800"/>
            <a:ext cx="8435975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sz="2800" b="1" dirty="0"/>
              <a:t>主属性与非主属性</a:t>
            </a:r>
            <a:endParaRPr lang="zh-CN" altLang="en-US" sz="2800" b="1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600" b="1" dirty="0"/>
              <a:t>包含在任何一个候选码中的属性 ，称为主属性（</a:t>
            </a:r>
            <a:r>
              <a:rPr lang="en-US" altLang="zh-CN" sz="2600" b="1" dirty="0"/>
              <a:t>Prime attribute</a:t>
            </a:r>
            <a:r>
              <a:rPr lang="zh-CN" altLang="en-US" sz="2600" b="1" dirty="0"/>
              <a:t>） </a:t>
            </a:r>
            <a:endParaRPr lang="zh-CN" altLang="en-US" sz="2600" b="1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600" b="1" dirty="0"/>
              <a:t>不包含在任何码中的属性称为非主属性（</a:t>
            </a:r>
            <a:r>
              <a:rPr lang="en-US" altLang="zh-CN" sz="2600" b="1" dirty="0"/>
              <a:t>Nonprime attribute</a:t>
            </a:r>
            <a:r>
              <a:rPr lang="zh-CN" altLang="en-US" sz="2600" b="1" dirty="0"/>
              <a:t>）或非码属性（</a:t>
            </a:r>
            <a:r>
              <a:rPr lang="en-US" altLang="zh-CN" sz="2600" b="1" dirty="0"/>
              <a:t>Non-key attribute</a:t>
            </a:r>
            <a:r>
              <a:rPr lang="zh-CN" altLang="en-US" sz="2600" b="1" dirty="0"/>
              <a:t>） </a:t>
            </a:r>
            <a:endParaRPr lang="zh-CN" altLang="en-US" sz="2600" b="1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/>
              <a:t>全码</a:t>
            </a:r>
            <a:endParaRPr lang="zh-CN" altLang="en-US" sz="2800" b="1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600" b="1" dirty="0"/>
              <a:t>整个属性组是码，称为全码（</a:t>
            </a:r>
            <a:r>
              <a:rPr lang="en-US" altLang="zh-CN" sz="2600" b="1" dirty="0"/>
              <a:t>All-key</a:t>
            </a:r>
            <a:r>
              <a:rPr lang="zh-CN" altLang="en-US" sz="2600" b="1" dirty="0"/>
              <a:t>） </a:t>
            </a:r>
            <a:endParaRPr lang="zh-CN" altLang="en-US" sz="2400" b="1" dirty="0"/>
          </a:p>
        </p:txBody>
      </p:sp>
      <p:sp>
        <p:nvSpPr>
          <p:cNvPr id="559108" name="Rectangle 4"/>
          <p:cNvSpPr/>
          <p:nvPr/>
        </p:nvSpPr>
        <p:spPr>
          <a:xfrm>
            <a:off x="5580063" y="1590675"/>
            <a:ext cx="3263900" cy="549275"/>
          </a:xfrm>
          <a:prstGeom prst="rect">
            <a:avLst/>
          </a:prstGeom>
          <a:noFill/>
          <a:ln w="5715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buNone/>
            </a:pPr>
            <a:r>
              <a:rPr lang="en-US" altLang="zh-CN" sz="2000" b="1" dirty="0"/>
              <a:t>SC</a:t>
            </a:r>
            <a:r>
              <a:rPr lang="zh-CN" altLang="en-US" sz="2000" b="1" dirty="0"/>
              <a:t>（</a:t>
            </a:r>
            <a:r>
              <a:rPr lang="en-US" altLang="zh-CN" sz="2000" b="1" u="sng" dirty="0"/>
              <a:t>Sno</a:t>
            </a:r>
            <a:r>
              <a:rPr lang="zh-CN" altLang="en-US" sz="2000" b="1" u="sng" dirty="0"/>
              <a:t>，</a:t>
            </a:r>
            <a:r>
              <a:rPr lang="en-US" altLang="zh-CN" sz="2000" b="1" u="sng" dirty="0"/>
              <a:t>Cno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Grade</a:t>
            </a:r>
            <a:r>
              <a:rPr lang="zh-CN" altLang="en-US" sz="2000" b="1" dirty="0"/>
              <a:t>）</a:t>
            </a:r>
            <a:endParaRPr lang="zh-CN" altLang="en-US" sz="2000" b="1" dirty="0"/>
          </a:p>
        </p:txBody>
      </p:sp>
      <p:sp>
        <p:nvSpPr>
          <p:cNvPr id="44037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0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码（续）</a:t>
            </a:r>
            <a:endParaRPr lang="zh-CN" altLang="en-US" sz="4000" dirty="0"/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684213" y="1773238"/>
            <a:ext cx="7570787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2400" b="1" dirty="0"/>
              <a:t>[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2]</a:t>
            </a:r>
            <a:endParaRPr lang="en-US" altLang="zh-CN" sz="24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400" b="1" dirty="0"/>
              <a:t>    </a:t>
            </a:r>
            <a:r>
              <a:rPr lang="zh-CN" altLang="en-US" sz="2200" b="1" dirty="0"/>
              <a:t>关系模式</a:t>
            </a:r>
            <a:r>
              <a:rPr lang="en-US" altLang="zh-CN" sz="2200" b="1" dirty="0"/>
              <a:t>S(</a:t>
            </a:r>
            <a:r>
              <a:rPr lang="en-US" altLang="zh-CN" sz="2200" b="1" u="sng" dirty="0"/>
              <a:t>Sno</a:t>
            </a:r>
            <a:r>
              <a:rPr lang="en-US" altLang="zh-CN" sz="2200" b="1" dirty="0"/>
              <a:t>,Sdept,Sage)</a:t>
            </a:r>
            <a:r>
              <a:rPr lang="zh-CN" altLang="en-US" sz="2200" b="1" dirty="0"/>
              <a:t>，单个属性</a:t>
            </a:r>
            <a:r>
              <a:rPr lang="en-US" altLang="zh-CN" sz="2200" b="1" dirty="0"/>
              <a:t>Sno</a:t>
            </a:r>
            <a:r>
              <a:rPr lang="zh-CN" altLang="en-US" sz="2200" b="1" dirty="0"/>
              <a:t>是码，</a:t>
            </a:r>
            <a:endParaRPr lang="zh-CN" altLang="en-US" sz="22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b="1" dirty="0"/>
              <a:t>    </a:t>
            </a:r>
            <a:r>
              <a:rPr lang="en-US" altLang="zh-CN" sz="2200" b="1" dirty="0"/>
              <a:t>SC</a:t>
            </a:r>
            <a:r>
              <a:rPr lang="zh-CN" altLang="en-US" sz="2200" b="1" dirty="0"/>
              <a:t>（</a:t>
            </a:r>
            <a:r>
              <a:rPr lang="en-US" altLang="zh-CN" sz="2200" b="1" u="sng" dirty="0"/>
              <a:t>Sno</a:t>
            </a:r>
            <a:r>
              <a:rPr lang="zh-CN" altLang="en-US" sz="2200" b="1" u="sng" dirty="0"/>
              <a:t>，</a:t>
            </a:r>
            <a:r>
              <a:rPr lang="en-US" altLang="zh-CN" sz="2200" b="1" u="sng" dirty="0"/>
              <a:t>Cno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Grade</a:t>
            </a:r>
            <a:r>
              <a:rPr lang="zh-CN" altLang="en-US" sz="2200" b="1" dirty="0"/>
              <a:t>）中，（</a:t>
            </a:r>
            <a:r>
              <a:rPr lang="en-US" altLang="zh-CN" sz="2200" b="1" dirty="0"/>
              <a:t>Sno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Cno</a:t>
            </a:r>
            <a:r>
              <a:rPr lang="zh-CN" altLang="en-US" sz="2200" b="1" dirty="0"/>
              <a:t>）是码</a:t>
            </a:r>
            <a:endParaRPr lang="zh-CN" altLang="en-US" sz="22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200" b="1" dirty="0"/>
              <a:t>[</a:t>
            </a:r>
            <a:r>
              <a:rPr lang="zh-CN" altLang="en-US" sz="2200" b="1" dirty="0"/>
              <a:t>例</a:t>
            </a:r>
            <a:r>
              <a:rPr lang="en-US" altLang="zh-CN" sz="2200" b="1" dirty="0"/>
              <a:t>3]</a:t>
            </a:r>
            <a:endParaRPr lang="en-US" altLang="zh-CN" sz="22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200" b="1" dirty="0"/>
              <a:t>       </a:t>
            </a:r>
            <a:r>
              <a:rPr lang="zh-CN" altLang="en-US" sz="2200" b="1" dirty="0"/>
              <a:t>关系模式</a:t>
            </a:r>
            <a:r>
              <a:rPr lang="en-US" altLang="zh-CN" sz="2200" b="1" dirty="0"/>
              <a:t>R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P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W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）</a:t>
            </a:r>
            <a:endParaRPr lang="zh-CN" altLang="en-US" sz="22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b="1" dirty="0"/>
              <a:t>       </a:t>
            </a:r>
            <a:r>
              <a:rPr lang="en-US" altLang="zh-CN" sz="2200" b="1" dirty="0"/>
              <a:t>P</a:t>
            </a:r>
            <a:r>
              <a:rPr lang="zh-CN" altLang="en-US" sz="2200" b="1" dirty="0"/>
              <a:t>：演奏者     </a:t>
            </a:r>
            <a:r>
              <a:rPr lang="en-US" altLang="zh-CN" sz="2200" b="1" dirty="0"/>
              <a:t>W</a:t>
            </a:r>
            <a:r>
              <a:rPr lang="zh-CN" altLang="en-US" sz="2200" b="1" dirty="0"/>
              <a:t>：作品    </a:t>
            </a:r>
            <a:r>
              <a:rPr lang="en-US" altLang="zh-CN" sz="2200" b="1" dirty="0"/>
              <a:t>A</a:t>
            </a:r>
            <a:r>
              <a:rPr lang="zh-CN" altLang="en-US" sz="2200" b="1" dirty="0"/>
              <a:t>：听众</a:t>
            </a:r>
            <a:endParaRPr lang="zh-CN" altLang="en-US" sz="22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b="1" dirty="0"/>
              <a:t>       一个演奏者可以演奏多个作品</a:t>
            </a:r>
            <a:endParaRPr lang="zh-CN" altLang="en-US" sz="22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b="1" dirty="0"/>
              <a:t>       某一作品可被多个演奏者演奏</a:t>
            </a:r>
            <a:endParaRPr lang="zh-CN" altLang="en-US" sz="22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b="1" dirty="0"/>
              <a:t>       听众可以欣赏不同演奏者的不同作品</a:t>
            </a:r>
            <a:endParaRPr lang="zh-CN" altLang="en-US" sz="22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200" b="1" dirty="0"/>
              <a:t>       码为</a:t>
            </a:r>
            <a:r>
              <a:rPr lang="en-US" altLang="zh-CN" sz="2200" b="1" dirty="0"/>
              <a:t>(P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W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A)</a:t>
            </a:r>
            <a:r>
              <a:rPr lang="zh-CN" altLang="en-US" sz="2200" b="1" dirty="0"/>
              <a:t>，即</a:t>
            </a:r>
            <a:r>
              <a:rPr lang="en-US" altLang="zh-CN" sz="2200" b="1" dirty="0"/>
              <a:t>All-Key  </a:t>
            </a:r>
            <a:endParaRPr lang="en-US" altLang="zh-CN" sz="2200" b="1" dirty="0"/>
          </a:p>
        </p:txBody>
      </p:sp>
      <p:sp>
        <p:nvSpPr>
          <p:cNvPr id="4506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latin typeface="宋体" panose="02010600030101010101" pitchFamily="2" charset="-122"/>
              </a:rPr>
              <a:t>外部码</a:t>
            </a:r>
            <a:endParaRPr lang="zh-CN" altLang="en-US" sz="4000" dirty="0">
              <a:latin typeface="宋体" panose="02010600030101010101" pitchFamily="2" charset="-122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611188" y="1773238"/>
            <a:ext cx="7772400" cy="35575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6.5  </a:t>
            </a:r>
            <a:r>
              <a:rPr lang="zh-CN" altLang="en-US" sz="2400" b="1" dirty="0"/>
              <a:t>关系模式 </a:t>
            </a:r>
            <a:r>
              <a:rPr lang="en-US" altLang="zh-CN" sz="2400" b="1" i="1" dirty="0"/>
              <a:t>R </a:t>
            </a:r>
            <a:r>
              <a:rPr lang="zh-CN" altLang="en-US" sz="2400" b="1" dirty="0"/>
              <a:t>中属性或属性组</a:t>
            </a:r>
            <a:r>
              <a:rPr lang="en-US" altLang="zh-CN" sz="2400" b="1" i="1" dirty="0"/>
              <a:t>X </a:t>
            </a:r>
            <a:r>
              <a:rPr lang="zh-CN" altLang="en-US" sz="2400" b="1" dirty="0"/>
              <a:t>并非 </a:t>
            </a:r>
            <a:r>
              <a:rPr lang="en-US" altLang="zh-CN" sz="2400" b="1" i="1" dirty="0"/>
              <a:t>R</a:t>
            </a:r>
            <a:r>
              <a:rPr lang="zh-CN" altLang="en-US" sz="2400" b="1" dirty="0"/>
              <a:t>的码，但 </a:t>
            </a:r>
            <a:r>
              <a:rPr lang="en-US" altLang="zh-CN" sz="2400" b="1" i="1" dirty="0"/>
              <a:t>X </a:t>
            </a:r>
            <a:r>
              <a:rPr lang="zh-CN" altLang="en-US" sz="2400" b="1" dirty="0"/>
              <a:t>是另一个关系模式的码，则称 </a:t>
            </a:r>
            <a:r>
              <a:rPr lang="en-US" altLang="zh-CN" sz="2400" b="1" i="1" dirty="0"/>
              <a:t>X </a:t>
            </a:r>
            <a:r>
              <a:rPr lang="zh-CN" altLang="en-US" sz="2400" b="1" dirty="0"/>
              <a:t>是</a:t>
            </a:r>
            <a:r>
              <a:rPr lang="en-US" altLang="zh-CN" sz="2400" b="1" i="1" dirty="0"/>
              <a:t>R 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FF"/>
                </a:solidFill>
              </a:rPr>
              <a:t>外部码（</a:t>
            </a:r>
            <a:r>
              <a:rPr lang="en-US" altLang="zh-CN" sz="2400" b="1" dirty="0">
                <a:solidFill>
                  <a:srgbClr val="FF00FF"/>
                </a:solidFill>
              </a:rPr>
              <a:t>Foreign key</a:t>
            </a:r>
            <a:r>
              <a:rPr lang="zh-CN" altLang="en-US" sz="2400" b="1" dirty="0">
                <a:solidFill>
                  <a:srgbClr val="FF00FF"/>
                </a:solidFill>
              </a:rPr>
              <a:t>）</a:t>
            </a:r>
            <a:r>
              <a:rPr lang="zh-CN" altLang="en-US" sz="2400" b="1" dirty="0"/>
              <a:t>也称外码</a:t>
            </a:r>
            <a:endParaRPr lang="zh-CN" altLang="en-US" sz="2400" b="1" dirty="0"/>
          </a:p>
          <a:p>
            <a:pPr eaLnBrk="1" hangingPunct="1">
              <a:lnSpc>
                <a:spcPct val="140000"/>
              </a:lnSpc>
              <a:buClr>
                <a:schemeClr val="accent1"/>
              </a:buClr>
            </a:pPr>
            <a:r>
              <a:rPr lang="zh-CN" altLang="en-US" sz="2400" b="1" dirty="0"/>
              <a:t>如在</a:t>
            </a:r>
            <a:r>
              <a:rPr lang="en-US" altLang="zh-CN" sz="2400" b="1" dirty="0"/>
              <a:t>SC</a:t>
            </a:r>
            <a:r>
              <a:rPr lang="zh-CN" altLang="en-US" sz="2400" b="1" dirty="0"/>
              <a:t>（</a:t>
            </a:r>
            <a:r>
              <a:rPr lang="en-US" altLang="zh-CN" sz="2400" b="1" u="sng" dirty="0"/>
              <a:t>Sno</a:t>
            </a:r>
            <a:r>
              <a:rPr lang="zh-CN" altLang="en-US" sz="2400" b="1" u="sng" dirty="0"/>
              <a:t>，</a:t>
            </a:r>
            <a:r>
              <a:rPr lang="en-US" altLang="zh-CN" sz="2400" b="1" u="sng" dirty="0"/>
              <a:t>Cno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Grade</a:t>
            </a:r>
            <a:r>
              <a:rPr lang="zh-CN" altLang="en-US" sz="2400" b="1" dirty="0"/>
              <a:t>）中，</a:t>
            </a:r>
            <a:r>
              <a:rPr lang="en-US" altLang="zh-CN" sz="2400" b="1" dirty="0"/>
              <a:t>Sno</a:t>
            </a:r>
            <a:r>
              <a:rPr lang="zh-CN" altLang="en-US" sz="2400" b="1" dirty="0"/>
              <a:t>不是码，但</a:t>
            </a:r>
            <a:r>
              <a:rPr lang="en-US" altLang="zh-CN" sz="2400" b="1" dirty="0"/>
              <a:t>Sno</a:t>
            </a:r>
            <a:r>
              <a:rPr lang="zh-CN" altLang="en-US" sz="2400" b="1" dirty="0"/>
              <a:t>是关系模式</a:t>
            </a:r>
            <a:r>
              <a:rPr lang="en-US" altLang="zh-CN" sz="2400" b="1" dirty="0"/>
              <a:t>S</a:t>
            </a:r>
            <a:r>
              <a:rPr lang="zh-CN" altLang="en-US" sz="2400" b="1" dirty="0"/>
              <a:t>（</a:t>
            </a:r>
            <a:r>
              <a:rPr lang="en-US" altLang="zh-CN" sz="2400" b="1" u="sng" dirty="0"/>
              <a:t>Sno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Sdept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Sage</a:t>
            </a:r>
            <a:r>
              <a:rPr lang="zh-CN" altLang="en-US" sz="2400" b="1" dirty="0"/>
              <a:t>）的码，则</a:t>
            </a:r>
            <a:r>
              <a:rPr lang="en-US" altLang="zh-CN" sz="2400" b="1" dirty="0"/>
              <a:t>Sno</a:t>
            </a:r>
            <a:r>
              <a:rPr lang="zh-CN" altLang="en-US" sz="2400" b="1" dirty="0"/>
              <a:t>是关系模式</a:t>
            </a:r>
            <a:r>
              <a:rPr lang="en-US" altLang="zh-CN" sz="2400" b="1" dirty="0"/>
              <a:t>SC</a:t>
            </a:r>
            <a:r>
              <a:rPr lang="zh-CN" altLang="en-US" sz="2400" b="1" dirty="0"/>
              <a:t>的外部码</a:t>
            </a:r>
            <a:r>
              <a:rPr lang="zh-CN" altLang="en-US" sz="2800" b="1" dirty="0"/>
              <a:t> </a:t>
            </a:r>
            <a:endParaRPr lang="zh-CN" altLang="en-US" sz="2400" b="1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400" b="1" dirty="0"/>
              <a:t>主码与外部码一起提供了表示关系间联系的手段</a:t>
            </a:r>
            <a:endParaRPr lang="zh-CN" altLang="en-US" sz="2400" b="1" dirty="0"/>
          </a:p>
        </p:txBody>
      </p:sp>
      <p:sp>
        <p:nvSpPr>
          <p:cNvPr id="46084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  </a:t>
            </a:r>
            <a:r>
              <a:rPr lang="zh-CN" altLang="en-US" sz="4000" dirty="0"/>
              <a:t>规范化</a:t>
            </a:r>
            <a:endParaRPr lang="zh-CN" altLang="en-US" sz="4000" dirty="0"/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1042988" y="1628775"/>
            <a:ext cx="7643812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6.2.3  </a:t>
            </a:r>
            <a:r>
              <a:rPr lang="zh-CN" altLang="en-US" sz="2400" b="1" dirty="0">
                <a:solidFill>
                  <a:srgbClr val="3333FF"/>
                </a:solidFill>
              </a:rPr>
              <a:t>范式</a:t>
            </a:r>
            <a:endParaRPr lang="zh-CN" altLang="en-US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  <p:sp>
        <p:nvSpPr>
          <p:cNvPr id="47108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6.2.3 </a:t>
            </a:r>
            <a:r>
              <a:rPr lang="zh-CN" altLang="en-US" dirty="0"/>
              <a:t>范式</a:t>
            </a:r>
            <a:endParaRPr lang="zh-CN" altLang="en-US" dirty="0"/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6164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sz="2400" b="1" dirty="0"/>
              <a:t>范式是符合某一种级别的关系模式的集合</a:t>
            </a:r>
            <a:endParaRPr lang="zh-CN" altLang="en-US" sz="2400" b="1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b="1" dirty="0"/>
              <a:t>关系数据库中的关系必须满足一定的要求。满足不同程度要求的为不同范式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</a:pPr>
            <a:r>
              <a:rPr lang="zh-CN" altLang="en-US" sz="2400" b="1" dirty="0"/>
              <a:t>范式的种类：	</a:t>
            </a:r>
            <a:endParaRPr lang="zh-CN" altLang="en-US" sz="24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b="1" dirty="0"/>
              <a:t>			</a:t>
            </a:r>
            <a:r>
              <a:rPr lang="zh-CN" altLang="en-US" sz="2000" b="1" dirty="0"/>
              <a:t>第一范式</a:t>
            </a:r>
            <a:r>
              <a:rPr lang="en-US" altLang="zh-CN" sz="2000" b="1" dirty="0"/>
              <a:t>(1NF)</a:t>
            </a:r>
            <a:endParaRPr lang="en-US" altLang="zh-CN" sz="20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b="1" dirty="0"/>
              <a:t>			</a:t>
            </a:r>
            <a:r>
              <a:rPr lang="zh-CN" altLang="en-US" sz="2000" b="1" dirty="0"/>
              <a:t>第二范式</a:t>
            </a:r>
            <a:r>
              <a:rPr lang="en-US" altLang="zh-CN" sz="2000" b="1" dirty="0"/>
              <a:t>(2NF)</a:t>
            </a:r>
            <a:endParaRPr lang="en-US" altLang="zh-CN" sz="20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b="1" dirty="0"/>
              <a:t>			</a:t>
            </a:r>
            <a:r>
              <a:rPr lang="zh-CN" altLang="en-US" sz="2000" b="1" dirty="0"/>
              <a:t>第三范式</a:t>
            </a:r>
            <a:r>
              <a:rPr lang="en-US" altLang="zh-CN" sz="2000" b="1" dirty="0"/>
              <a:t>(3NF)</a:t>
            </a:r>
            <a:endParaRPr lang="en-US" altLang="zh-CN" sz="20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b="1" dirty="0"/>
              <a:t>			BC</a:t>
            </a:r>
            <a:r>
              <a:rPr lang="zh-CN" altLang="en-US" sz="2000" b="1" dirty="0"/>
              <a:t>范式</a:t>
            </a:r>
            <a:r>
              <a:rPr lang="en-US" altLang="zh-CN" sz="2000" b="1" dirty="0"/>
              <a:t>(BCNF)</a:t>
            </a:r>
            <a:endParaRPr lang="en-US" altLang="zh-CN" sz="20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b="1" dirty="0"/>
              <a:t>			</a:t>
            </a:r>
            <a:r>
              <a:rPr lang="zh-CN" altLang="en-US" sz="2000" b="1" dirty="0"/>
              <a:t>第四范式</a:t>
            </a:r>
            <a:r>
              <a:rPr lang="en-US" altLang="zh-CN" sz="2000" b="1" dirty="0"/>
              <a:t>(4NF)</a:t>
            </a:r>
            <a:endParaRPr lang="en-US" altLang="zh-CN" sz="20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b="1" dirty="0"/>
              <a:t>			</a:t>
            </a:r>
            <a:r>
              <a:rPr lang="zh-CN" altLang="en-US" sz="2000" b="1" dirty="0"/>
              <a:t>第五范式</a:t>
            </a:r>
            <a:r>
              <a:rPr lang="en-US" altLang="zh-CN" sz="2000" b="1" dirty="0"/>
              <a:t>(5NF)</a:t>
            </a:r>
            <a:endParaRPr lang="en-US" altLang="zh-CN" sz="2000" b="1" dirty="0"/>
          </a:p>
        </p:txBody>
      </p:sp>
      <p:sp>
        <p:nvSpPr>
          <p:cNvPr id="48132" name="AutoShape 4"/>
          <p:cNvSpPr/>
          <p:nvPr/>
        </p:nvSpPr>
        <p:spPr>
          <a:xfrm>
            <a:off x="1979613" y="4022725"/>
            <a:ext cx="304800" cy="228600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48133" name="灯片编号占位符 7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6.2.3 </a:t>
            </a:r>
            <a:r>
              <a:rPr lang="zh-CN" altLang="en-US" dirty="0"/>
              <a:t>范式</a:t>
            </a:r>
            <a:endParaRPr lang="zh-CN" altLang="en-US" dirty="0"/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600" b="1" dirty="0"/>
              <a:t>各种范式之间存在联系：</a:t>
            </a:r>
            <a:endParaRPr lang="zh-CN" altLang="en-US" sz="2600" b="1" dirty="0"/>
          </a:p>
          <a:p>
            <a:pPr eaLnBrk="1" hangingPunct="1">
              <a:lnSpc>
                <a:spcPct val="90000"/>
              </a:lnSpc>
            </a:pPr>
            <a:endParaRPr lang="zh-CN" altLang="en-US" sz="2600" b="1" dirty="0"/>
          </a:p>
          <a:p>
            <a:pPr eaLnBrk="1" hangingPunct="1">
              <a:lnSpc>
                <a:spcPct val="90000"/>
              </a:lnSpc>
            </a:pPr>
            <a:endParaRPr lang="zh-CN" altLang="en-US" sz="2600" b="1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600" b="1" dirty="0"/>
              <a:t>某一关系模式</a:t>
            </a:r>
            <a:r>
              <a:rPr lang="en-US" altLang="zh-CN" sz="2600" b="1" dirty="0"/>
              <a:t>R</a:t>
            </a:r>
            <a:r>
              <a:rPr lang="zh-CN" altLang="en-US" sz="2600" b="1" dirty="0"/>
              <a:t>为第</a:t>
            </a:r>
            <a:r>
              <a:rPr lang="en-US" altLang="zh-CN" sz="2600" b="1" dirty="0"/>
              <a:t>n</a:t>
            </a:r>
            <a:r>
              <a:rPr lang="zh-CN" altLang="en-US" sz="2600" b="1" dirty="0"/>
              <a:t>范式，可简记为</a:t>
            </a:r>
            <a:r>
              <a:rPr lang="en-US" altLang="zh-CN" sz="2600" b="1" dirty="0"/>
              <a:t>R∈nNF</a:t>
            </a:r>
            <a:r>
              <a:rPr lang="zh-CN" altLang="en-US" sz="2600" b="1" dirty="0"/>
              <a:t>。</a:t>
            </a:r>
            <a:endParaRPr lang="zh-CN" altLang="en-US" sz="2600" b="1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b="1" dirty="0"/>
              <a:t>一个低一级范式的关系模式，通过</a:t>
            </a:r>
            <a:r>
              <a:rPr lang="zh-CN" altLang="en-US" sz="2400" b="1" dirty="0">
                <a:solidFill>
                  <a:srgbClr val="FF00FF"/>
                </a:solidFill>
              </a:rPr>
              <a:t>模式分解</a:t>
            </a:r>
            <a:r>
              <a:rPr lang="zh-CN" altLang="en-US" sz="2400" b="1" dirty="0"/>
              <a:t>可以转换为若干个高一级范式的关系模式的集合，这种过程就叫</a:t>
            </a:r>
            <a:r>
              <a:rPr lang="zh-CN" altLang="en-US" sz="2400" b="1" dirty="0">
                <a:solidFill>
                  <a:srgbClr val="FF00FF"/>
                </a:solidFill>
              </a:rPr>
              <a:t>规范化</a:t>
            </a:r>
            <a:r>
              <a:rPr lang="zh-CN" altLang="en-US" sz="2800" b="1" dirty="0"/>
              <a:t> </a:t>
            </a:r>
            <a:endParaRPr lang="zh-CN" altLang="en-US" sz="2800" b="1" dirty="0"/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1187450" y="2708275"/>
          <a:ext cx="57292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870200" imgH="177800" progId="">
                  <p:embed/>
                </p:oleObj>
              </mc:Choice>
              <mc:Fallback>
                <p:oleObj name="" r:id="rId1" imgW="2870200" imgH="1778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2708275"/>
                        <a:ext cx="5729288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  </a:t>
            </a:r>
            <a:r>
              <a:rPr lang="zh-CN" altLang="en-US" sz="4000" dirty="0"/>
              <a:t>规范化</a:t>
            </a:r>
            <a:endParaRPr lang="zh-CN" altLang="en-US" sz="4000" dirty="0"/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1042988" y="1916113"/>
            <a:ext cx="7643812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6.2.4  2NF</a:t>
            </a:r>
            <a:endParaRPr lang="en-US" altLang="zh-CN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  <p:sp>
        <p:nvSpPr>
          <p:cNvPr id="5018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6.2.4  2NF</a:t>
            </a:r>
            <a:endParaRPr lang="en-US" altLang="zh-CN" dirty="0"/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457200" y="1844675"/>
            <a:ext cx="8229600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sz="2800" b="1" dirty="0"/>
              <a:t>1NF</a:t>
            </a:r>
            <a:r>
              <a:rPr lang="zh-CN" altLang="en-US" sz="2800" b="1" dirty="0"/>
              <a:t>的定义</a:t>
            </a:r>
            <a:endParaRPr lang="zh-CN" altLang="en-US" sz="2800" b="1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b="1" dirty="0"/>
              <a:t>	如果一个关系模式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的所有属性都是</a:t>
            </a:r>
            <a:r>
              <a:rPr lang="zh-CN" altLang="en-US" sz="2800" b="1" dirty="0">
                <a:solidFill>
                  <a:srgbClr val="FF00FF"/>
                </a:solidFill>
              </a:rPr>
              <a:t>不可分的基本数据项</a:t>
            </a:r>
            <a:r>
              <a:rPr lang="zh-CN" altLang="en-US" sz="2800" b="1" dirty="0"/>
              <a:t>，则</a:t>
            </a:r>
            <a:r>
              <a:rPr lang="en-US" altLang="zh-CN" sz="2800" b="1" dirty="0"/>
              <a:t>R∈1NF</a:t>
            </a:r>
            <a:endParaRPr lang="en-US" altLang="zh-CN" b="1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/>
              <a:t>第一范式是对关系模式的最起码的要求。不满足第一范式的数据库模式不能称为关系数据库</a:t>
            </a:r>
            <a:endParaRPr lang="zh-CN" altLang="en-US" sz="2800" b="1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/>
              <a:t>但是满足第一范式的关系模式并不一定是一个好的关系模式</a:t>
            </a:r>
            <a:endParaRPr lang="zh-CN" altLang="en-US" sz="2800" b="1" dirty="0"/>
          </a:p>
        </p:txBody>
      </p:sp>
      <p:pic>
        <p:nvPicPr>
          <p:cNvPr id="423940" name="Picture 4" descr="b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038" y="765175"/>
            <a:ext cx="5616575" cy="1362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5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7198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[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4] </a:t>
            </a:r>
            <a:r>
              <a:rPr lang="zh-CN" altLang="en-US" sz="2400" b="1" dirty="0"/>
              <a:t>关系模式 </a:t>
            </a:r>
            <a:r>
              <a:rPr lang="en-US" altLang="zh-CN" sz="2400" b="1" dirty="0"/>
              <a:t>S-L-C(Sno, Sdept, Sloc, Cno, Grade)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Sloc</a:t>
            </a:r>
            <a:r>
              <a:rPr lang="zh-CN" altLang="en-US" sz="2400" b="1" dirty="0"/>
              <a:t>为学生住处，假设每个系的学生住在同一个地方</a:t>
            </a:r>
            <a:endParaRPr lang="zh-CN" altLang="en-US" sz="2400" b="1" dirty="0"/>
          </a:p>
          <a:p>
            <a:pPr lvl="2" eaLnBrk="1" hangingPunct="1">
              <a:lnSpc>
                <a:spcPct val="90000"/>
              </a:lnSpc>
              <a:buNone/>
            </a:pPr>
            <a:endParaRPr lang="zh-CN" altLang="en-US" sz="20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函数依赖包括：</a:t>
            </a:r>
            <a:endParaRPr lang="zh-CN" altLang="en-US" sz="2400" b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1" dirty="0"/>
              <a:t>           </a:t>
            </a:r>
            <a:r>
              <a:rPr lang="en-US" altLang="zh-CN" sz="2400" b="1" dirty="0"/>
              <a:t>(Sno, Cno) </a:t>
            </a:r>
            <a:r>
              <a:rPr lang="en-US" altLang="zh-CN" sz="1800" b="1" dirty="0"/>
              <a:t>F</a:t>
            </a:r>
            <a:r>
              <a:rPr lang="en-US" altLang="zh-CN" sz="2400" b="1" dirty="0"/>
              <a:t>  Grade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     Sno → Sdept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     (Sno, Cno)  </a:t>
            </a:r>
            <a:r>
              <a:rPr lang="en-US" altLang="zh-CN" sz="2400" b="1" baseline="30000" dirty="0"/>
              <a:t>P</a:t>
            </a:r>
            <a:r>
              <a:rPr lang="en-US" altLang="zh-CN" sz="2400" b="1" dirty="0"/>
              <a:t>  Sdept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     Sno → Sloc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     (Sno, Cno) </a:t>
            </a:r>
            <a:r>
              <a:rPr lang="en-US" altLang="zh-CN" sz="2400" b="1" baseline="30000" dirty="0"/>
              <a:t>P</a:t>
            </a:r>
            <a:r>
              <a:rPr lang="en-US" altLang="zh-CN" sz="2400" b="1" dirty="0"/>
              <a:t>   Sloc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/>
              <a:t>           Sdept → Sloc</a:t>
            </a:r>
            <a:endParaRPr lang="en-US" altLang="zh-CN" sz="2400" b="1" dirty="0"/>
          </a:p>
        </p:txBody>
      </p:sp>
      <p:sp>
        <p:nvSpPr>
          <p:cNvPr id="52228" name="Line 4"/>
          <p:cNvSpPr/>
          <p:nvPr/>
        </p:nvSpPr>
        <p:spPr>
          <a:xfrm>
            <a:off x="2916238" y="3789363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29" name="Line 5"/>
          <p:cNvSpPr/>
          <p:nvPr/>
        </p:nvSpPr>
        <p:spPr>
          <a:xfrm>
            <a:off x="2987675" y="4437063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0" name="Line 6"/>
          <p:cNvSpPr/>
          <p:nvPr/>
        </p:nvSpPr>
        <p:spPr>
          <a:xfrm>
            <a:off x="2987675" y="5229225"/>
            <a:ext cx="457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31" name="灯片编号占位符 8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2NF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900113" y="2276475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b="1" dirty="0"/>
          </a:p>
          <a:p>
            <a:pPr eaLnBrk="1" hangingPunct="1">
              <a:lnSpc>
                <a:spcPct val="130000"/>
              </a:lnSpc>
            </a:pPr>
            <a:r>
              <a:rPr lang="en-US" altLang="zh-CN" sz="2400" b="1" dirty="0"/>
              <a:t>S-L-C</a:t>
            </a:r>
            <a:r>
              <a:rPr lang="zh-CN" altLang="en-US" sz="2400" b="1" dirty="0"/>
              <a:t>的码为</a:t>
            </a:r>
            <a:r>
              <a:rPr lang="en-US" altLang="zh-CN" sz="2400" b="1" dirty="0"/>
              <a:t>(Sno, Cno)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</a:pPr>
            <a:r>
              <a:rPr lang="en-US" altLang="zh-CN" sz="2400" b="1" dirty="0"/>
              <a:t>S-L-C</a:t>
            </a:r>
            <a:r>
              <a:rPr lang="zh-CN" altLang="en-US" sz="2400" b="1" dirty="0"/>
              <a:t>满足第一范式。</a:t>
            </a:r>
            <a:endParaRPr lang="zh-CN" altLang="en-US" sz="2400" b="1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b="1" dirty="0"/>
              <a:t>非主属性</a:t>
            </a:r>
            <a:r>
              <a:rPr lang="en-US" altLang="zh-CN" sz="2400" b="1" dirty="0"/>
              <a:t>Sdept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Sloc</a:t>
            </a:r>
            <a:r>
              <a:rPr lang="zh-CN" altLang="en-US" sz="2400" b="1" dirty="0"/>
              <a:t>部分函数依赖于码</a:t>
            </a:r>
            <a:r>
              <a:rPr lang="en-US" altLang="zh-CN" sz="2400" b="1" dirty="0"/>
              <a:t>(Sno, Cno)</a:t>
            </a:r>
            <a:endParaRPr lang="en-US" altLang="zh-CN" sz="2400" b="1" dirty="0"/>
          </a:p>
        </p:txBody>
      </p:sp>
      <p:sp>
        <p:nvSpPr>
          <p:cNvPr id="53252" name="Rectangle 5"/>
          <p:cNvSpPr/>
          <p:nvPr/>
        </p:nvSpPr>
        <p:spPr>
          <a:xfrm>
            <a:off x="3794125" y="1803400"/>
            <a:ext cx="1836738" cy="28448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3253" name="Text Box 6"/>
          <p:cNvSpPr txBox="1"/>
          <p:nvPr/>
        </p:nvSpPr>
        <p:spPr>
          <a:xfrm>
            <a:off x="4202113" y="2209800"/>
            <a:ext cx="1020762" cy="609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Sno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3254" name="Text Box 7"/>
          <p:cNvSpPr txBox="1"/>
          <p:nvPr/>
        </p:nvSpPr>
        <p:spPr>
          <a:xfrm>
            <a:off x="4202113" y="3632200"/>
            <a:ext cx="1020762" cy="609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Cno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3255" name="Text Box 8"/>
          <p:cNvSpPr txBox="1"/>
          <p:nvPr/>
        </p:nvSpPr>
        <p:spPr>
          <a:xfrm>
            <a:off x="1957388" y="3022600"/>
            <a:ext cx="1223962" cy="609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Grade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3256" name="Text Box 9"/>
          <p:cNvSpPr txBox="1"/>
          <p:nvPr/>
        </p:nvSpPr>
        <p:spPr>
          <a:xfrm>
            <a:off x="6243638" y="2209800"/>
            <a:ext cx="1223962" cy="609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Sdept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3257" name="Text Box 10"/>
          <p:cNvSpPr txBox="1"/>
          <p:nvPr/>
        </p:nvSpPr>
        <p:spPr>
          <a:xfrm>
            <a:off x="6243638" y="3632200"/>
            <a:ext cx="1223962" cy="609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Sloc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3258" name="Line 11"/>
          <p:cNvSpPr/>
          <p:nvPr/>
        </p:nvSpPr>
        <p:spPr>
          <a:xfrm flipH="1">
            <a:off x="3181350" y="3225800"/>
            <a:ext cx="612775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59" name="Line 12"/>
          <p:cNvSpPr/>
          <p:nvPr/>
        </p:nvSpPr>
        <p:spPr>
          <a:xfrm>
            <a:off x="5222875" y="2413000"/>
            <a:ext cx="1020763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60" name="Line 13"/>
          <p:cNvSpPr/>
          <p:nvPr/>
        </p:nvSpPr>
        <p:spPr>
          <a:xfrm>
            <a:off x="5222875" y="2413000"/>
            <a:ext cx="1004888" cy="14478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61" name="Line 14"/>
          <p:cNvSpPr/>
          <p:nvPr/>
        </p:nvSpPr>
        <p:spPr>
          <a:xfrm flipV="1">
            <a:off x="5651500" y="2492375"/>
            <a:ext cx="576263" cy="1441450"/>
          </a:xfrm>
          <a:prstGeom prst="line">
            <a:avLst/>
          </a:prstGeom>
          <a:ln w="38100" cap="flat" cmpd="sng">
            <a:solidFill>
              <a:srgbClr val="000000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53262" name="Line 15"/>
          <p:cNvSpPr/>
          <p:nvPr/>
        </p:nvSpPr>
        <p:spPr>
          <a:xfrm>
            <a:off x="5651500" y="3933825"/>
            <a:ext cx="647700" cy="0"/>
          </a:xfrm>
          <a:prstGeom prst="line">
            <a:avLst/>
          </a:prstGeom>
          <a:ln w="38100" cap="rnd" cmpd="sng">
            <a:solidFill>
              <a:srgbClr val="000000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53263" name="Line 16"/>
          <p:cNvSpPr/>
          <p:nvPr/>
        </p:nvSpPr>
        <p:spPr>
          <a:xfrm>
            <a:off x="6854825" y="2819400"/>
            <a:ext cx="0" cy="81280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64" name="Text Box 17"/>
          <p:cNvSpPr txBox="1"/>
          <p:nvPr/>
        </p:nvSpPr>
        <p:spPr>
          <a:xfrm>
            <a:off x="1752600" y="1600200"/>
            <a:ext cx="1450975" cy="533400"/>
          </a:xfrm>
          <a:prstGeom prst="rect">
            <a:avLst/>
          </a:prstGeom>
          <a:noFill/>
          <a:ln w="38100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S-L-C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53265" name="灯片编号占位符 18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S-L-C</a:t>
            </a:r>
            <a:r>
              <a:rPr lang="zh-CN" altLang="en-US" sz="4000" dirty="0"/>
              <a:t>不是一个好的关系模式（续）</a:t>
            </a:r>
            <a:endParaRPr lang="zh-CN" altLang="en-US" sz="4000" dirty="0"/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/>
              <a:t>(1) </a:t>
            </a:r>
            <a:r>
              <a:rPr lang="zh-CN" altLang="en-US" dirty="0"/>
              <a:t>插入异常</a:t>
            </a:r>
            <a:endParaRPr lang="zh-CN" altLang="en-US" dirty="0"/>
          </a:p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/>
              <a:t>(2) </a:t>
            </a:r>
            <a:r>
              <a:rPr lang="zh-CN" altLang="en-US" dirty="0"/>
              <a:t>删除异常</a:t>
            </a:r>
            <a:endParaRPr lang="zh-CN" altLang="en-US" dirty="0"/>
          </a:p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/>
              <a:t>(3) </a:t>
            </a:r>
            <a:r>
              <a:rPr lang="zh-CN" altLang="en-US" dirty="0"/>
              <a:t>数据冗余度大</a:t>
            </a:r>
            <a:endParaRPr lang="zh-CN" altLang="en-US" dirty="0"/>
          </a:p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/>
              <a:t>(4) </a:t>
            </a:r>
            <a:r>
              <a:rPr lang="zh-CN" altLang="en-US" dirty="0"/>
              <a:t>修改复杂</a:t>
            </a:r>
            <a:endParaRPr lang="zh-CN" altLang="en-US" dirty="0"/>
          </a:p>
          <a:p>
            <a:pPr eaLnBrk="1" hangingPunct="1">
              <a:lnSpc>
                <a:spcPct val="160000"/>
              </a:lnSpc>
              <a:buNone/>
            </a:pPr>
            <a:endParaRPr lang="en-US" altLang="zh-CN" sz="2800" dirty="0"/>
          </a:p>
        </p:txBody>
      </p:sp>
      <p:sp>
        <p:nvSpPr>
          <p:cNvPr id="54276" name="Rectangle 4"/>
          <p:cNvSpPr/>
          <p:nvPr/>
        </p:nvSpPr>
        <p:spPr>
          <a:xfrm>
            <a:off x="1403350" y="5661025"/>
            <a:ext cx="5616575" cy="466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S-L-C(</a:t>
            </a:r>
            <a:r>
              <a:rPr lang="en-US" altLang="zh-CN" sz="2400" u="sng" dirty="0"/>
              <a:t>Sno</a:t>
            </a:r>
            <a:r>
              <a:rPr lang="en-US" altLang="zh-CN" sz="2400" dirty="0"/>
              <a:t>, Sdept, Sloc, </a:t>
            </a:r>
            <a:r>
              <a:rPr lang="en-US" altLang="zh-CN" sz="2400" u="sng" dirty="0"/>
              <a:t>Cno</a:t>
            </a:r>
            <a:r>
              <a:rPr lang="en-US" altLang="zh-CN" sz="2400" dirty="0"/>
              <a:t>, Grade)</a:t>
            </a:r>
            <a:endParaRPr lang="en-US" altLang="zh-CN" sz="2400" dirty="0"/>
          </a:p>
        </p:txBody>
      </p:sp>
      <p:sp>
        <p:nvSpPr>
          <p:cNvPr id="427013" name="AutoShape 5"/>
          <p:cNvSpPr/>
          <p:nvPr/>
        </p:nvSpPr>
        <p:spPr>
          <a:xfrm>
            <a:off x="4284663" y="2349500"/>
            <a:ext cx="3671887" cy="936625"/>
          </a:xfrm>
          <a:prstGeom prst="wedgeRectCallout">
            <a:avLst>
              <a:gd name="adj1" fmla="val -80741"/>
              <a:gd name="adj2" fmla="val -35931"/>
            </a:avLst>
          </a:prstGeom>
          <a:solidFill>
            <a:srgbClr val="CCFFFF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插入一个学生信息，但学生还没有选课？</a:t>
            </a:r>
            <a:endParaRPr lang="zh-CN" altLang="en-US" sz="2400" dirty="0"/>
          </a:p>
        </p:txBody>
      </p:sp>
      <p:sp>
        <p:nvSpPr>
          <p:cNvPr id="427014" name="AutoShape 6"/>
          <p:cNvSpPr/>
          <p:nvPr/>
        </p:nvSpPr>
        <p:spPr>
          <a:xfrm>
            <a:off x="4067175" y="3284538"/>
            <a:ext cx="3671888" cy="936625"/>
          </a:xfrm>
          <a:prstGeom prst="wedgeRectCallout">
            <a:avLst>
              <a:gd name="adj1" fmla="val -80741"/>
              <a:gd name="adj2" fmla="val -35931"/>
            </a:avLst>
          </a:prstGeom>
          <a:solidFill>
            <a:srgbClr val="CCFFFF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学生取消选课，如果所有选课都取消了？</a:t>
            </a:r>
            <a:endParaRPr lang="zh-CN" altLang="en-US" sz="2400" dirty="0"/>
          </a:p>
        </p:txBody>
      </p:sp>
      <p:sp>
        <p:nvSpPr>
          <p:cNvPr id="427015" name="AutoShape 7"/>
          <p:cNvSpPr/>
          <p:nvPr/>
        </p:nvSpPr>
        <p:spPr>
          <a:xfrm>
            <a:off x="4283075" y="4149725"/>
            <a:ext cx="3671888" cy="574675"/>
          </a:xfrm>
          <a:prstGeom prst="wedgeRectCallout">
            <a:avLst>
              <a:gd name="adj1" fmla="val -87481"/>
              <a:gd name="adj2" fmla="val 111602"/>
            </a:avLst>
          </a:prstGeom>
          <a:solidFill>
            <a:srgbClr val="CCFFFF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学生转系？住处也要修改</a:t>
            </a:r>
            <a:endParaRPr lang="zh-CN" altLang="en-US" sz="2400" dirty="0"/>
          </a:p>
        </p:txBody>
      </p:sp>
      <p:sp>
        <p:nvSpPr>
          <p:cNvPr id="54280" name="灯片编号占位符 9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3" grpId="0" animBg="1"/>
      <p:bldP spid="427014" grpId="0" animBg="1"/>
      <p:bldP spid="4270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S-L-C</a:t>
            </a:r>
            <a:r>
              <a:rPr lang="zh-CN" altLang="en-US" sz="4000" dirty="0"/>
              <a:t>不是一个好的关系模式（续）</a:t>
            </a:r>
            <a:endParaRPr lang="zh-CN" altLang="en-US" sz="4000" dirty="0"/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/>
              <a:t>原因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   </a:t>
            </a:r>
            <a:r>
              <a:rPr lang="en-US" altLang="zh-CN" sz="2800" b="1" dirty="0"/>
              <a:t>Sdept</a:t>
            </a:r>
            <a:r>
              <a:rPr lang="zh-CN" altLang="en-US" sz="2800" b="1" dirty="0"/>
              <a:t>、 </a:t>
            </a:r>
            <a:r>
              <a:rPr lang="en-US" altLang="zh-CN" sz="2800" b="1" dirty="0"/>
              <a:t>Sloc</a:t>
            </a:r>
            <a:r>
              <a:rPr lang="zh-CN" altLang="en-US" sz="2800" b="1" dirty="0"/>
              <a:t>部分函数依赖于码。</a:t>
            </a:r>
            <a:endParaRPr lang="zh-CN" altLang="en-US" sz="2800" b="1" dirty="0"/>
          </a:p>
          <a:p>
            <a:pPr eaLnBrk="1" hangingPunct="1"/>
            <a:r>
              <a:rPr lang="zh-CN" altLang="en-US" sz="2800" b="1" dirty="0"/>
              <a:t>解决方法</a:t>
            </a:r>
            <a:endParaRPr lang="zh-CN" altLang="en-US" sz="28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1" dirty="0"/>
              <a:t>     </a:t>
            </a:r>
            <a:r>
              <a:rPr lang="en-US" altLang="zh-CN" sz="2800" b="1" dirty="0"/>
              <a:t>S-L-C</a:t>
            </a:r>
            <a:r>
              <a:rPr lang="zh-CN" altLang="en-US" sz="2800" b="1" dirty="0"/>
              <a:t>分解为两个关系模式，以消除这些部分函数依赖 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         </a:t>
            </a:r>
            <a:r>
              <a:rPr lang="en-US" altLang="zh-CN" sz="2800" b="1" dirty="0"/>
              <a:t>SC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Sno</a:t>
            </a:r>
            <a:r>
              <a:rPr lang="zh-CN" altLang="en-US" sz="2800" b="1" dirty="0"/>
              <a:t>， </a:t>
            </a:r>
            <a:r>
              <a:rPr lang="en-US" altLang="zh-CN" sz="2800" b="1" dirty="0"/>
              <a:t>Cno</a:t>
            </a:r>
            <a:r>
              <a:rPr lang="zh-CN" altLang="en-US" sz="2800" b="1" dirty="0"/>
              <a:t>， </a:t>
            </a:r>
            <a:r>
              <a:rPr lang="en-US" altLang="zh-CN" sz="2800" b="1" dirty="0"/>
              <a:t>Grade</a:t>
            </a:r>
            <a:r>
              <a:rPr lang="zh-CN" altLang="en-US" sz="2800" b="1" dirty="0"/>
              <a:t>）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                </a:t>
            </a:r>
            <a:r>
              <a:rPr lang="en-US" altLang="zh-CN" sz="2800" b="1" dirty="0"/>
              <a:t>S-L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Sno</a:t>
            </a:r>
            <a:r>
              <a:rPr lang="zh-CN" altLang="en-US" sz="2800" b="1" dirty="0"/>
              <a:t>， </a:t>
            </a:r>
            <a:r>
              <a:rPr lang="en-US" altLang="zh-CN" sz="2800" b="1" dirty="0"/>
              <a:t>Sdept</a:t>
            </a:r>
            <a:r>
              <a:rPr lang="zh-CN" altLang="en-US" sz="2800" b="1" dirty="0"/>
              <a:t>， </a:t>
            </a:r>
            <a:r>
              <a:rPr lang="en-US" altLang="zh-CN" sz="2800" b="1" dirty="0"/>
              <a:t>Sloc</a:t>
            </a:r>
            <a:r>
              <a:rPr lang="zh-CN" altLang="en-US" sz="2800" b="1" dirty="0"/>
              <a:t>）</a:t>
            </a:r>
            <a:endParaRPr lang="zh-CN" altLang="en-US" sz="2800" b="1" dirty="0"/>
          </a:p>
        </p:txBody>
      </p:sp>
      <p:sp>
        <p:nvSpPr>
          <p:cNvPr id="5530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函数依赖图：</a:t>
            </a:r>
            <a:endParaRPr lang="zh-CN" altLang="en-US" dirty="0"/>
          </a:p>
        </p:txBody>
      </p:sp>
      <p:grpSp>
        <p:nvGrpSpPr>
          <p:cNvPr id="56324" name="Group 4"/>
          <p:cNvGrpSpPr/>
          <p:nvPr/>
        </p:nvGrpSpPr>
        <p:grpSpPr>
          <a:xfrm>
            <a:off x="1042988" y="2852738"/>
            <a:ext cx="3352800" cy="1981200"/>
            <a:chOff x="720" y="2112"/>
            <a:chExt cx="2112" cy="1248"/>
          </a:xfrm>
        </p:grpSpPr>
        <p:sp>
          <p:nvSpPr>
            <p:cNvPr id="56336" name="Rectangle 5"/>
            <p:cNvSpPr/>
            <p:nvPr/>
          </p:nvSpPr>
          <p:spPr>
            <a:xfrm>
              <a:off x="1831" y="2112"/>
              <a:ext cx="1001" cy="1248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56337" name="Text Box 6"/>
            <p:cNvSpPr txBox="1"/>
            <p:nvPr/>
          </p:nvSpPr>
          <p:spPr>
            <a:xfrm>
              <a:off x="2054" y="2290"/>
              <a:ext cx="556" cy="268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Sno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6338" name="Text Box 7"/>
            <p:cNvSpPr txBox="1"/>
            <p:nvPr/>
          </p:nvSpPr>
          <p:spPr>
            <a:xfrm>
              <a:off x="2054" y="2914"/>
              <a:ext cx="556" cy="268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Cno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6339" name="Text Box 8"/>
            <p:cNvSpPr txBox="1"/>
            <p:nvPr/>
          </p:nvSpPr>
          <p:spPr>
            <a:xfrm>
              <a:off x="832" y="2647"/>
              <a:ext cx="666" cy="267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Grade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6340" name="Line 9"/>
            <p:cNvSpPr/>
            <p:nvPr/>
          </p:nvSpPr>
          <p:spPr>
            <a:xfrm flipH="1">
              <a:off x="1498" y="2736"/>
              <a:ext cx="333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41" name="Text Box 10"/>
            <p:cNvSpPr txBox="1"/>
            <p:nvPr/>
          </p:nvSpPr>
          <p:spPr>
            <a:xfrm>
              <a:off x="720" y="2112"/>
              <a:ext cx="556" cy="267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SC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25" name="Group 20"/>
          <p:cNvGrpSpPr/>
          <p:nvPr/>
        </p:nvGrpSpPr>
        <p:grpSpPr>
          <a:xfrm>
            <a:off x="5219700" y="2565400"/>
            <a:ext cx="3124200" cy="2362200"/>
            <a:chOff x="3288" y="1797"/>
            <a:chExt cx="1968" cy="1488"/>
          </a:xfrm>
        </p:grpSpPr>
        <p:grpSp>
          <p:nvGrpSpPr>
            <p:cNvPr id="56328" name="Group 11"/>
            <p:cNvGrpSpPr/>
            <p:nvPr/>
          </p:nvGrpSpPr>
          <p:grpSpPr>
            <a:xfrm>
              <a:off x="3288" y="1797"/>
              <a:ext cx="1968" cy="1488"/>
              <a:chOff x="3312" y="1920"/>
              <a:chExt cx="1968" cy="1488"/>
            </a:xfrm>
          </p:grpSpPr>
          <p:sp>
            <p:nvSpPr>
              <p:cNvPr id="56330" name="Text Box 12"/>
              <p:cNvSpPr txBox="1"/>
              <p:nvPr/>
            </p:nvSpPr>
            <p:spPr>
              <a:xfrm>
                <a:off x="3312" y="1920"/>
                <a:ext cx="695" cy="37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S-L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31" name="Text Box 13"/>
              <p:cNvSpPr txBox="1"/>
              <p:nvPr/>
            </p:nvSpPr>
            <p:spPr>
              <a:xfrm>
                <a:off x="3428" y="2540"/>
                <a:ext cx="579" cy="372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Sno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32" name="Text Box 14"/>
              <p:cNvSpPr txBox="1"/>
              <p:nvPr/>
            </p:nvSpPr>
            <p:spPr>
              <a:xfrm>
                <a:off x="4585" y="2168"/>
                <a:ext cx="695" cy="372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Sdept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33" name="Text Box 15"/>
              <p:cNvSpPr txBox="1"/>
              <p:nvPr/>
            </p:nvSpPr>
            <p:spPr>
              <a:xfrm>
                <a:off x="4585" y="3036"/>
                <a:ext cx="695" cy="372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Sloc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334" name="Line 16"/>
              <p:cNvSpPr/>
              <p:nvPr/>
            </p:nvSpPr>
            <p:spPr>
              <a:xfrm flipV="1">
                <a:off x="4007" y="2292"/>
                <a:ext cx="578" cy="37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6335" name="Line 17"/>
              <p:cNvSpPr/>
              <p:nvPr/>
            </p:nvSpPr>
            <p:spPr>
              <a:xfrm>
                <a:off x="4007" y="2788"/>
                <a:ext cx="578" cy="37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56329" name="Line 18"/>
            <p:cNvSpPr/>
            <p:nvPr/>
          </p:nvSpPr>
          <p:spPr>
            <a:xfrm>
              <a:off x="4950" y="2432"/>
              <a:ext cx="0" cy="49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56326" name="Rectangle 19"/>
          <p:cNvSpPr/>
          <p:nvPr/>
        </p:nvSpPr>
        <p:spPr>
          <a:xfrm>
            <a:off x="539750" y="5227638"/>
            <a:ext cx="4960938" cy="1096962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200" b="1" dirty="0">
                <a:latin typeface="Times New Roman" panose="02020603050405020304" pitchFamily="18" charset="0"/>
              </a:rPr>
              <a:t>关系模式</a:t>
            </a:r>
            <a:r>
              <a:rPr lang="en-US" altLang="zh-CN" sz="2200" b="1" dirty="0">
                <a:latin typeface="Times New Roman" panose="02020603050405020304" pitchFamily="18" charset="0"/>
              </a:rPr>
              <a:t>SC</a:t>
            </a:r>
            <a:r>
              <a:rPr lang="zh-CN" altLang="en-US" sz="2200" b="1" dirty="0">
                <a:latin typeface="Times New Roman" panose="02020603050405020304" pitchFamily="18" charset="0"/>
              </a:rPr>
              <a:t>的码为（</a:t>
            </a:r>
            <a:r>
              <a:rPr lang="en-US" altLang="zh-CN" sz="2200" b="1" dirty="0">
                <a:latin typeface="Times New Roman" panose="02020603050405020304" pitchFamily="18" charset="0"/>
              </a:rPr>
              <a:t>Sno</a:t>
            </a:r>
            <a:r>
              <a:rPr lang="zh-CN" altLang="en-US" sz="2200" b="1" dirty="0">
                <a:latin typeface="Times New Roman" panose="02020603050405020304" pitchFamily="18" charset="0"/>
              </a:rPr>
              <a:t>，</a:t>
            </a:r>
            <a:r>
              <a:rPr lang="en-US" altLang="zh-CN" sz="2200" b="1" dirty="0">
                <a:latin typeface="Times New Roman" panose="02020603050405020304" pitchFamily="18" charset="0"/>
              </a:rPr>
              <a:t>Cno</a:t>
            </a:r>
            <a:r>
              <a:rPr lang="zh-CN" altLang="en-US" sz="2200" b="1" dirty="0">
                <a:latin typeface="Times New Roman" panose="02020603050405020304" pitchFamily="18" charset="0"/>
              </a:rPr>
              <a:t>）</a:t>
            </a:r>
            <a:endParaRPr lang="zh-CN" altLang="en-US" sz="22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200" b="1" dirty="0">
                <a:latin typeface="Times New Roman" panose="02020603050405020304" pitchFamily="18" charset="0"/>
              </a:rPr>
              <a:t>关系模式</a:t>
            </a:r>
            <a:r>
              <a:rPr lang="en-US" altLang="zh-CN" sz="2200" b="1" dirty="0">
                <a:latin typeface="Times New Roman" panose="02020603050405020304" pitchFamily="18" charset="0"/>
              </a:rPr>
              <a:t>S-L</a:t>
            </a:r>
            <a:r>
              <a:rPr lang="zh-CN" altLang="en-US" sz="2200" b="1" dirty="0">
                <a:latin typeface="Times New Roman" panose="02020603050405020304" pitchFamily="18" charset="0"/>
              </a:rPr>
              <a:t>的码为</a:t>
            </a:r>
            <a:r>
              <a:rPr lang="en-US" altLang="zh-CN" sz="2200" b="1" dirty="0">
                <a:latin typeface="Times New Roman" panose="02020603050405020304" pitchFamily="18" charset="0"/>
              </a:rPr>
              <a:t>Sno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200" b="1" dirty="0">
                <a:latin typeface="Times New Roman" panose="02020603050405020304" pitchFamily="18" charset="0"/>
              </a:rPr>
              <a:t>这样非主属性对码都是完全函数依赖</a:t>
            </a:r>
            <a:r>
              <a:rPr lang="zh-CN" altLang="en-US" sz="1800" b="1" dirty="0">
                <a:latin typeface="Times New Roman" panose="02020603050405020304" pitchFamily="18" charset="0"/>
              </a:rPr>
              <a:t> </a:t>
            </a:r>
            <a:endParaRPr lang="zh-CN" altLang="en-US" sz="1800" b="1" dirty="0">
              <a:latin typeface="Times New Roman" panose="02020603050405020304" pitchFamily="18" charset="0"/>
            </a:endParaRPr>
          </a:p>
        </p:txBody>
      </p:sp>
      <p:sp>
        <p:nvSpPr>
          <p:cNvPr id="56327" name="灯片编号占位符 22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2NF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b="1" dirty="0"/>
              <a:t>2NF</a:t>
            </a:r>
            <a:r>
              <a:rPr lang="zh-CN" altLang="en-US" sz="2800" b="1" dirty="0"/>
              <a:t>的定义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400" b="1" dirty="0"/>
              <a:t>	定义</a:t>
            </a:r>
            <a:r>
              <a:rPr lang="en-US" altLang="zh-CN" sz="2400" b="1" dirty="0"/>
              <a:t>6.6  </a:t>
            </a:r>
            <a:r>
              <a:rPr lang="zh-CN" altLang="en-US" sz="2400" b="1" dirty="0"/>
              <a:t>若</a:t>
            </a:r>
            <a:r>
              <a:rPr lang="en-US" altLang="zh-CN" sz="2400" b="1" dirty="0"/>
              <a:t>R∈1NF</a:t>
            </a:r>
            <a:r>
              <a:rPr lang="zh-CN" altLang="en-US" sz="2400" b="1" dirty="0"/>
              <a:t>，且每一个</a:t>
            </a:r>
            <a:r>
              <a:rPr lang="zh-CN" altLang="en-US" sz="2400" b="1" dirty="0">
                <a:solidFill>
                  <a:srgbClr val="6600FF"/>
                </a:solidFill>
              </a:rPr>
              <a:t>非主属性</a:t>
            </a:r>
            <a:r>
              <a:rPr lang="zh-CN" altLang="en-US" sz="2400" b="1" dirty="0">
                <a:solidFill>
                  <a:srgbClr val="FF00FF"/>
                </a:solidFill>
              </a:rPr>
              <a:t>完全</a:t>
            </a:r>
            <a:r>
              <a:rPr lang="zh-CN" altLang="en-US" sz="2400" b="1" dirty="0"/>
              <a:t>函数依赖于码，则</a:t>
            </a:r>
            <a:r>
              <a:rPr lang="en-US" altLang="zh-CN" sz="2400" b="1" dirty="0"/>
              <a:t>R∈2NF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eaLnBrk="1" hangingPunct="1">
              <a:buNone/>
            </a:pPr>
            <a:endParaRPr lang="zh-CN" altLang="en-US" sz="2400" b="1" dirty="0"/>
          </a:p>
          <a:p>
            <a:pPr eaLnBrk="1" hangingPunct="1">
              <a:buNone/>
            </a:pPr>
            <a:r>
              <a:rPr lang="zh-CN" altLang="en-US" sz="2400" b="1" dirty="0"/>
              <a:t>	例：</a:t>
            </a:r>
            <a:r>
              <a:rPr lang="en-US" altLang="zh-CN" sz="2400" b="1" dirty="0"/>
              <a:t>S-L-C(Sno, Sdept, Sloc, Cno, Grade) </a:t>
            </a:r>
            <a:r>
              <a:rPr lang="en-US" altLang="zh-CN" sz="2200" b="1" dirty="0"/>
              <a:t>∈</a:t>
            </a:r>
            <a:r>
              <a:rPr lang="en-US" altLang="zh-CN" sz="2400" b="1" dirty="0"/>
              <a:t>1NF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           S-L-C(Sno, Sdept, Sloc, Cno, Grade) </a:t>
            </a:r>
            <a:r>
              <a:rPr lang="en-US" altLang="zh-CN" sz="2200" b="1" dirty="0"/>
              <a:t>∈</a:t>
            </a:r>
            <a:r>
              <a:rPr lang="en-US" altLang="zh-CN" sz="2400" b="1" dirty="0"/>
              <a:t>2NF 	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           SC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Sno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Cno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Grade</a:t>
            </a:r>
            <a:r>
              <a:rPr lang="zh-CN" altLang="en-US" sz="2400" b="1" dirty="0"/>
              <a:t>） </a:t>
            </a:r>
            <a:r>
              <a:rPr lang="zh-CN" altLang="en-US" sz="2200" b="1" dirty="0"/>
              <a:t>∈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2NF</a:t>
            </a:r>
            <a:endParaRPr lang="en-US" altLang="zh-CN" sz="2400" b="1" dirty="0"/>
          </a:p>
          <a:p>
            <a:pPr eaLnBrk="1" hangingPunct="1">
              <a:buNone/>
            </a:pPr>
            <a:r>
              <a:rPr lang="en-US" altLang="zh-CN" sz="2400" b="1" dirty="0"/>
              <a:t>          	S-L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Sno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Sdept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Sloc</a:t>
            </a:r>
            <a:r>
              <a:rPr lang="zh-CN" altLang="en-US" sz="2400" b="1" dirty="0"/>
              <a:t>） </a:t>
            </a:r>
            <a:r>
              <a:rPr lang="zh-CN" altLang="en-US" sz="2200" b="1" dirty="0"/>
              <a:t>∈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2NF</a:t>
            </a:r>
            <a:endParaRPr lang="en-US" altLang="zh-CN" sz="2400" b="1" dirty="0"/>
          </a:p>
          <a:p>
            <a:pPr eaLnBrk="1" hangingPunct="1">
              <a:buNone/>
            </a:pPr>
            <a:endParaRPr lang="en-US" altLang="zh-CN" sz="2400" b="1" dirty="0"/>
          </a:p>
        </p:txBody>
      </p:sp>
      <p:sp>
        <p:nvSpPr>
          <p:cNvPr id="57348" name="Line 4"/>
          <p:cNvSpPr/>
          <p:nvPr/>
        </p:nvSpPr>
        <p:spPr>
          <a:xfrm>
            <a:off x="6804025" y="4292600"/>
            <a:ext cx="215900" cy="3587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49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2NF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采用投影分解法将一个</a:t>
            </a:r>
            <a:r>
              <a:rPr lang="en-US" altLang="zh-CN" sz="2800" b="1" dirty="0"/>
              <a:t>1NF</a:t>
            </a:r>
            <a:r>
              <a:rPr lang="zh-CN" altLang="en-US" sz="2800" b="1" dirty="0"/>
              <a:t>的关系分解为多个</a:t>
            </a:r>
            <a:r>
              <a:rPr lang="en-US" altLang="zh-CN" sz="2800" b="1" dirty="0"/>
              <a:t>2NF</a:t>
            </a:r>
            <a:r>
              <a:rPr lang="zh-CN" altLang="en-US" sz="2800" b="1" dirty="0"/>
              <a:t>的关系，可以在一定程度上减轻原</a:t>
            </a:r>
            <a:r>
              <a:rPr lang="en-US" altLang="zh-CN" sz="2800" b="1" dirty="0"/>
              <a:t>1NF</a:t>
            </a:r>
            <a:r>
              <a:rPr lang="zh-CN" altLang="en-US" sz="2800" b="1" dirty="0"/>
              <a:t>关系中存在的插入异常、删除异常、数据冗余度大、修改复杂等问题。</a:t>
            </a:r>
            <a:endParaRPr lang="zh-CN" altLang="en-US" sz="28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将一个</a:t>
            </a:r>
            <a:r>
              <a:rPr lang="en-US" altLang="zh-CN" sz="2800" b="1" dirty="0"/>
              <a:t>1NF</a:t>
            </a:r>
            <a:r>
              <a:rPr lang="zh-CN" altLang="en-US" sz="2800" b="1" dirty="0"/>
              <a:t>关系分解为多个</a:t>
            </a:r>
            <a:r>
              <a:rPr lang="en-US" altLang="zh-CN" sz="2800" b="1" dirty="0"/>
              <a:t>2NF</a:t>
            </a:r>
            <a:r>
              <a:rPr lang="zh-CN" altLang="en-US" sz="2800" b="1" dirty="0"/>
              <a:t>的关系，并不能完全消除关系模式中的各种异常情况和数据冗余。</a:t>
            </a:r>
            <a:endParaRPr lang="zh-CN" altLang="en-US" sz="2800" b="1" dirty="0"/>
          </a:p>
        </p:txBody>
      </p:sp>
      <p:sp>
        <p:nvSpPr>
          <p:cNvPr id="58372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b="1" dirty="0"/>
              <a:t>判断一个关系是否属于第二范式：</a:t>
            </a:r>
            <a:endParaRPr lang="zh-CN" altLang="en-US" dirty="0"/>
          </a:p>
          <a:p>
            <a:pPr lvl="1"/>
            <a:r>
              <a:rPr lang="zh-CN" altLang="en-US" dirty="0"/>
              <a:t>找出数据表中的所有码；</a:t>
            </a:r>
            <a:endParaRPr lang="zh-CN" altLang="en-US" dirty="0"/>
          </a:p>
          <a:p>
            <a:pPr lvl="1"/>
            <a:r>
              <a:rPr lang="zh-CN" altLang="en-US" dirty="0"/>
              <a:t>找出所有主属性和非主属性；</a:t>
            </a:r>
            <a:endParaRPr lang="zh-CN" altLang="en-US" dirty="0"/>
          </a:p>
          <a:p>
            <a:pPr lvl="1"/>
            <a:r>
              <a:rPr lang="zh-CN" altLang="en-US" dirty="0"/>
              <a:t>判断所有的非主属性对码的部分函数依赖。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939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  </a:t>
            </a:r>
            <a:r>
              <a:rPr lang="zh-CN" altLang="en-US" sz="4000" dirty="0"/>
              <a:t>规范化</a:t>
            </a:r>
            <a:endParaRPr lang="zh-CN" altLang="en-US" sz="4000" dirty="0"/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1042988" y="1700213"/>
            <a:ext cx="7643812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6.2.5  3NF</a:t>
            </a:r>
            <a:endParaRPr lang="en-US" altLang="zh-CN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  <p:sp>
        <p:nvSpPr>
          <p:cNvPr id="6042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6.2.5  3NF</a:t>
            </a:r>
            <a:endParaRPr lang="en-US" altLang="zh-CN" dirty="0"/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3NF</a:t>
            </a:r>
            <a:r>
              <a:rPr lang="zh-CN" altLang="en-US" sz="2800" b="1" dirty="0"/>
              <a:t>的定义</a:t>
            </a:r>
            <a:endParaRPr lang="zh-CN" altLang="en-US" sz="2800" b="1" dirty="0"/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800" b="1" dirty="0"/>
              <a:t>	</a:t>
            </a:r>
            <a:r>
              <a:rPr lang="zh-CN" altLang="en-US" sz="2400" b="1" dirty="0"/>
              <a:t>定义</a:t>
            </a:r>
            <a:r>
              <a:rPr lang="en-US" altLang="zh-CN" sz="2400" b="1" dirty="0"/>
              <a:t>6.7  </a:t>
            </a:r>
            <a:r>
              <a:rPr lang="zh-CN" altLang="en-US" sz="2400" b="1" dirty="0"/>
              <a:t>关系模式</a:t>
            </a:r>
            <a:r>
              <a:rPr lang="en-US" altLang="zh-CN" sz="2400" b="1" i="1" dirty="0"/>
              <a:t>R&lt;U</a:t>
            </a:r>
            <a:r>
              <a:rPr lang="zh-CN" altLang="en-US" sz="2400" b="1" i="1" dirty="0"/>
              <a:t>，</a:t>
            </a:r>
            <a:r>
              <a:rPr lang="en-US" altLang="zh-CN" sz="2400" b="1" i="1" dirty="0"/>
              <a:t>F&gt;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中若不存在这样的码</a:t>
            </a:r>
            <a:r>
              <a:rPr lang="en-US" altLang="zh-CN" sz="2400" b="1" i="1" dirty="0"/>
              <a:t>X</a:t>
            </a:r>
            <a:r>
              <a:rPr lang="zh-CN" altLang="en-US" sz="2400" b="1" dirty="0"/>
              <a:t>、属性组</a:t>
            </a:r>
            <a:r>
              <a:rPr lang="en-US" altLang="zh-CN" sz="2400" b="1" i="1" dirty="0"/>
              <a:t>Y</a:t>
            </a:r>
            <a:r>
              <a:rPr lang="zh-CN" altLang="en-US" sz="2400" b="1" dirty="0"/>
              <a:t>及非主属性</a:t>
            </a:r>
            <a:r>
              <a:rPr lang="en-US" altLang="zh-CN" sz="2400" b="1" i="1" dirty="0"/>
              <a:t>Z</a:t>
            </a:r>
            <a:r>
              <a:rPr lang="zh-CN" altLang="en-US" sz="2400" b="1" i="1" dirty="0"/>
              <a:t>（</a:t>
            </a:r>
            <a:r>
              <a:rPr lang="en-US" altLang="zh-CN" sz="2400" b="1" i="1" dirty="0"/>
              <a:t>Z </a:t>
            </a:r>
            <a:r>
              <a:rPr lang="en-US" altLang="zh-CN" sz="2400" b="1" dirty="0">
                <a:sym typeface="Symbol" panose="05050102010706020507" pitchFamily="18" charset="2"/>
              </a:rPr>
              <a:t></a:t>
            </a:r>
            <a:r>
              <a:rPr lang="en-US" altLang="zh-CN" sz="2400" b="1" i="1" dirty="0"/>
              <a:t> Y</a:t>
            </a:r>
            <a:r>
              <a:rPr lang="zh-CN" altLang="en-US" sz="2400" b="1" i="1" dirty="0"/>
              <a:t>）</a:t>
            </a:r>
            <a:r>
              <a:rPr lang="en-US" altLang="zh-CN" sz="2400" b="1" i="1" dirty="0"/>
              <a:t>, </a:t>
            </a:r>
            <a:r>
              <a:rPr lang="zh-CN" altLang="en-US" sz="2400" b="1" dirty="0"/>
              <a:t>使得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Y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成立， </a:t>
            </a:r>
            <a:endParaRPr lang="zh-CN" altLang="en-US" sz="2400" b="1" dirty="0"/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400" b="1" dirty="0"/>
              <a:t>    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 → </a:t>
            </a:r>
            <a:r>
              <a:rPr lang="en-US" altLang="zh-CN" sz="2400" b="1" i="1" dirty="0"/>
              <a:t>X</a:t>
            </a:r>
            <a:r>
              <a:rPr lang="zh-CN" altLang="en-US" sz="2400" b="1" dirty="0"/>
              <a:t>，则称</a:t>
            </a:r>
            <a:r>
              <a:rPr lang="en-US" altLang="zh-CN" sz="2400" b="1" i="1" dirty="0"/>
              <a:t>R&lt;U</a:t>
            </a:r>
            <a:r>
              <a:rPr lang="zh-CN" altLang="en-US" sz="2400" b="1" i="1" dirty="0"/>
              <a:t>，</a:t>
            </a:r>
            <a:r>
              <a:rPr lang="en-US" altLang="zh-CN" sz="2400" b="1" i="1" dirty="0"/>
              <a:t>F&gt;</a:t>
            </a:r>
            <a:r>
              <a:rPr lang="en-US" altLang="zh-CN" sz="2400" b="1" dirty="0"/>
              <a:t> ∈ </a:t>
            </a:r>
            <a:r>
              <a:rPr lang="en-US" altLang="zh-CN" sz="2400" b="1" i="1" dirty="0"/>
              <a:t>3NF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lvl="1" eaLnBrk="1" hangingPunct="1">
              <a:lnSpc>
                <a:spcPct val="16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/>
              <a:t>若</a:t>
            </a:r>
            <a:r>
              <a:rPr lang="en-US" altLang="zh-CN" sz="2400" b="1" i="1" dirty="0"/>
              <a:t>R</a:t>
            </a:r>
            <a:r>
              <a:rPr lang="en-US" altLang="zh-CN" sz="2400" b="1" dirty="0"/>
              <a:t>∈3NF</a:t>
            </a:r>
            <a:r>
              <a:rPr lang="zh-CN" altLang="en-US" sz="2400" b="1" dirty="0"/>
              <a:t>，则每一个</a:t>
            </a:r>
            <a:r>
              <a:rPr lang="zh-CN" altLang="en-US" sz="2400" b="1" dirty="0">
                <a:solidFill>
                  <a:srgbClr val="3333FF"/>
                </a:solidFill>
              </a:rPr>
              <a:t>非主属性</a:t>
            </a:r>
            <a:r>
              <a:rPr lang="zh-CN" altLang="en-US" sz="2400" b="1" dirty="0">
                <a:solidFill>
                  <a:srgbClr val="FF00FF"/>
                </a:solidFill>
              </a:rPr>
              <a:t>既不部分依赖</a:t>
            </a:r>
            <a:r>
              <a:rPr lang="zh-CN" altLang="en-US" sz="2400" b="1" dirty="0"/>
              <a:t>于码</a:t>
            </a:r>
            <a:r>
              <a:rPr lang="zh-CN" altLang="en-US" sz="2400" b="1" dirty="0">
                <a:solidFill>
                  <a:srgbClr val="FF00FF"/>
                </a:solidFill>
              </a:rPr>
              <a:t>也不传递依赖</a:t>
            </a:r>
            <a:r>
              <a:rPr lang="zh-CN" altLang="en-US" sz="2400" b="1" dirty="0"/>
              <a:t>于码。 </a:t>
            </a:r>
            <a:endParaRPr lang="zh-CN" altLang="en-US" sz="2000" b="1" dirty="0"/>
          </a:p>
        </p:txBody>
      </p:sp>
      <p:sp>
        <p:nvSpPr>
          <p:cNvPr id="61444" name="Line 4"/>
          <p:cNvSpPr/>
          <p:nvPr/>
        </p:nvSpPr>
        <p:spPr>
          <a:xfrm>
            <a:off x="3708400" y="3502025"/>
            <a:ext cx="215900" cy="431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45" name="Line 5"/>
          <p:cNvSpPr/>
          <p:nvPr/>
        </p:nvSpPr>
        <p:spPr>
          <a:xfrm>
            <a:off x="1189038" y="4149725"/>
            <a:ext cx="142875" cy="28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46" name="灯片编号占位符 7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</a:t>
            </a:r>
            <a:r>
              <a:rPr lang="en-US" altLang="zh-CN" sz="4800" dirty="0"/>
              <a:t>3NF</a:t>
            </a:r>
            <a:r>
              <a:rPr lang="zh-CN" altLang="en-US" sz="4800" dirty="0"/>
              <a:t>的非正式描述</a:t>
            </a:r>
            <a:endParaRPr lang="zh-CN" altLang="en-US" sz="4800" dirty="0"/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005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/>
              <a:t>若</a:t>
            </a:r>
            <a:r>
              <a:rPr lang="en-US" altLang="zh-CN" b="1" i="1" dirty="0"/>
              <a:t>R</a:t>
            </a:r>
            <a:r>
              <a:rPr lang="en-US" altLang="zh-CN" dirty="0"/>
              <a:t>∈3NF</a:t>
            </a:r>
            <a:r>
              <a:rPr lang="zh-CN" altLang="en-US" dirty="0"/>
              <a:t>，当且仅当非码属性满足：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相互独立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完全依赖于主码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若</a:t>
            </a:r>
            <a:r>
              <a:rPr lang="en-US" altLang="zh-CN" b="1" i="1" dirty="0"/>
              <a:t>R</a:t>
            </a:r>
            <a:r>
              <a:rPr lang="en-US" altLang="zh-CN" dirty="0"/>
              <a:t>∈3NF</a:t>
            </a:r>
            <a:r>
              <a:rPr lang="zh-CN" altLang="en-US" dirty="0"/>
              <a:t>，当且仅当任何时候，每个元组都含有一个主码来识别实体，同时有一组</a:t>
            </a:r>
            <a:r>
              <a:rPr lang="en-US" altLang="zh-CN" dirty="0"/>
              <a:t>0</a:t>
            </a:r>
            <a:r>
              <a:rPr lang="zh-CN" altLang="en-US" dirty="0"/>
              <a:t>个或多个相互独立的属性从不同方面描述这个实体。</a:t>
            </a:r>
            <a:endParaRPr lang="zh-CN" altLang="en-US" sz="2800" dirty="0"/>
          </a:p>
        </p:txBody>
      </p:sp>
      <p:sp>
        <p:nvSpPr>
          <p:cNvPr id="62468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3NF</a:t>
            </a:r>
            <a:r>
              <a:rPr lang="zh-CN" altLang="en-US" sz="4000" dirty="0"/>
              <a:t>（续）</a:t>
            </a:r>
            <a:endParaRPr lang="zh-CN" altLang="en-US" sz="4000" dirty="0"/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457200" y="1828800"/>
            <a:ext cx="836295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例：</a:t>
            </a:r>
            <a:r>
              <a:rPr lang="en-US" altLang="zh-CN" sz="2400" b="1" dirty="0"/>
              <a:t>2NF</a:t>
            </a:r>
            <a:r>
              <a:rPr lang="zh-CN" altLang="en-US" sz="2400" b="1" dirty="0"/>
              <a:t>关系模式</a:t>
            </a:r>
            <a:r>
              <a:rPr lang="en-US" altLang="zh-CN" sz="2400" b="1" dirty="0"/>
              <a:t>S-L(Sno, Sdept, Sloc)</a:t>
            </a:r>
            <a:r>
              <a:rPr lang="zh-CN" altLang="en-US" sz="2400" b="1" dirty="0"/>
              <a:t>中</a:t>
            </a:r>
            <a:endParaRPr lang="zh-CN" altLang="en-US" sz="2400" b="1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/>
              <a:t>函数依赖：</a:t>
            </a:r>
            <a:endParaRPr lang="zh-CN" altLang="en-US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          </a:t>
            </a:r>
            <a:r>
              <a:rPr lang="en-US" altLang="zh-CN" sz="2400" b="1" dirty="0"/>
              <a:t>Sno→Sdept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          Sdept → Sno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          Sdept→Sloc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          </a:t>
            </a:r>
            <a:r>
              <a:rPr lang="zh-CN" altLang="en-US" sz="2400" b="1" dirty="0"/>
              <a:t>可得：          </a:t>
            </a:r>
            <a:endParaRPr lang="zh-CN" altLang="en-US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         </a:t>
            </a:r>
            <a:r>
              <a:rPr lang="en-US" altLang="zh-CN" sz="2400" b="1" dirty="0"/>
              <a:t>Sno→Sloc</a:t>
            </a:r>
            <a:r>
              <a:rPr lang="zh-CN" altLang="en-US" sz="2400" b="1" dirty="0"/>
              <a:t>，即</a:t>
            </a:r>
            <a:r>
              <a:rPr lang="en-US" altLang="zh-CN" sz="2400" b="1" dirty="0"/>
              <a:t>S-L</a:t>
            </a:r>
            <a:r>
              <a:rPr lang="zh-CN" altLang="en-US" sz="2400" b="1" dirty="0"/>
              <a:t>中存在非主属性对码的传递函数依</a:t>
            </a:r>
            <a:endParaRPr lang="zh-CN" altLang="en-US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         赖，</a:t>
            </a:r>
            <a:r>
              <a:rPr lang="en-US" altLang="zh-CN" sz="2400" b="1" dirty="0"/>
              <a:t>S-L </a:t>
            </a:r>
            <a:r>
              <a:rPr lang="en-US" altLang="zh-CN" sz="2100" b="1" dirty="0"/>
              <a:t>∈ </a:t>
            </a:r>
            <a:r>
              <a:rPr lang="en-US" altLang="zh-CN" sz="2400" b="1" i="1" dirty="0"/>
              <a:t>3NF</a:t>
            </a:r>
            <a:endParaRPr lang="en-US" altLang="zh-CN" sz="2800" b="1" dirty="0"/>
          </a:p>
        </p:txBody>
      </p:sp>
      <p:sp>
        <p:nvSpPr>
          <p:cNvPr id="63492" name="Text Box 4"/>
          <p:cNvSpPr txBox="1"/>
          <p:nvPr/>
        </p:nvSpPr>
        <p:spPr>
          <a:xfrm>
            <a:off x="1692275" y="5084763"/>
            <a:ext cx="590550" cy="33655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latin typeface="Times New Roman" panose="02020603050405020304" pitchFamily="18" charset="0"/>
              </a:rPr>
              <a:t>传递</a:t>
            </a:r>
            <a:endParaRPr lang="zh-CN" altLang="en-US" sz="1600" b="1" dirty="0">
              <a:latin typeface="Times New Roman" panose="02020603050405020304" pitchFamily="18" charset="0"/>
            </a:endParaRPr>
          </a:p>
        </p:txBody>
      </p:sp>
      <p:sp>
        <p:nvSpPr>
          <p:cNvPr id="63493" name="Line 6"/>
          <p:cNvSpPr/>
          <p:nvPr/>
        </p:nvSpPr>
        <p:spPr>
          <a:xfrm>
            <a:off x="2339975" y="3644900"/>
            <a:ext cx="21590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4" name="Line 7"/>
          <p:cNvSpPr/>
          <p:nvPr/>
        </p:nvSpPr>
        <p:spPr>
          <a:xfrm>
            <a:off x="2555875" y="5805488"/>
            <a:ext cx="144463" cy="3587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5" name="灯片编号占位符 8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 3NF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645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函数依赖图：</a:t>
            </a:r>
            <a:endParaRPr lang="zh-CN" altLang="en-US" dirty="0"/>
          </a:p>
        </p:txBody>
      </p:sp>
      <p:grpSp>
        <p:nvGrpSpPr>
          <p:cNvPr id="64516" name="Group 12"/>
          <p:cNvGrpSpPr/>
          <p:nvPr/>
        </p:nvGrpSpPr>
        <p:grpSpPr>
          <a:xfrm>
            <a:off x="1908175" y="2708275"/>
            <a:ext cx="3124200" cy="2362200"/>
            <a:chOff x="1202" y="1706"/>
            <a:chExt cx="1968" cy="1488"/>
          </a:xfrm>
        </p:grpSpPr>
        <p:grpSp>
          <p:nvGrpSpPr>
            <p:cNvPr id="64518" name="Group 4"/>
            <p:cNvGrpSpPr/>
            <p:nvPr/>
          </p:nvGrpSpPr>
          <p:grpSpPr>
            <a:xfrm>
              <a:off x="1202" y="1706"/>
              <a:ext cx="1968" cy="1488"/>
              <a:chOff x="3312" y="1920"/>
              <a:chExt cx="1968" cy="1488"/>
            </a:xfrm>
          </p:grpSpPr>
          <p:sp>
            <p:nvSpPr>
              <p:cNvPr id="64520" name="Text Box 5"/>
              <p:cNvSpPr txBox="1"/>
              <p:nvPr/>
            </p:nvSpPr>
            <p:spPr>
              <a:xfrm>
                <a:off x="3312" y="1920"/>
                <a:ext cx="695" cy="37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S-L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521" name="Text Box 6"/>
              <p:cNvSpPr txBox="1"/>
              <p:nvPr/>
            </p:nvSpPr>
            <p:spPr>
              <a:xfrm>
                <a:off x="3428" y="2540"/>
                <a:ext cx="579" cy="372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Sno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522" name="Text Box 7"/>
              <p:cNvSpPr txBox="1"/>
              <p:nvPr/>
            </p:nvSpPr>
            <p:spPr>
              <a:xfrm>
                <a:off x="4585" y="2168"/>
                <a:ext cx="695" cy="372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Sdept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523" name="Text Box 8"/>
              <p:cNvSpPr txBox="1"/>
              <p:nvPr/>
            </p:nvSpPr>
            <p:spPr>
              <a:xfrm>
                <a:off x="4585" y="3036"/>
                <a:ext cx="695" cy="372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Sloc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524" name="Line 9"/>
              <p:cNvSpPr/>
              <p:nvPr/>
            </p:nvSpPr>
            <p:spPr>
              <a:xfrm flipV="1">
                <a:off x="4007" y="2292"/>
                <a:ext cx="578" cy="37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4525" name="Line 10"/>
              <p:cNvSpPr/>
              <p:nvPr/>
            </p:nvSpPr>
            <p:spPr>
              <a:xfrm>
                <a:off x="4007" y="2788"/>
                <a:ext cx="578" cy="37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64519" name="Line 11"/>
            <p:cNvSpPr/>
            <p:nvPr/>
          </p:nvSpPr>
          <p:spPr>
            <a:xfrm>
              <a:off x="2699" y="2341"/>
              <a:ext cx="0" cy="49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4517" name="灯片编号占位符 14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65539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275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b="1" dirty="0"/>
              <a:t>解决方法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600" b="1" dirty="0"/>
              <a:t>   采用投影分解法，把</a:t>
            </a:r>
            <a:r>
              <a:rPr lang="en-US" altLang="zh-CN" sz="2600" b="1" dirty="0"/>
              <a:t>S-L</a:t>
            </a:r>
            <a:r>
              <a:rPr lang="zh-CN" altLang="en-US" sz="2600" b="1" dirty="0"/>
              <a:t>分解为两个关系模式，以消除传递函数依赖：</a:t>
            </a:r>
            <a:endParaRPr lang="zh-CN" altLang="en-US" sz="2600" b="1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000" b="1" dirty="0"/>
              <a:t>            </a:t>
            </a:r>
            <a:r>
              <a:rPr lang="en-US" altLang="zh-CN" sz="2400" b="1" dirty="0"/>
              <a:t>S-D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Sno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Sdept</a:t>
            </a:r>
            <a:r>
              <a:rPr lang="zh-CN" altLang="en-US" sz="2400" b="1" dirty="0"/>
              <a:t>）</a:t>
            </a:r>
            <a:endParaRPr lang="zh-CN" altLang="en-US" sz="2400" b="1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400" b="1" dirty="0"/>
              <a:t>                </a:t>
            </a:r>
            <a:r>
              <a:rPr lang="en-US" altLang="zh-CN" sz="2400" b="1" dirty="0"/>
              <a:t>D-L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Sdept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Sloc</a:t>
            </a:r>
            <a:r>
              <a:rPr lang="zh-CN" altLang="en-US" sz="2400" b="1" dirty="0"/>
              <a:t>）</a:t>
            </a:r>
            <a:endParaRPr lang="zh-CN" altLang="en-US" sz="2400" b="1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S-D</a:t>
            </a:r>
            <a:r>
              <a:rPr lang="zh-CN" altLang="en-US" sz="2400" b="1" dirty="0"/>
              <a:t>的码为</a:t>
            </a:r>
            <a:r>
              <a:rPr lang="en-US" altLang="zh-CN" sz="2400" b="1" dirty="0"/>
              <a:t>Sno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D-L</a:t>
            </a:r>
            <a:r>
              <a:rPr lang="zh-CN" altLang="en-US" sz="2400" b="1" dirty="0"/>
              <a:t>的码为</a:t>
            </a:r>
            <a:r>
              <a:rPr lang="en-US" altLang="zh-CN" sz="2400" b="1" dirty="0"/>
              <a:t>Sdept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lvl="1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b="1" dirty="0"/>
              <a:t>分解后的关系模式</a:t>
            </a:r>
            <a:r>
              <a:rPr lang="en-US" altLang="zh-CN" sz="2400" b="1" dirty="0"/>
              <a:t>S-D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D-L</a:t>
            </a:r>
            <a:r>
              <a:rPr lang="zh-CN" altLang="en-US" sz="2400" b="1" dirty="0"/>
              <a:t>中不再存在传递依赖 </a:t>
            </a:r>
            <a:endParaRPr lang="zh-CN" altLang="en-US" sz="2400" b="1" dirty="0"/>
          </a:p>
        </p:txBody>
      </p:sp>
      <p:sp>
        <p:nvSpPr>
          <p:cNvPr id="6554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665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en-US" altLang="zh-CN" dirty="0"/>
              <a:t>S-D</a:t>
            </a:r>
            <a:r>
              <a:rPr lang="zh-CN" altLang="en-US" dirty="0"/>
              <a:t>的码为</a:t>
            </a:r>
            <a:r>
              <a:rPr lang="en-US" altLang="zh-CN" dirty="0"/>
              <a:t>Sno</a:t>
            </a:r>
            <a:r>
              <a:rPr lang="zh-CN" altLang="en-US" dirty="0"/>
              <a:t>， </a:t>
            </a:r>
            <a:r>
              <a:rPr lang="en-US" altLang="zh-CN" dirty="0"/>
              <a:t>D-L</a:t>
            </a:r>
            <a:r>
              <a:rPr lang="zh-CN" altLang="en-US" dirty="0"/>
              <a:t>的码为</a:t>
            </a:r>
            <a:r>
              <a:rPr lang="en-US" altLang="zh-CN" dirty="0"/>
              <a:t>Sdept</a:t>
            </a:r>
            <a:endParaRPr lang="en-US" altLang="zh-CN" dirty="0"/>
          </a:p>
        </p:txBody>
      </p:sp>
      <p:grpSp>
        <p:nvGrpSpPr>
          <p:cNvPr id="66564" name="Group 13"/>
          <p:cNvGrpSpPr/>
          <p:nvPr/>
        </p:nvGrpSpPr>
        <p:grpSpPr>
          <a:xfrm>
            <a:off x="1187450" y="2781300"/>
            <a:ext cx="6565900" cy="1655763"/>
            <a:chOff x="1008" y="1920"/>
            <a:chExt cx="4272" cy="1296"/>
          </a:xfrm>
        </p:grpSpPr>
        <p:sp>
          <p:nvSpPr>
            <p:cNvPr id="66568" name="Text Box 5"/>
            <p:cNvSpPr txBox="1"/>
            <p:nvPr/>
          </p:nvSpPr>
          <p:spPr>
            <a:xfrm>
              <a:off x="1008" y="1920"/>
              <a:ext cx="594" cy="48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Sno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69" name="Text Box 6"/>
            <p:cNvSpPr txBox="1"/>
            <p:nvPr/>
          </p:nvSpPr>
          <p:spPr>
            <a:xfrm>
              <a:off x="2076" y="1920"/>
              <a:ext cx="712" cy="48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Sdept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70" name="Line 7"/>
            <p:cNvSpPr/>
            <p:nvPr/>
          </p:nvSpPr>
          <p:spPr>
            <a:xfrm>
              <a:off x="1602" y="2082"/>
              <a:ext cx="47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71" name="Text Box 8"/>
            <p:cNvSpPr txBox="1"/>
            <p:nvPr/>
          </p:nvSpPr>
          <p:spPr>
            <a:xfrm>
              <a:off x="1602" y="2730"/>
              <a:ext cx="598" cy="486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S-D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72" name="Text Box 9"/>
            <p:cNvSpPr txBox="1"/>
            <p:nvPr/>
          </p:nvSpPr>
          <p:spPr>
            <a:xfrm>
              <a:off x="3382" y="1920"/>
              <a:ext cx="712" cy="48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Sdept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73" name="Text Box 10"/>
            <p:cNvSpPr txBox="1"/>
            <p:nvPr/>
          </p:nvSpPr>
          <p:spPr>
            <a:xfrm>
              <a:off x="4686" y="1920"/>
              <a:ext cx="594" cy="48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Sloc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74" name="Line 11"/>
            <p:cNvSpPr/>
            <p:nvPr/>
          </p:nvSpPr>
          <p:spPr>
            <a:xfrm>
              <a:off x="4094" y="2082"/>
              <a:ext cx="59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75" name="Text Box 12"/>
            <p:cNvSpPr txBox="1"/>
            <p:nvPr/>
          </p:nvSpPr>
          <p:spPr>
            <a:xfrm>
              <a:off x="4212" y="2730"/>
              <a:ext cx="528" cy="486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D-L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6565" name="Rectangle 14"/>
          <p:cNvSpPr/>
          <p:nvPr/>
        </p:nvSpPr>
        <p:spPr>
          <a:xfrm>
            <a:off x="900113" y="4581525"/>
            <a:ext cx="5256212" cy="15525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v"/>
            </a:pPr>
            <a:r>
              <a:rPr lang="en-US" altLang="zh-CN" sz="2400" dirty="0"/>
              <a:t>  S-L(Sno, Sdept, Sloc) </a:t>
            </a:r>
            <a:r>
              <a:rPr lang="en-US" altLang="zh-CN" sz="2200" dirty="0"/>
              <a:t>∈</a:t>
            </a:r>
            <a:r>
              <a:rPr lang="en-US" altLang="zh-CN" sz="2400" dirty="0"/>
              <a:t> 2NF</a:t>
            </a:r>
            <a:endParaRPr lang="en-US" altLang="zh-CN" sz="2400" dirty="0"/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      S-L(Sno, Sdept, Sloc) </a:t>
            </a:r>
            <a:r>
              <a:rPr lang="en-US" altLang="zh-CN" sz="2200" dirty="0"/>
              <a:t>∈</a:t>
            </a:r>
            <a:r>
              <a:rPr lang="en-US" altLang="zh-CN" sz="2400" dirty="0"/>
              <a:t> 3NF </a:t>
            </a:r>
            <a:endParaRPr lang="en-US" altLang="zh-CN" sz="2400" dirty="0"/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S-D(Sno</a:t>
            </a:r>
            <a:r>
              <a:rPr lang="zh-CN" altLang="en-US" sz="2400" dirty="0"/>
              <a:t>，</a:t>
            </a:r>
            <a:r>
              <a:rPr lang="en-US" altLang="zh-CN" sz="2400" dirty="0"/>
              <a:t>Sdept)</a:t>
            </a:r>
            <a:r>
              <a:rPr lang="en-US" altLang="zh-CN" sz="2200" dirty="0"/>
              <a:t> ∈</a:t>
            </a:r>
            <a:r>
              <a:rPr lang="en-US" altLang="zh-CN" sz="2400" dirty="0"/>
              <a:t> 3NF</a:t>
            </a:r>
            <a:endParaRPr lang="en-US" altLang="zh-CN" sz="2400" dirty="0"/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D-L(Sdept</a:t>
            </a:r>
            <a:r>
              <a:rPr lang="zh-CN" altLang="en-US" sz="2400" dirty="0"/>
              <a:t>， </a:t>
            </a:r>
            <a:r>
              <a:rPr lang="en-US" altLang="zh-CN" sz="2400" dirty="0"/>
              <a:t>Sloc)</a:t>
            </a:r>
            <a:r>
              <a:rPr lang="en-US" altLang="zh-CN" sz="2200" dirty="0"/>
              <a:t>∈</a:t>
            </a:r>
            <a:r>
              <a:rPr lang="en-US" altLang="zh-CN" sz="2400" dirty="0"/>
              <a:t> 3NF</a:t>
            </a:r>
            <a:endParaRPr lang="en-US" altLang="zh-CN" sz="2400" dirty="0"/>
          </a:p>
        </p:txBody>
      </p:sp>
      <p:sp>
        <p:nvSpPr>
          <p:cNvPr id="66566" name="Line 16"/>
          <p:cNvSpPr/>
          <p:nvPr/>
        </p:nvSpPr>
        <p:spPr>
          <a:xfrm>
            <a:off x="4860925" y="5013325"/>
            <a:ext cx="215900" cy="3603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67" name="灯片编号占位符 1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3NF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>
          <a:xfrm>
            <a:off x="609600" y="1752600"/>
            <a:ext cx="8153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spcAft>
                <a:spcPct val="30000"/>
              </a:spcAft>
            </a:pPr>
            <a:r>
              <a:rPr lang="zh-CN" altLang="en-US" sz="2600" b="1" dirty="0"/>
              <a:t>采用投影分解法将一个</a:t>
            </a:r>
            <a:r>
              <a:rPr lang="en-US" altLang="zh-CN" sz="2600" b="1" dirty="0"/>
              <a:t>2NF</a:t>
            </a:r>
            <a:r>
              <a:rPr lang="zh-CN" altLang="en-US" sz="2600" b="1" dirty="0"/>
              <a:t>的关系分解为多个</a:t>
            </a:r>
            <a:r>
              <a:rPr lang="en-US" altLang="zh-CN" sz="2600" b="1" dirty="0"/>
              <a:t>3NF</a:t>
            </a:r>
            <a:r>
              <a:rPr lang="zh-CN" altLang="en-US" sz="2600" b="1" dirty="0"/>
              <a:t>的关系，可以在一定程度上解决原</a:t>
            </a:r>
            <a:r>
              <a:rPr lang="en-US" altLang="zh-CN" sz="2600" b="1" dirty="0"/>
              <a:t>2NF</a:t>
            </a:r>
            <a:r>
              <a:rPr lang="zh-CN" altLang="en-US" sz="2600" b="1" dirty="0"/>
              <a:t>关系中存在的插入异常、删除异常、数据冗余度大、修改复杂等问题。</a:t>
            </a:r>
            <a:endParaRPr lang="zh-CN" altLang="en-US" sz="2600" b="1" dirty="0"/>
          </a:p>
          <a:p>
            <a:pPr eaLnBrk="1" hangingPunct="1">
              <a:lnSpc>
                <a:spcPct val="140000"/>
              </a:lnSpc>
              <a:spcAft>
                <a:spcPct val="30000"/>
              </a:spcAft>
            </a:pPr>
            <a:endParaRPr lang="zh-CN" altLang="en-US" sz="2600" b="1" dirty="0"/>
          </a:p>
          <a:p>
            <a:pPr eaLnBrk="1" hangingPunct="1">
              <a:lnSpc>
                <a:spcPct val="140000"/>
              </a:lnSpc>
            </a:pPr>
            <a:r>
              <a:rPr lang="zh-CN" altLang="en-US" sz="2600" b="1" dirty="0"/>
              <a:t> 将一个</a:t>
            </a:r>
            <a:r>
              <a:rPr lang="en-US" altLang="zh-CN" sz="2600" b="1" dirty="0"/>
              <a:t>2NF</a:t>
            </a:r>
            <a:r>
              <a:rPr lang="zh-CN" altLang="en-US" sz="2600" b="1" dirty="0"/>
              <a:t>关系分解为多个</a:t>
            </a:r>
            <a:r>
              <a:rPr lang="en-US" altLang="zh-CN" sz="2600" b="1" dirty="0"/>
              <a:t>3NF</a:t>
            </a:r>
            <a:r>
              <a:rPr lang="zh-CN" altLang="en-US" sz="2600" b="1" dirty="0"/>
              <a:t>的关系后，仍然不能完全消除关系模式中的各种异常情况和数据冗余。</a:t>
            </a:r>
            <a:endParaRPr lang="zh-CN" altLang="en-US" sz="2600" b="1" dirty="0"/>
          </a:p>
        </p:txBody>
      </p:sp>
      <p:sp>
        <p:nvSpPr>
          <p:cNvPr id="67588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  </a:t>
            </a:r>
            <a:r>
              <a:rPr lang="zh-CN" altLang="en-US" sz="4000" dirty="0"/>
              <a:t>规范化</a:t>
            </a:r>
            <a:endParaRPr lang="zh-CN" altLang="en-US" sz="4000" dirty="0"/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xfrm>
            <a:off x="1042988" y="1773238"/>
            <a:ext cx="7643812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6.2.6  BCNF</a:t>
            </a:r>
            <a:endParaRPr lang="en-US" altLang="zh-CN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  <p:sp>
        <p:nvSpPr>
          <p:cNvPr id="68612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6.2.6  BC</a:t>
            </a:r>
            <a:r>
              <a:rPr lang="zh-CN" altLang="en-US" dirty="0"/>
              <a:t>范式（</a:t>
            </a:r>
            <a:r>
              <a:rPr lang="en-US" altLang="zh-CN" dirty="0"/>
              <a:t>BCNF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xfrm>
            <a:off x="762000" y="1752600"/>
            <a:ext cx="8077200" cy="47720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b="1" dirty="0"/>
              <a:t>定义</a:t>
            </a:r>
            <a:r>
              <a:rPr lang="en-US" altLang="zh-CN" b="1" dirty="0"/>
              <a:t>6.8</a:t>
            </a:r>
            <a:r>
              <a:rPr lang="en-US" altLang="zh-CN" dirty="0"/>
              <a:t>   </a:t>
            </a:r>
            <a:r>
              <a:rPr lang="zh-CN" altLang="en-US" dirty="0"/>
              <a:t>关系模式</a:t>
            </a:r>
            <a:r>
              <a:rPr lang="en-US" altLang="zh-CN" dirty="0"/>
              <a:t>R&lt;U</a:t>
            </a:r>
            <a:r>
              <a:rPr lang="zh-CN" altLang="en-US" dirty="0"/>
              <a:t>，</a:t>
            </a:r>
            <a:r>
              <a:rPr lang="en-US" altLang="zh-CN" dirty="0"/>
              <a:t>F&gt;</a:t>
            </a:r>
            <a:r>
              <a:rPr lang="en-US" altLang="zh-CN" sz="3000" dirty="0"/>
              <a:t>∈</a:t>
            </a:r>
            <a:r>
              <a:rPr lang="en-US" altLang="zh-CN" dirty="0"/>
              <a:t>1NF</a:t>
            </a:r>
            <a:r>
              <a:rPr lang="zh-CN" altLang="en-US" dirty="0"/>
              <a:t>，若</a:t>
            </a:r>
            <a:r>
              <a:rPr lang="en-US" altLang="zh-CN" dirty="0"/>
              <a:t>X→Y</a:t>
            </a:r>
            <a:r>
              <a:rPr lang="zh-CN" altLang="en-US" dirty="0"/>
              <a:t>且</a:t>
            </a:r>
            <a:r>
              <a:rPr lang="en-US" altLang="zh-CN" dirty="0"/>
              <a:t>Y </a:t>
            </a:r>
            <a:r>
              <a:rPr lang="en-US" altLang="zh-CN" sz="36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</a:t>
            </a:r>
            <a:r>
              <a:rPr lang="zh-CN" altLang="en-US" dirty="0"/>
              <a:t>时</a:t>
            </a:r>
            <a:r>
              <a:rPr lang="en-US" altLang="zh-CN" dirty="0"/>
              <a:t>X</a:t>
            </a:r>
            <a:r>
              <a:rPr lang="zh-CN" altLang="en-US" dirty="0"/>
              <a:t>必含有码，则</a:t>
            </a:r>
            <a:r>
              <a:rPr lang="en-US" altLang="zh-CN" dirty="0"/>
              <a:t>R&lt;U</a:t>
            </a:r>
            <a:r>
              <a:rPr lang="zh-CN" altLang="en-US" dirty="0"/>
              <a:t>，</a:t>
            </a:r>
            <a:r>
              <a:rPr lang="en-US" altLang="zh-CN" dirty="0"/>
              <a:t>F&gt; </a:t>
            </a:r>
            <a:r>
              <a:rPr lang="en-US" altLang="zh-CN" sz="3000" dirty="0"/>
              <a:t>∈</a:t>
            </a:r>
            <a:r>
              <a:rPr lang="en-US" altLang="zh-CN" dirty="0"/>
              <a:t>BCNF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140000"/>
              </a:lnSpc>
            </a:pPr>
            <a:endParaRPr lang="zh-CN" altLang="en-US" dirty="0"/>
          </a:p>
          <a:p>
            <a:pPr eaLnBrk="1" hangingPunct="1">
              <a:lnSpc>
                <a:spcPct val="140000"/>
              </a:lnSpc>
            </a:pPr>
            <a:r>
              <a:rPr lang="zh-CN" altLang="en-US" dirty="0"/>
              <a:t>等价于：</a:t>
            </a:r>
            <a:r>
              <a:rPr lang="zh-CN" altLang="en-US" b="1" dirty="0">
                <a:solidFill>
                  <a:srgbClr val="CC3300"/>
                </a:solidFill>
              </a:rPr>
              <a:t>每一个决定属性因素都包含码</a:t>
            </a:r>
            <a:endParaRPr lang="zh-CN" altLang="en-US" b="1" dirty="0">
              <a:solidFill>
                <a:srgbClr val="CC3300"/>
              </a:solidFill>
            </a:endParaRPr>
          </a:p>
          <a:p>
            <a:pPr eaLnBrk="1" hangingPunct="1">
              <a:lnSpc>
                <a:spcPct val="140000"/>
              </a:lnSpc>
              <a:buNone/>
            </a:pPr>
            <a:endParaRPr lang="en-US" altLang="zh-CN" dirty="0"/>
          </a:p>
        </p:txBody>
      </p:sp>
      <p:sp>
        <p:nvSpPr>
          <p:cNvPr id="69636" name="Line 4"/>
          <p:cNvSpPr/>
          <p:nvPr/>
        </p:nvSpPr>
        <p:spPr>
          <a:xfrm>
            <a:off x="2987675" y="2781300"/>
            <a:ext cx="215900" cy="3603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637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BCNF</a:t>
            </a:r>
            <a:r>
              <a:rPr lang="zh-CN" altLang="en-US" sz="4000" dirty="0"/>
              <a:t>（续）</a:t>
            </a:r>
            <a:endParaRPr lang="zh-CN" altLang="en-US" sz="4000" dirty="0"/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846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zh-CN" altLang="en-US" sz="2800" dirty="0"/>
              <a:t>若</a:t>
            </a:r>
            <a:r>
              <a:rPr lang="en-US" altLang="zh-CN" sz="2800" dirty="0"/>
              <a:t>R</a:t>
            </a:r>
            <a:r>
              <a:rPr lang="en-US" altLang="zh-CN" sz="2600" dirty="0"/>
              <a:t>∈</a:t>
            </a:r>
            <a:r>
              <a:rPr lang="en-US" altLang="zh-CN" sz="2800" dirty="0"/>
              <a:t>BCNF </a:t>
            </a:r>
            <a:endParaRPr lang="en-US" altLang="zh-CN" sz="2800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b="1" dirty="0"/>
              <a:t>所有非主属性对每一个码都是完全函数依赖</a:t>
            </a:r>
            <a:endParaRPr lang="zh-CN" altLang="en-US" sz="2400" b="1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b="1" dirty="0"/>
              <a:t>所有的主属性对每一个不</a:t>
            </a:r>
            <a:r>
              <a:rPr lang="zh-CN" altLang="en-US" sz="2400" b="1" dirty="0">
                <a:solidFill>
                  <a:srgbClr val="FF0000"/>
                </a:solidFill>
              </a:rPr>
              <a:t>包含它</a:t>
            </a:r>
            <a:r>
              <a:rPr lang="zh-CN" altLang="en-US" sz="2400" b="1" dirty="0"/>
              <a:t>的码，也是完全函数依赖</a:t>
            </a:r>
            <a:endParaRPr lang="zh-CN" altLang="en-US" sz="2400" b="1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b="1" dirty="0"/>
              <a:t>没有任何属性完全函数依赖于非码的任何一组属性</a:t>
            </a:r>
            <a:endParaRPr lang="zh-CN" altLang="en-US" sz="2400" b="1" dirty="0"/>
          </a:p>
          <a:p>
            <a:pPr lvl="1" eaLnBrk="1" hangingPunct="1">
              <a:lnSpc>
                <a:spcPct val="140000"/>
              </a:lnSpc>
            </a:pPr>
            <a:endParaRPr lang="zh-CN" altLang="en-US" sz="800" b="1" dirty="0"/>
          </a:p>
          <a:p>
            <a:pPr eaLnBrk="1" hangingPunct="1">
              <a:lnSpc>
                <a:spcPct val="140000"/>
              </a:lnSpc>
            </a:pPr>
            <a:r>
              <a:rPr lang="en-US" altLang="zh-CN" sz="2800" dirty="0"/>
              <a:t>R ∈BCNF                R ∈3NF</a:t>
            </a:r>
            <a:endParaRPr lang="en-US" altLang="zh-CN" sz="2800" dirty="0"/>
          </a:p>
        </p:txBody>
      </p:sp>
      <p:grpSp>
        <p:nvGrpSpPr>
          <p:cNvPr id="70660" name="Group 9"/>
          <p:cNvGrpSpPr/>
          <p:nvPr/>
        </p:nvGrpSpPr>
        <p:grpSpPr>
          <a:xfrm>
            <a:off x="2627313" y="5013325"/>
            <a:ext cx="1439862" cy="719138"/>
            <a:chOff x="1655" y="3158"/>
            <a:chExt cx="907" cy="453"/>
          </a:xfrm>
        </p:grpSpPr>
        <p:sp>
          <p:nvSpPr>
            <p:cNvPr id="70662" name="Line 4"/>
            <p:cNvSpPr/>
            <p:nvPr/>
          </p:nvSpPr>
          <p:spPr>
            <a:xfrm>
              <a:off x="1655" y="3339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63" name="Line 5"/>
            <p:cNvSpPr/>
            <p:nvPr/>
          </p:nvSpPr>
          <p:spPr>
            <a:xfrm flipH="1">
              <a:off x="1655" y="3430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64" name="Line 6"/>
            <p:cNvSpPr/>
            <p:nvPr/>
          </p:nvSpPr>
          <p:spPr>
            <a:xfrm flipH="1">
              <a:off x="2018" y="3385"/>
              <a:ext cx="136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65" name="Rectangle 7"/>
            <p:cNvSpPr/>
            <p:nvPr/>
          </p:nvSpPr>
          <p:spPr>
            <a:xfrm>
              <a:off x="1655" y="3158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buClr>
                  <a:schemeClr val="hlink"/>
                </a:buClr>
                <a:buSzTx/>
                <a:buNone/>
              </a:pPr>
              <a:r>
                <a:rPr lang="zh-CN" altLang="en-US" sz="1800" dirty="0"/>
                <a:t>充分</a:t>
              </a:r>
              <a:endParaRPr lang="zh-CN" altLang="en-US" sz="1800" dirty="0"/>
            </a:p>
          </p:txBody>
        </p:sp>
        <p:sp>
          <p:nvSpPr>
            <p:cNvPr id="70666" name="Rectangle 8"/>
            <p:cNvSpPr/>
            <p:nvPr/>
          </p:nvSpPr>
          <p:spPr>
            <a:xfrm>
              <a:off x="1655" y="3475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buClr>
                  <a:schemeClr val="hlink"/>
                </a:buClr>
                <a:buSzTx/>
                <a:buNone/>
              </a:pPr>
              <a:r>
                <a:rPr lang="zh-CN" altLang="en-US" sz="1800" dirty="0"/>
                <a:t>不必要</a:t>
              </a:r>
              <a:endParaRPr lang="zh-CN" altLang="en-US" sz="1800" dirty="0"/>
            </a:p>
          </p:txBody>
        </p:sp>
      </p:grpSp>
      <p:sp>
        <p:nvSpPr>
          <p:cNvPr id="70661" name="灯片编号占位符 11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BCNF</a:t>
            </a:r>
            <a:r>
              <a:rPr lang="zh-CN" altLang="en-US" sz="4000" dirty="0"/>
              <a:t>（续）</a:t>
            </a:r>
            <a:endParaRPr lang="zh-CN" altLang="en-US" sz="4000" dirty="0"/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457200" y="1828800"/>
            <a:ext cx="8507413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en-US" altLang="zh-CN" sz="2600" b="1" dirty="0"/>
              <a:t>[</a:t>
            </a:r>
            <a:r>
              <a:rPr lang="zh-CN" altLang="en-US" sz="2600" b="1" dirty="0"/>
              <a:t>例</a:t>
            </a:r>
            <a:r>
              <a:rPr lang="en-US" altLang="zh-CN" sz="2600" b="1" dirty="0"/>
              <a:t>5] </a:t>
            </a:r>
            <a:r>
              <a:rPr lang="zh-CN" altLang="en-US" sz="2600" b="1" dirty="0"/>
              <a:t>关系模式</a:t>
            </a:r>
            <a:r>
              <a:rPr lang="en-US" altLang="zh-CN" sz="2600" b="1" dirty="0"/>
              <a:t>C</a:t>
            </a:r>
            <a:r>
              <a:rPr lang="zh-CN" altLang="en-US" sz="2600" b="1" dirty="0"/>
              <a:t>（</a:t>
            </a:r>
            <a:r>
              <a:rPr lang="en-US" altLang="zh-CN" sz="2600" b="1" dirty="0"/>
              <a:t>Cno</a:t>
            </a:r>
            <a:r>
              <a:rPr lang="zh-CN" altLang="en-US" sz="2600" b="1" dirty="0"/>
              <a:t>，</a:t>
            </a:r>
            <a:r>
              <a:rPr lang="en-US" altLang="zh-CN" sz="2600" b="1" dirty="0"/>
              <a:t>Cname</a:t>
            </a:r>
            <a:r>
              <a:rPr lang="zh-CN" altLang="en-US" sz="2600" b="1" dirty="0"/>
              <a:t>，</a:t>
            </a:r>
            <a:r>
              <a:rPr lang="en-US" altLang="zh-CN" sz="2600" b="1" dirty="0"/>
              <a:t>Pcno</a:t>
            </a:r>
            <a:r>
              <a:rPr lang="zh-CN" altLang="en-US" sz="2600" b="1" dirty="0"/>
              <a:t>）</a:t>
            </a:r>
            <a:endParaRPr lang="zh-CN" altLang="en-US" sz="2600" b="1" dirty="0"/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/>
              <a:t>C∈3NF</a:t>
            </a:r>
            <a:endParaRPr lang="en-US" altLang="zh-CN" sz="2400" b="1" dirty="0"/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/>
              <a:t>C∈BCNF</a:t>
            </a:r>
            <a:endParaRPr lang="en-US" altLang="zh-CN" sz="2400" b="1" dirty="0"/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endParaRPr lang="en-US" altLang="zh-CN" sz="2400" b="1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600" b="1" dirty="0"/>
              <a:t>[</a:t>
            </a:r>
            <a:r>
              <a:rPr lang="zh-CN" altLang="en-US" sz="2600" b="1" dirty="0"/>
              <a:t>例</a:t>
            </a:r>
            <a:r>
              <a:rPr lang="en-US" altLang="zh-CN" sz="2600" b="1" dirty="0"/>
              <a:t>6]  </a:t>
            </a:r>
            <a:r>
              <a:rPr lang="zh-CN" altLang="en-US" sz="2600" b="1" dirty="0"/>
              <a:t>关系模式</a:t>
            </a:r>
            <a:r>
              <a:rPr lang="en-US" altLang="zh-CN" sz="2600" b="1" dirty="0"/>
              <a:t>S</a:t>
            </a:r>
            <a:r>
              <a:rPr lang="zh-CN" altLang="en-US" sz="2600" b="1" dirty="0"/>
              <a:t>（</a:t>
            </a:r>
            <a:r>
              <a:rPr lang="en-US" altLang="zh-CN" sz="2600" b="1" dirty="0"/>
              <a:t>Sno</a:t>
            </a:r>
            <a:r>
              <a:rPr lang="zh-CN" altLang="en-US" sz="2600" b="1" dirty="0"/>
              <a:t>，</a:t>
            </a:r>
            <a:r>
              <a:rPr lang="en-US" altLang="zh-CN" sz="2600" b="1" dirty="0"/>
              <a:t>Sname</a:t>
            </a:r>
            <a:r>
              <a:rPr lang="zh-CN" altLang="en-US" sz="2600" b="1" dirty="0"/>
              <a:t>，</a:t>
            </a:r>
            <a:r>
              <a:rPr lang="en-US" altLang="zh-CN" sz="2600" b="1" dirty="0"/>
              <a:t>Sdept</a:t>
            </a:r>
            <a:r>
              <a:rPr lang="zh-CN" altLang="en-US" sz="2600" b="1" dirty="0"/>
              <a:t>，</a:t>
            </a:r>
            <a:r>
              <a:rPr lang="en-US" altLang="zh-CN" sz="2600" b="1" dirty="0"/>
              <a:t>Sage</a:t>
            </a:r>
            <a:r>
              <a:rPr lang="zh-CN" altLang="en-US" sz="2600" b="1" dirty="0"/>
              <a:t>）</a:t>
            </a:r>
            <a:endParaRPr lang="zh-CN" altLang="en-US" sz="2600" b="1" dirty="0"/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/>
              <a:t>假定</a:t>
            </a:r>
            <a:r>
              <a:rPr lang="en-US" altLang="zh-CN" sz="2400" b="1" dirty="0"/>
              <a:t>S</a:t>
            </a:r>
            <a:r>
              <a:rPr lang="zh-CN" altLang="en-US" sz="2400" b="1" dirty="0"/>
              <a:t>有两个码</a:t>
            </a:r>
            <a:r>
              <a:rPr lang="en-US" altLang="zh-CN" sz="2400" b="1" dirty="0"/>
              <a:t>Sno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Sname</a:t>
            </a:r>
            <a:endParaRPr lang="en-US" altLang="zh-CN" sz="2400" b="1" dirty="0"/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/>
              <a:t>S∈3NF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/>
              <a:t>S ∈ BCNF</a:t>
            </a:r>
            <a:endParaRPr lang="en-US" altLang="zh-CN" sz="2400" b="1" dirty="0"/>
          </a:p>
        </p:txBody>
      </p:sp>
      <p:sp>
        <p:nvSpPr>
          <p:cNvPr id="71684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BCNF</a:t>
            </a:r>
            <a:r>
              <a:rPr lang="zh-CN" altLang="en-US" sz="4000" dirty="0"/>
              <a:t>（续）</a:t>
            </a:r>
            <a:endParaRPr lang="zh-CN" altLang="en-US" sz="4000" dirty="0"/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600" b="1" dirty="0"/>
              <a:t>［例</a:t>
            </a:r>
            <a:r>
              <a:rPr lang="en-US" altLang="zh-CN" sz="2600" b="1" dirty="0"/>
              <a:t>7</a:t>
            </a:r>
            <a:r>
              <a:rPr lang="zh-CN" altLang="en-US" sz="2600" b="1" dirty="0"/>
              <a:t>］关系模式</a:t>
            </a:r>
            <a:r>
              <a:rPr lang="en-US" altLang="zh-CN" sz="2600" b="1" dirty="0"/>
              <a:t>SJP</a:t>
            </a:r>
            <a:r>
              <a:rPr lang="zh-CN" altLang="en-US" sz="2600" b="1" dirty="0"/>
              <a:t>（</a:t>
            </a:r>
            <a:r>
              <a:rPr lang="en-US" altLang="zh-CN" sz="2600" b="1" dirty="0"/>
              <a:t>S</a:t>
            </a:r>
            <a:r>
              <a:rPr lang="zh-CN" altLang="en-US" sz="2600" b="1" dirty="0"/>
              <a:t>，</a:t>
            </a:r>
            <a:r>
              <a:rPr lang="en-US" altLang="zh-CN" sz="2600" b="1" dirty="0"/>
              <a:t>J</a:t>
            </a:r>
            <a:r>
              <a:rPr lang="zh-CN" altLang="en-US" sz="2600" b="1" dirty="0"/>
              <a:t>，</a:t>
            </a:r>
            <a:r>
              <a:rPr lang="en-US" altLang="zh-CN" sz="2600" b="1" dirty="0"/>
              <a:t>P</a:t>
            </a:r>
            <a:r>
              <a:rPr lang="zh-CN" altLang="en-US" sz="2600" b="1" dirty="0"/>
              <a:t>）</a:t>
            </a:r>
            <a:r>
              <a:rPr lang="en-US" altLang="zh-CN" sz="2600" b="1" dirty="0"/>
              <a:t>(</a:t>
            </a:r>
            <a:r>
              <a:rPr lang="zh-CN" altLang="en-US" sz="2600" b="1" dirty="0"/>
              <a:t>学生、课程、名次</a:t>
            </a:r>
            <a:r>
              <a:rPr lang="en-US" altLang="zh-CN" sz="2600" b="1" dirty="0"/>
              <a:t>)</a:t>
            </a:r>
            <a:endParaRPr lang="en-US" altLang="zh-CN" sz="2600" b="1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600" b="1" dirty="0"/>
          </a:p>
          <a:p>
            <a:pPr lvl="2" eaLnBrk="1" hangingPunct="1">
              <a:lnSpc>
                <a:spcPct val="140000"/>
              </a:lnSpc>
              <a:buClr>
                <a:schemeClr val="accent1"/>
              </a:buClr>
            </a:pPr>
            <a:r>
              <a:rPr lang="zh-CN" altLang="en-US" sz="2200" b="1" dirty="0"/>
              <a:t>函数依赖：（</a:t>
            </a:r>
            <a:r>
              <a:rPr lang="en-US" altLang="zh-CN" sz="2200" b="1" dirty="0"/>
              <a:t>S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J</a:t>
            </a:r>
            <a:r>
              <a:rPr lang="zh-CN" altLang="en-US" sz="2200" b="1" dirty="0"/>
              <a:t>）→</a:t>
            </a:r>
            <a:r>
              <a:rPr lang="en-US" altLang="zh-CN" sz="2200" b="1" dirty="0"/>
              <a:t>P</a:t>
            </a:r>
            <a:r>
              <a:rPr lang="zh-CN" altLang="en-US" sz="2200" b="1" dirty="0"/>
              <a:t>；</a:t>
            </a:r>
            <a:r>
              <a:rPr lang="en-US" altLang="zh-CN" sz="2200" b="1" dirty="0"/>
              <a:t>(J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P</a:t>
            </a:r>
            <a:r>
              <a:rPr lang="zh-CN" altLang="en-US" sz="2200" b="1" dirty="0"/>
              <a:t>）→</a:t>
            </a:r>
            <a:r>
              <a:rPr lang="en-US" altLang="zh-CN" sz="2200" b="1" dirty="0"/>
              <a:t>S</a:t>
            </a:r>
            <a:endParaRPr lang="en-US" altLang="zh-CN" sz="2200" b="1" dirty="0"/>
          </a:p>
          <a:p>
            <a:pPr lvl="2" eaLnBrk="1" hangingPunct="1">
              <a:lnSpc>
                <a:spcPct val="140000"/>
              </a:lnSpc>
              <a:buClr>
                <a:schemeClr val="accent1"/>
              </a:buClr>
            </a:pPr>
            <a:r>
              <a:rPr lang="zh-CN" altLang="en-US" sz="2200" b="1" dirty="0"/>
              <a:t>（</a:t>
            </a:r>
            <a:r>
              <a:rPr lang="en-US" altLang="zh-CN" sz="2200" b="1" dirty="0"/>
              <a:t>S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J</a:t>
            </a:r>
            <a:r>
              <a:rPr lang="zh-CN" altLang="en-US" sz="2200" b="1" dirty="0"/>
              <a:t>）与（</a:t>
            </a:r>
            <a:r>
              <a:rPr lang="en-US" altLang="zh-CN" sz="2200" b="1" dirty="0"/>
              <a:t>J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P</a:t>
            </a:r>
            <a:r>
              <a:rPr lang="zh-CN" altLang="en-US" sz="2200" b="1" dirty="0"/>
              <a:t>）都可以作为候选码</a:t>
            </a:r>
            <a:r>
              <a:rPr lang="en-US" altLang="zh-CN" sz="2200" b="1" dirty="0"/>
              <a:t>,</a:t>
            </a:r>
            <a:r>
              <a:rPr lang="zh-CN" altLang="en-US" sz="2200" b="1" dirty="0"/>
              <a:t>属性相交</a:t>
            </a:r>
            <a:endParaRPr lang="zh-CN" altLang="en-US" sz="2200" b="1" dirty="0"/>
          </a:p>
          <a:p>
            <a:pPr lvl="2" eaLnBrk="1" hangingPunct="1">
              <a:lnSpc>
                <a:spcPct val="140000"/>
              </a:lnSpc>
              <a:buClr>
                <a:schemeClr val="accent1"/>
              </a:buClr>
            </a:pPr>
            <a:r>
              <a:rPr lang="en-US" altLang="zh-CN" sz="2200" b="1" dirty="0"/>
              <a:t>SJP∈3NF</a:t>
            </a:r>
            <a:r>
              <a:rPr lang="zh-CN" altLang="en-US" sz="2200" b="1" dirty="0"/>
              <a:t>，</a:t>
            </a:r>
            <a:endParaRPr lang="zh-CN" altLang="en-US" sz="2200" b="1" dirty="0"/>
          </a:p>
          <a:p>
            <a:pPr lvl="2" eaLnBrk="1" hangingPunct="1">
              <a:lnSpc>
                <a:spcPct val="140000"/>
              </a:lnSpc>
              <a:buClr>
                <a:schemeClr val="accent1"/>
              </a:buClr>
            </a:pPr>
            <a:r>
              <a:rPr lang="en-US" altLang="zh-CN" sz="2200" b="1" dirty="0"/>
              <a:t>SJP∈BCNF</a:t>
            </a:r>
            <a:endParaRPr lang="en-US" altLang="zh-CN" sz="2200" b="1" dirty="0"/>
          </a:p>
        </p:txBody>
      </p:sp>
      <p:sp>
        <p:nvSpPr>
          <p:cNvPr id="73732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BCNF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762000" y="1700213"/>
            <a:ext cx="7772400" cy="35575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2800" b="1" dirty="0"/>
              <a:t>[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8]</a:t>
            </a:r>
            <a:r>
              <a:rPr lang="zh-CN" altLang="en-US" sz="2800" b="1" dirty="0"/>
              <a:t>在关系模式</a:t>
            </a:r>
            <a:r>
              <a:rPr lang="en-US" altLang="zh-CN" sz="2800" b="1" dirty="0"/>
              <a:t>STJ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S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T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J</a:t>
            </a:r>
            <a:r>
              <a:rPr lang="zh-CN" altLang="en-US" sz="2800" b="1" dirty="0"/>
              <a:t>）中，</a:t>
            </a:r>
            <a:r>
              <a:rPr lang="en-US" altLang="zh-CN" sz="2800" b="1" dirty="0"/>
              <a:t>S</a:t>
            </a:r>
            <a:r>
              <a:rPr lang="zh-CN" altLang="en-US" sz="2800" b="1" dirty="0"/>
              <a:t>表示学生，</a:t>
            </a:r>
            <a:r>
              <a:rPr lang="en-US" altLang="zh-CN" sz="2800" b="1" dirty="0"/>
              <a:t>T</a:t>
            </a:r>
            <a:r>
              <a:rPr lang="zh-CN" altLang="en-US" sz="2800" b="1" dirty="0"/>
              <a:t>表示教师，</a:t>
            </a:r>
            <a:r>
              <a:rPr lang="en-US" altLang="zh-CN" sz="2800" b="1" dirty="0"/>
              <a:t>J</a:t>
            </a:r>
            <a:r>
              <a:rPr lang="zh-CN" altLang="en-US" sz="2800" b="1" dirty="0"/>
              <a:t>表示课程。</a:t>
            </a:r>
            <a:endParaRPr lang="zh-CN" altLang="en-US" sz="2800" b="1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3000" b="1" dirty="0"/>
              <a:t>假设：</a:t>
            </a:r>
            <a:endParaRPr lang="zh-CN" altLang="en-US" sz="3000" b="1" dirty="0"/>
          </a:p>
          <a:p>
            <a:pPr lvl="2" eaLnBrk="1" hangingPunct="1">
              <a:lnSpc>
                <a:spcPct val="110000"/>
              </a:lnSpc>
            </a:pPr>
            <a:r>
              <a:rPr lang="zh-CN" altLang="en-US" sz="2600" b="1" dirty="0"/>
              <a:t>每个教师只教一门课；每门课有多个教师；一个学生选择一门课就对应一个固定教师</a:t>
            </a:r>
            <a:endParaRPr lang="zh-CN" altLang="en-US" sz="2600" b="1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3000" b="1" dirty="0"/>
              <a:t>函数依赖：</a:t>
            </a:r>
            <a:endParaRPr lang="zh-CN" altLang="en-US" sz="3000" b="1" dirty="0"/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3000" b="1" dirty="0"/>
              <a:t>          </a:t>
            </a:r>
            <a:r>
              <a:rPr lang="en-US" altLang="zh-CN" sz="3000" b="1" dirty="0"/>
              <a:t>(S</a:t>
            </a:r>
            <a:r>
              <a:rPr lang="zh-CN" altLang="en-US" sz="3000" b="1" dirty="0"/>
              <a:t>，</a:t>
            </a:r>
            <a:r>
              <a:rPr lang="en-US" altLang="zh-CN" sz="3000" b="1" dirty="0"/>
              <a:t>J)→T</a:t>
            </a:r>
            <a:r>
              <a:rPr lang="zh-CN" altLang="en-US" sz="3000" b="1" dirty="0"/>
              <a:t>，</a:t>
            </a:r>
            <a:r>
              <a:rPr lang="en-US" altLang="zh-CN" sz="3000" b="1" dirty="0"/>
              <a:t>(S</a:t>
            </a:r>
            <a:r>
              <a:rPr lang="zh-CN" altLang="en-US" sz="3000" b="1" dirty="0"/>
              <a:t>，</a:t>
            </a:r>
            <a:r>
              <a:rPr lang="en-US" altLang="zh-CN" sz="3000" b="1" dirty="0"/>
              <a:t>T)→J</a:t>
            </a:r>
            <a:r>
              <a:rPr lang="zh-CN" altLang="en-US" sz="3000" b="1" dirty="0"/>
              <a:t>，</a:t>
            </a:r>
            <a:r>
              <a:rPr lang="en-US" altLang="zh-CN" sz="3000" b="1" dirty="0"/>
              <a:t>T→J</a:t>
            </a:r>
            <a:endParaRPr lang="en-US" altLang="zh-CN" sz="3000" b="1" dirty="0"/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sz="3000" b="1" dirty="0"/>
              <a:t>(S</a:t>
            </a:r>
            <a:r>
              <a:rPr lang="zh-CN" altLang="en-US" sz="3000" b="1" dirty="0"/>
              <a:t>，</a:t>
            </a:r>
            <a:r>
              <a:rPr lang="en-US" altLang="zh-CN" sz="3000" b="1" dirty="0"/>
              <a:t>J)</a:t>
            </a:r>
            <a:r>
              <a:rPr lang="zh-CN" altLang="en-US" sz="3000" b="1" dirty="0"/>
              <a:t>和</a:t>
            </a:r>
            <a:r>
              <a:rPr lang="en-US" altLang="zh-CN" sz="3000" b="1" dirty="0"/>
              <a:t>(S</a:t>
            </a:r>
            <a:r>
              <a:rPr lang="zh-CN" altLang="en-US" sz="3000" b="1" dirty="0"/>
              <a:t>，</a:t>
            </a:r>
            <a:r>
              <a:rPr lang="en-US" altLang="zh-CN" sz="3000" b="1" dirty="0"/>
              <a:t>T)</a:t>
            </a:r>
            <a:r>
              <a:rPr lang="zh-CN" altLang="en-US" sz="3000" b="1" dirty="0"/>
              <a:t>都是候选码</a:t>
            </a:r>
            <a:endParaRPr lang="zh-CN" altLang="en-US" sz="2400" b="1" dirty="0"/>
          </a:p>
        </p:txBody>
      </p:sp>
      <p:sp>
        <p:nvSpPr>
          <p:cNvPr id="74756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 BCNF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7577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75780" name="Text Box 14"/>
          <p:cNvSpPr txBox="1"/>
          <p:nvPr/>
        </p:nvSpPr>
        <p:spPr>
          <a:xfrm>
            <a:off x="6188075" y="3021013"/>
            <a:ext cx="538163" cy="504825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J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75781" name="Group 18"/>
          <p:cNvGrpSpPr/>
          <p:nvPr/>
        </p:nvGrpSpPr>
        <p:grpSpPr>
          <a:xfrm>
            <a:off x="2051050" y="2349500"/>
            <a:ext cx="4137025" cy="2951163"/>
            <a:chOff x="1292" y="1480"/>
            <a:chExt cx="2606" cy="1859"/>
          </a:xfrm>
        </p:grpSpPr>
        <p:sp>
          <p:nvSpPr>
            <p:cNvPr id="75783" name="Rectangle 5"/>
            <p:cNvSpPr/>
            <p:nvPr/>
          </p:nvSpPr>
          <p:spPr>
            <a:xfrm>
              <a:off x="1292" y="1480"/>
              <a:ext cx="567" cy="1269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75784" name="Text Box 6"/>
            <p:cNvSpPr txBox="1"/>
            <p:nvPr/>
          </p:nvSpPr>
          <p:spPr>
            <a:xfrm>
              <a:off x="1405" y="1691"/>
              <a:ext cx="340" cy="318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5785" name="Text Box 7"/>
            <p:cNvSpPr txBox="1"/>
            <p:nvPr/>
          </p:nvSpPr>
          <p:spPr>
            <a:xfrm>
              <a:off x="1405" y="2221"/>
              <a:ext cx="340" cy="31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J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5786" name="Text Box 8"/>
            <p:cNvSpPr txBox="1"/>
            <p:nvPr/>
          </p:nvSpPr>
          <p:spPr>
            <a:xfrm>
              <a:off x="2085" y="1903"/>
              <a:ext cx="340" cy="318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T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5787" name="Line 9"/>
            <p:cNvSpPr/>
            <p:nvPr/>
          </p:nvSpPr>
          <p:spPr>
            <a:xfrm>
              <a:off x="1859" y="2009"/>
              <a:ext cx="22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5788" name="Line 10"/>
            <p:cNvSpPr/>
            <p:nvPr/>
          </p:nvSpPr>
          <p:spPr>
            <a:xfrm flipH="1">
              <a:off x="1745" y="2115"/>
              <a:ext cx="340" cy="317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5789" name="Rectangle 11"/>
            <p:cNvSpPr/>
            <p:nvPr/>
          </p:nvSpPr>
          <p:spPr>
            <a:xfrm>
              <a:off x="3104" y="1480"/>
              <a:ext cx="566" cy="1269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75790" name="Text Box 12"/>
            <p:cNvSpPr txBox="1"/>
            <p:nvPr/>
          </p:nvSpPr>
          <p:spPr>
            <a:xfrm>
              <a:off x="3218" y="1691"/>
              <a:ext cx="339" cy="318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5791" name="Text Box 13"/>
            <p:cNvSpPr txBox="1"/>
            <p:nvPr/>
          </p:nvSpPr>
          <p:spPr>
            <a:xfrm>
              <a:off x="3218" y="2221"/>
              <a:ext cx="339" cy="316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T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5792" name="Line 15"/>
            <p:cNvSpPr/>
            <p:nvPr/>
          </p:nvSpPr>
          <p:spPr>
            <a:xfrm>
              <a:off x="3670" y="2009"/>
              <a:ext cx="22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5793" name="Line 16"/>
            <p:cNvSpPr/>
            <p:nvPr/>
          </p:nvSpPr>
          <p:spPr>
            <a:xfrm flipH="1">
              <a:off x="3557" y="2115"/>
              <a:ext cx="341" cy="317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75794" name="Text Box 17"/>
            <p:cNvSpPr txBox="1"/>
            <p:nvPr/>
          </p:nvSpPr>
          <p:spPr>
            <a:xfrm>
              <a:off x="1973" y="3022"/>
              <a:ext cx="1315" cy="317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STJ</a:t>
              </a:r>
              <a:r>
                <a:rPr lang="zh-CN" altLang="en-US" sz="1800" b="1" dirty="0">
                  <a:latin typeface="Times New Roman" panose="02020603050405020304" pitchFamily="18" charset="0"/>
                </a:rPr>
                <a:t>中的函数依赖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5782" name="灯片编号占位符 19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BCNF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1066800" y="1600200"/>
            <a:ext cx="7772400" cy="41148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40000"/>
              </a:lnSpc>
              <a:buClr>
                <a:schemeClr val="accent1"/>
              </a:buClr>
            </a:pPr>
            <a:r>
              <a:rPr lang="en-US" altLang="zh-CN" dirty="0"/>
              <a:t>STJ∈3NF</a:t>
            </a:r>
            <a:r>
              <a:rPr lang="en-US" altLang="zh-CN" dirty="0">
                <a:latin typeface="Courier New" panose="02070309020205020404" pitchFamily="49" charset="0"/>
              </a:rPr>
              <a:t> 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没有任何非主属性对码传递依赖或部分依赖</a:t>
            </a:r>
            <a:r>
              <a:rPr lang="zh-CN" altLang="en-US" dirty="0">
                <a:latin typeface="Courier New" panose="02070309020205020404" pitchFamily="49" charset="0"/>
              </a:rPr>
              <a:t> 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  <a:buClr>
                <a:schemeClr val="accent1"/>
              </a:buClr>
            </a:pPr>
            <a:r>
              <a:rPr lang="en-US" altLang="zh-CN" dirty="0"/>
              <a:t>STJ∈BCNF</a:t>
            </a:r>
            <a:endParaRPr lang="en-US" altLang="zh-CN" dirty="0"/>
          </a:p>
          <a:p>
            <a:pPr lvl="1" eaLnBrk="1" hangingPunct="1">
              <a:lnSpc>
                <a:spcPct val="140000"/>
              </a:lnSpc>
            </a:pPr>
            <a:r>
              <a:rPr lang="en-US" altLang="zh-CN" dirty="0"/>
              <a:t>T</a:t>
            </a:r>
            <a:r>
              <a:rPr lang="zh-CN" altLang="en-US" dirty="0"/>
              <a:t>是决定因素，</a:t>
            </a:r>
            <a:r>
              <a:rPr lang="en-US" altLang="zh-CN" dirty="0"/>
              <a:t>T</a:t>
            </a:r>
            <a:r>
              <a:rPr lang="zh-CN" altLang="en-US" dirty="0"/>
              <a:t>不包含码</a:t>
            </a:r>
            <a:endParaRPr lang="zh-CN" altLang="en-US" sz="3200" dirty="0"/>
          </a:p>
        </p:txBody>
      </p:sp>
      <p:sp>
        <p:nvSpPr>
          <p:cNvPr id="76804" name="Line 4"/>
          <p:cNvSpPr/>
          <p:nvPr/>
        </p:nvSpPr>
        <p:spPr>
          <a:xfrm>
            <a:off x="2411413" y="3933825"/>
            <a:ext cx="142875" cy="431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805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BCNF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914400" y="1981200"/>
            <a:ext cx="7772400" cy="3557588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accent1"/>
              </a:buClr>
            </a:pPr>
            <a:r>
              <a:rPr lang="zh-CN" altLang="en-US" sz="3000" dirty="0"/>
              <a:t>解决方法：将</a:t>
            </a:r>
            <a:r>
              <a:rPr lang="en-US" altLang="zh-CN" sz="3000" dirty="0"/>
              <a:t>STJ</a:t>
            </a:r>
            <a:r>
              <a:rPr lang="zh-CN" altLang="en-US" sz="3000" dirty="0"/>
              <a:t>分解为二个关系模式：</a:t>
            </a:r>
            <a:endParaRPr lang="zh-CN" altLang="en-US" sz="3000" dirty="0"/>
          </a:p>
          <a:p>
            <a:pPr eaLnBrk="1" hangingPunct="1">
              <a:buNone/>
            </a:pPr>
            <a:r>
              <a:rPr lang="zh-CN" altLang="en-US" sz="3000" dirty="0"/>
              <a:t>    </a:t>
            </a:r>
            <a:r>
              <a:rPr lang="en-US" altLang="zh-CN" sz="3000" dirty="0"/>
              <a:t>ST(S</a:t>
            </a:r>
            <a:r>
              <a:rPr lang="zh-CN" altLang="en-US" sz="3000" dirty="0"/>
              <a:t>，</a:t>
            </a:r>
            <a:r>
              <a:rPr lang="en-US" altLang="zh-CN" sz="3000" dirty="0"/>
              <a:t>T) ∈ BCNF</a:t>
            </a:r>
            <a:r>
              <a:rPr lang="zh-CN" altLang="en-US" sz="3000" dirty="0"/>
              <a:t>， </a:t>
            </a:r>
            <a:r>
              <a:rPr lang="en-US" altLang="zh-CN" sz="3000" dirty="0"/>
              <a:t>TJ(T</a:t>
            </a:r>
            <a:r>
              <a:rPr lang="zh-CN" altLang="en-US" sz="3000" dirty="0"/>
              <a:t>，</a:t>
            </a:r>
            <a:r>
              <a:rPr lang="en-US" altLang="zh-CN" sz="3000" dirty="0"/>
              <a:t>J)∈ BCNF</a:t>
            </a:r>
            <a:endParaRPr lang="en-US" altLang="zh-CN" sz="3000" dirty="0"/>
          </a:p>
          <a:p>
            <a:pPr eaLnBrk="1" hangingPunct="1">
              <a:buNone/>
            </a:pPr>
            <a:endParaRPr lang="en-US" altLang="zh-CN" sz="3000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/>
              <a:t>   </a:t>
            </a:r>
            <a:endParaRPr lang="en-US" altLang="zh-CN" sz="28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600" b="1" dirty="0"/>
              <a:t>没有</a:t>
            </a:r>
            <a:r>
              <a:rPr lang="zh-CN" altLang="en-US" sz="2600" b="1" dirty="0">
                <a:solidFill>
                  <a:srgbClr val="6600FF"/>
                </a:solidFill>
              </a:rPr>
              <a:t>任何属性</a:t>
            </a:r>
            <a:r>
              <a:rPr lang="zh-CN" altLang="en-US" sz="2600" b="1" dirty="0"/>
              <a:t>对码的部分函数依赖和传递函数依赖</a:t>
            </a:r>
            <a:endParaRPr lang="zh-CN" altLang="en-US" sz="2600" b="1" dirty="0"/>
          </a:p>
        </p:txBody>
      </p:sp>
      <p:grpSp>
        <p:nvGrpSpPr>
          <p:cNvPr id="77828" name="Group 4"/>
          <p:cNvGrpSpPr/>
          <p:nvPr/>
        </p:nvGrpSpPr>
        <p:grpSpPr>
          <a:xfrm>
            <a:off x="1476375" y="3497263"/>
            <a:ext cx="5861050" cy="2163762"/>
            <a:chOff x="1008" y="1728"/>
            <a:chExt cx="3984" cy="1411"/>
          </a:xfrm>
        </p:grpSpPr>
        <p:sp>
          <p:nvSpPr>
            <p:cNvPr id="77830" name="Text Box 5"/>
            <p:cNvSpPr txBox="1"/>
            <p:nvPr/>
          </p:nvSpPr>
          <p:spPr>
            <a:xfrm>
              <a:off x="1296" y="1968"/>
              <a:ext cx="427" cy="439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S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7831" name="Text Box 6"/>
            <p:cNvSpPr txBox="1"/>
            <p:nvPr/>
          </p:nvSpPr>
          <p:spPr>
            <a:xfrm>
              <a:off x="2291" y="1968"/>
              <a:ext cx="426" cy="439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T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7832" name="Text Box 7"/>
            <p:cNvSpPr txBox="1"/>
            <p:nvPr/>
          </p:nvSpPr>
          <p:spPr>
            <a:xfrm>
              <a:off x="1723" y="2700"/>
              <a:ext cx="568" cy="439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ST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7833" name="Text Box 8"/>
            <p:cNvSpPr txBox="1"/>
            <p:nvPr/>
          </p:nvSpPr>
          <p:spPr>
            <a:xfrm>
              <a:off x="3428" y="1968"/>
              <a:ext cx="427" cy="439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T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7834" name="Text Box 9"/>
            <p:cNvSpPr txBox="1"/>
            <p:nvPr/>
          </p:nvSpPr>
          <p:spPr>
            <a:xfrm>
              <a:off x="4565" y="1968"/>
              <a:ext cx="427" cy="439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J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7835" name="Line 10"/>
            <p:cNvSpPr/>
            <p:nvPr/>
          </p:nvSpPr>
          <p:spPr>
            <a:xfrm>
              <a:off x="3855" y="2114"/>
              <a:ext cx="710" cy="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7836" name="Text Box 11"/>
            <p:cNvSpPr txBox="1"/>
            <p:nvPr/>
          </p:nvSpPr>
          <p:spPr>
            <a:xfrm>
              <a:off x="3997" y="2700"/>
              <a:ext cx="568" cy="439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TJ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7837" name="Rectangle 12"/>
            <p:cNvSpPr/>
            <p:nvPr/>
          </p:nvSpPr>
          <p:spPr>
            <a:xfrm>
              <a:off x="1008" y="1728"/>
              <a:ext cx="1872" cy="86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sp>
        <p:nvSpPr>
          <p:cNvPr id="77829" name="灯片编号占位符 14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3NF</a:t>
            </a:r>
            <a:r>
              <a:rPr lang="zh-CN" altLang="en-US" sz="4000" dirty="0"/>
              <a:t>与</a:t>
            </a:r>
            <a:r>
              <a:rPr lang="en-US" altLang="zh-CN" sz="4000" dirty="0"/>
              <a:t>BCNF</a:t>
            </a:r>
            <a:r>
              <a:rPr lang="zh-CN" altLang="en-US" sz="4000" dirty="0"/>
              <a:t>的关系</a:t>
            </a:r>
            <a:endParaRPr lang="zh-CN" altLang="en-US" dirty="0"/>
          </a:p>
        </p:txBody>
      </p:sp>
      <p:sp>
        <p:nvSpPr>
          <p:cNvPr id="78851" name="Rectangle 3"/>
          <p:cNvSpPr>
            <a:spLocks noGrp="1"/>
          </p:cNvSpPr>
          <p:nvPr>
            <p:ph idx="1"/>
          </p:nvPr>
        </p:nvSpPr>
        <p:spPr>
          <a:xfrm>
            <a:off x="684213" y="1906588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dirty="0"/>
              <a:t>R ∈BCNF                R ∈3NF</a:t>
            </a:r>
            <a:endParaRPr lang="en-US" altLang="zh-CN" dirty="0"/>
          </a:p>
          <a:p>
            <a:pPr eaLnBrk="1" hangingPunct="1">
              <a:lnSpc>
                <a:spcPct val="140000"/>
              </a:lnSpc>
            </a:pP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如果</a:t>
            </a:r>
            <a:r>
              <a:rPr lang="en-US" altLang="zh-CN" dirty="0"/>
              <a:t>R∈3NF</a:t>
            </a:r>
            <a:r>
              <a:rPr lang="zh-CN" altLang="en-US" dirty="0"/>
              <a:t>，且</a:t>
            </a:r>
            <a:r>
              <a:rPr lang="en-US" altLang="zh-CN" dirty="0"/>
              <a:t>R</a:t>
            </a:r>
            <a:r>
              <a:rPr lang="zh-CN" altLang="en-US" dirty="0"/>
              <a:t>只有一个候选码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/>
              <a:t>    </a:t>
            </a:r>
            <a:r>
              <a:rPr lang="en-US" altLang="zh-CN" dirty="0"/>
              <a:t>R ∈BCNF                R ∈3NF</a:t>
            </a:r>
            <a:endParaRPr lang="en-US" altLang="zh-CN" sz="2800" dirty="0"/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800" dirty="0"/>
          </a:p>
        </p:txBody>
      </p:sp>
      <p:grpSp>
        <p:nvGrpSpPr>
          <p:cNvPr id="78852" name="Group 4"/>
          <p:cNvGrpSpPr/>
          <p:nvPr/>
        </p:nvGrpSpPr>
        <p:grpSpPr>
          <a:xfrm>
            <a:off x="3203575" y="1989138"/>
            <a:ext cx="1439863" cy="719137"/>
            <a:chOff x="1655" y="3158"/>
            <a:chExt cx="907" cy="453"/>
          </a:xfrm>
        </p:grpSpPr>
        <p:sp>
          <p:nvSpPr>
            <p:cNvPr id="78859" name="Line 5"/>
            <p:cNvSpPr/>
            <p:nvPr/>
          </p:nvSpPr>
          <p:spPr>
            <a:xfrm>
              <a:off x="1655" y="3339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60" name="Line 6"/>
            <p:cNvSpPr/>
            <p:nvPr/>
          </p:nvSpPr>
          <p:spPr>
            <a:xfrm flipH="1">
              <a:off x="1655" y="3430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61" name="Line 7"/>
            <p:cNvSpPr/>
            <p:nvPr/>
          </p:nvSpPr>
          <p:spPr>
            <a:xfrm flipH="1">
              <a:off x="2018" y="3385"/>
              <a:ext cx="136" cy="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2" name="Rectangle 8"/>
            <p:cNvSpPr/>
            <p:nvPr/>
          </p:nvSpPr>
          <p:spPr>
            <a:xfrm>
              <a:off x="1655" y="3158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buClr>
                  <a:schemeClr val="hlink"/>
                </a:buClr>
                <a:buSzTx/>
                <a:buNone/>
              </a:pPr>
              <a:r>
                <a:rPr lang="zh-CN" altLang="en-US" sz="1800" dirty="0"/>
                <a:t>充分</a:t>
              </a:r>
              <a:endParaRPr lang="zh-CN" altLang="en-US" sz="1800" dirty="0"/>
            </a:p>
          </p:txBody>
        </p:sp>
        <p:sp>
          <p:nvSpPr>
            <p:cNvPr id="78863" name="Rectangle 9"/>
            <p:cNvSpPr/>
            <p:nvPr/>
          </p:nvSpPr>
          <p:spPr>
            <a:xfrm>
              <a:off x="1655" y="3475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buClr>
                  <a:schemeClr val="hlink"/>
                </a:buClr>
                <a:buSzTx/>
                <a:buNone/>
              </a:pPr>
              <a:r>
                <a:rPr lang="zh-CN" altLang="en-US" sz="1800" dirty="0"/>
                <a:t>不必要</a:t>
              </a:r>
              <a:endParaRPr lang="zh-CN" altLang="en-US" sz="1800" dirty="0"/>
            </a:p>
          </p:txBody>
        </p:sp>
      </p:grpSp>
      <p:grpSp>
        <p:nvGrpSpPr>
          <p:cNvPr id="78853" name="Group 16"/>
          <p:cNvGrpSpPr/>
          <p:nvPr/>
        </p:nvGrpSpPr>
        <p:grpSpPr>
          <a:xfrm>
            <a:off x="3348038" y="4438650"/>
            <a:ext cx="1439862" cy="719138"/>
            <a:chOff x="2018" y="2568"/>
            <a:chExt cx="907" cy="453"/>
          </a:xfrm>
        </p:grpSpPr>
        <p:sp>
          <p:nvSpPr>
            <p:cNvPr id="78855" name="Line 11"/>
            <p:cNvSpPr/>
            <p:nvPr/>
          </p:nvSpPr>
          <p:spPr>
            <a:xfrm>
              <a:off x="2018" y="2749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56" name="Line 12"/>
            <p:cNvSpPr/>
            <p:nvPr/>
          </p:nvSpPr>
          <p:spPr>
            <a:xfrm flipH="1">
              <a:off x="2018" y="2840"/>
              <a:ext cx="86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57" name="Rectangle 14"/>
            <p:cNvSpPr/>
            <p:nvPr/>
          </p:nvSpPr>
          <p:spPr>
            <a:xfrm>
              <a:off x="2018" y="2568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buClr>
                  <a:schemeClr val="hlink"/>
                </a:buClr>
                <a:buSzTx/>
                <a:buNone/>
              </a:pPr>
              <a:r>
                <a:rPr lang="zh-CN" altLang="en-US" sz="1800" dirty="0"/>
                <a:t>充分</a:t>
              </a:r>
              <a:endParaRPr lang="zh-CN" altLang="en-US" sz="1800" dirty="0"/>
            </a:p>
          </p:txBody>
        </p:sp>
        <p:sp>
          <p:nvSpPr>
            <p:cNvPr id="78858" name="Rectangle 15"/>
            <p:cNvSpPr/>
            <p:nvPr/>
          </p:nvSpPr>
          <p:spPr>
            <a:xfrm>
              <a:off x="2018" y="2885"/>
              <a:ext cx="907" cy="13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lnSpc>
                  <a:spcPct val="90000"/>
                </a:lnSpc>
                <a:buClr>
                  <a:schemeClr val="hlink"/>
                </a:buClr>
                <a:buSzTx/>
                <a:buNone/>
              </a:pPr>
              <a:r>
                <a:rPr lang="zh-CN" altLang="en-US" sz="1800" dirty="0"/>
                <a:t>必要</a:t>
              </a:r>
              <a:endParaRPr lang="zh-CN" altLang="en-US" sz="1800" dirty="0"/>
            </a:p>
          </p:txBody>
        </p:sp>
      </p:grpSp>
      <p:sp>
        <p:nvSpPr>
          <p:cNvPr id="78854" name="灯片编号占位符 1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435975" cy="3886200"/>
          </a:xfrm>
        </p:spPr>
        <p:txBody>
          <a:bodyPr vert="horz" wrap="square" lIns="91440" tIns="45720" rIns="91440" bIns="45720" anchor="t" anchorCtr="0"/>
          <a:p>
            <a:r>
              <a:rPr lang="zh-CN" altLang="en-US" dirty="0"/>
              <a:t>满足</a:t>
            </a:r>
            <a:r>
              <a:rPr lang="en-US" altLang="zh-CN" dirty="0"/>
              <a:t>BCNF</a:t>
            </a:r>
            <a:r>
              <a:rPr lang="zh-CN" altLang="en-US" dirty="0"/>
              <a:t>范式的条件如下：</a:t>
            </a:r>
            <a:endParaRPr lang="en-US" altLang="zh-CN" dirty="0"/>
          </a:p>
          <a:p>
            <a:pPr lvl="1"/>
            <a:r>
              <a:rPr lang="zh-CN" altLang="en-US" dirty="0"/>
              <a:t>所有的非主属性对每一个码都是完全函数依赖 （主关键字里面可能有多个码可以将实体区分）</a:t>
            </a:r>
            <a:endParaRPr lang="en-US" altLang="zh-CN" dirty="0"/>
          </a:p>
          <a:p>
            <a:pPr lvl="1"/>
            <a:r>
              <a:rPr lang="zh-CN" altLang="en-US" dirty="0"/>
              <a:t>所有的主属性对每一个不包含它的码也是完全函数依赖（即所选码与未选择的码之间也是完全函数依赖的）</a:t>
            </a:r>
            <a:endParaRPr lang="en-US" altLang="zh-CN" dirty="0"/>
          </a:p>
          <a:p>
            <a:pPr lvl="1"/>
            <a:r>
              <a:rPr lang="zh-CN" altLang="en-US" dirty="0"/>
              <a:t>没有任何属性完全函数依赖于非码的任何一组属性（即非主属性之间不能函数依赖）</a:t>
            </a:r>
            <a:endParaRPr lang="zh-CN" altLang="en-US" dirty="0"/>
          </a:p>
        </p:txBody>
      </p:sp>
      <p:sp>
        <p:nvSpPr>
          <p:cNvPr id="7987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  </a:t>
            </a:r>
            <a:r>
              <a:rPr lang="zh-CN" altLang="en-US" sz="4000" dirty="0"/>
              <a:t>规范化</a:t>
            </a:r>
            <a:endParaRPr lang="zh-CN" altLang="en-US" sz="4000" dirty="0"/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1042988" y="1981200"/>
            <a:ext cx="7643812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6.2.7  </a:t>
            </a:r>
            <a:r>
              <a:rPr lang="zh-CN" altLang="en-US" sz="2400" b="1" dirty="0">
                <a:solidFill>
                  <a:srgbClr val="3333FF"/>
                </a:solidFill>
              </a:rPr>
              <a:t>多值依赖</a:t>
            </a:r>
            <a:endParaRPr lang="zh-CN" altLang="en-US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  <p:sp>
        <p:nvSpPr>
          <p:cNvPr id="8090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6.2.7 </a:t>
            </a:r>
            <a:r>
              <a:rPr lang="zh-CN" altLang="en-US" sz="4000" dirty="0"/>
              <a:t>多值依赖</a:t>
            </a:r>
            <a:endParaRPr lang="zh-CN" altLang="en-US" sz="4000" dirty="0"/>
          </a:p>
        </p:txBody>
      </p:sp>
      <p:sp>
        <p:nvSpPr>
          <p:cNvPr id="81923" name="Rectangle 3"/>
          <p:cNvSpPr>
            <a:spLocks noGrp="1"/>
          </p:cNvSpPr>
          <p:nvPr>
            <p:ph idx="1"/>
          </p:nvPr>
        </p:nvSpPr>
        <p:spPr>
          <a:xfrm>
            <a:off x="684213" y="1995488"/>
            <a:ext cx="7772400" cy="3556000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b="1" dirty="0"/>
              <a:t>[</a:t>
            </a:r>
            <a:r>
              <a:rPr lang="zh-CN" altLang="en-US" b="1" dirty="0"/>
              <a:t>例</a:t>
            </a:r>
            <a:r>
              <a:rPr lang="en-US" altLang="zh-CN" b="1" dirty="0"/>
              <a:t>9] </a:t>
            </a:r>
            <a:r>
              <a:rPr lang="zh-CN" altLang="en-US" b="1" dirty="0"/>
              <a:t>学校中某一门课程由多个教师讲授，他们使用相同的一套参考书。每个教员可以讲授多门课程，每种参考书可以供多门课程使用。</a:t>
            </a:r>
            <a:endParaRPr lang="zh-CN" altLang="en-US" b="1" dirty="0"/>
          </a:p>
          <a:p>
            <a:pPr lvl="1" eaLnBrk="1" hangingPunct="1">
              <a:lnSpc>
                <a:spcPct val="150000"/>
              </a:lnSpc>
              <a:buNone/>
            </a:pPr>
            <a:endParaRPr lang="zh-CN" altLang="en-US" b="1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b="1" dirty="0"/>
              <a:t>	</a:t>
            </a:r>
            <a:endParaRPr lang="zh-CN" altLang="en-US" b="1" dirty="0"/>
          </a:p>
        </p:txBody>
      </p:sp>
      <p:sp>
        <p:nvSpPr>
          <p:cNvPr id="81924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Text Box 2"/>
          <p:cNvSpPr txBox="1"/>
          <p:nvPr/>
        </p:nvSpPr>
        <p:spPr>
          <a:xfrm>
            <a:off x="3851275" y="573405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vert="eaVer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…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6000" dirty="0">
              <a:latin typeface="Times New Roman" panose="02020603050405020304" pitchFamily="18" charset="0"/>
            </a:endParaRPr>
          </a:p>
        </p:txBody>
      </p:sp>
      <p:sp>
        <p:nvSpPr>
          <p:cNvPr id="82947" name="Text Box 3"/>
          <p:cNvSpPr txBox="1"/>
          <p:nvPr/>
        </p:nvSpPr>
        <p:spPr>
          <a:xfrm>
            <a:off x="1692275" y="5805488"/>
            <a:ext cx="733425" cy="557212"/>
          </a:xfrm>
          <a:prstGeom prst="rect">
            <a:avLst/>
          </a:prstGeom>
          <a:noFill/>
          <a:ln w="9525">
            <a:noFill/>
          </a:ln>
        </p:spPr>
        <p:txBody>
          <a:bodyPr vert="eaVer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…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6000" dirty="0">
              <a:latin typeface="Times New Roman" panose="02020603050405020304" pitchFamily="18" charset="0"/>
            </a:endParaRPr>
          </a:p>
        </p:txBody>
      </p:sp>
      <p:sp>
        <p:nvSpPr>
          <p:cNvPr id="82948" name="Text Box 4"/>
          <p:cNvSpPr txBox="1"/>
          <p:nvPr/>
        </p:nvSpPr>
        <p:spPr>
          <a:xfrm>
            <a:off x="6011863" y="5876925"/>
            <a:ext cx="609600" cy="381000"/>
          </a:xfrm>
          <a:prstGeom prst="rect">
            <a:avLst/>
          </a:prstGeom>
          <a:noFill/>
          <a:ln w="9525">
            <a:noFill/>
          </a:ln>
        </p:spPr>
        <p:txBody>
          <a:bodyPr vert="eaVer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…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82949" name="Group 5"/>
          <p:cNvGrpSpPr/>
          <p:nvPr/>
        </p:nvGrpSpPr>
        <p:grpSpPr>
          <a:xfrm>
            <a:off x="3708400" y="2924175"/>
            <a:ext cx="685800" cy="533400"/>
            <a:chOff x="4266" y="7241"/>
            <a:chExt cx="644" cy="345"/>
          </a:xfrm>
        </p:grpSpPr>
        <p:sp>
          <p:nvSpPr>
            <p:cNvPr id="82987" name="AutoShape 6"/>
            <p:cNvSpPr/>
            <p:nvPr/>
          </p:nvSpPr>
          <p:spPr>
            <a:xfrm>
              <a:off x="4266" y="7249"/>
              <a:ext cx="60" cy="337"/>
            </a:xfrm>
            <a:prstGeom prst="leftBrace">
              <a:avLst>
                <a:gd name="adj1" fmla="val 46805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82988" name="AutoShape 7"/>
            <p:cNvSpPr/>
            <p:nvPr/>
          </p:nvSpPr>
          <p:spPr>
            <a:xfrm rot="10800000">
              <a:off x="4850" y="7241"/>
              <a:ext cx="60" cy="337"/>
            </a:xfrm>
            <a:prstGeom prst="leftBrace">
              <a:avLst>
                <a:gd name="adj1" fmla="val 46805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0" name="Group 8"/>
          <p:cNvGrpSpPr/>
          <p:nvPr/>
        </p:nvGrpSpPr>
        <p:grpSpPr>
          <a:xfrm>
            <a:off x="3665538" y="3989388"/>
            <a:ext cx="762000" cy="447675"/>
            <a:chOff x="4267" y="8180"/>
            <a:chExt cx="644" cy="345"/>
          </a:xfrm>
        </p:grpSpPr>
        <p:sp>
          <p:nvSpPr>
            <p:cNvPr id="82985" name="AutoShape 9"/>
            <p:cNvSpPr/>
            <p:nvPr/>
          </p:nvSpPr>
          <p:spPr>
            <a:xfrm>
              <a:off x="4267" y="8188"/>
              <a:ext cx="60" cy="337"/>
            </a:xfrm>
            <a:prstGeom prst="leftBrace">
              <a:avLst>
                <a:gd name="adj1" fmla="val 46805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82986" name="AutoShape 10"/>
            <p:cNvSpPr/>
            <p:nvPr/>
          </p:nvSpPr>
          <p:spPr>
            <a:xfrm rot="10800000">
              <a:off x="4851" y="8180"/>
              <a:ext cx="60" cy="337"/>
            </a:xfrm>
            <a:prstGeom prst="leftBrace">
              <a:avLst>
                <a:gd name="adj1" fmla="val 46805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1" name="Group 11"/>
          <p:cNvGrpSpPr/>
          <p:nvPr/>
        </p:nvGrpSpPr>
        <p:grpSpPr>
          <a:xfrm>
            <a:off x="3665538" y="4941888"/>
            <a:ext cx="762000" cy="609600"/>
            <a:chOff x="4274" y="9139"/>
            <a:chExt cx="644" cy="345"/>
          </a:xfrm>
        </p:grpSpPr>
        <p:sp>
          <p:nvSpPr>
            <p:cNvPr id="82983" name="AutoShape 12"/>
            <p:cNvSpPr/>
            <p:nvPr/>
          </p:nvSpPr>
          <p:spPr>
            <a:xfrm>
              <a:off x="4274" y="9147"/>
              <a:ext cx="60" cy="337"/>
            </a:xfrm>
            <a:prstGeom prst="leftBrace">
              <a:avLst>
                <a:gd name="adj1" fmla="val 46805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82984" name="AutoShape 13"/>
            <p:cNvSpPr/>
            <p:nvPr/>
          </p:nvSpPr>
          <p:spPr>
            <a:xfrm rot="10800000">
              <a:off x="4858" y="9139"/>
              <a:ext cx="60" cy="337"/>
            </a:xfrm>
            <a:prstGeom prst="leftBrace">
              <a:avLst>
                <a:gd name="adj1" fmla="val 46805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2" name="Group 14"/>
          <p:cNvGrpSpPr/>
          <p:nvPr/>
        </p:nvGrpSpPr>
        <p:grpSpPr>
          <a:xfrm>
            <a:off x="5651500" y="2924175"/>
            <a:ext cx="1371600" cy="838200"/>
            <a:chOff x="5965" y="7255"/>
            <a:chExt cx="1007" cy="619"/>
          </a:xfrm>
        </p:grpSpPr>
        <p:sp>
          <p:nvSpPr>
            <p:cNvPr id="82981" name="AutoShape 15"/>
            <p:cNvSpPr>
              <a:spLocks noChangeAspect="1"/>
            </p:cNvSpPr>
            <p:nvPr/>
          </p:nvSpPr>
          <p:spPr>
            <a:xfrm>
              <a:off x="5965" y="7257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82982" name="AutoShape 16"/>
            <p:cNvSpPr>
              <a:spLocks noChangeAspect="1"/>
            </p:cNvSpPr>
            <p:nvPr/>
          </p:nvSpPr>
          <p:spPr>
            <a:xfrm rot="10800000">
              <a:off x="6891" y="7255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3" name="Group 17"/>
          <p:cNvGrpSpPr/>
          <p:nvPr/>
        </p:nvGrpSpPr>
        <p:grpSpPr>
          <a:xfrm>
            <a:off x="5729288" y="3860800"/>
            <a:ext cx="1219200" cy="838200"/>
            <a:chOff x="5965" y="8198"/>
            <a:chExt cx="959" cy="619"/>
          </a:xfrm>
        </p:grpSpPr>
        <p:sp>
          <p:nvSpPr>
            <p:cNvPr id="82979" name="AutoShape 18"/>
            <p:cNvSpPr>
              <a:spLocks noChangeAspect="1"/>
            </p:cNvSpPr>
            <p:nvPr/>
          </p:nvSpPr>
          <p:spPr>
            <a:xfrm>
              <a:off x="5965" y="8200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82980" name="AutoShape 19"/>
            <p:cNvSpPr>
              <a:spLocks noChangeAspect="1"/>
            </p:cNvSpPr>
            <p:nvPr/>
          </p:nvSpPr>
          <p:spPr>
            <a:xfrm rot="10800000">
              <a:off x="6843" y="8198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4" name="Group 20"/>
          <p:cNvGrpSpPr/>
          <p:nvPr/>
        </p:nvGrpSpPr>
        <p:grpSpPr>
          <a:xfrm>
            <a:off x="5734050" y="4941888"/>
            <a:ext cx="1143000" cy="762000"/>
            <a:chOff x="5988" y="9130"/>
            <a:chExt cx="911" cy="619"/>
          </a:xfrm>
        </p:grpSpPr>
        <p:sp>
          <p:nvSpPr>
            <p:cNvPr id="82977" name="AutoShape 21"/>
            <p:cNvSpPr>
              <a:spLocks noChangeAspect="1"/>
            </p:cNvSpPr>
            <p:nvPr/>
          </p:nvSpPr>
          <p:spPr>
            <a:xfrm>
              <a:off x="5988" y="9132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82978" name="AutoShape 22"/>
            <p:cNvSpPr>
              <a:spLocks noChangeAspect="1"/>
            </p:cNvSpPr>
            <p:nvPr/>
          </p:nvSpPr>
          <p:spPr>
            <a:xfrm rot="10800000">
              <a:off x="6818" y="9130"/>
              <a:ext cx="81" cy="617"/>
            </a:xfrm>
            <a:prstGeom prst="leftBrace">
              <a:avLst>
                <a:gd name="adj1" fmla="val 63477"/>
                <a:gd name="adj2" fmla="val 50000"/>
              </a:avLst>
            </a:prstGeom>
            <a:noFill/>
            <a:ln w="63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5" name="Group 25"/>
          <p:cNvGrpSpPr/>
          <p:nvPr/>
        </p:nvGrpSpPr>
        <p:grpSpPr>
          <a:xfrm>
            <a:off x="1339850" y="2428875"/>
            <a:ext cx="1619250" cy="423863"/>
            <a:chOff x="0" y="0"/>
            <a:chExt cx="596" cy="355"/>
          </a:xfrm>
        </p:grpSpPr>
        <p:sp>
          <p:nvSpPr>
            <p:cNvPr id="82975" name="Rectangle 26"/>
            <p:cNvSpPr/>
            <p:nvPr/>
          </p:nvSpPr>
          <p:spPr>
            <a:xfrm>
              <a:off x="43" y="0"/>
              <a:ext cx="510" cy="35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课  程 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976" name="Rectangle 27"/>
            <p:cNvSpPr/>
            <p:nvPr/>
          </p:nvSpPr>
          <p:spPr>
            <a:xfrm>
              <a:off x="0" y="0"/>
              <a:ext cx="596" cy="355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6" name="Group 28"/>
          <p:cNvGrpSpPr/>
          <p:nvPr/>
        </p:nvGrpSpPr>
        <p:grpSpPr>
          <a:xfrm>
            <a:off x="2959100" y="2428875"/>
            <a:ext cx="2232025" cy="423863"/>
            <a:chOff x="596" y="0"/>
            <a:chExt cx="822" cy="355"/>
          </a:xfrm>
        </p:grpSpPr>
        <p:sp>
          <p:nvSpPr>
            <p:cNvPr id="82973" name="Rectangle 29"/>
            <p:cNvSpPr/>
            <p:nvPr/>
          </p:nvSpPr>
          <p:spPr>
            <a:xfrm>
              <a:off x="639" y="0"/>
              <a:ext cx="736" cy="35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教  员 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974" name="Rectangle 30"/>
            <p:cNvSpPr/>
            <p:nvPr/>
          </p:nvSpPr>
          <p:spPr>
            <a:xfrm>
              <a:off x="596" y="0"/>
              <a:ext cx="822" cy="355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7" name="Group 31"/>
          <p:cNvGrpSpPr/>
          <p:nvPr/>
        </p:nvGrpSpPr>
        <p:grpSpPr>
          <a:xfrm>
            <a:off x="5191125" y="2428875"/>
            <a:ext cx="2319338" cy="423863"/>
            <a:chOff x="1418" y="0"/>
            <a:chExt cx="854" cy="355"/>
          </a:xfrm>
        </p:grpSpPr>
        <p:sp>
          <p:nvSpPr>
            <p:cNvPr id="82971" name="Rectangle 32"/>
            <p:cNvSpPr/>
            <p:nvPr/>
          </p:nvSpPr>
          <p:spPr>
            <a:xfrm>
              <a:off x="1461" y="0"/>
              <a:ext cx="768" cy="35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参 考 书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B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972" name="Rectangle 33"/>
            <p:cNvSpPr/>
            <p:nvPr/>
          </p:nvSpPr>
          <p:spPr>
            <a:xfrm>
              <a:off x="1418" y="0"/>
              <a:ext cx="854" cy="355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8" name="Group 34"/>
          <p:cNvGrpSpPr/>
          <p:nvPr/>
        </p:nvGrpSpPr>
        <p:grpSpPr>
          <a:xfrm>
            <a:off x="1339850" y="2852738"/>
            <a:ext cx="1619250" cy="3522662"/>
            <a:chOff x="0" y="355"/>
            <a:chExt cx="596" cy="1255"/>
          </a:xfrm>
        </p:grpSpPr>
        <p:sp>
          <p:nvSpPr>
            <p:cNvPr id="82969" name="Rectangle 35"/>
            <p:cNvSpPr/>
            <p:nvPr/>
          </p:nvSpPr>
          <p:spPr>
            <a:xfrm>
              <a:off x="43" y="355"/>
              <a:ext cx="510" cy="125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00" b="1" dirty="0">
                  <a:latin typeface="Times New Roman" panose="02020603050405020304" pitchFamily="18" charset="0"/>
                </a:rPr>
                <a:t> </a:t>
              </a:r>
              <a:endParaRPr lang="en-US" altLang="zh-CN" sz="1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00" b="1" dirty="0">
                  <a:latin typeface="Times New Roman" panose="02020603050405020304" pitchFamily="18" charset="0"/>
                </a:rPr>
                <a:t> </a:t>
              </a:r>
              <a:endParaRPr lang="en-US" altLang="zh-CN" sz="1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物理</a:t>
              </a:r>
              <a:br>
                <a:rPr lang="zh-CN" altLang="en-US" sz="2000" b="1" dirty="0">
                  <a:latin typeface="Times New Roman" panose="02020603050405020304" pitchFamily="18" charset="0"/>
                </a:rPr>
              </a:br>
              <a:br>
                <a:rPr lang="zh-CN" altLang="en-US" sz="2000" b="1" dirty="0">
                  <a:latin typeface="Times New Roman" panose="02020603050405020304" pitchFamily="18" charset="0"/>
                </a:rPr>
              </a:b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数学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 </a:t>
              </a:r>
              <a:endParaRPr lang="zh-CN" altLang="en-US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5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计算数学</a:t>
              </a:r>
              <a:endParaRPr lang="zh-CN" altLang="en-US" sz="6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970" name="Rectangle 36"/>
            <p:cNvSpPr/>
            <p:nvPr/>
          </p:nvSpPr>
          <p:spPr>
            <a:xfrm>
              <a:off x="0" y="355"/>
              <a:ext cx="596" cy="1255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59" name="Group 37"/>
          <p:cNvGrpSpPr/>
          <p:nvPr/>
        </p:nvGrpSpPr>
        <p:grpSpPr>
          <a:xfrm>
            <a:off x="2959100" y="2852738"/>
            <a:ext cx="2232025" cy="3522662"/>
            <a:chOff x="596" y="355"/>
            <a:chExt cx="822" cy="1255"/>
          </a:xfrm>
        </p:grpSpPr>
        <p:sp>
          <p:nvSpPr>
            <p:cNvPr id="82967" name="Rectangle 38"/>
            <p:cNvSpPr/>
            <p:nvPr/>
          </p:nvSpPr>
          <p:spPr>
            <a:xfrm>
              <a:off x="639" y="355"/>
              <a:ext cx="736" cy="125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李 勇</a:t>
              </a:r>
              <a:endParaRPr lang="zh-CN" altLang="en-US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王 军</a:t>
              </a:r>
              <a:r>
                <a:rPr lang="zh-CN" altLang="en-US" sz="700" b="1" dirty="0">
                  <a:latin typeface="Times New Roman" panose="02020603050405020304" pitchFamily="18" charset="0"/>
                </a:rPr>
                <a:t> </a:t>
              </a:r>
              <a:endParaRPr lang="zh-CN" altLang="en-US" sz="1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 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李 勇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张 平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500" b="1" dirty="0">
                  <a:latin typeface="Times New Roman" panose="02020603050405020304" pitchFamily="18" charset="0"/>
                </a:rPr>
                <a:t> </a:t>
              </a:r>
              <a:endParaRPr lang="zh-CN" altLang="en-US" sz="5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张 平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   周 峰			</a:t>
              </a:r>
              <a:endParaRPr lang="zh-CN" altLang="en-US" sz="5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968" name="Rectangle 39"/>
            <p:cNvSpPr/>
            <p:nvPr/>
          </p:nvSpPr>
          <p:spPr>
            <a:xfrm>
              <a:off x="596" y="355"/>
              <a:ext cx="822" cy="1255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grpSp>
        <p:nvGrpSpPr>
          <p:cNvPr id="82960" name="Group 40"/>
          <p:cNvGrpSpPr/>
          <p:nvPr/>
        </p:nvGrpSpPr>
        <p:grpSpPr>
          <a:xfrm>
            <a:off x="5191125" y="2852738"/>
            <a:ext cx="2319338" cy="3522662"/>
            <a:chOff x="1418" y="355"/>
            <a:chExt cx="854" cy="1255"/>
          </a:xfrm>
        </p:grpSpPr>
        <p:sp>
          <p:nvSpPr>
            <p:cNvPr id="82965" name="Rectangle 41"/>
            <p:cNvSpPr/>
            <p:nvPr/>
          </p:nvSpPr>
          <p:spPr>
            <a:xfrm>
              <a:off x="1461" y="355"/>
              <a:ext cx="768" cy="125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1800" b="1" dirty="0">
                  <a:latin typeface="Times New Roman" panose="02020603050405020304" pitchFamily="18" charset="0"/>
                </a:rPr>
                <a:t>普通物理学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光学原理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 物理习题集</a:t>
              </a:r>
              <a:endParaRPr lang="zh-CN" altLang="en-US" sz="1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br>
                <a:rPr lang="zh-CN" altLang="en-US" sz="1800" b="1" dirty="0">
                  <a:latin typeface="Times New Roman" panose="02020603050405020304" pitchFamily="18" charset="0"/>
                </a:rPr>
              </a:br>
              <a:r>
                <a:rPr lang="zh-CN" altLang="en-US" sz="1800" b="1" dirty="0">
                  <a:latin typeface="Times New Roman" panose="02020603050405020304" pitchFamily="18" charset="0"/>
                </a:rPr>
                <a:t>数学分析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微分方程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高等代数</a:t>
              </a:r>
              <a:br>
                <a:rPr lang="zh-CN" altLang="en-US" sz="1800" b="1" dirty="0">
                  <a:latin typeface="Times New Roman" panose="02020603050405020304" pitchFamily="18" charset="0"/>
                </a:rPr>
              </a:br>
              <a:endParaRPr lang="zh-CN" altLang="en-US" sz="16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anose="02020603050405020304" pitchFamily="18" charset="0"/>
                </a:rPr>
                <a:t>数学分析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...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…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00" b="1" dirty="0">
                  <a:latin typeface="Times New Roman" panose="02020603050405020304" pitchFamily="18" charset="0"/>
                </a:rPr>
                <a:t> </a:t>
              </a:r>
              <a:endParaRPr lang="en-US" altLang="zh-CN" sz="1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00" b="1" dirty="0">
                  <a:latin typeface="Times New Roman" panose="02020603050405020304" pitchFamily="18" charset="0"/>
                </a:rPr>
                <a:t> </a:t>
              </a:r>
              <a:endParaRPr lang="en-US" altLang="zh-CN" sz="1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00" b="1" dirty="0">
                  <a:latin typeface="Times New Roman" panose="02020603050405020304" pitchFamily="18" charset="0"/>
                </a:rPr>
                <a:t> </a:t>
              </a:r>
              <a:endParaRPr lang="en-US" altLang="zh-CN" sz="1000" b="1" dirty="0">
                <a:latin typeface="Times New Roman" panose="02020603050405020304" pitchFamily="18" charset="0"/>
              </a:endParaRPr>
            </a:p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2966" name="Rectangle 42"/>
            <p:cNvSpPr/>
            <p:nvPr/>
          </p:nvSpPr>
          <p:spPr>
            <a:xfrm>
              <a:off x="1418" y="355"/>
              <a:ext cx="854" cy="1255"/>
            </a:xfrm>
            <a:prstGeom prst="rect">
              <a:avLst/>
            </a:prstGeom>
            <a:noFill/>
            <a:ln w="7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sp>
        <p:nvSpPr>
          <p:cNvPr id="82961" name="Rectangle 43"/>
          <p:cNvSpPr/>
          <p:nvPr/>
        </p:nvSpPr>
        <p:spPr>
          <a:xfrm>
            <a:off x="1331913" y="2420938"/>
            <a:ext cx="6186487" cy="3962400"/>
          </a:xfrm>
          <a:prstGeom prst="rect">
            <a:avLst/>
          </a:prstGeom>
          <a:noFill/>
          <a:ln w="11112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82962" name="Rectangle 45"/>
          <p:cNvSpPr/>
          <p:nvPr/>
        </p:nvSpPr>
        <p:spPr>
          <a:xfrm>
            <a:off x="2525713" y="654050"/>
            <a:ext cx="3040062" cy="579438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多值依赖（续）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63" name="Rectangle 48"/>
          <p:cNvSpPr/>
          <p:nvPr/>
        </p:nvSpPr>
        <p:spPr>
          <a:xfrm>
            <a:off x="827088" y="1682750"/>
            <a:ext cx="4805362" cy="4270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200" b="1" dirty="0">
                <a:latin typeface="Times New Roman" panose="02020603050405020304" pitchFamily="18" charset="0"/>
              </a:rPr>
              <a:t>非规范化关系</a:t>
            </a:r>
            <a:endParaRPr lang="zh-CN" altLang="en-US" sz="2200" b="1" dirty="0">
              <a:latin typeface="Times New Roman" panose="02020603050405020304" pitchFamily="18" charset="0"/>
            </a:endParaRPr>
          </a:p>
        </p:txBody>
      </p:sp>
      <p:sp>
        <p:nvSpPr>
          <p:cNvPr id="82964" name="灯片编号占位符 4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3970" name="Group 2"/>
          <p:cNvGrpSpPr/>
          <p:nvPr/>
        </p:nvGrpSpPr>
        <p:grpSpPr>
          <a:xfrm>
            <a:off x="1619250" y="2133600"/>
            <a:ext cx="5932488" cy="4264025"/>
            <a:chOff x="1344" y="1296"/>
            <a:chExt cx="3888" cy="2881"/>
          </a:xfrm>
        </p:grpSpPr>
        <p:sp>
          <p:nvSpPr>
            <p:cNvPr id="83974" name="Rectangle 3"/>
            <p:cNvSpPr/>
            <p:nvPr/>
          </p:nvSpPr>
          <p:spPr>
            <a:xfrm>
              <a:off x="3936" y="1623"/>
              <a:ext cx="1296" cy="25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普通物理学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光学原理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物理习题集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普通物理学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光学原理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物理习题集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数学分析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微分方程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高等代数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数学分析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微分方程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高等代数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/>
                <a:t>…</a:t>
              </a:r>
              <a:endParaRPr lang="en-US" altLang="zh-CN" sz="2000" b="1" dirty="0"/>
            </a:p>
          </p:txBody>
        </p:sp>
        <p:sp>
          <p:nvSpPr>
            <p:cNvPr id="83975" name="Rectangle 4"/>
            <p:cNvSpPr/>
            <p:nvPr/>
          </p:nvSpPr>
          <p:spPr>
            <a:xfrm>
              <a:off x="2640" y="1623"/>
              <a:ext cx="1296" cy="25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王 军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王 军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王 军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张 平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张 平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张 平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 </a:t>
              </a:r>
              <a:r>
                <a:rPr lang="en-US" altLang="zh-CN" sz="2000" b="1" dirty="0"/>
                <a:t>…</a:t>
              </a:r>
              <a:endParaRPr lang="en-US" altLang="zh-CN" sz="2000" dirty="0"/>
            </a:p>
          </p:txBody>
        </p:sp>
        <p:sp>
          <p:nvSpPr>
            <p:cNvPr id="83976" name="Rectangle 5"/>
            <p:cNvSpPr/>
            <p:nvPr/>
          </p:nvSpPr>
          <p:spPr>
            <a:xfrm>
              <a:off x="1344" y="1623"/>
              <a:ext cx="1296" cy="25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/>
                <a:t>… </a:t>
              </a:r>
              <a:endParaRPr lang="en-US" altLang="zh-CN" sz="2000" b="1" dirty="0"/>
            </a:p>
          </p:txBody>
        </p:sp>
        <p:sp>
          <p:nvSpPr>
            <p:cNvPr id="83977" name="Rectangle 6"/>
            <p:cNvSpPr/>
            <p:nvPr/>
          </p:nvSpPr>
          <p:spPr>
            <a:xfrm>
              <a:off x="3936" y="1296"/>
              <a:ext cx="1296" cy="32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zh-CN" altLang="en-US" sz="2600" dirty="0"/>
                <a:t>参考书</a:t>
              </a:r>
              <a:r>
                <a:rPr lang="en-US" altLang="zh-CN" sz="2600" dirty="0"/>
                <a:t>B</a:t>
              </a:r>
              <a:endParaRPr lang="en-US" altLang="zh-CN" sz="2600" dirty="0"/>
            </a:p>
          </p:txBody>
        </p:sp>
        <p:sp>
          <p:nvSpPr>
            <p:cNvPr id="83978" name="Rectangle 7"/>
            <p:cNvSpPr/>
            <p:nvPr/>
          </p:nvSpPr>
          <p:spPr>
            <a:xfrm>
              <a:off x="2640" y="1296"/>
              <a:ext cx="1296" cy="32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zh-CN" altLang="en-US" sz="2600" dirty="0"/>
                <a:t>教员</a:t>
              </a:r>
              <a:r>
                <a:rPr lang="en-US" altLang="zh-CN" sz="2600" dirty="0"/>
                <a:t>T</a:t>
              </a:r>
              <a:endParaRPr lang="en-US" altLang="zh-CN" sz="2600" dirty="0"/>
            </a:p>
          </p:txBody>
        </p:sp>
        <p:sp>
          <p:nvSpPr>
            <p:cNvPr id="83979" name="Rectangle 8"/>
            <p:cNvSpPr/>
            <p:nvPr/>
          </p:nvSpPr>
          <p:spPr>
            <a:xfrm>
              <a:off x="1344" y="1296"/>
              <a:ext cx="1296" cy="32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zh-CN" altLang="en-US" sz="2600" dirty="0"/>
                <a:t>课程</a:t>
              </a:r>
              <a:r>
                <a:rPr lang="en-US" altLang="zh-CN" sz="2600" dirty="0"/>
                <a:t>C</a:t>
              </a:r>
              <a:endParaRPr lang="en-US" altLang="zh-CN" sz="2600" dirty="0"/>
            </a:p>
          </p:txBody>
        </p:sp>
        <p:sp>
          <p:nvSpPr>
            <p:cNvPr id="83980" name="Line 9"/>
            <p:cNvSpPr/>
            <p:nvPr/>
          </p:nvSpPr>
          <p:spPr>
            <a:xfrm>
              <a:off x="1344" y="1296"/>
              <a:ext cx="3888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83981" name="Line 10"/>
            <p:cNvSpPr/>
            <p:nvPr/>
          </p:nvSpPr>
          <p:spPr>
            <a:xfrm>
              <a:off x="1344" y="1623"/>
              <a:ext cx="38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2" name="Line 11"/>
            <p:cNvSpPr/>
            <p:nvPr/>
          </p:nvSpPr>
          <p:spPr>
            <a:xfrm>
              <a:off x="1344" y="4177"/>
              <a:ext cx="38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3" name="Line 12"/>
            <p:cNvSpPr/>
            <p:nvPr/>
          </p:nvSpPr>
          <p:spPr>
            <a:xfrm>
              <a:off x="2640" y="1296"/>
              <a:ext cx="0" cy="288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4" name="Line 13"/>
            <p:cNvSpPr/>
            <p:nvPr/>
          </p:nvSpPr>
          <p:spPr>
            <a:xfrm>
              <a:off x="3936" y="1296"/>
              <a:ext cx="0" cy="288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5" name="Line 14"/>
            <p:cNvSpPr/>
            <p:nvPr/>
          </p:nvSpPr>
          <p:spPr>
            <a:xfrm>
              <a:off x="5232" y="1296"/>
              <a:ext cx="0" cy="288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6" name="Line 15"/>
            <p:cNvSpPr/>
            <p:nvPr/>
          </p:nvSpPr>
          <p:spPr>
            <a:xfrm>
              <a:off x="1344" y="1623"/>
              <a:ext cx="0" cy="255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7" name="Line 16"/>
            <p:cNvSpPr/>
            <p:nvPr/>
          </p:nvSpPr>
          <p:spPr>
            <a:xfrm>
              <a:off x="1344" y="1296"/>
              <a:ext cx="0" cy="32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3971" name="Rectangle 17"/>
          <p:cNvSpPr/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多值依赖（续）</a:t>
            </a:r>
            <a:endParaRPr lang="zh-CN" altLang="en-US" dirty="0"/>
          </a:p>
        </p:txBody>
      </p:sp>
      <p:sp>
        <p:nvSpPr>
          <p:cNvPr id="83972" name="Rectangle 18"/>
          <p:cNvSpPr/>
          <p:nvPr/>
        </p:nvSpPr>
        <p:spPr>
          <a:xfrm>
            <a:off x="554038" y="1508125"/>
            <a:ext cx="3305175" cy="427038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200" b="1" dirty="0">
                <a:latin typeface="Times New Roman" panose="02020603050405020304" pitchFamily="18" charset="0"/>
              </a:rPr>
              <a:t>用二维表表示</a:t>
            </a:r>
            <a:r>
              <a:rPr lang="en-US" altLang="zh-CN" sz="2200" b="1" dirty="0">
                <a:latin typeface="Times New Roman" panose="02020603050405020304" pitchFamily="18" charset="0"/>
              </a:rPr>
              <a:t>Teaching</a:t>
            </a:r>
            <a:endParaRPr lang="en-US" altLang="zh-CN" sz="2200" b="1" dirty="0">
              <a:latin typeface="Times New Roman" panose="02020603050405020304" pitchFamily="18" charset="0"/>
            </a:endParaRPr>
          </a:p>
        </p:txBody>
      </p:sp>
      <p:sp>
        <p:nvSpPr>
          <p:cNvPr id="83973" name="灯片编号占位符 20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多值依赖（续）</a:t>
            </a:r>
            <a:endParaRPr lang="zh-CN" altLang="en-US" dirty="0"/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457200" y="2154238"/>
            <a:ext cx="8229600" cy="2641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Teaching</a:t>
            </a:r>
            <a:r>
              <a:rPr lang="en-US" altLang="zh-CN" sz="2600" dirty="0"/>
              <a:t>∈</a:t>
            </a:r>
            <a:r>
              <a:rPr lang="en-US" altLang="zh-CN" sz="2800" dirty="0"/>
              <a:t>BCNF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Teaching</a:t>
            </a:r>
            <a:r>
              <a:rPr lang="zh-CN" altLang="en-US" sz="2800" dirty="0"/>
              <a:t>具有唯一候选码</a:t>
            </a:r>
            <a:r>
              <a:rPr lang="en-US" altLang="zh-CN" sz="2800" dirty="0"/>
              <a:t>(C</a:t>
            </a:r>
            <a:r>
              <a:rPr lang="zh-CN" altLang="en-US" sz="2800" dirty="0"/>
              <a:t>，</a:t>
            </a:r>
            <a:r>
              <a:rPr lang="en-US" altLang="zh-CN" sz="2800" dirty="0"/>
              <a:t>T</a:t>
            </a:r>
            <a:r>
              <a:rPr lang="zh-CN" altLang="en-US" sz="2800" dirty="0"/>
              <a:t>，</a:t>
            </a:r>
            <a:r>
              <a:rPr lang="en-US" altLang="zh-CN" sz="2800" dirty="0"/>
              <a:t>B)</a:t>
            </a:r>
            <a:r>
              <a:rPr lang="zh-CN" altLang="en-US" sz="2800" dirty="0"/>
              <a:t>， 即全码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</a:pPr>
            <a:endParaRPr lang="zh-CN" altLang="en-US" sz="2800" dirty="0"/>
          </a:p>
          <a:p>
            <a:pPr lvl="1" eaLnBrk="1" hangingPunct="1">
              <a:buNone/>
            </a:pPr>
            <a:r>
              <a:rPr lang="zh-CN" altLang="en-US" dirty="0"/>
              <a:t> </a:t>
            </a:r>
            <a:r>
              <a:rPr lang="zh-CN" altLang="en-US" sz="2400" dirty="0"/>
              <a:t>     </a:t>
            </a:r>
            <a:endParaRPr lang="zh-CN" altLang="en-US" sz="2400" dirty="0"/>
          </a:p>
        </p:txBody>
      </p:sp>
      <p:sp>
        <p:nvSpPr>
          <p:cNvPr id="84996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多值依赖（续）</a:t>
            </a:r>
            <a:endParaRPr lang="zh-CN" altLang="en-US" dirty="0"/>
          </a:p>
        </p:txBody>
      </p:sp>
      <p:sp>
        <p:nvSpPr>
          <p:cNvPr id="860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/>
              <a:t> Teaching</a:t>
            </a:r>
            <a:r>
              <a:rPr lang="zh-CN" altLang="en-US" dirty="0"/>
              <a:t>模式中存在的问题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(1)</a:t>
            </a:r>
            <a:r>
              <a:rPr lang="zh-CN" altLang="en-US" dirty="0"/>
              <a:t>数据冗余度大 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(2)</a:t>
            </a:r>
            <a:r>
              <a:rPr lang="zh-CN" altLang="en-US" dirty="0"/>
              <a:t>插入操作复杂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(3) </a:t>
            </a:r>
            <a:r>
              <a:rPr lang="zh-CN" altLang="en-US" dirty="0"/>
              <a:t>删除操作复杂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dirty="0"/>
              <a:t>(4) </a:t>
            </a:r>
            <a:r>
              <a:rPr lang="zh-CN" altLang="en-US" dirty="0"/>
              <a:t>修改操作复杂</a:t>
            </a:r>
            <a:endParaRPr lang="zh-CN" altLang="en-US" dirty="0"/>
          </a:p>
        </p:txBody>
      </p:sp>
      <p:sp>
        <p:nvSpPr>
          <p:cNvPr id="451588" name="AutoShape 4"/>
          <p:cNvSpPr/>
          <p:nvPr/>
        </p:nvSpPr>
        <p:spPr>
          <a:xfrm>
            <a:off x="4716463" y="692150"/>
            <a:ext cx="2808287" cy="1655763"/>
          </a:xfrm>
          <a:prstGeom prst="cloudCallout">
            <a:avLst>
              <a:gd name="adj1" fmla="val -112523"/>
              <a:gd name="adj2" fmla="val 47218"/>
            </a:avLst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lnSpc>
                <a:spcPct val="90000"/>
              </a:lnSpc>
              <a:buClr>
                <a:schemeClr val="hlink"/>
              </a:buClr>
              <a:buSzTx/>
              <a:buNone/>
            </a:pPr>
            <a:r>
              <a:rPr lang="zh-CN" altLang="en-US" dirty="0"/>
              <a:t>存在</a:t>
            </a:r>
            <a:endParaRPr lang="zh-CN" altLang="en-US" dirty="0"/>
          </a:p>
          <a:p>
            <a:pPr marL="342900" lvl="0" indent="-342900" algn="ctr" eaLnBrk="1" hangingPunct="1">
              <a:lnSpc>
                <a:spcPct val="90000"/>
              </a:lnSpc>
              <a:buClr>
                <a:schemeClr val="hlink"/>
              </a:buClr>
              <a:buSzTx/>
              <a:buNone/>
            </a:pPr>
            <a:r>
              <a:rPr lang="zh-CN" altLang="en-US" dirty="0"/>
              <a:t>多值依赖</a:t>
            </a:r>
            <a:endParaRPr lang="zh-CN" altLang="en-US" dirty="0"/>
          </a:p>
        </p:txBody>
      </p:sp>
      <p:pic>
        <p:nvPicPr>
          <p:cNvPr id="8602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638" y="2852738"/>
            <a:ext cx="4676775" cy="3390900"/>
          </a:xfrm>
          <a:prstGeom prst="rect">
            <a:avLst/>
          </a:prstGeom>
          <a:noFill/>
          <a:ln w="57150">
            <a:noFill/>
          </a:ln>
        </p:spPr>
      </p:pic>
      <p:sp>
        <p:nvSpPr>
          <p:cNvPr id="451590" name="AutoShape 6"/>
          <p:cNvSpPr/>
          <p:nvPr/>
        </p:nvSpPr>
        <p:spPr>
          <a:xfrm>
            <a:off x="4067175" y="1557338"/>
            <a:ext cx="3671888" cy="936625"/>
          </a:xfrm>
          <a:prstGeom prst="wedgeRectCallout">
            <a:avLst>
              <a:gd name="adj1" fmla="val -70019"/>
              <a:gd name="adj2" fmla="val 209491"/>
            </a:avLst>
          </a:prstGeom>
          <a:solidFill>
            <a:srgbClr val="CCFFFF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某门课程增加一个教员？需要插入多个元组</a:t>
            </a:r>
            <a:endParaRPr lang="zh-CN" altLang="en-US" sz="2400" dirty="0"/>
          </a:p>
        </p:txBody>
      </p:sp>
      <p:sp>
        <p:nvSpPr>
          <p:cNvPr id="451591" name="AutoShape 7"/>
          <p:cNvSpPr/>
          <p:nvPr/>
        </p:nvSpPr>
        <p:spPr>
          <a:xfrm>
            <a:off x="4500563" y="2276475"/>
            <a:ext cx="3671887" cy="936625"/>
          </a:xfrm>
          <a:prstGeom prst="wedgeRectCallout">
            <a:avLst>
              <a:gd name="adj1" fmla="val -70019"/>
              <a:gd name="adj2" fmla="val 209491"/>
            </a:avLst>
          </a:prstGeom>
          <a:solidFill>
            <a:srgbClr val="CCFFFF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某门课程去掉一本参考书？需要删除多个元组</a:t>
            </a:r>
            <a:endParaRPr lang="zh-CN" altLang="en-US" sz="2400" dirty="0"/>
          </a:p>
        </p:txBody>
      </p:sp>
      <p:sp>
        <p:nvSpPr>
          <p:cNvPr id="86024" name="灯片编号占位符 9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1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1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8" grpId="0" animBg="1"/>
      <p:bldP spid="451590" grpId="0" animBg="1"/>
      <p:bldP spid="45159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多值依赖（续）</a:t>
            </a:r>
            <a:endParaRPr lang="zh-CN" altLang="en-US" dirty="0"/>
          </a:p>
        </p:txBody>
      </p:sp>
      <p:sp>
        <p:nvSpPr>
          <p:cNvPr id="870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sz="2200" b="1" dirty="0"/>
              <a:t>定义</a:t>
            </a:r>
            <a:r>
              <a:rPr lang="en-US" altLang="zh-CN" sz="2200" b="1" dirty="0"/>
              <a:t>6.9   </a:t>
            </a:r>
            <a:endParaRPr lang="en-US" altLang="zh-CN" sz="22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200" b="1" dirty="0"/>
              <a:t>    </a:t>
            </a:r>
            <a:r>
              <a:rPr lang="zh-CN" altLang="en-US" sz="2200" b="1" dirty="0"/>
              <a:t>设</a:t>
            </a:r>
            <a:r>
              <a:rPr lang="en-US" altLang="zh-CN" sz="2200" b="1" dirty="0"/>
              <a:t>R(U)</a:t>
            </a:r>
            <a:r>
              <a:rPr lang="zh-CN" altLang="en-US" sz="2200" b="1" dirty="0"/>
              <a:t>是一个属性集</a:t>
            </a:r>
            <a:r>
              <a:rPr lang="en-US" altLang="zh-CN" sz="2200" b="1" dirty="0"/>
              <a:t>U</a:t>
            </a:r>
            <a:r>
              <a:rPr lang="zh-CN" altLang="en-US" sz="2200" b="1" dirty="0"/>
              <a:t>上的一个关系模式， 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、 </a:t>
            </a:r>
            <a:r>
              <a:rPr lang="en-US" altLang="zh-CN" sz="2200" b="1" dirty="0"/>
              <a:t>Y</a:t>
            </a:r>
            <a:r>
              <a:rPr lang="zh-CN" altLang="en-US" sz="2200" b="1" dirty="0"/>
              <a:t>和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是</a:t>
            </a:r>
            <a:r>
              <a:rPr lang="en-US" altLang="zh-CN" sz="2200" b="1" dirty="0"/>
              <a:t>U</a:t>
            </a:r>
            <a:r>
              <a:rPr lang="zh-CN" altLang="en-US" sz="2200" b="1" dirty="0"/>
              <a:t>的子集，并且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＝</a:t>
            </a:r>
            <a:r>
              <a:rPr lang="en-US" altLang="zh-CN" sz="2200" b="1" dirty="0"/>
              <a:t>U</a:t>
            </a:r>
            <a:r>
              <a:rPr lang="zh-CN" altLang="en-US" sz="2200" b="1" dirty="0"/>
              <a:t>－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－</a:t>
            </a:r>
            <a:r>
              <a:rPr lang="en-US" altLang="zh-CN" sz="2200" b="1" dirty="0"/>
              <a:t>Y</a:t>
            </a:r>
            <a:r>
              <a:rPr lang="zh-CN" altLang="en-US" sz="2200" b="1" dirty="0"/>
              <a:t>。关系模式</a:t>
            </a:r>
            <a:r>
              <a:rPr lang="en-US" altLang="zh-CN" sz="2200" b="1" dirty="0"/>
              <a:t>R(U)</a:t>
            </a:r>
            <a:r>
              <a:rPr lang="zh-CN" altLang="en-US" sz="2200" b="1" dirty="0"/>
              <a:t>中</a:t>
            </a:r>
            <a:r>
              <a:rPr lang="zh-CN" altLang="en-US" sz="2200" b="1" dirty="0">
                <a:solidFill>
                  <a:srgbClr val="FF66FF"/>
                </a:solidFill>
              </a:rPr>
              <a:t>多值依赖</a:t>
            </a:r>
            <a:r>
              <a:rPr lang="zh-CN" altLang="en-US" sz="2200" b="1" dirty="0">
                <a:solidFill>
                  <a:schemeClr val="accent2"/>
                </a:solidFill>
              </a:rPr>
              <a:t> </a:t>
            </a:r>
            <a:r>
              <a:rPr lang="en-US" altLang="zh-CN" sz="2200" b="1" dirty="0"/>
              <a:t>X→→Y</a:t>
            </a:r>
            <a:r>
              <a:rPr lang="zh-CN" altLang="en-US" sz="2200" b="1" dirty="0"/>
              <a:t>成立，当且仅当对</a:t>
            </a:r>
            <a:r>
              <a:rPr lang="en-US" altLang="zh-CN" sz="2200" b="1" dirty="0"/>
              <a:t>R(U)</a:t>
            </a:r>
            <a:r>
              <a:rPr lang="zh-CN" altLang="en-US" sz="2200" b="1" dirty="0"/>
              <a:t>的</a:t>
            </a:r>
            <a:r>
              <a:rPr lang="zh-CN" altLang="en-US" sz="2200" b="1" dirty="0">
                <a:solidFill>
                  <a:srgbClr val="6600FF"/>
                </a:solidFill>
              </a:rPr>
              <a:t>任一关系</a:t>
            </a:r>
            <a:r>
              <a:rPr lang="en-US" altLang="zh-CN" sz="2200" b="1" dirty="0">
                <a:solidFill>
                  <a:srgbClr val="6600FF"/>
                </a:solidFill>
              </a:rPr>
              <a:t>r</a:t>
            </a:r>
            <a:r>
              <a:rPr lang="zh-CN" altLang="en-US" sz="2200" b="1" dirty="0"/>
              <a:t>，给定的一对（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）值，有一组</a:t>
            </a:r>
            <a:r>
              <a:rPr lang="en-US" altLang="zh-CN" sz="2200" b="1" dirty="0"/>
              <a:t>Y</a:t>
            </a:r>
            <a:r>
              <a:rPr lang="zh-CN" altLang="en-US" sz="2200" b="1" dirty="0"/>
              <a:t>的值，这组值仅仅决定于</a:t>
            </a:r>
            <a:r>
              <a:rPr lang="en-US" altLang="zh-CN" sz="2200" b="1" dirty="0"/>
              <a:t>x</a:t>
            </a:r>
            <a:r>
              <a:rPr lang="zh-CN" altLang="en-US" sz="2200" b="1" dirty="0"/>
              <a:t>值而与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值无关</a:t>
            </a:r>
            <a:endParaRPr lang="zh-CN" altLang="en-US" sz="2200" b="1" dirty="0"/>
          </a:p>
          <a:p>
            <a:pPr eaLnBrk="1" hangingPunct="1">
              <a:lnSpc>
                <a:spcPct val="150000"/>
              </a:lnSpc>
              <a:buNone/>
            </a:pPr>
            <a:endParaRPr lang="zh-CN" altLang="en-US" sz="22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200" b="1" dirty="0"/>
              <a:t>例  </a:t>
            </a:r>
            <a:r>
              <a:rPr lang="en-US" altLang="zh-CN" sz="2200" b="1" dirty="0"/>
              <a:t>Teaching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C, T, B</a:t>
            </a:r>
            <a:r>
              <a:rPr lang="zh-CN" altLang="en-US" sz="2200" b="1" dirty="0"/>
              <a:t>）</a:t>
            </a:r>
            <a:endParaRPr lang="zh-CN" altLang="en-US" sz="2200" b="1" dirty="0"/>
          </a:p>
        </p:txBody>
      </p:sp>
      <p:sp>
        <p:nvSpPr>
          <p:cNvPr id="87044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多值依赖（续）</a:t>
            </a:r>
            <a:endParaRPr lang="zh-CN" altLang="en-US" dirty="0"/>
          </a:p>
        </p:txBody>
      </p:sp>
      <p:grpSp>
        <p:nvGrpSpPr>
          <p:cNvPr id="88067" name="Group 5"/>
          <p:cNvGrpSpPr/>
          <p:nvPr/>
        </p:nvGrpSpPr>
        <p:grpSpPr>
          <a:xfrm>
            <a:off x="1331913" y="1773238"/>
            <a:ext cx="5932487" cy="4264025"/>
            <a:chOff x="1344" y="1296"/>
            <a:chExt cx="3888" cy="2881"/>
          </a:xfrm>
        </p:grpSpPr>
        <p:sp>
          <p:nvSpPr>
            <p:cNvPr id="88073" name="Rectangle 6"/>
            <p:cNvSpPr/>
            <p:nvPr/>
          </p:nvSpPr>
          <p:spPr>
            <a:xfrm>
              <a:off x="3936" y="1623"/>
              <a:ext cx="1296" cy="25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普通物理学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光学原理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物理习题集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普通物理学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光学原理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物理习题集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数学分析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微分方程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高等代数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数学分析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微分方程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高等代数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/>
                <a:t>…</a:t>
              </a:r>
              <a:endParaRPr lang="en-US" altLang="zh-CN" sz="2000" b="1" dirty="0"/>
            </a:p>
          </p:txBody>
        </p:sp>
        <p:sp>
          <p:nvSpPr>
            <p:cNvPr id="88074" name="Rectangle 7"/>
            <p:cNvSpPr/>
            <p:nvPr/>
          </p:nvSpPr>
          <p:spPr>
            <a:xfrm>
              <a:off x="2640" y="1623"/>
              <a:ext cx="1296" cy="25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王 军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王 军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王 军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李 勇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张 平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张 平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张 平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 </a:t>
              </a:r>
              <a:r>
                <a:rPr lang="en-US" altLang="zh-CN" sz="2000" b="1" dirty="0"/>
                <a:t>…</a:t>
              </a:r>
              <a:endParaRPr lang="en-US" altLang="zh-CN" sz="2000" dirty="0"/>
            </a:p>
          </p:txBody>
        </p:sp>
        <p:sp>
          <p:nvSpPr>
            <p:cNvPr id="88075" name="Rectangle 8"/>
            <p:cNvSpPr/>
            <p:nvPr/>
          </p:nvSpPr>
          <p:spPr>
            <a:xfrm>
              <a:off x="1344" y="1623"/>
              <a:ext cx="1296" cy="255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物 理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/>
                <a:t>数 学</a:t>
              </a:r>
              <a:endParaRPr lang="zh-CN" altLang="en-US" sz="2000" b="1" dirty="0"/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dirty="0"/>
                <a:t>… </a:t>
              </a:r>
              <a:endParaRPr lang="en-US" altLang="zh-CN" sz="2000" b="1" dirty="0"/>
            </a:p>
          </p:txBody>
        </p:sp>
        <p:sp>
          <p:nvSpPr>
            <p:cNvPr id="88076" name="Rectangle 9"/>
            <p:cNvSpPr/>
            <p:nvPr/>
          </p:nvSpPr>
          <p:spPr>
            <a:xfrm>
              <a:off x="3936" y="1296"/>
              <a:ext cx="1296" cy="32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zh-CN" altLang="en-US" sz="2600" dirty="0"/>
                <a:t>参考书</a:t>
              </a:r>
              <a:r>
                <a:rPr lang="en-US" altLang="zh-CN" sz="2600" dirty="0"/>
                <a:t>B</a:t>
              </a:r>
              <a:endParaRPr lang="en-US" altLang="zh-CN" sz="2600" dirty="0"/>
            </a:p>
          </p:txBody>
        </p:sp>
        <p:sp>
          <p:nvSpPr>
            <p:cNvPr id="88077" name="Rectangle 10"/>
            <p:cNvSpPr/>
            <p:nvPr/>
          </p:nvSpPr>
          <p:spPr>
            <a:xfrm>
              <a:off x="2640" y="1296"/>
              <a:ext cx="1296" cy="32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zh-CN" altLang="en-US" sz="2600" dirty="0"/>
                <a:t>教员</a:t>
              </a:r>
              <a:r>
                <a:rPr lang="en-US" altLang="zh-CN" sz="2600" dirty="0"/>
                <a:t>T</a:t>
              </a:r>
              <a:endParaRPr lang="en-US" altLang="zh-CN" sz="2600" dirty="0"/>
            </a:p>
          </p:txBody>
        </p:sp>
        <p:sp>
          <p:nvSpPr>
            <p:cNvPr id="88078" name="Rectangle 11"/>
            <p:cNvSpPr/>
            <p:nvPr/>
          </p:nvSpPr>
          <p:spPr>
            <a:xfrm>
              <a:off x="1344" y="1296"/>
              <a:ext cx="1296" cy="32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zh-CN" altLang="en-US" sz="2600" dirty="0"/>
                <a:t>课程</a:t>
              </a:r>
              <a:r>
                <a:rPr lang="en-US" altLang="zh-CN" sz="2600" dirty="0"/>
                <a:t>C</a:t>
              </a:r>
              <a:endParaRPr lang="en-US" altLang="zh-CN" sz="2600" dirty="0"/>
            </a:p>
          </p:txBody>
        </p:sp>
        <p:sp>
          <p:nvSpPr>
            <p:cNvPr id="88079" name="Line 12"/>
            <p:cNvSpPr/>
            <p:nvPr/>
          </p:nvSpPr>
          <p:spPr>
            <a:xfrm>
              <a:off x="1344" y="1296"/>
              <a:ext cx="3888" cy="0"/>
            </a:xfrm>
            <a:prstGeom prst="line">
              <a:avLst/>
            </a:prstGeom>
            <a:ln w="28575">
              <a:noFill/>
            </a:ln>
          </p:spPr>
        </p:sp>
        <p:sp>
          <p:nvSpPr>
            <p:cNvPr id="88080" name="Line 13"/>
            <p:cNvSpPr/>
            <p:nvPr/>
          </p:nvSpPr>
          <p:spPr>
            <a:xfrm>
              <a:off x="1344" y="1623"/>
              <a:ext cx="38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8081" name="Line 14"/>
            <p:cNvSpPr/>
            <p:nvPr/>
          </p:nvSpPr>
          <p:spPr>
            <a:xfrm>
              <a:off x="1344" y="4177"/>
              <a:ext cx="388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8082" name="Line 15"/>
            <p:cNvSpPr/>
            <p:nvPr/>
          </p:nvSpPr>
          <p:spPr>
            <a:xfrm>
              <a:off x="2640" y="1296"/>
              <a:ext cx="0" cy="288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8083" name="Line 16"/>
            <p:cNvSpPr/>
            <p:nvPr/>
          </p:nvSpPr>
          <p:spPr>
            <a:xfrm>
              <a:off x="3936" y="1296"/>
              <a:ext cx="0" cy="288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8084" name="Line 17"/>
            <p:cNvSpPr/>
            <p:nvPr/>
          </p:nvSpPr>
          <p:spPr>
            <a:xfrm>
              <a:off x="5232" y="1296"/>
              <a:ext cx="0" cy="2881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8085" name="Line 18"/>
            <p:cNvSpPr/>
            <p:nvPr/>
          </p:nvSpPr>
          <p:spPr>
            <a:xfrm>
              <a:off x="1344" y="1623"/>
              <a:ext cx="0" cy="255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8086" name="Line 19"/>
            <p:cNvSpPr/>
            <p:nvPr/>
          </p:nvSpPr>
          <p:spPr>
            <a:xfrm>
              <a:off x="1344" y="1296"/>
              <a:ext cx="0" cy="32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83700" name="Rectangle 20"/>
          <p:cNvSpPr/>
          <p:nvPr/>
        </p:nvSpPr>
        <p:spPr>
          <a:xfrm>
            <a:off x="1331913" y="2276475"/>
            <a:ext cx="5903912" cy="360363"/>
          </a:xfrm>
          <a:prstGeom prst="rect">
            <a:avLst/>
          </a:prstGeom>
          <a:solidFill>
            <a:schemeClr val="accent1">
              <a:alpha val="59999"/>
            </a:scheme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83701" name="Rectangle 21"/>
          <p:cNvSpPr/>
          <p:nvPr/>
        </p:nvSpPr>
        <p:spPr>
          <a:xfrm>
            <a:off x="1331913" y="3213100"/>
            <a:ext cx="5903912" cy="360363"/>
          </a:xfrm>
          <a:prstGeom prst="rect">
            <a:avLst/>
          </a:prstGeom>
          <a:solidFill>
            <a:schemeClr val="accent1">
              <a:alpha val="59999"/>
            </a:scheme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83703" name="Rectangle 23"/>
          <p:cNvSpPr/>
          <p:nvPr/>
        </p:nvSpPr>
        <p:spPr>
          <a:xfrm>
            <a:off x="1331913" y="2636838"/>
            <a:ext cx="5903912" cy="287337"/>
          </a:xfrm>
          <a:prstGeom prst="rect">
            <a:avLst/>
          </a:prstGeom>
          <a:solidFill>
            <a:srgbClr val="FF0000">
              <a:alpha val="50195"/>
            </a:srgb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83704" name="Rectangle 24"/>
          <p:cNvSpPr/>
          <p:nvPr/>
        </p:nvSpPr>
        <p:spPr>
          <a:xfrm>
            <a:off x="1331913" y="3573463"/>
            <a:ext cx="5903912" cy="287337"/>
          </a:xfrm>
          <a:prstGeom prst="rect">
            <a:avLst/>
          </a:prstGeom>
          <a:solidFill>
            <a:srgbClr val="FF0000">
              <a:alpha val="50195"/>
            </a:srgb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88072" name="灯片编号占位符 2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0" grpId="0" animBg="1"/>
      <p:bldP spid="583701" grpId="0" animBg="1"/>
      <p:bldP spid="583703" grpId="0" animBg="1"/>
      <p:bldP spid="58370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多值依赖（续）</a:t>
            </a:r>
            <a:endParaRPr lang="zh-CN" altLang="en-US" dirty="0"/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762000" y="1828800"/>
            <a:ext cx="8077200" cy="4243388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多值依赖的另一个等价的形式化的定义： </a:t>
            </a:r>
            <a:endParaRPr lang="zh-CN" altLang="en-US" sz="2800" b="1" dirty="0"/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sz="2200" b="1" dirty="0"/>
              <a:t>    在</a:t>
            </a:r>
            <a:r>
              <a:rPr lang="en-US" altLang="zh-CN" sz="2200" b="1" i="1" dirty="0"/>
              <a:t>R</a:t>
            </a:r>
            <a:r>
              <a:rPr lang="zh-CN" altLang="en-US" sz="2200" b="1" dirty="0"/>
              <a:t>（</a:t>
            </a:r>
            <a:r>
              <a:rPr lang="en-US" altLang="zh-CN" sz="2200" b="1" i="1" dirty="0"/>
              <a:t>U</a:t>
            </a:r>
            <a:r>
              <a:rPr lang="zh-CN" altLang="en-US" sz="2200" b="1" dirty="0"/>
              <a:t>）的任一关系</a:t>
            </a:r>
            <a:r>
              <a:rPr lang="en-US" altLang="zh-CN" sz="2200" b="1" i="1" dirty="0"/>
              <a:t>r</a:t>
            </a:r>
            <a:r>
              <a:rPr lang="zh-CN" altLang="en-US" sz="2200" b="1" dirty="0"/>
              <a:t>中，如果存在元组</a:t>
            </a:r>
            <a:r>
              <a:rPr lang="en-US" altLang="zh-CN" sz="2200" b="1" i="1" dirty="0"/>
              <a:t>t</a:t>
            </a:r>
            <a:r>
              <a:rPr lang="zh-CN" altLang="en-US" sz="2200" b="1" dirty="0"/>
              <a:t>，</a:t>
            </a:r>
            <a:r>
              <a:rPr lang="en-US" altLang="zh-CN" sz="2200" b="1" i="1" dirty="0"/>
              <a:t>s </a:t>
            </a:r>
            <a:r>
              <a:rPr lang="zh-CN" altLang="en-US" sz="2200" b="1" dirty="0"/>
              <a:t>使得</a:t>
            </a:r>
            <a:r>
              <a:rPr lang="en-US" altLang="zh-CN" sz="2200" b="1" i="1" dirty="0"/>
              <a:t>t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]=</a:t>
            </a:r>
            <a:r>
              <a:rPr lang="en-US" altLang="zh-CN" sz="2200" b="1" i="1" dirty="0"/>
              <a:t>s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]</a:t>
            </a:r>
            <a:r>
              <a:rPr lang="zh-CN" altLang="en-US" sz="2200" b="1" dirty="0"/>
              <a:t>，那么就必然存在元组 </a:t>
            </a:r>
            <a:r>
              <a:rPr lang="en-US" altLang="zh-CN" sz="2200" b="1" i="1" dirty="0"/>
              <a:t>w</a:t>
            </a:r>
            <a:r>
              <a:rPr lang="zh-CN" altLang="en-US" sz="2200" b="1" dirty="0"/>
              <a:t>，</a:t>
            </a:r>
            <a:r>
              <a:rPr lang="en-US" altLang="zh-CN" sz="2200" b="1" i="1" dirty="0"/>
              <a:t>v</a:t>
            </a:r>
            <a:r>
              <a:rPr lang="en-US" altLang="zh-CN" sz="2200" b="1" dirty="0">
                <a:sym typeface="Symbol" panose="05050102010706020507" pitchFamily="18" charset="2"/>
              </a:rPr>
              <a:t> </a:t>
            </a:r>
            <a:r>
              <a:rPr lang="en-US" altLang="zh-CN" sz="2200" b="1" i="1" dirty="0"/>
              <a:t>r</a:t>
            </a:r>
            <a:r>
              <a:rPr lang="zh-CN" altLang="en-US" sz="2200" b="1" dirty="0"/>
              <a:t>，（</a:t>
            </a:r>
            <a:r>
              <a:rPr lang="en-US" altLang="zh-CN" sz="2200" b="1" i="1" dirty="0"/>
              <a:t>w</a:t>
            </a:r>
            <a:r>
              <a:rPr lang="zh-CN" altLang="en-US" sz="2200" b="1" dirty="0"/>
              <a:t>，</a:t>
            </a:r>
            <a:r>
              <a:rPr lang="en-US" altLang="zh-CN" sz="2200" b="1" i="1" dirty="0"/>
              <a:t>v</a:t>
            </a:r>
            <a:r>
              <a:rPr lang="zh-CN" altLang="en-US" sz="2200" b="1" dirty="0"/>
              <a:t>可以与</a:t>
            </a:r>
            <a:r>
              <a:rPr lang="en-US" altLang="zh-CN" sz="2200" b="1" i="1" dirty="0"/>
              <a:t>s</a:t>
            </a:r>
            <a:r>
              <a:rPr lang="zh-CN" altLang="en-US" sz="2200" b="1" dirty="0"/>
              <a:t>，</a:t>
            </a:r>
            <a:r>
              <a:rPr lang="en-US" altLang="zh-CN" sz="2200" b="1" i="1" dirty="0"/>
              <a:t>t</a:t>
            </a:r>
            <a:r>
              <a:rPr lang="zh-CN" altLang="en-US" sz="2200" b="1" dirty="0"/>
              <a:t>相同），使得</a:t>
            </a:r>
            <a:r>
              <a:rPr lang="en-US" altLang="zh-CN" sz="2200" b="1" i="1" dirty="0"/>
              <a:t>w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]=</a:t>
            </a:r>
            <a:r>
              <a:rPr lang="en-US" altLang="zh-CN" sz="2200" b="1" i="1" dirty="0"/>
              <a:t>v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]=</a:t>
            </a:r>
            <a:r>
              <a:rPr lang="en-US" altLang="zh-CN" sz="2200" b="1" i="1" dirty="0"/>
              <a:t>t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]</a:t>
            </a:r>
            <a:r>
              <a:rPr lang="zh-CN" altLang="en-US" sz="2200" b="1" dirty="0"/>
              <a:t>，而</a:t>
            </a:r>
            <a:r>
              <a:rPr lang="en-US" altLang="zh-CN" sz="2200" b="1" i="1" dirty="0"/>
              <a:t>w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Y</a:t>
            </a:r>
            <a:r>
              <a:rPr lang="en-US" altLang="zh-CN" sz="2200" b="1" dirty="0"/>
              <a:t>]=</a:t>
            </a:r>
            <a:r>
              <a:rPr lang="en-US" altLang="zh-CN" sz="2200" b="1" i="1" dirty="0"/>
              <a:t>t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Y</a:t>
            </a:r>
            <a:r>
              <a:rPr lang="en-US" altLang="zh-CN" sz="2200" b="1" dirty="0"/>
              <a:t>]</a:t>
            </a:r>
            <a:r>
              <a:rPr lang="zh-CN" altLang="en-US" sz="2200" b="1" dirty="0"/>
              <a:t>，</a:t>
            </a:r>
            <a:r>
              <a:rPr lang="en-US" altLang="zh-CN" sz="2200" b="1" i="1" dirty="0"/>
              <a:t>w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Z</a:t>
            </a:r>
            <a:r>
              <a:rPr lang="en-US" altLang="zh-CN" sz="2200" b="1" dirty="0"/>
              <a:t>]=</a:t>
            </a:r>
            <a:r>
              <a:rPr lang="en-US" altLang="zh-CN" sz="2200" b="1" i="1" dirty="0"/>
              <a:t>s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Z</a:t>
            </a:r>
            <a:r>
              <a:rPr lang="en-US" altLang="zh-CN" sz="2200" b="1" dirty="0"/>
              <a:t>]</a:t>
            </a:r>
            <a:r>
              <a:rPr lang="zh-CN" altLang="en-US" sz="2200" b="1" dirty="0"/>
              <a:t>，</a:t>
            </a:r>
            <a:r>
              <a:rPr lang="en-US" altLang="zh-CN" sz="2200" b="1" i="1" dirty="0"/>
              <a:t>v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Y</a:t>
            </a:r>
            <a:r>
              <a:rPr lang="en-US" altLang="zh-CN" sz="2200" b="1" dirty="0"/>
              <a:t>]=</a:t>
            </a:r>
            <a:r>
              <a:rPr lang="en-US" altLang="zh-CN" sz="2200" b="1" i="1" dirty="0"/>
              <a:t>s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Y</a:t>
            </a:r>
            <a:r>
              <a:rPr lang="en-US" altLang="zh-CN" sz="2200" b="1" dirty="0"/>
              <a:t>]</a:t>
            </a:r>
            <a:r>
              <a:rPr lang="zh-CN" altLang="en-US" sz="2200" b="1" dirty="0"/>
              <a:t>，</a:t>
            </a:r>
            <a:r>
              <a:rPr lang="en-US" altLang="zh-CN" sz="2200" b="1" i="1" dirty="0"/>
              <a:t>v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Z</a:t>
            </a:r>
            <a:r>
              <a:rPr lang="en-US" altLang="zh-CN" sz="2200" b="1" dirty="0"/>
              <a:t>]=</a:t>
            </a:r>
            <a:r>
              <a:rPr lang="en-US" altLang="zh-CN" sz="2200" b="1" i="1" dirty="0"/>
              <a:t>t</a:t>
            </a:r>
            <a:r>
              <a:rPr lang="en-US" altLang="zh-CN" sz="2200" b="1" dirty="0"/>
              <a:t>[</a:t>
            </a:r>
            <a:r>
              <a:rPr lang="en-US" altLang="zh-CN" sz="2200" b="1" i="1" dirty="0"/>
              <a:t>Z</a:t>
            </a:r>
            <a:r>
              <a:rPr lang="en-US" altLang="zh-CN" sz="2200" b="1" dirty="0"/>
              <a:t>]</a:t>
            </a:r>
            <a:r>
              <a:rPr lang="zh-CN" altLang="en-US" sz="2200" b="1" dirty="0"/>
              <a:t>（</a:t>
            </a:r>
            <a:r>
              <a:rPr lang="zh-CN" altLang="en-US" sz="2200" b="1" dirty="0">
                <a:solidFill>
                  <a:srgbClr val="CC3300"/>
                </a:solidFill>
              </a:rPr>
              <a:t>即交换</a:t>
            </a:r>
            <a:r>
              <a:rPr lang="en-US" altLang="zh-CN" sz="2200" b="1" i="1" dirty="0">
                <a:solidFill>
                  <a:srgbClr val="CC3300"/>
                </a:solidFill>
              </a:rPr>
              <a:t>s</a:t>
            </a:r>
            <a:r>
              <a:rPr lang="zh-CN" altLang="en-US" sz="2200" b="1" dirty="0">
                <a:solidFill>
                  <a:srgbClr val="CC3300"/>
                </a:solidFill>
              </a:rPr>
              <a:t>，</a:t>
            </a:r>
            <a:r>
              <a:rPr lang="en-US" altLang="zh-CN" sz="2200" b="1" i="1" dirty="0">
                <a:solidFill>
                  <a:srgbClr val="CC3300"/>
                </a:solidFill>
              </a:rPr>
              <a:t>t</a:t>
            </a:r>
            <a:r>
              <a:rPr lang="zh-CN" altLang="en-US" sz="2200" b="1" dirty="0">
                <a:solidFill>
                  <a:srgbClr val="CC3300"/>
                </a:solidFill>
              </a:rPr>
              <a:t>元组的</a:t>
            </a:r>
            <a:r>
              <a:rPr lang="en-US" altLang="zh-CN" sz="2200" b="1" i="1" dirty="0">
                <a:solidFill>
                  <a:srgbClr val="CC3300"/>
                </a:solidFill>
              </a:rPr>
              <a:t>Y</a:t>
            </a:r>
            <a:r>
              <a:rPr lang="zh-CN" altLang="en-US" sz="2200" b="1" dirty="0">
                <a:solidFill>
                  <a:srgbClr val="CC3300"/>
                </a:solidFill>
              </a:rPr>
              <a:t>值所得的两个新元组必在</a:t>
            </a:r>
            <a:r>
              <a:rPr lang="en-US" altLang="zh-CN" sz="2200" b="1" i="1" dirty="0">
                <a:solidFill>
                  <a:srgbClr val="CC3300"/>
                </a:solidFill>
              </a:rPr>
              <a:t>r</a:t>
            </a:r>
            <a:r>
              <a:rPr lang="zh-CN" altLang="en-US" sz="2200" b="1" dirty="0">
                <a:solidFill>
                  <a:srgbClr val="CC3300"/>
                </a:solidFill>
              </a:rPr>
              <a:t>中</a:t>
            </a:r>
            <a:r>
              <a:rPr lang="zh-CN" altLang="en-US" sz="2200" b="1" dirty="0"/>
              <a:t>），则</a:t>
            </a:r>
            <a:r>
              <a:rPr lang="en-US" altLang="zh-CN" sz="2200" b="1" i="1" dirty="0"/>
              <a:t>Y</a:t>
            </a:r>
            <a:r>
              <a:rPr lang="zh-CN" altLang="en-US" sz="2200" b="1" dirty="0"/>
              <a:t>多值依赖于</a:t>
            </a:r>
            <a:r>
              <a:rPr lang="en-US" altLang="zh-CN" sz="2200" b="1" i="1" dirty="0"/>
              <a:t>X</a:t>
            </a:r>
            <a:r>
              <a:rPr lang="zh-CN" altLang="en-US" sz="2200" b="1" dirty="0"/>
              <a:t>，记为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→→</a:t>
            </a:r>
            <a:r>
              <a:rPr lang="en-US" altLang="zh-CN" sz="2200" b="1" i="1" dirty="0"/>
              <a:t>Y</a:t>
            </a:r>
            <a:r>
              <a:rPr lang="zh-CN" altLang="en-US" sz="2200" b="1" dirty="0"/>
              <a:t>。 这里，</a:t>
            </a:r>
            <a:r>
              <a:rPr lang="en-US" altLang="zh-CN" sz="2200" b="1" i="1" dirty="0"/>
              <a:t>X</a:t>
            </a:r>
            <a:r>
              <a:rPr lang="zh-CN" altLang="en-US" sz="2200" b="1" dirty="0"/>
              <a:t>，</a:t>
            </a:r>
            <a:r>
              <a:rPr lang="en-US" altLang="zh-CN" sz="2200" b="1" i="1" dirty="0"/>
              <a:t>Y</a:t>
            </a:r>
            <a:r>
              <a:rPr lang="zh-CN" altLang="en-US" sz="2200" b="1" dirty="0"/>
              <a:t>是</a:t>
            </a:r>
            <a:r>
              <a:rPr lang="en-US" altLang="zh-CN" sz="2200" b="1" i="1" dirty="0"/>
              <a:t>U</a:t>
            </a:r>
            <a:r>
              <a:rPr lang="zh-CN" altLang="en-US" sz="2200" b="1" dirty="0"/>
              <a:t>的子集，</a:t>
            </a:r>
            <a:r>
              <a:rPr lang="en-US" altLang="zh-CN" sz="2200" b="1" i="1" dirty="0"/>
              <a:t>Z</a:t>
            </a:r>
            <a:r>
              <a:rPr lang="en-US" altLang="zh-CN" sz="2200" b="1" dirty="0"/>
              <a:t>=</a:t>
            </a:r>
            <a:r>
              <a:rPr lang="en-US" altLang="zh-CN" sz="2200" b="1" i="1" dirty="0"/>
              <a:t>U-X</a:t>
            </a:r>
            <a:r>
              <a:rPr lang="en-US" altLang="zh-CN" sz="2200" b="1" dirty="0"/>
              <a:t>-</a:t>
            </a:r>
            <a:r>
              <a:rPr lang="en-US" altLang="zh-CN" sz="2200" b="1" i="1" dirty="0"/>
              <a:t>Y</a:t>
            </a:r>
            <a:r>
              <a:rPr lang="zh-CN" altLang="en-US" sz="2200" b="1" dirty="0"/>
              <a:t>。</a:t>
            </a:r>
            <a:endParaRPr lang="zh-CN" altLang="en-US" sz="2200" b="1" dirty="0"/>
          </a:p>
        </p:txBody>
      </p:sp>
      <p:sp>
        <p:nvSpPr>
          <p:cNvPr id="89092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多值依赖（续）</a:t>
            </a:r>
            <a:endParaRPr lang="zh-CN" altLang="en-US" dirty="0"/>
          </a:p>
        </p:txBody>
      </p:sp>
      <p:sp>
        <p:nvSpPr>
          <p:cNvPr id="91139" name="Rectangle 4"/>
          <p:cNvSpPr/>
          <p:nvPr/>
        </p:nvSpPr>
        <p:spPr>
          <a:xfrm>
            <a:off x="0" y="2049463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52267" name="Group 331"/>
          <p:cNvGraphicFramePr>
            <a:graphicFrameLocks noGrp="1"/>
          </p:cNvGraphicFramePr>
          <p:nvPr/>
        </p:nvGraphicFramePr>
        <p:xfrm>
          <a:off x="1403350" y="1860550"/>
          <a:ext cx="6553200" cy="4359278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  <a:gridCol w="2184400"/>
              </a:tblGrid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269875" algn="r"/>
                          <a:tab pos="2636520" algn="ctr"/>
                          <a:tab pos="5273675" algn="r"/>
                        </a:tabLst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2268" name="Rectangle 332"/>
          <p:cNvSpPr/>
          <p:nvPr/>
        </p:nvSpPr>
        <p:spPr>
          <a:xfrm>
            <a:off x="1331913" y="2997200"/>
            <a:ext cx="6769100" cy="360363"/>
          </a:xfrm>
          <a:prstGeom prst="rect">
            <a:avLst/>
          </a:prstGeom>
          <a:solidFill>
            <a:schemeClr val="accent1">
              <a:alpha val="50195"/>
            </a:scheme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52269" name="Rectangle 333"/>
          <p:cNvSpPr/>
          <p:nvPr/>
        </p:nvSpPr>
        <p:spPr>
          <a:xfrm>
            <a:off x="1331913" y="2276475"/>
            <a:ext cx="67691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52270" name="Rectangle 334"/>
          <p:cNvSpPr/>
          <p:nvPr/>
        </p:nvSpPr>
        <p:spPr>
          <a:xfrm>
            <a:off x="1331913" y="4221163"/>
            <a:ext cx="67691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52271" name="Rectangle 335"/>
          <p:cNvSpPr/>
          <p:nvPr/>
        </p:nvSpPr>
        <p:spPr>
          <a:xfrm>
            <a:off x="1331913" y="3429000"/>
            <a:ext cx="6769100" cy="360363"/>
          </a:xfrm>
          <a:prstGeom prst="rect">
            <a:avLst/>
          </a:prstGeom>
          <a:solidFill>
            <a:schemeClr val="accent1">
              <a:alpha val="50195"/>
            </a:scheme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grpSp>
        <p:nvGrpSpPr>
          <p:cNvPr id="2" name="Group 52"/>
          <p:cNvGrpSpPr/>
          <p:nvPr/>
        </p:nvGrpSpPr>
        <p:grpSpPr>
          <a:xfrm>
            <a:off x="3995738" y="3141663"/>
            <a:ext cx="1368425" cy="504825"/>
            <a:chOff x="2517" y="1979"/>
            <a:chExt cx="862" cy="318"/>
          </a:xfrm>
        </p:grpSpPr>
        <p:sp>
          <p:nvSpPr>
            <p:cNvPr id="91185" name="AutoShape 50"/>
            <p:cNvSpPr/>
            <p:nvPr/>
          </p:nvSpPr>
          <p:spPr>
            <a:xfrm>
              <a:off x="3152" y="1979"/>
              <a:ext cx="227" cy="318"/>
            </a:xfrm>
            <a:prstGeom prst="curvedLeftArrow">
              <a:avLst>
                <a:gd name="adj1" fmla="val 28017"/>
                <a:gd name="adj2" fmla="val 56035"/>
                <a:gd name="adj3" fmla="val 33333"/>
              </a:avLst>
            </a:prstGeom>
            <a:solidFill>
              <a:schemeClr val="accent1"/>
            </a:solidFill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1186" name="AutoShape 51"/>
            <p:cNvSpPr/>
            <p:nvPr/>
          </p:nvSpPr>
          <p:spPr>
            <a:xfrm rot="10800000">
              <a:off x="2517" y="1979"/>
              <a:ext cx="227" cy="318"/>
            </a:xfrm>
            <a:prstGeom prst="curvedLeftArrow">
              <a:avLst>
                <a:gd name="adj1" fmla="val 28017"/>
                <a:gd name="adj2" fmla="val 56035"/>
                <a:gd name="adj3" fmla="val 33333"/>
              </a:avLst>
            </a:prstGeom>
            <a:solidFill>
              <a:schemeClr val="accent1"/>
            </a:solidFill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sp>
        <p:nvSpPr>
          <p:cNvPr id="91184" name="灯片编号占位符 1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268" grpId="0" animBg="1"/>
      <p:bldP spid="552269" grpId="0" animBg="1"/>
      <p:bldP spid="552270" grpId="0" animBg="1"/>
      <p:bldP spid="55227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多值依赖（续）</a:t>
            </a:r>
            <a:endParaRPr lang="zh-CN" altLang="en-US" dirty="0"/>
          </a:p>
        </p:txBody>
      </p:sp>
      <p:sp>
        <p:nvSpPr>
          <p:cNvPr id="931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60000"/>
              </a:lnSpc>
            </a:pPr>
            <a:r>
              <a:rPr lang="zh-CN" altLang="en-US" b="1" dirty="0"/>
              <a:t>平凡多值依赖和非平凡的多值依赖</a:t>
            </a:r>
            <a:endParaRPr lang="zh-CN" altLang="en-US" b="1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b="1" dirty="0"/>
              <a:t>	</a:t>
            </a:r>
            <a:r>
              <a:rPr lang="zh-CN" altLang="en-US" sz="3200" b="1" dirty="0"/>
              <a:t>若</a:t>
            </a:r>
            <a:r>
              <a:rPr lang="en-US" altLang="zh-CN" sz="3200" b="1" dirty="0"/>
              <a:t>X→→Y</a:t>
            </a:r>
            <a:r>
              <a:rPr lang="zh-CN" altLang="en-US" sz="3200" b="1" dirty="0"/>
              <a:t>，而</a:t>
            </a:r>
            <a:r>
              <a:rPr lang="en-US" altLang="zh-CN" sz="3200" b="1" dirty="0"/>
              <a:t>Z</a:t>
            </a:r>
            <a:r>
              <a:rPr lang="zh-CN" altLang="en-US" sz="3200" b="1" dirty="0"/>
              <a:t>＝</a:t>
            </a:r>
            <a:r>
              <a:rPr lang="en-US" altLang="zh-CN" sz="3200" b="1" dirty="0"/>
              <a:t>φ</a:t>
            </a:r>
            <a:r>
              <a:rPr lang="zh-CN" altLang="en-US" sz="3200" b="1" dirty="0"/>
              <a:t>，则称</a:t>
            </a:r>
            <a:endParaRPr lang="zh-CN" altLang="en-US" sz="3200" b="1" dirty="0"/>
          </a:p>
          <a:p>
            <a:pPr lvl="1" eaLnBrk="1" hangingPunct="1">
              <a:buNone/>
            </a:pPr>
            <a:r>
              <a:rPr lang="zh-CN" altLang="en-US" sz="3200" b="1" dirty="0"/>
              <a:t>     </a:t>
            </a:r>
            <a:r>
              <a:rPr lang="en-US" altLang="zh-CN" sz="3200" b="1" dirty="0"/>
              <a:t>X→→Y</a:t>
            </a:r>
            <a:r>
              <a:rPr lang="zh-CN" altLang="en-US" sz="3200" b="1" dirty="0"/>
              <a:t>为</a:t>
            </a:r>
            <a:r>
              <a:rPr lang="zh-CN" altLang="en-US" sz="3200" b="1" dirty="0">
                <a:solidFill>
                  <a:srgbClr val="C00000"/>
                </a:solidFill>
              </a:rPr>
              <a:t>平凡的多值依赖</a:t>
            </a:r>
            <a:endParaRPr lang="zh-CN" altLang="en-US" sz="32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200000"/>
              </a:lnSpc>
            </a:pPr>
            <a:r>
              <a:rPr lang="zh-CN" altLang="en-US" sz="3200" b="1" dirty="0"/>
              <a:t>	否则称</a:t>
            </a:r>
            <a:r>
              <a:rPr lang="en-US" altLang="zh-CN" sz="3200" b="1" dirty="0"/>
              <a:t>X→→Y</a:t>
            </a:r>
            <a:r>
              <a:rPr lang="zh-CN" altLang="en-US" sz="3200" b="1" dirty="0"/>
              <a:t>为</a:t>
            </a:r>
            <a:r>
              <a:rPr lang="zh-CN" altLang="en-US" sz="3200" b="1" dirty="0">
                <a:solidFill>
                  <a:srgbClr val="C00000"/>
                </a:solidFill>
              </a:rPr>
              <a:t>非平凡的多值依赖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3188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多值依赖（续）</a:t>
            </a:r>
            <a:endParaRPr lang="zh-CN" altLang="en-US" sz="4000" dirty="0"/>
          </a:p>
        </p:txBody>
      </p:sp>
      <p:sp>
        <p:nvSpPr>
          <p:cNvPr id="942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70000"/>
              </a:lnSpc>
              <a:buNone/>
            </a:pPr>
            <a:r>
              <a:rPr lang="zh-CN" altLang="en-US" b="1" dirty="0"/>
              <a:t>［例</a:t>
            </a:r>
            <a:r>
              <a:rPr lang="en-US" altLang="zh-CN" b="1" dirty="0"/>
              <a:t>10</a:t>
            </a:r>
            <a:r>
              <a:rPr lang="zh-CN" altLang="en-US" b="1" dirty="0"/>
              <a:t>］关系模式</a:t>
            </a:r>
            <a:r>
              <a:rPr lang="en-US" altLang="zh-CN" b="1" dirty="0"/>
              <a:t>WSC</a:t>
            </a:r>
            <a:r>
              <a:rPr lang="zh-CN" altLang="en-US" b="1" dirty="0"/>
              <a:t>（</a:t>
            </a:r>
            <a:r>
              <a:rPr lang="en-US" altLang="zh-CN" b="1" dirty="0"/>
              <a:t>W</a:t>
            </a:r>
            <a:r>
              <a:rPr lang="zh-CN" altLang="en-US" b="1" dirty="0"/>
              <a:t>，</a:t>
            </a:r>
            <a:r>
              <a:rPr lang="en-US" altLang="zh-CN" b="1" dirty="0"/>
              <a:t>S</a:t>
            </a:r>
            <a:r>
              <a:rPr lang="zh-CN" altLang="en-US" b="1" dirty="0"/>
              <a:t>，</a:t>
            </a:r>
            <a:r>
              <a:rPr lang="en-US" altLang="zh-CN" b="1" dirty="0"/>
              <a:t>C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2" eaLnBrk="1" hangingPunct="1">
              <a:lnSpc>
                <a:spcPct val="170000"/>
              </a:lnSpc>
              <a:buClr>
                <a:schemeClr val="accent1"/>
              </a:buClr>
            </a:pPr>
            <a:r>
              <a:rPr lang="zh-CN" altLang="en-US" b="1" dirty="0"/>
              <a:t>     </a:t>
            </a:r>
            <a:r>
              <a:rPr lang="en-US" altLang="zh-CN" b="1" dirty="0"/>
              <a:t>W</a:t>
            </a:r>
            <a:r>
              <a:rPr lang="zh-CN" altLang="en-US" b="1" dirty="0"/>
              <a:t>表示仓库，</a:t>
            </a:r>
            <a:r>
              <a:rPr lang="en-US" altLang="zh-CN" b="1" dirty="0"/>
              <a:t>S</a:t>
            </a:r>
            <a:r>
              <a:rPr lang="zh-CN" altLang="en-US" b="1" dirty="0"/>
              <a:t>表示保管员，</a:t>
            </a:r>
            <a:r>
              <a:rPr lang="en-US" altLang="zh-CN" b="1" dirty="0"/>
              <a:t>C</a:t>
            </a:r>
            <a:r>
              <a:rPr lang="zh-CN" altLang="en-US" b="1" dirty="0"/>
              <a:t>表示商品</a:t>
            </a:r>
            <a:endParaRPr lang="zh-CN" altLang="en-US" b="1" dirty="0"/>
          </a:p>
          <a:p>
            <a:pPr lvl="2" eaLnBrk="1" hangingPunct="1">
              <a:lnSpc>
                <a:spcPct val="170000"/>
              </a:lnSpc>
              <a:buClr>
                <a:schemeClr val="accent1"/>
              </a:buClr>
            </a:pPr>
            <a:r>
              <a:rPr lang="zh-CN" altLang="en-US" b="1" dirty="0"/>
              <a:t>     假设每个仓库有若干个保管员，有若干种商品 </a:t>
            </a:r>
            <a:endParaRPr lang="zh-CN" altLang="en-US" b="1" dirty="0"/>
          </a:p>
          <a:p>
            <a:pPr lvl="2" eaLnBrk="1" hangingPunct="1">
              <a:lnSpc>
                <a:spcPct val="170000"/>
              </a:lnSpc>
              <a:buClr>
                <a:schemeClr val="accent1"/>
              </a:buClr>
            </a:pPr>
            <a:r>
              <a:rPr lang="zh-CN" altLang="en-US" b="1" dirty="0"/>
              <a:t>     每个保管员保管所在的仓库的所有商品</a:t>
            </a:r>
            <a:endParaRPr lang="zh-CN" altLang="en-US" b="1" dirty="0"/>
          </a:p>
          <a:p>
            <a:pPr lvl="2" eaLnBrk="1" hangingPunct="1">
              <a:lnSpc>
                <a:spcPct val="170000"/>
              </a:lnSpc>
              <a:buClr>
                <a:schemeClr val="accent1"/>
              </a:buClr>
            </a:pPr>
            <a:r>
              <a:rPr lang="zh-CN" altLang="en-US" b="1" dirty="0"/>
              <a:t>     每种商品被所有保管员保管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       </a:t>
            </a:r>
            <a:endParaRPr lang="zh-CN" altLang="en-US" b="1" dirty="0"/>
          </a:p>
        </p:txBody>
      </p:sp>
      <p:sp>
        <p:nvSpPr>
          <p:cNvPr id="94212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多值依赖（续）</a:t>
            </a:r>
            <a:endParaRPr lang="zh-CN" altLang="en-US" dirty="0"/>
          </a:p>
        </p:txBody>
      </p:sp>
      <p:sp>
        <p:nvSpPr>
          <p:cNvPr id="95235" name="Rectangle 4"/>
          <p:cNvSpPr/>
          <p:nvPr/>
        </p:nvSpPr>
        <p:spPr>
          <a:xfrm>
            <a:off x="0" y="2049463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52267" name="Group 331"/>
          <p:cNvGraphicFramePr>
            <a:graphicFrameLocks noGrp="1"/>
          </p:cNvGraphicFramePr>
          <p:nvPr/>
        </p:nvGraphicFramePr>
        <p:xfrm>
          <a:off x="1403350" y="1860550"/>
          <a:ext cx="6553200" cy="4359278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  <a:gridCol w="2184400"/>
              </a:tblGrid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269875" algn="r"/>
                          <a:tab pos="2636520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>
                          <a:tab pos="269875" algn="r"/>
                          <a:tab pos="2636520" algn="ctr"/>
                          <a:tab pos="5273675" algn="r"/>
                        </a:tabLst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2268" name="Rectangle 332"/>
          <p:cNvSpPr/>
          <p:nvPr/>
        </p:nvSpPr>
        <p:spPr>
          <a:xfrm>
            <a:off x="1331913" y="2997200"/>
            <a:ext cx="6769100" cy="360363"/>
          </a:xfrm>
          <a:prstGeom prst="rect">
            <a:avLst/>
          </a:prstGeom>
          <a:solidFill>
            <a:schemeClr val="accent1">
              <a:alpha val="50195"/>
            </a:scheme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52269" name="Rectangle 333"/>
          <p:cNvSpPr/>
          <p:nvPr/>
        </p:nvSpPr>
        <p:spPr>
          <a:xfrm>
            <a:off x="1331913" y="2276475"/>
            <a:ext cx="67691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52270" name="Rectangle 334"/>
          <p:cNvSpPr/>
          <p:nvPr/>
        </p:nvSpPr>
        <p:spPr>
          <a:xfrm>
            <a:off x="1331913" y="4221163"/>
            <a:ext cx="67691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552271" name="Rectangle 335"/>
          <p:cNvSpPr/>
          <p:nvPr/>
        </p:nvSpPr>
        <p:spPr>
          <a:xfrm>
            <a:off x="1331913" y="3429000"/>
            <a:ext cx="6769100" cy="360363"/>
          </a:xfrm>
          <a:prstGeom prst="rect">
            <a:avLst/>
          </a:prstGeom>
          <a:solidFill>
            <a:schemeClr val="accent1">
              <a:alpha val="50195"/>
            </a:schemeClr>
          </a:solidFill>
          <a:ln w="5715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grpSp>
        <p:nvGrpSpPr>
          <p:cNvPr id="2" name="Group 52"/>
          <p:cNvGrpSpPr/>
          <p:nvPr/>
        </p:nvGrpSpPr>
        <p:grpSpPr>
          <a:xfrm>
            <a:off x="3995738" y="3141663"/>
            <a:ext cx="1368425" cy="504825"/>
            <a:chOff x="2517" y="1979"/>
            <a:chExt cx="862" cy="318"/>
          </a:xfrm>
        </p:grpSpPr>
        <p:sp>
          <p:nvSpPr>
            <p:cNvPr id="95281" name="AutoShape 50"/>
            <p:cNvSpPr/>
            <p:nvPr/>
          </p:nvSpPr>
          <p:spPr>
            <a:xfrm>
              <a:off x="3152" y="1979"/>
              <a:ext cx="227" cy="318"/>
            </a:xfrm>
            <a:prstGeom prst="curvedLeftArrow">
              <a:avLst>
                <a:gd name="adj1" fmla="val 28017"/>
                <a:gd name="adj2" fmla="val 56035"/>
                <a:gd name="adj3" fmla="val 33333"/>
              </a:avLst>
            </a:prstGeom>
            <a:solidFill>
              <a:schemeClr val="accent1"/>
            </a:solidFill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  <p:sp>
          <p:nvSpPr>
            <p:cNvPr id="95282" name="AutoShape 51"/>
            <p:cNvSpPr/>
            <p:nvPr/>
          </p:nvSpPr>
          <p:spPr>
            <a:xfrm rot="10800000">
              <a:off x="2517" y="1979"/>
              <a:ext cx="227" cy="318"/>
            </a:xfrm>
            <a:prstGeom prst="curvedLeftArrow">
              <a:avLst>
                <a:gd name="adj1" fmla="val 28017"/>
                <a:gd name="adj2" fmla="val 56035"/>
                <a:gd name="adj3" fmla="val 33333"/>
              </a:avLst>
            </a:prstGeom>
            <a:solidFill>
              <a:schemeClr val="accent1"/>
            </a:solidFill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/>
            </a:p>
          </p:txBody>
        </p:sp>
      </p:grpSp>
      <p:sp>
        <p:nvSpPr>
          <p:cNvPr id="95280" name="灯片编号占位符 1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268" grpId="0" animBg="1"/>
      <p:bldP spid="552269" grpId="0" animBg="1"/>
      <p:bldP spid="552270" grpId="0" animBg="1"/>
      <p:bldP spid="55227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多值依赖（续）</a:t>
            </a:r>
            <a:endParaRPr lang="zh-CN" altLang="en-US" dirty="0"/>
          </a:p>
        </p:txBody>
      </p:sp>
      <p:sp>
        <p:nvSpPr>
          <p:cNvPr id="97283" name="Rectangle 5"/>
          <p:cNvSpPr/>
          <p:nvPr/>
        </p:nvSpPr>
        <p:spPr>
          <a:xfrm>
            <a:off x="0" y="2724150"/>
            <a:ext cx="9144000" cy="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pic>
        <p:nvPicPr>
          <p:cNvPr id="97284" name="Picture 4" descr="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913" y="2565400"/>
            <a:ext cx="5903912" cy="2125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7285" name="Rectangle 6"/>
          <p:cNvSpPr/>
          <p:nvPr/>
        </p:nvSpPr>
        <p:spPr>
          <a:xfrm>
            <a:off x="3348038" y="5157788"/>
            <a:ext cx="2511425" cy="39687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W→→S</a:t>
            </a:r>
            <a:r>
              <a:rPr lang="zh-CN" altLang="en-US" sz="2000" dirty="0">
                <a:latin typeface="Times New Roman" panose="02020603050405020304" pitchFamily="18" charset="0"/>
              </a:rPr>
              <a:t>且</a:t>
            </a:r>
            <a:r>
              <a:rPr lang="en-US" altLang="zh-CN" sz="2000" dirty="0">
                <a:latin typeface="Times New Roman" panose="02020603050405020304" pitchFamily="18" charset="0"/>
              </a:rPr>
              <a:t>W→→C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97286" name="Rectangle 7"/>
          <p:cNvSpPr/>
          <p:nvPr/>
        </p:nvSpPr>
        <p:spPr>
          <a:xfrm>
            <a:off x="1042988" y="1700213"/>
            <a:ext cx="2755900" cy="427037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用下图表示这种对应</a:t>
            </a:r>
            <a:r>
              <a:rPr lang="zh-CN" altLang="en-US" sz="1800" b="1" dirty="0">
                <a:latin typeface="Times New Roman" panose="02020603050405020304" pitchFamily="18" charset="0"/>
              </a:rPr>
              <a:t> </a:t>
            </a:r>
            <a:endParaRPr lang="zh-CN" altLang="en-US" sz="1800" b="1" dirty="0">
              <a:latin typeface="Times New Roman" panose="02020603050405020304" pitchFamily="18" charset="0"/>
            </a:endParaRPr>
          </a:p>
        </p:txBody>
      </p:sp>
      <p:sp>
        <p:nvSpPr>
          <p:cNvPr id="97287" name="灯片编号占位符 8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多值依赖的性质</a:t>
            </a:r>
            <a:endParaRPr lang="zh-CN" altLang="en-US" dirty="0"/>
          </a:p>
        </p:txBody>
      </p:sp>
      <p:sp>
        <p:nvSpPr>
          <p:cNvPr id="98307" name="Rectangle 3"/>
          <p:cNvSpPr>
            <a:spLocks noGrp="1"/>
          </p:cNvSpPr>
          <p:nvPr>
            <p:ph idx="1"/>
          </p:nvPr>
        </p:nvSpPr>
        <p:spPr>
          <a:xfrm>
            <a:off x="468313" y="1741488"/>
            <a:ext cx="8424862" cy="4856162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）多值依赖具有对称性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		若</a:t>
            </a:r>
            <a:r>
              <a:rPr lang="en-US" altLang="zh-CN" sz="2800" dirty="0"/>
              <a:t>X→→Y</a:t>
            </a:r>
            <a:r>
              <a:rPr lang="zh-CN" altLang="en-US" sz="2800" dirty="0"/>
              <a:t>，则</a:t>
            </a:r>
            <a:r>
              <a:rPr lang="en-US" altLang="zh-CN" sz="2800" dirty="0"/>
              <a:t>X→→Z</a:t>
            </a:r>
            <a:r>
              <a:rPr lang="zh-CN" altLang="en-US" sz="2800" dirty="0"/>
              <a:t>，其中</a:t>
            </a:r>
            <a:r>
              <a:rPr lang="en-US" altLang="zh-CN" sz="2800" dirty="0"/>
              <a:t>Z</a:t>
            </a:r>
            <a:r>
              <a:rPr lang="zh-CN" altLang="en-US" sz="2800" dirty="0"/>
              <a:t>＝</a:t>
            </a:r>
            <a:r>
              <a:rPr lang="en-US" altLang="zh-CN" sz="2800" dirty="0"/>
              <a:t>U</a:t>
            </a:r>
            <a:r>
              <a:rPr lang="zh-CN" altLang="en-US" sz="2800" dirty="0"/>
              <a:t>－</a:t>
            </a:r>
            <a:r>
              <a:rPr lang="en-US" altLang="zh-CN" sz="2800" dirty="0"/>
              <a:t>X</a:t>
            </a:r>
            <a:r>
              <a:rPr lang="zh-CN" altLang="en-US" sz="2800" dirty="0"/>
              <a:t>－</a:t>
            </a:r>
            <a:r>
              <a:rPr lang="en-US" altLang="zh-CN" sz="2800" dirty="0"/>
              <a:t>Y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）多值依赖具有传递性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		若</a:t>
            </a:r>
            <a:r>
              <a:rPr lang="en-US" altLang="zh-CN" sz="2800" dirty="0"/>
              <a:t>X→→Y</a:t>
            </a:r>
            <a:r>
              <a:rPr lang="zh-CN" altLang="en-US" sz="2800" dirty="0"/>
              <a:t>，</a:t>
            </a:r>
            <a:r>
              <a:rPr lang="en-US" altLang="zh-CN" sz="2800" dirty="0"/>
              <a:t>Y→→Z</a:t>
            </a:r>
            <a:r>
              <a:rPr lang="zh-CN" altLang="en-US" sz="2800" dirty="0"/>
              <a:t>， 则</a:t>
            </a:r>
            <a:r>
              <a:rPr lang="en-US" altLang="zh-CN" sz="2800" dirty="0"/>
              <a:t>X→→Z –Y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）函数依赖是多值依赖的特殊情况。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		若</a:t>
            </a:r>
            <a:r>
              <a:rPr lang="en-US" altLang="zh-CN" sz="2800" dirty="0"/>
              <a:t>X→Y</a:t>
            </a:r>
            <a:r>
              <a:rPr lang="zh-CN" altLang="en-US" sz="2800" dirty="0"/>
              <a:t>，则</a:t>
            </a:r>
            <a:r>
              <a:rPr lang="en-US" altLang="zh-CN" sz="2800" dirty="0"/>
              <a:t>X→→Y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）若</a:t>
            </a:r>
            <a:r>
              <a:rPr lang="en-US" altLang="zh-CN" sz="2800" dirty="0"/>
              <a:t>X→→Y</a:t>
            </a:r>
            <a:r>
              <a:rPr lang="zh-CN" altLang="en-US" sz="2800" dirty="0"/>
              <a:t>，</a:t>
            </a:r>
            <a:r>
              <a:rPr lang="en-US" altLang="zh-CN" sz="2800" dirty="0"/>
              <a:t>X→→Z</a:t>
            </a:r>
            <a:r>
              <a:rPr lang="zh-CN" altLang="en-US" sz="2800" dirty="0"/>
              <a:t>，则</a:t>
            </a:r>
            <a:r>
              <a:rPr lang="en-US" altLang="zh-CN" sz="2800" dirty="0"/>
              <a:t>X→→Y</a:t>
            </a:r>
            <a:r>
              <a:rPr lang="en-US" altLang="zh-CN" sz="2800" dirty="0">
                <a:sym typeface="Symbol" panose="05050102010706020507" pitchFamily="18" charset="2"/>
              </a:rPr>
              <a:t></a:t>
            </a:r>
            <a:r>
              <a:rPr lang="en-US" altLang="zh-CN" sz="2800" dirty="0"/>
              <a:t> Z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5</a:t>
            </a:r>
            <a:r>
              <a:rPr lang="zh-CN" altLang="en-US" sz="2800" dirty="0"/>
              <a:t>）若</a:t>
            </a:r>
            <a:r>
              <a:rPr lang="en-US" altLang="zh-CN" sz="2800" dirty="0"/>
              <a:t>X→→Y</a:t>
            </a:r>
            <a:r>
              <a:rPr lang="zh-CN" altLang="en-US" sz="2800" dirty="0"/>
              <a:t>，</a:t>
            </a:r>
            <a:r>
              <a:rPr lang="en-US" altLang="zh-CN" sz="2800" dirty="0"/>
              <a:t>X→→Z</a:t>
            </a:r>
            <a:r>
              <a:rPr lang="zh-CN" altLang="en-US" sz="2800" dirty="0"/>
              <a:t>，则</a:t>
            </a:r>
            <a:r>
              <a:rPr lang="en-US" altLang="zh-CN" sz="2800" dirty="0"/>
              <a:t>X→→Y∩Z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6</a:t>
            </a:r>
            <a:r>
              <a:rPr lang="zh-CN" altLang="en-US" sz="2800" dirty="0"/>
              <a:t>）若</a:t>
            </a:r>
            <a:r>
              <a:rPr lang="en-US" altLang="zh-CN" sz="2800" dirty="0"/>
              <a:t>X→→Y</a:t>
            </a:r>
            <a:r>
              <a:rPr lang="zh-CN" altLang="en-US" sz="2800" dirty="0"/>
              <a:t>，</a:t>
            </a:r>
            <a:r>
              <a:rPr lang="en-US" altLang="zh-CN" sz="2800" dirty="0"/>
              <a:t>X→→Z</a:t>
            </a:r>
            <a:r>
              <a:rPr lang="zh-CN" altLang="en-US" sz="2800" dirty="0"/>
              <a:t>，则</a:t>
            </a:r>
            <a:r>
              <a:rPr lang="en-US" altLang="zh-CN" sz="2800" dirty="0"/>
              <a:t>X→→Y-Z</a:t>
            </a:r>
            <a:r>
              <a:rPr lang="zh-CN" altLang="en-US" sz="2800" dirty="0"/>
              <a:t>，</a:t>
            </a:r>
            <a:r>
              <a:rPr lang="en-US" altLang="zh-CN" sz="2800" dirty="0"/>
              <a:t>X→→Z -Y</a:t>
            </a:r>
            <a:r>
              <a:rPr lang="zh-CN" altLang="en-US" sz="2800" dirty="0"/>
              <a:t>。</a:t>
            </a:r>
            <a:endParaRPr lang="zh-CN" altLang="en-US" dirty="0"/>
          </a:p>
        </p:txBody>
      </p:sp>
      <p:sp>
        <p:nvSpPr>
          <p:cNvPr id="98308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多值依赖与函数依赖的区别</a:t>
            </a:r>
            <a:endParaRPr lang="zh-CN" altLang="en-US" dirty="0"/>
          </a:p>
        </p:txBody>
      </p:sp>
      <p:sp>
        <p:nvSpPr>
          <p:cNvPr id="993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140000"/>
              </a:lnSpc>
              <a:buNone/>
            </a:pPr>
            <a:r>
              <a:rPr lang="en-US" altLang="zh-CN" dirty="0">
                <a:solidFill>
                  <a:schemeClr val="accent1"/>
                </a:solidFill>
              </a:rPr>
              <a:t>(1)</a:t>
            </a:r>
            <a:r>
              <a:rPr lang="en-US" altLang="zh-CN" dirty="0"/>
              <a:t> </a:t>
            </a:r>
            <a:r>
              <a:rPr lang="zh-CN" altLang="en-US" dirty="0"/>
              <a:t>多值依赖的有效性与属性集的范围有关</a:t>
            </a:r>
            <a:endParaRPr lang="zh-CN" altLang="en-US" dirty="0"/>
          </a:p>
          <a:p>
            <a:pPr marL="533400" indent="-533400" eaLnBrk="1" hangingPunct="1">
              <a:buNone/>
            </a:pPr>
            <a:r>
              <a:rPr lang="en-US" altLang="zh-CN" dirty="0">
                <a:solidFill>
                  <a:schemeClr val="accent1"/>
                </a:solidFill>
              </a:rPr>
              <a:t>(2)</a:t>
            </a:r>
            <a:r>
              <a:rPr lang="en-US" altLang="zh-CN" dirty="0"/>
              <a:t> </a:t>
            </a:r>
            <a:endParaRPr lang="en-US" altLang="zh-CN" dirty="0"/>
          </a:p>
          <a:p>
            <a:pPr marL="914400" lvl="1" indent="-457200" eaLnBrk="1" hangingPunct="1">
              <a:lnSpc>
                <a:spcPct val="130000"/>
              </a:lnSpc>
            </a:pPr>
            <a:r>
              <a:rPr lang="zh-CN" altLang="en-US" sz="3000" dirty="0"/>
              <a:t>若函数依赖</a:t>
            </a:r>
            <a:r>
              <a:rPr lang="en-US" altLang="zh-CN" sz="3000" dirty="0"/>
              <a:t>X→Y</a:t>
            </a:r>
            <a:r>
              <a:rPr lang="zh-CN" altLang="en-US" sz="3000" dirty="0"/>
              <a:t>在</a:t>
            </a:r>
            <a:r>
              <a:rPr lang="en-US" altLang="zh-CN" sz="3000" dirty="0"/>
              <a:t>R</a:t>
            </a:r>
            <a:r>
              <a:rPr lang="zh-CN" altLang="en-US" sz="3000" dirty="0"/>
              <a:t>（</a:t>
            </a:r>
            <a:r>
              <a:rPr lang="en-US" altLang="zh-CN" sz="3000" dirty="0"/>
              <a:t>U</a:t>
            </a:r>
            <a:r>
              <a:rPr lang="zh-CN" altLang="en-US" sz="3000" dirty="0"/>
              <a:t>）上成立，则对于任何</a:t>
            </a:r>
            <a:r>
              <a:rPr lang="en-US" altLang="zh-CN" sz="3000" dirty="0"/>
              <a:t>Y' </a:t>
            </a:r>
            <a:r>
              <a:rPr lang="en-US" altLang="zh-CN" sz="3000" dirty="0">
                <a:sym typeface="Symbol" panose="05050102010706020507" pitchFamily="18" charset="2"/>
              </a:rPr>
              <a:t></a:t>
            </a:r>
            <a:r>
              <a:rPr lang="en-US" altLang="zh-CN" sz="3000" dirty="0"/>
              <a:t> Y</a:t>
            </a:r>
            <a:r>
              <a:rPr lang="zh-CN" altLang="en-US" sz="3000" dirty="0"/>
              <a:t>均有</a:t>
            </a:r>
            <a:r>
              <a:rPr lang="en-US" altLang="zh-CN" sz="3000" dirty="0"/>
              <a:t>X→Y' </a:t>
            </a:r>
            <a:r>
              <a:rPr lang="zh-CN" altLang="en-US" sz="3000" dirty="0"/>
              <a:t>成立</a:t>
            </a:r>
            <a:endParaRPr lang="zh-CN" altLang="en-US" sz="3000" dirty="0"/>
          </a:p>
          <a:p>
            <a:pPr marL="914400" lvl="1" indent="-457200" eaLnBrk="1" hangingPunct="1">
              <a:lnSpc>
                <a:spcPct val="130000"/>
              </a:lnSpc>
            </a:pPr>
            <a:r>
              <a:rPr lang="zh-CN" altLang="en-US" sz="3000" dirty="0"/>
              <a:t>多值依赖</a:t>
            </a:r>
            <a:r>
              <a:rPr lang="en-US" altLang="zh-CN" sz="3000" dirty="0"/>
              <a:t>X→→Y</a:t>
            </a:r>
            <a:r>
              <a:rPr lang="zh-CN" altLang="en-US" sz="3000" dirty="0"/>
              <a:t>若在</a:t>
            </a:r>
            <a:r>
              <a:rPr lang="en-US" altLang="zh-CN" sz="3000" dirty="0"/>
              <a:t>R(U)</a:t>
            </a:r>
            <a:r>
              <a:rPr lang="zh-CN" altLang="en-US" sz="3000" dirty="0"/>
              <a:t>上成立，不能断言对于任何</a:t>
            </a:r>
            <a:r>
              <a:rPr lang="en-US" altLang="zh-CN" sz="3000" dirty="0"/>
              <a:t>Y' </a:t>
            </a:r>
            <a:r>
              <a:rPr lang="en-US" altLang="zh-CN" sz="3000" dirty="0">
                <a:sym typeface="Symbol" panose="05050102010706020507" pitchFamily="18" charset="2"/>
              </a:rPr>
              <a:t></a:t>
            </a:r>
            <a:r>
              <a:rPr lang="en-US" altLang="zh-CN" sz="3000" dirty="0"/>
              <a:t> Y</a:t>
            </a:r>
            <a:r>
              <a:rPr lang="zh-CN" altLang="en-US" sz="3000" dirty="0"/>
              <a:t>有</a:t>
            </a:r>
            <a:r>
              <a:rPr lang="en-US" altLang="zh-CN" sz="3000" dirty="0"/>
              <a:t>X→→Y' </a:t>
            </a:r>
            <a:r>
              <a:rPr lang="zh-CN" altLang="en-US" sz="3000" dirty="0"/>
              <a:t>成立</a:t>
            </a:r>
            <a:endParaRPr lang="zh-CN" altLang="en-US" sz="3000" dirty="0"/>
          </a:p>
          <a:p>
            <a:pPr marL="533400" indent="-533400" eaLnBrk="1" hangingPunct="1">
              <a:lnSpc>
                <a:spcPct val="140000"/>
              </a:lnSpc>
              <a:buFont typeface="Wingdings" panose="05000000000000000000" pitchFamily="2" charset="2"/>
              <a:buChar char="n"/>
            </a:pPr>
            <a:endParaRPr lang="en-US" altLang="zh-CN" dirty="0"/>
          </a:p>
        </p:txBody>
      </p:sp>
      <p:sp>
        <p:nvSpPr>
          <p:cNvPr id="99332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  </a:t>
            </a:r>
            <a:r>
              <a:rPr lang="zh-CN" altLang="en-US" sz="4000" dirty="0"/>
              <a:t>规范化</a:t>
            </a:r>
            <a:endParaRPr lang="zh-CN" altLang="en-US" sz="4000" dirty="0"/>
          </a:p>
        </p:txBody>
      </p:sp>
      <p:sp>
        <p:nvSpPr>
          <p:cNvPr id="100355" name="Rectangle 3"/>
          <p:cNvSpPr>
            <a:spLocks noGrp="1"/>
          </p:cNvSpPr>
          <p:nvPr>
            <p:ph idx="1"/>
          </p:nvPr>
        </p:nvSpPr>
        <p:spPr>
          <a:xfrm>
            <a:off x="1042988" y="1981200"/>
            <a:ext cx="7643812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6.2.8  4NF</a:t>
            </a:r>
            <a:endParaRPr lang="en-US" altLang="zh-CN" sz="2400" b="1" dirty="0">
              <a:solidFill>
                <a:srgbClr val="3333FF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6.2.9  </a:t>
            </a:r>
            <a:r>
              <a:rPr lang="zh-CN" altLang="en-US" sz="2400" b="1" dirty="0"/>
              <a:t>规范化小结</a:t>
            </a:r>
            <a:endParaRPr lang="zh-CN" altLang="en-US" sz="2400" dirty="0"/>
          </a:p>
        </p:txBody>
      </p:sp>
      <p:sp>
        <p:nvSpPr>
          <p:cNvPr id="100356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6.2.8  4NF</a:t>
            </a:r>
            <a:endParaRPr lang="en-US" altLang="zh-CN" dirty="0"/>
          </a:p>
        </p:txBody>
      </p:sp>
      <p:sp>
        <p:nvSpPr>
          <p:cNvPr id="10137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定义</a:t>
            </a:r>
            <a:r>
              <a:rPr lang="en-US" altLang="zh-CN" sz="2800" b="1" dirty="0"/>
              <a:t>6.10   </a:t>
            </a:r>
            <a:r>
              <a:rPr lang="zh-CN" altLang="en-US" sz="2800" b="1" dirty="0"/>
              <a:t>关系模式</a:t>
            </a:r>
            <a:r>
              <a:rPr lang="en-US" altLang="zh-CN" sz="2800" b="1" dirty="0"/>
              <a:t>R&lt;U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F&gt;</a:t>
            </a:r>
            <a:r>
              <a:rPr lang="en-US" altLang="zh-CN" sz="2600" b="1" dirty="0"/>
              <a:t>∈</a:t>
            </a:r>
            <a:r>
              <a:rPr lang="en-US" altLang="zh-CN" sz="2800" b="1" dirty="0"/>
              <a:t>1NF</a:t>
            </a:r>
            <a:r>
              <a:rPr lang="zh-CN" altLang="en-US" sz="2800" b="1" dirty="0"/>
              <a:t>，如果对于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的每个非平凡多值依赖</a:t>
            </a:r>
            <a:r>
              <a:rPr lang="en-US" altLang="zh-CN" sz="2800" b="1" dirty="0"/>
              <a:t>X→→Y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Y </a:t>
            </a:r>
            <a:r>
              <a:rPr lang="en-US" altLang="zh-CN" sz="2800" b="1" dirty="0">
                <a:sym typeface="Symbol" panose="05050102010706020507" pitchFamily="18" charset="2"/>
              </a:rPr>
              <a:t></a:t>
            </a:r>
            <a:r>
              <a:rPr lang="en-US" altLang="zh-CN" sz="2800" b="1" dirty="0"/>
              <a:t> X</a:t>
            </a:r>
            <a:r>
              <a:rPr lang="zh-CN" altLang="en-US" sz="2800" b="1" dirty="0"/>
              <a:t>），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都含有码，则</a:t>
            </a:r>
            <a:r>
              <a:rPr lang="en-US" altLang="zh-CN" sz="2800" b="1" dirty="0"/>
              <a:t>R</a:t>
            </a:r>
            <a:r>
              <a:rPr lang="en-US" altLang="zh-CN" sz="2600" b="1" dirty="0"/>
              <a:t>∈</a:t>
            </a:r>
            <a:r>
              <a:rPr lang="en-US" altLang="zh-CN" sz="2800" b="1" dirty="0"/>
              <a:t>4NF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/>
              <a:t>如果</a:t>
            </a:r>
            <a:r>
              <a:rPr lang="en-US" altLang="zh-CN" sz="2800" b="1" dirty="0"/>
              <a:t>R </a:t>
            </a:r>
            <a:r>
              <a:rPr lang="en-US" altLang="zh-CN" sz="2600" b="1" dirty="0"/>
              <a:t>∈</a:t>
            </a:r>
            <a:r>
              <a:rPr lang="en-US" altLang="zh-CN" sz="2800" b="1" dirty="0"/>
              <a:t> 4NF</a:t>
            </a:r>
            <a:r>
              <a:rPr lang="zh-CN" altLang="en-US" sz="2800" b="1" dirty="0"/>
              <a:t>， 则</a:t>
            </a:r>
            <a:r>
              <a:rPr lang="en-US" altLang="zh-CN" sz="2800" b="1" dirty="0"/>
              <a:t>R</a:t>
            </a:r>
            <a:r>
              <a:rPr lang="en-US" altLang="zh-CN" sz="2600" b="1" dirty="0"/>
              <a:t> ∈</a:t>
            </a:r>
            <a:r>
              <a:rPr lang="en-US" altLang="zh-CN" sz="2800" b="1" dirty="0"/>
              <a:t> BCNF</a:t>
            </a:r>
            <a:endParaRPr lang="en-US" altLang="zh-CN" sz="2800" b="1" dirty="0"/>
          </a:p>
          <a:p>
            <a:pPr lvl="1" eaLnBrk="1" hangingPunct="1">
              <a:lnSpc>
                <a:spcPct val="15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6600FF"/>
                </a:solidFill>
              </a:rPr>
              <a:t>不允许</a:t>
            </a:r>
            <a:r>
              <a:rPr lang="zh-CN" altLang="en-US" b="1" dirty="0"/>
              <a:t>有非平凡且非函数依赖的</a:t>
            </a:r>
            <a:r>
              <a:rPr lang="zh-CN" altLang="en-US" b="1" dirty="0">
                <a:solidFill>
                  <a:srgbClr val="6600FF"/>
                </a:solidFill>
              </a:rPr>
              <a:t>多值依赖</a:t>
            </a:r>
            <a:endParaRPr lang="zh-CN" altLang="en-US" b="1" dirty="0"/>
          </a:p>
          <a:p>
            <a:pPr lvl="1" eaLnBrk="1" hangingPunct="1">
              <a:lnSpc>
                <a:spcPct val="15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6600FF"/>
                </a:solidFill>
              </a:rPr>
              <a:t>允许</a:t>
            </a:r>
            <a:r>
              <a:rPr lang="zh-CN" altLang="en-US" b="1" dirty="0"/>
              <a:t>的非平凡多值依赖是</a:t>
            </a:r>
            <a:r>
              <a:rPr lang="zh-CN" altLang="en-US" b="1" dirty="0">
                <a:solidFill>
                  <a:srgbClr val="6600FF"/>
                </a:solidFill>
              </a:rPr>
              <a:t>函数依赖</a:t>
            </a:r>
            <a:endParaRPr lang="zh-CN" altLang="en-US" b="1" dirty="0"/>
          </a:p>
        </p:txBody>
      </p:sp>
      <p:sp>
        <p:nvSpPr>
          <p:cNvPr id="101380" name="Line 4"/>
          <p:cNvSpPr/>
          <p:nvPr/>
        </p:nvSpPr>
        <p:spPr>
          <a:xfrm>
            <a:off x="6300788" y="2924175"/>
            <a:ext cx="287337" cy="36036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1381" name="灯片编号占位符 6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4NF</a:t>
            </a:r>
            <a:r>
              <a:rPr lang="zh-CN" altLang="en-US" dirty="0"/>
              <a:t>（续）</a:t>
            </a:r>
            <a:endParaRPr lang="zh-CN" altLang="en-US" dirty="0"/>
          </a:p>
        </p:txBody>
      </p:sp>
      <p:sp>
        <p:nvSpPr>
          <p:cNvPr id="1024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b="1" dirty="0"/>
              <a:t>例</a:t>
            </a:r>
            <a:r>
              <a:rPr lang="zh-CN" altLang="en-US" sz="2600" b="1" dirty="0"/>
              <a:t>： </a:t>
            </a:r>
            <a:r>
              <a:rPr lang="en-US" altLang="zh-CN" sz="2600" b="1" dirty="0"/>
              <a:t>Teaching(C,T,B) ∈ 4NF</a:t>
            </a:r>
            <a:endParaRPr lang="en-US" altLang="zh-CN" sz="2600" b="1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600" b="1" dirty="0"/>
              <a:t>    </a:t>
            </a:r>
            <a:r>
              <a:rPr lang="zh-CN" altLang="en-US" sz="2600" b="1" dirty="0"/>
              <a:t>存在非平凡的多值依赖</a:t>
            </a:r>
            <a:r>
              <a:rPr lang="en-US" altLang="zh-CN" sz="2600" b="1" dirty="0"/>
              <a:t>C→→T</a:t>
            </a:r>
            <a:r>
              <a:rPr lang="zh-CN" altLang="en-US" sz="2600" b="1" dirty="0"/>
              <a:t>，且</a:t>
            </a:r>
            <a:r>
              <a:rPr lang="en-US" altLang="zh-CN" sz="2600" b="1" dirty="0"/>
              <a:t>C</a:t>
            </a:r>
            <a:r>
              <a:rPr lang="zh-CN" altLang="en-US" sz="2600" b="1" dirty="0"/>
              <a:t>不是码</a:t>
            </a:r>
            <a:endParaRPr lang="zh-CN" altLang="en-US" sz="2600" b="1" dirty="0"/>
          </a:p>
          <a:p>
            <a:pPr eaLnBrk="1" hangingPunct="1">
              <a:lnSpc>
                <a:spcPct val="140000"/>
              </a:lnSpc>
              <a:buClr>
                <a:schemeClr val="accent1"/>
              </a:buClr>
            </a:pPr>
            <a:r>
              <a:rPr lang="zh-CN" altLang="en-US" sz="2600" b="1" dirty="0"/>
              <a:t>用投影分解法把</a:t>
            </a:r>
            <a:r>
              <a:rPr lang="en-US" altLang="zh-CN" sz="2600" b="1" dirty="0"/>
              <a:t>Teaching</a:t>
            </a:r>
            <a:r>
              <a:rPr lang="zh-CN" altLang="en-US" sz="2600" b="1" dirty="0"/>
              <a:t>分解为如下两个关系模式：</a:t>
            </a:r>
            <a:endParaRPr lang="zh-CN" altLang="en-US" sz="2600" b="1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600" b="1" dirty="0"/>
              <a:t>		               </a:t>
            </a:r>
            <a:r>
              <a:rPr lang="en-US" altLang="zh-CN" sz="2600" b="1" dirty="0"/>
              <a:t>CT(C, T) ∈ 4NF</a:t>
            </a:r>
            <a:endParaRPr lang="en-US" altLang="zh-CN" sz="2600" b="1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600" b="1" dirty="0"/>
              <a:t>          		   CB(C, B) ∈ 4NF</a:t>
            </a:r>
            <a:endParaRPr lang="en-US" altLang="zh-CN" sz="2600" b="1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600" b="1" dirty="0"/>
              <a:t>     C→→T</a:t>
            </a:r>
            <a:r>
              <a:rPr lang="zh-CN" altLang="en-US" sz="2600" b="1" dirty="0"/>
              <a:t>， </a:t>
            </a:r>
            <a:r>
              <a:rPr lang="en-US" altLang="zh-CN" sz="2600" b="1" dirty="0"/>
              <a:t>C→→B</a:t>
            </a:r>
            <a:r>
              <a:rPr lang="zh-CN" altLang="en-US" sz="2600" b="1" dirty="0"/>
              <a:t>是平凡多值依赖</a:t>
            </a:r>
            <a:endParaRPr lang="zh-CN" altLang="en-US" sz="2600" b="1" dirty="0"/>
          </a:p>
          <a:p>
            <a:pPr lvl="3" eaLnBrk="1" hangingPunct="1">
              <a:lnSpc>
                <a:spcPct val="140000"/>
              </a:lnSpc>
              <a:buNone/>
            </a:pPr>
            <a:r>
              <a:rPr lang="zh-CN" altLang="en-US" sz="2400" b="1" dirty="0"/>
              <a:t>  </a:t>
            </a:r>
            <a:endParaRPr lang="zh-CN" altLang="en-US" sz="2400" b="1" dirty="0"/>
          </a:p>
        </p:txBody>
      </p:sp>
      <p:sp>
        <p:nvSpPr>
          <p:cNvPr id="102404" name="Line 4"/>
          <p:cNvSpPr/>
          <p:nvPr/>
        </p:nvSpPr>
        <p:spPr>
          <a:xfrm>
            <a:off x="4064000" y="2205038"/>
            <a:ext cx="76200" cy="304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240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0" y="560388"/>
            <a:ext cx="4140200" cy="2220912"/>
          </a:xfrm>
          <a:prstGeom prst="rect">
            <a:avLst/>
          </a:prstGeom>
          <a:noFill/>
          <a:ln w="57150">
            <a:noFill/>
          </a:ln>
        </p:spPr>
      </p:pic>
      <p:sp>
        <p:nvSpPr>
          <p:cNvPr id="102406" name="灯片编号占位符 7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6.2  </a:t>
            </a:r>
            <a:r>
              <a:rPr lang="zh-CN" altLang="en-US" sz="4000" dirty="0"/>
              <a:t>规范化</a:t>
            </a:r>
            <a:endParaRPr lang="zh-CN" altLang="en-US" sz="4000" dirty="0"/>
          </a:p>
        </p:txBody>
      </p:sp>
      <p:sp>
        <p:nvSpPr>
          <p:cNvPr id="103427" name="Rectangle 3"/>
          <p:cNvSpPr>
            <a:spLocks noGrp="1"/>
          </p:cNvSpPr>
          <p:nvPr>
            <p:ph idx="1"/>
          </p:nvPr>
        </p:nvSpPr>
        <p:spPr>
          <a:xfrm>
            <a:off x="1042988" y="1981200"/>
            <a:ext cx="7643812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6.2.1  </a:t>
            </a:r>
            <a:r>
              <a:rPr lang="zh-CN" altLang="en-US" sz="2400" b="1" dirty="0"/>
              <a:t>函数依赖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6.2.2  </a:t>
            </a:r>
            <a:r>
              <a:rPr lang="zh-CN" altLang="en-US" sz="2400" b="1" dirty="0"/>
              <a:t>码</a:t>
            </a:r>
            <a:endParaRPr lang="zh-CN" altLang="en-US" sz="2400" b="1" dirty="0"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6.2.3  </a:t>
            </a:r>
            <a:r>
              <a:rPr lang="zh-CN" altLang="en-US" sz="2400" b="1" dirty="0"/>
              <a:t>范式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6.2.4  2NF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6.2.5  3NF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6.2.6  BCNF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6.2.7  </a:t>
            </a:r>
            <a:r>
              <a:rPr lang="zh-CN" altLang="en-US" sz="2400" b="1" dirty="0"/>
              <a:t>多值依赖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6.2.8  4NF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6.2.9  </a:t>
            </a:r>
            <a:r>
              <a:rPr lang="zh-CN" altLang="en-US" sz="2400" b="1" dirty="0">
                <a:solidFill>
                  <a:srgbClr val="3333FF"/>
                </a:solidFill>
              </a:rPr>
              <a:t>规范化小结</a:t>
            </a:r>
            <a:endParaRPr lang="zh-CN" altLang="en-US" sz="2400" b="1" dirty="0">
              <a:solidFill>
                <a:srgbClr val="3333FF"/>
              </a:solidFill>
            </a:endParaRPr>
          </a:p>
        </p:txBody>
      </p:sp>
      <p:sp>
        <p:nvSpPr>
          <p:cNvPr id="103428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6.2.9 </a:t>
            </a:r>
            <a:r>
              <a:rPr lang="zh-CN" altLang="en-US" dirty="0"/>
              <a:t>规范化小结</a:t>
            </a:r>
            <a:endParaRPr lang="zh-CN" altLang="en-US" dirty="0"/>
          </a:p>
        </p:txBody>
      </p:sp>
      <p:sp>
        <p:nvSpPr>
          <p:cNvPr id="1044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sz="2800" b="1" dirty="0"/>
              <a:t>关系数据库的规范化理论是数据库逻辑设计的工具</a:t>
            </a:r>
            <a:endParaRPr lang="zh-CN" altLang="en-US" sz="3600" b="1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/>
              <a:t>目的：尽量消除插入、删除异常，修改复杂，数据冗余</a:t>
            </a:r>
            <a:endParaRPr lang="zh-CN" altLang="en-US" sz="3600" b="1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/>
              <a:t>基本思想：逐步消除数据依赖中不合适的部分</a:t>
            </a:r>
            <a:endParaRPr lang="zh-CN" altLang="en-US" sz="2800" b="1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sz="2400" b="1" dirty="0"/>
              <a:t>实质：概念的</a:t>
            </a:r>
            <a:r>
              <a:rPr lang="zh-CN" altLang="en-US" sz="2400" b="1" dirty="0">
                <a:solidFill>
                  <a:srgbClr val="FF00FF"/>
                </a:solidFill>
              </a:rPr>
              <a:t>单一化</a:t>
            </a:r>
            <a:endParaRPr lang="zh-CN" altLang="en-US" sz="2400" b="1" dirty="0"/>
          </a:p>
        </p:txBody>
      </p:sp>
      <p:sp>
        <p:nvSpPr>
          <p:cNvPr id="104452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Rectangle 2"/>
          <p:cNvSpPr/>
          <p:nvPr/>
        </p:nvSpPr>
        <p:spPr>
          <a:xfrm>
            <a:off x="811213" y="2438400"/>
            <a:ext cx="8153400" cy="4038600"/>
          </a:xfrm>
          <a:prstGeom prst="rect">
            <a:avLst/>
          </a:prstGeom>
          <a:solidFill>
            <a:srgbClr val="FFFF00">
              <a:alpha val="50195"/>
            </a:srgbClr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05475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规范化小结（续）</a:t>
            </a:r>
            <a:endParaRPr lang="zh-CN" altLang="en-US" dirty="0"/>
          </a:p>
        </p:txBody>
      </p:sp>
      <p:sp>
        <p:nvSpPr>
          <p:cNvPr id="105476" name="Rectangle 4"/>
          <p:cNvSpPr>
            <a:spLocks noGrp="1"/>
          </p:cNvSpPr>
          <p:nvPr>
            <p:ph idx="1"/>
          </p:nvPr>
        </p:nvSpPr>
        <p:spPr>
          <a:xfrm>
            <a:off x="914400" y="1989138"/>
            <a:ext cx="822960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关系模式规范化的基本步骤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</a:pPr>
            <a:endParaRPr lang="zh-CN" altLang="en-US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                        </a:t>
            </a:r>
            <a:r>
              <a:rPr lang="en-US" altLang="zh-CN" sz="2400" dirty="0"/>
              <a:t>1NF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      	    ↓  </a:t>
            </a:r>
            <a:r>
              <a:rPr lang="zh-CN" altLang="en-US" sz="2400" dirty="0"/>
              <a:t>消除非主属性对码的部分函数依赖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消除决定属性   </a:t>
            </a:r>
            <a:r>
              <a:rPr lang="en-US" altLang="zh-CN" sz="2400" dirty="0"/>
              <a:t>2NF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集非码的非平    ↓  消除非主属性对码的传递函数依赖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凡函数依赖       </a:t>
            </a:r>
            <a:r>
              <a:rPr lang="en-US" altLang="zh-CN" sz="2400" dirty="0"/>
              <a:t>3NF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      	    ↓  </a:t>
            </a:r>
            <a:r>
              <a:rPr lang="zh-CN" altLang="en-US" sz="2400" dirty="0"/>
              <a:t>消除主属性对码的部分和传递函数依赖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                         </a:t>
            </a:r>
            <a:r>
              <a:rPr lang="en-US" altLang="zh-CN" sz="2400" dirty="0"/>
              <a:t>BCNF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    	    ↓  </a:t>
            </a:r>
            <a:r>
              <a:rPr lang="zh-CN" altLang="en-US" sz="2400" dirty="0"/>
              <a:t>消除非平凡且非函数依赖的多值依赖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                        </a:t>
            </a:r>
            <a:r>
              <a:rPr lang="en-US" altLang="zh-CN" sz="2400" dirty="0"/>
              <a:t>4NF</a:t>
            </a:r>
            <a:endParaRPr lang="en-US" altLang="zh-CN" sz="2400" dirty="0"/>
          </a:p>
        </p:txBody>
      </p:sp>
      <p:sp>
        <p:nvSpPr>
          <p:cNvPr id="105477" name="Line 5"/>
          <p:cNvSpPr/>
          <p:nvPr/>
        </p:nvSpPr>
        <p:spPr>
          <a:xfrm flipH="1">
            <a:off x="2843213" y="2757488"/>
            <a:ext cx="0" cy="3048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5478" name="灯片编号占位符 7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规范化小结（续）</a:t>
            </a:r>
            <a:endParaRPr lang="zh-CN" altLang="en-US" dirty="0"/>
          </a:p>
        </p:txBody>
      </p:sp>
      <p:sp>
        <p:nvSpPr>
          <p:cNvPr id="1064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70000"/>
              </a:lnSpc>
            </a:pPr>
            <a:r>
              <a:rPr lang="zh-CN" altLang="en-US" sz="2800" b="1" dirty="0"/>
              <a:t>不能说规范化程度越高的关系模式就越好</a:t>
            </a:r>
            <a:endParaRPr lang="zh-CN" altLang="en-US" sz="2800" b="1" dirty="0"/>
          </a:p>
          <a:p>
            <a:pPr eaLnBrk="1" hangingPunct="1">
              <a:lnSpc>
                <a:spcPct val="170000"/>
              </a:lnSpc>
            </a:pPr>
            <a:r>
              <a:rPr lang="zh-CN" altLang="en-US" sz="2800" b="1" dirty="0"/>
              <a:t>在设计数据库模式结构时，必须对现实世界的实际情况和用户应用需求作进一步分析，确定一个合适的、能够反映现实世界的模式</a:t>
            </a:r>
            <a:endParaRPr lang="zh-CN" altLang="en-US" sz="2800" b="1" dirty="0"/>
          </a:p>
          <a:p>
            <a:pPr eaLnBrk="1" hangingPunct="1">
              <a:lnSpc>
                <a:spcPct val="170000"/>
              </a:lnSpc>
            </a:pPr>
            <a:r>
              <a:rPr lang="zh-CN" altLang="en-US" sz="2800" b="1" dirty="0"/>
              <a:t>上面的规范化步骤可以在其中任何一步终止</a:t>
            </a:r>
            <a:endParaRPr lang="zh-CN" altLang="en-US" b="1" dirty="0"/>
          </a:p>
        </p:txBody>
      </p:sp>
      <p:sp>
        <p:nvSpPr>
          <p:cNvPr id="106500" name="灯片编号占位符 5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第六章 关系数据理论</a:t>
            </a:r>
            <a:endParaRPr lang="zh-CN" altLang="en-US" dirty="0"/>
          </a:p>
        </p:txBody>
      </p:sp>
      <p:sp>
        <p:nvSpPr>
          <p:cNvPr id="107523" name="Rectangle 3"/>
          <p:cNvSpPr>
            <a:spLocks noGrp="1"/>
          </p:cNvSpPr>
          <p:nvPr>
            <p:ph idx="1"/>
          </p:nvPr>
        </p:nvSpPr>
        <p:spPr>
          <a:xfrm>
            <a:off x="1187450" y="1773238"/>
            <a:ext cx="6419850" cy="44958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r>
              <a:rPr lang="en-US" altLang="zh-CN" b="1" dirty="0"/>
              <a:t>6.1 </a:t>
            </a:r>
            <a:r>
              <a:rPr lang="zh-CN" altLang="en-US" b="1" dirty="0"/>
              <a:t>问题的提出</a:t>
            </a:r>
            <a:endParaRPr lang="zh-CN" altLang="en-US" b="1" dirty="0"/>
          </a:p>
          <a:p>
            <a:pPr>
              <a:lnSpc>
                <a:spcPct val="140000"/>
              </a:lnSpc>
              <a:buNone/>
            </a:pPr>
            <a:r>
              <a:rPr lang="en-US" altLang="zh-CN" b="1" dirty="0"/>
              <a:t>6.2 </a:t>
            </a:r>
            <a:r>
              <a:rPr lang="zh-CN" altLang="en-US" b="1" dirty="0"/>
              <a:t>规范化</a:t>
            </a:r>
            <a:endParaRPr lang="zh-CN" altLang="en-US" b="1" dirty="0"/>
          </a:p>
          <a:p>
            <a:pPr>
              <a:lnSpc>
                <a:spcPct val="140000"/>
              </a:lnSpc>
              <a:buNone/>
            </a:pPr>
            <a:r>
              <a:rPr lang="en-US" altLang="zh-CN" b="1" dirty="0">
                <a:solidFill>
                  <a:srgbClr val="3333FF"/>
                </a:solidFill>
              </a:rPr>
              <a:t>6.3 </a:t>
            </a:r>
            <a:r>
              <a:rPr lang="zh-CN" altLang="en-US" b="1" dirty="0">
                <a:solidFill>
                  <a:srgbClr val="3333FF"/>
                </a:solidFill>
              </a:rPr>
              <a:t>数据依赖的公理系统</a:t>
            </a:r>
            <a:endParaRPr lang="zh-CN" altLang="en-US" b="1" dirty="0">
              <a:solidFill>
                <a:srgbClr val="3333FF"/>
              </a:solidFill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6.4 </a:t>
            </a:r>
            <a:r>
              <a:rPr lang="zh-CN" altLang="en-US" b="1" dirty="0"/>
              <a:t>模式的分解</a:t>
            </a:r>
            <a:endParaRPr lang="zh-CN" altLang="en-US" b="1" dirty="0"/>
          </a:p>
          <a:p>
            <a:pPr>
              <a:lnSpc>
                <a:spcPct val="140000"/>
              </a:lnSpc>
              <a:buNone/>
            </a:pPr>
            <a:r>
              <a:rPr lang="en-US" altLang="zh-CN" b="1" dirty="0"/>
              <a:t>6.5 </a:t>
            </a:r>
            <a:r>
              <a:rPr lang="zh-CN" altLang="en-US" b="1" dirty="0"/>
              <a:t>小结</a:t>
            </a:r>
            <a:endParaRPr lang="zh-CN" altLang="en-US" b="1" dirty="0"/>
          </a:p>
        </p:txBody>
      </p:sp>
      <p:sp>
        <p:nvSpPr>
          <p:cNvPr id="10752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6.3  </a:t>
            </a:r>
            <a:r>
              <a:rPr lang="zh-CN" altLang="en-US" dirty="0"/>
              <a:t>数据依赖的公理系统</a:t>
            </a:r>
            <a:endParaRPr lang="zh-CN" altLang="en-US" dirty="0"/>
          </a:p>
        </p:txBody>
      </p:sp>
      <p:sp>
        <p:nvSpPr>
          <p:cNvPr id="1085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</a:pPr>
            <a:r>
              <a:rPr lang="zh-CN" altLang="en-US" dirty="0"/>
              <a:t>逻辑蕴含</a:t>
            </a:r>
            <a:endParaRPr lang="zh-CN" altLang="en-US" dirty="0"/>
          </a:p>
          <a:p>
            <a:pPr>
              <a:lnSpc>
                <a:spcPct val="120000"/>
              </a:lnSpc>
              <a:buNone/>
            </a:pPr>
            <a:r>
              <a:rPr lang="zh-CN" altLang="en-US" dirty="0"/>
              <a:t>	</a:t>
            </a:r>
            <a:r>
              <a:rPr lang="zh-CN" altLang="en-US" sz="2800" b="1" dirty="0"/>
              <a:t>定义</a:t>
            </a:r>
            <a:r>
              <a:rPr lang="en-US" altLang="zh-CN" sz="2800" b="1" dirty="0"/>
              <a:t>6.11</a:t>
            </a:r>
            <a:r>
              <a:rPr lang="en-US" altLang="zh-CN" sz="2800" dirty="0"/>
              <a:t>  </a:t>
            </a:r>
            <a:r>
              <a:rPr lang="zh-CN" altLang="en-US" sz="2800" dirty="0"/>
              <a:t>对于满足一组</a:t>
            </a:r>
            <a:r>
              <a:rPr lang="zh-CN" altLang="en-US" sz="2800" b="1" dirty="0">
                <a:solidFill>
                  <a:srgbClr val="6600FF"/>
                </a:solidFill>
              </a:rPr>
              <a:t>函数依赖</a:t>
            </a:r>
            <a:r>
              <a:rPr lang="zh-CN" altLang="en-US" sz="2800" dirty="0">
                <a:solidFill>
                  <a:srgbClr val="6600FF"/>
                </a:solidFill>
              </a:rPr>
              <a:t> </a:t>
            </a:r>
            <a:r>
              <a:rPr lang="en-US" altLang="zh-CN" sz="2800" i="1" dirty="0"/>
              <a:t>F </a:t>
            </a:r>
            <a:r>
              <a:rPr lang="zh-CN" altLang="en-US" sz="2800" dirty="0"/>
              <a:t>的关系模式</a:t>
            </a:r>
            <a:r>
              <a:rPr lang="en-US" altLang="zh-CN" sz="2800" i="1" dirty="0"/>
              <a:t>R</a:t>
            </a:r>
            <a:r>
              <a:rPr lang="en-US" altLang="zh-CN" sz="2800" dirty="0"/>
              <a:t> &lt;</a:t>
            </a:r>
            <a:r>
              <a:rPr lang="en-US" altLang="zh-CN" sz="2800" i="1" dirty="0"/>
              <a:t>U</a:t>
            </a:r>
            <a:r>
              <a:rPr lang="zh-CN" altLang="en-US" sz="2800" i="1" dirty="0"/>
              <a:t>，</a:t>
            </a:r>
            <a:r>
              <a:rPr lang="en-US" altLang="zh-CN" sz="2800" i="1" dirty="0"/>
              <a:t>F</a:t>
            </a:r>
            <a:r>
              <a:rPr lang="en-US" altLang="zh-CN" sz="2800" dirty="0"/>
              <a:t>&gt;</a:t>
            </a:r>
            <a:r>
              <a:rPr lang="zh-CN" altLang="en-US" sz="2800" dirty="0"/>
              <a:t>，其任何一个关系</a:t>
            </a:r>
            <a:r>
              <a:rPr lang="en-US" altLang="zh-CN" sz="2800" i="1" dirty="0"/>
              <a:t>r</a:t>
            </a:r>
            <a:r>
              <a:rPr lang="zh-CN" altLang="en-US" sz="2800" dirty="0"/>
              <a:t>，若函数依赖</a:t>
            </a:r>
            <a:r>
              <a:rPr lang="en-US" altLang="zh-CN" sz="2800" i="1" dirty="0"/>
              <a:t>X→Y</a:t>
            </a:r>
            <a:r>
              <a:rPr lang="zh-CN" altLang="en-US" sz="2800" dirty="0"/>
              <a:t>都成立</a:t>
            </a:r>
            <a:r>
              <a:rPr lang="en-US" altLang="zh-CN" sz="2800" dirty="0"/>
              <a:t>, </a:t>
            </a:r>
            <a:r>
              <a:rPr lang="zh-CN" altLang="en-US" sz="2800" dirty="0"/>
              <a:t>（即</a:t>
            </a:r>
            <a:r>
              <a:rPr lang="en-US" altLang="zh-CN" sz="2800" dirty="0"/>
              <a:t>r</a:t>
            </a:r>
            <a:r>
              <a:rPr lang="zh-CN" altLang="en-US" sz="2800" dirty="0"/>
              <a:t>中任意两元组</a:t>
            </a:r>
            <a:r>
              <a:rPr lang="en-US" altLang="zh-CN" sz="2800" i="1" dirty="0"/>
              <a:t>t</a:t>
            </a:r>
            <a:r>
              <a:rPr lang="zh-CN" altLang="en-US" sz="2800" dirty="0"/>
              <a:t>，</a:t>
            </a:r>
            <a:r>
              <a:rPr lang="en-US" altLang="zh-CN" sz="2800" i="1" dirty="0"/>
              <a:t>s</a:t>
            </a:r>
            <a:r>
              <a:rPr lang="zh-CN" altLang="en-US" sz="2800" dirty="0"/>
              <a:t>，若</a:t>
            </a:r>
            <a:r>
              <a:rPr lang="en-US" altLang="zh-CN" sz="2800" i="1" dirty="0"/>
              <a:t>t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]=</a:t>
            </a:r>
            <a:r>
              <a:rPr lang="en-US" altLang="zh-CN" sz="2800" i="1" dirty="0"/>
              <a:t>s</a:t>
            </a:r>
            <a:r>
              <a:rPr lang="en-US" altLang="zh-CN" sz="2800" dirty="0"/>
              <a:t>[</a:t>
            </a:r>
            <a:r>
              <a:rPr lang="en-US" altLang="zh-CN" sz="2800" i="1" dirty="0"/>
              <a:t>X</a:t>
            </a:r>
            <a:r>
              <a:rPr lang="en-US" altLang="zh-CN" sz="2800" dirty="0"/>
              <a:t>]</a:t>
            </a:r>
            <a:r>
              <a:rPr lang="zh-CN" altLang="en-US" sz="2800" dirty="0"/>
              <a:t>，则</a:t>
            </a:r>
            <a:r>
              <a:rPr lang="en-US" altLang="zh-CN" sz="2800" i="1" dirty="0"/>
              <a:t>t</a:t>
            </a:r>
            <a:r>
              <a:rPr lang="en-US" altLang="zh-CN" sz="2800" dirty="0"/>
              <a:t>[Y]=</a:t>
            </a:r>
            <a:r>
              <a:rPr lang="en-US" altLang="zh-CN" sz="2800" i="1" dirty="0"/>
              <a:t>s</a:t>
            </a:r>
            <a:r>
              <a:rPr lang="en-US" altLang="zh-CN" sz="2800" dirty="0"/>
              <a:t>[</a:t>
            </a:r>
            <a:r>
              <a:rPr lang="en-US" altLang="zh-CN" sz="2800" i="1" dirty="0"/>
              <a:t>Y</a:t>
            </a:r>
            <a:r>
              <a:rPr lang="en-US" altLang="zh-CN" sz="2800" dirty="0"/>
              <a:t>]</a:t>
            </a:r>
            <a:r>
              <a:rPr lang="zh-CN" altLang="en-US" sz="2800" dirty="0"/>
              <a:t>），则称</a:t>
            </a:r>
            <a:r>
              <a:rPr lang="en-US" altLang="zh-CN" sz="2800" i="1" dirty="0"/>
              <a:t>F</a:t>
            </a:r>
            <a:r>
              <a:rPr lang="zh-CN" altLang="en-US" sz="2800" b="1" dirty="0">
                <a:solidFill>
                  <a:srgbClr val="6600FF"/>
                </a:solidFill>
              </a:rPr>
              <a:t>逻辑蕴含</a:t>
            </a:r>
            <a:r>
              <a:rPr lang="en-US" altLang="zh-CN" sz="2800" i="1" dirty="0"/>
              <a:t>X →Y</a:t>
            </a:r>
            <a:endParaRPr lang="en-US" altLang="zh-CN" sz="2800" i="1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Armstrong</a:t>
            </a:r>
            <a:r>
              <a:rPr lang="zh-CN" altLang="en-US" dirty="0"/>
              <a:t>公理系统</a:t>
            </a:r>
            <a:endParaRPr lang="zh-CN" altLang="en-US" dirty="0"/>
          </a:p>
        </p:txBody>
      </p:sp>
      <p:sp>
        <p:nvSpPr>
          <p:cNvPr id="1095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sz="2800" b="1" dirty="0"/>
              <a:t>    关系模式</a:t>
            </a:r>
            <a:r>
              <a:rPr lang="en-US" altLang="zh-CN" sz="2800" b="1" i="1" dirty="0"/>
              <a:t>R &lt;U</a:t>
            </a:r>
            <a:r>
              <a:rPr lang="zh-CN" altLang="en-US" sz="2800" b="1" i="1" dirty="0"/>
              <a:t>，</a:t>
            </a:r>
            <a:r>
              <a:rPr lang="en-US" altLang="zh-CN" sz="2800" b="1" i="1" dirty="0"/>
              <a:t>F &gt;</a:t>
            </a:r>
            <a:r>
              <a:rPr lang="zh-CN" altLang="en-US" sz="2800" b="1" dirty="0"/>
              <a:t>来说有以下的推理规则：</a:t>
            </a:r>
            <a:endParaRPr lang="zh-CN" altLang="en-US" sz="2800" b="1" dirty="0"/>
          </a:p>
          <a:p>
            <a:pPr lvl="1">
              <a:lnSpc>
                <a:spcPct val="140000"/>
              </a:lnSpc>
            </a:pPr>
            <a:r>
              <a:rPr lang="en-US" altLang="zh-CN" sz="2600" b="1" dirty="0"/>
              <a:t>A1.</a:t>
            </a:r>
            <a:r>
              <a:rPr lang="zh-CN" altLang="en-US" sz="2600" b="1" dirty="0">
                <a:solidFill>
                  <a:srgbClr val="FF00FF"/>
                </a:solidFill>
              </a:rPr>
              <a:t>自反律</a:t>
            </a:r>
            <a:r>
              <a:rPr lang="zh-CN" altLang="en-US" sz="2600" b="1" dirty="0"/>
              <a:t>（</a:t>
            </a:r>
            <a:r>
              <a:rPr lang="en-US" altLang="zh-CN" sz="2600" b="1" dirty="0"/>
              <a:t>Reflexivity</a:t>
            </a:r>
            <a:r>
              <a:rPr lang="zh-CN" altLang="en-US" sz="2600" b="1" dirty="0"/>
              <a:t>）：若</a:t>
            </a:r>
            <a:r>
              <a:rPr lang="en-US" altLang="zh-CN" sz="2600" b="1" i="1" dirty="0"/>
              <a:t>Y </a:t>
            </a:r>
            <a:r>
              <a:rPr lang="en-US" altLang="zh-CN" sz="2600" b="1" dirty="0">
                <a:sym typeface="Symbol" panose="05050102010706020507" pitchFamily="18" charset="2"/>
              </a:rPr>
              <a:t></a:t>
            </a:r>
            <a:r>
              <a:rPr lang="en-US" altLang="zh-CN" sz="2600" b="1" dirty="0"/>
              <a:t> </a:t>
            </a:r>
            <a:r>
              <a:rPr lang="en-US" altLang="zh-CN" sz="2600" b="1" i="1" dirty="0"/>
              <a:t>X</a:t>
            </a:r>
            <a:r>
              <a:rPr lang="en-US" altLang="zh-CN" sz="2600" b="1" dirty="0"/>
              <a:t> </a:t>
            </a:r>
            <a:r>
              <a:rPr lang="en-US" altLang="zh-CN" sz="2600" b="1" dirty="0">
                <a:sym typeface="Symbol" panose="05050102010706020507" pitchFamily="18" charset="2"/>
              </a:rPr>
              <a:t></a:t>
            </a:r>
            <a:r>
              <a:rPr lang="en-US" altLang="zh-CN" sz="2600" b="1" dirty="0"/>
              <a:t> </a:t>
            </a:r>
            <a:r>
              <a:rPr lang="en-US" altLang="zh-CN" sz="2600" b="1" i="1" dirty="0"/>
              <a:t>U</a:t>
            </a:r>
            <a:r>
              <a:rPr lang="zh-CN" altLang="en-US" sz="2600" b="1" dirty="0"/>
              <a:t>，则</a:t>
            </a:r>
            <a:r>
              <a:rPr lang="en-US" altLang="zh-CN" sz="2600" b="1" i="1" dirty="0"/>
              <a:t>X </a:t>
            </a:r>
            <a:r>
              <a:rPr lang="en-US" altLang="zh-CN" sz="2600" b="1" dirty="0"/>
              <a:t>→</a:t>
            </a:r>
            <a:r>
              <a:rPr lang="en-US" altLang="zh-CN" sz="2600" b="1" i="1" dirty="0"/>
              <a:t>Y</a:t>
            </a:r>
            <a:r>
              <a:rPr lang="zh-CN" altLang="en-US" sz="2600" b="1" dirty="0"/>
              <a:t>为</a:t>
            </a:r>
            <a:r>
              <a:rPr lang="en-US" altLang="zh-CN" sz="2600" b="1" i="1" dirty="0"/>
              <a:t>F</a:t>
            </a:r>
            <a:r>
              <a:rPr lang="zh-CN" altLang="en-US" sz="2600" b="1" dirty="0"/>
              <a:t>所蕴含。</a:t>
            </a:r>
            <a:endParaRPr lang="zh-CN" altLang="en-US" sz="2600" b="1" dirty="0"/>
          </a:p>
          <a:p>
            <a:pPr lvl="1">
              <a:lnSpc>
                <a:spcPct val="140000"/>
              </a:lnSpc>
            </a:pPr>
            <a:r>
              <a:rPr lang="en-US" altLang="zh-CN" sz="2600" b="1" dirty="0"/>
              <a:t>A2.</a:t>
            </a:r>
            <a:r>
              <a:rPr lang="zh-CN" altLang="en-US" sz="2600" b="1" dirty="0">
                <a:solidFill>
                  <a:srgbClr val="FF00FF"/>
                </a:solidFill>
              </a:rPr>
              <a:t>增广律</a:t>
            </a:r>
            <a:r>
              <a:rPr lang="zh-CN" altLang="en-US" sz="2600" b="1" dirty="0"/>
              <a:t>（</a:t>
            </a:r>
            <a:r>
              <a:rPr lang="en-US" altLang="zh-CN" sz="2600" b="1" dirty="0"/>
              <a:t>Augmentation</a:t>
            </a:r>
            <a:r>
              <a:rPr lang="zh-CN" altLang="en-US" sz="2600" b="1" dirty="0"/>
              <a:t>）：若</a:t>
            </a:r>
            <a:r>
              <a:rPr lang="en-US" altLang="zh-CN" sz="2600" b="1" i="1" dirty="0"/>
              <a:t>X</a:t>
            </a:r>
            <a:r>
              <a:rPr lang="en-US" altLang="zh-CN" sz="2600" b="1" dirty="0"/>
              <a:t>→</a:t>
            </a:r>
            <a:r>
              <a:rPr lang="en-US" altLang="zh-CN" sz="2600" b="1" i="1" dirty="0"/>
              <a:t>Y</a:t>
            </a:r>
            <a:r>
              <a:rPr lang="zh-CN" altLang="en-US" sz="2600" b="1" dirty="0"/>
              <a:t>为</a:t>
            </a:r>
            <a:r>
              <a:rPr lang="en-US" altLang="zh-CN" sz="2600" b="1" i="1" dirty="0"/>
              <a:t>F</a:t>
            </a:r>
            <a:r>
              <a:rPr lang="zh-CN" altLang="en-US" sz="2600" b="1" dirty="0"/>
              <a:t>所蕴含，且</a:t>
            </a:r>
            <a:r>
              <a:rPr lang="en-US" altLang="zh-CN" sz="2600" b="1" i="1" dirty="0"/>
              <a:t>Z</a:t>
            </a:r>
            <a:r>
              <a:rPr lang="en-US" altLang="zh-CN" sz="2600" b="1" dirty="0"/>
              <a:t> </a:t>
            </a:r>
            <a:r>
              <a:rPr lang="en-US" altLang="zh-CN" sz="2600" b="1" dirty="0">
                <a:sym typeface="Symbol" panose="05050102010706020507" pitchFamily="18" charset="2"/>
              </a:rPr>
              <a:t></a:t>
            </a:r>
            <a:r>
              <a:rPr lang="en-US" altLang="zh-CN" sz="2600" b="1" dirty="0"/>
              <a:t> </a:t>
            </a:r>
            <a:r>
              <a:rPr lang="en-US" altLang="zh-CN" sz="2600" b="1" i="1" dirty="0"/>
              <a:t>U</a:t>
            </a:r>
            <a:r>
              <a:rPr lang="zh-CN" altLang="en-US" sz="2600" b="1" dirty="0"/>
              <a:t>，则</a:t>
            </a:r>
            <a:r>
              <a:rPr lang="en-US" altLang="zh-CN" sz="2600" b="1" i="1" dirty="0"/>
              <a:t>XZ</a:t>
            </a:r>
            <a:r>
              <a:rPr lang="en-US" altLang="zh-CN" sz="2600" b="1" dirty="0"/>
              <a:t>→</a:t>
            </a:r>
            <a:r>
              <a:rPr lang="en-US" altLang="zh-CN" sz="2600" b="1" i="1" dirty="0"/>
              <a:t>YZ</a:t>
            </a:r>
            <a:r>
              <a:rPr lang="zh-CN" altLang="en-US" sz="2600" b="1" dirty="0"/>
              <a:t>为</a:t>
            </a:r>
            <a:r>
              <a:rPr lang="en-US" altLang="zh-CN" sz="2600" b="1" i="1" dirty="0"/>
              <a:t>F</a:t>
            </a:r>
            <a:r>
              <a:rPr lang="zh-CN" altLang="en-US" sz="2600" b="1" dirty="0"/>
              <a:t>所蕴含。</a:t>
            </a:r>
            <a:endParaRPr lang="zh-CN" altLang="en-US" sz="2600" b="1" dirty="0"/>
          </a:p>
          <a:p>
            <a:pPr lvl="1">
              <a:lnSpc>
                <a:spcPct val="140000"/>
              </a:lnSpc>
            </a:pPr>
            <a:r>
              <a:rPr lang="en-US" altLang="zh-CN" sz="2600" b="1" dirty="0"/>
              <a:t>A3.</a:t>
            </a:r>
            <a:r>
              <a:rPr lang="zh-CN" altLang="en-US" sz="2600" b="1" dirty="0">
                <a:solidFill>
                  <a:srgbClr val="FF00FF"/>
                </a:solidFill>
              </a:rPr>
              <a:t>传递律</a:t>
            </a:r>
            <a:r>
              <a:rPr lang="zh-CN" altLang="en-US" sz="2600" b="1" dirty="0"/>
              <a:t>（</a:t>
            </a:r>
            <a:r>
              <a:rPr lang="en-US" altLang="zh-CN" sz="2600" b="1" dirty="0"/>
              <a:t>Transitivity</a:t>
            </a:r>
            <a:r>
              <a:rPr lang="zh-CN" altLang="en-US" sz="2600" b="1" dirty="0"/>
              <a:t>）：若</a:t>
            </a:r>
            <a:r>
              <a:rPr lang="en-US" altLang="zh-CN" sz="2600" b="1" i="1" dirty="0"/>
              <a:t>X</a:t>
            </a:r>
            <a:r>
              <a:rPr lang="en-US" altLang="zh-CN" sz="2600" b="1" dirty="0"/>
              <a:t>→</a:t>
            </a:r>
            <a:r>
              <a:rPr lang="en-US" altLang="zh-CN" sz="2600" b="1" i="1" dirty="0"/>
              <a:t>Y</a:t>
            </a:r>
            <a:r>
              <a:rPr lang="zh-CN" altLang="en-US" sz="2600" b="1" dirty="0"/>
              <a:t>及</a:t>
            </a:r>
            <a:r>
              <a:rPr lang="en-US" altLang="zh-CN" sz="2600" b="1" i="1" dirty="0"/>
              <a:t>Y</a:t>
            </a:r>
            <a:r>
              <a:rPr lang="en-US" altLang="zh-CN" sz="2600" b="1" dirty="0"/>
              <a:t>→</a:t>
            </a:r>
            <a:r>
              <a:rPr lang="en-US" altLang="zh-CN" sz="2600" b="1" i="1" dirty="0"/>
              <a:t>Z</a:t>
            </a:r>
            <a:r>
              <a:rPr lang="zh-CN" altLang="en-US" sz="2600" b="1" dirty="0"/>
              <a:t>为</a:t>
            </a:r>
            <a:r>
              <a:rPr lang="en-US" altLang="zh-CN" sz="2600" b="1" i="1" dirty="0"/>
              <a:t>F</a:t>
            </a:r>
            <a:r>
              <a:rPr lang="zh-CN" altLang="en-US" sz="2600" b="1" dirty="0"/>
              <a:t>所蕴含，则</a:t>
            </a:r>
            <a:r>
              <a:rPr lang="en-US" altLang="zh-CN" sz="2600" b="1" i="1" dirty="0"/>
              <a:t>X</a:t>
            </a:r>
            <a:r>
              <a:rPr lang="en-US" altLang="zh-CN" sz="2600" b="1" dirty="0"/>
              <a:t>→</a:t>
            </a:r>
            <a:r>
              <a:rPr lang="en-US" altLang="zh-CN" sz="2600" b="1" i="1" dirty="0"/>
              <a:t>Z</a:t>
            </a:r>
            <a:r>
              <a:rPr lang="zh-CN" altLang="en-US" sz="2600" b="1" dirty="0"/>
              <a:t>为</a:t>
            </a:r>
            <a:r>
              <a:rPr lang="en-US" altLang="zh-CN" sz="2600" b="1" i="1" dirty="0"/>
              <a:t>F</a:t>
            </a:r>
            <a:r>
              <a:rPr lang="zh-CN" altLang="en-US" sz="2600" b="1" dirty="0"/>
              <a:t>所蕴含。</a:t>
            </a:r>
            <a:endParaRPr lang="zh-CN" altLang="en-US" sz="2600" b="1" dirty="0"/>
          </a:p>
        </p:txBody>
      </p:sp>
      <p:sp>
        <p:nvSpPr>
          <p:cNvPr id="109572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/>
              <a:t>定理 </a:t>
            </a:r>
            <a:r>
              <a:rPr lang="en-US" altLang="zh-CN" sz="3600" dirty="0"/>
              <a:t>6.1  Armstrong</a:t>
            </a:r>
            <a:r>
              <a:rPr lang="zh-CN" altLang="en-US" sz="3600" dirty="0"/>
              <a:t>推理规则是正确的</a:t>
            </a:r>
            <a:endParaRPr lang="zh-CN" altLang="en-US" dirty="0"/>
          </a:p>
        </p:txBody>
      </p:sp>
      <p:sp>
        <p:nvSpPr>
          <p:cNvPr id="1105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l</a:t>
            </a:r>
            <a:r>
              <a:rPr lang="zh-CN" altLang="en-US" sz="2800" b="1" dirty="0"/>
              <a:t>）自反律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若</a:t>
            </a:r>
            <a:r>
              <a:rPr lang="en-US" altLang="zh-CN" sz="2800" b="1" i="1" dirty="0"/>
              <a:t>Y </a:t>
            </a:r>
            <a:r>
              <a:rPr lang="en-US" altLang="zh-CN" sz="2800" b="1" dirty="0">
                <a:sym typeface="Symbol" panose="05050102010706020507" pitchFamily="18" charset="2"/>
              </a:rPr>
              <a:t>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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U</a:t>
            </a:r>
            <a:r>
              <a:rPr lang="zh-CN" altLang="en-US" sz="2800" b="1" dirty="0"/>
              <a:t>，则</a:t>
            </a:r>
            <a:r>
              <a:rPr lang="en-US" altLang="zh-CN" sz="2800" b="1" i="1" dirty="0"/>
              <a:t>X </a:t>
            </a:r>
            <a:r>
              <a:rPr lang="en-US" altLang="zh-CN" sz="2800" b="1" dirty="0"/>
              <a:t>→</a:t>
            </a:r>
            <a:r>
              <a:rPr lang="en-US" altLang="zh-CN" sz="2800" b="1" i="1" dirty="0"/>
              <a:t>Y</a:t>
            </a:r>
            <a:r>
              <a:rPr lang="zh-CN" altLang="en-US" sz="2800" b="1" dirty="0"/>
              <a:t>为</a:t>
            </a:r>
            <a:r>
              <a:rPr lang="en-US" altLang="zh-CN" sz="2800" b="1" i="1" dirty="0"/>
              <a:t>F</a:t>
            </a:r>
            <a:r>
              <a:rPr lang="zh-CN" altLang="en-US" sz="2800" b="1" dirty="0"/>
              <a:t>所蕴含</a:t>
            </a:r>
            <a:endParaRPr lang="zh-CN" altLang="en-US" sz="2800" b="1" dirty="0"/>
          </a:p>
          <a:p>
            <a:pPr>
              <a:lnSpc>
                <a:spcPct val="120000"/>
              </a:lnSpc>
              <a:buNone/>
            </a:pPr>
            <a:endParaRPr lang="zh-CN" altLang="en-US" sz="2800" b="1" dirty="0"/>
          </a:p>
          <a:p>
            <a:pPr>
              <a:lnSpc>
                <a:spcPct val="70000"/>
              </a:lnSpc>
              <a:buNone/>
            </a:pPr>
            <a:r>
              <a:rPr lang="zh-CN" altLang="en-US" sz="2800" b="1" dirty="0"/>
              <a:t>     证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设</a:t>
            </a:r>
            <a:r>
              <a:rPr lang="en-US" altLang="zh-CN" sz="2800" b="1" i="1" dirty="0"/>
              <a:t>Y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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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U</a:t>
            </a:r>
            <a:r>
              <a:rPr lang="en-US" altLang="zh-CN" sz="2800" b="1" dirty="0">
                <a:solidFill>
                  <a:srgbClr val="6600FF"/>
                </a:solidFill>
              </a:rPr>
              <a:t> </a:t>
            </a:r>
            <a:endParaRPr lang="en-US" altLang="zh-CN" sz="2800" b="1" dirty="0">
              <a:solidFill>
                <a:srgbClr val="6600FF"/>
              </a:solidFill>
            </a:endParaRPr>
          </a:p>
          <a:p>
            <a:pPr lvl="1">
              <a:lnSpc>
                <a:spcPct val="120000"/>
              </a:lnSpc>
              <a:buNone/>
            </a:pPr>
            <a:r>
              <a:rPr lang="zh-CN" altLang="en-US" b="1" dirty="0"/>
              <a:t>对</a:t>
            </a:r>
            <a:r>
              <a:rPr lang="en-US" altLang="zh-CN" b="1" i="1" dirty="0"/>
              <a:t>R &lt;U</a:t>
            </a:r>
            <a:r>
              <a:rPr lang="zh-CN" altLang="en-US" b="1" i="1" dirty="0"/>
              <a:t>，</a:t>
            </a:r>
            <a:r>
              <a:rPr lang="en-US" altLang="zh-CN" b="1" i="1" dirty="0"/>
              <a:t>F&gt;</a:t>
            </a:r>
            <a:r>
              <a:rPr lang="en-US" altLang="zh-CN" b="1" dirty="0"/>
              <a:t> </a:t>
            </a:r>
            <a:r>
              <a:rPr lang="zh-CN" altLang="en-US" b="1" dirty="0"/>
              <a:t>的任一关系</a:t>
            </a:r>
            <a:r>
              <a:rPr lang="en-US" altLang="zh-CN" b="1" i="1" dirty="0"/>
              <a:t>r</a:t>
            </a:r>
            <a:r>
              <a:rPr lang="zh-CN" altLang="en-US" b="1" dirty="0"/>
              <a:t>中的任意两个元组</a:t>
            </a:r>
            <a:r>
              <a:rPr lang="en-US" altLang="zh-CN" b="1" i="1" dirty="0"/>
              <a:t>t</a:t>
            </a:r>
            <a:r>
              <a:rPr lang="zh-CN" altLang="en-US" b="1" dirty="0"/>
              <a:t>，</a:t>
            </a:r>
            <a:r>
              <a:rPr lang="en-US" altLang="zh-CN" b="1" i="1" dirty="0"/>
              <a:t>s</a:t>
            </a:r>
            <a:r>
              <a:rPr lang="zh-CN" altLang="en-US" b="1" dirty="0"/>
              <a:t>：</a:t>
            </a:r>
            <a:endParaRPr lang="zh-CN" altLang="en-US" b="1" dirty="0"/>
          </a:p>
          <a:p>
            <a:pPr lvl="1">
              <a:lnSpc>
                <a:spcPct val="120000"/>
              </a:lnSpc>
              <a:buNone/>
            </a:pPr>
            <a:r>
              <a:rPr lang="zh-CN" altLang="en-US" b="1" dirty="0"/>
              <a:t>若</a:t>
            </a:r>
            <a:r>
              <a:rPr lang="en-US" altLang="zh-CN" b="1" i="1" dirty="0"/>
              <a:t>t</a:t>
            </a:r>
            <a:r>
              <a:rPr lang="en-US" altLang="zh-CN" b="1" dirty="0"/>
              <a:t>[</a:t>
            </a:r>
            <a:r>
              <a:rPr lang="en-US" altLang="zh-CN" b="1" i="1" dirty="0"/>
              <a:t>X</a:t>
            </a:r>
            <a:r>
              <a:rPr lang="en-US" altLang="zh-CN" b="1" dirty="0"/>
              <a:t>]=</a:t>
            </a:r>
            <a:r>
              <a:rPr lang="en-US" altLang="zh-CN" b="1" i="1" dirty="0"/>
              <a:t>s</a:t>
            </a:r>
            <a:r>
              <a:rPr lang="en-US" altLang="zh-CN" b="1" dirty="0"/>
              <a:t>[</a:t>
            </a:r>
            <a:r>
              <a:rPr lang="en-US" altLang="zh-CN" b="1" i="1" dirty="0"/>
              <a:t>X</a:t>
            </a:r>
            <a:r>
              <a:rPr lang="en-US" altLang="zh-CN" b="1" dirty="0"/>
              <a:t>]</a:t>
            </a:r>
            <a:r>
              <a:rPr lang="zh-CN" altLang="en-US" b="1" dirty="0"/>
              <a:t>，由于</a:t>
            </a:r>
            <a:r>
              <a:rPr lang="en-US" altLang="zh-CN" b="1" i="1" dirty="0"/>
              <a:t>Y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</a:t>
            </a:r>
            <a:r>
              <a:rPr lang="en-US" altLang="zh-CN" b="1" dirty="0"/>
              <a:t> </a:t>
            </a:r>
            <a:r>
              <a:rPr lang="en-US" altLang="zh-CN" b="1" i="1" dirty="0"/>
              <a:t>X</a:t>
            </a:r>
            <a:r>
              <a:rPr lang="zh-CN" altLang="en-US" b="1" dirty="0"/>
              <a:t>，有</a:t>
            </a:r>
            <a:r>
              <a:rPr lang="en-US" altLang="zh-CN" b="1" i="1" dirty="0"/>
              <a:t>t</a:t>
            </a:r>
            <a:r>
              <a:rPr lang="en-US" altLang="zh-CN" b="1" dirty="0"/>
              <a:t>[</a:t>
            </a:r>
            <a:r>
              <a:rPr lang="en-US" altLang="zh-CN" b="1" i="1" dirty="0"/>
              <a:t>y</a:t>
            </a:r>
            <a:r>
              <a:rPr lang="en-US" altLang="zh-CN" b="1" dirty="0"/>
              <a:t>]=</a:t>
            </a:r>
            <a:r>
              <a:rPr lang="en-US" altLang="zh-CN" b="1" i="1" dirty="0"/>
              <a:t>s</a:t>
            </a:r>
            <a:r>
              <a:rPr lang="en-US" altLang="zh-CN" b="1" dirty="0"/>
              <a:t>[</a:t>
            </a:r>
            <a:r>
              <a:rPr lang="en-US" altLang="zh-CN" b="1" i="1" dirty="0"/>
              <a:t>y</a:t>
            </a:r>
            <a:r>
              <a:rPr lang="en-US" altLang="zh-CN" b="1" dirty="0"/>
              <a:t>]</a:t>
            </a:r>
            <a:r>
              <a:rPr lang="zh-CN" altLang="en-US" b="1" dirty="0"/>
              <a:t>，</a:t>
            </a:r>
            <a:endParaRPr lang="zh-CN" altLang="en-US" b="1" dirty="0"/>
          </a:p>
          <a:p>
            <a:pPr lvl="1">
              <a:lnSpc>
                <a:spcPct val="120000"/>
              </a:lnSpc>
              <a:buNone/>
            </a:pPr>
            <a:r>
              <a:rPr lang="zh-CN" altLang="en-US" b="1" dirty="0"/>
              <a:t>所以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Y</a:t>
            </a:r>
            <a:r>
              <a:rPr lang="zh-CN" altLang="en-US" b="1" dirty="0"/>
              <a:t>成立，自反律得证</a:t>
            </a:r>
            <a:endParaRPr lang="zh-CN" altLang="en-US" b="1" dirty="0"/>
          </a:p>
        </p:txBody>
      </p:sp>
      <p:sp>
        <p:nvSpPr>
          <p:cNvPr id="11059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2"/>
          <p:cNvSpPr>
            <a:spLocks noGrp="1"/>
          </p:cNvSpPr>
          <p:nvPr>
            <p:ph type="title"/>
          </p:nvPr>
        </p:nvSpPr>
        <p:spPr>
          <a:xfrm>
            <a:off x="684213" y="685800"/>
            <a:ext cx="7920037" cy="563563"/>
          </a:xfrm>
        </p:spPr>
        <p:txBody>
          <a:bodyPr vert="horz" wrap="square" lIns="91440" tIns="45720" rIns="91440" bIns="45720" anchor="ctr" anchorCtr="0"/>
          <a:p>
            <a:r>
              <a:rPr lang="zh-CN" altLang="en-US" sz="3100" dirty="0"/>
              <a:t>定理 </a:t>
            </a:r>
            <a:r>
              <a:rPr lang="en-US" altLang="zh-CN" sz="3100" dirty="0"/>
              <a:t>6.l  Armstrong</a:t>
            </a:r>
            <a:r>
              <a:rPr lang="zh-CN" altLang="en-US" sz="3100" dirty="0"/>
              <a:t>推理规则是正确的（续）</a:t>
            </a:r>
            <a:endParaRPr lang="zh-CN" altLang="en-US" sz="3100" dirty="0"/>
          </a:p>
        </p:txBody>
      </p:sp>
      <p:sp>
        <p:nvSpPr>
          <p:cNvPr id="111619" name="Rectangle 3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53276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buNone/>
            </a:pPr>
            <a:r>
              <a:rPr lang="en-US" altLang="zh-CN" sz="2400" b="1" dirty="0"/>
              <a:t>(2)</a:t>
            </a:r>
            <a:r>
              <a:rPr lang="zh-CN" altLang="en-US" sz="2400" b="1" dirty="0"/>
              <a:t>增广律</a:t>
            </a:r>
            <a:r>
              <a:rPr lang="en-US" altLang="zh-CN" sz="2400" b="1" dirty="0"/>
              <a:t>: </a:t>
            </a:r>
            <a:r>
              <a:rPr lang="zh-CN" altLang="en-US" sz="2400" b="1" dirty="0"/>
              <a:t>若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Y</a:t>
            </a:r>
            <a:r>
              <a:rPr lang="zh-CN" altLang="en-US" sz="2400" b="1" dirty="0"/>
              <a:t>为</a:t>
            </a:r>
            <a:r>
              <a:rPr lang="en-US" altLang="zh-CN" sz="2400" b="1" i="1" dirty="0"/>
              <a:t>F</a:t>
            </a:r>
            <a:r>
              <a:rPr lang="zh-CN" altLang="en-US" sz="2400" b="1" dirty="0"/>
              <a:t>所蕴含，且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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U</a:t>
            </a:r>
            <a:r>
              <a:rPr lang="zh-CN" altLang="en-US" sz="2400" b="1" dirty="0"/>
              <a:t>，则</a:t>
            </a:r>
            <a:r>
              <a:rPr lang="en-US" altLang="zh-CN" sz="2400" b="1" i="1" dirty="0"/>
              <a:t>XZ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YZ </a:t>
            </a:r>
            <a:r>
              <a:rPr lang="zh-CN" altLang="en-US" sz="2400" b="1" dirty="0"/>
              <a:t>为</a:t>
            </a:r>
            <a:r>
              <a:rPr lang="en-US" altLang="zh-CN" sz="2400" b="1" i="1" dirty="0"/>
              <a:t>F</a:t>
            </a:r>
            <a:r>
              <a:rPr lang="zh-CN" altLang="en-US" sz="2400" b="1" dirty="0"/>
              <a:t>所蕴含。</a:t>
            </a:r>
            <a:endParaRPr lang="zh-CN" altLang="en-US" sz="2400" b="1" dirty="0"/>
          </a:p>
          <a:p>
            <a:pPr>
              <a:lnSpc>
                <a:spcPct val="130000"/>
              </a:lnSpc>
              <a:buNone/>
            </a:pPr>
            <a:endParaRPr lang="zh-CN" altLang="en-US" sz="2400" b="1" dirty="0"/>
          </a:p>
          <a:p>
            <a:pPr>
              <a:lnSpc>
                <a:spcPct val="130000"/>
              </a:lnSpc>
              <a:buNone/>
            </a:pPr>
            <a:r>
              <a:rPr lang="zh-CN" altLang="en-US" sz="2400" b="1" dirty="0"/>
              <a:t> 证：</a:t>
            </a:r>
            <a:r>
              <a:rPr lang="zh-CN" altLang="en-US" sz="2400" b="1" dirty="0">
                <a:solidFill>
                  <a:srgbClr val="6600FF"/>
                </a:solidFill>
              </a:rPr>
              <a:t>设</a:t>
            </a:r>
            <a:r>
              <a:rPr lang="en-US" altLang="zh-CN" sz="2400" b="1" i="1" dirty="0">
                <a:solidFill>
                  <a:srgbClr val="6600FF"/>
                </a:solidFill>
              </a:rPr>
              <a:t>X</a:t>
            </a:r>
            <a:r>
              <a:rPr lang="en-US" altLang="zh-CN" sz="2400" b="1" dirty="0">
                <a:solidFill>
                  <a:srgbClr val="6600FF"/>
                </a:solidFill>
              </a:rPr>
              <a:t>→</a:t>
            </a:r>
            <a:r>
              <a:rPr lang="en-US" altLang="zh-CN" sz="2400" b="1" i="1" dirty="0">
                <a:solidFill>
                  <a:srgbClr val="6600FF"/>
                </a:solidFill>
              </a:rPr>
              <a:t>Y</a:t>
            </a:r>
            <a:r>
              <a:rPr lang="zh-CN" altLang="en-US" sz="2400" b="1" dirty="0">
                <a:solidFill>
                  <a:srgbClr val="6600FF"/>
                </a:solidFill>
              </a:rPr>
              <a:t>为</a:t>
            </a:r>
            <a:r>
              <a:rPr lang="en-US" altLang="zh-CN" sz="2400" b="1" i="1" dirty="0">
                <a:solidFill>
                  <a:srgbClr val="6600FF"/>
                </a:solidFill>
              </a:rPr>
              <a:t>F</a:t>
            </a:r>
            <a:r>
              <a:rPr lang="zh-CN" altLang="en-US" sz="2400" b="1" dirty="0">
                <a:solidFill>
                  <a:srgbClr val="6600FF"/>
                </a:solidFill>
              </a:rPr>
              <a:t>所蕴含，且</a:t>
            </a:r>
            <a:r>
              <a:rPr lang="en-US" altLang="zh-CN" sz="2400" b="1" i="1" dirty="0">
                <a:solidFill>
                  <a:srgbClr val="6600FF"/>
                </a:solidFill>
              </a:rPr>
              <a:t>Z</a:t>
            </a:r>
            <a:r>
              <a:rPr lang="en-US" altLang="zh-CN" sz="2400" b="1" dirty="0">
                <a:solidFill>
                  <a:srgbClr val="6600FF"/>
                </a:solidFill>
              </a:rPr>
              <a:t> </a:t>
            </a:r>
            <a:r>
              <a:rPr lang="en-US" altLang="zh-CN" sz="2400" b="1" dirty="0">
                <a:solidFill>
                  <a:srgbClr val="6600FF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b="1" dirty="0">
                <a:solidFill>
                  <a:srgbClr val="6600FF"/>
                </a:solidFill>
              </a:rPr>
              <a:t> </a:t>
            </a:r>
            <a:r>
              <a:rPr lang="en-US" altLang="zh-CN" sz="2400" b="1" i="1" dirty="0">
                <a:solidFill>
                  <a:srgbClr val="6600FF"/>
                </a:solidFill>
              </a:rPr>
              <a:t>U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>
              <a:lnSpc>
                <a:spcPct val="130000"/>
              </a:lnSpc>
              <a:buNone/>
            </a:pPr>
            <a:r>
              <a:rPr lang="zh-CN" altLang="en-US" sz="2400" b="1" dirty="0"/>
              <a:t>     设</a:t>
            </a:r>
            <a:r>
              <a:rPr lang="en-US" altLang="zh-CN" sz="2400" b="1" i="1" dirty="0"/>
              <a:t>R&lt;U</a:t>
            </a:r>
            <a:r>
              <a:rPr lang="zh-CN" altLang="en-US" sz="2400" b="1" i="1" dirty="0"/>
              <a:t>，</a:t>
            </a:r>
            <a:r>
              <a:rPr lang="en-US" altLang="zh-CN" sz="2400" b="1" i="1" dirty="0"/>
              <a:t>F&gt;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的任一关系</a:t>
            </a:r>
            <a:r>
              <a:rPr lang="en-US" altLang="zh-CN" sz="2400" b="1" i="1" dirty="0"/>
              <a:t>r</a:t>
            </a:r>
            <a:r>
              <a:rPr lang="zh-CN" altLang="en-US" sz="2400" b="1" dirty="0"/>
              <a:t>中任意的两个元组</a:t>
            </a:r>
            <a:r>
              <a:rPr lang="en-US" altLang="zh-CN" sz="2400" b="1" i="1" dirty="0"/>
              <a:t>t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s</a:t>
            </a:r>
            <a:r>
              <a:rPr lang="zh-CN" altLang="en-US" sz="2400" b="1" dirty="0"/>
              <a:t>：</a:t>
            </a:r>
            <a:endParaRPr lang="zh-CN" altLang="en-US" sz="2400" b="1" dirty="0"/>
          </a:p>
          <a:p>
            <a:pPr lvl="1">
              <a:lnSpc>
                <a:spcPct val="130000"/>
              </a:lnSpc>
              <a:buNone/>
            </a:pPr>
            <a:r>
              <a:rPr lang="zh-CN" altLang="en-US" sz="2400" b="1" dirty="0"/>
              <a:t>若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XZ</a:t>
            </a:r>
            <a:r>
              <a:rPr lang="en-US" altLang="zh-CN" sz="2400" b="1" dirty="0"/>
              <a:t>]=</a:t>
            </a:r>
            <a:r>
              <a:rPr lang="en-US" altLang="zh-CN" sz="2400" b="1" i="1" dirty="0"/>
              <a:t>s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XZ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，则有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]=</a:t>
            </a:r>
            <a:r>
              <a:rPr lang="en-US" altLang="zh-CN" sz="2400" b="1" i="1" dirty="0"/>
              <a:t>s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和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]=</a:t>
            </a:r>
            <a:r>
              <a:rPr lang="en-US" altLang="zh-CN" sz="2400" b="1" i="1" dirty="0"/>
              <a:t>s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pPr lvl="1">
              <a:lnSpc>
                <a:spcPct val="130000"/>
              </a:lnSpc>
              <a:buNone/>
            </a:pPr>
            <a:r>
              <a:rPr lang="zh-CN" altLang="en-US" sz="2400" b="1" dirty="0"/>
              <a:t>由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Y</a:t>
            </a:r>
            <a:r>
              <a:rPr lang="zh-CN" altLang="en-US" sz="2400" b="1" dirty="0"/>
              <a:t>，于是有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]=</a:t>
            </a:r>
            <a:r>
              <a:rPr lang="en-US" altLang="zh-CN" sz="2400" b="1" i="1" dirty="0"/>
              <a:t>s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，所以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YZ</a:t>
            </a:r>
            <a:r>
              <a:rPr lang="en-US" altLang="zh-CN" sz="2400" b="1" dirty="0"/>
              <a:t>]=</a:t>
            </a:r>
            <a:r>
              <a:rPr lang="en-US" altLang="zh-CN" sz="2400" b="1" i="1" dirty="0"/>
              <a:t>s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YZ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，所以</a:t>
            </a:r>
            <a:endParaRPr lang="zh-CN" altLang="en-US" sz="2400" b="1" dirty="0"/>
          </a:p>
          <a:p>
            <a:pPr lvl="1">
              <a:lnSpc>
                <a:spcPct val="130000"/>
              </a:lnSpc>
              <a:buNone/>
            </a:pPr>
            <a:r>
              <a:rPr lang="en-US" altLang="zh-CN" sz="2400" b="1" i="1" dirty="0"/>
              <a:t>XZ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YZ</a:t>
            </a:r>
            <a:r>
              <a:rPr lang="zh-CN" altLang="en-US" sz="2400" b="1" dirty="0"/>
              <a:t>为</a:t>
            </a:r>
            <a:r>
              <a:rPr lang="en-US" altLang="zh-CN" sz="2400" b="1" i="1" dirty="0"/>
              <a:t>F</a:t>
            </a:r>
            <a:r>
              <a:rPr lang="zh-CN" altLang="en-US" sz="2400" b="1" dirty="0"/>
              <a:t>所蕴含，增广律得证。</a:t>
            </a:r>
            <a:endParaRPr lang="zh-CN" altLang="en-US" sz="2400" b="1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Rectangle 2"/>
          <p:cNvSpPr>
            <a:spLocks noGrp="1"/>
          </p:cNvSpPr>
          <p:nvPr>
            <p:ph type="title"/>
          </p:nvPr>
        </p:nvSpPr>
        <p:spPr>
          <a:xfrm>
            <a:off x="755650" y="692150"/>
            <a:ext cx="7920038" cy="563563"/>
          </a:xfrm>
        </p:spPr>
        <p:txBody>
          <a:bodyPr vert="horz" wrap="square" lIns="91440" tIns="45720" rIns="91440" bIns="45720" anchor="ctr" anchorCtr="0"/>
          <a:p>
            <a:r>
              <a:rPr lang="zh-CN" altLang="en-US" sz="3100" dirty="0"/>
              <a:t>定理 </a:t>
            </a:r>
            <a:r>
              <a:rPr lang="en-US" altLang="zh-CN" sz="3100" dirty="0"/>
              <a:t>6.l  Armstrong</a:t>
            </a:r>
            <a:r>
              <a:rPr lang="zh-CN" altLang="en-US" sz="3100" dirty="0"/>
              <a:t>推理规则是正确的（续）</a:t>
            </a:r>
            <a:endParaRPr lang="zh-CN" altLang="en-US" sz="3100" dirty="0"/>
          </a:p>
        </p:txBody>
      </p:sp>
      <p:sp>
        <p:nvSpPr>
          <p:cNvPr id="112643" name="Rectangle 3"/>
          <p:cNvSpPr>
            <a:spLocks noGrp="1"/>
          </p:cNvSpPr>
          <p:nvPr>
            <p:ph idx="1"/>
          </p:nvPr>
        </p:nvSpPr>
        <p:spPr>
          <a:xfrm>
            <a:off x="990600" y="1905000"/>
            <a:ext cx="7772400" cy="4619625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sz="2400" b="1" dirty="0"/>
              <a:t>(3) </a:t>
            </a:r>
            <a:r>
              <a:rPr lang="zh-CN" altLang="en-US" sz="2400" b="1" dirty="0"/>
              <a:t>传递律：若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Y</a:t>
            </a:r>
            <a:r>
              <a:rPr lang="zh-CN" altLang="en-US" sz="2400" b="1" dirty="0"/>
              <a:t>及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为</a:t>
            </a:r>
            <a:r>
              <a:rPr lang="en-US" altLang="zh-CN" sz="2400" b="1" i="1" dirty="0"/>
              <a:t>F</a:t>
            </a:r>
            <a:r>
              <a:rPr lang="zh-CN" altLang="en-US" sz="2400" b="1" dirty="0"/>
              <a:t>所蕴含，则                 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为 </a:t>
            </a:r>
            <a:r>
              <a:rPr lang="en-US" altLang="zh-CN" sz="2400" b="1" i="1" dirty="0"/>
              <a:t>F</a:t>
            </a:r>
            <a:r>
              <a:rPr lang="zh-CN" altLang="en-US" sz="2400" b="1" dirty="0"/>
              <a:t>所蕴含。</a:t>
            </a:r>
            <a:endParaRPr lang="zh-CN" altLang="en-US" sz="2400" b="1" dirty="0"/>
          </a:p>
          <a:p>
            <a:pPr>
              <a:buNone/>
            </a:pPr>
            <a:endParaRPr lang="zh-CN" altLang="en-US" sz="2400" b="1" dirty="0"/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/>
              <a:t>证：</a:t>
            </a:r>
            <a:r>
              <a:rPr lang="zh-CN" altLang="en-US" sz="2400" b="1" dirty="0">
                <a:solidFill>
                  <a:srgbClr val="6600FF"/>
                </a:solidFill>
              </a:rPr>
              <a:t>设</a:t>
            </a:r>
            <a:r>
              <a:rPr lang="en-US" altLang="zh-CN" sz="2400" b="1" i="1" dirty="0">
                <a:solidFill>
                  <a:srgbClr val="6600FF"/>
                </a:solidFill>
              </a:rPr>
              <a:t>X</a:t>
            </a:r>
            <a:r>
              <a:rPr lang="en-US" altLang="zh-CN" sz="2400" b="1" dirty="0">
                <a:solidFill>
                  <a:srgbClr val="6600FF"/>
                </a:solidFill>
              </a:rPr>
              <a:t>→</a:t>
            </a:r>
            <a:r>
              <a:rPr lang="en-US" altLang="zh-CN" sz="2400" b="1" i="1" dirty="0">
                <a:solidFill>
                  <a:srgbClr val="6600FF"/>
                </a:solidFill>
              </a:rPr>
              <a:t>Y</a:t>
            </a:r>
            <a:r>
              <a:rPr lang="zh-CN" altLang="en-US" sz="2400" b="1" dirty="0">
                <a:solidFill>
                  <a:srgbClr val="6600FF"/>
                </a:solidFill>
              </a:rPr>
              <a:t>及</a:t>
            </a:r>
            <a:r>
              <a:rPr lang="en-US" altLang="zh-CN" sz="2400" b="1" i="1" dirty="0">
                <a:solidFill>
                  <a:srgbClr val="6600FF"/>
                </a:solidFill>
              </a:rPr>
              <a:t>Y</a:t>
            </a:r>
            <a:r>
              <a:rPr lang="en-US" altLang="zh-CN" sz="2400" b="1" dirty="0">
                <a:solidFill>
                  <a:srgbClr val="6600FF"/>
                </a:solidFill>
              </a:rPr>
              <a:t>→</a:t>
            </a:r>
            <a:r>
              <a:rPr lang="en-US" altLang="zh-CN" sz="2400" b="1" i="1" dirty="0">
                <a:solidFill>
                  <a:srgbClr val="6600FF"/>
                </a:solidFill>
              </a:rPr>
              <a:t>Z</a:t>
            </a:r>
            <a:r>
              <a:rPr lang="zh-CN" altLang="en-US" sz="2400" b="1" dirty="0">
                <a:solidFill>
                  <a:srgbClr val="6600FF"/>
                </a:solidFill>
              </a:rPr>
              <a:t>为</a:t>
            </a:r>
            <a:r>
              <a:rPr lang="en-US" altLang="zh-CN" sz="2400" b="1" i="1" dirty="0">
                <a:solidFill>
                  <a:srgbClr val="6600FF"/>
                </a:solidFill>
              </a:rPr>
              <a:t>F</a:t>
            </a:r>
            <a:r>
              <a:rPr lang="zh-CN" altLang="en-US" sz="2400" b="1" dirty="0">
                <a:solidFill>
                  <a:srgbClr val="6600FF"/>
                </a:solidFill>
              </a:rPr>
              <a:t>所蕴含。</a:t>
            </a:r>
            <a:endParaRPr lang="zh-CN" altLang="en-US" sz="2400" b="1" dirty="0"/>
          </a:p>
          <a:p>
            <a:pPr lvl="1">
              <a:lnSpc>
                <a:spcPct val="120000"/>
              </a:lnSpc>
              <a:buNone/>
            </a:pPr>
            <a:r>
              <a:rPr lang="zh-CN" altLang="en-US" sz="2400" b="1" dirty="0"/>
              <a:t>对</a:t>
            </a:r>
            <a:r>
              <a:rPr lang="en-US" altLang="zh-CN" sz="2400" b="1" i="1" dirty="0"/>
              <a:t>R&lt;U</a:t>
            </a:r>
            <a:r>
              <a:rPr lang="zh-CN" altLang="en-US" sz="2400" b="1" i="1" dirty="0"/>
              <a:t>，</a:t>
            </a:r>
            <a:r>
              <a:rPr lang="en-US" altLang="zh-CN" sz="2400" b="1" i="1" dirty="0"/>
              <a:t>F&gt;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的任一关系 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中的任意两个元组 </a:t>
            </a:r>
            <a:r>
              <a:rPr lang="en-US" altLang="zh-CN" sz="2400" b="1" i="1" dirty="0"/>
              <a:t>t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s</a:t>
            </a:r>
            <a:r>
              <a:rPr lang="zh-CN" altLang="en-US" sz="2400" b="1" dirty="0"/>
              <a:t>：</a:t>
            </a:r>
            <a:endParaRPr lang="zh-CN" altLang="en-US" sz="2400" b="1" dirty="0"/>
          </a:p>
          <a:p>
            <a:pPr lvl="1">
              <a:lnSpc>
                <a:spcPct val="120000"/>
              </a:lnSpc>
              <a:buNone/>
            </a:pPr>
            <a:r>
              <a:rPr lang="zh-CN" altLang="en-US" sz="2400" b="1" dirty="0"/>
              <a:t>若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]=</a:t>
            </a:r>
            <a:r>
              <a:rPr lang="en-US" altLang="zh-CN" sz="2400" b="1" i="1" dirty="0"/>
              <a:t>s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，由于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Y</a:t>
            </a:r>
            <a:r>
              <a:rPr lang="zh-CN" altLang="en-US" sz="2400" b="1" dirty="0"/>
              <a:t>，有 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]=</a:t>
            </a:r>
            <a:r>
              <a:rPr lang="en-US" altLang="zh-CN" sz="2400" b="1" i="1" dirty="0"/>
              <a:t>s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pPr lvl="1">
              <a:lnSpc>
                <a:spcPct val="120000"/>
              </a:lnSpc>
              <a:buNone/>
            </a:pPr>
            <a:r>
              <a:rPr lang="zh-CN" altLang="en-US" sz="2400" b="1" dirty="0"/>
              <a:t>再由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，有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]=</a:t>
            </a:r>
            <a:r>
              <a:rPr lang="en-US" altLang="zh-CN" sz="2400" b="1" i="1" dirty="0"/>
              <a:t>s</a:t>
            </a:r>
            <a:r>
              <a:rPr lang="en-US" altLang="zh-CN" sz="2400" b="1" dirty="0"/>
              <a:t>[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，所以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为</a:t>
            </a:r>
            <a:r>
              <a:rPr lang="en-US" altLang="zh-CN" sz="2400" b="1" i="1" dirty="0"/>
              <a:t>F</a:t>
            </a:r>
            <a:r>
              <a:rPr lang="zh-CN" altLang="en-US" sz="2400" b="1" dirty="0"/>
              <a:t>所蕴含，传递</a:t>
            </a:r>
            <a:endParaRPr lang="zh-CN" altLang="en-US" sz="2400" b="1" dirty="0"/>
          </a:p>
          <a:p>
            <a:pPr lvl="1">
              <a:lnSpc>
                <a:spcPct val="120000"/>
              </a:lnSpc>
              <a:buNone/>
            </a:pPr>
            <a:r>
              <a:rPr lang="zh-CN" altLang="en-US" sz="2400" b="1" dirty="0"/>
              <a:t>律得证。</a:t>
            </a:r>
            <a:endParaRPr lang="zh-CN" altLang="en-US" sz="2400" b="1" dirty="0"/>
          </a:p>
        </p:txBody>
      </p:sp>
      <p:sp>
        <p:nvSpPr>
          <p:cNvPr id="11264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2. </a:t>
            </a:r>
            <a:r>
              <a:rPr lang="zh-CN" altLang="en-US" dirty="0"/>
              <a:t>导出规则</a:t>
            </a:r>
            <a:endParaRPr lang="zh-CN" altLang="en-US" dirty="0"/>
          </a:p>
        </p:txBody>
      </p:sp>
      <p:sp>
        <p:nvSpPr>
          <p:cNvPr id="1136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根据</a:t>
            </a:r>
            <a:r>
              <a:rPr lang="en-US" altLang="zh-CN" b="1" dirty="0"/>
              <a:t>A1</a:t>
            </a:r>
            <a:r>
              <a:rPr lang="zh-CN" altLang="en-US" b="1" dirty="0"/>
              <a:t>，</a:t>
            </a:r>
            <a:r>
              <a:rPr lang="en-US" altLang="zh-CN" b="1" dirty="0"/>
              <a:t>A2</a:t>
            </a:r>
            <a:r>
              <a:rPr lang="zh-CN" altLang="en-US" b="1" dirty="0"/>
              <a:t>，</a:t>
            </a:r>
            <a:r>
              <a:rPr lang="en-US" altLang="zh-CN" b="1" dirty="0"/>
              <a:t>A3</a:t>
            </a:r>
            <a:r>
              <a:rPr lang="zh-CN" altLang="en-US" b="1" dirty="0"/>
              <a:t>这三条推理规则可以得到下面三条推理规则：</a:t>
            </a:r>
            <a:endParaRPr lang="zh-CN" altLang="en-US" b="1" dirty="0"/>
          </a:p>
          <a:p>
            <a:pPr lvl="1">
              <a:lnSpc>
                <a:spcPct val="140000"/>
              </a:lnSpc>
            </a:pPr>
            <a:r>
              <a:rPr lang="zh-CN" altLang="en-US" b="1" dirty="0"/>
              <a:t> </a:t>
            </a:r>
            <a:r>
              <a:rPr lang="zh-CN" altLang="en-US" b="1" dirty="0">
                <a:solidFill>
                  <a:srgbClr val="FF00FF"/>
                </a:solidFill>
              </a:rPr>
              <a:t>合并规则</a:t>
            </a:r>
            <a:r>
              <a:rPr lang="zh-CN" altLang="en-US" b="1" dirty="0"/>
              <a:t>：由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Y</a:t>
            </a:r>
            <a:r>
              <a:rPr lang="zh-CN" altLang="en-US" b="1" dirty="0"/>
              <a:t>，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Z</a:t>
            </a:r>
            <a:r>
              <a:rPr lang="zh-CN" altLang="en-US" b="1" dirty="0"/>
              <a:t>，有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YZ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lvl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       （</a:t>
            </a:r>
            <a:r>
              <a:rPr lang="en-US" altLang="zh-CN" sz="2000" b="1" dirty="0"/>
              <a:t>A2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A3</a:t>
            </a:r>
            <a:r>
              <a:rPr lang="zh-CN" altLang="en-US" sz="2000" b="1" dirty="0"/>
              <a:t>）</a:t>
            </a:r>
            <a:endParaRPr lang="zh-CN" altLang="en-US" sz="2000" b="1" dirty="0"/>
          </a:p>
          <a:p>
            <a:pPr lvl="1">
              <a:lnSpc>
                <a:spcPct val="140000"/>
              </a:lnSpc>
            </a:pPr>
            <a:r>
              <a:rPr lang="zh-CN" altLang="en-US" b="1" dirty="0"/>
              <a:t> </a:t>
            </a:r>
            <a:r>
              <a:rPr lang="zh-CN" altLang="en-US" b="1" dirty="0">
                <a:solidFill>
                  <a:srgbClr val="FF00FF"/>
                </a:solidFill>
              </a:rPr>
              <a:t>伪传递规则</a:t>
            </a:r>
            <a:r>
              <a:rPr lang="zh-CN" altLang="en-US" b="1" dirty="0"/>
              <a:t>：由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Y</a:t>
            </a:r>
            <a:r>
              <a:rPr lang="zh-CN" altLang="en-US" b="1" dirty="0"/>
              <a:t>，</a:t>
            </a:r>
            <a:r>
              <a:rPr lang="en-US" altLang="zh-CN" b="1" i="1" dirty="0"/>
              <a:t>WY</a:t>
            </a:r>
            <a:r>
              <a:rPr lang="en-US" altLang="zh-CN" b="1" dirty="0"/>
              <a:t>→</a:t>
            </a:r>
            <a:r>
              <a:rPr lang="en-US" altLang="zh-CN" b="1" i="1" dirty="0"/>
              <a:t>Z</a:t>
            </a:r>
            <a:r>
              <a:rPr lang="zh-CN" altLang="en-US" b="1" dirty="0"/>
              <a:t>，有</a:t>
            </a:r>
            <a:r>
              <a:rPr lang="en-US" altLang="zh-CN" b="1" i="1" dirty="0"/>
              <a:t>XW</a:t>
            </a:r>
            <a:r>
              <a:rPr lang="en-US" altLang="zh-CN" b="1" dirty="0"/>
              <a:t>→</a:t>
            </a:r>
            <a:r>
              <a:rPr lang="en-US" altLang="zh-CN" b="1" i="1" dirty="0"/>
              <a:t>Z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lvl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       （</a:t>
            </a:r>
            <a:r>
              <a:rPr lang="en-US" altLang="zh-CN" sz="2000" b="1" dirty="0"/>
              <a:t>A2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A3</a:t>
            </a:r>
            <a:r>
              <a:rPr lang="zh-CN" altLang="en-US" sz="2000" b="1" dirty="0"/>
              <a:t>）</a:t>
            </a:r>
            <a:endParaRPr lang="zh-CN" altLang="en-US" sz="2000" b="1" dirty="0"/>
          </a:p>
          <a:p>
            <a:pPr lvl="1">
              <a:lnSpc>
                <a:spcPct val="140000"/>
              </a:lnSpc>
            </a:pPr>
            <a:r>
              <a:rPr lang="zh-CN" altLang="en-US" b="1" dirty="0"/>
              <a:t> </a:t>
            </a:r>
            <a:r>
              <a:rPr lang="zh-CN" altLang="en-US" b="1" dirty="0">
                <a:solidFill>
                  <a:srgbClr val="FF00FF"/>
                </a:solidFill>
              </a:rPr>
              <a:t>分解规则</a:t>
            </a:r>
            <a:r>
              <a:rPr lang="zh-CN" altLang="en-US" b="1" dirty="0"/>
              <a:t>：由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Y</a:t>
            </a:r>
            <a:r>
              <a:rPr lang="zh-CN" altLang="en-US" b="1" dirty="0"/>
              <a:t>及 </a:t>
            </a:r>
            <a:r>
              <a:rPr lang="en-US" altLang="zh-CN" b="1" i="1" dirty="0"/>
              <a:t>Z</a:t>
            </a:r>
            <a:r>
              <a:rPr lang="en-US" altLang="zh-CN" b="1" dirty="0">
                <a:sym typeface="Symbol" panose="05050102010706020507" pitchFamily="18" charset="2"/>
              </a:rPr>
              <a:t></a:t>
            </a:r>
            <a:r>
              <a:rPr lang="en-US" altLang="zh-CN" b="1" i="1" dirty="0"/>
              <a:t>Y</a:t>
            </a:r>
            <a:r>
              <a:rPr lang="zh-CN" altLang="en-US" b="1" dirty="0"/>
              <a:t>，有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Z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lvl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       （</a:t>
            </a:r>
            <a:r>
              <a:rPr lang="en-US" altLang="zh-CN" sz="2000" b="1" dirty="0"/>
              <a:t>A1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A3</a:t>
            </a:r>
            <a:r>
              <a:rPr lang="zh-CN" altLang="en-US" sz="2000" b="1" dirty="0"/>
              <a:t>）</a:t>
            </a:r>
            <a:endParaRPr lang="zh-CN" altLang="en-US" sz="2000" b="1" dirty="0"/>
          </a:p>
        </p:txBody>
      </p:sp>
      <p:sp>
        <p:nvSpPr>
          <p:cNvPr id="113668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导出规则</a:t>
            </a:r>
            <a:endParaRPr lang="zh-CN" altLang="en-US" dirty="0"/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buNone/>
            </a:pPr>
            <a:r>
              <a:rPr lang="en-US" altLang="zh-CN" b="1" dirty="0"/>
              <a:t>2.</a:t>
            </a:r>
            <a:r>
              <a:rPr lang="zh-CN" altLang="en-US" b="1" dirty="0"/>
              <a:t>根据合并规则和分解规则，可得引理</a:t>
            </a:r>
            <a:r>
              <a:rPr lang="en-US" altLang="zh-CN" b="1" dirty="0"/>
              <a:t>6.1</a:t>
            </a:r>
            <a:endParaRPr lang="en-US" altLang="zh-CN" b="1" dirty="0"/>
          </a:p>
          <a:p>
            <a:pPr>
              <a:lnSpc>
                <a:spcPct val="120000"/>
              </a:lnSpc>
              <a:spcBef>
                <a:spcPct val="80000"/>
              </a:spcBef>
              <a:buNone/>
            </a:pPr>
            <a:r>
              <a:rPr lang="en-US" altLang="zh-CN" b="1" dirty="0"/>
              <a:t>   </a:t>
            </a:r>
            <a:r>
              <a:rPr lang="zh-CN" altLang="en-US" b="1" dirty="0"/>
              <a:t>引理</a:t>
            </a:r>
            <a:r>
              <a:rPr lang="en-US" altLang="zh-CN" b="1" dirty="0"/>
              <a:t>6.l  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A</a:t>
            </a:r>
            <a:r>
              <a:rPr lang="en-US" altLang="zh-CN" b="1" i="1" baseline="-25000" dirty="0"/>
              <a:t>1</a:t>
            </a:r>
            <a:r>
              <a:rPr lang="en-US" altLang="zh-CN" b="1" i="1" dirty="0"/>
              <a:t> A</a:t>
            </a:r>
            <a:r>
              <a:rPr lang="en-US" altLang="zh-CN" b="1" i="1" baseline="-25000" dirty="0"/>
              <a:t>2</a:t>
            </a:r>
            <a:r>
              <a:rPr lang="en-US" altLang="zh-CN" b="1" i="1" dirty="0"/>
              <a:t>…A</a:t>
            </a:r>
            <a:r>
              <a:rPr lang="en-US" altLang="zh-CN" b="1" i="1" baseline="-25000" dirty="0"/>
              <a:t>k</a:t>
            </a:r>
            <a:r>
              <a:rPr lang="zh-CN" altLang="en-US" b="1" dirty="0"/>
              <a:t>成立的充分必要条件是</a:t>
            </a:r>
            <a:r>
              <a:rPr lang="en-US" altLang="zh-CN" b="1" i="1" dirty="0"/>
              <a:t>X</a:t>
            </a:r>
            <a:r>
              <a:rPr lang="en-US" altLang="zh-CN" b="1" dirty="0"/>
              <a:t>→</a:t>
            </a:r>
            <a:r>
              <a:rPr lang="en-US" altLang="zh-CN" b="1" i="1" dirty="0"/>
              <a:t>A</a:t>
            </a:r>
            <a:r>
              <a:rPr lang="en-US" altLang="zh-CN" b="1" i="1" baseline="-25000" dirty="0"/>
              <a:t>i</a:t>
            </a:r>
            <a:r>
              <a:rPr lang="zh-CN" altLang="en-US" b="1" dirty="0"/>
              <a:t>成立（</a:t>
            </a:r>
            <a:r>
              <a:rPr lang="en-US" altLang="zh-CN" b="1" i="1" dirty="0"/>
              <a:t>i</a:t>
            </a:r>
            <a:r>
              <a:rPr lang="en-US" altLang="zh-CN" b="1" dirty="0"/>
              <a:t>=l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…</a:t>
            </a:r>
            <a:r>
              <a:rPr lang="zh-CN" altLang="en-US" b="1" dirty="0"/>
              <a:t>，</a:t>
            </a:r>
            <a:r>
              <a:rPr lang="en-US" altLang="zh-CN" b="1" i="1" dirty="0"/>
              <a:t>k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114692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4000" dirty="0"/>
              <a:t>函数依赖闭包</a:t>
            </a:r>
            <a:endParaRPr lang="zh-CN" altLang="en-US" sz="4000" dirty="0"/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80000"/>
              </a:lnSpc>
              <a:buNone/>
            </a:pPr>
            <a:r>
              <a:rPr lang="zh-CN" altLang="en-US" b="1" dirty="0"/>
              <a:t>定义</a:t>
            </a:r>
            <a:r>
              <a:rPr lang="en-US" altLang="zh-CN" b="1" dirty="0"/>
              <a:t>6.l2</a:t>
            </a:r>
            <a:r>
              <a:rPr lang="en-US" altLang="zh-CN" dirty="0"/>
              <a:t>    </a:t>
            </a:r>
            <a:r>
              <a:rPr lang="zh-CN" altLang="en-US" dirty="0"/>
              <a:t>在关系模式</a:t>
            </a:r>
            <a:r>
              <a:rPr lang="en-US" altLang="zh-CN" i="1" dirty="0"/>
              <a:t>R&lt;U</a:t>
            </a:r>
            <a:r>
              <a:rPr lang="zh-CN" altLang="en-US" i="1" dirty="0"/>
              <a:t>，</a:t>
            </a:r>
            <a:r>
              <a:rPr lang="en-US" altLang="zh-CN" i="1" dirty="0"/>
              <a:t>F&gt;</a:t>
            </a:r>
            <a:r>
              <a:rPr lang="zh-CN" altLang="en-US" dirty="0"/>
              <a:t>中为</a:t>
            </a:r>
            <a:r>
              <a:rPr lang="en-US" altLang="zh-CN" i="1" dirty="0"/>
              <a:t>F</a:t>
            </a:r>
            <a:r>
              <a:rPr lang="zh-CN" altLang="en-US" dirty="0"/>
              <a:t>所逻辑蕴含的函数依赖的全体叫作 </a:t>
            </a:r>
            <a:r>
              <a:rPr lang="en-US" altLang="zh-CN" i="1" dirty="0">
                <a:solidFill>
                  <a:srgbClr val="FF00FF"/>
                </a:solidFill>
              </a:rPr>
              <a:t>F</a:t>
            </a:r>
            <a:r>
              <a:rPr lang="zh-CN" altLang="en-US" dirty="0">
                <a:solidFill>
                  <a:srgbClr val="FF00FF"/>
                </a:solidFill>
              </a:rPr>
              <a:t>的闭包</a:t>
            </a:r>
            <a:r>
              <a:rPr lang="zh-CN" altLang="en-US" dirty="0"/>
              <a:t>，记为</a:t>
            </a:r>
            <a:r>
              <a:rPr lang="en-US" altLang="zh-CN" i="1" dirty="0"/>
              <a:t>F</a:t>
            </a:r>
            <a:r>
              <a:rPr lang="en-US" altLang="zh-CN" baseline="30000" dirty="0"/>
              <a:t>+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lnSpc>
                <a:spcPct val="180000"/>
              </a:lnSpc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11571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600" dirty="0"/>
              <a:t>F</a:t>
            </a:r>
            <a:r>
              <a:rPr lang="zh-CN" altLang="en-US" sz="3600" dirty="0"/>
              <a:t>的闭包</a:t>
            </a:r>
            <a:endParaRPr lang="zh-CN" altLang="en-US" sz="3600" dirty="0"/>
          </a:p>
        </p:txBody>
      </p:sp>
      <p:sp>
        <p:nvSpPr>
          <p:cNvPr id="116739" name="Rectangle 3"/>
          <p:cNvSpPr>
            <a:spLocks noGrp="1"/>
          </p:cNvSpPr>
          <p:nvPr>
            <p:ph idx="1"/>
          </p:nvPr>
        </p:nvSpPr>
        <p:spPr>
          <a:xfrm>
            <a:off x="539750" y="1628775"/>
            <a:ext cx="7778750" cy="4679950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None/>
            </a:pPr>
            <a:r>
              <a:rPr lang="en-US" altLang="zh-CN" sz="2000" b="1" i="1" dirty="0"/>
              <a:t>F</a:t>
            </a:r>
            <a:r>
              <a:rPr lang="en-US" altLang="zh-CN" sz="2000" b="1" dirty="0"/>
              <a:t>={X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Y, 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Z}</a:t>
            </a:r>
            <a:endParaRPr lang="en-US" altLang="zh-CN" sz="24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i="1" dirty="0"/>
              <a:t>F</a:t>
            </a:r>
            <a:r>
              <a:rPr lang="en-US" altLang="zh-CN" sz="2000" b="1" baseline="30000" dirty="0"/>
              <a:t>+</a:t>
            </a:r>
            <a:r>
              <a:rPr lang="en-US" altLang="zh-CN" sz="2000" b="1" dirty="0"/>
              <a:t>={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φ,	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φ,	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φ,	XY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φ,	XZ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φ,	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φ,	XYZ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φ, </a:t>
            </a:r>
            <a:endParaRPr lang="en-US" altLang="zh-CN" sz="24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X, 	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Y, 	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Z,	XY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X,	XZ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X,	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Y,	XYZ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X,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Y,	Y 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Z,		XY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Y,	XZ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Y,	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Z,	XYZ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Y,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Z,	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YZ,		XY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Z,	XZ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Z,	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YZ,XYZ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Z,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XY,			XY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XY,XZ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XY,	XYZ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XY, 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XZ,			XY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YZ,XZ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XZ,	XYZ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YZ,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YZ,			XY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XZ,XZ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XY,	XYZ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XZ,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X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ZYZ,		XY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XYZ,XZ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XYZ,	XYZ</a:t>
            </a:r>
            <a:r>
              <a:rPr lang="en-US" altLang="zh-CN" sz="2000" b="1" dirty="0">
                <a:sym typeface="Wingdings" panose="05000000000000000000" pitchFamily="2" charset="2"/>
              </a:rPr>
              <a:t></a:t>
            </a:r>
            <a:r>
              <a:rPr lang="en-US" altLang="zh-CN" sz="2000" b="1" dirty="0"/>
              <a:t>XYZ }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F={X</a:t>
            </a:r>
            <a:r>
              <a:rPr lang="en-US" altLang="zh-CN" sz="2000" b="1" dirty="0">
                <a:sym typeface="Wingdings" panose="05000000000000000000" pitchFamily="2" charset="2"/>
              </a:rPr>
              <a:t>A1, …… , XAn</a:t>
            </a:r>
            <a:r>
              <a:rPr lang="en-US" altLang="zh-CN" sz="2000" b="1" dirty="0"/>
              <a:t>}</a:t>
            </a:r>
            <a:r>
              <a:rPr lang="zh-CN" altLang="en-US" sz="2000" b="1" dirty="0"/>
              <a:t>的闭包</a:t>
            </a:r>
            <a:r>
              <a:rPr lang="en-US" altLang="zh-CN" sz="2000" b="1" i="1" dirty="0"/>
              <a:t>F</a:t>
            </a:r>
            <a:r>
              <a:rPr lang="en-US" altLang="zh-CN" sz="2000" b="1" baseline="30000" dirty="0"/>
              <a:t>+</a:t>
            </a:r>
            <a:r>
              <a:rPr lang="zh-CN" altLang="en-US" sz="2000" b="1" dirty="0"/>
              <a:t>计算是一个</a:t>
            </a:r>
            <a:r>
              <a:rPr lang="en-US" altLang="zh-CN" sz="2000" b="1" dirty="0"/>
              <a:t>NP</a:t>
            </a:r>
            <a:r>
              <a:rPr lang="zh-CN" altLang="en-US" sz="2000" b="1" dirty="0"/>
              <a:t>完全问题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多项式复杂程度的非确定性问题</a:t>
            </a:r>
            <a:r>
              <a:rPr lang="en-US" altLang="zh-CN" sz="2000" b="1" dirty="0"/>
              <a:t>)</a:t>
            </a:r>
            <a:endParaRPr lang="en-US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F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FD</a:t>
            </a:r>
            <a:r>
              <a:rPr lang="zh-CN" altLang="en-US" sz="2000" b="1" dirty="0"/>
              <a:t>的集合称为函数依赖集。</a:t>
            </a:r>
            <a:endParaRPr lang="zh-CN" altLang="en-US" sz="20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000" b="1" dirty="0"/>
              <a:t>F</a:t>
            </a:r>
            <a:r>
              <a:rPr lang="zh-CN" altLang="en-US" sz="2000" b="1" dirty="0"/>
              <a:t>闭包：由</a:t>
            </a:r>
            <a:r>
              <a:rPr lang="en-US" altLang="zh-CN" sz="2000" b="1" dirty="0"/>
              <a:t>F</a:t>
            </a:r>
            <a:r>
              <a:rPr lang="zh-CN" altLang="en-US" sz="2000" b="1" dirty="0"/>
              <a:t>中的所有</a:t>
            </a:r>
            <a:r>
              <a:rPr lang="en-US" altLang="zh-CN" sz="2000" b="1" dirty="0"/>
              <a:t>FD</a:t>
            </a:r>
            <a:r>
              <a:rPr lang="zh-CN" altLang="en-US" sz="2000" b="1" dirty="0"/>
              <a:t>可以推导出所有</a:t>
            </a:r>
            <a:r>
              <a:rPr lang="en-US" altLang="zh-CN" sz="2000" b="1" dirty="0"/>
              <a:t>FD</a:t>
            </a:r>
            <a:r>
              <a:rPr lang="zh-CN" altLang="en-US" sz="2000" b="1" dirty="0"/>
              <a:t>的集合，记为</a:t>
            </a:r>
            <a:r>
              <a:rPr lang="en-US" altLang="zh-CN" sz="2000" b="1" dirty="0"/>
              <a:t>F+</a:t>
            </a:r>
            <a:r>
              <a:rPr lang="zh-CN" altLang="en-US" sz="2000" b="1" dirty="0"/>
              <a:t>。</a:t>
            </a:r>
            <a:endParaRPr lang="zh-CN" altLang="en-US" sz="2000" b="1" dirty="0"/>
          </a:p>
          <a:p>
            <a:pPr>
              <a:lnSpc>
                <a:spcPct val="80000"/>
              </a:lnSpc>
              <a:buNone/>
            </a:pPr>
            <a:endParaRPr lang="zh-CN" altLang="en-US" sz="2000" b="1" dirty="0"/>
          </a:p>
        </p:txBody>
      </p:sp>
      <p:sp>
        <p:nvSpPr>
          <p:cNvPr id="116740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Armstrong</a:t>
            </a:r>
            <a:r>
              <a:rPr lang="zh-CN" altLang="en-US" dirty="0"/>
              <a:t>公理系统</a:t>
            </a:r>
            <a:endParaRPr lang="zh-CN" altLang="en-US" dirty="0"/>
          </a:p>
        </p:txBody>
      </p:sp>
      <p:sp>
        <p:nvSpPr>
          <p:cNvPr id="117763" name="Rectangle 3"/>
          <p:cNvSpPr>
            <a:spLocks noGrp="1"/>
          </p:cNvSpPr>
          <p:nvPr>
            <p:ph idx="1"/>
          </p:nvPr>
        </p:nvSpPr>
        <p:spPr>
          <a:xfrm>
            <a:off x="838200" y="1905000"/>
            <a:ext cx="7772400" cy="46196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80000"/>
              </a:lnSpc>
              <a:buClr>
                <a:schemeClr val="accent1"/>
              </a:buClr>
            </a:pPr>
            <a:r>
              <a:rPr lang="en-US" altLang="zh-CN" sz="2800" b="1" dirty="0"/>
              <a:t>Armstrong</a:t>
            </a:r>
            <a:r>
              <a:rPr lang="zh-CN" altLang="en-US" sz="2800" b="1" dirty="0"/>
              <a:t>公理系统是有效的、完备的</a:t>
            </a:r>
            <a:endParaRPr lang="zh-CN" altLang="en-US" sz="2800" b="1" dirty="0"/>
          </a:p>
          <a:p>
            <a:pPr lvl="1">
              <a:lnSpc>
                <a:spcPct val="18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b="1" dirty="0"/>
              <a:t>有效性：由</a:t>
            </a:r>
            <a:r>
              <a:rPr lang="en-US" altLang="zh-CN" sz="2600" b="1" i="1" dirty="0"/>
              <a:t>F</a:t>
            </a:r>
            <a:r>
              <a:rPr lang="zh-CN" altLang="en-US" sz="2600" b="1" dirty="0"/>
              <a:t>出发根据</a:t>
            </a:r>
            <a:r>
              <a:rPr lang="en-US" altLang="zh-CN" sz="2600" b="1" dirty="0"/>
              <a:t>Armstrong</a:t>
            </a:r>
            <a:r>
              <a:rPr lang="zh-CN" altLang="en-US" sz="2600" b="1" dirty="0"/>
              <a:t>公理推导出来的每一个函数依赖一定在</a:t>
            </a:r>
            <a:r>
              <a:rPr lang="en-US" altLang="zh-CN" sz="2600" b="1" i="1" dirty="0"/>
              <a:t>F</a:t>
            </a:r>
            <a:r>
              <a:rPr lang="en-US" altLang="zh-CN" sz="2600" b="1" baseline="30000" dirty="0"/>
              <a:t>+</a:t>
            </a:r>
            <a:r>
              <a:rPr lang="zh-CN" altLang="en-US" sz="2600" b="1" dirty="0"/>
              <a:t>中；</a:t>
            </a:r>
            <a:endParaRPr lang="zh-CN" altLang="en-US" sz="2600" b="1" dirty="0"/>
          </a:p>
          <a:p>
            <a:pPr lvl="1">
              <a:lnSpc>
                <a:spcPct val="18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600" b="1" dirty="0"/>
              <a:t>完备性：</a:t>
            </a:r>
            <a:r>
              <a:rPr lang="en-US" altLang="zh-CN" sz="2600" b="1" i="1" dirty="0"/>
              <a:t>F</a:t>
            </a:r>
            <a:r>
              <a:rPr lang="en-US" altLang="zh-CN" sz="2600" b="1" baseline="30000" dirty="0"/>
              <a:t>+</a:t>
            </a:r>
            <a:r>
              <a:rPr lang="zh-CN" altLang="en-US" sz="2600" b="1" dirty="0"/>
              <a:t>中的每一个函数依赖，必定可以由</a:t>
            </a:r>
            <a:r>
              <a:rPr lang="en-US" altLang="zh-CN" sz="2600" b="1" i="1" dirty="0"/>
              <a:t>F</a:t>
            </a:r>
            <a:r>
              <a:rPr lang="zh-CN" altLang="en-US" sz="2600" b="1" dirty="0"/>
              <a:t>出发根据</a:t>
            </a:r>
            <a:r>
              <a:rPr lang="en-US" altLang="zh-CN" sz="2600" b="1" dirty="0"/>
              <a:t>Armstrong</a:t>
            </a:r>
            <a:r>
              <a:rPr lang="zh-CN" altLang="en-US" sz="2600" b="1" dirty="0"/>
              <a:t>公理推导出来</a:t>
            </a:r>
            <a:endParaRPr lang="zh-CN" altLang="en-US" sz="2600" b="1" dirty="0"/>
          </a:p>
        </p:txBody>
      </p:sp>
      <p:sp>
        <p:nvSpPr>
          <p:cNvPr id="11776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4000" dirty="0"/>
              <a:t>函数依赖闭包</a:t>
            </a:r>
            <a:endParaRPr lang="zh-CN" altLang="en-US" sz="4000" dirty="0"/>
          </a:p>
        </p:txBody>
      </p:sp>
      <p:sp>
        <p:nvSpPr>
          <p:cNvPr id="1187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80000"/>
              </a:lnSpc>
              <a:buNone/>
            </a:pPr>
            <a:r>
              <a:rPr lang="zh-CN" altLang="en-US" b="1" dirty="0"/>
              <a:t>定义</a:t>
            </a:r>
            <a:r>
              <a:rPr lang="en-US" altLang="zh-CN" b="1" dirty="0"/>
              <a:t>6.13</a:t>
            </a:r>
            <a:r>
              <a:rPr lang="en-US" altLang="zh-CN" dirty="0"/>
              <a:t>   </a:t>
            </a:r>
            <a:r>
              <a:rPr lang="zh-CN" altLang="en-US" dirty="0"/>
              <a:t>设</a:t>
            </a:r>
            <a:r>
              <a:rPr lang="en-US" altLang="zh-CN" i="1" dirty="0"/>
              <a:t>F</a:t>
            </a:r>
            <a:r>
              <a:rPr lang="zh-CN" altLang="en-US" dirty="0"/>
              <a:t>为属性集</a:t>
            </a:r>
            <a:r>
              <a:rPr lang="en-US" altLang="zh-CN" i="1" dirty="0"/>
              <a:t>U</a:t>
            </a:r>
            <a:r>
              <a:rPr lang="zh-CN" altLang="en-US" dirty="0"/>
              <a:t>上的一组函数依赖，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U</a:t>
            </a:r>
            <a:r>
              <a:rPr lang="zh-CN" altLang="en-US" dirty="0"/>
              <a:t>，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F</a:t>
            </a:r>
            <a:r>
              <a:rPr lang="en-US" altLang="zh-CN" baseline="30000" dirty="0"/>
              <a:t>+</a:t>
            </a:r>
            <a:r>
              <a:rPr lang="en-US" altLang="zh-CN" dirty="0"/>
              <a:t> ={ </a:t>
            </a:r>
            <a:r>
              <a:rPr lang="en-US" altLang="zh-CN" i="1" dirty="0"/>
              <a:t>A|X</a:t>
            </a:r>
            <a:r>
              <a:rPr lang="en-US" altLang="zh-CN" dirty="0"/>
              <a:t>→</a:t>
            </a:r>
            <a:r>
              <a:rPr lang="en-US" altLang="zh-CN" i="1" dirty="0"/>
              <a:t>A</a:t>
            </a:r>
            <a:r>
              <a:rPr lang="zh-CN" altLang="en-US" dirty="0"/>
              <a:t>能由</a:t>
            </a:r>
            <a:r>
              <a:rPr lang="en-US" altLang="zh-CN" i="1" dirty="0"/>
              <a:t>F </a:t>
            </a:r>
            <a:r>
              <a:rPr lang="zh-CN" altLang="en-US" dirty="0"/>
              <a:t>根据</a:t>
            </a:r>
            <a:r>
              <a:rPr lang="en-US" altLang="zh-CN" dirty="0"/>
              <a:t>Armstrong</a:t>
            </a:r>
            <a:r>
              <a:rPr lang="zh-CN" altLang="en-US" dirty="0"/>
              <a:t>公理导出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F</a:t>
            </a:r>
            <a:r>
              <a:rPr lang="en-US" altLang="zh-CN" baseline="30000" dirty="0"/>
              <a:t>+</a:t>
            </a:r>
            <a:r>
              <a:rPr lang="zh-CN" altLang="en-US" dirty="0"/>
              <a:t>称为属性集</a:t>
            </a:r>
            <a:r>
              <a:rPr lang="en-US" altLang="zh-CN" b="1" i="1" dirty="0">
                <a:solidFill>
                  <a:srgbClr val="CC3300"/>
                </a:solidFill>
              </a:rPr>
              <a:t>X</a:t>
            </a:r>
            <a:r>
              <a:rPr lang="zh-CN" altLang="en-US" b="1" dirty="0">
                <a:solidFill>
                  <a:srgbClr val="CC3300"/>
                </a:solidFill>
              </a:rPr>
              <a:t>关于函数依赖集</a:t>
            </a:r>
            <a:r>
              <a:rPr lang="en-US" altLang="zh-CN" b="1" i="1" dirty="0">
                <a:solidFill>
                  <a:srgbClr val="CC3300"/>
                </a:solidFill>
              </a:rPr>
              <a:t>F </a:t>
            </a:r>
            <a:r>
              <a:rPr lang="zh-CN" altLang="en-US" b="1" dirty="0">
                <a:solidFill>
                  <a:srgbClr val="CC3300"/>
                </a:solidFill>
              </a:rPr>
              <a:t>的闭包</a:t>
            </a:r>
            <a:endParaRPr lang="zh-CN" altLang="en-US" b="1" dirty="0">
              <a:solidFill>
                <a:srgbClr val="CC3300"/>
              </a:solidFill>
            </a:endParaRPr>
          </a:p>
          <a:p>
            <a:endParaRPr lang="zh-CN" altLang="en-US" dirty="0">
              <a:solidFill>
                <a:srgbClr val="CC3300"/>
              </a:solidFill>
            </a:endParaRPr>
          </a:p>
        </p:txBody>
      </p:sp>
      <p:sp>
        <p:nvSpPr>
          <p:cNvPr id="118788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/>
              <a:t>关于闭包的引理</a:t>
            </a:r>
            <a:endParaRPr lang="zh-CN" altLang="en-US" dirty="0"/>
          </a:p>
        </p:txBody>
      </p:sp>
      <p:sp>
        <p:nvSpPr>
          <p:cNvPr id="120835" name="Rectangle 3"/>
          <p:cNvSpPr>
            <a:spLocks noGrp="1"/>
          </p:cNvSpPr>
          <p:nvPr>
            <p:ph idx="1"/>
          </p:nvPr>
        </p:nvSpPr>
        <p:spPr>
          <a:xfrm>
            <a:off x="914400" y="1752600"/>
            <a:ext cx="7772400" cy="47720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</a:pPr>
            <a:r>
              <a:rPr lang="zh-CN" altLang="en-US" sz="2400" b="1" dirty="0"/>
              <a:t>引理</a:t>
            </a:r>
            <a:r>
              <a:rPr lang="en-US" altLang="zh-CN" sz="2400" b="1" dirty="0"/>
              <a:t>6.2  </a:t>
            </a:r>
            <a:endParaRPr lang="en-US" altLang="zh-CN" sz="2400" b="1" dirty="0"/>
          </a:p>
          <a:p>
            <a:pPr>
              <a:lnSpc>
                <a:spcPct val="120000"/>
              </a:lnSpc>
              <a:buNone/>
            </a:pPr>
            <a:r>
              <a:rPr lang="en-US" altLang="zh-CN" sz="2400" b="1" dirty="0"/>
              <a:t>   </a:t>
            </a:r>
            <a:r>
              <a:rPr lang="zh-CN" altLang="en-US" sz="2400" b="1" dirty="0"/>
              <a:t>设</a:t>
            </a:r>
            <a:r>
              <a:rPr lang="en-US" altLang="zh-CN" sz="2400" b="1" i="1" dirty="0"/>
              <a:t>F</a:t>
            </a:r>
            <a:r>
              <a:rPr lang="zh-CN" altLang="en-US" sz="2400" b="1" dirty="0"/>
              <a:t>为属性集</a:t>
            </a:r>
            <a:r>
              <a:rPr lang="en-US" altLang="zh-CN" sz="2400" b="1" i="1" dirty="0"/>
              <a:t>U</a:t>
            </a:r>
            <a:r>
              <a:rPr lang="zh-CN" altLang="en-US" sz="2400" b="1" dirty="0"/>
              <a:t>上的一组函数依赖，</a:t>
            </a:r>
            <a:r>
              <a:rPr lang="en-US" altLang="zh-CN" sz="2400" b="1" i="1" dirty="0"/>
              <a:t>X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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U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Y</a:t>
            </a:r>
            <a:r>
              <a:rPr lang="zh-CN" altLang="en-US" sz="2400" b="1" dirty="0"/>
              <a:t>能由</a:t>
            </a:r>
            <a:r>
              <a:rPr lang="en-US" altLang="zh-CN" sz="2400" b="1" i="1" dirty="0"/>
              <a:t>F </a:t>
            </a:r>
            <a:r>
              <a:rPr lang="zh-CN" altLang="en-US" sz="2400" b="1" dirty="0"/>
              <a:t>根据</a:t>
            </a:r>
            <a:r>
              <a:rPr lang="en-US" altLang="zh-CN" sz="2400" b="1" dirty="0"/>
              <a:t>Armstrong</a:t>
            </a:r>
            <a:r>
              <a:rPr lang="zh-CN" altLang="en-US" sz="2400" b="1" dirty="0"/>
              <a:t>公理导出的充分必要条件是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</a:t>
            </a:r>
            <a:r>
              <a:rPr lang="en-US" altLang="zh-CN" sz="2400" b="1" i="1" dirty="0"/>
              <a:t>X</a:t>
            </a:r>
            <a:r>
              <a:rPr lang="en-US" altLang="zh-CN" sz="2400" b="1" i="1" baseline="-25000" dirty="0"/>
              <a:t>F</a:t>
            </a:r>
            <a:r>
              <a:rPr lang="en-US" altLang="zh-CN" sz="2400" b="1" baseline="30000" dirty="0"/>
              <a:t>+</a:t>
            </a:r>
            <a:endParaRPr lang="en-US" altLang="zh-CN" sz="2400" b="1" dirty="0"/>
          </a:p>
          <a:p>
            <a:pPr>
              <a:lnSpc>
                <a:spcPct val="110000"/>
              </a:lnSpc>
            </a:pPr>
            <a:r>
              <a:rPr lang="zh-CN" altLang="en-US" sz="2400" b="1" dirty="0"/>
              <a:t>用途</a:t>
            </a:r>
            <a:endParaRPr lang="zh-CN" altLang="en-US" sz="2400" b="1" dirty="0"/>
          </a:p>
          <a:p>
            <a:pPr>
              <a:lnSpc>
                <a:spcPct val="140000"/>
              </a:lnSpc>
              <a:buNone/>
            </a:pPr>
            <a:r>
              <a:rPr lang="zh-CN" altLang="en-US" sz="2400" b="1" dirty="0"/>
              <a:t>    将判定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Y</a:t>
            </a:r>
            <a:r>
              <a:rPr lang="zh-CN" altLang="en-US" sz="2400" b="1" dirty="0"/>
              <a:t>是否能由</a:t>
            </a:r>
            <a:r>
              <a:rPr lang="en-US" altLang="zh-CN" sz="2400" b="1" i="1" dirty="0"/>
              <a:t>F</a:t>
            </a:r>
            <a:r>
              <a:rPr lang="zh-CN" altLang="en-US" sz="2400" b="1" dirty="0"/>
              <a:t>根据</a:t>
            </a:r>
            <a:r>
              <a:rPr lang="en-US" altLang="zh-CN" sz="2400" b="1" dirty="0"/>
              <a:t>Armstrong</a:t>
            </a:r>
            <a:r>
              <a:rPr lang="zh-CN" altLang="en-US" sz="2400" b="1" dirty="0"/>
              <a:t>公理导出的问题，转化为求出</a:t>
            </a:r>
            <a:r>
              <a:rPr lang="en-US" altLang="zh-CN" sz="2400" b="1" i="1" dirty="0"/>
              <a:t>X</a:t>
            </a:r>
            <a:r>
              <a:rPr lang="en-US" altLang="zh-CN" sz="2400" b="1" i="1" baseline="-25000" dirty="0"/>
              <a:t>F</a:t>
            </a:r>
            <a:r>
              <a:rPr lang="en-US" altLang="zh-CN" sz="2400" b="1" baseline="30000" dirty="0"/>
              <a:t>+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、判定</a:t>
            </a:r>
            <a:r>
              <a:rPr lang="en-US" altLang="zh-CN" sz="2400" b="1" i="1" dirty="0"/>
              <a:t>Y</a:t>
            </a:r>
            <a:r>
              <a:rPr lang="zh-CN" altLang="en-US" sz="2400" b="1" dirty="0"/>
              <a:t>是否为</a:t>
            </a:r>
            <a:r>
              <a:rPr lang="en-US" altLang="zh-CN" sz="2400" b="1" i="1" dirty="0"/>
              <a:t>X</a:t>
            </a:r>
            <a:r>
              <a:rPr lang="en-US" altLang="zh-CN" sz="2400" b="1" i="1" baseline="-25000" dirty="0"/>
              <a:t>F</a:t>
            </a:r>
            <a:r>
              <a:rPr lang="en-US" altLang="zh-CN" sz="2400" b="1" baseline="30000" dirty="0"/>
              <a:t>+</a:t>
            </a:r>
            <a:r>
              <a:rPr lang="zh-CN" altLang="en-US" sz="2400" b="1" dirty="0"/>
              <a:t>的子集的问题</a:t>
            </a:r>
            <a:endParaRPr lang="zh-CN" altLang="en-US" sz="2400" b="1" dirty="0"/>
          </a:p>
        </p:txBody>
      </p:sp>
      <p:sp>
        <p:nvSpPr>
          <p:cNvPr id="12083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4000" dirty="0"/>
              <a:t>求闭包的算法</a:t>
            </a:r>
            <a:endParaRPr lang="zh-CN" altLang="en-US" dirty="0"/>
          </a:p>
        </p:txBody>
      </p:sp>
      <p:sp>
        <p:nvSpPr>
          <p:cNvPr id="122883" name="Rectangle 3"/>
          <p:cNvSpPr>
            <a:spLocks noGrp="1"/>
          </p:cNvSpPr>
          <p:nvPr>
            <p:ph idx="1"/>
          </p:nvPr>
        </p:nvSpPr>
        <p:spPr>
          <a:xfrm>
            <a:off x="914400" y="1905000"/>
            <a:ext cx="7772400" cy="4692650"/>
          </a:xfrm>
        </p:spPr>
        <p:txBody>
          <a:bodyPr vert="horz" wrap="square" lIns="91440" tIns="45720" rIns="91440" bIns="45720" anchor="t" anchorCtr="0"/>
          <a:p>
            <a:pPr marL="485775" indent="-485775">
              <a:lnSpc>
                <a:spcPct val="80000"/>
              </a:lnSpc>
              <a:buNone/>
            </a:pPr>
            <a:r>
              <a:rPr lang="zh-CN" altLang="en-US" sz="2000" b="1" dirty="0"/>
              <a:t>算法</a:t>
            </a:r>
            <a:r>
              <a:rPr lang="en-US" altLang="zh-CN" sz="2000" b="1" dirty="0"/>
              <a:t>6.1  </a:t>
            </a:r>
            <a:r>
              <a:rPr lang="zh-CN" altLang="en-US" sz="2000" b="1" dirty="0"/>
              <a:t>求属性集</a:t>
            </a:r>
            <a:r>
              <a:rPr lang="en-US" altLang="zh-CN" sz="2000" b="1" i="1" dirty="0"/>
              <a:t>X</a:t>
            </a:r>
            <a:r>
              <a:rPr lang="zh-CN" altLang="en-US" sz="2000" b="1" dirty="0"/>
              <a:t>（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</a:t>
            </a:r>
            <a:r>
              <a:rPr lang="en-US" altLang="zh-CN" sz="2000" b="1" dirty="0"/>
              <a:t> </a:t>
            </a:r>
            <a:r>
              <a:rPr lang="en-US" altLang="zh-CN" sz="2000" b="1" i="1" dirty="0"/>
              <a:t>U</a:t>
            </a:r>
            <a:r>
              <a:rPr lang="zh-CN" altLang="en-US" sz="2000" b="1" dirty="0"/>
              <a:t>）关于</a:t>
            </a:r>
            <a:r>
              <a:rPr lang="en-US" altLang="zh-CN" sz="2000" b="1" i="1" dirty="0"/>
              <a:t>U</a:t>
            </a:r>
            <a:r>
              <a:rPr lang="zh-CN" altLang="en-US" sz="2000" b="1" dirty="0"/>
              <a:t>上的函数依赖集</a:t>
            </a:r>
            <a:r>
              <a:rPr lang="en-US" altLang="zh-CN" sz="2000" b="1" i="1" dirty="0"/>
              <a:t>F </a:t>
            </a:r>
            <a:r>
              <a:rPr lang="zh-CN" altLang="en-US" sz="2000" b="1" dirty="0"/>
              <a:t>的闭包</a:t>
            </a:r>
            <a:r>
              <a:rPr lang="en-US" altLang="zh-CN" sz="2000" b="1" i="1" dirty="0"/>
              <a:t>X</a:t>
            </a:r>
            <a:r>
              <a:rPr lang="en-US" altLang="zh-CN" sz="2000" b="1" i="1" baseline="-25000" dirty="0"/>
              <a:t>F</a:t>
            </a:r>
            <a:r>
              <a:rPr lang="en-US" altLang="zh-CN" sz="2000" b="1" baseline="30000" dirty="0"/>
              <a:t>+</a:t>
            </a:r>
            <a:r>
              <a:rPr lang="en-US" altLang="zh-CN" sz="2000" b="1" dirty="0"/>
              <a:t> </a:t>
            </a:r>
            <a:endParaRPr lang="en-US" altLang="zh-CN" sz="2000" b="1" dirty="0"/>
          </a:p>
          <a:p>
            <a:pPr marL="485775" indent="-485775">
              <a:lnSpc>
                <a:spcPct val="80000"/>
              </a:lnSpc>
              <a:buNone/>
            </a:pPr>
            <a:endParaRPr lang="en-US" altLang="zh-CN" sz="1800" b="1" dirty="0"/>
          </a:p>
          <a:p>
            <a:pPr marL="485775" indent="-485775">
              <a:lnSpc>
                <a:spcPct val="120000"/>
              </a:lnSpc>
              <a:buNone/>
            </a:pPr>
            <a:r>
              <a:rPr lang="zh-CN" altLang="en-US" sz="2000" b="1" dirty="0"/>
              <a:t>输入：</a:t>
            </a:r>
            <a:r>
              <a:rPr lang="en-US" altLang="zh-CN" sz="2000" b="1" i="1" dirty="0"/>
              <a:t>X</a:t>
            </a:r>
            <a:r>
              <a:rPr lang="zh-CN" altLang="en-US" sz="2000" b="1" dirty="0"/>
              <a:t>，</a:t>
            </a:r>
            <a:r>
              <a:rPr lang="en-US" altLang="zh-CN" sz="2000" b="1" i="1" dirty="0"/>
              <a:t>F		</a:t>
            </a:r>
            <a:r>
              <a:rPr lang="zh-CN" altLang="en-US" sz="2000" b="1" dirty="0"/>
              <a:t>输出：</a:t>
            </a:r>
            <a:r>
              <a:rPr lang="en-US" altLang="zh-CN" sz="2000" b="1" i="1" dirty="0"/>
              <a:t>X</a:t>
            </a:r>
            <a:r>
              <a:rPr lang="en-US" altLang="zh-CN" sz="2000" b="1" i="1" baseline="-25000" dirty="0"/>
              <a:t>F</a:t>
            </a:r>
            <a:r>
              <a:rPr lang="en-US" altLang="zh-CN" sz="2000" b="1" baseline="30000" dirty="0"/>
              <a:t>+</a:t>
            </a:r>
            <a:endParaRPr lang="en-US" altLang="zh-CN" sz="2000" b="1" baseline="30000" dirty="0"/>
          </a:p>
          <a:p>
            <a:pPr marL="485775" indent="-485775">
              <a:lnSpc>
                <a:spcPct val="120000"/>
              </a:lnSpc>
              <a:buNone/>
            </a:pPr>
            <a:r>
              <a:rPr lang="zh-CN" altLang="en-US" sz="2000" b="1" dirty="0"/>
              <a:t>步骤：</a:t>
            </a:r>
            <a:endParaRPr lang="zh-CN" altLang="en-US" sz="2000" b="1" dirty="0"/>
          </a:p>
          <a:p>
            <a:pPr marL="485775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）令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0</a:t>
            </a:r>
            <a:r>
              <a:rPr lang="zh-CN" altLang="en-US" sz="2000" b="1" baseline="30000" dirty="0"/>
              <a:t>）</a:t>
            </a:r>
            <a:r>
              <a:rPr lang="en-US" altLang="zh-CN" sz="2000" b="1" dirty="0"/>
              <a:t>=</a:t>
            </a:r>
            <a:r>
              <a:rPr lang="en-US" altLang="zh-CN" sz="2000" b="1" i="1" dirty="0"/>
              <a:t>X</a:t>
            </a:r>
            <a:r>
              <a:rPr lang="zh-CN" altLang="en-US" sz="2000" b="1" dirty="0"/>
              <a:t>，</a:t>
            </a:r>
            <a:r>
              <a:rPr lang="en-US" altLang="zh-CN" sz="2000" b="1" i="1" dirty="0"/>
              <a:t>i</a:t>
            </a:r>
            <a:r>
              <a:rPr lang="en-US" altLang="zh-CN" sz="2000" b="1" dirty="0"/>
              <a:t>=0</a:t>
            </a:r>
            <a:endParaRPr lang="en-US" altLang="zh-CN" sz="2000" b="1" dirty="0"/>
          </a:p>
          <a:p>
            <a:pPr marL="485775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）求</a:t>
            </a:r>
            <a:r>
              <a:rPr lang="en-US" altLang="zh-CN" sz="2000" b="1" i="1" dirty="0"/>
              <a:t>B</a:t>
            </a:r>
            <a:r>
              <a:rPr lang="zh-CN" altLang="en-US" sz="2000" b="1" dirty="0"/>
              <a:t>，这里</a:t>
            </a:r>
            <a:r>
              <a:rPr lang="en-US" altLang="zh-CN" sz="1600" b="1" i="1" dirty="0"/>
              <a:t>B</a:t>
            </a:r>
            <a:r>
              <a:rPr lang="en-US" altLang="zh-CN" sz="1600" b="1" dirty="0"/>
              <a:t> = { </a:t>
            </a:r>
            <a:r>
              <a:rPr lang="en-US" altLang="zh-CN" sz="1600" b="1" i="1" dirty="0"/>
              <a:t>A</a:t>
            </a:r>
            <a:r>
              <a:rPr lang="en-US" altLang="zh-CN" sz="1600" b="1" dirty="0"/>
              <a:t> |(</a:t>
            </a:r>
            <a:r>
              <a:rPr lang="en-US" altLang="zh-CN" sz="1600" b="1" dirty="0">
                <a:sym typeface="Symbol" panose="05050102010706020507" pitchFamily="18" charset="2"/>
              </a:rPr>
              <a:t></a:t>
            </a:r>
            <a:r>
              <a:rPr lang="en-US" altLang="zh-CN" sz="1600" b="1" dirty="0"/>
              <a:t> </a:t>
            </a:r>
            <a:r>
              <a:rPr lang="en-US" altLang="zh-CN" sz="1600" b="1" i="1" dirty="0"/>
              <a:t>V)(</a:t>
            </a:r>
            <a:r>
              <a:rPr lang="en-US" altLang="zh-CN" sz="1600" b="1" dirty="0"/>
              <a:t> </a:t>
            </a:r>
            <a:r>
              <a:rPr lang="en-US" altLang="zh-CN" sz="1600" b="1" dirty="0">
                <a:sym typeface="Symbol" panose="05050102010706020507" pitchFamily="18" charset="2"/>
              </a:rPr>
              <a:t></a:t>
            </a:r>
            <a:r>
              <a:rPr lang="en-US" altLang="zh-CN" sz="1600" b="1" dirty="0"/>
              <a:t> </a:t>
            </a:r>
            <a:r>
              <a:rPr lang="en-US" altLang="zh-CN" sz="1600" b="1" i="1" dirty="0"/>
              <a:t>W</a:t>
            </a:r>
            <a:r>
              <a:rPr lang="en-US" altLang="zh-CN" sz="1600" b="1" dirty="0"/>
              <a:t>)(</a:t>
            </a:r>
            <a:r>
              <a:rPr lang="en-US" altLang="zh-CN" sz="1600" b="1" i="1" dirty="0"/>
              <a:t>V</a:t>
            </a:r>
            <a:r>
              <a:rPr lang="en-US" altLang="zh-CN" sz="1600" b="1" dirty="0"/>
              <a:t>→</a:t>
            </a:r>
            <a:r>
              <a:rPr lang="en-US" altLang="zh-CN" sz="1600" b="1" i="1" dirty="0"/>
              <a:t>W</a:t>
            </a:r>
            <a:r>
              <a:rPr lang="en-US" altLang="zh-CN" sz="1600" b="1" dirty="0">
                <a:sym typeface="Symbol" panose="05050102010706020507" pitchFamily="18" charset="2"/>
              </a:rPr>
              <a:t></a:t>
            </a:r>
            <a:r>
              <a:rPr lang="en-US" altLang="zh-CN" sz="1600" b="1" i="1" dirty="0"/>
              <a:t>F</a:t>
            </a:r>
            <a:r>
              <a:rPr lang="en-US" altLang="zh-CN" sz="1600" b="1" dirty="0"/>
              <a:t>∧</a:t>
            </a:r>
            <a:r>
              <a:rPr lang="en-US" altLang="zh-CN" sz="1600" b="1" i="1" dirty="0"/>
              <a:t>V </a:t>
            </a:r>
            <a:r>
              <a:rPr lang="en-US" altLang="zh-CN" sz="1600" b="1" dirty="0">
                <a:sym typeface="Symbol" panose="05050102010706020507" pitchFamily="18" charset="2"/>
              </a:rPr>
              <a:t></a:t>
            </a:r>
            <a:r>
              <a:rPr lang="en-US" altLang="zh-CN" sz="1600" b="1" i="1" dirty="0"/>
              <a:t> X</a:t>
            </a:r>
            <a:r>
              <a:rPr lang="zh-CN" altLang="en-US" sz="1600" b="1" baseline="30000" dirty="0"/>
              <a:t>（</a:t>
            </a:r>
            <a:r>
              <a:rPr lang="en-US" altLang="zh-CN" sz="1600" b="1" baseline="30000" dirty="0"/>
              <a:t>i</a:t>
            </a:r>
            <a:r>
              <a:rPr lang="zh-CN" altLang="en-US" sz="1600" b="1" baseline="30000" dirty="0"/>
              <a:t>）</a:t>
            </a:r>
            <a:r>
              <a:rPr lang="zh-CN" altLang="en-US" sz="1600" b="1" dirty="0"/>
              <a:t>∧</a:t>
            </a:r>
            <a:r>
              <a:rPr lang="en-US" altLang="zh-CN" sz="1600" b="1" i="1" dirty="0"/>
              <a:t>A</a:t>
            </a:r>
            <a:r>
              <a:rPr lang="en-US" altLang="zh-CN" sz="1600" b="1" dirty="0">
                <a:sym typeface="Symbol" panose="05050102010706020507" pitchFamily="18" charset="2"/>
              </a:rPr>
              <a:t></a:t>
            </a:r>
            <a:r>
              <a:rPr lang="en-US" altLang="zh-CN" sz="1600" b="1" dirty="0"/>
              <a:t> </a:t>
            </a:r>
            <a:r>
              <a:rPr lang="en-US" altLang="zh-CN" sz="1600" b="1" i="1" dirty="0"/>
              <a:t>W)</a:t>
            </a:r>
            <a:r>
              <a:rPr lang="en-US" altLang="zh-CN" sz="1600" b="1" dirty="0"/>
              <a:t>}</a:t>
            </a:r>
            <a:r>
              <a:rPr lang="zh-CN" altLang="en-US" sz="1600" b="1" dirty="0"/>
              <a:t>；</a:t>
            </a:r>
            <a:endParaRPr lang="zh-CN" altLang="en-US" sz="1600" b="1" dirty="0"/>
          </a:p>
          <a:p>
            <a:pPr marL="485775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i+1</a:t>
            </a:r>
            <a:r>
              <a:rPr lang="zh-CN" altLang="en-US" sz="2000" b="1" baseline="30000" dirty="0"/>
              <a:t>）</a:t>
            </a:r>
            <a:r>
              <a:rPr lang="en-US" altLang="zh-CN" sz="2000" b="1" dirty="0"/>
              <a:t>=</a:t>
            </a:r>
            <a:r>
              <a:rPr lang="en-US" altLang="zh-CN" sz="2000" b="1" i="1" dirty="0"/>
              <a:t>B</a:t>
            </a:r>
            <a:r>
              <a:rPr lang="en-US" altLang="zh-CN" sz="2000" b="1" dirty="0"/>
              <a:t>∪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</a:t>
            </a:r>
            <a:r>
              <a:rPr lang="zh-CN" altLang="en-US" sz="2000" b="1" baseline="30000" dirty="0"/>
              <a:t>）</a:t>
            </a:r>
            <a:r>
              <a:rPr lang="zh-CN" altLang="en-US" sz="2000" b="1" dirty="0"/>
              <a:t> </a:t>
            </a:r>
            <a:endParaRPr lang="zh-CN" altLang="en-US" sz="2000" b="1" dirty="0"/>
          </a:p>
          <a:p>
            <a:pPr marL="485775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）判断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i+1</a:t>
            </a:r>
            <a:r>
              <a:rPr lang="zh-CN" altLang="en-US" sz="2000" b="1" baseline="30000" dirty="0"/>
              <a:t>）</a:t>
            </a:r>
            <a:r>
              <a:rPr lang="en-US" altLang="zh-CN" sz="2000" b="1" dirty="0"/>
              <a:t>= 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 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</a:t>
            </a:r>
            <a:r>
              <a:rPr lang="zh-CN" altLang="en-US" sz="2000" b="1" baseline="30000" dirty="0"/>
              <a:t>）</a:t>
            </a:r>
            <a:r>
              <a:rPr lang="zh-CN" altLang="en-US" sz="2000" b="1" dirty="0"/>
              <a:t>吗</a:t>
            </a:r>
            <a:r>
              <a:rPr lang="en-US" altLang="zh-CN" sz="2000" b="1" dirty="0"/>
              <a:t>?</a:t>
            </a:r>
            <a:endParaRPr lang="en-US" altLang="zh-CN" sz="2000" b="1" dirty="0"/>
          </a:p>
          <a:p>
            <a:pPr marL="485775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）若相等或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</a:t>
            </a:r>
            <a:r>
              <a:rPr lang="zh-CN" altLang="en-US" sz="2000" b="1" baseline="30000" dirty="0"/>
              <a:t>）</a:t>
            </a:r>
            <a:r>
              <a:rPr lang="en-US" altLang="zh-CN" sz="2000" b="1" dirty="0"/>
              <a:t>=</a:t>
            </a:r>
            <a:r>
              <a:rPr lang="en-US" altLang="zh-CN" sz="2000" b="1" i="1" dirty="0"/>
              <a:t>U , </a:t>
            </a:r>
            <a:r>
              <a:rPr lang="zh-CN" altLang="en-US" sz="2000" b="1" dirty="0"/>
              <a:t>则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</a:t>
            </a:r>
            <a:r>
              <a:rPr lang="zh-CN" altLang="en-US" sz="2000" b="1" baseline="30000" dirty="0"/>
              <a:t>）</a:t>
            </a:r>
            <a:r>
              <a:rPr lang="zh-CN" altLang="en-US" sz="2000" b="1" dirty="0"/>
              <a:t>就是</a:t>
            </a:r>
            <a:r>
              <a:rPr lang="en-US" altLang="zh-CN" sz="2000" b="1" i="1" dirty="0"/>
              <a:t>X</a:t>
            </a:r>
            <a:r>
              <a:rPr lang="en-US" altLang="zh-CN" sz="2000" b="1" i="1" baseline="-25000" dirty="0"/>
              <a:t>F</a:t>
            </a:r>
            <a:r>
              <a:rPr lang="en-US" altLang="zh-CN" sz="2000" b="1" baseline="30000" dirty="0"/>
              <a:t>+</a:t>
            </a:r>
            <a:r>
              <a:rPr lang="en-US" altLang="zh-CN" sz="2000" b="1" dirty="0"/>
              <a:t> , </a:t>
            </a:r>
            <a:r>
              <a:rPr lang="zh-CN" altLang="en-US" sz="2000" b="1" dirty="0"/>
              <a:t>算法终止。</a:t>
            </a:r>
            <a:endParaRPr lang="zh-CN" altLang="en-US" sz="2000" b="1" dirty="0"/>
          </a:p>
          <a:p>
            <a:pPr marL="485775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）若否，则 </a:t>
            </a:r>
            <a:r>
              <a:rPr lang="en-US" altLang="zh-CN" sz="2000" b="1" i="1" dirty="0"/>
              <a:t>i</a:t>
            </a:r>
            <a:r>
              <a:rPr lang="en-US" altLang="zh-CN" sz="2000" b="1" dirty="0"/>
              <a:t>=</a:t>
            </a:r>
            <a:r>
              <a:rPr lang="en-US" altLang="zh-CN" sz="2000" b="1" i="1" dirty="0"/>
              <a:t>i</a:t>
            </a:r>
            <a:r>
              <a:rPr lang="en-US" altLang="zh-CN" sz="2000" b="1" dirty="0"/>
              <a:t>+l</a:t>
            </a:r>
            <a:r>
              <a:rPr lang="zh-CN" altLang="en-US" sz="2000" b="1" dirty="0"/>
              <a:t>，返回第（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）步。</a:t>
            </a:r>
            <a:endParaRPr lang="zh-CN" altLang="en-US" sz="2000" b="1" dirty="0"/>
          </a:p>
        </p:txBody>
      </p:sp>
      <p:sp>
        <p:nvSpPr>
          <p:cNvPr id="12288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22885" name="矩形标注 1"/>
          <p:cNvSpPr/>
          <p:nvPr/>
        </p:nvSpPr>
        <p:spPr>
          <a:xfrm>
            <a:off x="5795963" y="2852738"/>
            <a:ext cx="2952750" cy="612775"/>
          </a:xfrm>
          <a:prstGeom prst="wedgeRectCallout">
            <a:avLst>
              <a:gd name="adj1" fmla="val -43060"/>
              <a:gd name="adj2" fmla="val 104644"/>
            </a:avLst>
          </a:prstGeom>
          <a:solidFill>
            <a:schemeClr val="accent1"/>
          </a:solidFill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现有的属性能决定哪些新属性？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4000" dirty="0"/>
              <a:t>算法</a:t>
            </a:r>
            <a:r>
              <a:rPr lang="en-US" altLang="zh-CN" sz="4000" dirty="0"/>
              <a:t>6.1</a:t>
            </a:r>
            <a:endParaRPr lang="en-US" altLang="zh-CN" sz="4000" dirty="0"/>
          </a:p>
        </p:txBody>
      </p:sp>
      <p:sp>
        <p:nvSpPr>
          <p:cNvPr id="1249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80000"/>
              </a:lnSpc>
              <a:buNone/>
            </a:pPr>
            <a:r>
              <a:rPr lang="zh-CN" altLang="en-US" sz="3100" dirty="0"/>
              <a:t>	对于算法</a:t>
            </a:r>
            <a:r>
              <a:rPr lang="en-US" altLang="zh-CN" sz="3100" dirty="0"/>
              <a:t>6.1</a:t>
            </a:r>
            <a:r>
              <a:rPr lang="zh-CN" altLang="en-US" sz="3100" dirty="0"/>
              <a:t>， 令</a:t>
            </a:r>
            <a:r>
              <a:rPr lang="en-US" altLang="zh-CN" sz="3100" i="1" dirty="0"/>
              <a:t>a</a:t>
            </a:r>
            <a:r>
              <a:rPr lang="en-US" altLang="zh-CN" sz="3100" i="1" baseline="-25000" dirty="0"/>
              <a:t>i</a:t>
            </a:r>
            <a:r>
              <a:rPr lang="en-US" altLang="zh-CN" sz="3100" dirty="0"/>
              <a:t> =|</a:t>
            </a:r>
            <a:r>
              <a:rPr lang="en-US" altLang="zh-CN" sz="3100" i="1" dirty="0"/>
              <a:t>X</a:t>
            </a:r>
            <a:r>
              <a:rPr lang="zh-CN" altLang="en-US" sz="3100" baseline="30000" dirty="0"/>
              <a:t>（</a:t>
            </a:r>
            <a:r>
              <a:rPr lang="en-US" altLang="zh-CN" sz="3100" baseline="30000" dirty="0"/>
              <a:t>i</a:t>
            </a:r>
            <a:r>
              <a:rPr lang="zh-CN" altLang="en-US" sz="3100" baseline="30000" dirty="0"/>
              <a:t>）</a:t>
            </a:r>
            <a:r>
              <a:rPr lang="en-US" altLang="zh-CN" sz="3100" dirty="0"/>
              <a:t>|</a:t>
            </a:r>
            <a:r>
              <a:rPr lang="zh-CN" altLang="en-US" sz="3100" dirty="0"/>
              <a:t>，</a:t>
            </a:r>
            <a:r>
              <a:rPr lang="en-US" altLang="zh-CN" sz="3100" dirty="0"/>
              <a:t>{</a:t>
            </a:r>
            <a:r>
              <a:rPr lang="en-US" altLang="zh-CN" sz="3100" i="1" dirty="0"/>
              <a:t>a</a:t>
            </a:r>
            <a:r>
              <a:rPr lang="en-US" altLang="zh-CN" sz="3100" i="1" baseline="-25000" dirty="0"/>
              <a:t>i</a:t>
            </a:r>
            <a:r>
              <a:rPr lang="en-US" altLang="zh-CN" sz="3100" i="1" dirty="0"/>
              <a:t> </a:t>
            </a:r>
            <a:r>
              <a:rPr lang="en-US" altLang="zh-CN" sz="3100" dirty="0"/>
              <a:t>}</a:t>
            </a:r>
            <a:r>
              <a:rPr lang="zh-CN" altLang="en-US" sz="3100" dirty="0"/>
              <a:t>形成一个步长大于</a:t>
            </a:r>
            <a:r>
              <a:rPr lang="en-US" altLang="zh-CN" sz="3100" dirty="0"/>
              <a:t>1</a:t>
            </a:r>
            <a:r>
              <a:rPr lang="zh-CN" altLang="en-US" sz="3100" dirty="0"/>
              <a:t>的严格递增的序列，序列的上界是 </a:t>
            </a:r>
            <a:r>
              <a:rPr lang="en-US" altLang="zh-CN" sz="3100" dirty="0"/>
              <a:t>| </a:t>
            </a:r>
            <a:r>
              <a:rPr lang="en-US" altLang="zh-CN" sz="3100" i="1" dirty="0"/>
              <a:t>U</a:t>
            </a:r>
            <a:r>
              <a:rPr lang="en-US" altLang="zh-CN" sz="3100" dirty="0"/>
              <a:t> |</a:t>
            </a:r>
            <a:r>
              <a:rPr lang="zh-CN" altLang="en-US" sz="3100" dirty="0"/>
              <a:t>，因此该算法最多 </a:t>
            </a:r>
            <a:r>
              <a:rPr lang="en-US" altLang="zh-CN" sz="3100" dirty="0"/>
              <a:t>|</a:t>
            </a:r>
            <a:r>
              <a:rPr lang="en-US" altLang="zh-CN" sz="3100" i="1" dirty="0"/>
              <a:t>U</a:t>
            </a:r>
            <a:r>
              <a:rPr lang="en-US" altLang="zh-CN" sz="3100" dirty="0"/>
              <a:t>| - </a:t>
            </a:r>
            <a:r>
              <a:rPr lang="en-US" altLang="zh-CN" sz="3100" i="1" dirty="0"/>
              <a:t>|X</a:t>
            </a:r>
            <a:r>
              <a:rPr lang="en-US" altLang="zh-CN" sz="3100" dirty="0"/>
              <a:t>| </a:t>
            </a:r>
            <a:r>
              <a:rPr lang="zh-CN" altLang="en-US" sz="3100" dirty="0"/>
              <a:t>次循环就</a:t>
            </a:r>
            <a:endParaRPr lang="zh-CN" altLang="en-US" sz="3100" dirty="0"/>
          </a:p>
          <a:p>
            <a:pPr>
              <a:lnSpc>
                <a:spcPct val="180000"/>
              </a:lnSpc>
              <a:buNone/>
            </a:pPr>
            <a:r>
              <a:rPr lang="zh-CN" altLang="en-US" sz="3100" dirty="0"/>
              <a:t>  会终止。</a:t>
            </a:r>
            <a:endParaRPr lang="zh-CN" altLang="en-US" sz="3100" dirty="0"/>
          </a:p>
        </p:txBody>
      </p:sp>
      <p:sp>
        <p:nvSpPr>
          <p:cNvPr id="124932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 vert="horz" wrap="square" lIns="91440" tIns="45720" rIns="91440" bIns="45720" anchor="ctr" anchorCtr="0"/>
          <a:p>
            <a:r>
              <a:rPr lang="zh-CN" altLang="en-US" sz="4000" dirty="0"/>
              <a:t>函数依赖闭包</a:t>
            </a:r>
            <a:endParaRPr lang="zh-CN" altLang="en-US" sz="4000" dirty="0"/>
          </a:p>
        </p:txBody>
      </p:sp>
      <p:sp>
        <p:nvSpPr>
          <p:cNvPr id="125955" name="Rectangle 3"/>
          <p:cNvSpPr>
            <a:spLocks noGrp="1"/>
          </p:cNvSpPr>
          <p:nvPr>
            <p:ph idx="1"/>
          </p:nvPr>
        </p:nvSpPr>
        <p:spPr>
          <a:xfrm>
            <a:off x="184150" y="1412875"/>
            <a:ext cx="7772400" cy="4764088"/>
          </a:xfrm>
        </p:spPr>
        <p:txBody>
          <a:bodyPr vert="horz" wrap="square" lIns="91440" tIns="45720" rIns="91440" bIns="45720" anchor="t" anchorCtr="0"/>
          <a:p>
            <a:pPr marL="533400" indent="-533400">
              <a:lnSpc>
                <a:spcPct val="80000"/>
              </a:lnSpc>
              <a:buNone/>
            </a:pPr>
            <a:r>
              <a:rPr lang="en-US" altLang="zh-CN" sz="2400" b="1" dirty="0"/>
              <a:t>[</a:t>
            </a:r>
            <a:r>
              <a:rPr lang="zh-CN" altLang="en-US" sz="2400" b="1" dirty="0"/>
              <a:t>例</a:t>
            </a:r>
            <a:r>
              <a:rPr lang="en-US" altLang="zh-CN" sz="2400" b="1" dirty="0"/>
              <a:t>1]  </a:t>
            </a:r>
            <a:r>
              <a:rPr lang="zh-CN" altLang="en-US" sz="2400" b="1" dirty="0"/>
              <a:t>已知关系模式</a:t>
            </a:r>
            <a:r>
              <a:rPr lang="en-US" altLang="zh-CN" sz="2400" b="1" i="1" dirty="0"/>
              <a:t>R</a:t>
            </a:r>
            <a:r>
              <a:rPr lang="en-US" altLang="zh-CN" sz="2400" b="1" dirty="0"/>
              <a:t>&lt;</a:t>
            </a:r>
            <a:r>
              <a:rPr lang="en-US" altLang="zh-CN" sz="2400" b="1" i="1" dirty="0"/>
              <a:t>U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F</a:t>
            </a:r>
            <a:r>
              <a:rPr lang="en-US" altLang="zh-CN" sz="2400" b="1" dirty="0"/>
              <a:t>&gt;</a:t>
            </a:r>
            <a:r>
              <a:rPr lang="zh-CN" altLang="en-US" sz="2400" b="1" dirty="0"/>
              <a:t>，其中</a:t>
            </a:r>
            <a:endParaRPr lang="zh-CN" altLang="en-US" sz="2400" b="1" dirty="0"/>
          </a:p>
          <a:p>
            <a:pPr marL="914400" lvl="1" indent="-457200">
              <a:lnSpc>
                <a:spcPct val="80000"/>
              </a:lnSpc>
              <a:buNone/>
            </a:pPr>
            <a:r>
              <a:rPr lang="en-US" altLang="zh-CN" sz="2400" b="1" i="1" dirty="0"/>
              <a:t>U</a:t>
            </a:r>
            <a:r>
              <a:rPr lang="en-US" altLang="zh-CN" sz="2400" b="1" dirty="0"/>
              <a:t>={</a:t>
            </a:r>
            <a:r>
              <a:rPr lang="en-US" altLang="zh-CN" sz="2400" b="1" i="1" dirty="0"/>
              <a:t>A</a:t>
            </a:r>
            <a:r>
              <a:rPr lang="zh-CN" altLang="en-US" sz="2400" b="1" i="1" dirty="0"/>
              <a:t>，</a:t>
            </a:r>
            <a:r>
              <a:rPr lang="en-US" altLang="zh-CN" sz="2400" b="1" i="1" dirty="0"/>
              <a:t>B</a:t>
            </a:r>
            <a:r>
              <a:rPr lang="zh-CN" altLang="en-US" sz="2400" b="1" i="1" dirty="0"/>
              <a:t>，</a:t>
            </a:r>
            <a:r>
              <a:rPr lang="en-US" altLang="zh-CN" sz="2400" b="1" i="1" dirty="0"/>
              <a:t>C</a:t>
            </a:r>
            <a:r>
              <a:rPr lang="zh-CN" altLang="en-US" sz="2400" b="1" i="1" dirty="0"/>
              <a:t>，</a:t>
            </a:r>
            <a:r>
              <a:rPr lang="en-US" altLang="zh-CN" sz="2400" b="1" i="1" dirty="0"/>
              <a:t>D</a:t>
            </a:r>
            <a:r>
              <a:rPr lang="zh-CN" altLang="en-US" sz="2400" b="1" i="1" dirty="0"/>
              <a:t>，</a:t>
            </a:r>
            <a:r>
              <a:rPr lang="en-US" altLang="zh-CN" sz="2400" b="1" i="1" dirty="0"/>
              <a:t>E</a:t>
            </a:r>
            <a:r>
              <a:rPr lang="en-US" altLang="zh-CN" sz="2400" b="1" dirty="0"/>
              <a:t>}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pPr marL="914400" lvl="1" indent="-457200">
              <a:lnSpc>
                <a:spcPct val="80000"/>
              </a:lnSpc>
              <a:buNone/>
            </a:pPr>
            <a:r>
              <a:rPr lang="en-US" altLang="zh-CN" sz="2400" b="1" i="1" dirty="0"/>
              <a:t>F</a:t>
            </a:r>
            <a:r>
              <a:rPr lang="en-US" altLang="zh-CN" sz="2400" b="1" dirty="0"/>
              <a:t>={</a:t>
            </a:r>
            <a:r>
              <a:rPr lang="en-US" altLang="zh-CN" sz="2400" b="1" i="1" dirty="0"/>
              <a:t>AB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C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D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C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E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EC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B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AC</a:t>
            </a:r>
            <a:r>
              <a:rPr lang="en-US" altLang="zh-CN" sz="2400" b="1" dirty="0"/>
              <a:t>→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}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914400" lvl="1" indent="-457200">
              <a:lnSpc>
                <a:spcPct val="80000"/>
              </a:lnSpc>
              <a:buNone/>
            </a:pPr>
            <a:r>
              <a:rPr lang="zh-CN" altLang="en-US" sz="2400" b="1" dirty="0"/>
              <a:t>求（</a:t>
            </a:r>
            <a:r>
              <a:rPr lang="en-US" altLang="zh-CN" sz="2400" b="1" i="1" dirty="0"/>
              <a:t>AB</a:t>
            </a:r>
            <a:r>
              <a:rPr lang="zh-CN" altLang="en-US" sz="2400" b="1" dirty="0"/>
              <a:t>）</a:t>
            </a:r>
            <a:r>
              <a:rPr lang="en-US" altLang="zh-CN" sz="2400" b="1" i="1" baseline="-25000" dirty="0"/>
              <a:t>F</a:t>
            </a:r>
            <a:r>
              <a:rPr lang="en-US" altLang="zh-CN" sz="2400" b="1" i="1" baseline="30000" dirty="0"/>
              <a:t>+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marL="533400" indent="-533400">
              <a:lnSpc>
                <a:spcPct val="110000"/>
              </a:lnSpc>
              <a:spcBef>
                <a:spcPct val="60000"/>
              </a:spcBef>
              <a:buNone/>
            </a:pPr>
            <a:r>
              <a:rPr lang="zh-CN" altLang="en-US" sz="1800" b="1" dirty="0"/>
              <a:t>解  设</a:t>
            </a:r>
            <a:r>
              <a:rPr lang="en-US" altLang="zh-CN" sz="1800" b="1" i="1" dirty="0"/>
              <a:t>X</a:t>
            </a:r>
            <a:r>
              <a:rPr lang="zh-CN" altLang="en-US" sz="1800" b="1" i="1" baseline="30000" dirty="0"/>
              <a:t>（</a:t>
            </a:r>
            <a:r>
              <a:rPr lang="en-US" altLang="zh-CN" sz="1800" b="1" i="1" baseline="30000" dirty="0"/>
              <a:t>0</a:t>
            </a:r>
            <a:r>
              <a:rPr lang="zh-CN" altLang="en-US" sz="1800" b="1" i="1" baseline="30000" dirty="0"/>
              <a:t>）</a:t>
            </a:r>
            <a:r>
              <a:rPr lang="en-US" altLang="zh-CN" sz="1800" b="1" dirty="0"/>
              <a:t>=</a:t>
            </a:r>
            <a:r>
              <a:rPr lang="en-US" altLang="zh-CN" sz="1800" b="1" i="1" dirty="0"/>
              <a:t>AB</a:t>
            </a:r>
            <a:r>
              <a:rPr lang="zh-CN" altLang="en-US" sz="1800" b="1" dirty="0"/>
              <a:t>；</a:t>
            </a:r>
            <a:endParaRPr lang="zh-CN" altLang="en-US" sz="1800" b="1" dirty="0"/>
          </a:p>
          <a:p>
            <a:pPr marL="533400" indent="-533400">
              <a:lnSpc>
                <a:spcPct val="110000"/>
              </a:lnSpc>
              <a:spcBef>
                <a:spcPct val="60000"/>
              </a:spcBef>
              <a:buNone/>
            </a:pPr>
            <a:r>
              <a:rPr lang="en-US" altLang="zh-CN" sz="1800" b="1" dirty="0"/>
              <a:t>(1)</a:t>
            </a:r>
            <a:r>
              <a:rPr lang="en-US" altLang="zh-CN" sz="1800" b="1" i="1" dirty="0"/>
              <a:t> X</a:t>
            </a:r>
            <a:r>
              <a:rPr lang="zh-CN" altLang="en-US" sz="1800" b="1" i="1" baseline="30000" dirty="0"/>
              <a:t>（</a:t>
            </a:r>
            <a:r>
              <a:rPr lang="en-US" altLang="zh-CN" sz="1800" b="1" i="1" baseline="30000" dirty="0"/>
              <a:t>1</a:t>
            </a:r>
            <a:r>
              <a:rPr lang="zh-CN" altLang="en-US" sz="1800" b="1" i="1" baseline="30000" dirty="0"/>
              <a:t>）</a:t>
            </a:r>
            <a:r>
              <a:rPr lang="en-US" altLang="zh-CN" sz="1800" b="1" dirty="0"/>
              <a:t>=</a:t>
            </a:r>
            <a:r>
              <a:rPr lang="en-US" altLang="zh-CN" sz="1800" b="1" i="1" dirty="0"/>
              <a:t>AB</a:t>
            </a:r>
            <a:r>
              <a:rPr lang="en-US" altLang="zh-CN" sz="1800" b="1" dirty="0"/>
              <a:t>∪</a:t>
            </a:r>
            <a:r>
              <a:rPr lang="en-US" altLang="zh-CN" sz="1800" b="1" i="1" dirty="0"/>
              <a:t>CD</a:t>
            </a:r>
            <a:r>
              <a:rPr lang="en-US" altLang="zh-CN" sz="1800" b="1" dirty="0"/>
              <a:t>=</a:t>
            </a:r>
            <a:r>
              <a:rPr lang="en-US" altLang="zh-CN" sz="1800" b="1" i="1" dirty="0"/>
              <a:t>ABCD</a:t>
            </a:r>
            <a:r>
              <a:rPr lang="zh-CN" altLang="en-US" sz="1800" b="1" dirty="0"/>
              <a:t>。</a:t>
            </a:r>
            <a:endParaRPr lang="zh-CN" altLang="en-US" sz="1800" b="1" dirty="0"/>
          </a:p>
          <a:p>
            <a:pPr marL="533400" indent="-533400">
              <a:lnSpc>
                <a:spcPct val="110000"/>
              </a:lnSpc>
              <a:spcBef>
                <a:spcPct val="60000"/>
              </a:spcBef>
              <a:buNone/>
            </a:pPr>
            <a:endParaRPr lang="zh-CN" altLang="en-US" sz="800" b="1" dirty="0"/>
          </a:p>
          <a:p>
            <a:pPr marL="533400" indent="-533400">
              <a:lnSpc>
                <a:spcPct val="110000"/>
              </a:lnSpc>
              <a:buNone/>
            </a:pPr>
            <a:r>
              <a:rPr lang="en-US" altLang="zh-CN" sz="1800" b="1" dirty="0"/>
              <a:t>(2) X</a:t>
            </a:r>
            <a:r>
              <a:rPr lang="zh-CN" altLang="en-US" sz="1800" b="1" i="1" baseline="30000" dirty="0"/>
              <a:t>（</a:t>
            </a:r>
            <a:r>
              <a:rPr lang="en-US" altLang="zh-CN" sz="1800" b="1" i="1" baseline="30000" dirty="0"/>
              <a:t>0</a:t>
            </a:r>
            <a:r>
              <a:rPr lang="zh-CN" altLang="en-US" sz="1800" b="1" i="1" baseline="30000" dirty="0"/>
              <a:t>）</a:t>
            </a:r>
            <a:r>
              <a:rPr lang="zh-CN" altLang="en-US" sz="1800" b="1" dirty="0"/>
              <a:t>≠ </a:t>
            </a:r>
            <a:r>
              <a:rPr lang="en-US" altLang="zh-CN" sz="1800" b="1" i="1" dirty="0"/>
              <a:t>X</a:t>
            </a:r>
            <a:r>
              <a:rPr lang="zh-CN" altLang="en-US" sz="1800" b="1" i="1" baseline="30000" dirty="0"/>
              <a:t>（</a:t>
            </a:r>
            <a:r>
              <a:rPr lang="en-US" altLang="zh-CN" sz="1800" b="1" i="1" baseline="30000" dirty="0"/>
              <a:t>1</a:t>
            </a:r>
            <a:r>
              <a:rPr lang="zh-CN" altLang="en-US" sz="1800" b="1" i="1" baseline="30000" dirty="0"/>
              <a:t>）</a:t>
            </a:r>
            <a:endParaRPr lang="zh-CN" altLang="en-US" sz="1800" b="1" dirty="0"/>
          </a:p>
          <a:p>
            <a:pPr marL="533400" indent="-533400">
              <a:lnSpc>
                <a:spcPct val="110000"/>
              </a:lnSpc>
              <a:buNone/>
            </a:pPr>
            <a:r>
              <a:rPr lang="zh-CN" altLang="en-US" sz="1800" b="1" i="1" dirty="0"/>
              <a:t>     </a:t>
            </a:r>
            <a:r>
              <a:rPr lang="en-US" altLang="zh-CN" sz="1800" b="1" i="1" dirty="0"/>
              <a:t>X</a:t>
            </a:r>
            <a:r>
              <a:rPr lang="zh-CN" altLang="en-US" sz="1800" b="1" i="1" baseline="30000" dirty="0"/>
              <a:t>（</a:t>
            </a:r>
            <a:r>
              <a:rPr lang="en-US" altLang="zh-CN" sz="1800" b="1" i="1" baseline="30000" dirty="0"/>
              <a:t>2</a:t>
            </a:r>
            <a:r>
              <a:rPr lang="zh-CN" altLang="en-US" sz="1800" b="1" i="1" baseline="30000" dirty="0"/>
              <a:t>）</a:t>
            </a:r>
            <a:r>
              <a:rPr lang="en-US" altLang="zh-CN" sz="1800" b="1" dirty="0"/>
              <a:t>=</a:t>
            </a:r>
            <a:r>
              <a:rPr lang="en-US" altLang="zh-CN" sz="1800" b="1" i="1" dirty="0"/>
              <a:t>X</a:t>
            </a:r>
            <a:r>
              <a:rPr lang="zh-CN" altLang="en-US" sz="1800" b="1" i="1" baseline="30000" dirty="0"/>
              <a:t>（</a:t>
            </a:r>
            <a:r>
              <a:rPr lang="en-US" altLang="zh-CN" sz="1800" b="1" i="1" baseline="30000" dirty="0"/>
              <a:t>1</a:t>
            </a:r>
            <a:r>
              <a:rPr lang="zh-CN" altLang="en-US" sz="1800" b="1" i="1" baseline="30000" dirty="0"/>
              <a:t>）</a:t>
            </a:r>
            <a:r>
              <a:rPr lang="zh-CN" altLang="en-US" sz="1800" b="1" dirty="0"/>
              <a:t>∪</a:t>
            </a:r>
            <a:r>
              <a:rPr lang="en-US" altLang="zh-CN" sz="1800" b="1" i="1" dirty="0"/>
              <a:t>BE</a:t>
            </a:r>
            <a:r>
              <a:rPr lang="en-US" altLang="zh-CN" sz="1800" b="1" dirty="0"/>
              <a:t>=</a:t>
            </a:r>
            <a:r>
              <a:rPr lang="en-US" altLang="zh-CN" sz="1800" b="1" i="1" dirty="0"/>
              <a:t>ABCDE</a:t>
            </a:r>
            <a:r>
              <a:rPr lang="zh-CN" altLang="en-US" sz="1800" b="1" dirty="0"/>
              <a:t>。</a:t>
            </a:r>
            <a:endParaRPr lang="zh-CN" altLang="en-US" sz="1800" b="1" dirty="0"/>
          </a:p>
          <a:p>
            <a:pPr marL="533400" indent="-533400">
              <a:lnSpc>
                <a:spcPct val="110000"/>
              </a:lnSpc>
              <a:spcBef>
                <a:spcPct val="90000"/>
              </a:spcBef>
              <a:buNone/>
            </a:pPr>
            <a:r>
              <a:rPr lang="en-US" altLang="zh-CN" sz="1800" b="1" dirty="0"/>
              <a:t>(3) </a:t>
            </a:r>
            <a:r>
              <a:rPr lang="en-US" altLang="zh-CN" sz="1800" b="1" i="1" dirty="0"/>
              <a:t>X</a:t>
            </a:r>
            <a:r>
              <a:rPr lang="zh-CN" altLang="en-US" sz="1800" b="1" i="1" baseline="30000" dirty="0"/>
              <a:t>（</a:t>
            </a:r>
            <a:r>
              <a:rPr lang="en-US" altLang="zh-CN" sz="1800" b="1" i="1" baseline="30000" dirty="0"/>
              <a:t>2</a:t>
            </a:r>
            <a:r>
              <a:rPr lang="zh-CN" altLang="en-US" sz="1800" b="1" i="1" baseline="30000" dirty="0"/>
              <a:t>）</a:t>
            </a:r>
            <a:r>
              <a:rPr lang="en-US" altLang="zh-CN" sz="1800" b="1" dirty="0"/>
              <a:t>=U</a:t>
            </a:r>
            <a:r>
              <a:rPr lang="zh-CN" altLang="en-US" sz="1800" b="1" dirty="0"/>
              <a:t>，算法终止</a:t>
            </a:r>
            <a:endParaRPr lang="zh-CN" altLang="en-US" sz="1800" b="1" dirty="0"/>
          </a:p>
          <a:p>
            <a:pPr marL="533400" indent="-533400">
              <a:lnSpc>
                <a:spcPct val="110000"/>
              </a:lnSpc>
              <a:spcBef>
                <a:spcPct val="90000"/>
              </a:spcBef>
              <a:buNone/>
            </a:pPr>
            <a:r>
              <a:rPr lang="zh-CN" altLang="en-US" sz="1800" b="1" dirty="0">
                <a:sym typeface="Wingdings" panose="05000000000000000000" pitchFamily="2" charset="2"/>
              </a:rPr>
              <a:t>	</a:t>
            </a:r>
            <a:r>
              <a:rPr lang="zh-CN" altLang="en-US" sz="1800" b="1" dirty="0"/>
              <a:t>（</a:t>
            </a:r>
            <a:r>
              <a:rPr lang="en-US" altLang="zh-CN" sz="1800" b="1" i="1" dirty="0"/>
              <a:t>AB</a:t>
            </a:r>
            <a:r>
              <a:rPr lang="zh-CN" altLang="en-US" sz="1800" b="1" dirty="0"/>
              <a:t>）</a:t>
            </a:r>
            <a:r>
              <a:rPr lang="en-US" altLang="zh-CN" sz="1800" b="1" i="1" baseline="-25000" dirty="0"/>
              <a:t>F</a:t>
            </a:r>
            <a:r>
              <a:rPr lang="en-US" altLang="zh-CN" sz="1800" b="1" i="1" baseline="30000" dirty="0"/>
              <a:t>+</a:t>
            </a:r>
            <a:r>
              <a:rPr lang="en-US" altLang="zh-CN" sz="1800" b="1" dirty="0"/>
              <a:t> =</a:t>
            </a:r>
            <a:r>
              <a:rPr lang="en-US" altLang="zh-CN" sz="1800" b="1" i="1" dirty="0"/>
              <a:t>ABCDE</a:t>
            </a:r>
            <a:r>
              <a:rPr lang="zh-CN" altLang="en-US" sz="1800" b="1" dirty="0"/>
              <a:t>。</a:t>
            </a:r>
            <a:endParaRPr lang="zh-CN" altLang="en-US" sz="1800" b="1" dirty="0"/>
          </a:p>
        </p:txBody>
      </p:sp>
      <p:sp>
        <p:nvSpPr>
          <p:cNvPr id="125956" name="Rectangle 4"/>
          <p:cNvSpPr/>
          <p:nvPr/>
        </p:nvSpPr>
        <p:spPr>
          <a:xfrm>
            <a:off x="4140200" y="3068638"/>
            <a:ext cx="4752975" cy="3600450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85775" lvl="0" indent="-485775">
              <a:lnSpc>
                <a:spcPct val="8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）令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0</a:t>
            </a:r>
            <a:r>
              <a:rPr lang="zh-CN" altLang="en-US" sz="2000" b="1" baseline="30000" dirty="0"/>
              <a:t>）</a:t>
            </a:r>
            <a:r>
              <a:rPr lang="en-US" altLang="zh-CN" sz="2000" b="1" dirty="0"/>
              <a:t>=</a:t>
            </a:r>
            <a:r>
              <a:rPr lang="en-US" altLang="zh-CN" sz="2000" b="1" i="1" dirty="0"/>
              <a:t>X</a:t>
            </a:r>
            <a:r>
              <a:rPr lang="zh-CN" altLang="en-US" sz="2000" b="1" dirty="0"/>
              <a:t>，</a:t>
            </a:r>
            <a:r>
              <a:rPr lang="en-US" altLang="zh-CN" sz="2000" b="1" i="1" dirty="0"/>
              <a:t>i</a:t>
            </a:r>
            <a:r>
              <a:rPr lang="en-US" altLang="zh-CN" sz="2000" b="1" dirty="0"/>
              <a:t>=0</a:t>
            </a:r>
            <a:endParaRPr lang="en-US" altLang="zh-CN" sz="2000" b="1" dirty="0"/>
          </a:p>
          <a:p>
            <a:pPr marL="485775" lvl="0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）求</a:t>
            </a:r>
            <a:r>
              <a:rPr lang="en-US" altLang="zh-CN" sz="2000" b="1" i="1" dirty="0"/>
              <a:t>B</a:t>
            </a:r>
            <a:r>
              <a:rPr lang="zh-CN" altLang="en-US" sz="2000" b="1" dirty="0"/>
              <a:t>，这里</a:t>
            </a:r>
            <a:r>
              <a:rPr lang="en-US" altLang="zh-CN" sz="1600" b="1" i="1" dirty="0"/>
              <a:t>B</a:t>
            </a:r>
            <a:r>
              <a:rPr lang="en-US" altLang="zh-CN" sz="1600" b="1" dirty="0"/>
              <a:t> = { </a:t>
            </a:r>
            <a:r>
              <a:rPr lang="en-US" altLang="zh-CN" sz="1600" b="1" i="1" dirty="0"/>
              <a:t>A</a:t>
            </a:r>
            <a:r>
              <a:rPr lang="en-US" altLang="zh-CN" sz="1600" b="1" dirty="0"/>
              <a:t> |(</a:t>
            </a:r>
            <a:r>
              <a:rPr lang="en-US" altLang="zh-CN" sz="1600" b="1" dirty="0">
                <a:sym typeface="Symbol" panose="05050102010706020507" pitchFamily="18" charset="2"/>
              </a:rPr>
              <a:t></a:t>
            </a:r>
            <a:r>
              <a:rPr lang="en-US" altLang="zh-CN" sz="1600" b="1" dirty="0"/>
              <a:t> </a:t>
            </a:r>
            <a:r>
              <a:rPr lang="en-US" altLang="zh-CN" sz="1600" b="1" i="1" dirty="0"/>
              <a:t>V)(</a:t>
            </a:r>
            <a:r>
              <a:rPr lang="en-US" altLang="zh-CN" sz="1600" b="1" dirty="0"/>
              <a:t> </a:t>
            </a:r>
            <a:r>
              <a:rPr lang="en-US" altLang="zh-CN" sz="1600" b="1" dirty="0">
                <a:sym typeface="Symbol" panose="05050102010706020507" pitchFamily="18" charset="2"/>
              </a:rPr>
              <a:t></a:t>
            </a:r>
            <a:r>
              <a:rPr lang="en-US" altLang="zh-CN" sz="1600" b="1" dirty="0"/>
              <a:t> </a:t>
            </a:r>
            <a:r>
              <a:rPr lang="en-US" altLang="zh-CN" sz="1600" b="1" i="1" dirty="0"/>
              <a:t>W</a:t>
            </a:r>
            <a:r>
              <a:rPr lang="en-US" altLang="zh-CN" sz="1600" b="1" dirty="0"/>
              <a:t>)(</a:t>
            </a:r>
            <a:r>
              <a:rPr lang="en-US" altLang="zh-CN" sz="1600" b="1" i="1" dirty="0"/>
              <a:t>V</a:t>
            </a:r>
            <a:r>
              <a:rPr lang="en-US" altLang="zh-CN" sz="1600" b="1" dirty="0"/>
              <a:t>→</a:t>
            </a:r>
            <a:r>
              <a:rPr lang="en-US" altLang="zh-CN" sz="1600" b="1" i="1" dirty="0"/>
              <a:t>W</a:t>
            </a:r>
            <a:r>
              <a:rPr lang="en-US" altLang="zh-CN" sz="1600" b="1" dirty="0">
                <a:sym typeface="Symbol" panose="05050102010706020507" pitchFamily="18" charset="2"/>
              </a:rPr>
              <a:t></a:t>
            </a:r>
            <a:r>
              <a:rPr lang="en-US" altLang="zh-CN" sz="1600" b="1" i="1" dirty="0"/>
              <a:t>F</a:t>
            </a:r>
            <a:r>
              <a:rPr lang="en-US" altLang="zh-CN" sz="1600" b="1" dirty="0"/>
              <a:t>∧</a:t>
            </a:r>
            <a:r>
              <a:rPr lang="en-US" altLang="zh-CN" sz="1600" b="1" i="1" dirty="0"/>
              <a:t>V </a:t>
            </a:r>
            <a:r>
              <a:rPr lang="en-US" altLang="zh-CN" sz="1600" b="1" dirty="0">
                <a:sym typeface="Symbol" panose="05050102010706020507" pitchFamily="18" charset="2"/>
              </a:rPr>
              <a:t></a:t>
            </a:r>
            <a:r>
              <a:rPr lang="en-US" altLang="zh-CN" sz="1600" b="1" i="1" dirty="0"/>
              <a:t> X</a:t>
            </a:r>
            <a:r>
              <a:rPr lang="zh-CN" altLang="en-US" sz="1600" b="1" baseline="30000" dirty="0"/>
              <a:t>（</a:t>
            </a:r>
            <a:r>
              <a:rPr lang="en-US" altLang="zh-CN" sz="1600" b="1" baseline="30000" dirty="0"/>
              <a:t>i</a:t>
            </a:r>
            <a:r>
              <a:rPr lang="zh-CN" altLang="en-US" sz="1600" b="1" baseline="30000" dirty="0"/>
              <a:t>）</a:t>
            </a:r>
            <a:r>
              <a:rPr lang="zh-CN" altLang="en-US" sz="1600" b="1" dirty="0"/>
              <a:t>∧</a:t>
            </a:r>
            <a:r>
              <a:rPr lang="en-US" altLang="zh-CN" sz="1600" b="1" i="1" dirty="0"/>
              <a:t>A</a:t>
            </a:r>
            <a:r>
              <a:rPr lang="en-US" altLang="zh-CN" sz="1600" b="1" dirty="0">
                <a:sym typeface="Symbol" panose="05050102010706020507" pitchFamily="18" charset="2"/>
              </a:rPr>
              <a:t></a:t>
            </a:r>
            <a:r>
              <a:rPr lang="en-US" altLang="zh-CN" sz="1600" b="1" dirty="0"/>
              <a:t> </a:t>
            </a:r>
            <a:r>
              <a:rPr lang="en-US" altLang="zh-CN" sz="1600" b="1" i="1" dirty="0"/>
              <a:t>W)</a:t>
            </a:r>
            <a:r>
              <a:rPr lang="en-US" altLang="zh-CN" sz="1600" b="1" dirty="0"/>
              <a:t>}</a:t>
            </a:r>
            <a:r>
              <a:rPr lang="zh-CN" altLang="en-US" sz="1600" b="1" dirty="0"/>
              <a:t>；</a:t>
            </a:r>
            <a:endParaRPr lang="zh-CN" altLang="en-US" sz="1600" b="1" dirty="0"/>
          </a:p>
          <a:p>
            <a:pPr marL="485775" lvl="0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i+1</a:t>
            </a:r>
            <a:r>
              <a:rPr lang="zh-CN" altLang="en-US" sz="2000" b="1" baseline="30000" dirty="0"/>
              <a:t>）</a:t>
            </a:r>
            <a:r>
              <a:rPr lang="en-US" altLang="zh-CN" sz="2000" b="1" dirty="0"/>
              <a:t>=</a:t>
            </a:r>
            <a:r>
              <a:rPr lang="en-US" altLang="zh-CN" sz="2000" b="1" i="1" dirty="0"/>
              <a:t>B</a:t>
            </a:r>
            <a:r>
              <a:rPr lang="en-US" altLang="zh-CN" sz="2000" b="1" dirty="0"/>
              <a:t>∪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</a:t>
            </a:r>
            <a:r>
              <a:rPr lang="zh-CN" altLang="en-US" sz="2000" b="1" baseline="30000" dirty="0"/>
              <a:t>）</a:t>
            </a:r>
            <a:r>
              <a:rPr lang="zh-CN" altLang="en-US" sz="2000" b="1" dirty="0"/>
              <a:t> </a:t>
            </a:r>
            <a:endParaRPr lang="zh-CN" altLang="en-US" sz="2000" b="1" dirty="0"/>
          </a:p>
          <a:p>
            <a:pPr marL="485775" lvl="0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）判断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i+1</a:t>
            </a:r>
            <a:r>
              <a:rPr lang="zh-CN" altLang="en-US" sz="2000" b="1" baseline="30000" dirty="0"/>
              <a:t>）</a:t>
            </a:r>
            <a:r>
              <a:rPr lang="en-US" altLang="zh-CN" sz="2000" b="1" dirty="0"/>
              <a:t>= 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 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</a:t>
            </a:r>
            <a:r>
              <a:rPr lang="zh-CN" altLang="en-US" sz="2000" b="1" baseline="30000" dirty="0"/>
              <a:t>）</a:t>
            </a:r>
            <a:r>
              <a:rPr lang="zh-CN" altLang="en-US" sz="2000" b="1" dirty="0"/>
              <a:t>吗</a:t>
            </a:r>
            <a:r>
              <a:rPr lang="en-US" altLang="zh-CN" sz="2000" b="1" dirty="0"/>
              <a:t>?</a:t>
            </a:r>
            <a:endParaRPr lang="en-US" altLang="zh-CN" sz="2000" b="1" dirty="0"/>
          </a:p>
          <a:p>
            <a:pPr marL="485775" lvl="0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）若相等或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</a:t>
            </a:r>
            <a:r>
              <a:rPr lang="zh-CN" altLang="en-US" sz="2000" b="1" baseline="30000" dirty="0"/>
              <a:t>）</a:t>
            </a:r>
            <a:r>
              <a:rPr lang="en-US" altLang="zh-CN" sz="2000" b="1" dirty="0"/>
              <a:t>=</a:t>
            </a:r>
            <a:r>
              <a:rPr lang="en-US" altLang="zh-CN" sz="2000" b="1" i="1" dirty="0"/>
              <a:t>U , </a:t>
            </a:r>
            <a:r>
              <a:rPr lang="zh-CN" altLang="en-US" sz="2000" b="1" dirty="0"/>
              <a:t>则</a:t>
            </a:r>
            <a:r>
              <a:rPr lang="en-US" altLang="zh-CN" sz="2000" b="1" i="1" dirty="0"/>
              <a:t>X</a:t>
            </a:r>
            <a:r>
              <a:rPr lang="zh-CN" altLang="en-US" sz="2000" b="1" baseline="30000" dirty="0"/>
              <a:t>（</a:t>
            </a:r>
            <a:r>
              <a:rPr lang="en-US" altLang="zh-CN" sz="2000" b="1" baseline="30000" dirty="0"/>
              <a:t>i</a:t>
            </a:r>
            <a:r>
              <a:rPr lang="zh-CN" altLang="en-US" sz="2000" b="1" baseline="30000" dirty="0"/>
              <a:t>）</a:t>
            </a:r>
            <a:r>
              <a:rPr lang="zh-CN" altLang="en-US" sz="2000" b="1" dirty="0"/>
              <a:t>就是</a:t>
            </a:r>
            <a:r>
              <a:rPr lang="en-US" altLang="zh-CN" sz="2000" b="1" i="1" dirty="0"/>
              <a:t>X</a:t>
            </a:r>
            <a:r>
              <a:rPr lang="en-US" altLang="zh-CN" sz="2000" b="1" i="1" baseline="-25000" dirty="0"/>
              <a:t>F</a:t>
            </a:r>
            <a:r>
              <a:rPr lang="en-US" altLang="zh-CN" sz="2000" b="1" baseline="30000" dirty="0"/>
              <a:t>+</a:t>
            </a:r>
            <a:r>
              <a:rPr lang="en-US" altLang="zh-CN" sz="2000" b="1" dirty="0"/>
              <a:t> , </a:t>
            </a:r>
            <a:r>
              <a:rPr lang="zh-CN" altLang="en-US" sz="2000" b="1" dirty="0"/>
              <a:t>算法终止。</a:t>
            </a:r>
            <a:endParaRPr lang="zh-CN" altLang="en-US" sz="2000" b="1" dirty="0"/>
          </a:p>
          <a:p>
            <a:pPr marL="485775" lvl="0" indent="-485775">
              <a:lnSpc>
                <a:spcPct val="13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）若否，则 </a:t>
            </a:r>
            <a:r>
              <a:rPr lang="en-US" altLang="zh-CN" sz="2000" b="1" i="1" dirty="0"/>
              <a:t>i</a:t>
            </a:r>
            <a:r>
              <a:rPr lang="en-US" altLang="zh-CN" sz="2000" b="1" dirty="0"/>
              <a:t>=</a:t>
            </a:r>
            <a:r>
              <a:rPr lang="en-US" altLang="zh-CN" sz="2000" b="1" i="1" dirty="0"/>
              <a:t>i</a:t>
            </a:r>
            <a:r>
              <a:rPr lang="en-US" altLang="zh-CN" sz="2000" b="1" dirty="0"/>
              <a:t>+l</a:t>
            </a:r>
            <a:r>
              <a:rPr lang="zh-CN" altLang="en-US" sz="2000" b="1" dirty="0"/>
              <a:t>，返回第（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）步。</a:t>
            </a:r>
            <a:endParaRPr lang="zh-CN" altLang="en-US" sz="2000" b="1" dirty="0"/>
          </a:p>
        </p:txBody>
      </p:sp>
      <p:sp>
        <p:nvSpPr>
          <p:cNvPr id="125957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endParaRPr lang="zh-CN" altLang="en-US" dirty="0"/>
          </a:p>
        </p:txBody>
      </p:sp>
      <p:sp>
        <p:nvSpPr>
          <p:cNvPr id="128003" name="内容占位符 2"/>
          <p:cNvSpPr>
            <a:spLocks noGrp="1"/>
          </p:cNvSpPr>
          <p:nvPr>
            <p:ph idx="1"/>
          </p:nvPr>
        </p:nvSpPr>
        <p:spPr>
          <a:xfrm>
            <a:off x="137160" y="1981200"/>
            <a:ext cx="8876665" cy="3886200"/>
          </a:xfrm>
        </p:spPr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333333"/>
                </a:solidFill>
                <a:latin typeface="PingFang SC"/>
              </a:rPr>
              <a:t>解： 设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=AB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；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PingFang SC"/>
              </a:rPr>
              <a:t>(1)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计算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: 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逐一的扫描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集合中各个函数依赖，</a:t>
            </a:r>
            <a:br>
              <a:rPr lang="zh-CN" altLang="en-US" dirty="0"/>
            </a:b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找左部为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或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的函数依赖。得到两个：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AB→C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B→D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。</a:t>
            </a:r>
            <a:br>
              <a:rPr lang="zh-CN" altLang="en-US" dirty="0"/>
            </a:b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于是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=AB∪CD=ABCD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。</a:t>
            </a:r>
            <a:endParaRPr lang="zh-CN" altLang="en-US" dirty="0"/>
          </a:p>
        </p:txBody>
      </p:sp>
      <p:sp>
        <p:nvSpPr>
          <p:cNvPr id="12800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endParaRPr lang="zh-CN" altLang="en-US" dirty="0"/>
          </a:p>
        </p:txBody>
      </p:sp>
      <p:sp>
        <p:nvSpPr>
          <p:cNvPr id="129027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362950" cy="38862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(2)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因为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0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）≠ 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 ，所以再找出左部为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ABCD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子集的那些函数依赖，又得到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AB→C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B→D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 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C→E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AC→B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</a:t>
            </a:r>
            <a:br>
              <a:rPr lang="zh-CN" altLang="en-US" dirty="0"/>
            </a:b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于是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=X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）∪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BCDE=ABCDE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。</a:t>
            </a: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PingFang SC"/>
              </a:rPr>
              <a:t>(3)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因为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X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=U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，算法终止</a:t>
            </a:r>
            <a:br>
              <a:rPr lang="zh-CN" altLang="en-US" dirty="0"/>
            </a:br>
            <a:r>
              <a:rPr lang="zh-CN" altLang="en-US" dirty="0">
                <a:solidFill>
                  <a:srgbClr val="333333"/>
                </a:solidFill>
                <a:latin typeface="PingFang SC"/>
              </a:rPr>
              <a:t>所以（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AB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）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F+ =ABCDE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。</a:t>
            </a:r>
            <a:endParaRPr lang="zh-CN" altLang="en-US" dirty="0"/>
          </a:p>
        </p:txBody>
      </p:sp>
      <p:sp>
        <p:nvSpPr>
          <p:cNvPr id="129028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4063"/>
            <a:ext cx="8229600" cy="57705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例：设关系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R(A,B,C, D,E, G)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有函数依赖集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F={AB→C, BC→AD,D→E, CG→B}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的闭包。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解：首先从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出发，令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X={A,B}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，由于函数依赖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AB→C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左边的所有属性都在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中，所以可以把右边的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添加到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中，这时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X={A, B,C}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，其次考虑函数依赖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BC→AD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，左边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中，右边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将其添加到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中，此时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X={A,B,C,D}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再考虑函数依赖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D→E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，同理可将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添加到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中，此时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x={A,B,C,D,E}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。上述方法再不能向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中添加属性，所以得到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{A,B} +={A,B,C,D, E}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属性集闭包的算法：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A+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：将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置入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A+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。对每一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FD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，若左部属于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A+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，则将右部置入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A+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，一直重复至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A+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不能扩大。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0051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候选码求解方法</a:t>
            </a:r>
            <a:endParaRPr lang="zh-CN" altLang="en-US" dirty="0"/>
          </a:p>
        </p:txBody>
      </p:sp>
      <p:sp>
        <p:nvSpPr>
          <p:cNvPr id="13107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对关系模式</a:t>
            </a:r>
            <a:r>
              <a:rPr lang="en-US" altLang="zh-CN" dirty="0"/>
              <a:t>R&lt;U,F&gt;</a:t>
            </a:r>
            <a:r>
              <a:rPr lang="zh-CN" altLang="en-US" dirty="0"/>
              <a:t>，选取可能是候选码的属性集，求其函数依赖闭包，如果属性集的函数依赖闭包</a:t>
            </a:r>
            <a:r>
              <a:rPr lang="en-US" altLang="zh-CN" dirty="0"/>
              <a:t>=U</a:t>
            </a:r>
            <a:r>
              <a:rPr lang="zh-CN" altLang="en-US" dirty="0"/>
              <a:t>，则该属性集为候选码</a:t>
            </a:r>
            <a:endParaRPr lang="zh-CN" altLang="en-US" dirty="0"/>
          </a:p>
          <a:p>
            <a:r>
              <a:rPr lang="zh-CN" altLang="en-US" dirty="0"/>
              <a:t>三类属性</a:t>
            </a:r>
            <a:endParaRPr lang="zh-CN" altLang="en-US" dirty="0"/>
          </a:p>
          <a:p>
            <a:pPr lvl="1"/>
            <a:r>
              <a:rPr lang="en-US" altLang="zh-CN" dirty="0"/>
              <a:t>L</a:t>
            </a:r>
            <a:r>
              <a:rPr lang="zh-CN" altLang="en-US" dirty="0"/>
              <a:t>类：仅出现在</a:t>
            </a:r>
            <a:r>
              <a:rPr lang="en-US" altLang="zh-CN" dirty="0"/>
              <a:t>F</a:t>
            </a:r>
            <a:r>
              <a:rPr lang="zh-CN" altLang="en-US" dirty="0"/>
              <a:t>的函数依赖左边</a:t>
            </a:r>
            <a:endParaRPr lang="zh-CN" altLang="en-US" dirty="0"/>
          </a:p>
          <a:p>
            <a:pPr lvl="1"/>
            <a:r>
              <a:rPr lang="en-US" altLang="zh-CN" dirty="0"/>
              <a:t>R</a:t>
            </a:r>
            <a:r>
              <a:rPr lang="zh-CN" altLang="en-US" dirty="0"/>
              <a:t>类：仅出现在</a:t>
            </a:r>
            <a:r>
              <a:rPr lang="en-US" altLang="zh-CN" dirty="0"/>
              <a:t>F</a:t>
            </a:r>
            <a:r>
              <a:rPr lang="zh-CN" altLang="en-US" dirty="0"/>
              <a:t>的函数依赖右边</a:t>
            </a:r>
            <a:endParaRPr lang="zh-CN" altLang="en-US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类：没有出现在</a:t>
            </a:r>
            <a:r>
              <a:rPr lang="en-US" altLang="zh-CN" dirty="0"/>
              <a:t>F</a:t>
            </a:r>
            <a:r>
              <a:rPr lang="zh-CN" altLang="en-US" dirty="0"/>
              <a:t>的函数依赖中</a:t>
            </a:r>
            <a:endParaRPr lang="zh-CN" altLang="en-US" dirty="0"/>
          </a:p>
        </p:txBody>
      </p:sp>
      <p:sp>
        <p:nvSpPr>
          <p:cNvPr id="13107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候选码求解方法（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32099" name="Rectangle 3"/>
          <p:cNvSpPr>
            <a:spLocks noGrp="1"/>
          </p:cNvSpPr>
          <p:nvPr>
            <p:ph idx="1"/>
          </p:nvPr>
        </p:nvSpPr>
        <p:spPr>
          <a:xfrm>
            <a:off x="468313" y="1700213"/>
            <a:ext cx="8229600" cy="3886200"/>
          </a:xfrm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定理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L</a:t>
            </a:r>
            <a:r>
              <a:rPr lang="zh-CN" altLang="en-US" dirty="0"/>
              <a:t>类属性必为任一候选码的成员</a:t>
            </a:r>
            <a:endParaRPr lang="zh-CN" altLang="en-US" dirty="0"/>
          </a:p>
          <a:p>
            <a:r>
              <a:rPr lang="zh-CN" altLang="en-US" dirty="0"/>
              <a:t>定理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R</a:t>
            </a:r>
            <a:r>
              <a:rPr lang="zh-CN" altLang="en-US" dirty="0"/>
              <a:t>类属性不在任何候选码中</a:t>
            </a:r>
            <a:endParaRPr lang="zh-CN" altLang="en-US" dirty="0"/>
          </a:p>
          <a:p>
            <a:r>
              <a:rPr lang="zh-CN" altLang="en-US" dirty="0"/>
              <a:t>定理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N</a:t>
            </a:r>
            <a:r>
              <a:rPr lang="zh-CN" altLang="en-US" dirty="0"/>
              <a:t>类属性必包含在任何候选码中</a:t>
            </a:r>
            <a:endParaRPr lang="zh-CN" altLang="en-US" dirty="0"/>
          </a:p>
        </p:txBody>
      </p:sp>
      <p:sp>
        <p:nvSpPr>
          <p:cNvPr id="132100" name="Rectangle 4"/>
          <p:cNvSpPr/>
          <p:nvPr/>
        </p:nvSpPr>
        <p:spPr>
          <a:xfrm>
            <a:off x="611188" y="3789363"/>
            <a:ext cx="7848600" cy="2735262"/>
          </a:xfrm>
          <a:prstGeom prst="rect">
            <a:avLst/>
          </a:prstGeom>
          <a:solidFill>
            <a:srgbClr val="CCFFCC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例：</a:t>
            </a:r>
            <a:r>
              <a:rPr lang="en-US" altLang="zh-CN" sz="2400" b="1" dirty="0"/>
              <a:t>R(A,B,C,D,E,P), F={A →D, E →D, D →B, BC →D, DC →A}</a:t>
            </a:r>
            <a:r>
              <a:rPr lang="zh-CN" altLang="en-US" sz="2400" b="1" dirty="0"/>
              <a:t>，求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所有候选码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解：</a:t>
            </a:r>
            <a:r>
              <a:rPr lang="en-US" altLang="zh-CN" sz="2400" b="1" dirty="0"/>
              <a:t>L</a:t>
            </a:r>
            <a:r>
              <a:rPr lang="zh-CN" altLang="en-US" sz="2400" b="1" dirty="0"/>
              <a:t>类属性：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E</a:t>
            </a:r>
            <a:r>
              <a:rPr lang="zh-CN" altLang="en-US" sz="2400" b="1" dirty="0"/>
              <a:t>； 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类属性：</a:t>
            </a:r>
            <a:r>
              <a:rPr lang="en-US" altLang="zh-CN" sz="2400" b="1" dirty="0"/>
              <a:t>P</a:t>
            </a:r>
            <a:endParaRPr lang="en-US" altLang="zh-CN" sz="2400" b="1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(CEP)</a:t>
            </a:r>
            <a:r>
              <a:rPr lang="en-US" altLang="zh-CN" sz="2400" b="1" baseline="-25000" dirty="0"/>
              <a:t>F</a:t>
            </a:r>
            <a:r>
              <a:rPr lang="en-US" altLang="zh-CN" sz="2400" b="1" baseline="30000" dirty="0"/>
              <a:t>+</a:t>
            </a:r>
            <a:r>
              <a:rPr lang="en-US" altLang="zh-CN" sz="2400" b="1" dirty="0"/>
              <a:t>=ABCDEP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CEP</a:t>
            </a:r>
            <a:r>
              <a:rPr lang="zh-CN" altLang="en-US" sz="2400" b="1" dirty="0"/>
              <a:t>是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的候选码</a:t>
            </a:r>
            <a:endParaRPr lang="zh-CN" altLang="en-US" sz="2400" b="1" dirty="0"/>
          </a:p>
        </p:txBody>
      </p:sp>
      <p:sp>
        <p:nvSpPr>
          <p:cNvPr id="132101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b="1" dirty="0"/>
              <a:t>候选码的求解理论和算法</a:t>
            </a:r>
            <a:endParaRPr lang="zh-CN" altLang="en-US" dirty="0"/>
          </a:p>
        </p:txBody>
      </p:sp>
      <p:sp>
        <p:nvSpPr>
          <p:cNvPr id="133123" name="内容占位符 2"/>
          <p:cNvSpPr>
            <a:spLocks noGrp="1"/>
          </p:cNvSpPr>
          <p:nvPr>
            <p:ph idx="1"/>
          </p:nvPr>
        </p:nvSpPr>
        <p:spPr>
          <a:xfrm>
            <a:off x="457200" y="1628775"/>
            <a:ext cx="8229600" cy="4543425"/>
          </a:xfrm>
        </p:spPr>
        <p:txBody>
          <a:bodyPr vert="horz" wrap="square" lIns="91440" tIns="45720" rIns="91440" bIns="45720" anchor="t" anchorCtr="0"/>
          <a:p>
            <a:r>
              <a:rPr lang="zh-CN" altLang="en-US" sz="2400" dirty="0"/>
              <a:t>对关系模式</a:t>
            </a:r>
            <a:r>
              <a:rPr lang="en-US" altLang="zh-CN" sz="2400" dirty="0"/>
              <a:t>R&lt;U,F&gt;</a:t>
            </a:r>
            <a:r>
              <a:rPr lang="zh-CN" altLang="en-US" sz="2400" dirty="0"/>
              <a:t>和函数依赖集</a:t>
            </a:r>
            <a:r>
              <a:rPr lang="en-US" altLang="zh-CN" sz="2400" dirty="0"/>
              <a:t>F</a:t>
            </a:r>
            <a:r>
              <a:rPr lang="zh-CN" altLang="en-US" sz="2400" dirty="0"/>
              <a:t>，可将其属性分为</a:t>
            </a:r>
            <a:r>
              <a:rPr lang="en-US" altLang="zh-CN" sz="2400" dirty="0"/>
              <a:t>4</a:t>
            </a:r>
            <a:r>
              <a:rPr lang="zh-CN" altLang="en-US" sz="2400" dirty="0"/>
              <a:t>类</a:t>
            </a:r>
            <a:endParaRPr lang="en-US" altLang="zh-CN" sz="2400" dirty="0"/>
          </a:p>
          <a:p>
            <a:pPr lvl="1"/>
            <a:r>
              <a:rPr lang="en-US" altLang="zh-CN" sz="2400" dirty="0"/>
              <a:t>L</a:t>
            </a:r>
            <a:r>
              <a:rPr lang="zh-CN" altLang="en-US" sz="2400" dirty="0"/>
              <a:t>类  仅出现在函数依赖左部的属性。</a:t>
            </a:r>
            <a:endParaRPr lang="zh-CN" altLang="en-US" sz="2400" dirty="0"/>
          </a:p>
          <a:p>
            <a:pPr lvl="1"/>
            <a:r>
              <a:rPr lang="en-US" altLang="zh-CN" sz="2400" dirty="0"/>
              <a:t>R </a:t>
            </a:r>
            <a:r>
              <a:rPr lang="zh-CN" altLang="en-US" sz="2400" dirty="0"/>
              <a:t>类  仅出现在函数依赖右部的属性。</a:t>
            </a:r>
            <a:endParaRPr lang="zh-CN" altLang="en-US" sz="2400" dirty="0"/>
          </a:p>
          <a:p>
            <a:pPr lvl="1"/>
            <a:r>
              <a:rPr lang="en-US" altLang="zh-CN" sz="2400" dirty="0"/>
              <a:t>N </a:t>
            </a:r>
            <a:r>
              <a:rPr lang="zh-CN" altLang="en-US" sz="2400" dirty="0"/>
              <a:t>类  在函数依赖左右两边均未出现的属性。</a:t>
            </a:r>
            <a:endParaRPr lang="zh-CN" altLang="en-US" sz="2400" dirty="0"/>
          </a:p>
          <a:p>
            <a:pPr lvl="1"/>
            <a:r>
              <a:rPr lang="en-US" altLang="zh-CN" sz="2400" dirty="0"/>
              <a:t>LR</a:t>
            </a:r>
            <a:r>
              <a:rPr lang="zh-CN" altLang="en-US" sz="2400" dirty="0"/>
              <a:t>类  在函数依赖左右两边均出现的属性。</a:t>
            </a:r>
            <a:endParaRPr lang="en-US" altLang="zh-CN" sz="2400" dirty="0"/>
          </a:p>
          <a:p>
            <a:r>
              <a:rPr lang="zh-CN" altLang="en-US" sz="2400" dirty="0"/>
              <a:t>定理：对于给定的关系模式</a:t>
            </a:r>
            <a:r>
              <a:rPr lang="en-US" altLang="zh-CN" sz="2400" dirty="0"/>
              <a:t>R</a:t>
            </a:r>
            <a:r>
              <a:rPr lang="zh-CN" altLang="en-US" sz="2400" dirty="0"/>
              <a:t>及其函数依赖集</a:t>
            </a:r>
            <a:r>
              <a:rPr lang="en-US" altLang="zh-CN" sz="2400" dirty="0"/>
              <a:t>F</a:t>
            </a:r>
            <a:r>
              <a:rPr lang="zh-CN" altLang="en-US" sz="2400" dirty="0"/>
              <a:t>，若</a:t>
            </a:r>
            <a:r>
              <a:rPr lang="en-US" altLang="zh-CN" sz="2400" dirty="0"/>
              <a:t>X</a:t>
            </a:r>
            <a:r>
              <a:rPr lang="zh-CN" altLang="en-US" sz="2400" dirty="0"/>
              <a:t>（</a:t>
            </a:r>
            <a:r>
              <a:rPr lang="en-US" altLang="zh-CN" sz="2400" dirty="0"/>
              <a:t>X∈R</a:t>
            </a:r>
            <a:r>
              <a:rPr lang="zh-CN" altLang="en-US" sz="2400" dirty="0"/>
              <a:t>）是</a:t>
            </a:r>
            <a:r>
              <a:rPr lang="en-US" altLang="zh-CN" sz="2400" dirty="0"/>
              <a:t>L</a:t>
            </a:r>
            <a:r>
              <a:rPr lang="zh-CN" altLang="en-US" sz="2400" dirty="0"/>
              <a:t>类属性，则</a:t>
            </a:r>
            <a:r>
              <a:rPr lang="en-US" altLang="zh-CN" sz="2400" dirty="0"/>
              <a:t>X</a:t>
            </a:r>
            <a:r>
              <a:rPr lang="zh-CN" altLang="en-US" sz="2400" dirty="0"/>
              <a:t>必为</a:t>
            </a:r>
            <a:r>
              <a:rPr lang="en-US" altLang="zh-CN" sz="2400" dirty="0"/>
              <a:t>R</a:t>
            </a:r>
            <a:r>
              <a:rPr lang="zh-CN" altLang="en-US" sz="2400" dirty="0"/>
              <a:t>的任一候选码的成员。</a:t>
            </a:r>
            <a:endParaRPr lang="zh-CN" altLang="en-US" sz="2400" dirty="0"/>
          </a:p>
          <a:p>
            <a:r>
              <a:rPr lang="zh-CN" altLang="en-US" sz="2400" dirty="0"/>
              <a:t>推论：对于给定的关系模式</a:t>
            </a:r>
            <a:r>
              <a:rPr lang="en-US" altLang="zh-CN" sz="2400" dirty="0"/>
              <a:t>R</a:t>
            </a:r>
            <a:r>
              <a:rPr lang="zh-CN" altLang="en-US" sz="2400" dirty="0"/>
              <a:t>及其函数依赖集</a:t>
            </a:r>
            <a:r>
              <a:rPr lang="en-US" altLang="zh-CN" sz="2400" dirty="0"/>
              <a:t>F</a:t>
            </a:r>
            <a:r>
              <a:rPr lang="zh-CN" altLang="en-US" sz="2400" dirty="0"/>
              <a:t>，若</a:t>
            </a:r>
            <a:r>
              <a:rPr lang="en-US" altLang="zh-CN" sz="2400" dirty="0"/>
              <a:t>X</a:t>
            </a:r>
            <a:r>
              <a:rPr lang="zh-CN" altLang="en-US" sz="2400" dirty="0"/>
              <a:t>（</a:t>
            </a:r>
            <a:r>
              <a:rPr lang="en-US" altLang="zh-CN" sz="2400" dirty="0"/>
              <a:t>X∈R</a:t>
            </a:r>
            <a:r>
              <a:rPr lang="zh-CN" altLang="en-US" sz="2400" dirty="0"/>
              <a:t>）是</a:t>
            </a:r>
            <a:r>
              <a:rPr lang="en-US" altLang="zh-CN" sz="2400" dirty="0"/>
              <a:t>L</a:t>
            </a:r>
            <a:r>
              <a:rPr lang="zh-CN" altLang="en-US" sz="2400" dirty="0"/>
              <a:t>类属性，且</a:t>
            </a:r>
            <a:r>
              <a:rPr lang="en-US" altLang="zh-CN" sz="2400" dirty="0"/>
              <a:t>X</a:t>
            </a:r>
            <a:r>
              <a:rPr lang="en-US" altLang="zh-CN" sz="2400" baseline="30000" dirty="0"/>
              <a:t>+</a:t>
            </a:r>
            <a:r>
              <a:rPr lang="zh-CN" altLang="en-US" sz="2400" dirty="0"/>
              <a:t>包含了</a:t>
            </a:r>
            <a:r>
              <a:rPr lang="en-US" altLang="zh-CN" sz="2400" dirty="0"/>
              <a:t>R</a:t>
            </a:r>
            <a:r>
              <a:rPr lang="zh-CN" altLang="en-US" sz="2400" dirty="0"/>
              <a:t>的全部属性；则</a:t>
            </a:r>
            <a:r>
              <a:rPr lang="en-US" altLang="zh-CN" sz="2400" dirty="0"/>
              <a:t>X</a:t>
            </a:r>
            <a:r>
              <a:rPr lang="zh-CN" altLang="en-US" sz="2400" dirty="0"/>
              <a:t>必为</a:t>
            </a:r>
            <a:r>
              <a:rPr lang="en-US" altLang="zh-CN" sz="2400" dirty="0"/>
              <a:t>R</a:t>
            </a:r>
            <a:r>
              <a:rPr lang="zh-CN" altLang="en-US" sz="2400" dirty="0"/>
              <a:t>的唯一候选码。</a:t>
            </a:r>
            <a:endParaRPr lang="zh-CN" altLang="en-US" sz="2400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3312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内容占位符 2"/>
          <p:cNvSpPr>
            <a:spLocks noGrp="1"/>
          </p:cNvSpPr>
          <p:nvPr>
            <p:ph idx="1"/>
          </p:nvPr>
        </p:nvSpPr>
        <p:spPr>
          <a:xfrm>
            <a:off x="457200" y="692150"/>
            <a:ext cx="8229600" cy="5400675"/>
          </a:xfrm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定理：对于给定的关系模式</a:t>
            </a:r>
            <a:r>
              <a:rPr lang="en-US" altLang="zh-CN" dirty="0"/>
              <a:t>R</a:t>
            </a:r>
            <a:r>
              <a:rPr lang="zh-CN" altLang="en-US" dirty="0"/>
              <a:t>及其函数依赖集</a:t>
            </a:r>
            <a:r>
              <a:rPr lang="en-US" altLang="zh-CN" dirty="0"/>
              <a:t>F</a:t>
            </a:r>
            <a:r>
              <a:rPr lang="zh-CN" altLang="en-US" dirty="0"/>
              <a:t>，若</a:t>
            </a:r>
            <a:r>
              <a:rPr lang="en-US" altLang="zh-CN" dirty="0"/>
              <a:t>X</a:t>
            </a:r>
            <a:r>
              <a:rPr lang="zh-CN" altLang="en-US" dirty="0"/>
              <a:t>（</a:t>
            </a:r>
            <a:r>
              <a:rPr lang="en-US" altLang="zh-CN" dirty="0"/>
              <a:t>X∈R</a:t>
            </a:r>
            <a:r>
              <a:rPr lang="zh-CN" altLang="en-US" dirty="0"/>
              <a:t>）是</a:t>
            </a:r>
            <a:r>
              <a:rPr lang="en-US" altLang="zh-CN" dirty="0"/>
              <a:t>R</a:t>
            </a:r>
            <a:r>
              <a:rPr lang="zh-CN" altLang="en-US" dirty="0"/>
              <a:t>类属性，则</a:t>
            </a:r>
            <a:r>
              <a:rPr lang="en-US" altLang="zh-CN" dirty="0"/>
              <a:t>X</a:t>
            </a:r>
            <a:r>
              <a:rPr lang="zh-CN" altLang="en-US" dirty="0"/>
              <a:t>不在任何候选码中。</a:t>
            </a:r>
            <a:endParaRPr lang="zh-CN" altLang="en-US" dirty="0"/>
          </a:p>
          <a:p>
            <a:r>
              <a:rPr lang="zh-CN" altLang="en-US" dirty="0"/>
              <a:t>定理：对于给定的关系模式</a:t>
            </a:r>
            <a:r>
              <a:rPr lang="en-US" altLang="zh-CN" dirty="0"/>
              <a:t>R</a:t>
            </a:r>
            <a:r>
              <a:rPr lang="zh-CN" altLang="en-US" dirty="0"/>
              <a:t>及其函数依赖集</a:t>
            </a:r>
            <a:r>
              <a:rPr lang="en-US" altLang="zh-CN" dirty="0"/>
              <a:t>F</a:t>
            </a:r>
            <a:r>
              <a:rPr lang="zh-CN" altLang="en-US" dirty="0"/>
              <a:t>，若</a:t>
            </a:r>
            <a:r>
              <a:rPr lang="en-US" altLang="zh-CN" dirty="0"/>
              <a:t>X</a:t>
            </a:r>
            <a:r>
              <a:rPr lang="zh-CN" altLang="en-US" dirty="0"/>
              <a:t>（</a:t>
            </a:r>
            <a:r>
              <a:rPr lang="en-US" altLang="zh-CN" dirty="0"/>
              <a:t>X∈R</a:t>
            </a:r>
            <a:r>
              <a:rPr lang="zh-CN" altLang="en-US" dirty="0"/>
              <a:t>）是</a:t>
            </a:r>
            <a:r>
              <a:rPr lang="en-US" altLang="zh-CN" dirty="0"/>
              <a:t>N</a:t>
            </a:r>
            <a:r>
              <a:rPr lang="zh-CN" altLang="en-US" dirty="0"/>
              <a:t>类属性，则</a:t>
            </a:r>
            <a:r>
              <a:rPr lang="en-US" altLang="zh-CN" dirty="0"/>
              <a:t>X</a:t>
            </a:r>
            <a:r>
              <a:rPr lang="zh-CN" altLang="en-US" dirty="0"/>
              <a:t>必包含在</a:t>
            </a:r>
            <a:r>
              <a:rPr lang="en-US" altLang="zh-CN" dirty="0"/>
              <a:t>R</a:t>
            </a:r>
            <a:r>
              <a:rPr lang="zh-CN" altLang="en-US" dirty="0"/>
              <a:t>的任一候选码中。</a:t>
            </a:r>
            <a:endParaRPr lang="zh-CN" altLang="en-US" dirty="0"/>
          </a:p>
          <a:p>
            <a:r>
              <a:rPr lang="zh-CN" altLang="en-US" dirty="0"/>
              <a:t>推论：对于给定的关系模式</a:t>
            </a:r>
            <a:r>
              <a:rPr lang="en-US" altLang="zh-CN" dirty="0"/>
              <a:t>R</a:t>
            </a:r>
            <a:r>
              <a:rPr lang="zh-CN" altLang="en-US" dirty="0"/>
              <a:t>及其函数依赖集</a:t>
            </a:r>
            <a:r>
              <a:rPr lang="en-US" altLang="zh-CN" dirty="0"/>
              <a:t>F</a:t>
            </a:r>
            <a:r>
              <a:rPr lang="zh-CN" altLang="en-US" dirty="0"/>
              <a:t>，若</a:t>
            </a:r>
            <a:r>
              <a:rPr lang="en-US" altLang="zh-CN" dirty="0"/>
              <a:t>X</a:t>
            </a:r>
            <a:r>
              <a:rPr lang="zh-CN" altLang="en-US" dirty="0"/>
              <a:t>（</a:t>
            </a:r>
            <a:r>
              <a:rPr lang="en-US" altLang="zh-CN" dirty="0"/>
              <a:t>X∈R</a:t>
            </a:r>
            <a:r>
              <a:rPr lang="zh-CN" altLang="en-US" dirty="0"/>
              <a:t>）是</a:t>
            </a:r>
            <a:r>
              <a:rPr lang="en-US" altLang="zh-CN" dirty="0"/>
              <a:t>L</a:t>
            </a:r>
            <a:r>
              <a:rPr lang="zh-CN" altLang="en-US" dirty="0"/>
              <a:t>类和</a:t>
            </a:r>
            <a:r>
              <a:rPr lang="en-US" altLang="zh-CN" dirty="0"/>
              <a:t>N</a:t>
            </a:r>
            <a:r>
              <a:rPr lang="zh-CN" altLang="en-US" dirty="0"/>
              <a:t>类组成的属性集，且</a:t>
            </a:r>
            <a:r>
              <a:rPr lang="en-US" altLang="zh-CN" dirty="0"/>
              <a:t>X</a:t>
            </a:r>
            <a:r>
              <a:rPr lang="en-US" altLang="zh-CN" baseline="30000" dirty="0"/>
              <a:t>+</a:t>
            </a:r>
            <a:r>
              <a:rPr lang="zh-CN" altLang="en-US" dirty="0"/>
              <a:t>包含了</a:t>
            </a:r>
            <a:r>
              <a:rPr lang="en-US" altLang="zh-CN" dirty="0"/>
              <a:t>R</a:t>
            </a:r>
            <a:r>
              <a:rPr lang="zh-CN" altLang="en-US" dirty="0"/>
              <a:t>的全部属性；则</a:t>
            </a:r>
            <a:r>
              <a:rPr lang="en-US" altLang="zh-CN" dirty="0"/>
              <a:t>X</a:t>
            </a:r>
            <a:r>
              <a:rPr lang="zh-CN" altLang="en-US" dirty="0"/>
              <a:t>是</a:t>
            </a:r>
            <a:r>
              <a:rPr lang="en-US" altLang="zh-CN" dirty="0"/>
              <a:t>R</a:t>
            </a:r>
            <a:r>
              <a:rPr lang="zh-CN" altLang="en-US" dirty="0"/>
              <a:t>的唯一候选码。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34147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13517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：设有关系模式</a:t>
            </a:r>
            <a:r>
              <a:rPr lang="en-US" altLang="zh-CN" dirty="0"/>
              <a:t>R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），其函数依赖集</a:t>
            </a:r>
            <a:r>
              <a:rPr lang="en-US" altLang="zh-CN" dirty="0"/>
              <a:t>F={D→B</a:t>
            </a:r>
            <a:r>
              <a:rPr lang="zh-CN" altLang="en-US" dirty="0"/>
              <a:t>，</a:t>
            </a:r>
            <a:r>
              <a:rPr lang="en-US" altLang="zh-CN" dirty="0"/>
              <a:t>B →D</a:t>
            </a:r>
            <a:r>
              <a:rPr lang="zh-CN" altLang="en-US" dirty="0"/>
              <a:t>，</a:t>
            </a:r>
            <a:r>
              <a:rPr lang="en-US" altLang="zh-CN" dirty="0"/>
              <a:t>AD →B</a:t>
            </a:r>
            <a:r>
              <a:rPr lang="zh-CN" altLang="en-US" dirty="0"/>
              <a:t>，</a:t>
            </a:r>
            <a:r>
              <a:rPr lang="en-US" altLang="zh-CN" dirty="0"/>
              <a:t>AC →D}</a:t>
            </a:r>
            <a:r>
              <a:rPr lang="zh-CN" altLang="en-US" dirty="0"/>
              <a:t>，求</a:t>
            </a:r>
            <a:r>
              <a:rPr lang="en-US" altLang="zh-CN" dirty="0"/>
              <a:t>R</a:t>
            </a:r>
            <a:r>
              <a:rPr lang="zh-CN" altLang="en-US" dirty="0"/>
              <a:t>的所有候选码。</a:t>
            </a:r>
            <a:endParaRPr lang="zh-CN" altLang="en-US" dirty="0"/>
          </a:p>
          <a:p>
            <a:r>
              <a:rPr lang="zh-CN" altLang="en-US" dirty="0"/>
              <a:t>解：考察</a:t>
            </a:r>
            <a:r>
              <a:rPr lang="en-US" altLang="zh-CN" dirty="0"/>
              <a:t>F</a:t>
            </a:r>
            <a:r>
              <a:rPr lang="zh-CN" altLang="en-US" dirty="0"/>
              <a:t>发现，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两属性是</a:t>
            </a:r>
            <a:r>
              <a:rPr lang="en-US" altLang="zh-CN" dirty="0"/>
              <a:t>L</a:t>
            </a:r>
            <a:r>
              <a:rPr lang="zh-CN" altLang="en-US" dirty="0"/>
              <a:t>类属性，所以</a:t>
            </a:r>
            <a:r>
              <a:rPr lang="en-US" altLang="zh-CN" dirty="0"/>
              <a:t>AC</a:t>
            </a:r>
            <a:r>
              <a:rPr lang="zh-CN" altLang="en-US" dirty="0"/>
              <a:t>必是</a:t>
            </a:r>
            <a:r>
              <a:rPr lang="en-US" altLang="zh-CN" dirty="0"/>
              <a:t>R</a:t>
            </a:r>
            <a:r>
              <a:rPr lang="zh-CN" altLang="en-US" dirty="0"/>
              <a:t>的候选码成员，又因为（</a:t>
            </a:r>
            <a:r>
              <a:rPr lang="en-US" altLang="zh-CN" dirty="0"/>
              <a:t>AC</a:t>
            </a:r>
            <a:r>
              <a:rPr lang="zh-CN" altLang="en-US" dirty="0"/>
              <a:t>）</a:t>
            </a:r>
            <a:r>
              <a:rPr lang="en-US" altLang="zh-CN" baseline="30000" dirty="0"/>
              <a:t>+</a:t>
            </a:r>
            <a:r>
              <a:rPr lang="en-US" altLang="zh-CN" dirty="0"/>
              <a:t>=ABCD</a:t>
            </a:r>
            <a:r>
              <a:rPr lang="zh-CN" altLang="en-US" dirty="0"/>
              <a:t>，所以</a:t>
            </a:r>
            <a:r>
              <a:rPr lang="en-US" altLang="zh-CN" dirty="0"/>
              <a:t>AC</a:t>
            </a:r>
            <a:r>
              <a:rPr lang="zh-CN" altLang="en-US" dirty="0"/>
              <a:t>是</a:t>
            </a:r>
            <a:r>
              <a:rPr lang="en-US" altLang="zh-CN" dirty="0"/>
              <a:t>R</a:t>
            </a:r>
            <a:r>
              <a:rPr lang="zh-CN" altLang="en-US" dirty="0"/>
              <a:t>的唯一候选码。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35172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136195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71988"/>
          </a:xfrm>
        </p:spPr>
        <p:txBody>
          <a:bodyPr vert="horz" wrap="square" lIns="91440" tIns="45720" rIns="91440" bIns="45720" anchor="t" anchorCtr="0"/>
          <a:p>
            <a:r>
              <a:rPr lang="zh-CN" altLang="en-US" dirty="0"/>
              <a:t>例题</a:t>
            </a:r>
            <a:r>
              <a:rPr lang="en-US" altLang="zh-CN" dirty="0"/>
              <a:t>2</a:t>
            </a:r>
            <a:r>
              <a:rPr lang="zh-CN" altLang="en-US" dirty="0"/>
              <a:t>：关系模型</a:t>
            </a:r>
            <a:r>
              <a:rPr lang="en-US" altLang="zh-CN" dirty="0"/>
              <a:t>R&lt;U</a:t>
            </a:r>
            <a:r>
              <a:rPr lang="zh-CN" altLang="en-US" dirty="0"/>
              <a:t>，</a:t>
            </a:r>
            <a:r>
              <a:rPr lang="en-US" altLang="zh-CN" dirty="0"/>
              <a:t>F&gt;</a:t>
            </a:r>
            <a:r>
              <a:rPr lang="zh-CN" altLang="en-US" dirty="0"/>
              <a:t>，</a:t>
            </a:r>
            <a:r>
              <a:rPr lang="en-US" altLang="zh-CN" dirty="0"/>
              <a:t>U={A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D}</a:t>
            </a:r>
            <a:r>
              <a:rPr lang="zh-CN" altLang="en-US" dirty="0"/>
              <a:t>，</a:t>
            </a:r>
            <a:r>
              <a:rPr lang="en-US" altLang="zh-CN" dirty="0"/>
              <a:t>F={B→D</a:t>
            </a:r>
            <a:r>
              <a:rPr lang="zh-CN" altLang="en-US" dirty="0"/>
              <a:t>，</a:t>
            </a:r>
            <a:r>
              <a:rPr lang="en-US" altLang="zh-CN" dirty="0"/>
              <a:t>AB→C}</a:t>
            </a:r>
            <a:r>
              <a:rPr lang="zh-CN" altLang="en-US" dirty="0"/>
              <a:t>，求</a:t>
            </a:r>
            <a:r>
              <a:rPr lang="en-US" altLang="zh-CN" dirty="0"/>
              <a:t>R</a:t>
            </a:r>
            <a:r>
              <a:rPr lang="zh-CN" altLang="en-US" dirty="0"/>
              <a:t>候选码。</a:t>
            </a:r>
            <a:endParaRPr lang="en-US" altLang="zh-CN" dirty="0"/>
          </a:p>
          <a:p>
            <a:pPr lvl="1"/>
            <a:r>
              <a:rPr lang="zh-CN" altLang="en-US" sz="2400" dirty="0"/>
              <a:t>求解过程：（</a:t>
            </a:r>
            <a:r>
              <a:rPr lang="en-US" altLang="zh-CN" sz="2400" dirty="0"/>
              <a:t>1</a:t>
            </a:r>
            <a:r>
              <a:rPr lang="zh-CN" altLang="en-US" sz="2400" dirty="0"/>
              <a:t>）先判断属性集</a:t>
            </a:r>
            <a:r>
              <a:rPr lang="en-US" altLang="zh-CN" sz="2400" dirty="0"/>
              <a:t>U</a:t>
            </a:r>
            <a:r>
              <a:rPr lang="zh-CN" altLang="en-US" sz="2400" dirty="0"/>
              <a:t>中所有属性属于哪一类。</a:t>
            </a:r>
            <a:r>
              <a:rPr lang="en-US" altLang="zh-CN" sz="2400" dirty="0"/>
              <a:t>A</a:t>
            </a:r>
            <a:r>
              <a:rPr lang="zh-CN" altLang="en-US" sz="2400" dirty="0"/>
              <a:t>仅出现在</a:t>
            </a:r>
            <a:r>
              <a:rPr lang="en-US" altLang="zh-CN" sz="2400" dirty="0"/>
              <a:t>AB→C</a:t>
            </a:r>
            <a:r>
              <a:rPr lang="zh-CN" altLang="en-US" sz="2400" dirty="0"/>
              <a:t>左边，属于</a:t>
            </a:r>
            <a:r>
              <a:rPr lang="en-US" altLang="zh-CN" sz="2400" dirty="0"/>
              <a:t>L</a:t>
            </a:r>
            <a:r>
              <a:rPr lang="zh-CN" altLang="en-US" sz="2400" dirty="0"/>
              <a:t>类。</a:t>
            </a:r>
            <a:r>
              <a:rPr lang="en-US" altLang="zh-CN" sz="2400" dirty="0"/>
              <a:t>B</a:t>
            </a:r>
            <a:r>
              <a:rPr lang="zh-CN" altLang="en-US" sz="2400" dirty="0"/>
              <a:t>仅出现在</a:t>
            </a:r>
            <a:r>
              <a:rPr lang="en-US" altLang="zh-CN" sz="2400" dirty="0"/>
              <a:t>B→D</a:t>
            </a:r>
            <a:r>
              <a:rPr lang="zh-CN" altLang="en-US" sz="2400" dirty="0"/>
              <a:t>左边和</a:t>
            </a:r>
            <a:r>
              <a:rPr lang="en-US" altLang="zh-CN" sz="2400" dirty="0"/>
              <a:t>AB→C</a:t>
            </a:r>
            <a:r>
              <a:rPr lang="zh-CN" altLang="en-US" sz="2400" dirty="0"/>
              <a:t>左边，属于</a:t>
            </a:r>
            <a:r>
              <a:rPr lang="en-US" altLang="zh-CN" sz="2400" dirty="0"/>
              <a:t>L </a:t>
            </a:r>
            <a:r>
              <a:rPr lang="zh-CN" altLang="en-US" sz="2400" dirty="0"/>
              <a:t>类。</a:t>
            </a:r>
            <a:r>
              <a:rPr lang="en-US" altLang="zh-CN" sz="2400" dirty="0"/>
              <a:t>C</a:t>
            </a:r>
            <a:r>
              <a:rPr lang="zh-CN" altLang="en-US" sz="2400" dirty="0"/>
              <a:t>仅出现在</a:t>
            </a:r>
            <a:r>
              <a:rPr lang="en-US" altLang="zh-CN" sz="2400" dirty="0"/>
              <a:t>AB→C</a:t>
            </a:r>
            <a:r>
              <a:rPr lang="zh-CN" altLang="en-US" sz="2400" dirty="0"/>
              <a:t>右边，属于</a:t>
            </a:r>
            <a:r>
              <a:rPr lang="en-US" altLang="zh-CN" sz="2400" dirty="0"/>
              <a:t>R</a:t>
            </a:r>
            <a:r>
              <a:rPr lang="zh-CN" altLang="en-US" sz="2400" dirty="0"/>
              <a:t>类。</a:t>
            </a:r>
            <a:r>
              <a:rPr lang="en-US" altLang="zh-CN" sz="2400" dirty="0"/>
              <a:t>D</a:t>
            </a:r>
            <a:r>
              <a:rPr lang="zh-CN" altLang="en-US" sz="2400" dirty="0"/>
              <a:t>仅出现在</a:t>
            </a:r>
            <a:r>
              <a:rPr lang="en-US" altLang="zh-CN" sz="2400" dirty="0"/>
              <a:t>B→D</a:t>
            </a:r>
            <a:r>
              <a:rPr lang="zh-CN" altLang="en-US" sz="2400" dirty="0"/>
              <a:t>右边，属于</a:t>
            </a:r>
            <a:r>
              <a:rPr lang="en-US" altLang="zh-CN" sz="2400" dirty="0"/>
              <a:t>R</a:t>
            </a:r>
            <a:r>
              <a:rPr lang="zh-CN" altLang="en-US" sz="2400" dirty="0"/>
              <a:t>类。（</a:t>
            </a:r>
            <a:r>
              <a:rPr lang="en-US" altLang="zh-CN" sz="2400" dirty="0"/>
              <a:t>2</a:t>
            </a:r>
            <a:r>
              <a:rPr lang="zh-CN" altLang="en-US" sz="2400" dirty="0"/>
              <a:t>）由定理可知，</a:t>
            </a: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B</a:t>
            </a:r>
            <a:r>
              <a:rPr lang="zh-CN" altLang="en-US" sz="2400" dirty="0"/>
              <a:t>必在候选码中，</a:t>
            </a:r>
            <a:r>
              <a:rPr lang="en-US" altLang="zh-CN" sz="2400" dirty="0"/>
              <a:t>C</a:t>
            </a:r>
            <a:r>
              <a:rPr lang="zh-CN" altLang="en-US" sz="2400" dirty="0"/>
              <a:t>，</a:t>
            </a:r>
            <a:r>
              <a:rPr lang="en-US" altLang="zh-CN" sz="2400" dirty="0"/>
              <a:t>D</a:t>
            </a:r>
            <a:r>
              <a:rPr lang="zh-CN" altLang="en-US" sz="2400" dirty="0"/>
              <a:t>必不在候选码中。因为不知道是否还有其他属性，假定目前候选码</a:t>
            </a:r>
            <a:r>
              <a:rPr lang="en-US" altLang="zh-CN" sz="2400" dirty="0"/>
              <a:t>K=AB</a:t>
            </a:r>
            <a:r>
              <a:rPr lang="zh-CN" altLang="en-US" sz="2400" dirty="0"/>
              <a:t>。（</a:t>
            </a:r>
            <a:r>
              <a:rPr lang="en-US" altLang="zh-CN" sz="2400" dirty="0"/>
              <a:t>3</a:t>
            </a:r>
            <a:r>
              <a:rPr lang="zh-CN" altLang="en-US" sz="2400" dirty="0"/>
              <a:t>）求</a:t>
            </a:r>
            <a:r>
              <a:rPr lang="en-US" altLang="zh-CN" sz="2400" dirty="0"/>
              <a:t>K=AB</a:t>
            </a:r>
            <a:r>
              <a:rPr lang="zh-CN" altLang="en-US" sz="2400" dirty="0"/>
              <a:t>的闭包，根据“闭包求法”得：</a:t>
            </a:r>
            <a:r>
              <a:rPr lang="en-US" altLang="zh-CN" sz="2400" dirty="0"/>
              <a:t>AB+=ABCD</a:t>
            </a:r>
            <a:r>
              <a:rPr lang="zh-CN" altLang="en-US" sz="2400" dirty="0"/>
              <a:t>，包含了属性集</a:t>
            </a:r>
            <a:r>
              <a:rPr lang="en-US" altLang="zh-CN" sz="2400" dirty="0"/>
              <a:t>U</a:t>
            </a:r>
            <a:r>
              <a:rPr lang="zh-CN" altLang="en-US" sz="2400" dirty="0"/>
              <a:t>。因此</a:t>
            </a:r>
            <a:r>
              <a:rPr lang="en-US" altLang="zh-CN" sz="2400" dirty="0"/>
              <a:t>K=AB</a:t>
            </a:r>
            <a:r>
              <a:rPr lang="zh-CN" altLang="en-US" sz="2400" dirty="0"/>
              <a:t>是</a:t>
            </a:r>
            <a:r>
              <a:rPr lang="en-US" altLang="zh-CN" sz="2400" dirty="0"/>
              <a:t>R</a:t>
            </a:r>
            <a:r>
              <a:rPr lang="zh-CN" altLang="en-US" sz="2400" dirty="0"/>
              <a:t>的候选码，且是唯一候选码。</a:t>
            </a:r>
            <a:endParaRPr lang="zh-CN" altLang="en-US" sz="2400" dirty="0"/>
          </a:p>
        </p:txBody>
      </p:sp>
      <p:sp>
        <p:nvSpPr>
          <p:cNvPr id="13619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最小函数依赖集（最小覆盖）</a:t>
            </a:r>
            <a:endParaRPr lang="zh-CN" altLang="en-US" dirty="0"/>
          </a:p>
        </p:txBody>
      </p:sp>
      <p:sp>
        <p:nvSpPr>
          <p:cNvPr id="13721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sz="2600" dirty="0"/>
              <a:t>1</a:t>
            </a:r>
            <a:r>
              <a:rPr lang="zh-CN" altLang="en-US" sz="2600" dirty="0"/>
              <a:t>、定义：如果函数依赖集</a:t>
            </a:r>
            <a:r>
              <a:rPr lang="en-US" altLang="zh-CN" sz="2600" dirty="0"/>
              <a:t>F</a:t>
            </a:r>
            <a:r>
              <a:rPr lang="zh-CN" altLang="en-US" sz="2600" dirty="0"/>
              <a:t>满足以下条件，则称</a:t>
            </a:r>
            <a:r>
              <a:rPr lang="en-US" altLang="zh-CN" sz="2600" dirty="0"/>
              <a:t>F</a:t>
            </a:r>
            <a:r>
              <a:rPr lang="zh-CN" altLang="en-US" sz="2600" dirty="0"/>
              <a:t>为一个极小函数依赖集。也称为最小依赖集或最小覆盖。</a:t>
            </a:r>
            <a:endParaRPr lang="en-US" altLang="zh-CN" sz="2600" dirty="0"/>
          </a:p>
          <a:p>
            <a:pPr lvl="1"/>
            <a:r>
              <a:rPr lang="en-US" altLang="zh-CN" sz="2600" dirty="0"/>
              <a:t>(1)F</a:t>
            </a:r>
            <a:r>
              <a:rPr lang="zh-CN" altLang="en-US" sz="2600" dirty="0"/>
              <a:t>中任一函数依赖的右部仅含有一个属性。</a:t>
            </a:r>
            <a:endParaRPr lang="en-US" altLang="zh-CN" sz="2600" dirty="0"/>
          </a:p>
          <a:p>
            <a:pPr lvl="1"/>
            <a:r>
              <a:rPr lang="en-US" altLang="zh-CN" sz="2600" dirty="0"/>
              <a:t>(2)F</a:t>
            </a:r>
            <a:r>
              <a:rPr lang="zh-CN" altLang="en-US" sz="2600" dirty="0"/>
              <a:t>中不存在这样的函数依赖</a:t>
            </a:r>
            <a:r>
              <a:rPr lang="en-US" altLang="zh-CN" sz="2600" dirty="0"/>
              <a:t>X→A</a:t>
            </a:r>
            <a:r>
              <a:rPr lang="zh-CN" altLang="en-US" sz="2600" dirty="0"/>
              <a:t>，使得</a:t>
            </a:r>
            <a:r>
              <a:rPr lang="en-US" altLang="zh-CN" sz="2600" dirty="0"/>
              <a:t>F</a:t>
            </a:r>
            <a:r>
              <a:rPr lang="zh-CN" altLang="en-US" sz="2600" dirty="0"/>
              <a:t>与</a:t>
            </a:r>
            <a:r>
              <a:rPr lang="en-US" altLang="zh-CN" sz="2600" dirty="0"/>
              <a:t>F-{X→A}</a:t>
            </a:r>
            <a:r>
              <a:rPr lang="zh-CN" altLang="en-US" sz="2600" dirty="0"/>
              <a:t>等价。</a:t>
            </a:r>
            <a:endParaRPr lang="en-US" altLang="zh-CN" sz="2600" dirty="0"/>
          </a:p>
          <a:p>
            <a:pPr lvl="1"/>
            <a:r>
              <a:rPr lang="en-US" altLang="zh-CN" sz="2600" dirty="0"/>
              <a:t>(3)F</a:t>
            </a:r>
            <a:r>
              <a:rPr lang="zh-CN" altLang="en-US" sz="2600" dirty="0"/>
              <a:t>中不存在这样的函数依赖</a:t>
            </a:r>
            <a:r>
              <a:rPr lang="en-US" altLang="zh-CN" sz="2600" dirty="0"/>
              <a:t>X→A</a:t>
            </a:r>
            <a:r>
              <a:rPr lang="zh-CN" altLang="en-US" sz="2600" dirty="0"/>
              <a:t>，</a:t>
            </a:r>
            <a:r>
              <a:rPr lang="en-US" altLang="zh-CN" sz="2600" dirty="0"/>
              <a:t>X</a:t>
            </a:r>
            <a:r>
              <a:rPr lang="zh-CN" altLang="en-US" sz="2600" dirty="0"/>
              <a:t>有真子集</a:t>
            </a:r>
            <a:r>
              <a:rPr lang="en-US" altLang="zh-CN" sz="2600" dirty="0"/>
              <a:t>Z</a:t>
            </a:r>
            <a:r>
              <a:rPr lang="zh-CN" altLang="en-US" sz="2600" dirty="0"/>
              <a:t>使得</a:t>
            </a:r>
            <a:r>
              <a:rPr lang="en-US" altLang="zh-CN" sz="2600" dirty="0"/>
              <a:t>F-{X→A}U{Z→A}</a:t>
            </a:r>
            <a:r>
              <a:rPr lang="zh-CN" altLang="en-US" sz="2600" dirty="0"/>
              <a:t>与</a:t>
            </a:r>
            <a:r>
              <a:rPr lang="en-US" altLang="zh-CN" sz="2600" dirty="0"/>
              <a:t>F</a:t>
            </a:r>
            <a:r>
              <a:rPr lang="zh-CN" altLang="en-US" sz="2600" dirty="0"/>
              <a:t>等价。</a:t>
            </a:r>
            <a:endParaRPr lang="zh-CN" altLang="en-US" sz="2600" dirty="0"/>
          </a:p>
        </p:txBody>
      </p:sp>
      <p:sp>
        <p:nvSpPr>
          <p:cNvPr id="137220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10" name="内容占位符 9"/>
          <p:cNvGraphicFramePr>
            <a:graphicFrameLocks noChangeAspect="1"/>
          </p:cNvGraphicFramePr>
          <p:nvPr>
            <p:ph idx="1"/>
          </p:nvPr>
        </p:nvGraphicFramePr>
        <p:xfrm>
          <a:off x="-11430" y="405765"/>
          <a:ext cx="9109710" cy="6418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" imgW="7267575" imgH="5476875" progId="Paint.Picture">
                  <p:embed/>
                </p:oleObj>
              </mc:Choice>
              <mc:Fallback>
                <p:oleObj name="" r:id="rId1" imgW="7267575" imgH="5476875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11430" y="405765"/>
                        <a:ext cx="9109710" cy="6418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b="1" dirty="0"/>
              <a:t>最小依赖集通用算法：</a:t>
            </a:r>
            <a:endParaRPr lang="zh-CN" altLang="en-US" dirty="0"/>
          </a:p>
        </p:txBody>
      </p:sp>
      <p:sp>
        <p:nvSpPr>
          <p:cNvPr id="138243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sz="2400" dirty="0"/>
              <a:t>① 用分解的法则，使</a:t>
            </a:r>
            <a:r>
              <a:rPr lang="en-US" altLang="zh-CN" sz="2400" dirty="0"/>
              <a:t>F</a:t>
            </a:r>
            <a:r>
              <a:rPr lang="zh-CN" altLang="en-US" sz="2400" dirty="0"/>
              <a:t>中的任何一个函数依赖的右部仅含有一个属性；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② 去掉多余的函数依赖：从第一个函数依赖</a:t>
            </a:r>
            <a:r>
              <a:rPr lang="en-US" altLang="zh-CN" sz="2400" dirty="0"/>
              <a:t>X→Y</a:t>
            </a:r>
            <a:r>
              <a:rPr lang="zh-CN" altLang="en-US" sz="2400" dirty="0"/>
              <a:t>开始将其从</a:t>
            </a:r>
            <a:r>
              <a:rPr lang="en-US" altLang="zh-CN" sz="2400" dirty="0"/>
              <a:t>F</a:t>
            </a:r>
            <a:r>
              <a:rPr lang="zh-CN" altLang="en-US" sz="2400" dirty="0"/>
              <a:t>中去掉，然后在剩下的函数依赖中求</a:t>
            </a:r>
            <a:r>
              <a:rPr lang="en-US" altLang="zh-CN" sz="2400" dirty="0"/>
              <a:t>X</a:t>
            </a:r>
            <a:r>
              <a:rPr lang="zh-CN" altLang="en-US" sz="2400" dirty="0"/>
              <a:t>的闭包</a:t>
            </a:r>
            <a:r>
              <a:rPr lang="en-US" altLang="zh-CN" sz="2400" dirty="0"/>
              <a:t>X+</a:t>
            </a:r>
            <a:r>
              <a:rPr lang="zh-CN" altLang="en-US" sz="2400" dirty="0"/>
              <a:t>，看</a:t>
            </a:r>
            <a:r>
              <a:rPr lang="en-US" altLang="zh-CN" sz="2400" dirty="0"/>
              <a:t>X+</a:t>
            </a:r>
            <a:r>
              <a:rPr lang="zh-CN" altLang="en-US" sz="2400" dirty="0"/>
              <a:t>是否包含</a:t>
            </a:r>
            <a:r>
              <a:rPr lang="en-US" altLang="zh-CN" sz="2400" dirty="0"/>
              <a:t>Y</a:t>
            </a:r>
            <a:r>
              <a:rPr lang="zh-CN" altLang="en-US" sz="2400" dirty="0"/>
              <a:t>，若是，则去掉</a:t>
            </a:r>
            <a:r>
              <a:rPr lang="en-US" altLang="zh-CN" sz="2400" dirty="0"/>
              <a:t>X→Y</a:t>
            </a:r>
            <a:r>
              <a:rPr lang="zh-CN" altLang="en-US" sz="2400" dirty="0"/>
              <a:t>；否则不能去掉，依次做下去。直到找不到冗余的函数依赖；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③ 去掉各依赖左部多余的属性。一个一个地检查函数依赖左部非单个属性的依赖。例如</a:t>
            </a:r>
            <a:r>
              <a:rPr lang="en-US" altLang="zh-CN" sz="2400" dirty="0"/>
              <a:t>XY→A</a:t>
            </a:r>
            <a:r>
              <a:rPr lang="zh-CN" altLang="en-US" sz="2400" dirty="0"/>
              <a:t>，若要判</a:t>
            </a:r>
            <a:r>
              <a:rPr lang="en-US" altLang="zh-CN" sz="2400" dirty="0"/>
              <a:t>Y</a:t>
            </a:r>
            <a:r>
              <a:rPr lang="zh-CN" altLang="en-US" sz="2400" dirty="0"/>
              <a:t>为多余的，则以</a:t>
            </a:r>
            <a:r>
              <a:rPr lang="en-US" altLang="zh-CN" sz="2400" dirty="0"/>
              <a:t>X→A</a:t>
            </a:r>
            <a:r>
              <a:rPr lang="zh-CN" altLang="en-US" sz="2400" dirty="0"/>
              <a:t>代替</a:t>
            </a:r>
            <a:r>
              <a:rPr lang="en-US" altLang="zh-CN" sz="2400" dirty="0"/>
              <a:t>XY→A</a:t>
            </a:r>
            <a:r>
              <a:rPr lang="zh-CN" altLang="en-US" sz="2400" dirty="0"/>
              <a:t>是否等价？若</a:t>
            </a:r>
            <a:r>
              <a:rPr lang="en-US" altLang="zh-CN" sz="2400" dirty="0"/>
              <a:t>A</a:t>
            </a:r>
            <a:r>
              <a:rPr lang="zh-CN" altLang="en-US" sz="2400" dirty="0"/>
              <a:t>属于</a:t>
            </a:r>
            <a:r>
              <a:rPr lang="en-US" altLang="zh-CN" sz="2400" dirty="0"/>
              <a:t>(X)+</a:t>
            </a:r>
            <a:r>
              <a:rPr lang="zh-CN" altLang="en-US" sz="2400" dirty="0"/>
              <a:t>，则</a:t>
            </a:r>
            <a:r>
              <a:rPr lang="en-US" altLang="zh-CN" sz="2400" dirty="0"/>
              <a:t>Y</a:t>
            </a:r>
            <a:r>
              <a:rPr lang="zh-CN" altLang="en-US" sz="2400" dirty="0"/>
              <a:t>是多余属性，可以去掉。（以上步骤中，求出关系依赖集</a:t>
            </a:r>
            <a:r>
              <a:rPr lang="en-US" altLang="zh-CN" sz="2400" dirty="0"/>
              <a:t>F,</a:t>
            </a:r>
            <a:r>
              <a:rPr lang="zh-CN" altLang="en-US" sz="2400" dirty="0"/>
              <a:t>此时，在</a:t>
            </a:r>
            <a:r>
              <a:rPr lang="en-US" altLang="zh-CN" sz="2400" dirty="0"/>
              <a:t>F</a:t>
            </a:r>
            <a:r>
              <a:rPr lang="zh-CN" altLang="en-US" sz="2400" dirty="0"/>
              <a:t>的基础上，求出</a:t>
            </a:r>
            <a:r>
              <a:rPr lang="en-US" altLang="zh-CN" sz="2400" dirty="0"/>
              <a:t>X</a:t>
            </a:r>
            <a:r>
              <a:rPr lang="zh-CN" altLang="en-US" sz="2400" dirty="0"/>
              <a:t>或者</a:t>
            </a:r>
            <a:r>
              <a:rPr lang="en-US" altLang="zh-CN" sz="2400" dirty="0"/>
              <a:t>Y</a:t>
            </a:r>
            <a:r>
              <a:rPr lang="zh-CN" altLang="en-US" sz="2400" dirty="0"/>
              <a:t>的闭包，是否包含</a:t>
            </a:r>
            <a:r>
              <a:rPr lang="en-US" altLang="zh-CN" sz="2400" dirty="0"/>
              <a:t>A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sp>
        <p:nvSpPr>
          <p:cNvPr id="13824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b="1" dirty="0"/>
              <a:t>最小依赖集案例</a:t>
            </a:r>
            <a:endParaRPr lang="zh-CN" altLang="en-US" dirty="0"/>
          </a:p>
        </p:txBody>
      </p:sp>
      <p:sp>
        <p:nvSpPr>
          <p:cNvPr id="13926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例：关系模式</a:t>
            </a:r>
            <a:r>
              <a:rPr lang="en-US" altLang="zh-CN" dirty="0"/>
              <a:t>R(U</a:t>
            </a:r>
            <a:r>
              <a:rPr lang="zh-CN" altLang="en-US" dirty="0"/>
              <a:t>，</a:t>
            </a:r>
            <a:r>
              <a:rPr lang="en-US" altLang="zh-CN" dirty="0"/>
              <a:t>F)</a:t>
            </a:r>
            <a:r>
              <a:rPr lang="zh-CN" altLang="en-US" dirty="0"/>
              <a:t>中，</a:t>
            </a:r>
            <a:r>
              <a:rPr lang="en-US" altLang="zh-CN" dirty="0"/>
              <a:t>U=ABCDEG</a:t>
            </a:r>
            <a:r>
              <a:rPr lang="zh-CN" altLang="en-US" dirty="0"/>
              <a:t>，</a:t>
            </a:r>
            <a:r>
              <a:rPr lang="en-US" altLang="zh-CN" dirty="0"/>
              <a:t>F={B-&gt;D</a:t>
            </a:r>
            <a:r>
              <a:rPr lang="zh-CN" altLang="en-US" dirty="0"/>
              <a:t>，</a:t>
            </a:r>
            <a:r>
              <a:rPr lang="en-US" altLang="zh-CN" dirty="0"/>
              <a:t>DG-&gt;C,BD-&gt;E,AG-&gt;B,ADG-&gt;BC}</a:t>
            </a:r>
            <a:r>
              <a:rPr lang="zh-CN" altLang="en-US" dirty="0"/>
              <a:t>；求</a:t>
            </a:r>
            <a:r>
              <a:rPr lang="en-US" altLang="zh-CN" dirty="0"/>
              <a:t>F</a:t>
            </a:r>
            <a:r>
              <a:rPr lang="zh-CN" altLang="en-US" dirty="0"/>
              <a:t>的最小函数依赖集</a:t>
            </a:r>
            <a:endParaRPr lang="zh-CN" altLang="en-US" dirty="0"/>
          </a:p>
        </p:txBody>
      </p:sp>
      <p:sp>
        <p:nvSpPr>
          <p:cNvPr id="139268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内容占位符 2"/>
          <p:cNvSpPr>
            <a:spLocks noGrp="1"/>
          </p:cNvSpPr>
          <p:nvPr>
            <p:ph idx="1"/>
          </p:nvPr>
        </p:nvSpPr>
        <p:spPr>
          <a:xfrm>
            <a:off x="457200" y="620713"/>
            <a:ext cx="8229600" cy="583247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）用分解的法则，使</a:t>
            </a:r>
            <a:r>
              <a:rPr lang="en-US" altLang="zh-CN" sz="2400" dirty="0"/>
              <a:t>F</a:t>
            </a:r>
            <a:r>
              <a:rPr lang="zh-CN" altLang="en-US" sz="2400" dirty="0"/>
              <a:t>中的任何一个函数依赖的右部仅含有一个属性；得到：</a:t>
            </a:r>
            <a:r>
              <a:rPr lang="en-US" altLang="zh-CN" sz="2400" dirty="0"/>
              <a:t>F={B-&gt;D</a:t>
            </a:r>
            <a:r>
              <a:rPr lang="zh-CN" altLang="en-US" sz="2400" dirty="0"/>
              <a:t>，</a:t>
            </a:r>
            <a:r>
              <a:rPr lang="en-US" altLang="zh-CN" sz="2400" dirty="0"/>
              <a:t>DG-&gt;C,BD-&gt;E,AG-&gt;B,ADG-&gt;B</a:t>
            </a:r>
            <a:r>
              <a:rPr lang="zh-CN" altLang="en-US" sz="2400" dirty="0"/>
              <a:t>，</a:t>
            </a:r>
            <a:r>
              <a:rPr lang="en-US" altLang="zh-CN" sz="2400" dirty="0"/>
              <a:t>ADG-&gt;C}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）去掉多余的函数依赖：从第一个函数依赖</a:t>
            </a:r>
            <a:r>
              <a:rPr lang="en-US" altLang="zh-CN" sz="2400" dirty="0"/>
              <a:t>X→Y</a:t>
            </a:r>
            <a:r>
              <a:rPr lang="zh-CN" altLang="en-US" sz="2400" dirty="0"/>
              <a:t>开始将其从</a:t>
            </a:r>
            <a:r>
              <a:rPr lang="en-US" altLang="zh-CN" sz="2400" dirty="0"/>
              <a:t>F</a:t>
            </a:r>
            <a:r>
              <a:rPr lang="zh-CN" altLang="en-US" sz="2400" dirty="0"/>
              <a:t>中去掉，然后在剩下的函数依赖中求</a:t>
            </a:r>
            <a:r>
              <a:rPr lang="en-US" altLang="zh-CN" sz="2400" dirty="0"/>
              <a:t>X</a:t>
            </a:r>
            <a:r>
              <a:rPr lang="zh-CN" altLang="en-US" sz="2400" dirty="0"/>
              <a:t>的闭包</a:t>
            </a:r>
            <a:r>
              <a:rPr lang="en-US" altLang="zh-CN" sz="2400" dirty="0"/>
              <a:t>X+</a:t>
            </a:r>
            <a:r>
              <a:rPr lang="zh-CN" altLang="en-US" sz="2400" dirty="0"/>
              <a:t>，依次做下去。直到找不到冗余的函数依赖；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① 去掉</a:t>
            </a:r>
            <a:r>
              <a:rPr lang="en-US" altLang="zh-CN" sz="2400" dirty="0"/>
              <a:t>B-&gt;D</a:t>
            </a:r>
            <a:r>
              <a:rPr lang="zh-CN" altLang="en-US" sz="2400" dirty="0"/>
              <a:t>，此时</a:t>
            </a:r>
            <a:r>
              <a:rPr lang="en-US" altLang="zh-CN" sz="2400" dirty="0"/>
              <a:t>F={DG-&gt;C,BD-&gt;E,AG-&gt;B,ADG-&gt;B</a:t>
            </a:r>
            <a:r>
              <a:rPr lang="zh-CN" altLang="en-US" sz="2400" dirty="0"/>
              <a:t>，</a:t>
            </a:r>
            <a:r>
              <a:rPr lang="en-US" altLang="zh-CN" sz="2400" dirty="0"/>
              <a:t>ADG-&gt;C}</a:t>
            </a:r>
            <a:r>
              <a:rPr lang="zh-CN" altLang="en-US" sz="2400" dirty="0"/>
              <a:t>，此条件下得出</a:t>
            </a:r>
            <a:r>
              <a:rPr lang="en-US" altLang="zh-CN" sz="2400" dirty="0"/>
              <a:t>B</a:t>
            </a:r>
            <a:r>
              <a:rPr lang="zh-CN" altLang="en-US" sz="2400" dirty="0"/>
              <a:t>的闭包 </a:t>
            </a:r>
            <a:r>
              <a:rPr lang="en-US" altLang="zh-CN" sz="2400" dirty="0"/>
              <a:t>B+ =  B</a:t>
            </a:r>
            <a:r>
              <a:rPr lang="zh-CN" altLang="en-US" sz="2400" dirty="0"/>
              <a:t>；</a:t>
            </a:r>
            <a:r>
              <a:rPr lang="en-US" altLang="zh-CN" sz="2400" dirty="0"/>
              <a:t>B+</a:t>
            </a:r>
            <a:r>
              <a:rPr lang="zh-CN" altLang="en-US" sz="2400" dirty="0"/>
              <a:t>不包含</a:t>
            </a:r>
            <a:r>
              <a:rPr lang="en-US" altLang="zh-CN" sz="2400" dirty="0"/>
              <a:t>D</a:t>
            </a:r>
            <a:r>
              <a:rPr lang="zh-CN" altLang="en-US" sz="2400" dirty="0"/>
              <a:t>，所以</a:t>
            </a:r>
            <a:r>
              <a:rPr lang="en-US" altLang="zh-CN" sz="2400" dirty="0"/>
              <a:t>B-&gt;D</a:t>
            </a:r>
            <a:r>
              <a:rPr lang="zh-CN" altLang="en-US" sz="2400" dirty="0"/>
              <a:t>保留。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②去掉</a:t>
            </a:r>
            <a:r>
              <a:rPr lang="en-US" altLang="zh-CN" sz="2400" dirty="0"/>
              <a:t>DG-&gt;C</a:t>
            </a:r>
            <a:r>
              <a:rPr lang="zh-CN" altLang="en-US" sz="2400" dirty="0"/>
              <a:t>，此时</a:t>
            </a:r>
            <a:r>
              <a:rPr lang="en-US" altLang="zh-CN" sz="2400" dirty="0"/>
              <a:t>F={B-&gt;D,BD-&gt;E,AG-&gt;B,ADG-&gt;B</a:t>
            </a:r>
            <a:r>
              <a:rPr lang="zh-CN" altLang="en-US" sz="2400" dirty="0"/>
              <a:t>，</a:t>
            </a:r>
            <a:r>
              <a:rPr lang="en-US" altLang="zh-CN" sz="2400" dirty="0"/>
              <a:t>ADG-&gt;C}</a:t>
            </a:r>
            <a:r>
              <a:rPr lang="zh-CN" altLang="en-US" sz="2400" dirty="0"/>
              <a:t>，此时</a:t>
            </a:r>
            <a:r>
              <a:rPr lang="en-US" altLang="zh-CN" sz="2400" dirty="0"/>
              <a:t>DG</a:t>
            </a:r>
            <a:r>
              <a:rPr lang="zh-CN" altLang="en-US" sz="2400" dirty="0"/>
              <a:t>闭包</a:t>
            </a:r>
            <a:r>
              <a:rPr lang="en-US" altLang="zh-CN" sz="2400" dirty="0"/>
              <a:t>DG+ = DG</a:t>
            </a:r>
            <a:r>
              <a:rPr lang="zh-CN" altLang="en-US" sz="2400" dirty="0"/>
              <a:t>，不包含</a:t>
            </a:r>
            <a:r>
              <a:rPr lang="en-US" altLang="zh-CN" sz="2400" dirty="0"/>
              <a:t>C,</a:t>
            </a:r>
            <a:r>
              <a:rPr lang="zh-CN" altLang="en-US" sz="2400" dirty="0"/>
              <a:t>所以不能去掉</a:t>
            </a:r>
            <a:r>
              <a:rPr lang="en-US" altLang="zh-CN" sz="2400" dirty="0"/>
              <a:t>DG-&gt;C.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③ 去掉</a:t>
            </a:r>
            <a:r>
              <a:rPr lang="en-US" altLang="zh-CN" sz="2400" dirty="0"/>
              <a:t>BD-&gt;E</a:t>
            </a:r>
            <a:r>
              <a:rPr lang="zh-CN" altLang="en-US" sz="2400" dirty="0"/>
              <a:t>，此时</a:t>
            </a:r>
            <a:r>
              <a:rPr lang="en-US" altLang="zh-CN" sz="2400" dirty="0"/>
              <a:t>F={B-&gt;D</a:t>
            </a:r>
            <a:r>
              <a:rPr lang="zh-CN" altLang="en-US" sz="2400" dirty="0"/>
              <a:t>，</a:t>
            </a:r>
            <a:r>
              <a:rPr lang="en-US" altLang="zh-CN" sz="2400" dirty="0"/>
              <a:t>DG-&gt;C,AG-&gt;B,ADG-&gt;B</a:t>
            </a:r>
            <a:r>
              <a:rPr lang="zh-CN" altLang="en-US" sz="2400" dirty="0"/>
              <a:t>，</a:t>
            </a:r>
            <a:r>
              <a:rPr lang="en-US" altLang="zh-CN" sz="2400" dirty="0"/>
              <a:t>ADG-&gt;C}</a:t>
            </a:r>
            <a:r>
              <a:rPr lang="zh-CN" altLang="en-US" sz="2400" dirty="0"/>
              <a:t>，此时闭包</a:t>
            </a:r>
            <a:r>
              <a:rPr lang="en-US" altLang="zh-CN" sz="2400" dirty="0"/>
              <a:t>BD+ = BD,</a:t>
            </a:r>
            <a:r>
              <a:rPr lang="zh-CN" altLang="en-US" sz="2400" dirty="0"/>
              <a:t>不包含</a:t>
            </a:r>
            <a:r>
              <a:rPr lang="en-US" altLang="zh-CN" sz="2400" dirty="0"/>
              <a:t>E</a:t>
            </a:r>
            <a:r>
              <a:rPr lang="zh-CN" altLang="en-US" sz="2400" dirty="0"/>
              <a:t>，所以不能去掉</a:t>
            </a:r>
            <a:r>
              <a:rPr lang="en-US" altLang="zh-CN" sz="2400" dirty="0"/>
              <a:t>BD-&gt;E</a:t>
            </a:r>
            <a:r>
              <a:rPr lang="zh-CN" altLang="en-US" sz="2400" dirty="0"/>
              <a:t>，继续保留。</a:t>
            </a:r>
            <a:endParaRPr lang="en-US" altLang="zh-CN" sz="2400" dirty="0"/>
          </a:p>
        </p:txBody>
      </p:sp>
      <p:sp>
        <p:nvSpPr>
          <p:cNvPr id="140291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内容占位符 2"/>
          <p:cNvSpPr>
            <a:spLocks noGrp="1"/>
          </p:cNvSpPr>
          <p:nvPr>
            <p:ph idx="1"/>
          </p:nvPr>
        </p:nvSpPr>
        <p:spPr>
          <a:xfrm>
            <a:off x="457200" y="549275"/>
            <a:ext cx="8229600" cy="4967288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sz="2400" dirty="0"/>
              <a:t>④去掉</a:t>
            </a:r>
            <a:r>
              <a:rPr lang="en-US" altLang="zh-CN" sz="2400" dirty="0"/>
              <a:t>AG-&gt;B</a:t>
            </a:r>
            <a:r>
              <a:rPr lang="zh-CN" altLang="en-US" sz="2400" dirty="0"/>
              <a:t>，此时</a:t>
            </a:r>
            <a:r>
              <a:rPr lang="en-US" altLang="zh-CN" sz="2400" dirty="0"/>
              <a:t>F={B-&gt;D</a:t>
            </a:r>
            <a:r>
              <a:rPr lang="zh-CN" altLang="en-US" sz="2400" dirty="0"/>
              <a:t>，</a:t>
            </a:r>
            <a:r>
              <a:rPr lang="en-US" altLang="zh-CN" sz="2400" dirty="0"/>
              <a:t>DG-&gt;C,BD-&gt;E,ADG-&gt;B</a:t>
            </a:r>
            <a:r>
              <a:rPr lang="zh-CN" altLang="en-US" sz="2400" dirty="0"/>
              <a:t>，</a:t>
            </a:r>
            <a:r>
              <a:rPr lang="en-US" altLang="zh-CN" sz="2400" dirty="0"/>
              <a:t>ADG-&gt;C}</a:t>
            </a:r>
            <a:r>
              <a:rPr lang="zh-CN" altLang="en-US" sz="2400" dirty="0"/>
              <a:t>；此时</a:t>
            </a:r>
            <a:r>
              <a:rPr lang="en-US" altLang="zh-CN" sz="2400" dirty="0"/>
              <a:t>AG+ = AG</a:t>
            </a:r>
            <a:r>
              <a:rPr lang="zh-CN" altLang="en-US" sz="2400" dirty="0"/>
              <a:t>，不包含</a:t>
            </a:r>
            <a:r>
              <a:rPr lang="en-US" altLang="zh-CN" sz="2400" dirty="0"/>
              <a:t>B</a:t>
            </a:r>
            <a:r>
              <a:rPr lang="zh-CN" altLang="en-US" sz="2400" dirty="0"/>
              <a:t>，所以不能去掉</a:t>
            </a:r>
            <a:r>
              <a:rPr lang="en-US" altLang="zh-CN" sz="2400" dirty="0"/>
              <a:t>AG-&gt;B</a:t>
            </a:r>
            <a:r>
              <a:rPr lang="zh-CN" altLang="en-US" sz="2400" dirty="0"/>
              <a:t>，继续保留。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⑤去掉</a:t>
            </a:r>
            <a:r>
              <a:rPr lang="en-US" altLang="zh-CN" sz="2400" dirty="0"/>
              <a:t>ADG-&gt;B</a:t>
            </a:r>
            <a:r>
              <a:rPr lang="zh-CN" altLang="en-US" sz="2400" dirty="0"/>
              <a:t>，此时</a:t>
            </a:r>
            <a:r>
              <a:rPr lang="en-US" altLang="zh-CN" sz="2400" dirty="0"/>
              <a:t>F={B-&gt;D</a:t>
            </a:r>
            <a:r>
              <a:rPr lang="zh-CN" altLang="en-US" sz="2400" dirty="0"/>
              <a:t>，</a:t>
            </a:r>
            <a:r>
              <a:rPr lang="en-US" altLang="zh-CN" sz="2400" dirty="0"/>
              <a:t>DG-&gt;C,BD-&gt;E,AG-&gt;B,ADG-&gt;C}</a:t>
            </a:r>
            <a:r>
              <a:rPr lang="zh-CN" altLang="en-US" sz="2400" dirty="0"/>
              <a:t>，此时</a:t>
            </a:r>
            <a:r>
              <a:rPr lang="en-US" altLang="zh-CN" sz="2400" dirty="0"/>
              <a:t>ADG+ = ADGCBE,</a:t>
            </a:r>
            <a:r>
              <a:rPr lang="zh-CN" altLang="en-US" sz="2400" dirty="0"/>
              <a:t>包含了</a:t>
            </a:r>
            <a:r>
              <a:rPr lang="en-US" altLang="zh-CN" sz="2400" dirty="0"/>
              <a:t>B</a:t>
            </a:r>
            <a:r>
              <a:rPr lang="zh-CN" altLang="en-US" sz="2400" dirty="0"/>
              <a:t>，所以删除</a:t>
            </a:r>
            <a:r>
              <a:rPr lang="en-US" altLang="zh-CN" sz="2400" dirty="0"/>
              <a:t>ADG-&gt;B</a:t>
            </a:r>
            <a:r>
              <a:rPr lang="zh-CN" altLang="en-US" sz="2400" dirty="0"/>
              <a:t>，不保留。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⑥去掉</a:t>
            </a:r>
            <a:r>
              <a:rPr lang="en-US" altLang="zh-CN" sz="2400" dirty="0"/>
              <a:t>ADG-&gt;C</a:t>
            </a:r>
            <a:r>
              <a:rPr lang="zh-CN" altLang="en-US" sz="2400" dirty="0"/>
              <a:t>，此时</a:t>
            </a:r>
            <a:r>
              <a:rPr lang="en-US" altLang="zh-CN" sz="2400" dirty="0"/>
              <a:t>F={B-&gt;D</a:t>
            </a:r>
            <a:r>
              <a:rPr lang="zh-CN" altLang="en-US" sz="2400" dirty="0"/>
              <a:t>，</a:t>
            </a:r>
            <a:r>
              <a:rPr lang="en-US" altLang="zh-CN" sz="2400" dirty="0"/>
              <a:t>DG-&gt;C,BD-&gt;E,AG-&gt;B}</a:t>
            </a:r>
            <a:r>
              <a:rPr lang="zh-CN" altLang="en-US" sz="2400" dirty="0"/>
              <a:t>，此时</a:t>
            </a:r>
            <a:r>
              <a:rPr lang="en-US" altLang="zh-CN" sz="2400" dirty="0"/>
              <a:t>ADG+ = ADGCBD,</a:t>
            </a:r>
            <a:r>
              <a:rPr lang="zh-CN" altLang="en-US" sz="2400" dirty="0"/>
              <a:t>包含了</a:t>
            </a:r>
            <a:r>
              <a:rPr lang="en-US" altLang="zh-CN" sz="2400" dirty="0"/>
              <a:t>C</a:t>
            </a:r>
            <a:r>
              <a:rPr lang="zh-CN" altLang="en-US" sz="2400" dirty="0"/>
              <a:t>，所以删除</a:t>
            </a:r>
            <a:r>
              <a:rPr lang="en-US" altLang="zh-CN" sz="2400" dirty="0"/>
              <a:t>ADG-&gt;C</a:t>
            </a:r>
            <a:r>
              <a:rPr lang="zh-CN" altLang="en-US" sz="2400" dirty="0"/>
              <a:t>，不保留。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综上所得，此时得到</a:t>
            </a:r>
            <a:r>
              <a:rPr lang="en-US" altLang="zh-CN" sz="2400" dirty="0"/>
              <a:t>F={B-&gt;D</a:t>
            </a:r>
            <a:r>
              <a:rPr lang="zh-CN" altLang="en-US" sz="2400" dirty="0"/>
              <a:t>，</a:t>
            </a:r>
            <a:r>
              <a:rPr lang="en-US" altLang="zh-CN" sz="2400" dirty="0"/>
              <a:t>DG-&gt;C,BD-&gt;E,AG-&gt;B}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正确结果吗？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41315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内容占位符 2"/>
          <p:cNvSpPr>
            <a:spLocks noGrp="1"/>
          </p:cNvSpPr>
          <p:nvPr>
            <p:ph idx="1"/>
          </p:nvPr>
        </p:nvSpPr>
        <p:spPr>
          <a:xfrm>
            <a:off x="457200" y="476250"/>
            <a:ext cx="8229600" cy="577215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）去掉各依赖左部多余的属性。一个一个地检查函数依赖左部非单个属性的依赖。此时函数依赖左边非单个属性有：</a:t>
            </a:r>
            <a:r>
              <a:rPr lang="en-US" altLang="zh-CN" sz="2400" dirty="0"/>
              <a:t>DG-&gt;C,BD-&gt;E,AG-&gt;B</a:t>
            </a:r>
            <a:r>
              <a:rPr lang="zh-CN" altLang="en-US" sz="2400" dirty="0"/>
              <a:t>；所以做如下操作：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①先来看</a:t>
            </a:r>
            <a:r>
              <a:rPr lang="en-US" altLang="zh-CN" sz="2400" dirty="0"/>
              <a:t>DG-&gt;C</a:t>
            </a:r>
            <a:r>
              <a:rPr lang="zh-CN" altLang="en-US" sz="2400" dirty="0"/>
              <a:t>，首先去掉</a:t>
            </a:r>
            <a:r>
              <a:rPr lang="en-US" altLang="zh-CN" sz="2400" dirty="0"/>
              <a:t>D</a:t>
            </a:r>
            <a:r>
              <a:rPr lang="zh-CN" altLang="en-US" sz="2400" dirty="0"/>
              <a:t>，则此时</a:t>
            </a:r>
            <a:r>
              <a:rPr lang="en-US" altLang="zh-CN" sz="2400" dirty="0"/>
              <a:t>G</a:t>
            </a:r>
            <a:r>
              <a:rPr lang="zh-CN" altLang="en-US" sz="2400" dirty="0"/>
              <a:t>的闭包</a:t>
            </a:r>
            <a:r>
              <a:rPr lang="en-US" altLang="zh-CN" sz="2400" dirty="0"/>
              <a:t>G+ = G</a:t>
            </a:r>
            <a:r>
              <a:rPr lang="zh-CN" altLang="en-US" sz="2400" dirty="0"/>
              <a:t>，不包含</a:t>
            </a:r>
            <a:r>
              <a:rPr lang="en-US" altLang="zh-CN" sz="2400" dirty="0"/>
              <a:t>C</a:t>
            </a:r>
            <a:r>
              <a:rPr lang="zh-CN" altLang="en-US" sz="2400" dirty="0"/>
              <a:t>，保留</a:t>
            </a:r>
            <a:r>
              <a:rPr lang="en-US" altLang="zh-CN" sz="2400" dirty="0"/>
              <a:t>D</a:t>
            </a:r>
            <a:r>
              <a:rPr lang="zh-CN" altLang="en-US" sz="2400" dirty="0"/>
              <a:t>。再次去掉</a:t>
            </a:r>
            <a:r>
              <a:rPr lang="en-US" altLang="zh-CN" sz="2400" dirty="0"/>
              <a:t>G</a:t>
            </a:r>
            <a:r>
              <a:rPr lang="zh-CN" altLang="en-US" sz="2400" dirty="0"/>
              <a:t>，此时</a:t>
            </a:r>
            <a:r>
              <a:rPr lang="en-US" altLang="zh-CN" sz="2400" dirty="0"/>
              <a:t>D+ = D</a:t>
            </a:r>
            <a:r>
              <a:rPr lang="zh-CN" altLang="en-US" sz="2400" dirty="0"/>
              <a:t>，不包含</a:t>
            </a:r>
            <a:r>
              <a:rPr lang="en-US" altLang="zh-CN" sz="2400" dirty="0"/>
              <a:t>C</a:t>
            </a:r>
            <a:r>
              <a:rPr lang="zh-CN" altLang="en-US" sz="2400" dirty="0"/>
              <a:t>，所以</a:t>
            </a:r>
            <a:r>
              <a:rPr lang="en-US" altLang="zh-CN" sz="2400" dirty="0"/>
              <a:t>G</a:t>
            </a:r>
            <a:r>
              <a:rPr lang="zh-CN" altLang="en-US" sz="2400" dirty="0"/>
              <a:t>也不能去掉；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②再来看</a:t>
            </a:r>
            <a:r>
              <a:rPr lang="en-US" altLang="zh-CN" sz="2400" dirty="0"/>
              <a:t>BD-&gt;E</a:t>
            </a:r>
            <a:r>
              <a:rPr lang="zh-CN" altLang="en-US" sz="2400" dirty="0"/>
              <a:t>，首先去掉</a:t>
            </a:r>
            <a:r>
              <a:rPr lang="en-US" altLang="zh-CN" sz="2400" dirty="0"/>
              <a:t>B</a:t>
            </a:r>
            <a:r>
              <a:rPr lang="zh-CN" altLang="en-US" sz="2400" dirty="0"/>
              <a:t>，得到此时</a:t>
            </a:r>
            <a:r>
              <a:rPr lang="en-US" altLang="zh-CN" sz="2400" dirty="0"/>
              <a:t>D</a:t>
            </a:r>
            <a:r>
              <a:rPr lang="zh-CN" altLang="en-US" sz="2400" dirty="0"/>
              <a:t>的闭包</a:t>
            </a:r>
            <a:r>
              <a:rPr lang="en-US" altLang="zh-CN" sz="2400" dirty="0"/>
              <a:t>D+ = D</a:t>
            </a:r>
            <a:r>
              <a:rPr lang="zh-CN" altLang="en-US" sz="2400" dirty="0"/>
              <a:t>，不含</a:t>
            </a:r>
            <a:r>
              <a:rPr lang="en-US" altLang="zh-CN" sz="2400" dirty="0"/>
              <a:t>E</a:t>
            </a:r>
            <a:r>
              <a:rPr lang="zh-CN" altLang="en-US" sz="2400" dirty="0"/>
              <a:t>，保留</a:t>
            </a:r>
            <a:r>
              <a:rPr lang="en-US" altLang="zh-CN" sz="2400" dirty="0"/>
              <a:t>B</a:t>
            </a:r>
            <a:r>
              <a:rPr lang="zh-CN" altLang="en-US" sz="2400" dirty="0"/>
              <a:t>。然后去掉</a:t>
            </a:r>
            <a:r>
              <a:rPr lang="en-US" altLang="zh-CN" sz="2400" dirty="0"/>
              <a:t>D</a:t>
            </a:r>
            <a:r>
              <a:rPr lang="zh-CN" altLang="en-US" sz="2400" dirty="0"/>
              <a:t>，此时</a:t>
            </a:r>
            <a:r>
              <a:rPr lang="en-US" altLang="zh-CN" sz="2400" dirty="0"/>
              <a:t>B+ = BDE</a:t>
            </a:r>
            <a:r>
              <a:rPr lang="zh-CN" altLang="en-US" sz="2400" dirty="0"/>
              <a:t>，包含了</a:t>
            </a:r>
            <a:r>
              <a:rPr lang="en-US" altLang="zh-CN" sz="2400" dirty="0"/>
              <a:t>E</a:t>
            </a:r>
            <a:r>
              <a:rPr lang="zh-CN" altLang="en-US" sz="2400" dirty="0"/>
              <a:t>，所以去掉</a:t>
            </a:r>
            <a:r>
              <a:rPr lang="en-US" altLang="zh-CN" sz="2400" dirty="0"/>
              <a:t>D</a:t>
            </a:r>
            <a:r>
              <a:rPr lang="zh-CN" altLang="en-US" sz="2400" dirty="0"/>
              <a:t>，即得出：</a:t>
            </a:r>
            <a:r>
              <a:rPr lang="en-US" altLang="zh-CN" sz="2400" dirty="0"/>
              <a:t>B-&gt;E;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③</a:t>
            </a:r>
            <a:r>
              <a:rPr lang="zh-CN" altLang="en-US" sz="2400" dirty="0"/>
              <a:t>最后再来看</a:t>
            </a:r>
            <a:r>
              <a:rPr lang="en-US" altLang="zh-CN" sz="2400" dirty="0"/>
              <a:t>AG-&gt;B</a:t>
            </a:r>
            <a:r>
              <a:rPr lang="zh-CN" altLang="en-US" sz="2400" dirty="0"/>
              <a:t>，去掉</a:t>
            </a: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G+ = G</a:t>
            </a:r>
            <a:r>
              <a:rPr lang="zh-CN" altLang="en-US" sz="2400" dirty="0"/>
              <a:t>，不包含</a:t>
            </a:r>
            <a:r>
              <a:rPr lang="en-US" altLang="zh-CN" sz="2400" dirty="0"/>
              <a:t>B</a:t>
            </a:r>
            <a:r>
              <a:rPr lang="zh-CN" altLang="en-US" sz="2400" dirty="0"/>
              <a:t>，不能去掉</a:t>
            </a:r>
            <a:r>
              <a:rPr lang="en-US" altLang="zh-CN" sz="2400" dirty="0"/>
              <a:t>A</a:t>
            </a:r>
            <a:r>
              <a:rPr lang="zh-CN" altLang="en-US" sz="2400" dirty="0"/>
              <a:t>。去掉</a:t>
            </a:r>
            <a:r>
              <a:rPr lang="en-US" altLang="zh-CN" sz="2400" dirty="0"/>
              <a:t>G</a:t>
            </a:r>
            <a:r>
              <a:rPr lang="zh-CN" altLang="en-US" sz="2400" dirty="0"/>
              <a:t>的时候，</a:t>
            </a:r>
            <a:r>
              <a:rPr lang="en-US" altLang="zh-CN" sz="2400" dirty="0"/>
              <a:t>A</a:t>
            </a:r>
            <a:r>
              <a:rPr lang="zh-CN" altLang="en-US" sz="2400" dirty="0"/>
              <a:t>的闭包</a:t>
            </a:r>
            <a:r>
              <a:rPr lang="en-US" altLang="zh-CN" sz="2400" dirty="0"/>
              <a:t>A+ =A</a:t>
            </a:r>
            <a:r>
              <a:rPr lang="zh-CN" altLang="en-US" sz="2400" dirty="0"/>
              <a:t>，不含</a:t>
            </a:r>
            <a:r>
              <a:rPr lang="en-US" altLang="zh-CN" sz="2400" dirty="0"/>
              <a:t>B</a:t>
            </a:r>
            <a:r>
              <a:rPr lang="zh-CN" altLang="en-US" sz="2400" dirty="0"/>
              <a:t>，不能去掉</a:t>
            </a:r>
            <a:r>
              <a:rPr lang="en-US" altLang="zh-CN" sz="2400" dirty="0"/>
              <a:t>A</a:t>
            </a:r>
            <a:r>
              <a:rPr lang="zh-CN" altLang="en-US" sz="2400" dirty="0"/>
              <a:t>，还是</a:t>
            </a:r>
            <a:r>
              <a:rPr lang="en-US" altLang="zh-CN" sz="2400" dirty="0"/>
              <a:t>AG-&gt;B 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所以最后得出：</a:t>
            </a:r>
            <a:r>
              <a:rPr lang="en-US" altLang="zh-CN" sz="2400" dirty="0"/>
              <a:t>F</a:t>
            </a:r>
            <a:r>
              <a:rPr lang="zh-CN" altLang="en-US" sz="2400" dirty="0"/>
              <a:t>的最小函数依赖集是：</a:t>
            </a:r>
            <a:r>
              <a:rPr lang="en-US" altLang="zh-CN" sz="2400" dirty="0"/>
              <a:t>F={B-&gt;D</a:t>
            </a:r>
            <a:r>
              <a:rPr lang="zh-CN" altLang="en-US" sz="2400" dirty="0"/>
              <a:t>，</a:t>
            </a:r>
            <a:r>
              <a:rPr lang="en-US" altLang="zh-CN" sz="2400" dirty="0"/>
              <a:t>DG-&gt;C,B-&gt;E,AG-&gt;B}</a:t>
            </a:r>
            <a:r>
              <a:rPr lang="zh-CN" altLang="en-US" sz="2400" dirty="0"/>
              <a:t>；</a:t>
            </a:r>
            <a:endParaRPr lang="zh-CN" altLang="en-US" sz="2400" dirty="0"/>
          </a:p>
        </p:txBody>
      </p:sp>
      <p:sp>
        <p:nvSpPr>
          <p:cNvPr id="142339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已知关系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R(A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G)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，函数依赖集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AD -&gt;EF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CD-&gt;FB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F-&gt;G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D-&gt;F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A-&gt;D }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的最小覆盖为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36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内容占位符 2"/>
          <p:cNvSpPr>
            <a:spLocks noGrp="1"/>
          </p:cNvSpPr>
          <p:nvPr>
            <p:ph idx="1"/>
          </p:nvPr>
        </p:nvSpPr>
        <p:spPr>
          <a:xfrm>
            <a:off x="490538" y="692150"/>
            <a:ext cx="8229600" cy="5616575"/>
          </a:xfrm>
        </p:spPr>
        <p:txBody>
          <a:bodyPr vert="horz" wrap="square" lIns="91440" tIns="45720" rIns="91440" bIns="45720" anchor="t" anchorCtr="0"/>
          <a:p>
            <a:r>
              <a:rPr lang="zh-CN" altLang="en-US" sz="1800" dirty="0"/>
              <a:t>步骤：</a:t>
            </a:r>
            <a:r>
              <a:rPr lang="en-US" altLang="zh-CN" sz="1800" dirty="0"/>
              <a:t>——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F={ AD -&gt;EF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，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CD-&gt;FB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，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F-&gt;G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，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D-&gt;F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，</a:t>
            </a:r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A-&gt;D }</a:t>
            </a:r>
            <a:endParaRPr lang="zh-CN" altLang="en-US" sz="1800" dirty="0"/>
          </a:p>
          <a:p>
            <a:endParaRPr lang="zh-CN" altLang="en-US" sz="1800" dirty="0"/>
          </a:p>
          <a:p>
            <a:r>
              <a:rPr lang="zh-CN" altLang="en-US" sz="1800" dirty="0"/>
              <a:t>（</a:t>
            </a:r>
            <a:r>
              <a:rPr lang="en-US" altLang="zh-CN" sz="1800" dirty="0"/>
              <a:t>1</a:t>
            </a:r>
            <a:r>
              <a:rPr lang="zh-CN" altLang="en-US" sz="1800" dirty="0"/>
              <a:t>）：将函数依赖右边变成一个属性：</a:t>
            </a:r>
            <a:endParaRPr lang="zh-CN" altLang="en-US" sz="1800" dirty="0"/>
          </a:p>
          <a:p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得到</a:t>
            </a:r>
            <a:r>
              <a:rPr lang="en-US" altLang="zh-CN" sz="1800" dirty="0"/>
              <a:t>F={ AD -&gt;E</a:t>
            </a:r>
            <a:r>
              <a:rPr lang="zh-CN" altLang="en-US" sz="1800" dirty="0"/>
              <a:t>， </a:t>
            </a:r>
            <a:r>
              <a:rPr lang="en-US" altLang="zh-CN" sz="1800" dirty="0"/>
              <a:t>AD -&gt;F</a:t>
            </a:r>
            <a:r>
              <a:rPr lang="zh-CN" altLang="en-US" sz="1800" dirty="0"/>
              <a:t>，</a:t>
            </a:r>
            <a:r>
              <a:rPr lang="en-US" altLang="zh-CN" sz="1800" dirty="0"/>
              <a:t>CD-&gt;F</a:t>
            </a:r>
            <a:r>
              <a:rPr lang="zh-CN" altLang="en-US" sz="1800" dirty="0"/>
              <a:t>，</a:t>
            </a:r>
            <a:r>
              <a:rPr lang="en-US" altLang="zh-CN" sz="1800" dirty="0"/>
              <a:t>CD-&gt;B</a:t>
            </a:r>
            <a:r>
              <a:rPr lang="zh-CN" altLang="en-US" sz="1800" dirty="0"/>
              <a:t>，</a:t>
            </a:r>
            <a:r>
              <a:rPr lang="en-US" altLang="zh-CN" sz="1800" dirty="0"/>
              <a:t>F-&gt;G</a:t>
            </a:r>
            <a:r>
              <a:rPr lang="zh-CN" altLang="en-US" sz="1800" dirty="0"/>
              <a:t>，</a:t>
            </a:r>
            <a:r>
              <a:rPr lang="en-US" altLang="zh-CN" sz="1800" dirty="0"/>
              <a:t>D-&gt;F</a:t>
            </a:r>
            <a:r>
              <a:rPr lang="zh-CN" altLang="en-US" sz="1800" dirty="0"/>
              <a:t>，</a:t>
            </a:r>
            <a:r>
              <a:rPr lang="en-US" altLang="zh-CN" sz="1800" dirty="0"/>
              <a:t>A-&gt;D}</a:t>
            </a:r>
            <a:r>
              <a:rPr lang="zh-CN" altLang="en-US" sz="1800" dirty="0"/>
              <a:t>；</a:t>
            </a:r>
            <a:endParaRPr lang="zh-CN" altLang="en-US" dirty="0"/>
          </a:p>
        </p:txBody>
      </p:sp>
      <p:sp>
        <p:nvSpPr>
          <p:cNvPr id="145411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0260"/>
            <a:ext cx="8229600" cy="5057140"/>
          </a:xfrm>
        </p:spPr>
        <p:txBody>
          <a:bodyPr/>
          <a:p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2</a:t>
            </a:r>
            <a:r>
              <a:rPr lang="zh-CN" altLang="en-US" sz="1800" dirty="0">
                <a:sym typeface="+mn-ea"/>
              </a:rPr>
              <a:t>）：去掉多余的函数依赖：</a:t>
            </a:r>
            <a:r>
              <a:rPr lang="en-US" altLang="zh-CN" sz="1800" dirty="0">
                <a:sym typeface="+mn-ea"/>
              </a:rPr>
              <a:t>——</a:t>
            </a:r>
            <a:r>
              <a:rPr lang="en-US" altLang="zh-CN" sz="1800" dirty="0">
                <a:sym typeface="+mn-ea"/>
              </a:rPr>
              <a:t>F={ AD -&gt;E</a:t>
            </a:r>
            <a:r>
              <a:rPr lang="zh-CN" altLang="en-US" sz="1800" dirty="0">
                <a:sym typeface="+mn-ea"/>
              </a:rPr>
              <a:t>， </a:t>
            </a:r>
            <a:r>
              <a:rPr lang="en-US" altLang="zh-CN" sz="1800" dirty="0">
                <a:sym typeface="+mn-ea"/>
              </a:rPr>
              <a:t>AD 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① 去掉</a:t>
            </a:r>
            <a:r>
              <a:rPr lang="en-US" altLang="zh-CN" sz="1800" dirty="0">
                <a:sym typeface="+mn-ea"/>
              </a:rPr>
              <a:t>AD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F={ AD 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r>
              <a:rPr lang="zh-CN" altLang="en-US" sz="1800" dirty="0">
                <a:sym typeface="+mn-ea"/>
              </a:rPr>
              <a:t>；</a:t>
            </a:r>
            <a:r>
              <a:rPr lang="en-US" altLang="zh-CN" sz="1800" dirty="0">
                <a:sym typeface="+mn-ea"/>
              </a:rPr>
              <a:t>AD+ = ADFG,</a:t>
            </a:r>
            <a:r>
              <a:rPr lang="zh-CN" altLang="en-US" sz="1800" dirty="0">
                <a:sym typeface="+mn-ea"/>
              </a:rPr>
              <a:t>不包含</a:t>
            </a:r>
            <a:r>
              <a:rPr lang="en-US" altLang="zh-CN" sz="1800" dirty="0">
                <a:sym typeface="+mn-ea"/>
              </a:rPr>
              <a:t>E</a:t>
            </a:r>
            <a:r>
              <a:rPr lang="zh-CN" altLang="en-US" sz="1800" dirty="0">
                <a:sym typeface="+mn-ea"/>
              </a:rPr>
              <a:t>，保留</a:t>
            </a:r>
            <a:r>
              <a:rPr lang="en-US" altLang="zh-CN" sz="1800" dirty="0">
                <a:sym typeface="+mn-ea"/>
              </a:rPr>
              <a:t>AD -&gt;E</a:t>
            </a:r>
            <a:r>
              <a:rPr lang="zh-CN" altLang="en-US" sz="1800" dirty="0">
                <a:sym typeface="+mn-ea"/>
              </a:rPr>
              <a:t>。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②去掉</a:t>
            </a:r>
            <a:r>
              <a:rPr lang="en-US" altLang="zh-CN" sz="1800" dirty="0">
                <a:sym typeface="+mn-ea"/>
              </a:rPr>
              <a:t>AD 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F={ AD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r>
              <a:rPr lang="zh-CN" altLang="en-US" sz="1800" dirty="0">
                <a:sym typeface="+mn-ea"/>
              </a:rPr>
              <a:t>；</a:t>
            </a:r>
            <a:r>
              <a:rPr lang="en-US" altLang="zh-CN" sz="1800" dirty="0">
                <a:sym typeface="+mn-ea"/>
              </a:rPr>
              <a:t>AD+ = ADEFG, </a:t>
            </a:r>
            <a:r>
              <a:rPr lang="zh-CN" altLang="en-US" sz="1800" dirty="0">
                <a:sym typeface="+mn-ea"/>
              </a:rPr>
              <a:t>包含了</a:t>
            </a:r>
            <a:r>
              <a:rPr lang="en-US" altLang="zh-CN" sz="1800" dirty="0">
                <a:sym typeface="+mn-ea"/>
              </a:rPr>
              <a:t>F</a:t>
            </a:r>
            <a:r>
              <a:rPr lang="zh-CN" altLang="en-US" sz="1800" dirty="0">
                <a:sym typeface="+mn-ea"/>
              </a:rPr>
              <a:t>，所以去掉</a:t>
            </a:r>
            <a:r>
              <a:rPr lang="en-US" altLang="zh-CN" sz="1800" dirty="0">
                <a:sym typeface="+mn-ea"/>
              </a:rPr>
              <a:t>AD -&gt;F</a:t>
            </a:r>
            <a:r>
              <a:rPr lang="zh-CN" altLang="en-US" sz="1800" dirty="0">
                <a:sym typeface="+mn-ea"/>
              </a:rPr>
              <a:t>。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③ 去掉</a:t>
            </a:r>
            <a:r>
              <a:rPr lang="en-US" altLang="zh-CN" sz="1800" dirty="0">
                <a:sym typeface="+mn-ea"/>
              </a:rPr>
              <a:t>CD-&gt;F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F={ AD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r>
              <a:rPr lang="zh-CN" altLang="en-US" sz="1800" dirty="0">
                <a:sym typeface="+mn-ea"/>
              </a:rPr>
              <a:t>； </a:t>
            </a:r>
            <a:r>
              <a:rPr lang="en-US" altLang="zh-CN" sz="1800" dirty="0">
                <a:sym typeface="+mn-ea"/>
              </a:rPr>
              <a:t>CD+ = CDBFG </a:t>
            </a:r>
            <a:r>
              <a:rPr lang="zh-CN" altLang="en-US" sz="1800" dirty="0">
                <a:sym typeface="+mn-ea"/>
              </a:rPr>
              <a:t>，包含</a:t>
            </a:r>
            <a:r>
              <a:rPr lang="en-US" altLang="zh-CN" sz="1800" dirty="0">
                <a:sym typeface="+mn-ea"/>
              </a:rPr>
              <a:t>F</a:t>
            </a:r>
            <a:r>
              <a:rPr lang="zh-CN" altLang="en-US" sz="1800" dirty="0">
                <a:sym typeface="+mn-ea"/>
              </a:rPr>
              <a:t>，所以去掉</a:t>
            </a:r>
            <a:r>
              <a:rPr lang="en-US" altLang="zh-CN" sz="1800" dirty="0">
                <a:sym typeface="+mn-ea"/>
              </a:rPr>
              <a:t>CD-&gt;F</a:t>
            </a:r>
            <a:r>
              <a:rPr lang="zh-CN" altLang="en-US" sz="1800" dirty="0">
                <a:sym typeface="+mn-ea"/>
              </a:rPr>
              <a:t>。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④去掉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F={ AD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r>
              <a:rPr lang="zh-CN" altLang="en-US" sz="1800" dirty="0">
                <a:sym typeface="+mn-ea"/>
              </a:rPr>
              <a:t>；</a:t>
            </a:r>
            <a:r>
              <a:rPr lang="en-US" altLang="zh-CN" sz="1800" dirty="0">
                <a:sym typeface="+mn-ea"/>
              </a:rPr>
              <a:t>CD+ = CDFG</a:t>
            </a:r>
            <a:r>
              <a:rPr lang="zh-CN" altLang="en-US" sz="1800" dirty="0">
                <a:sym typeface="+mn-ea"/>
              </a:rPr>
              <a:t>，不包含</a:t>
            </a:r>
            <a:r>
              <a:rPr lang="en-US" altLang="zh-CN" sz="1800" dirty="0">
                <a:sym typeface="+mn-ea"/>
              </a:rPr>
              <a:t>B</a:t>
            </a:r>
            <a:r>
              <a:rPr lang="zh-CN" altLang="en-US" sz="1800" dirty="0">
                <a:sym typeface="+mn-ea"/>
              </a:rPr>
              <a:t>，所以保留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。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⑤去掉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F={ AD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r>
              <a:rPr lang="zh-CN" altLang="en-US" sz="1800" dirty="0">
                <a:sym typeface="+mn-ea"/>
              </a:rPr>
              <a:t>；</a:t>
            </a:r>
            <a:r>
              <a:rPr lang="en-US" altLang="zh-CN" sz="1800" dirty="0">
                <a:sym typeface="+mn-ea"/>
              </a:rPr>
              <a:t>F+ = F,</a:t>
            </a:r>
            <a:r>
              <a:rPr lang="zh-CN" altLang="en-US" sz="1800" dirty="0">
                <a:sym typeface="+mn-ea"/>
              </a:rPr>
              <a:t>不包含</a:t>
            </a:r>
            <a:r>
              <a:rPr lang="en-US" altLang="zh-CN" sz="1800" dirty="0">
                <a:sym typeface="+mn-ea"/>
              </a:rPr>
              <a:t>G</a:t>
            </a:r>
            <a:r>
              <a:rPr lang="zh-CN" altLang="en-US" sz="1800" dirty="0">
                <a:sym typeface="+mn-ea"/>
              </a:rPr>
              <a:t>，所以保留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；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⑥去掉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F={ AD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r>
              <a:rPr lang="zh-CN" altLang="en-US" sz="1800" dirty="0">
                <a:sym typeface="+mn-ea"/>
              </a:rPr>
              <a:t>；</a:t>
            </a:r>
            <a:r>
              <a:rPr lang="en-US" altLang="zh-CN" sz="1800" dirty="0">
                <a:sym typeface="+mn-ea"/>
              </a:rPr>
              <a:t>D+ = D</a:t>
            </a:r>
            <a:r>
              <a:rPr lang="zh-CN" altLang="en-US" sz="1800" dirty="0">
                <a:sym typeface="+mn-ea"/>
              </a:rPr>
              <a:t>，不含包</a:t>
            </a:r>
            <a:r>
              <a:rPr lang="en-US" altLang="zh-CN" sz="1800" dirty="0">
                <a:sym typeface="+mn-ea"/>
              </a:rPr>
              <a:t>F</a:t>
            </a:r>
            <a:r>
              <a:rPr lang="zh-CN" altLang="en-US" sz="1800" dirty="0">
                <a:sym typeface="+mn-ea"/>
              </a:rPr>
              <a:t>，所以保留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⑦去掉</a:t>
            </a:r>
            <a:r>
              <a:rPr lang="en-US" altLang="zh-CN" sz="1800" dirty="0">
                <a:sym typeface="+mn-ea"/>
              </a:rPr>
              <a:t>A-&gt;D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F={ AD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D-&gt;F}</a:t>
            </a:r>
            <a:r>
              <a:rPr lang="zh-CN" altLang="en-US" sz="1800" dirty="0">
                <a:sym typeface="+mn-ea"/>
              </a:rPr>
              <a:t>；</a:t>
            </a:r>
            <a:r>
              <a:rPr lang="en-US" altLang="zh-CN" sz="1800" dirty="0">
                <a:sym typeface="+mn-ea"/>
              </a:rPr>
              <a:t>A+ = A</a:t>
            </a:r>
            <a:r>
              <a:rPr lang="zh-CN" altLang="en-US" sz="1800" dirty="0">
                <a:sym typeface="+mn-ea"/>
              </a:rPr>
              <a:t>，不包含</a:t>
            </a:r>
            <a:r>
              <a:rPr lang="en-US" altLang="zh-CN" sz="1800" dirty="0">
                <a:sym typeface="+mn-ea"/>
              </a:rPr>
              <a:t>D</a:t>
            </a:r>
            <a:r>
              <a:rPr lang="zh-CN" altLang="en-US" sz="1800" dirty="0">
                <a:sym typeface="+mn-ea"/>
              </a:rPr>
              <a:t>，所以保留</a:t>
            </a:r>
            <a:r>
              <a:rPr lang="en-US" altLang="zh-CN" sz="1800" dirty="0">
                <a:sym typeface="+mn-ea"/>
              </a:rPr>
              <a:t>A-&gt;D</a:t>
            </a:r>
            <a:r>
              <a:rPr lang="zh-CN" altLang="en-US" sz="1800" dirty="0">
                <a:sym typeface="+mn-ea"/>
              </a:rPr>
              <a:t>；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综上运算，此时得到</a:t>
            </a:r>
            <a:r>
              <a:rPr lang="en-US" altLang="zh-CN" sz="1800" dirty="0">
                <a:sym typeface="+mn-ea"/>
              </a:rPr>
              <a:t>F={ AD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r>
              <a:rPr lang="zh-CN" altLang="en-US" sz="1800" dirty="0">
                <a:sym typeface="+mn-ea"/>
              </a:rPr>
              <a:t>；</a:t>
            </a:r>
            <a:endParaRPr lang="zh-CN" altLang="en-US" sz="180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220"/>
            <a:ext cx="8229600" cy="4742180"/>
          </a:xfrm>
        </p:spPr>
        <p:txBody>
          <a:bodyPr/>
          <a:p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3</a:t>
            </a:r>
            <a:r>
              <a:rPr lang="zh-CN" altLang="en-US" sz="1800" dirty="0">
                <a:sym typeface="+mn-ea"/>
              </a:rPr>
              <a:t>）：去掉各依赖左部多余的属性。即：</a:t>
            </a:r>
            <a:r>
              <a:rPr lang="en-US" altLang="zh-CN" sz="1800" dirty="0">
                <a:sym typeface="+mn-ea"/>
              </a:rPr>
              <a:t>AD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中查看检测；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①先来看</a:t>
            </a:r>
            <a:r>
              <a:rPr lang="en-US" altLang="zh-CN" sz="1800" dirty="0">
                <a:sym typeface="+mn-ea"/>
              </a:rPr>
              <a:t>AD -&gt;E</a:t>
            </a:r>
            <a:r>
              <a:rPr lang="zh-CN" altLang="en-US" sz="1800" dirty="0">
                <a:sym typeface="+mn-ea"/>
              </a:rPr>
              <a:t>，去掉</a:t>
            </a:r>
            <a:r>
              <a:rPr lang="en-US" altLang="zh-CN" sz="1800" dirty="0">
                <a:sym typeface="+mn-ea"/>
              </a:rPr>
              <a:t>A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D+ = DFG</a:t>
            </a:r>
            <a:r>
              <a:rPr lang="zh-CN" altLang="en-US" sz="1800" dirty="0">
                <a:sym typeface="+mn-ea"/>
              </a:rPr>
              <a:t>，不包含</a:t>
            </a:r>
            <a:r>
              <a:rPr lang="en-US" altLang="zh-CN" sz="1800" dirty="0">
                <a:sym typeface="+mn-ea"/>
              </a:rPr>
              <a:t>E</a:t>
            </a:r>
            <a:r>
              <a:rPr lang="zh-CN" altLang="en-US" sz="1800" dirty="0">
                <a:sym typeface="+mn-ea"/>
              </a:rPr>
              <a:t>，所以</a:t>
            </a:r>
            <a:r>
              <a:rPr lang="en-US" altLang="zh-CN" sz="1800" dirty="0">
                <a:sym typeface="+mn-ea"/>
              </a:rPr>
              <a:t>A</a:t>
            </a:r>
            <a:r>
              <a:rPr lang="zh-CN" altLang="en-US" sz="1800" dirty="0">
                <a:sym typeface="+mn-ea"/>
              </a:rPr>
              <a:t>不能去掉</a:t>
            </a:r>
            <a:r>
              <a:rPr lang="en-US" altLang="zh-CN" sz="1800" dirty="0">
                <a:sym typeface="+mn-ea"/>
              </a:rPr>
              <a:t>. </a:t>
            </a:r>
            <a:r>
              <a:rPr lang="zh-CN" altLang="en-US" sz="1800" dirty="0">
                <a:sym typeface="+mn-ea"/>
              </a:rPr>
              <a:t>去掉</a:t>
            </a:r>
            <a:r>
              <a:rPr lang="en-US" altLang="zh-CN" sz="1800" dirty="0">
                <a:sym typeface="+mn-ea"/>
              </a:rPr>
              <a:t>D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A+ = ADEFG,</a:t>
            </a:r>
            <a:r>
              <a:rPr lang="zh-CN" altLang="en-US" sz="1800" dirty="0">
                <a:sym typeface="+mn-ea"/>
              </a:rPr>
              <a:t>包含了</a:t>
            </a:r>
            <a:r>
              <a:rPr lang="en-US" altLang="zh-CN" sz="1800" dirty="0">
                <a:sym typeface="+mn-ea"/>
              </a:rPr>
              <a:t>E</a:t>
            </a:r>
            <a:r>
              <a:rPr lang="zh-CN" altLang="en-US" sz="1800" dirty="0">
                <a:sym typeface="+mn-ea"/>
              </a:rPr>
              <a:t>；所以需要去掉</a:t>
            </a:r>
            <a:r>
              <a:rPr lang="en-US" altLang="zh-CN" sz="1800" dirty="0">
                <a:sym typeface="+mn-ea"/>
              </a:rPr>
              <a:t>D</a:t>
            </a:r>
            <a:r>
              <a:rPr lang="zh-CN" altLang="en-US" sz="1800" dirty="0">
                <a:sym typeface="+mn-ea"/>
              </a:rPr>
              <a:t>，此时得出：</a:t>
            </a:r>
            <a:r>
              <a:rPr lang="en-US" altLang="zh-CN" sz="1800" dirty="0">
                <a:sym typeface="+mn-ea"/>
              </a:rPr>
              <a:t>A -&gt;E</a:t>
            </a:r>
            <a:r>
              <a:rPr lang="zh-CN" altLang="en-US" sz="1800" dirty="0">
                <a:sym typeface="+mn-ea"/>
              </a:rPr>
              <a:t>；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②</a:t>
            </a:r>
            <a:r>
              <a:rPr lang="zh-CN" altLang="en-US" sz="1800" dirty="0">
                <a:sym typeface="+mn-ea"/>
              </a:rPr>
              <a:t>最后看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，去掉</a:t>
            </a:r>
            <a:r>
              <a:rPr lang="en-US" altLang="zh-CN" sz="1800" dirty="0">
                <a:sym typeface="+mn-ea"/>
              </a:rPr>
              <a:t>C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D+ = DFG,</a:t>
            </a:r>
            <a:r>
              <a:rPr lang="zh-CN" altLang="en-US" sz="1800" dirty="0">
                <a:sym typeface="+mn-ea"/>
              </a:rPr>
              <a:t>不含</a:t>
            </a:r>
            <a:r>
              <a:rPr lang="en-US" altLang="zh-CN" sz="1800" dirty="0">
                <a:sym typeface="+mn-ea"/>
              </a:rPr>
              <a:t>F</a:t>
            </a:r>
            <a:r>
              <a:rPr lang="zh-CN" altLang="en-US" sz="1800" dirty="0">
                <a:sym typeface="+mn-ea"/>
              </a:rPr>
              <a:t>，保留</a:t>
            </a:r>
            <a:r>
              <a:rPr lang="en-US" altLang="zh-CN" sz="1800" dirty="0">
                <a:sym typeface="+mn-ea"/>
              </a:rPr>
              <a:t>C</a:t>
            </a:r>
            <a:r>
              <a:rPr lang="zh-CN" altLang="en-US" sz="1800" dirty="0">
                <a:sym typeface="+mn-ea"/>
              </a:rPr>
              <a:t>。去掉</a:t>
            </a:r>
            <a:r>
              <a:rPr lang="en-US" altLang="zh-CN" sz="1800" dirty="0">
                <a:sym typeface="+mn-ea"/>
              </a:rPr>
              <a:t>D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C+ = C,</a:t>
            </a:r>
            <a:r>
              <a:rPr lang="zh-CN" altLang="en-US" sz="1800" dirty="0">
                <a:sym typeface="+mn-ea"/>
              </a:rPr>
              <a:t>不包含</a:t>
            </a:r>
            <a:r>
              <a:rPr lang="en-US" altLang="zh-CN" sz="1800" dirty="0">
                <a:sym typeface="+mn-ea"/>
              </a:rPr>
              <a:t>B</a:t>
            </a:r>
            <a:r>
              <a:rPr lang="zh-CN" altLang="en-US" sz="1800" dirty="0">
                <a:sym typeface="+mn-ea"/>
              </a:rPr>
              <a:t>，不能去掉</a:t>
            </a:r>
            <a:r>
              <a:rPr lang="en-US" altLang="zh-CN" sz="1800" dirty="0">
                <a:sym typeface="+mn-ea"/>
              </a:rPr>
              <a:t>D</a:t>
            </a:r>
            <a:r>
              <a:rPr lang="zh-CN" altLang="en-US" sz="1800" dirty="0">
                <a:sym typeface="+mn-ea"/>
              </a:rPr>
              <a:t>，继续保留。所以依旧是：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；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综上，得</a:t>
            </a:r>
            <a:r>
              <a:rPr lang="en-US" altLang="zh-CN" sz="1800" dirty="0">
                <a:sym typeface="+mn-ea"/>
              </a:rPr>
              <a:t>F={A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r>
              <a:rPr lang="zh-CN" altLang="en-US" sz="1800" dirty="0">
                <a:sym typeface="+mn-ea"/>
              </a:rPr>
              <a:t>；</a:t>
            </a:r>
            <a:endParaRPr lang="zh-CN" altLang="en-US" sz="1800" dirty="0">
              <a:sym typeface="+mn-ea"/>
            </a:endParaRPr>
          </a:p>
          <a:p>
            <a:r>
              <a:rPr lang="zh-CN" altLang="en-US" sz="1800" dirty="0">
                <a:sym typeface="+mn-ea"/>
              </a:rPr>
              <a:t>所以最后得出</a:t>
            </a:r>
            <a:r>
              <a:rPr lang="en-US" altLang="zh-CN" sz="1800" dirty="0">
                <a:sym typeface="+mn-ea"/>
              </a:rPr>
              <a:t>F={A -&gt;E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CD-&gt;B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F-&gt;G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D-&gt;F</a:t>
            </a:r>
            <a:r>
              <a:rPr lang="zh-CN" altLang="en-US" sz="1800" dirty="0">
                <a:sym typeface="+mn-ea"/>
              </a:rPr>
              <a:t>，</a:t>
            </a:r>
            <a:r>
              <a:rPr lang="en-US" altLang="zh-CN" sz="1800" dirty="0">
                <a:sym typeface="+mn-ea"/>
              </a:rPr>
              <a:t>A-&gt;D}</a:t>
            </a:r>
            <a:r>
              <a:rPr lang="zh-CN" altLang="en-US" sz="1800" dirty="0">
                <a:sym typeface="+mn-ea"/>
              </a:rPr>
              <a:t>；</a:t>
            </a:r>
            <a:endParaRPr lang="zh-CN" altLang="en-US" sz="1800" dirty="0"/>
          </a:p>
          <a:p>
            <a:endParaRPr lang="zh-CN" altLang="en-US" sz="180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第六章 关系数据理论</a:t>
            </a:r>
            <a:endParaRPr lang="zh-CN" altLang="en-US" dirty="0"/>
          </a:p>
        </p:txBody>
      </p:sp>
      <p:sp>
        <p:nvSpPr>
          <p:cNvPr id="146435" name="Rectangle 3"/>
          <p:cNvSpPr>
            <a:spLocks noGrp="1"/>
          </p:cNvSpPr>
          <p:nvPr>
            <p:ph idx="1"/>
          </p:nvPr>
        </p:nvSpPr>
        <p:spPr>
          <a:xfrm>
            <a:off x="1187450" y="1773238"/>
            <a:ext cx="6419850" cy="44958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r>
              <a:rPr lang="en-US" altLang="zh-CN" b="1" dirty="0"/>
              <a:t>6.1 </a:t>
            </a:r>
            <a:r>
              <a:rPr lang="zh-CN" altLang="en-US" b="1" dirty="0"/>
              <a:t>问题的提出</a:t>
            </a:r>
            <a:endParaRPr lang="zh-CN" altLang="en-US" b="1" dirty="0"/>
          </a:p>
          <a:p>
            <a:pPr>
              <a:lnSpc>
                <a:spcPct val="140000"/>
              </a:lnSpc>
              <a:buNone/>
            </a:pPr>
            <a:r>
              <a:rPr lang="en-US" altLang="zh-CN" b="1" dirty="0"/>
              <a:t>6.2 </a:t>
            </a:r>
            <a:r>
              <a:rPr lang="zh-CN" altLang="en-US" b="1" dirty="0"/>
              <a:t>规范化</a:t>
            </a:r>
            <a:endParaRPr lang="zh-CN" altLang="en-US" b="1" dirty="0"/>
          </a:p>
          <a:p>
            <a:pPr>
              <a:lnSpc>
                <a:spcPct val="140000"/>
              </a:lnSpc>
              <a:buNone/>
            </a:pPr>
            <a:r>
              <a:rPr lang="en-US" altLang="zh-CN" b="1" dirty="0"/>
              <a:t>6.3 </a:t>
            </a:r>
            <a:r>
              <a:rPr lang="zh-CN" altLang="en-US" b="1" dirty="0"/>
              <a:t>数据依赖的公理系统</a:t>
            </a:r>
            <a:endParaRPr lang="zh-CN" altLang="en-US" b="1" dirty="0"/>
          </a:p>
          <a:p>
            <a:pPr>
              <a:lnSpc>
                <a:spcPct val="140000"/>
              </a:lnSpc>
              <a:buNone/>
            </a:pPr>
            <a:r>
              <a:rPr lang="zh-CN" altLang="en-US" b="1" dirty="0"/>
              <a:t>*</a:t>
            </a:r>
            <a:r>
              <a:rPr lang="en-US" altLang="zh-CN" b="1" dirty="0"/>
              <a:t>6.4 </a:t>
            </a:r>
            <a:r>
              <a:rPr lang="zh-CN" altLang="en-US" b="1" dirty="0"/>
              <a:t>模式的分解</a:t>
            </a:r>
            <a:endParaRPr lang="zh-CN" altLang="en-US" b="1" dirty="0"/>
          </a:p>
          <a:p>
            <a:pPr>
              <a:lnSpc>
                <a:spcPct val="140000"/>
              </a:lnSpc>
              <a:buNone/>
            </a:pPr>
            <a:r>
              <a:rPr lang="en-US" altLang="zh-CN" b="1" dirty="0">
                <a:solidFill>
                  <a:srgbClr val="3333FF"/>
                </a:solidFill>
              </a:rPr>
              <a:t>6.5 </a:t>
            </a:r>
            <a:r>
              <a:rPr lang="zh-CN" altLang="en-US" b="1" dirty="0">
                <a:solidFill>
                  <a:srgbClr val="3333FF"/>
                </a:solidFill>
              </a:rPr>
              <a:t>小结</a:t>
            </a:r>
            <a:endParaRPr lang="zh-CN" altLang="en-US" b="1" dirty="0">
              <a:solidFill>
                <a:srgbClr val="3333FF"/>
              </a:solidFill>
            </a:endParaRPr>
          </a:p>
        </p:txBody>
      </p:sp>
      <p:sp>
        <p:nvSpPr>
          <p:cNvPr id="14643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Rectangle 2"/>
          <p:cNvSpPr/>
          <p:nvPr/>
        </p:nvSpPr>
        <p:spPr>
          <a:xfrm>
            <a:off x="811213" y="1714500"/>
            <a:ext cx="8153400" cy="3429000"/>
          </a:xfrm>
          <a:prstGeom prst="rect">
            <a:avLst/>
          </a:prstGeom>
          <a:solidFill>
            <a:srgbClr val="FFFF00">
              <a:alpha val="50195"/>
            </a:srgbClr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47459" name="Rectangle 3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143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本章小结</a:t>
            </a:r>
            <a:endParaRPr lang="zh-CN" altLang="en-US" dirty="0"/>
          </a:p>
        </p:txBody>
      </p:sp>
      <p:sp>
        <p:nvSpPr>
          <p:cNvPr id="147460" name="Rectangle 4"/>
          <p:cNvSpPr>
            <a:spLocks noGrp="1"/>
          </p:cNvSpPr>
          <p:nvPr>
            <p:ph idx="1"/>
          </p:nvPr>
        </p:nvSpPr>
        <p:spPr>
          <a:xfrm>
            <a:off x="914400" y="1143000"/>
            <a:ext cx="8229600" cy="499586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en-US" sz="2400" b="1" dirty="0"/>
              <a:t>设计范式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                        </a:t>
            </a:r>
            <a:r>
              <a:rPr lang="en-US" altLang="zh-CN" sz="2400" dirty="0"/>
              <a:t>1NF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      	    ↓  </a:t>
            </a:r>
            <a:r>
              <a:rPr lang="zh-CN" altLang="en-US" sz="2400" dirty="0"/>
              <a:t>消除非主属性对码的部分函数依赖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消除决定属性   </a:t>
            </a:r>
            <a:r>
              <a:rPr lang="en-US" altLang="zh-CN" sz="2400" dirty="0"/>
              <a:t>2NF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集非码的非平    ↓  消除非主属性对码的传递函数依赖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凡函数依赖       </a:t>
            </a:r>
            <a:r>
              <a:rPr lang="en-US" altLang="zh-CN" sz="2400" dirty="0"/>
              <a:t>3NF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      	    ↓  </a:t>
            </a:r>
            <a:r>
              <a:rPr lang="zh-CN" altLang="en-US" sz="2400" dirty="0"/>
              <a:t>消除主属性对码的部分和传递函数依赖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                         </a:t>
            </a:r>
            <a:r>
              <a:rPr lang="en-US" altLang="zh-CN" sz="2400" dirty="0"/>
              <a:t>BCNF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      	    ↓  </a:t>
            </a:r>
            <a:r>
              <a:rPr lang="zh-CN" altLang="en-US" sz="2400" dirty="0"/>
              <a:t>消除非平凡且非函数依赖的多值依赖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dirty="0"/>
              <a:t>                        </a:t>
            </a:r>
            <a:r>
              <a:rPr lang="en-US" altLang="zh-CN" sz="2400" dirty="0"/>
              <a:t>4NF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b="1" dirty="0"/>
              <a:t>Armstrong</a:t>
            </a:r>
            <a:r>
              <a:rPr lang="zh-CN" altLang="en-US" sz="2400" b="1" dirty="0"/>
              <a:t>公理系统</a:t>
            </a:r>
            <a:endParaRPr lang="en-US" altLang="zh-CN" sz="24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函数依赖闭包</a:t>
            </a:r>
            <a:endParaRPr lang="en-US" altLang="zh-CN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b="1" dirty="0"/>
              <a:t>候选码求解</a:t>
            </a:r>
            <a:endParaRPr lang="en-US" altLang="zh-CN" sz="2000" b="1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/>
          </a:p>
        </p:txBody>
      </p:sp>
      <p:sp>
        <p:nvSpPr>
          <p:cNvPr id="147461" name="Line 5"/>
          <p:cNvSpPr/>
          <p:nvPr/>
        </p:nvSpPr>
        <p:spPr>
          <a:xfrm flipH="1">
            <a:off x="2857500" y="1952625"/>
            <a:ext cx="0" cy="3048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7462" name="灯片编号占位符 7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/101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14848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课后习题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848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r>
              <a:rPr lang="en-US" altLang="zh-CN" sz="1200" dirty="0">
                <a:latin typeface="Arial Black" panose="020B0A04020102020204" pitchFamily="34" charset="0"/>
              </a:rPr>
              <a:t>/103</a:t>
            </a:r>
            <a:endParaRPr lang="en-US" altLang="zh-CN" sz="1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de4435f-b070-4ea3-a2fd-0027f64b75dc"/>
  <p:tag name="COMMONDATA" val="eyJoZGlkIjoiNzZmYjFiY2IyYmYwYmZjN2VmOTQ0YWY4ZWRkZjNkMTE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17631</Words>
  <Application>WPS 演示</Application>
  <PresentationFormat>全屏显示(4:3)</PresentationFormat>
  <Paragraphs>1708</Paragraphs>
  <Slides>125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125</vt:i4>
      </vt:variant>
    </vt:vector>
  </HeadingPairs>
  <TitlesOfParts>
    <vt:vector size="142" baseType="lpstr">
      <vt:lpstr>Arial</vt:lpstr>
      <vt:lpstr>宋体</vt:lpstr>
      <vt:lpstr>Wingdings</vt:lpstr>
      <vt:lpstr>Arial Black</vt:lpstr>
      <vt:lpstr>Times New Roman</vt:lpstr>
      <vt:lpstr>隶书</vt:lpstr>
      <vt:lpstr>微软雅黑</vt:lpstr>
      <vt:lpstr>楷体_GB2312</vt:lpstr>
      <vt:lpstr>新宋体</vt:lpstr>
      <vt:lpstr>Arial Unicode MS</vt:lpstr>
      <vt:lpstr>黑体</vt:lpstr>
      <vt:lpstr>Symbol</vt:lpstr>
      <vt:lpstr>Courier New</vt:lpstr>
      <vt:lpstr>PingFang SC</vt:lpstr>
      <vt:lpstr>ksdb</vt:lpstr>
      <vt:lpstr>Pixel</vt:lpstr>
      <vt:lpstr>Paint.Picture</vt:lpstr>
      <vt:lpstr>PowerPoint 演示文稿</vt:lpstr>
      <vt:lpstr>第六章 关系数据理论</vt:lpstr>
      <vt:lpstr>6.1 问题的提出</vt:lpstr>
      <vt:lpstr>问题的提出</vt:lpstr>
      <vt:lpstr>一、概念回顾</vt:lpstr>
      <vt:lpstr>二、关系模式的形式化定义</vt:lpstr>
      <vt:lpstr>三、什么是数据依赖</vt:lpstr>
      <vt:lpstr>什么是数据依赖（续）</vt:lpstr>
      <vt:lpstr>什么是数据依赖（续）</vt:lpstr>
      <vt:lpstr>四、关系模式的简化表示</vt:lpstr>
      <vt:lpstr>五、数据依赖对关系模式的影响</vt:lpstr>
      <vt:lpstr>数据依赖对关系模式的影响（续）</vt:lpstr>
      <vt:lpstr>关系模式Student&lt;U, F&gt;中存在的问题</vt:lpstr>
      <vt:lpstr>数据依赖对关系模式的影响（续）</vt:lpstr>
      <vt:lpstr>分解关系模式</vt:lpstr>
      <vt:lpstr>第六章 关系数据理论</vt:lpstr>
      <vt:lpstr>6.2  规范化</vt:lpstr>
      <vt:lpstr>6.2  规范化</vt:lpstr>
      <vt:lpstr>6.2.1 函数依赖</vt:lpstr>
      <vt:lpstr>一、函数依赖</vt:lpstr>
      <vt:lpstr>说明 </vt:lpstr>
      <vt:lpstr>二、平凡函数依赖与非平凡函数依赖</vt:lpstr>
      <vt:lpstr>平凡函数依赖与非平凡函数依赖（续）</vt:lpstr>
      <vt:lpstr>三、完全函数依赖与部分函数依赖</vt:lpstr>
      <vt:lpstr>完全函数依赖与部分函数依赖（续）</vt:lpstr>
      <vt:lpstr>四、传递函数依赖</vt:lpstr>
      <vt:lpstr>6.2  规范化</vt:lpstr>
      <vt:lpstr>6.2.2 码</vt:lpstr>
      <vt:lpstr>码（续）</vt:lpstr>
      <vt:lpstr>码（续）</vt:lpstr>
      <vt:lpstr>外部码</vt:lpstr>
      <vt:lpstr>6.2  规范化</vt:lpstr>
      <vt:lpstr>6.2.3 范式</vt:lpstr>
      <vt:lpstr>6.2.3 范式</vt:lpstr>
      <vt:lpstr>6.2  规范化</vt:lpstr>
      <vt:lpstr>6.2.4  2NF</vt:lpstr>
      <vt:lpstr>2NF（续）</vt:lpstr>
      <vt:lpstr> 2NF（续）</vt:lpstr>
      <vt:lpstr>S-L-C不是一个好的关系模式（续）</vt:lpstr>
      <vt:lpstr>S-L-C不是一个好的关系模式（续）</vt:lpstr>
      <vt:lpstr>2NF（续）</vt:lpstr>
      <vt:lpstr> 2NF（续）</vt:lpstr>
      <vt:lpstr> 2NF（续）</vt:lpstr>
      <vt:lpstr>PowerPoint 演示文稿</vt:lpstr>
      <vt:lpstr>6.2  规范化</vt:lpstr>
      <vt:lpstr> 6.2.5  3NF</vt:lpstr>
      <vt:lpstr> 3NF的非正式描述</vt:lpstr>
      <vt:lpstr>3NF（续）</vt:lpstr>
      <vt:lpstr>  3NF（续）</vt:lpstr>
      <vt:lpstr>3NF（续）</vt:lpstr>
      <vt:lpstr>3NF（续）</vt:lpstr>
      <vt:lpstr>3NF（续）</vt:lpstr>
      <vt:lpstr>6.2  规范化</vt:lpstr>
      <vt:lpstr> 6.2.6  BC范式（BCNF）</vt:lpstr>
      <vt:lpstr>BCNF（续）</vt:lpstr>
      <vt:lpstr>BCNF（续）</vt:lpstr>
      <vt:lpstr>BCNF（续）</vt:lpstr>
      <vt:lpstr> BCNF（续）</vt:lpstr>
      <vt:lpstr> BCNF（续）</vt:lpstr>
      <vt:lpstr>BCNF（续）</vt:lpstr>
      <vt:lpstr>BCNF（续）</vt:lpstr>
      <vt:lpstr>3NF与BCNF的关系</vt:lpstr>
      <vt:lpstr>PowerPoint 演示文稿</vt:lpstr>
      <vt:lpstr>6.2  规范化</vt:lpstr>
      <vt:lpstr>6.2.7 多值依赖</vt:lpstr>
      <vt:lpstr>PowerPoint 演示文稿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多值依赖的性质</vt:lpstr>
      <vt:lpstr>多值依赖与函数依赖的区别</vt:lpstr>
      <vt:lpstr>6.2  规范化</vt:lpstr>
      <vt:lpstr>6.2.8  4NF</vt:lpstr>
      <vt:lpstr>4NF（续）</vt:lpstr>
      <vt:lpstr>6.2  规范化</vt:lpstr>
      <vt:lpstr>6.2.9 规范化小结</vt:lpstr>
      <vt:lpstr>规范化小结（续）</vt:lpstr>
      <vt:lpstr>规范化小结（续）</vt:lpstr>
      <vt:lpstr>第六章 关系数据理论</vt:lpstr>
      <vt:lpstr>6.3  数据依赖的公理系统</vt:lpstr>
      <vt:lpstr>Armstrong公理系统</vt:lpstr>
      <vt:lpstr>定理 6.1  Armstrong推理规则是正确的</vt:lpstr>
      <vt:lpstr>定理 6.l  Armstrong推理规则是正确的（续）</vt:lpstr>
      <vt:lpstr>定理 6.l  Armstrong推理规则是正确的（续）</vt:lpstr>
      <vt:lpstr>2. 导出规则</vt:lpstr>
      <vt:lpstr>导出规则</vt:lpstr>
      <vt:lpstr>函数依赖闭包</vt:lpstr>
      <vt:lpstr>F的闭包</vt:lpstr>
      <vt:lpstr>Armstrong公理系统</vt:lpstr>
      <vt:lpstr>函数依赖闭包</vt:lpstr>
      <vt:lpstr>关于闭包的引理</vt:lpstr>
      <vt:lpstr>求闭包的算法</vt:lpstr>
      <vt:lpstr>算法6.1</vt:lpstr>
      <vt:lpstr>函数依赖闭包</vt:lpstr>
      <vt:lpstr>PowerPoint 演示文稿</vt:lpstr>
      <vt:lpstr>PowerPoint 演示文稿</vt:lpstr>
      <vt:lpstr>PowerPoint 演示文稿</vt:lpstr>
      <vt:lpstr>候选码求解方法</vt:lpstr>
      <vt:lpstr>候选码求解方法（2）</vt:lpstr>
      <vt:lpstr>候选码的求解理论和算法</vt:lpstr>
      <vt:lpstr>PowerPoint 演示文稿</vt:lpstr>
      <vt:lpstr>PowerPoint 演示文稿</vt:lpstr>
      <vt:lpstr>PowerPoint 演示文稿</vt:lpstr>
      <vt:lpstr>最小函数依赖集（最小覆盖）</vt:lpstr>
      <vt:lpstr>PowerPoint 演示文稿</vt:lpstr>
      <vt:lpstr>最小依赖集通用算法：</vt:lpstr>
      <vt:lpstr>最小依赖集案例</vt:lpstr>
      <vt:lpstr>PowerPoint 演示文稿</vt:lpstr>
      <vt:lpstr>PowerPoint 演示文稿</vt:lpstr>
      <vt:lpstr>PowerPoint 演示文稿</vt:lpstr>
      <vt:lpstr>作业</vt:lpstr>
      <vt:lpstr>PowerPoint 演示文稿</vt:lpstr>
      <vt:lpstr>PowerPoint 演示文稿</vt:lpstr>
      <vt:lpstr>PowerPoint 演示文稿</vt:lpstr>
      <vt:lpstr>第六章 关系数据理论</vt:lpstr>
      <vt:lpstr>本章小结</vt:lpstr>
      <vt:lpstr>作业</vt:lpstr>
    </vt:vector>
  </TitlesOfParts>
  <Company>idke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RUC IDKE</dc:creator>
  <cp:lastModifiedBy>holly</cp:lastModifiedBy>
  <cp:revision>602</cp:revision>
  <dcterms:created xsi:type="dcterms:W3CDTF">2000-08-09T08:19:00Z</dcterms:created>
  <dcterms:modified xsi:type="dcterms:W3CDTF">2024-10-15T01:07:16Z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3F137B600759400681A088A6E9F1D57E_13</vt:lpwstr>
  </property>
  <property fmtid="{D5CDD505-2E9C-101B-9397-08002B2CF9AE}" pid="3" name="KSOProductBuildVer">
    <vt:lpwstr>2052-12.1.0.18276</vt:lpwstr>
  </property>
</Properties>
</file>